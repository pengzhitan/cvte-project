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9" r:id="rId4"/>
  </p:sldMasterIdLst>
  <p:notesMasterIdLst>
    <p:notesMasterId r:id="rId6"/>
  </p:notesMasterIdLst>
  <p:sldIdLst>
    <p:sldId id="908" r:id="rId5"/>
    <p:sldId id="923" r:id="rId7"/>
    <p:sldId id="910" r:id="rId8"/>
    <p:sldId id="911" r:id="rId9"/>
    <p:sldId id="912" r:id="rId10"/>
    <p:sldId id="914" r:id="rId11"/>
    <p:sldId id="915" r:id="rId12"/>
    <p:sldId id="916" r:id="rId13"/>
    <p:sldId id="917" r:id="rId14"/>
    <p:sldId id="918" r:id="rId15"/>
    <p:sldId id="919" r:id="rId16"/>
    <p:sldId id="920" r:id="rId17"/>
    <p:sldId id="921" r:id="rId18"/>
  </p:sldIdLst>
  <p:sldSz cx="9144000" cy="5143500" type="screen16x9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3" userDrawn="1">
          <p15:clr>
            <a:srgbClr val="A4A3A4"/>
          </p15:clr>
        </p15:guide>
        <p15:guide id="2" pos="26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d12470" initials="n" lastIdx="2" clrIdx="0"/>
  <p:cmAuthor id="2" name="wlluogj09" initials="w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0DDFA"/>
    <a:srgbClr val="C8E3FB"/>
    <a:srgbClr val="CFD90A"/>
    <a:srgbClr val="FFFBB4"/>
    <a:srgbClr val="66D9AB"/>
    <a:srgbClr val="F0F0F0"/>
    <a:srgbClr val="27BDBA"/>
    <a:srgbClr val="CBE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16" autoAdjust="0"/>
    <p:restoredTop sz="95826" autoAdjust="0"/>
  </p:normalViewPr>
  <p:slideViewPr>
    <p:cSldViewPr showGuides="1">
      <p:cViewPr varScale="1">
        <p:scale>
          <a:sx n="122" d="100"/>
          <a:sy n="122" d="100"/>
        </p:scale>
        <p:origin x="96" y="168"/>
      </p:cViewPr>
      <p:guideLst>
        <p:guide orient="horz" pos="1633"/>
        <p:guide pos="26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2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9C7FD6-C7CB-48BE-B4BF-D1051E1C7B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待办：</a:t>
            </a:r>
            <a:br>
              <a:rPr lang="zh-CN" altLang="en-US" dirty="0"/>
            </a:br>
            <a:r>
              <a:rPr lang="zh-CN" altLang="en-US" dirty="0"/>
              <a:t>涉及到领用权限管控的处理，防止影响生产</a:t>
            </a:r>
            <a:r>
              <a:rPr lang="zh-CN" altLang="en-US" dirty="0"/>
              <a:t>领料</a:t>
            </a:r>
            <a:endParaRPr lang="zh-CN" altLang="en-US" dirty="0"/>
          </a:p>
          <a:p>
            <a:r>
              <a:rPr lang="zh-CN" altLang="en-US" dirty="0"/>
              <a:t>区分</a:t>
            </a:r>
            <a:r>
              <a:rPr lang="en-US" altLang="zh-CN" dirty="0"/>
              <a:t>SCM</a:t>
            </a:r>
            <a:r>
              <a:rPr lang="zh-CN" altLang="en-US" dirty="0"/>
              <a:t>和</a:t>
            </a:r>
            <a:r>
              <a:rPr lang="en-US" altLang="zh-CN" dirty="0"/>
              <a:t>CPLM</a:t>
            </a:r>
            <a:r>
              <a:rPr lang="zh-CN" altLang="en-US" dirty="0"/>
              <a:t>研发领用的</a:t>
            </a:r>
            <a:r>
              <a:rPr lang="zh-CN" altLang="en-US" dirty="0"/>
              <a:t>梳理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75C90-1195-4E05-A461-37F35EFDE9F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5200588" y="2125385"/>
            <a:ext cx="3943413" cy="3018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矩形 22"/>
          <p:cNvSpPr/>
          <p:nvPr userDrawn="1"/>
        </p:nvSpPr>
        <p:spPr>
          <a:xfrm>
            <a:off x="673752" y="4235647"/>
            <a:ext cx="184731" cy="22166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635" b="1" strike="noStrike" noProof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674077" y="1032138"/>
            <a:ext cx="4697544" cy="843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标题</a:t>
            </a:r>
            <a:endParaRPr lang="zh-CN" altLang="en-US" strike="noStrike" noProof="1"/>
          </a:p>
        </p:txBody>
      </p:sp>
      <p:sp>
        <p:nvSpPr>
          <p:cNvPr id="21" name="内容占位符 13"/>
          <p:cNvSpPr>
            <a:spLocks noGrp="1"/>
          </p:cNvSpPr>
          <p:nvPr>
            <p:ph sz="quarter" idx="15" hasCustomPrompt="1"/>
          </p:nvPr>
        </p:nvSpPr>
        <p:spPr>
          <a:xfrm>
            <a:off x="674077" y="1875634"/>
            <a:ext cx="4697544" cy="4124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副标题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674077" y="2746436"/>
            <a:ext cx="4697544" cy="1103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674077" y="4127652"/>
            <a:ext cx="4697544" cy="3012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多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293" y="959491"/>
            <a:ext cx="8000981" cy="32634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2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5266" y="940743"/>
            <a:ext cx="3820720" cy="32515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4"/>
          </p:nvPr>
        </p:nvSpPr>
        <p:spPr>
          <a:xfrm>
            <a:off x="4666976" y="940743"/>
            <a:ext cx="3865299" cy="32515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3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3590" y="1331104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20"/>
          </p:nvPr>
        </p:nvSpPr>
        <p:spPr>
          <a:xfrm>
            <a:off x="3213820" y="1331104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21"/>
          </p:nvPr>
        </p:nvSpPr>
        <p:spPr>
          <a:xfrm>
            <a:off x="5894050" y="1331104"/>
            <a:ext cx="2638226" cy="2303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8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4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7698" y="1337234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4"/>
          </p:nvPr>
        </p:nvSpPr>
        <p:spPr>
          <a:xfrm>
            <a:off x="2568389" y="1337234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5"/>
          </p:nvPr>
        </p:nvSpPr>
        <p:spPr>
          <a:xfrm>
            <a:off x="4599079" y="1337234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6"/>
          </p:nvPr>
        </p:nvSpPr>
        <p:spPr>
          <a:xfrm>
            <a:off x="6629768" y="1337234"/>
            <a:ext cx="1902507" cy="312484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10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多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5350915" y="934391"/>
            <a:ext cx="3181359" cy="33344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3"/>
          </p:nvPr>
        </p:nvSpPr>
        <p:spPr>
          <a:xfrm>
            <a:off x="537699" y="937738"/>
            <a:ext cx="1691660" cy="33398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20"/>
          </p:nvPr>
        </p:nvSpPr>
        <p:spPr>
          <a:xfrm>
            <a:off x="2328390" y="937736"/>
            <a:ext cx="2923492" cy="200888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21"/>
          </p:nvPr>
        </p:nvSpPr>
        <p:spPr>
          <a:xfrm>
            <a:off x="2324296" y="3042824"/>
            <a:ext cx="1419644" cy="123951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22"/>
          </p:nvPr>
        </p:nvSpPr>
        <p:spPr>
          <a:xfrm>
            <a:off x="3832239" y="3042824"/>
            <a:ext cx="1419644" cy="1239519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10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少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445785" y="1634366"/>
            <a:ext cx="6252606" cy="181165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 algn="ctr">
              <a:lnSpc>
                <a:spcPct val="150000"/>
              </a:lnSpc>
              <a:spcAft>
                <a:spcPts val="0"/>
              </a:spcAft>
              <a:buNone/>
              <a:defRPr sz="13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 algn="ctr">
              <a:lnSpc>
                <a:spcPct val="150000"/>
              </a:lnSpc>
              <a:spcAft>
                <a:spcPts val="0"/>
              </a:spcAft>
              <a:buNone/>
              <a:defRPr sz="107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 algn="ctr">
              <a:lnSpc>
                <a:spcPct val="150000"/>
              </a:lnSpc>
              <a:spcAft>
                <a:spcPts val="0"/>
              </a:spcAft>
              <a:buNone/>
              <a:defRPr sz="9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并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294" y="957958"/>
            <a:ext cx="3824692" cy="32634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>
              <a:lnSpc>
                <a:spcPct val="150000"/>
              </a:lnSpc>
              <a:buNone/>
              <a:defRPr sz="13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>
              <a:lnSpc>
                <a:spcPct val="150000"/>
              </a:lnSpc>
              <a:buNone/>
              <a:defRPr sz="107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>
              <a:lnSpc>
                <a:spcPct val="150000"/>
              </a:lnSpc>
              <a:buNone/>
              <a:defRPr sz="9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4"/>
          </p:nvPr>
        </p:nvSpPr>
        <p:spPr>
          <a:xfrm>
            <a:off x="4572001" y="959491"/>
            <a:ext cx="3960275" cy="326585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表格占位符 8"/>
          <p:cNvSpPr>
            <a:spLocks noGrp="1"/>
          </p:cNvSpPr>
          <p:nvPr>
            <p:ph type="tbl" sz="quarter" idx="15" hasCustomPrompt="1"/>
          </p:nvPr>
        </p:nvSpPr>
        <p:spPr>
          <a:xfrm>
            <a:off x="531359" y="958006"/>
            <a:ext cx="7886927" cy="326746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5200588" y="2125385"/>
            <a:ext cx="3943413" cy="3018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矩形 22"/>
          <p:cNvSpPr/>
          <p:nvPr userDrawn="1"/>
        </p:nvSpPr>
        <p:spPr>
          <a:xfrm>
            <a:off x="673752" y="4235647"/>
            <a:ext cx="184731" cy="22166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635" b="1" strike="noStrike" noProof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674077" y="1032138"/>
            <a:ext cx="4697544" cy="8434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fontAlgn="auto"/>
            <a:r>
              <a:rPr lang="en-US" altLang="zh-CN" strike="noStrike" noProof="1"/>
              <a:t>THANKS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674077" y="2746436"/>
            <a:ext cx="4697544" cy="1103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674077" y="4127652"/>
            <a:ext cx="4697544" cy="3012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2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6784036" y="4742496"/>
            <a:ext cx="2057192" cy="27399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9197ECB7-B80F-4ED2-ABCD-9D741132D1E1}" type="slidenum">
              <a:rPr lang="zh-CN" altLang="en-US" sz="100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26843F14-D882-43D2-910D-7D4F87C69D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/>
          <a:lstStyle/>
          <a:p>
            <a:fld id="{8EAC17D0-B82B-4518-9083-C784B530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yyyy\Desktop\辅助图形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90" t="-4312" r="37743" b="52156"/>
          <a:stretch>
            <a:fillRect/>
          </a:stretch>
        </p:blipFill>
        <p:spPr bwMode="auto">
          <a:xfrm>
            <a:off x="4370388" y="3357565"/>
            <a:ext cx="4773612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C:\Users\yyyy\Desktop\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5" y="724379"/>
            <a:ext cx="900113" cy="34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1367658" y="1716386"/>
            <a:ext cx="6589229" cy="822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</a:lstStyle>
          <a:p>
            <a:pPr lvl="0"/>
            <a:r>
              <a:rPr lang="en-US" altLang="zh-CN" dirty="0"/>
              <a:t>XXXX</a:t>
            </a:r>
            <a:r>
              <a:rPr lang="zh-CN" altLang="en-US" dirty="0"/>
              <a:t>年</a:t>
            </a:r>
            <a:r>
              <a:rPr lang="en-US" altLang="zh-CN" dirty="0"/>
              <a:t>X</a:t>
            </a:r>
            <a:r>
              <a:rPr lang="zh-CN" altLang="en-US" dirty="0"/>
              <a:t>月月末总结</a:t>
            </a:r>
            <a:endParaRPr lang="zh-CN" altLang="en-US" dirty="0"/>
          </a:p>
        </p:txBody>
      </p:sp>
      <p:sp>
        <p:nvSpPr>
          <p:cNvPr id="16" name="文本占位符 14"/>
          <p:cNvSpPr>
            <a:spLocks noGrp="1"/>
          </p:cNvSpPr>
          <p:nvPr>
            <p:ph type="body" sz="quarter" idx="12" hasCustomPrompt="1"/>
          </p:nvPr>
        </p:nvSpPr>
        <p:spPr>
          <a:xfrm>
            <a:off x="1367658" y="2494073"/>
            <a:ext cx="6589229" cy="822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</a:lstStyle>
          <a:p>
            <a:pPr lvl="0"/>
            <a:r>
              <a:rPr lang="en-US" altLang="zh-CN" dirty="0"/>
              <a:t>XX</a:t>
            </a:r>
            <a:r>
              <a:rPr lang="zh-CN" altLang="en-US" dirty="0"/>
              <a:t>部门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C:\Users\yyyy\Desktop\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038" y="372904"/>
            <a:ext cx="647700" cy="2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C:\Users\yyyy\Desktop\辅助1.jp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/>
          <a:stretch>
            <a:fillRect/>
          </a:stretch>
        </p:blipFill>
        <p:spPr bwMode="auto">
          <a:xfrm>
            <a:off x="428625" y="734425"/>
            <a:ext cx="8280400" cy="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534" y="211668"/>
            <a:ext cx="6641664" cy="53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一级标题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yyyy\Desktop\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038" y="372904"/>
            <a:ext cx="647700" cy="2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Users\yyyy\Desktop\辅助1.jpg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/>
          <a:stretch>
            <a:fillRect/>
          </a:stretch>
        </p:blipFill>
        <p:spPr bwMode="auto">
          <a:xfrm>
            <a:off x="428625" y="734425"/>
            <a:ext cx="8280400" cy="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534" y="211668"/>
            <a:ext cx="6641664" cy="53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一级标题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377534" y="860111"/>
            <a:ext cx="8388932" cy="404470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sz="22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400" b="0"/>
            </a:lvl2pPr>
            <a:lvl3pPr>
              <a:defRPr sz="2400" b="0"/>
            </a:lvl3pPr>
            <a:lvl4pPr>
              <a:defRPr sz="2400" b="0"/>
            </a:lvl4pPr>
            <a:lvl5pPr>
              <a:defRPr sz="2400" b="0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yyyy\Desktop\辅助图形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90" t="-4312" r="37743" b="52156"/>
          <a:stretch>
            <a:fillRect/>
          </a:stretch>
        </p:blipFill>
        <p:spPr bwMode="auto">
          <a:xfrm>
            <a:off x="4370388" y="3357565"/>
            <a:ext cx="4773612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C:\Users\yyyy\Desktop\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5" y="724379"/>
            <a:ext cx="900113" cy="348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14"/>
          <p:cNvSpPr>
            <a:spLocks noGrp="1"/>
          </p:cNvSpPr>
          <p:nvPr>
            <p:ph type="body" sz="quarter" idx="11" hasCustomPrompt="1"/>
          </p:nvPr>
        </p:nvSpPr>
        <p:spPr>
          <a:xfrm>
            <a:off x="3239852" y="2020889"/>
            <a:ext cx="2628292" cy="822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/>
            </a:lvl1pPr>
          </a:lstStyle>
          <a:p>
            <a:pPr lvl="0"/>
            <a:r>
              <a:rPr lang="zh-CN" altLang="en-US" dirty="0"/>
              <a:t>谢 谢！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1.jpeg" descr="C:\Users\yyyy\Desktop\辅助1.jpg"/>
          <p:cNvPicPr/>
          <p:nvPr/>
        </p:nvPicPr>
        <p:blipFill>
          <a:blip r:embed="rId2"/>
          <a:srcRect t="67499"/>
          <a:stretch>
            <a:fillRect/>
          </a:stretch>
        </p:blipFill>
        <p:spPr>
          <a:xfrm>
            <a:off x="428625" y="734380"/>
            <a:ext cx="8280400" cy="1571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Shape 9"/>
          <p:cNvSpPr>
            <a:spLocks noGrp="1"/>
          </p:cNvSpPr>
          <p:nvPr>
            <p:ph type="body" idx="1" hasCustomPrompt="1"/>
          </p:nvPr>
        </p:nvSpPr>
        <p:spPr>
          <a:xfrm>
            <a:off x="377534" y="211670"/>
            <a:ext cx="6641666" cy="81359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>
                <a:solidFill>
                  <a:srgbClr val="393939"/>
                </a:solidFill>
              </a:defRPr>
            </a:lvl1pPr>
            <a:lvl2pPr marL="790575" indent="-333375">
              <a:spcBef>
                <a:spcPts val="600"/>
              </a:spcBef>
              <a:defRPr sz="2800">
                <a:solidFill>
                  <a:srgbClr val="393939"/>
                </a:solidFill>
              </a:defRPr>
            </a:lvl2pPr>
            <a:lvl3pPr marL="1234440" indent="-320040">
              <a:spcBef>
                <a:spcPts val="600"/>
              </a:spcBef>
              <a:defRPr sz="2800">
                <a:solidFill>
                  <a:srgbClr val="393939"/>
                </a:solidFill>
              </a:defRPr>
            </a:lvl3pPr>
            <a:lvl4pPr marL="1691640" indent="-320040">
              <a:spcBef>
                <a:spcPts val="600"/>
              </a:spcBef>
              <a:defRPr sz="2800">
                <a:solidFill>
                  <a:srgbClr val="393939"/>
                </a:solidFill>
              </a:defRPr>
            </a:lvl4pPr>
            <a:lvl5pPr marL="2184400" indent="-355600">
              <a:spcBef>
                <a:spcPts val="600"/>
              </a:spcBef>
              <a:defRPr sz="2800">
                <a:solidFill>
                  <a:srgbClr val="393939"/>
                </a:solidFill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393939"/>
                </a:solidFill>
              </a:rPr>
              <a:t>正文级别 1</a:t>
            </a:r>
            <a:endParaRPr sz="2800">
              <a:solidFill>
                <a:srgbClr val="393939"/>
              </a:solidFill>
            </a:endParaRP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393939"/>
                </a:solidFill>
              </a:rPr>
              <a:t>正文级别 2</a:t>
            </a:r>
            <a:endParaRPr sz="2800">
              <a:solidFill>
                <a:srgbClr val="393939"/>
              </a:solidFill>
            </a:endParaRP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393939"/>
                </a:solidFill>
              </a:rPr>
              <a:t>正文级别 3</a:t>
            </a:r>
            <a:endParaRPr sz="2800">
              <a:solidFill>
                <a:srgbClr val="393939"/>
              </a:solidFill>
            </a:endParaRP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393939"/>
                </a:solidFill>
              </a:rPr>
              <a:t>正文级别 4</a:t>
            </a:r>
            <a:endParaRPr sz="2800">
              <a:solidFill>
                <a:srgbClr val="393939"/>
              </a:solidFill>
            </a:endParaRP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393939"/>
                </a:solidFill>
              </a:rPr>
              <a:t>正文级别 5</a:t>
            </a:r>
            <a:endParaRPr sz="2800">
              <a:solidFill>
                <a:srgbClr val="393939"/>
              </a:solidFill>
            </a:endParaRPr>
          </a:p>
        </p:txBody>
      </p:sp>
      <p:pic>
        <p:nvPicPr>
          <p:cNvPr id="10" name="image2.png" descr="C:\Users\yyyy\Desktop\0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856094" y="323048"/>
            <a:ext cx="820520" cy="31778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多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531294" y="705794"/>
            <a:ext cx="8000981" cy="3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1293" y="959491"/>
            <a:ext cx="8000981" cy="32634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115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26098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522605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783590" indent="0">
              <a:lnSpc>
                <a:spcPct val="150000"/>
              </a:lnSpc>
              <a:spcAft>
                <a:spcPts val="0"/>
              </a:spcAft>
              <a:buNone/>
              <a:defRPr sz="156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9288" y="339595"/>
            <a:ext cx="8000982" cy="48637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:\Users\yyyy\Desktop\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038" y="372904"/>
            <a:ext cx="647700" cy="2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C:\Users\yyyy\Desktop\辅助1.jpg"/>
          <p:cNvPicPr>
            <a:picLocks noChangeArrowheads="1"/>
          </p:cNvPicPr>
          <p:nvPr/>
        </p:nvPicPr>
        <p:blipFill>
          <a:blip r:embed="rId3"/>
          <a:srcRect t="67499"/>
          <a:stretch>
            <a:fillRect/>
          </a:stretch>
        </p:blipFill>
        <p:spPr bwMode="auto">
          <a:xfrm>
            <a:off x="428625" y="734425"/>
            <a:ext cx="8280400" cy="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534" y="211668"/>
            <a:ext cx="6641664" cy="5384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一级标题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377534" y="860111"/>
            <a:ext cx="8388932" cy="404470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 sz="2200" b="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 sz="2400" b="0"/>
            </a:lvl2pPr>
            <a:lvl3pPr>
              <a:defRPr sz="2400" b="0"/>
            </a:lvl3pPr>
            <a:lvl4pPr>
              <a:defRPr sz="2400" b="0"/>
            </a:lvl4pPr>
            <a:lvl5pPr>
              <a:defRPr sz="2400" b="0"/>
            </a:lvl5pPr>
          </a:lstStyle>
          <a:p>
            <a:pPr lvl="0"/>
            <a:r>
              <a:rPr lang="zh-CN" altLang="en-US" dirty="0"/>
              <a:t>正文内容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User\Desktop\胸牌源文件-0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2836" y="280670"/>
            <a:ext cx="671445" cy="418951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21970" rtl="0" eaLnBrk="1" latinLnBrk="0" hangingPunct="1">
        <a:lnSpc>
          <a:spcPct val="90000"/>
        </a:lnSpc>
        <a:spcBef>
          <a:spcPct val="0"/>
        </a:spcBef>
        <a:buNone/>
        <a:defRPr sz="25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0810" indent="-130810" algn="l" defTabSz="521970" rtl="0" eaLnBrk="1" latinLnBrk="0" hangingPunct="1">
        <a:lnSpc>
          <a:spcPct val="90000"/>
        </a:lnSpc>
        <a:spcBef>
          <a:spcPct val="3940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j-ea"/>
          <a:ea typeface="+mj-ea"/>
          <a:cs typeface="+mn-cs"/>
        </a:defRPr>
      </a:lvl1pPr>
      <a:lvl2pPr marL="39179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370" kern="1200">
          <a:solidFill>
            <a:schemeClr val="tx1"/>
          </a:solidFill>
          <a:latin typeface="+mj-ea"/>
          <a:ea typeface="+mj-ea"/>
          <a:cs typeface="+mn-cs"/>
        </a:defRPr>
      </a:lvl2pPr>
      <a:lvl3pPr marL="65278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140" kern="1200">
          <a:solidFill>
            <a:schemeClr val="tx1"/>
          </a:solidFill>
          <a:latin typeface="+mj-ea"/>
          <a:ea typeface="+mj-ea"/>
          <a:cs typeface="+mn-cs"/>
        </a:defRPr>
      </a:lvl3pPr>
      <a:lvl4pPr marL="91440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j-ea"/>
          <a:ea typeface="+mj-ea"/>
          <a:cs typeface="+mn-cs"/>
        </a:defRPr>
      </a:lvl4pPr>
      <a:lvl5pPr marL="117538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j-ea"/>
          <a:ea typeface="+mj-ea"/>
          <a:cs typeface="+mn-cs"/>
        </a:defRPr>
      </a:lvl5pPr>
      <a:lvl6pPr marL="143700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69799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959610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220595" indent="-130810" algn="l" defTabSz="521970" rtl="0" eaLnBrk="1" latinLnBrk="0" hangingPunct="1">
        <a:lnSpc>
          <a:spcPct val="90000"/>
        </a:lnSpc>
        <a:spcBef>
          <a:spcPct val="197000"/>
        </a:spcBef>
        <a:buFont typeface="Arial" panose="020B0604020202090204" pitchFamily="34" charset="0"/>
        <a:buChar char="•"/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1pPr>
      <a:lvl2pPr marL="26098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2pPr>
      <a:lvl3pPr marL="52260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3pPr>
      <a:lvl4pPr marL="78359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4pPr>
      <a:lvl5pPr marL="104521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5pPr>
      <a:lvl6pPr marL="130619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6pPr>
      <a:lvl7pPr marL="156781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8pPr>
      <a:lvl9pPr marL="2089785" algn="l" defTabSz="521970" rtl="0" eaLnBrk="1" latinLnBrk="0" hangingPunct="1">
        <a:defRPr sz="10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2pPr>
      <a:lvl3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3pPr>
      <a:lvl4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4pPr>
      <a:lvl5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5pPr>
      <a:lvl6pPr marL="13716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6pPr>
      <a:lvl7pPr marL="18288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7pPr>
      <a:lvl8pPr marL="22860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8pPr>
      <a:lvl9pPr marL="27432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800" b="1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4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0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2pPr>
      <a:lvl3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3pPr>
      <a:lvl4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4pPr>
      <a:lvl5pPr marL="9144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sym typeface="Calibri" panose="020F0502020204030204" pitchFamily="34" charset="0"/>
        </a:defRPr>
      </a:lvl5pPr>
      <a:lvl6pPr marL="13716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6pPr>
      <a:lvl7pPr marL="18288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7pPr>
      <a:lvl8pPr marL="22860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8pPr>
      <a:lvl9pPr marL="2743200" indent="-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anose="020F0502020204030204" pitchFamily="34" charset="0"/>
          <a:ea typeface="宋体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800" b="1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4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0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b="1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4.xml"/><Relationship Id="rId15" Type="http://schemas.openxmlformats.org/officeDocument/2006/relationships/themeOverride" Target="../theme/themeOverride1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0" Type="http://schemas.openxmlformats.org/officeDocument/2006/relationships/notesSlide" Target="../notesSlides/notesSlide3.xml"/><Relationship Id="rId5" Type="http://schemas.openxmlformats.org/officeDocument/2006/relationships/tags" Target="../tags/tag19.xml"/><Relationship Id="rId49" Type="http://schemas.openxmlformats.org/officeDocument/2006/relationships/slideLayout" Target="../slideLayouts/slideLayout20.xml"/><Relationship Id="rId48" Type="http://schemas.openxmlformats.org/officeDocument/2006/relationships/tags" Target="../tags/tag62.xml"/><Relationship Id="rId47" Type="http://schemas.openxmlformats.org/officeDocument/2006/relationships/tags" Target="../tags/tag61.xml"/><Relationship Id="rId46" Type="http://schemas.openxmlformats.org/officeDocument/2006/relationships/tags" Target="../tags/tag60.xml"/><Relationship Id="rId45" Type="http://schemas.openxmlformats.org/officeDocument/2006/relationships/tags" Target="../tags/tag59.xml"/><Relationship Id="rId44" Type="http://schemas.openxmlformats.org/officeDocument/2006/relationships/tags" Target="../tags/tag58.xml"/><Relationship Id="rId43" Type="http://schemas.openxmlformats.org/officeDocument/2006/relationships/tags" Target="../tags/tag57.xml"/><Relationship Id="rId42" Type="http://schemas.openxmlformats.org/officeDocument/2006/relationships/tags" Target="../tags/tag56.xml"/><Relationship Id="rId41" Type="http://schemas.openxmlformats.org/officeDocument/2006/relationships/tags" Target="../tags/tag55.xml"/><Relationship Id="rId40" Type="http://schemas.openxmlformats.org/officeDocument/2006/relationships/tags" Target="../tags/tag54.xml"/><Relationship Id="rId4" Type="http://schemas.openxmlformats.org/officeDocument/2006/relationships/tags" Target="../tags/tag18.xml"/><Relationship Id="rId39" Type="http://schemas.openxmlformats.org/officeDocument/2006/relationships/tags" Target="../tags/tag53.xml"/><Relationship Id="rId38" Type="http://schemas.openxmlformats.org/officeDocument/2006/relationships/tags" Target="../tags/tag52.xml"/><Relationship Id="rId37" Type="http://schemas.openxmlformats.org/officeDocument/2006/relationships/tags" Target="../tags/tag51.xml"/><Relationship Id="rId36" Type="http://schemas.openxmlformats.org/officeDocument/2006/relationships/tags" Target="../tags/tag50.xml"/><Relationship Id="rId35" Type="http://schemas.openxmlformats.org/officeDocument/2006/relationships/tags" Target="../tags/tag49.xml"/><Relationship Id="rId34" Type="http://schemas.openxmlformats.org/officeDocument/2006/relationships/tags" Target="../tags/tag48.xml"/><Relationship Id="rId33" Type="http://schemas.openxmlformats.org/officeDocument/2006/relationships/tags" Target="../tags/tag47.xml"/><Relationship Id="rId32" Type="http://schemas.openxmlformats.org/officeDocument/2006/relationships/tags" Target="../tags/tag46.xml"/><Relationship Id="rId31" Type="http://schemas.openxmlformats.org/officeDocument/2006/relationships/tags" Target="../tags/tag45.xml"/><Relationship Id="rId30" Type="http://schemas.openxmlformats.org/officeDocument/2006/relationships/tags" Target="../tags/tag44.xml"/><Relationship Id="rId3" Type="http://schemas.openxmlformats.org/officeDocument/2006/relationships/tags" Target="../tags/tag17.xml"/><Relationship Id="rId29" Type="http://schemas.openxmlformats.org/officeDocument/2006/relationships/tags" Target="../tags/tag43.xml"/><Relationship Id="rId28" Type="http://schemas.openxmlformats.org/officeDocument/2006/relationships/tags" Target="../tags/tag42.xml"/><Relationship Id="rId27" Type="http://schemas.openxmlformats.org/officeDocument/2006/relationships/tags" Target="../tags/tag41.xml"/><Relationship Id="rId26" Type="http://schemas.openxmlformats.org/officeDocument/2006/relationships/tags" Target="../tags/tag40.xml"/><Relationship Id="rId25" Type="http://schemas.openxmlformats.org/officeDocument/2006/relationships/tags" Target="../tags/tag39.xml"/><Relationship Id="rId24" Type="http://schemas.openxmlformats.org/officeDocument/2006/relationships/tags" Target="../tags/tag38.xml"/><Relationship Id="rId23" Type="http://schemas.openxmlformats.org/officeDocument/2006/relationships/tags" Target="../tags/tag37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4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image" Target="../media/image13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4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 descr="C:\Users\yyyy\Desktop\辅助图形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90" t="-4311" r="37743" b="52155"/>
          <a:stretch>
            <a:fillRect/>
          </a:stretch>
        </p:blipFill>
        <p:spPr bwMode="auto">
          <a:xfrm>
            <a:off x="4368800" y="3155950"/>
            <a:ext cx="4775200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755452" y="1852181"/>
            <a:ext cx="7344816" cy="822960"/>
          </a:xfrm>
        </p:spPr>
        <p:txBody>
          <a:bodyPr/>
          <a:lstStyle/>
          <a:p>
            <a:pPr algn="ctr"/>
            <a:r>
              <a:rPr lang="zh-CN" altLang="en-US" sz="3600" dirty="0">
                <a:solidFill>
                  <a:schemeClr val="tx1"/>
                </a:solidFill>
              </a:rPr>
              <a:t>整机集采支持跨组织研发领用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algn="ctr"/>
            <a:endParaRPr lang="zh-CN" altLang="en-U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800" kern="1200" dirty="0">
                <a:solidFill>
                  <a:srgbClr val="C00000"/>
                </a:solidFill>
                <a:ea typeface="方正兰亭黑_GBK" panose="02000000000000000000" pitchFamily="2" charset="-122"/>
                <a:cs typeface="+mj-cs"/>
              </a:rPr>
              <a:t>目录</a:t>
            </a:r>
            <a:endParaRPr lang="zh-CN" altLang="en-US" sz="2800" kern="1200" dirty="0">
              <a:solidFill>
                <a:srgbClr val="C00000"/>
              </a:solidFill>
              <a:ea typeface="方正兰亭黑_GBK" panose="02000000000000000000" pitchFamily="2" charset="-122"/>
              <a:cs typeface="+mj-cs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41710" y="2225279"/>
            <a:ext cx="3045619" cy="69294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rmAutofit lnSpcReduction="10000"/>
          </a:bodyPr>
          <a:lstStyle>
            <a:defPPr>
              <a:defRPr lang="zh-CN"/>
            </a:defPPr>
            <a:lvl1pPr lvl="0">
              <a:defRPr sz="5400" b="1">
                <a:solidFill>
                  <a:srgbClr val="F265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4050" smtClean="0">
                <a:solidFill>
                  <a:schemeClr val="accent1">
                    <a:lumMod val="50000"/>
                  </a:schemeClr>
                </a:solidFill>
                <a:latin typeface="Arial" panose="020B0604020202090204" pitchFamily="34" charset="0"/>
                <a:ea typeface="+mn-ea"/>
                <a:cs typeface="+mn-ea"/>
              </a:rPr>
              <a:t>CONTENTS</a:t>
            </a:r>
            <a:endParaRPr lang="en-US" altLang="zh-CN" sz="4050" smtClean="0">
              <a:solidFill>
                <a:schemeClr val="accent1">
                  <a:lumMod val="50000"/>
                </a:schemeClr>
              </a:solidFill>
              <a:latin typeface="Arial" panose="020B0604020202090204" pitchFamily="34" charset="0"/>
              <a:ea typeface="+mn-ea"/>
              <a:cs typeface="+mn-ea"/>
            </a:endParaRPr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3597901" y="1367421"/>
            <a:ext cx="451955" cy="45273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charset="-122"/>
            </a:endParaRPr>
          </a:p>
        </p:txBody>
      </p:sp>
      <p:sp>
        <p:nvSpPr>
          <p:cNvPr id="7177" name="文本框 12"/>
          <p:cNvSpPr txBox="1"/>
          <p:nvPr>
            <p:custDataLst>
              <p:tags r:id="rId3"/>
            </p:custDataLst>
          </p:nvPr>
        </p:nvSpPr>
        <p:spPr>
          <a:xfrm>
            <a:off x="3664188" y="1367421"/>
            <a:ext cx="319381" cy="452732"/>
          </a:xfrm>
          <a:prstGeom prst="rect">
            <a:avLst/>
          </a:prstGeom>
          <a:noFill/>
          <a:ln w="9525">
            <a:noFill/>
          </a:ln>
        </p:spPr>
        <p:txBody>
          <a:bodyPr wrap="square" lIns="67500" tIns="35100" rIns="67500" bIns="35100">
            <a:normAutofit fontScale="70000"/>
          </a:bodyPr>
          <a:lstStyle/>
          <a:p>
            <a:pPr lvl="0" algn="ctr"/>
            <a:r>
              <a:rPr lang="en-US" altLang="zh-CN" sz="3300" b="1" smtClean="0">
                <a:solidFill>
                  <a:schemeClr val="bg1"/>
                </a:solidFill>
              </a:rPr>
              <a:t>1</a:t>
            </a:r>
            <a:endParaRPr lang="en-US" altLang="zh-CN" sz="3300" b="1" dirty="0" smtClean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356100" y="1386205"/>
            <a:ext cx="3176270" cy="441325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normAutofit/>
          </a:bodyPr>
          <a:lstStyle>
            <a:defPPr>
              <a:defRPr lang="zh-CN"/>
            </a:defPPr>
            <a:lvl1pPr marL="0" lvl="0" indent="0" eaLnBrk="1" hangingPunct="1">
              <a:lnSpc>
                <a:spcPct val="100000"/>
              </a:lnSpc>
              <a:buFont typeface="Arial" panose="020B0604020202090204" pitchFamily="34" charset="0"/>
              <a:buNone/>
              <a:defRPr sz="2000">
                <a:latin typeface="Arial" panose="020B0604020202090204" pitchFamily="34" charset="0"/>
                <a:ea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latin typeface="Arial" panose="020B0604020202090204" pitchFamily="34" charset="0"/>
                <a:ea typeface="+mn-ea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latin typeface="Arial" panose="020B0604020202090204" pitchFamily="34" charset="0"/>
                <a:ea typeface="+mn-ea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5pPr>
          </a:lstStyle>
          <a:p>
            <a:r>
              <a:rPr lang="zh-CN" altLang="en-US" sz="18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+mn-ea"/>
                <a:cs typeface="+mn-ea"/>
              </a:rPr>
              <a:t>项目背景</a:t>
            </a:r>
            <a:endParaRPr lang="zh-CN" altLang="en-US" sz="1800" b="1" dirty="0">
              <a:solidFill>
                <a:schemeClr val="bg2">
                  <a:lumMod val="50000"/>
                </a:schemeClr>
              </a:solidFill>
              <a:latin typeface="Arial" panose="020B0604020202090204" pitchFamily="34" charset="0"/>
              <a:ea typeface="+mn-ea"/>
              <a:cs typeface="+mn-ea"/>
            </a:endParaRPr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3597901" y="2107817"/>
            <a:ext cx="451955" cy="45273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charset="-122"/>
            </a:endParaRPr>
          </a:p>
        </p:txBody>
      </p:sp>
      <p:sp>
        <p:nvSpPr>
          <p:cNvPr id="7178" name="文本框 13"/>
          <p:cNvSpPr txBox="1"/>
          <p:nvPr>
            <p:custDataLst>
              <p:tags r:id="rId6"/>
            </p:custDataLst>
          </p:nvPr>
        </p:nvSpPr>
        <p:spPr>
          <a:xfrm>
            <a:off x="3666523" y="2107817"/>
            <a:ext cx="314712" cy="452732"/>
          </a:xfrm>
          <a:prstGeom prst="rect">
            <a:avLst/>
          </a:prstGeom>
          <a:noFill/>
          <a:ln w="9525">
            <a:noFill/>
          </a:ln>
        </p:spPr>
        <p:txBody>
          <a:bodyPr wrap="square" lIns="67500" tIns="35100" rIns="67500" bIns="35100">
            <a:normAutofit fontScale="70000"/>
          </a:bodyPr>
          <a:lstStyle/>
          <a:p>
            <a:pPr lvl="0" algn="ctr"/>
            <a:r>
              <a:rPr lang="en-US" altLang="zh-CN" sz="3300" b="1" smtClean="0">
                <a:solidFill>
                  <a:schemeClr val="bg1"/>
                </a:solidFill>
              </a:rPr>
              <a:t>2</a:t>
            </a:r>
            <a:endParaRPr lang="en-US" altLang="zh-CN" sz="3300" b="1" dirty="0" smtClean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4356100" y="2206625"/>
            <a:ext cx="3533140" cy="450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lvl="0" indent="0" eaLnBrk="1" hangingPunct="1">
              <a:lnSpc>
                <a:spcPct val="100000"/>
              </a:lnSpc>
              <a:buFont typeface="Arial" panose="020B0604020202090204" pitchFamily="34" charset="0"/>
              <a:buNone/>
              <a:defRPr sz="1800">
                <a:latin typeface="Arial" panose="020B0604020202090204" pitchFamily="34" charset="0"/>
                <a:ea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latin typeface="Arial" panose="020B0604020202090204" pitchFamily="34" charset="0"/>
                <a:ea typeface="+mn-ea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latin typeface="Arial" panose="020B0604020202090204" pitchFamily="34" charset="0"/>
                <a:ea typeface="+mn-ea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5pPr>
          </a:lstStyle>
          <a:p>
            <a:r>
              <a:rPr lang="zh-CN" altLang="en-US" b="1" smtClean="0">
                <a:solidFill>
                  <a:schemeClr val="bg2">
                    <a:lumMod val="50000"/>
                  </a:schemeClr>
                </a:solidFill>
              </a:rPr>
              <a:t>项目目标与价值</a:t>
            </a:r>
            <a:endParaRPr lang="zh-CN" altLang="en-US" b="1" smtClean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3597901" y="2845498"/>
            <a:ext cx="451955" cy="45273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charset="-122"/>
            </a:endParaRPr>
          </a:p>
        </p:txBody>
      </p:sp>
      <p:sp>
        <p:nvSpPr>
          <p:cNvPr id="7179" name="文本框 14"/>
          <p:cNvSpPr txBox="1"/>
          <p:nvPr>
            <p:custDataLst>
              <p:tags r:id="rId9"/>
            </p:custDataLst>
          </p:nvPr>
        </p:nvSpPr>
        <p:spPr>
          <a:xfrm>
            <a:off x="3666523" y="2850929"/>
            <a:ext cx="314712" cy="452732"/>
          </a:xfrm>
          <a:prstGeom prst="rect">
            <a:avLst/>
          </a:prstGeom>
          <a:noFill/>
          <a:ln w="9525">
            <a:noFill/>
          </a:ln>
        </p:spPr>
        <p:txBody>
          <a:bodyPr wrap="square" lIns="67500" tIns="35100" rIns="67500" bIns="35100">
            <a:normAutofit fontScale="70000"/>
          </a:bodyPr>
          <a:lstStyle/>
          <a:p>
            <a:pPr lvl="0" algn="ctr"/>
            <a:r>
              <a:rPr lang="en-US" altLang="zh-CN" sz="3300" b="1" smtClean="0">
                <a:solidFill>
                  <a:schemeClr val="bg1"/>
                </a:solidFill>
              </a:rPr>
              <a:t>3</a:t>
            </a:r>
            <a:endParaRPr lang="en-US" altLang="zh-CN" sz="3300" b="1" dirty="0" smtClean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10"/>
            </p:custDataLst>
          </p:nvPr>
        </p:nvSpPr>
        <p:spPr>
          <a:xfrm>
            <a:off x="4356100" y="2860040"/>
            <a:ext cx="258191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noAutofit/>
          </a:bodyPr>
          <a:lstStyle>
            <a:defPPr>
              <a:defRPr lang="zh-CN"/>
            </a:defPPr>
            <a:lvl1pPr marL="0" lvl="0" indent="0" eaLnBrk="1" hangingPunct="1">
              <a:lnSpc>
                <a:spcPct val="100000"/>
              </a:lnSpc>
              <a:buFont typeface="Arial" panose="020B0604020202090204" pitchFamily="34" charset="0"/>
              <a:buNone/>
              <a:defRPr sz="2000">
                <a:latin typeface="Arial" panose="020B0604020202090204" pitchFamily="34" charset="0"/>
                <a:ea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latin typeface="Arial" panose="020B0604020202090204" pitchFamily="34" charset="0"/>
                <a:ea typeface="+mn-ea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latin typeface="Arial" panose="020B0604020202090204" pitchFamily="34" charset="0"/>
                <a:ea typeface="+mn-ea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5pPr>
          </a:lstStyle>
          <a:p>
            <a:r>
              <a:rPr lang="zh-CN" altLang="en-US" sz="18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+mn-ea"/>
                <a:cs typeface="+mn-ea"/>
              </a:rPr>
              <a:t>项目团队和规划</a:t>
            </a:r>
            <a:endParaRPr lang="zh-CN" altLang="en-US" sz="1800" b="1" dirty="0">
              <a:solidFill>
                <a:schemeClr val="bg2">
                  <a:lumMod val="50000"/>
                </a:schemeClr>
              </a:solidFill>
              <a:latin typeface="Arial" panose="020B0604020202090204" pitchFamily="34" charset="0"/>
              <a:ea typeface="+mn-ea"/>
              <a:cs typeface="+mn-ea"/>
            </a:endParaRPr>
          </a:p>
        </p:txBody>
      </p:sp>
      <p:sp>
        <p:nvSpPr>
          <p:cNvPr id="44" name="椭圆 43"/>
          <p:cNvSpPr/>
          <p:nvPr>
            <p:custDataLst>
              <p:tags r:id="rId11"/>
            </p:custDataLst>
          </p:nvPr>
        </p:nvSpPr>
        <p:spPr>
          <a:xfrm>
            <a:off x="3597901" y="3585894"/>
            <a:ext cx="451955" cy="452732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90204" pitchFamily="34" charset="0"/>
              <a:ea typeface="黑体" panose="02010609060101010101" charset="-122"/>
            </a:endParaRPr>
          </a:p>
        </p:txBody>
      </p:sp>
      <p:sp>
        <p:nvSpPr>
          <p:cNvPr id="45" name="文本框 14"/>
          <p:cNvSpPr txBox="1"/>
          <p:nvPr>
            <p:custDataLst>
              <p:tags r:id="rId12"/>
            </p:custDataLst>
          </p:nvPr>
        </p:nvSpPr>
        <p:spPr>
          <a:xfrm>
            <a:off x="3666523" y="3591326"/>
            <a:ext cx="314712" cy="452732"/>
          </a:xfrm>
          <a:prstGeom prst="rect">
            <a:avLst/>
          </a:prstGeom>
          <a:noFill/>
          <a:ln w="9525">
            <a:noFill/>
          </a:ln>
        </p:spPr>
        <p:txBody>
          <a:bodyPr wrap="square" lIns="67500" tIns="35100" rIns="67500" bIns="35100">
            <a:normAutofit fontScale="70000"/>
          </a:bodyPr>
          <a:lstStyle/>
          <a:p>
            <a:pPr lvl="0" algn="ctr"/>
            <a:r>
              <a:rPr lang="en-US" altLang="zh-CN" sz="3300" b="1" smtClean="0">
                <a:solidFill>
                  <a:schemeClr val="bg1"/>
                </a:solidFill>
              </a:rPr>
              <a:t>4</a:t>
            </a:r>
            <a:endParaRPr lang="en-US" altLang="zh-CN" sz="3300" b="1" dirty="0" smtClean="0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4312920" y="3597910"/>
            <a:ext cx="258191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anchor="b" anchorCtr="0">
            <a:noAutofit/>
          </a:bodyPr>
          <a:lstStyle>
            <a:defPPr>
              <a:defRPr lang="zh-CN"/>
            </a:defPPr>
            <a:lvl1pPr marL="0" lvl="0" indent="0" eaLnBrk="1" hangingPunct="1">
              <a:lnSpc>
                <a:spcPct val="100000"/>
              </a:lnSpc>
              <a:buFont typeface="Arial" panose="020B0604020202090204" pitchFamily="34" charset="0"/>
              <a:buNone/>
              <a:defRPr sz="2000">
                <a:latin typeface="Arial" panose="020B0604020202090204" pitchFamily="34" charset="0"/>
                <a:ea typeface="+mn-ea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>
                <a:latin typeface="Arial" panose="020B0604020202090204" pitchFamily="34" charset="0"/>
                <a:ea typeface="+mn-ea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>
                <a:latin typeface="Arial" panose="020B0604020202090204" pitchFamily="34" charset="0"/>
                <a:ea typeface="+mn-ea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>
                <a:latin typeface="Arial" panose="020B0604020202090204" pitchFamily="34" charset="0"/>
                <a:ea typeface="+mn-ea"/>
              </a:defRPr>
            </a:lvl5pPr>
          </a:lstStyle>
          <a:p>
            <a:r>
              <a:rPr lang="zh-CN" altLang="en-US" sz="1800" b="1" dirty="0">
                <a:solidFill>
                  <a:schemeClr val="bg2">
                    <a:lumMod val="50000"/>
                  </a:schemeClr>
                </a:solidFill>
                <a:latin typeface="Arial" panose="020B0604020202090204" pitchFamily="34" charset="0"/>
                <a:ea typeface="+mn-ea"/>
                <a:cs typeface="+mn-ea"/>
              </a:rPr>
              <a:t>项目风险和监控</a:t>
            </a:r>
            <a:endParaRPr lang="zh-CN" altLang="en-US" sz="1800" b="1" dirty="0">
              <a:solidFill>
                <a:schemeClr val="bg2">
                  <a:lumMod val="50000"/>
                </a:schemeClr>
              </a:solidFill>
              <a:latin typeface="Arial" panose="020B0604020202090204" pitchFamily="34" charset="0"/>
              <a:ea typeface="+mn-ea"/>
              <a:cs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一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项目背景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7238" y="1564192"/>
            <a:ext cx="7058985" cy="2609267"/>
            <a:chOff x="1366" y="2869"/>
            <a:chExt cx="10270" cy="3495"/>
          </a:xfrm>
        </p:grpSpPr>
        <p:sp>
          <p:nvSpPr>
            <p:cNvPr id="182" name="五边形 181"/>
            <p:cNvSpPr/>
            <p:nvPr>
              <p:custDataLst>
                <p:tags r:id="rId1"/>
              </p:custDataLst>
            </p:nvPr>
          </p:nvSpPr>
          <p:spPr>
            <a:xfrm>
              <a:off x="9430" y="2872"/>
              <a:ext cx="2206" cy="691"/>
            </a:xfrm>
            <a:prstGeom prst="homePlate">
              <a:avLst/>
            </a:prstGeom>
            <a:noFill/>
            <a:ln w="1270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181" name="五边形 180"/>
            <p:cNvSpPr/>
            <p:nvPr>
              <p:custDataLst>
                <p:tags r:id="rId2"/>
              </p:custDataLst>
            </p:nvPr>
          </p:nvSpPr>
          <p:spPr>
            <a:xfrm>
              <a:off x="6821" y="2869"/>
              <a:ext cx="2206" cy="691"/>
            </a:xfrm>
            <a:prstGeom prst="homePlate">
              <a:avLst/>
            </a:prstGeom>
            <a:noFill/>
            <a:ln w="1270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180" name="五边形 179"/>
            <p:cNvSpPr/>
            <p:nvPr>
              <p:custDataLst>
                <p:tags r:id="rId3"/>
              </p:custDataLst>
            </p:nvPr>
          </p:nvSpPr>
          <p:spPr>
            <a:xfrm>
              <a:off x="4212" y="2870"/>
              <a:ext cx="2206" cy="691"/>
            </a:xfrm>
            <a:prstGeom prst="homePlate">
              <a:avLst/>
            </a:prstGeom>
            <a:noFill/>
            <a:ln w="1270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77" name="五边形 76"/>
            <p:cNvSpPr/>
            <p:nvPr>
              <p:custDataLst>
                <p:tags r:id="rId4"/>
              </p:custDataLst>
            </p:nvPr>
          </p:nvSpPr>
          <p:spPr>
            <a:xfrm>
              <a:off x="1603" y="2869"/>
              <a:ext cx="2206" cy="691"/>
            </a:xfrm>
            <a:prstGeom prst="homePlate">
              <a:avLst/>
            </a:prstGeom>
            <a:noFill/>
            <a:ln w="1270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80" name="五边形 79"/>
            <p:cNvSpPr/>
            <p:nvPr>
              <p:custDataLst>
                <p:tags r:id="rId5"/>
              </p:custDataLst>
            </p:nvPr>
          </p:nvSpPr>
          <p:spPr>
            <a:xfrm>
              <a:off x="9226" y="2869"/>
              <a:ext cx="2206" cy="691"/>
            </a:xfrm>
            <a:prstGeom prst="homePlate">
              <a:avLst/>
            </a:prstGeom>
            <a:solidFill>
              <a:schemeClr val="accent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83" name="五边形 82"/>
            <p:cNvSpPr/>
            <p:nvPr>
              <p:custDataLst>
                <p:tags r:id="rId6"/>
              </p:custDataLst>
            </p:nvPr>
          </p:nvSpPr>
          <p:spPr>
            <a:xfrm>
              <a:off x="6617" y="2869"/>
              <a:ext cx="2206" cy="691"/>
            </a:xfrm>
            <a:prstGeom prst="homePlate">
              <a:avLst/>
            </a:prstGeom>
            <a:solidFill>
              <a:schemeClr val="accent3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86" name="五边形 85"/>
            <p:cNvSpPr/>
            <p:nvPr>
              <p:custDataLst>
                <p:tags r:id="rId7"/>
              </p:custDataLst>
            </p:nvPr>
          </p:nvSpPr>
          <p:spPr>
            <a:xfrm>
              <a:off x="4008" y="2869"/>
              <a:ext cx="2206" cy="691"/>
            </a:xfrm>
            <a:prstGeom prst="homePlate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89" name="五边形 88"/>
            <p:cNvSpPr/>
            <p:nvPr>
              <p:custDataLst>
                <p:tags r:id="rId8"/>
              </p:custDataLst>
            </p:nvPr>
          </p:nvSpPr>
          <p:spPr>
            <a:xfrm>
              <a:off x="1398" y="2870"/>
              <a:ext cx="2206" cy="691"/>
            </a:xfrm>
            <a:prstGeom prst="homePlat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</a:endParaRPr>
            </a:p>
          </p:txBody>
        </p:sp>
        <p:sp>
          <p:nvSpPr>
            <p:cNvPr id="92" name="矩形 91"/>
            <p:cNvSpPr/>
            <p:nvPr>
              <p:custDataLst>
                <p:tags r:id="rId9"/>
              </p:custDataLst>
            </p:nvPr>
          </p:nvSpPr>
          <p:spPr>
            <a:xfrm flipV="1">
              <a:off x="1416" y="3710"/>
              <a:ext cx="2171" cy="2428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97" name="矩形 96"/>
            <p:cNvSpPr/>
            <p:nvPr>
              <p:custDataLst>
                <p:tags r:id="rId10"/>
              </p:custDataLst>
            </p:nvPr>
          </p:nvSpPr>
          <p:spPr>
            <a:xfrm flipV="1">
              <a:off x="4025" y="3710"/>
              <a:ext cx="2171" cy="2428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98" name="矩形 97"/>
            <p:cNvSpPr/>
            <p:nvPr>
              <p:custDataLst>
                <p:tags r:id="rId11"/>
              </p:custDataLst>
            </p:nvPr>
          </p:nvSpPr>
          <p:spPr>
            <a:xfrm flipV="1">
              <a:off x="6634" y="3710"/>
              <a:ext cx="2171" cy="2428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05" name="矩形 104"/>
            <p:cNvSpPr/>
            <p:nvPr>
              <p:custDataLst>
                <p:tags r:id="rId12"/>
              </p:custDataLst>
            </p:nvPr>
          </p:nvSpPr>
          <p:spPr>
            <a:xfrm flipV="1">
              <a:off x="9243" y="3710"/>
              <a:ext cx="2171" cy="2428"/>
            </a:xfrm>
            <a:prstGeom prst="rect">
              <a:avLst/>
            </a:prstGeom>
            <a:solidFill>
              <a:schemeClr val="accent1">
                <a:alpha val="18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26" name="椭圆 125"/>
            <p:cNvSpPr/>
            <p:nvPr>
              <p:custDataLst>
                <p:tags r:id="rId13"/>
              </p:custDataLst>
            </p:nvPr>
          </p:nvSpPr>
          <p:spPr>
            <a:xfrm>
              <a:off x="2129" y="5937"/>
              <a:ext cx="95" cy="95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3" name="椭圆 132"/>
            <p:cNvSpPr/>
            <p:nvPr>
              <p:custDataLst>
                <p:tags r:id="rId14"/>
              </p:custDataLst>
            </p:nvPr>
          </p:nvSpPr>
          <p:spPr>
            <a:xfrm>
              <a:off x="2261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4" name="椭圆 133"/>
            <p:cNvSpPr/>
            <p:nvPr>
              <p:custDataLst>
                <p:tags r:id="rId15"/>
              </p:custDataLst>
            </p:nvPr>
          </p:nvSpPr>
          <p:spPr>
            <a:xfrm>
              <a:off x="2394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5" name="椭圆 134"/>
            <p:cNvSpPr/>
            <p:nvPr>
              <p:custDataLst>
                <p:tags r:id="rId16"/>
              </p:custDataLst>
            </p:nvPr>
          </p:nvSpPr>
          <p:spPr>
            <a:xfrm>
              <a:off x="2526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6" name="椭圆 135"/>
            <p:cNvSpPr/>
            <p:nvPr>
              <p:custDataLst>
                <p:tags r:id="rId17"/>
              </p:custDataLst>
            </p:nvPr>
          </p:nvSpPr>
          <p:spPr>
            <a:xfrm>
              <a:off x="2659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7" name="椭圆 136"/>
            <p:cNvSpPr/>
            <p:nvPr>
              <p:custDataLst>
                <p:tags r:id="rId18"/>
              </p:custDataLst>
            </p:nvPr>
          </p:nvSpPr>
          <p:spPr>
            <a:xfrm>
              <a:off x="2791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8" name="椭圆 137"/>
            <p:cNvSpPr/>
            <p:nvPr>
              <p:custDataLst>
                <p:tags r:id="rId19"/>
              </p:custDataLst>
            </p:nvPr>
          </p:nvSpPr>
          <p:spPr>
            <a:xfrm>
              <a:off x="4738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39" name="椭圆 138"/>
            <p:cNvSpPr/>
            <p:nvPr>
              <p:custDataLst>
                <p:tags r:id="rId20"/>
              </p:custDataLst>
            </p:nvPr>
          </p:nvSpPr>
          <p:spPr>
            <a:xfrm>
              <a:off x="4871" y="5937"/>
              <a:ext cx="95" cy="95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0" name="椭圆 139"/>
            <p:cNvSpPr/>
            <p:nvPr>
              <p:custDataLst>
                <p:tags r:id="rId21"/>
              </p:custDataLst>
            </p:nvPr>
          </p:nvSpPr>
          <p:spPr>
            <a:xfrm>
              <a:off x="5003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1" name="椭圆 140"/>
            <p:cNvSpPr/>
            <p:nvPr>
              <p:custDataLst>
                <p:tags r:id="rId22"/>
              </p:custDataLst>
            </p:nvPr>
          </p:nvSpPr>
          <p:spPr>
            <a:xfrm>
              <a:off x="5135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2" name="椭圆 141"/>
            <p:cNvSpPr/>
            <p:nvPr>
              <p:custDataLst>
                <p:tags r:id="rId23"/>
              </p:custDataLst>
            </p:nvPr>
          </p:nvSpPr>
          <p:spPr>
            <a:xfrm>
              <a:off x="5268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3" name="椭圆 142"/>
            <p:cNvSpPr/>
            <p:nvPr>
              <p:custDataLst>
                <p:tags r:id="rId24"/>
              </p:custDataLst>
            </p:nvPr>
          </p:nvSpPr>
          <p:spPr>
            <a:xfrm>
              <a:off x="5400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4" name="椭圆 143"/>
            <p:cNvSpPr/>
            <p:nvPr>
              <p:custDataLst>
                <p:tags r:id="rId25"/>
              </p:custDataLst>
            </p:nvPr>
          </p:nvSpPr>
          <p:spPr>
            <a:xfrm>
              <a:off x="7347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5" name="椭圆 144"/>
            <p:cNvSpPr/>
            <p:nvPr>
              <p:custDataLst>
                <p:tags r:id="rId26"/>
              </p:custDataLst>
            </p:nvPr>
          </p:nvSpPr>
          <p:spPr>
            <a:xfrm>
              <a:off x="7480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6" name="椭圆 145"/>
            <p:cNvSpPr/>
            <p:nvPr>
              <p:custDataLst>
                <p:tags r:id="rId27"/>
              </p:custDataLst>
            </p:nvPr>
          </p:nvSpPr>
          <p:spPr>
            <a:xfrm>
              <a:off x="7612" y="5937"/>
              <a:ext cx="95" cy="95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7" name="椭圆 146"/>
            <p:cNvSpPr/>
            <p:nvPr>
              <p:custDataLst>
                <p:tags r:id="rId28"/>
              </p:custDataLst>
            </p:nvPr>
          </p:nvSpPr>
          <p:spPr>
            <a:xfrm>
              <a:off x="7744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8" name="椭圆 147"/>
            <p:cNvSpPr/>
            <p:nvPr>
              <p:custDataLst>
                <p:tags r:id="rId29"/>
              </p:custDataLst>
            </p:nvPr>
          </p:nvSpPr>
          <p:spPr>
            <a:xfrm>
              <a:off x="7877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49" name="椭圆 148"/>
            <p:cNvSpPr/>
            <p:nvPr>
              <p:custDataLst>
                <p:tags r:id="rId30"/>
              </p:custDataLst>
            </p:nvPr>
          </p:nvSpPr>
          <p:spPr>
            <a:xfrm>
              <a:off x="8009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0" name="椭圆 149"/>
            <p:cNvSpPr/>
            <p:nvPr>
              <p:custDataLst>
                <p:tags r:id="rId31"/>
              </p:custDataLst>
            </p:nvPr>
          </p:nvSpPr>
          <p:spPr>
            <a:xfrm>
              <a:off x="9956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1" name="椭圆 150"/>
            <p:cNvSpPr/>
            <p:nvPr>
              <p:custDataLst>
                <p:tags r:id="rId32"/>
              </p:custDataLst>
            </p:nvPr>
          </p:nvSpPr>
          <p:spPr>
            <a:xfrm>
              <a:off x="10089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2" name="椭圆 151"/>
            <p:cNvSpPr/>
            <p:nvPr>
              <p:custDataLst>
                <p:tags r:id="rId33"/>
              </p:custDataLst>
            </p:nvPr>
          </p:nvSpPr>
          <p:spPr>
            <a:xfrm>
              <a:off x="10221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3" name="椭圆 152"/>
            <p:cNvSpPr/>
            <p:nvPr>
              <p:custDataLst>
                <p:tags r:id="rId34"/>
              </p:custDataLst>
            </p:nvPr>
          </p:nvSpPr>
          <p:spPr>
            <a:xfrm>
              <a:off x="10353" y="5937"/>
              <a:ext cx="95" cy="95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4" name="椭圆 153"/>
            <p:cNvSpPr/>
            <p:nvPr>
              <p:custDataLst>
                <p:tags r:id="rId35"/>
              </p:custDataLst>
            </p:nvPr>
          </p:nvSpPr>
          <p:spPr>
            <a:xfrm>
              <a:off x="10486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55" name="椭圆 154"/>
            <p:cNvSpPr/>
            <p:nvPr>
              <p:custDataLst>
                <p:tags r:id="rId36"/>
              </p:custDataLst>
            </p:nvPr>
          </p:nvSpPr>
          <p:spPr>
            <a:xfrm>
              <a:off x="10618" y="5937"/>
              <a:ext cx="95" cy="95"/>
            </a:xfrm>
            <a:prstGeom prst="ellipse">
              <a:avLst/>
            </a:prstGeom>
            <a:solidFill>
              <a:schemeClr val="accent1">
                <a:alpha val="3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rgbClr val="7578EC">
                <a:shade val="50000"/>
              </a:srgbClr>
            </a:lnRef>
            <a:fillRef idx="1">
              <a:srgbClr val="7578EC"/>
            </a:fillRef>
            <a:effectRef idx="0">
              <a:srgbClr val="7578EC"/>
            </a:effectRef>
            <a:fontRef idx="minor">
              <a:srgbClr val="FFFFFF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cs typeface="MiSans" panose="00000500000000000000" charset="-122"/>
              </a:endParaRPr>
            </a:p>
          </p:txBody>
        </p:sp>
        <p:sp>
          <p:nvSpPr>
            <p:cNvPr id="168" name="文本框 167"/>
            <p:cNvSpPr txBox="1"/>
            <p:nvPr>
              <p:custDataLst>
                <p:tags r:id="rId37"/>
              </p:custDataLst>
            </p:nvPr>
          </p:nvSpPr>
          <p:spPr>
            <a:xfrm>
              <a:off x="1366" y="2983"/>
              <a:ext cx="2171" cy="466"/>
            </a:xfrm>
            <a:prstGeom prst="rect">
              <a:avLst/>
            </a:prstGeom>
            <a:noFill/>
          </p:spPr>
          <p:txBody>
            <a:bodyPr wrap="square" bIns="0" rtlCol="0">
              <a:normAutofit/>
            </a:bodyPr>
            <a:p>
              <a:pPr algn="ctr"/>
              <a:r>
                <a:rPr lang="en-US" altLang="zh-CN" sz="1350" b="1" spc="300">
                  <a:solidFill>
                    <a:schemeClr val="l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BG</a:t>
              </a:r>
              <a:r>
                <a:rPr lang="zh-CN" altLang="en-US" sz="1350" b="1" spc="300">
                  <a:solidFill>
                    <a:schemeClr val="l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实体化</a:t>
              </a:r>
              <a:endParaRPr lang="zh-CN" altLang="en-US" sz="1350" b="1" spc="30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38"/>
              </p:custDataLst>
            </p:nvPr>
          </p:nvSpPr>
          <p:spPr>
            <a:xfrm>
              <a:off x="3975" y="2982"/>
              <a:ext cx="2171" cy="466"/>
            </a:xfrm>
            <a:prstGeom prst="rect">
              <a:avLst/>
            </a:prstGeom>
            <a:noFill/>
          </p:spPr>
          <p:txBody>
            <a:bodyPr wrap="square" bIns="0" rtlCol="0">
              <a:normAutofit/>
            </a:bodyPr>
            <a:p>
              <a:pPr algn="ctr"/>
              <a:r>
                <a:rPr lang="zh-CN" altLang="en-US" sz="1350" b="1" spc="300">
                  <a:solidFill>
                    <a:schemeClr val="l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物料集采</a:t>
              </a:r>
              <a:endParaRPr lang="zh-CN" altLang="en-US" sz="1350" b="1" spc="30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文本框 171"/>
            <p:cNvSpPr txBox="1"/>
            <p:nvPr>
              <p:custDataLst>
                <p:tags r:id="rId39"/>
              </p:custDataLst>
            </p:nvPr>
          </p:nvSpPr>
          <p:spPr>
            <a:xfrm>
              <a:off x="6584" y="2982"/>
              <a:ext cx="2171" cy="466"/>
            </a:xfrm>
            <a:prstGeom prst="rect">
              <a:avLst/>
            </a:prstGeom>
            <a:noFill/>
          </p:spPr>
          <p:txBody>
            <a:bodyPr wrap="square" bIns="0" rtlCol="0">
              <a:normAutofit/>
            </a:bodyPr>
            <a:p>
              <a:pPr algn="ctr"/>
              <a:r>
                <a:rPr lang="zh-CN" altLang="en-US" sz="1350" b="1" spc="300">
                  <a:solidFill>
                    <a:schemeClr val="l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账务合规性</a:t>
              </a:r>
              <a:endParaRPr lang="zh-CN" altLang="en-US" sz="1350" b="1" spc="30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文本框 173"/>
            <p:cNvSpPr txBox="1"/>
            <p:nvPr>
              <p:custDataLst>
                <p:tags r:id="rId40"/>
              </p:custDataLst>
            </p:nvPr>
          </p:nvSpPr>
          <p:spPr>
            <a:xfrm>
              <a:off x="9193" y="2982"/>
              <a:ext cx="2171" cy="466"/>
            </a:xfrm>
            <a:prstGeom prst="rect">
              <a:avLst/>
            </a:prstGeom>
            <a:noFill/>
          </p:spPr>
          <p:txBody>
            <a:bodyPr wrap="square" bIns="0" rtlCol="0">
              <a:normAutofit lnSpcReduction="10000"/>
            </a:bodyPr>
            <a:p>
              <a:pPr algn="ctr"/>
              <a:r>
                <a:rPr lang="zh-CN" altLang="en-US" sz="1350" b="1" spc="300">
                  <a:solidFill>
                    <a:schemeClr val="lt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系统耦合</a:t>
              </a:r>
              <a:endParaRPr lang="zh-CN" altLang="en-US" sz="1350" b="1" spc="300">
                <a:solidFill>
                  <a:schemeClr val="l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6" name="直接连接符 185"/>
            <p:cNvCxnSpPr/>
            <p:nvPr>
              <p:custDataLst>
                <p:tags r:id="rId41"/>
              </p:custDataLst>
            </p:nvPr>
          </p:nvCxnSpPr>
          <p:spPr>
            <a:xfrm>
              <a:off x="3809" y="3750"/>
              <a:ext cx="0" cy="2388"/>
            </a:xfrm>
            <a:prstGeom prst="line">
              <a:avLst/>
            </a:prstGeom>
            <a:noFill/>
            <a:ln w="635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1">
              <a:srgbClr val="7578EC"/>
            </a:lnRef>
            <a:fillRef idx="0">
              <a:srgbClr val="7578EC"/>
            </a:fillRef>
            <a:effectRef idx="0">
              <a:srgbClr val="7578EC"/>
            </a:effectRef>
            <a:fontRef idx="minor">
              <a:srgbClr val="000000"/>
            </a:fontRef>
          </p:style>
        </p:cxnSp>
        <p:cxnSp>
          <p:nvCxnSpPr>
            <p:cNvPr id="187" name="直接连接符 186"/>
            <p:cNvCxnSpPr/>
            <p:nvPr>
              <p:custDataLst>
                <p:tags r:id="rId42"/>
              </p:custDataLst>
            </p:nvPr>
          </p:nvCxnSpPr>
          <p:spPr>
            <a:xfrm>
              <a:off x="6418" y="3752"/>
              <a:ext cx="0" cy="2388"/>
            </a:xfrm>
            <a:prstGeom prst="line">
              <a:avLst/>
            </a:prstGeom>
            <a:noFill/>
            <a:ln w="635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1">
              <a:srgbClr val="7578EC"/>
            </a:lnRef>
            <a:fillRef idx="0">
              <a:srgbClr val="7578EC"/>
            </a:fillRef>
            <a:effectRef idx="0">
              <a:srgbClr val="7578EC"/>
            </a:effectRef>
            <a:fontRef idx="minor">
              <a:srgbClr val="000000"/>
            </a:fontRef>
          </p:style>
        </p:cxnSp>
        <p:cxnSp>
          <p:nvCxnSpPr>
            <p:cNvPr id="188" name="直接连接符 187"/>
            <p:cNvCxnSpPr/>
            <p:nvPr>
              <p:custDataLst>
                <p:tags r:id="rId43"/>
              </p:custDataLst>
            </p:nvPr>
          </p:nvCxnSpPr>
          <p:spPr>
            <a:xfrm>
              <a:off x="9032" y="3752"/>
              <a:ext cx="0" cy="2388"/>
            </a:xfrm>
            <a:prstGeom prst="line">
              <a:avLst/>
            </a:prstGeom>
            <a:noFill/>
            <a:ln w="6350" cap="flat" cmpd="sng" algn="ctr">
              <a:solidFill>
                <a:schemeClr val="lt1"/>
              </a:solidFill>
              <a:prstDash val="solid"/>
              <a:miter lim="800000"/>
            </a:ln>
            <a:effectLst/>
          </p:spPr>
          <p:style>
            <a:lnRef idx="1">
              <a:srgbClr val="7578EC"/>
            </a:lnRef>
            <a:fillRef idx="0">
              <a:srgbClr val="7578EC"/>
            </a:fillRef>
            <a:effectRef idx="0">
              <a:srgbClr val="7578EC"/>
            </a:effectRef>
            <a:fontRef idx="minor">
              <a:srgbClr val="000000"/>
            </a:fontRef>
          </p:style>
        </p:cxnSp>
        <p:sp>
          <p:nvSpPr>
            <p:cNvPr id="7" name="文本框 6"/>
            <p:cNvSpPr txBox="1"/>
            <p:nvPr>
              <p:custDataLst>
                <p:tags r:id="rId44"/>
              </p:custDataLst>
            </p:nvPr>
          </p:nvSpPr>
          <p:spPr>
            <a:xfrm>
              <a:off x="1377" y="3892"/>
              <a:ext cx="2251" cy="195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ctr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BG</a:t>
              </a: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实体化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不同实体独立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专业化制造组织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45"/>
              </p:custDataLst>
            </p:nvPr>
          </p:nvSpPr>
          <p:spPr>
            <a:xfrm>
              <a:off x="3986" y="3892"/>
              <a:ext cx="2251" cy="19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物料在集采组织统一采购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多组织需要和集采组织交易，向集采组织购买使用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46"/>
              </p:custDataLst>
            </p:nvPr>
          </p:nvSpPr>
          <p:spPr>
            <a:xfrm>
              <a:off x="6595" y="3892"/>
              <a:ext cx="2251" cy="195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其他出入库场景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业务不可在集采组织</a:t>
              </a:r>
              <a:r>
                <a:rPr lang="en-US" altLang="zh-CN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SC</a:t>
              </a: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直接研发领用物料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47"/>
              </p:custDataLst>
            </p:nvPr>
          </p:nvSpPr>
          <p:spPr>
            <a:xfrm>
              <a:off x="9204" y="3892"/>
              <a:ext cx="2251" cy="2472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CPLM</a:t>
              </a: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研发领用强依赖</a:t>
              </a:r>
              <a:r>
                <a:rPr lang="en-US" altLang="zh-CN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SCM</a:t>
              </a: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系统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l" fontAlgn="auto">
                <a:lnSpc>
                  <a:spcPct val="130000"/>
                </a:lnSpc>
                <a:spcAft>
                  <a:spcPts val="1000"/>
                </a:spcAft>
              </a:pPr>
              <a:r>
                <a:rPr lang="en-US" altLang="zh-CN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CPLM</a:t>
              </a:r>
              <a:r>
                <a:rPr lang="zh-CN" altLang="en-US" sz="1000" spc="150">
                  <a:solidFill>
                    <a:schemeClr val="dk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研发领用单无独立的研发领用功能</a:t>
              </a:r>
              <a:endParaRPr lang="zh-CN" altLang="en-US" sz="1000" spc="150">
                <a:solidFill>
                  <a:schemeClr val="dk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  <p:custDataLst>
      <p:tags r:id="rId4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一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项目背景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833755"/>
            <a:ext cx="5466080" cy="2209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965" y="3291840"/>
            <a:ext cx="5811520" cy="1720850"/>
          </a:xfrm>
          <a:prstGeom prst="rect">
            <a:avLst/>
          </a:prstGeom>
        </p:spPr>
      </p:pic>
      <p:sp>
        <p:nvSpPr>
          <p:cNvPr id="11" name="右箭头 10"/>
          <p:cNvSpPr/>
          <p:nvPr>
            <p:custDataLst>
              <p:tags r:id="rId3"/>
            </p:custDataLst>
          </p:nvPr>
        </p:nvSpPr>
        <p:spPr>
          <a:xfrm rot="5400000">
            <a:off x="6011545" y="3075940"/>
            <a:ext cx="360045" cy="36004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51460" y="915670"/>
            <a:ext cx="2952750" cy="3536950"/>
            <a:chOff x="396" y="1442"/>
            <a:chExt cx="4650" cy="5570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396" y="1442"/>
              <a:ext cx="4419" cy="5570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79" y="1908"/>
              <a:ext cx="4249" cy="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1</a:t>
              </a:r>
              <a:r>
                <a:rPr lang="zh-CN" altLang="en-US" sz="1400" b="1">
                  <a:solidFill>
                    <a:srgbClr val="000000"/>
                  </a:solidFill>
                </a:rPr>
                <a:t>：账务异常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集采组织的账务无法正常支持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80" y="3370"/>
              <a:ext cx="4366" cy="12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r>
                <a:rPr lang="zh-CN" altLang="en-US" sz="1400" b="1">
                  <a:solidFill>
                    <a:srgbClr val="000000"/>
                  </a:solidFill>
                </a:rPr>
                <a:t>：操作复杂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供应系统SCM支持转卖和跨组织领用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跨业务操作对研发业务学习成本要求高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0" y="5075"/>
              <a:ext cx="4248" cy="1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no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3</a:t>
              </a:r>
              <a:r>
                <a:rPr lang="zh-CN" altLang="en-US" sz="1400" b="1">
                  <a:solidFill>
                    <a:srgbClr val="000000"/>
                  </a:solidFill>
                </a:rPr>
                <a:t>：系统依赖程度高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CPLM对SCM系统依赖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账务传递有延迟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两个系统的耦合性差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5" name="直角三角形 4"/>
            <p:cNvSpPr/>
            <p:nvPr/>
          </p:nvSpPr>
          <p:spPr>
            <a:xfrm>
              <a:off x="4815" y="1442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5"/>
              </p:custDataLst>
            </p:nvPr>
          </p:nvSpPr>
          <p:spPr>
            <a:xfrm>
              <a:off x="4819" y="2911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>
              <p:custDataLst>
                <p:tags r:id="rId6"/>
              </p:custDataLst>
            </p:nvPr>
          </p:nvSpPr>
          <p:spPr>
            <a:xfrm>
              <a:off x="4815" y="4617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4435" y="2887980"/>
            <a:ext cx="4252595" cy="2021205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一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项目背景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20" y="843915"/>
            <a:ext cx="4722495" cy="2044065"/>
          </a:xfrm>
          <a:prstGeom prst="rect">
            <a:avLst/>
          </a:prstGeom>
        </p:spPr>
      </p:pic>
      <p:sp>
        <p:nvSpPr>
          <p:cNvPr id="11" name="右箭头 10"/>
          <p:cNvSpPr/>
          <p:nvPr>
            <p:custDataLst>
              <p:tags r:id="rId3"/>
            </p:custDataLst>
          </p:nvPr>
        </p:nvSpPr>
        <p:spPr>
          <a:xfrm rot="5400000">
            <a:off x="5723890" y="2643505"/>
            <a:ext cx="360045" cy="36004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955915" y="1491615"/>
            <a:ext cx="719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dk1"/>
                </a:solidFill>
              </a:rPr>
              <a:t>现状</a:t>
            </a:r>
            <a:endParaRPr lang="zh-CN" altLang="en-US" sz="1400">
              <a:solidFill>
                <a:schemeClr val="dk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8028305" y="3507740"/>
            <a:ext cx="719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dk1"/>
                </a:solidFill>
              </a:rPr>
              <a:t>TOBE</a:t>
            </a:r>
            <a:endParaRPr lang="en-US" altLang="zh-CN" sz="1400">
              <a:solidFill>
                <a:schemeClr val="dk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51460" y="915670"/>
            <a:ext cx="2952750" cy="3536950"/>
            <a:chOff x="396" y="1442"/>
            <a:chExt cx="4650" cy="5570"/>
          </a:xfrm>
        </p:grpSpPr>
        <p:sp>
          <p:nvSpPr>
            <p:cNvPr id="8" name="矩形 7"/>
            <p:cNvSpPr/>
            <p:nvPr>
              <p:custDataLst>
                <p:tags r:id="rId6"/>
              </p:custDataLst>
            </p:nvPr>
          </p:nvSpPr>
          <p:spPr>
            <a:xfrm>
              <a:off x="396" y="1442"/>
              <a:ext cx="4419" cy="5570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7"/>
              </p:custDataLst>
            </p:nvPr>
          </p:nvSpPr>
          <p:spPr>
            <a:xfrm>
              <a:off x="679" y="1908"/>
              <a:ext cx="4249" cy="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1</a:t>
              </a:r>
              <a:r>
                <a:rPr lang="zh-CN" altLang="en-US" sz="1400" b="1">
                  <a:solidFill>
                    <a:srgbClr val="000000"/>
                  </a:solidFill>
                </a:rPr>
                <a:t>：账务异常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集采组织的账务无法正常支持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8"/>
              </p:custDataLst>
            </p:nvPr>
          </p:nvSpPr>
          <p:spPr>
            <a:xfrm>
              <a:off x="680" y="3370"/>
              <a:ext cx="4366" cy="12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sp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2</a:t>
              </a:r>
              <a:r>
                <a:rPr lang="zh-CN" altLang="en-US" sz="1400" b="1">
                  <a:solidFill>
                    <a:srgbClr val="000000"/>
                  </a:solidFill>
                </a:rPr>
                <a:t>：操作复杂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供应系统SCM支持转卖和跨组织领用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跨业务操作对研发业务学习成本要求高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9"/>
              </p:custDataLst>
            </p:nvPr>
          </p:nvSpPr>
          <p:spPr>
            <a:xfrm>
              <a:off x="680" y="5075"/>
              <a:ext cx="4248" cy="1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t">
              <a:noAutofit/>
            </a:bodyPr>
            <a:p>
              <a:r>
                <a:rPr lang="zh-CN" altLang="en-US" sz="1400" b="1">
                  <a:solidFill>
                    <a:srgbClr val="000000"/>
                  </a:solidFill>
                </a:rPr>
                <a:t>痛点</a:t>
              </a:r>
              <a:r>
                <a:rPr lang="en-US" altLang="zh-CN" sz="1400" b="1">
                  <a:solidFill>
                    <a:srgbClr val="000000"/>
                  </a:solidFill>
                </a:rPr>
                <a:t>3</a:t>
              </a:r>
              <a:r>
                <a:rPr lang="zh-CN" altLang="en-US" sz="1400" b="1">
                  <a:solidFill>
                    <a:srgbClr val="000000"/>
                  </a:solidFill>
                </a:rPr>
                <a:t>：系统依赖程度高</a:t>
              </a:r>
              <a:endParaRPr lang="zh-CN" altLang="en-US" sz="1400" b="1">
                <a:solidFill>
                  <a:srgbClr val="000000"/>
                </a:solidFill>
              </a:endParaRPr>
            </a:p>
            <a:p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CPLM对SCM系统依赖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账务传递有延迟</a:t>
              </a:r>
              <a:endParaRPr lang="zh-CN" altLang="en-US" sz="1000">
                <a:solidFill>
                  <a:srgbClr val="000000"/>
                </a:solidFill>
              </a:endParaRPr>
            </a:p>
            <a:p>
              <a:r>
                <a:rPr lang="zh-CN" altLang="en-US" sz="1000">
                  <a:solidFill>
                    <a:srgbClr val="000000"/>
                  </a:solidFill>
                </a:rPr>
                <a:t>系统可扩展性差</a:t>
              </a:r>
              <a:endParaRPr lang="zh-CN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18" name="直角三角形 17"/>
            <p:cNvSpPr/>
            <p:nvPr>
              <p:custDataLst>
                <p:tags r:id="rId10"/>
              </p:custDataLst>
            </p:nvPr>
          </p:nvSpPr>
          <p:spPr>
            <a:xfrm>
              <a:off x="4815" y="1442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直角三角形 18"/>
            <p:cNvSpPr/>
            <p:nvPr>
              <p:custDataLst>
                <p:tags r:id="rId11"/>
              </p:custDataLst>
            </p:nvPr>
          </p:nvSpPr>
          <p:spPr>
            <a:xfrm>
              <a:off x="4819" y="2911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直角三角形 19"/>
            <p:cNvSpPr/>
            <p:nvPr>
              <p:custDataLst>
                <p:tags r:id="rId12"/>
              </p:custDataLst>
            </p:nvPr>
          </p:nvSpPr>
          <p:spPr>
            <a:xfrm>
              <a:off x="4815" y="4617"/>
              <a:ext cx="227" cy="453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二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项目目标与价值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6228080" y="852170"/>
            <a:ext cx="226060" cy="296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chemeClr val="bg1"/>
                </a:solidFill>
              </a:rPr>
              <a:t>3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-34290" y="4053840"/>
            <a:ext cx="9197340" cy="109029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1403350" y="4443730"/>
            <a:ext cx="1017270" cy="332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>
                <a:solidFill>
                  <a:schemeClr val="tx1"/>
                </a:solidFill>
              </a:rPr>
              <a:t>账务合规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2"/>
            </p:custDataLst>
          </p:nvPr>
        </p:nvSpPr>
        <p:spPr>
          <a:xfrm>
            <a:off x="3258185" y="4434840"/>
            <a:ext cx="1063625" cy="34480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>
                <a:solidFill>
                  <a:schemeClr val="tx1"/>
                </a:solidFill>
              </a:rPr>
              <a:t>操作提效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5147945" y="4462145"/>
            <a:ext cx="1472565" cy="325755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200">
                <a:solidFill>
                  <a:schemeClr val="tx1"/>
                </a:solidFill>
              </a:rPr>
              <a:t>系统独立扩展性</a:t>
            </a:r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-15875" y="3719195"/>
            <a:ext cx="957580" cy="629285"/>
            <a:chOff x="201" y="5857"/>
            <a:chExt cx="1508" cy="991"/>
          </a:xfrm>
        </p:grpSpPr>
        <p:sp>
          <p:nvSpPr>
            <p:cNvPr id="31" name="弦形 30"/>
            <p:cNvSpPr/>
            <p:nvPr/>
          </p:nvSpPr>
          <p:spPr>
            <a:xfrm rot="1866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23" y="6318"/>
              <a:ext cx="10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tx1">
                      <a:lumMod val="50000"/>
                      <a:lumOff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价值</a:t>
              </a:r>
              <a:endPara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 rot="0">
            <a:off x="28575" y="493395"/>
            <a:ext cx="915670" cy="615315"/>
            <a:chOff x="201" y="5857"/>
            <a:chExt cx="1442" cy="969"/>
          </a:xfrm>
        </p:grpSpPr>
        <p:sp>
          <p:nvSpPr>
            <p:cNvPr id="34" name="弦形 33"/>
            <p:cNvSpPr/>
            <p:nvPr>
              <p:custDataLst>
                <p:tags r:id="rId4"/>
              </p:custDataLst>
            </p:nvPr>
          </p:nvSpPr>
          <p:spPr>
            <a:xfrm rot="1878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5"/>
              </p:custDataLst>
            </p:nvPr>
          </p:nvSpPr>
          <p:spPr>
            <a:xfrm>
              <a:off x="493" y="6295"/>
              <a:ext cx="10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目标</a:t>
              </a:r>
              <a:endPara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75360" y="1464310"/>
            <a:ext cx="7764780" cy="2218055"/>
            <a:chOff x="1536" y="2306"/>
            <a:chExt cx="12228" cy="3493"/>
          </a:xfrm>
        </p:grpSpPr>
        <p:sp>
          <p:nvSpPr>
            <p:cNvPr id="5" name="矩形 4"/>
            <p:cNvSpPr/>
            <p:nvPr>
              <p:custDataLst>
                <p:tags r:id="rId6"/>
              </p:custDataLst>
            </p:nvPr>
          </p:nvSpPr>
          <p:spPr>
            <a:xfrm>
              <a:off x="1649" y="2462"/>
              <a:ext cx="2674" cy="495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lt1"/>
                  </a:solidFill>
                </a:rPr>
                <a:t>账务一致</a:t>
              </a:r>
              <a:endParaRPr lang="zh-CN" altLang="en-US" sz="1400">
                <a:solidFill>
                  <a:schemeClr val="lt1"/>
                </a:solidFill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762" y="2996"/>
              <a:ext cx="3838" cy="847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p>
              <a:pPr algn="l" fontAlgn="auto">
                <a:lnSpc>
                  <a:spcPct val="8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支持SC集采物料领用账实一致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l" fontAlgn="auto">
                <a:lnSpc>
                  <a:spcPct val="80000"/>
                </a:lnSpc>
                <a:spcAft>
                  <a:spcPts val="1000"/>
                </a:spcAft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支持</a:t>
              </a:r>
              <a:r>
                <a:rPr lang="en-US" altLang="zh-CN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SC</a:t>
              </a: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集采物料研发领用账务合规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8"/>
              </p:custDataLst>
            </p:nvPr>
          </p:nvSpPr>
          <p:spPr>
            <a:xfrm>
              <a:off x="6071" y="2462"/>
              <a:ext cx="2674" cy="495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lt1"/>
                  </a:solidFill>
                </a:rPr>
                <a:t>支持跨组织领用</a:t>
              </a:r>
              <a:endParaRPr lang="zh-CN" altLang="en-US" sz="1400">
                <a:solidFill>
                  <a:schemeClr val="lt1"/>
                </a:solidFill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9"/>
              </p:custDataLst>
            </p:nvPr>
          </p:nvSpPr>
          <p:spPr>
            <a:xfrm>
              <a:off x="6226" y="2995"/>
              <a:ext cx="3449" cy="848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研发系统跨组织领用自动化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支持跨组织领用和正常还原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10"/>
              </p:custDataLst>
            </p:nvPr>
          </p:nvSpPr>
          <p:spPr>
            <a:xfrm>
              <a:off x="10634" y="2390"/>
              <a:ext cx="2674" cy="495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lt1"/>
                  </a:solidFill>
                </a:rPr>
                <a:t>对接物流</a:t>
              </a:r>
              <a:endParaRPr lang="zh-CN" altLang="en-US" sz="1400">
                <a:solidFill>
                  <a:schemeClr val="lt1"/>
                </a:solidFill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1"/>
              </p:custDataLst>
            </p:nvPr>
          </p:nvSpPr>
          <p:spPr>
            <a:xfrm>
              <a:off x="10834" y="2957"/>
              <a:ext cx="2930" cy="809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研发系统对接物流系统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物流场景兼容跨组织领用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2"/>
              </p:custDataLst>
            </p:nvPr>
          </p:nvSpPr>
          <p:spPr>
            <a:xfrm>
              <a:off x="3587" y="4390"/>
              <a:ext cx="2674" cy="495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lt1"/>
                  </a:solidFill>
                </a:rPr>
                <a:t>特殊管控</a:t>
              </a:r>
              <a:endParaRPr lang="zh-CN" altLang="en-US" sz="1400">
                <a:solidFill>
                  <a:schemeClr val="lt1"/>
                </a:solidFill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13"/>
              </p:custDataLst>
            </p:nvPr>
          </p:nvSpPr>
          <p:spPr>
            <a:xfrm>
              <a:off x="3612" y="4957"/>
              <a:ext cx="3679" cy="843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SC集采物料库存可用量特殊管控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部件和整机特殊管控差异化支持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14"/>
              </p:custDataLst>
            </p:nvPr>
          </p:nvSpPr>
          <p:spPr>
            <a:xfrm>
              <a:off x="8942" y="4376"/>
              <a:ext cx="2674" cy="495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lt1"/>
                  </a:solidFill>
                </a:rPr>
                <a:t>系统解耦</a:t>
              </a:r>
              <a:endParaRPr lang="zh-CN" altLang="en-US" sz="1400">
                <a:solidFill>
                  <a:schemeClr val="lt1"/>
                </a:solidFill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5"/>
              </p:custDataLst>
            </p:nvPr>
          </p:nvSpPr>
          <p:spPr>
            <a:xfrm>
              <a:off x="9055" y="4957"/>
              <a:ext cx="3679" cy="843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en-US" altLang="zh-CN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CPLM</a:t>
              </a: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有独立的研发领用功能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减少依赖</a:t>
              </a:r>
              <a:r>
                <a:rPr lang="en-US" altLang="zh-CN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SCM</a:t>
              </a:r>
              <a:r>
                <a:rPr lang="zh-CN" altLang="en-US" sz="1000" spc="150">
                  <a:solidFill>
                    <a:schemeClr val="dk2">
                      <a:lumMod val="25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其他出入库</a:t>
              </a: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lvl="0" algn="l">
                <a:lnSpc>
                  <a:spcPct val="80000"/>
                </a:lnSpc>
                <a:spcAft>
                  <a:spcPts val="1000"/>
                </a:spcAft>
                <a:buClrTx/>
                <a:buSzTx/>
                <a:buFontTx/>
              </a:pPr>
              <a:endParaRPr lang="zh-CN" altLang="en-US" sz="1000" spc="150">
                <a:solidFill>
                  <a:schemeClr val="dk2">
                    <a:lumMod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36" y="2339"/>
              <a:ext cx="356" cy="5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olidFill>
                    <a:schemeClr val="bg1"/>
                  </a:solidFill>
                </a:rPr>
                <a:t>1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6"/>
              </p:custDataLst>
            </p:nvPr>
          </p:nvSpPr>
          <p:spPr>
            <a:xfrm>
              <a:off x="5959" y="2350"/>
              <a:ext cx="356" cy="5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olidFill>
                    <a:schemeClr val="bg1"/>
                  </a:solidFill>
                </a:rPr>
                <a:t>2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"/>
              </p:custDataLst>
            </p:nvPr>
          </p:nvSpPr>
          <p:spPr>
            <a:xfrm>
              <a:off x="3498" y="4267"/>
              <a:ext cx="356" cy="50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olidFill>
                    <a:schemeClr val="bg1"/>
                  </a:solidFill>
                </a:rPr>
                <a:t>4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18"/>
              </p:custDataLst>
            </p:nvPr>
          </p:nvSpPr>
          <p:spPr>
            <a:xfrm>
              <a:off x="8829" y="4265"/>
              <a:ext cx="356" cy="50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olidFill>
                    <a:schemeClr val="bg1"/>
                  </a:solidFill>
                </a:rPr>
                <a:t>5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19"/>
              </p:custDataLst>
            </p:nvPr>
          </p:nvSpPr>
          <p:spPr>
            <a:xfrm>
              <a:off x="10602" y="2306"/>
              <a:ext cx="378" cy="5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olidFill>
                    <a:schemeClr val="bg1"/>
                  </a:solidFill>
                </a:rPr>
                <a:t>3</a:t>
              </a:r>
              <a:endParaRPr lang="en-US" altLang="zh-CN" b="1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二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项目目标与价值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1259840" y="1348105"/>
          <a:ext cx="6642735" cy="33051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57400"/>
                <a:gridCol w="4585335"/>
              </a:tblGrid>
              <a:tr h="4832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范围</a:t>
                      </a:r>
                      <a:endParaRPr lang="zh-CN" altLang="en-US" sz="1200"/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/>
                        <a:t>范围说明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832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涉及系统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TMS、SCM、CPLM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48323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业务域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物流、研发、供应链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8121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业务范围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法人：SC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物料范围：集采物料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适用其他出入库：研发领用涉及到的单据类型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104330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功能调整范围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支持跨组织研发领用和还原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支持领用人的领用账套识别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跨组织研发领用物流对接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可用量展示逻辑调整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35043" y="437813"/>
            <a:ext cx="1252370" cy="691338"/>
            <a:chOff x="209" y="5768"/>
            <a:chExt cx="1549" cy="1107"/>
          </a:xfrm>
        </p:grpSpPr>
        <p:sp>
          <p:nvSpPr>
            <p:cNvPr id="34" name="弦形 33"/>
            <p:cNvSpPr/>
            <p:nvPr>
              <p:custDataLst>
                <p:tags r:id="rId2"/>
              </p:custDataLst>
            </p:nvPr>
          </p:nvSpPr>
          <p:spPr>
            <a:xfrm rot="18780000">
              <a:off x="365" y="5611"/>
              <a:ext cx="1107" cy="1420"/>
            </a:xfrm>
            <a:prstGeom prst="chord">
              <a:avLst>
                <a:gd name="adj1" fmla="val 2425919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3"/>
              </p:custDataLst>
            </p:nvPr>
          </p:nvSpPr>
          <p:spPr>
            <a:xfrm>
              <a:off x="493" y="6295"/>
              <a:ext cx="1265" cy="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项目范围</a:t>
              </a:r>
              <a:endPara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三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项目团队和规划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42670" y="988060"/>
          <a:ext cx="7642225" cy="3921125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543685"/>
                <a:gridCol w="2720975"/>
                <a:gridCol w="3377565"/>
              </a:tblGrid>
              <a:tr h="4832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团队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团队成员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成员职责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</a:tr>
              <a:tr h="424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Sponsor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谢德军、祝兆波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1.项目发起人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2.项目决策人和推动者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  <a:tr h="424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项目顾问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范元冬、俞霞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1.提供总体方案指导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2.项目工作支持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  <a:tr h="4248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业务项目经理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蔡烨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1.主导项目，对项目的成功承担主要责任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2.推进项目进行，协助跟进业务待办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  <a:tr h="4241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IT项目经理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/>
                        <a:t>李唐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1.主导项目，对项目的成功承担主要责任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2.项目计划、项目执行和推动、项目监控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  <a:tr h="7912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需求分析师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200"/>
                        <a:t>供应链：</a:t>
                      </a:r>
                      <a:r>
                        <a:rPr lang="en-US" sz="1200"/>
                        <a:t>史则颖</a:t>
                      </a:r>
                      <a:r>
                        <a:rPr lang="zh-CN" altLang="en-US" sz="1200"/>
                        <a:t>、张树彬</a:t>
                      </a:r>
                      <a:endParaRPr lang="en-US" sz="1200"/>
                    </a:p>
                    <a:p>
                      <a:pPr indent="0">
                        <a:buNone/>
                      </a:pPr>
                      <a:r>
                        <a:rPr lang="zh-CN" altLang="en-US" sz="1200"/>
                        <a:t>研</a:t>
                      </a:r>
                      <a:r>
                        <a:rPr lang="en-US" altLang="zh-CN" sz="1200"/>
                        <a:t> </a:t>
                      </a:r>
                      <a:r>
                        <a:rPr lang="zh-CN" altLang="en-US" sz="1200"/>
                        <a:t>发：</a:t>
                      </a:r>
                      <a:r>
                        <a:rPr lang="en-US" sz="1200"/>
                        <a:t>吴采蔓、邓家文</a:t>
                      </a:r>
                      <a:endParaRPr lang="en-US" sz="1200"/>
                    </a:p>
                    <a:p>
                      <a:pPr indent="0">
                        <a:buNone/>
                      </a:pPr>
                      <a:r>
                        <a:rPr lang="zh-CN" altLang="en-US" sz="1200"/>
                        <a:t>物</a:t>
                      </a:r>
                      <a:r>
                        <a:rPr lang="en-US" altLang="zh-CN" sz="1200"/>
                        <a:t> </a:t>
                      </a:r>
                      <a:r>
                        <a:rPr lang="zh-CN" altLang="en-US" sz="1200"/>
                        <a:t>流：</a:t>
                      </a:r>
                      <a:r>
                        <a:rPr lang="en-US" sz="1200"/>
                        <a:t>杨官超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1、现状流程调研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2、解决方案、设计方案梳理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3、测试梳理和测试工作协助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4、培训及推广产品，跟进使用情况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  <a:tr h="9486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关键用户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物流：蒋青青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研发：祝兆波、蔡烨、邓春艳（部件）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财务：陈春明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/>
                        <a:t>1、参与业务调研，包括痛点梳理和流程梳理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2、参与方案评审并组织内部人员共识</a:t>
                      </a:r>
                      <a:endParaRPr lang="zh-CN" sz="1200"/>
                    </a:p>
                    <a:p>
                      <a:pPr indent="0">
                        <a:buNone/>
                      </a:pPr>
                      <a:r>
                        <a:rPr lang="zh-CN" sz="1200"/>
                        <a:t>3、测试，培训及推广产品，跟进使用情况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28575" y="493395"/>
            <a:ext cx="915670" cy="615315"/>
            <a:chOff x="201" y="5857"/>
            <a:chExt cx="1442" cy="969"/>
          </a:xfrm>
        </p:grpSpPr>
        <p:sp>
          <p:nvSpPr>
            <p:cNvPr id="34" name="弦形 33"/>
            <p:cNvSpPr/>
            <p:nvPr>
              <p:custDataLst>
                <p:tags r:id="rId2"/>
              </p:custDataLst>
            </p:nvPr>
          </p:nvSpPr>
          <p:spPr>
            <a:xfrm rot="1878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3"/>
              </p:custDataLst>
            </p:nvPr>
          </p:nvSpPr>
          <p:spPr>
            <a:xfrm>
              <a:off x="493" y="6295"/>
              <a:ext cx="10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团队</a:t>
              </a:r>
              <a:endPara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三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项目团队和规划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259840" y="1203960"/>
          <a:ext cx="6438900" cy="3499485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1801495"/>
                <a:gridCol w="1701165"/>
                <a:gridCol w="1732915"/>
                <a:gridCol w="1203325"/>
              </a:tblGrid>
              <a:tr h="4819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阶段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预计开始时间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预计完成时间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备注</a:t>
                      </a:r>
                      <a:endParaRPr lang="en-US" alt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项目调研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10月8日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10月26日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项目启动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10月</a:t>
                      </a:r>
                      <a:r>
                        <a:rPr lang="en-US" altLang="zh-CN" sz="1200"/>
                        <a:t>30</a:t>
                      </a:r>
                      <a:r>
                        <a:rPr lang="zh-CN" sz="1200"/>
                        <a:t>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10月</a:t>
                      </a:r>
                      <a:r>
                        <a:rPr lang="en-US" altLang="zh-CN" sz="1200"/>
                        <a:t>30</a:t>
                      </a:r>
                      <a:r>
                        <a:rPr lang="zh-CN" sz="1200"/>
                        <a:t>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业务方案评审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10月3</a:t>
                      </a:r>
                      <a:r>
                        <a:rPr lang="en-US" altLang="zh-CN" sz="1200"/>
                        <a:t>1</a:t>
                      </a:r>
                      <a:r>
                        <a:rPr lang="zh-CN" sz="1200"/>
                        <a:t>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11月3日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技术方案评审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11月6日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11月10日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系统开发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11月13日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12月5日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系统测试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12月6日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12月15日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用户测试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12月11日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12月22日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  <a:tr h="377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/>
                        <a:t>系统上线</a:t>
                      </a: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12月25日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/>
                        <a:t>12月31日</a:t>
                      </a:r>
                      <a:endParaRPr lang="zh-CN" altLang="en-US" sz="12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200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28575" y="493395"/>
            <a:ext cx="1138555" cy="863600"/>
            <a:chOff x="201" y="5857"/>
            <a:chExt cx="1442" cy="1351"/>
          </a:xfrm>
        </p:grpSpPr>
        <p:sp>
          <p:nvSpPr>
            <p:cNvPr id="34" name="弦形 33"/>
            <p:cNvSpPr/>
            <p:nvPr>
              <p:custDataLst>
                <p:tags r:id="rId2"/>
              </p:custDataLst>
            </p:nvPr>
          </p:nvSpPr>
          <p:spPr>
            <a:xfrm rot="1878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3"/>
              </p:custDataLst>
            </p:nvPr>
          </p:nvSpPr>
          <p:spPr>
            <a:xfrm>
              <a:off x="493" y="6295"/>
              <a:ext cx="1086" cy="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里程碑</a:t>
              </a:r>
              <a:endPara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三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项目团队和规划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259840" y="1275715"/>
          <a:ext cx="6359525" cy="311277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271905"/>
                <a:gridCol w="1271905"/>
                <a:gridCol w="1271905"/>
                <a:gridCol w="1271905"/>
                <a:gridCol w="1271905"/>
              </a:tblGrid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岗位</a:t>
                      </a:r>
                      <a:endParaRPr lang="en-US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人数</a:t>
                      </a:r>
                      <a:endParaRPr lang="en-US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单价（元）</a:t>
                      </a:r>
                      <a:endParaRPr lang="en-US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人天</a:t>
                      </a:r>
                      <a:endParaRPr lang="en-US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总价</a:t>
                      </a:r>
                      <a:endParaRPr lang="en-US" altLang="en-US" sz="1100" b="1">
                        <a:solidFill>
                          <a:schemeClr val="bg1"/>
                        </a:solidFill>
                      </a:endParaRPr>
                    </a:p>
                  </a:txBody>
                  <a:tcPr marL="12700" marR="12700" marT="12700" vert="horz" anchor="ctr" anchorCtr="0">
                    <a:solidFill>
                      <a:schemeClr val="accent1"/>
                    </a:solidFill>
                  </a:tcPr>
                </a:tc>
              </a:tr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需求分析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2000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6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2.4W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开发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2000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17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2.4W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测试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2000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2.4W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上线运营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2000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15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3W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  <a:tr h="51879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zh-CN" altLang="en-US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45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/>
                        <a:t>9W</a:t>
                      </a:r>
                      <a:endParaRPr lang="en-US" altLang="en-US" sz="1100"/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28575" y="493395"/>
            <a:ext cx="915670" cy="615315"/>
            <a:chOff x="201" y="5857"/>
            <a:chExt cx="1442" cy="969"/>
          </a:xfrm>
        </p:grpSpPr>
        <p:sp>
          <p:nvSpPr>
            <p:cNvPr id="34" name="弦形 33"/>
            <p:cNvSpPr/>
            <p:nvPr>
              <p:custDataLst>
                <p:tags r:id="rId2"/>
              </p:custDataLst>
            </p:nvPr>
          </p:nvSpPr>
          <p:spPr>
            <a:xfrm rot="1878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3"/>
              </p:custDataLst>
            </p:nvPr>
          </p:nvSpPr>
          <p:spPr>
            <a:xfrm>
              <a:off x="493" y="6295"/>
              <a:ext cx="10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预算</a:t>
              </a:r>
              <a:endPara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四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项目风险和监控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99795" y="1132205"/>
          <a:ext cx="7847965" cy="369951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155065"/>
                <a:gridCol w="1259205"/>
                <a:gridCol w="2737485"/>
                <a:gridCol w="2696210"/>
              </a:tblGrid>
              <a:tr h="5886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风险类别</a:t>
                      </a:r>
                      <a:endParaRPr lang="zh-CN" altLang="en-US" sz="1400"/>
                    </a:p>
                  </a:txBody>
                  <a:tcPr anchor="ctr" anchorCtr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风险等级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风险说明</a:t>
                      </a:r>
                      <a:endParaRPr lang="zh-CN" altLang="en-US" sz="1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应对措施</a:t>
                      </a:r>
                      <a:endParaRPr lang="zh-CN" altLang="en-US" sz="1400"/>
                    </a:p>
                  </a:txBody>
                  <a:tcPr anchor="ctr" anchorCtr="0"/>
                </a:tc>
              </a:tr>
              <a:tr h="6788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需求风险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C00000"/>
                          </a:solidFill>
                        </a:rPr>
                        <a:t>！较高</a:t>
                      </a:r>
                      <a:endParaRPr lang="zh-CN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本项目关联部件项目的需求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部件需求变更影响整机功能调整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>
                          <a:sym typeface="+mn-ea"/>
                        </a:rPr>
                        <a:t>部件需求项目一起参与沟通和评估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项目资源及时沟通和协调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预留功能兼容的口子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6788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资源风险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FFC000"/>
                          </a:solidFill>
                        </a:rPr>
                        <a:t>！</a:t>
                      </a:r>
                      <a:r>
                        <a:rPr lang="zh-CN" altLang="en-US" sz="1400" b="1">
                          <a:solidFill>
                            <a:srgbClr val="C00000"/>
                          </a:solidFill>
                        </a:rPr>
                        <a:t>高</a:t>
                      </a:r>
                      <a:endParaRPr lang="zh-CN" altLang="en-US" sz="1400" b="1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研发域</a:t>
                      </a:r>
                      <a:r>
                        <a:rPr lang="en-US" altLang="zh-CN" sz="1200"/>
                        <a:t>IT</a:t>
                      </a:r>
                      <a:r>
                        <a:rPr lang="zh-CN" altLang="en-US" sz="1200"/>
                        <a:t>开发与需求资源紧张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关键业务多项目和会议参与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提前和技术、需求评估资源锁定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与相关业务共识项目进度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有预留项目缓冲时间的准备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8070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进度风险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B050"/>
                          </a:solidFill>
                        </a:rPr>
                        <a:t>中</a:t>
                      </a:r>
                      <a:endParaRPr lang="zh-CN" altLang="en-US" sz="14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项目多因素影响项目进度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主要为需求变更、资源变更</a:t>
                      </a: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周报及时知悉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风险项及时沟通和反馈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  <a:tr h="9461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/>
                        <a:t>执行风险</a:t>
                      </a:r>
                      <a:endParaRPr lang="zh-CN" altLang="en-US" sz="1400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B050"/>
                          </a:solidFill>
                        </a:rPr>
                        <a:t>中</a:t>
                      </a:r>
                      <a:endParaRPr lang="zh-CN" altLang="en-US" sz="1400" b="1">
                        <a:solidFill>
                          <a:srgbClr val="00B05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项目执行不到位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参与人无法全身心投入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待办未如期交付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待办及时跟进</a:t>
                      </a:r>
                      <a:endParaRPr lang="zh-CN" altLang="en-US" sz="1200"/>
                    </a:p>
                    <a:p>
                      <a:pPr marL="171450" indent="-171450">
                        <a:buFont typeface="Arial" panose="020B0604020202090204" pitchFamily="34" charset="0"/>
                        <a:buChar char="•"/>
                      </a:pPr>
                      <a:r>
                        <a:rPr lang="zh-CN" altLang="en-US" sz="1200"/>
                        <a:t>风险问题及时收集与反馈沟通</a:t>
                      </a:r>
                      <a:endParaRPr lang="zh-CN" altLang="en-US" sz="1200"/>
                    </a:p>
                  </a:txBody>
                  <a:tcPr anchor="ctr" anchorCtr="0"/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 rot="0">
            <a:off x="100330" y="493395"/>
            <a:ext cx="915670" cy="615315"/>
            <a:chOff x="201" y="5857"/>
            <a:chExt cx="1442" cy="969"/>
          </a:xfrm>
        </p:grpSpPr>
        <p:sp>
          <p:nvSpPr>
            <p:cNvPr id="34" name="弦形 33"/>
            <p:cNvSpPr/>
            <p:nvPr>
              <p:custDataLst>
                <p:tags r:id="rId2"/>
              </p:custDataLst>
            </p:nvPr>
          </p:nvSpPr>
          <p:spPr>
            <a:xfrm rot="18780000">
              <a:off x="442" y="5616"/>
              <a:ext cx="960" cy="1442"/>
            </a:xfrm>
            <a:prstGeom prst="chord">
              <a:avLst>
                <a:gd name="adj1" fmla="val 2153533"/>
                <a:gd name="adj2" fmla="val 1412450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3"/>
              </p:custDataLst>
            </p:nvPr>
          </p:nvSpPr>
          <p:spPr>
            <a:xfrm>
              <a:off x="493" y="6295"/>
              <a:ext cx="10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风险</a:t>
              </a:r>
              <a:endParaRPr lang="zh-CN" altLang="en-US"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14364" y="160233"/>
            <a:ext cx="6641664" cy="538429"/>
          </a:xfrm>
        </p:spPr>
        <p:txBody>
          <a:bodyPr/>
          <a:lstStyle/>
          <a:p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四</a:t>
            </a:r>
            <a:r>
              <a:rPr lang="en-US" altLang="zh-CN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 </a:t>
            </a:r>
            <a:r>
              <a:rPr lang="zh-CN" altLang="en-US" sz="2000" kern="1200" dirty="0">
                <a:solidFill>
                  <a:schemeClr val="accent1"/>
                </a:solidFill>
                <a:ea typeface="方正兰亭黑_GBK" panose="02000000000000000000" pitchFamily="2" charset="-122"/>
                <a:cs typeface="+mj-cs"/>
              </a:rPr>
              <a:t>项目风险和监控</a:t>
            </a:r>
            <a:endParaRPr lang="zh-CN" altLang="en-US" sz="2000" kern="1200" dirty="0">
              <a:solidFill>
                <a:schemeClr val="accent1"/>
              </a:solidFill>
              <a:ea typeface="方正兰亭黑_GBK" panose="02000000000000000000" pitchFamily="2" charset="-122"/>
              <a:cs typeface="+mj-cs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72210" y="1438275"/>
            <a:ext cx="1344930" cy="39941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400" b="1">
                <a:solidFill>
                  <a:schemeClr val="lt1"/>
                </a:solidFill>
              </a:rPr>
              <a:t>办公场所</a:t>
            </a:r>
            <a:endParaRPr lang="zh-CN" altLang="en-US" sz="1400" b="1">
              <a:solidFill>
                <a:schemeClr val="l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602865" y="1438275"/>
            <a:ext cx="5327015" cy="589915"/>
          </a:xfrm>
          <a:prstGeom prst="rect">
            <a:avLst/>
          </a:prstGeom>
          <a:noFill/>
          <a:ln>
            <a:solidFill>
              <a:schemeClr val="lt2">
                <a:lumMod val="85000"/>
              </a:schemeClr>
            </a:solidFill>
            <a:prstDash val="lgDash"/>
          </a:ln>
        </p:spPr>
        <p:txBody>
          <a:bodyPr wrap="square" rtlCol="0">
            <a:noAutofit/>
          </a:bodyPr>
          <a:p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</a:rPr>
              <a:t>初期不集中办公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</a:rPr>
              <a:t>测试后期考虑集中办公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215390" y="2249805"/>
            <a:ext cx="1315085" cy="401955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400" b="1">
                <a:solidFill>
                  <a:schemeClr val="lt1"/>
                </a:solidFill>
              </a:rPr>
              <a:t>周例会跟进</a:t>
            </a:r>
            <a:endParaRPr lang="zh-CN" altLang="en-US" sz="1400" b="1">
              <a:solidFill>
                <a:schemeClr val="lt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2602230" y="2220595"/>
            <a:ext cx="5327650" cy="744220"/>
          </a:xfrm>
          <a:prstGeom prst="rect">
            <a:avLst/>
          </a:prstGeom>
          <a:noFill/>
          <a:ln>
            <a:solidFill>
              <a:schemeClr val="lt2">
                <a:lumMod val="85000"/>
              </a:schemeClr>
            </a:solidFill>
            <a:prstDash val="lgDash"/>
          </a:ln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单周例会：周例会跟进任务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例会时间：每周四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上午</a:t>
            </a:r>
            <a:r>
              <a:rPr lang="en-US" altLang="zh-CN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11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：</a:t>
            </a:r>
            <a:r>
              <a:rPr lang="en-US" altLang="zh-CN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30-12</a:t>
            </a: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：</a:t>
            </a:r>
            <a:r>
              <a:rPr lang="en-US" altLang="zh-CN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00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内容：上周工作进度、本周工作计划、风险项说明、待办项确认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216025" y="3291205"/>
            <a:ext cx="1315085" cy="41910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b="1">
                <a:solidFill>
                  <a:schemeClr val="lt1"/>
                </a:solidFill>
              </a:rPr>
              <a:t>参与人员</a:t>
            </a:r>
            <a:endParaRPr lang="zh-CN" altLang="en-US" sz="1600" b="1">
              <a:solidFill>
                <a:schemeClr val="lt1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2588895" y="3291205"/>
            <a:ext cx="5310505" cy="454660"/>
          </a:xfrm>
          <a:prstGeom prst="rect">
            <a:avLst/>
          </a:prstGeom>
          <a:noFill/>
          <a:ln>
            <a:solidFill>
              <a:schemeClr val="lt2">
                <a:lumMod val="85000"/>
              </a:schemeClr>
            </a:solidFill>
            <a:prstDash val="lgDash"/>
          </a:ln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IT项目管理团队、业务核心代表、业务负责人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243965" y="4059555"/>
            <a:ext cx="1287145" cy="36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1600" b="1">
                <a:solidFill>
                  <a:schemeClr val="lt1"/>
                </a:solidFill>
              </a:rPr>
              <a:t>每周周报</a:t>
            </a:r>
            <a:r>
              <a:rPr lang="en-US" altLang="zh-CN" sz="1600" b="1">
                <a:solidFill>
                  <a:schemeClr val="lt1"/>
                </a:solidFill>
              </a:rPr>
              <a:t> </a:t>
            </a:r>
            <a:endParaRPr lang="en-US" altLang="zh-CN" sz="1600" b="1">
              <a:solidFill>
                <a:schemeClr val="lt1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2626360" y="4072255"/>
            <a:ext cx="5273040" cy="326390"/>
          </a:xfrm>
          <a:prstGeom prst="rect">
            <a:avLst/>
          </a:prstGeom>
          <a:noFill/>
          <a:ln>
            <a:solidFill>
              <a:schemeClr val="lt2">
                <a:lumMod val="85000"/>
              </a:schemeClr>
            </a:solidFill>
            <a:prstDash val="lgDash"/>
          </a:ln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400">
                <a:solidFill>
                  <a:schemeClr val="dk1">
                    <a:lumMod val="75000"/>
                    <a:lumOff val="25000"/>
                  </a:schemeClr>
                </a:solidFill>
                <a:sym typeface="+mn-ea"/>
              </a:rPr>
              <a:t>周一上午</a:t>
            </a:r>
            <a:endParaRPr lang="zh-CN" altLang="en-US" sz="1400">
              <a:solidFill>
                <a:schemeClr val="dk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 rot="0">
            <a:off x="260350" y="345440"/>
            <a:ext cx="1235710" cy="835025"/>
            <a:chOff x="3" y="5492"/>
            <a:chExt cx="1946" cy="1315"/>
          </a:xfrm>
        </p:grpSpPr>
        <p:sp>
          <p:nvSpPr>
            <p:cNvPr id="34" name="弦形 33"/>
            <p:cNvSpPr/>
            <p:nvPr>
              <p:custDataLst>
                <p:tags r:id="rId9"/>
              </p:custDataLst>
            </p:nvPr>
          </p:nvSpPr>
          <p:spPr>
            <a:xfrm rot="18780000">
              <a:off x="116" y="5379"/>
              <a:ext cx="1315" cy="1541"/>
            </a:xfrm>
            <a:prstGeom prst="chord">
              <a:avLst>
                <a:gd name="adj1" fmla="val 2153533"/>
                <a:gd name="adj2" fmla="val 1426365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0"/>
              </p:custDataLst>
            </p:nvPr>
          </p:nvSpPr>
          <p:spPr>
            <a:xfrm>
              <a:off x="167" y="6183"/>
              <a:ext cx="1782" cy="5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进度监控</a:t>
              </a:r>
              <a:endParaRPr lang="zh-CN" alt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551600" y="1802527"/>
            <a:ext cx="5976664" cy="1800200"/>
          </a:xfrm>
        </p:spPr>
        <p:txBody>
          <a:bodyPr/>
          <a:lstStyle/>
          <a:p>
            <a:r>
              <a:rPr lang="zh-CN" altLang="en-US" sz="4000" dirty="0">
                <a:solidFill>
                  <a:schemeClr val="accent1"/>
                </a:solidFill>
              </a:rPr>
              <a:t>谢谢</a:t>
            </a:r>
            <a:r>
              <a:rPr lang="en-US" altLang="zh-CN" sz="4000" dirty="0">
                <a:solidFill>
                  <a:schemeClr val="accent1"/>
                </a:solidFill>
              </a:rPr>
              <a:t>!</a:t>
            </a:r>
            <a:endParaRPr lang="en-US" altLang="zh-CN" sz="4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a"/>
  <p:tag name="KSO_WM_UNIT_INDEX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CLEAR" val="0"/>
  <p:tag name="KSO_WM_DIAGRAM_GROUP_CODE" val="l1_1"/>
  <p:tag name="KSO_WM_UNIT_ID" val="diagram20170902_5*a*1"/>
  <p:tag name="KSO_WM_UNIT_PRESET_TEXT" val="CONTENTS"/>
  <p:tag name="KSO_WM_UNIT_TEXT_FILL_FORE_SCHEMECOLOR_INDEX" val="5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1_1"/>
  <p:tag name="KSO_WM_UNIT_ID" val="diagram20170902_5*l_h_i*1_1_1"/>
  <p:tag name="KSO_WM_UNIT_LAYERLEVEL" val="1_1_1"/>
  <p:tag name="KSO_WM_DIAGRAM_GROUP_CODE" val="l1-1"/>
  <p:tag name="KSO_WM_UNIT_FILL_FORE_SCHEMECOLOR_INDEX" val="6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VALUE" val="0"/>
  <p:tag name="KSO_WM_UNIT_HIGHLIGHT" val="1"/>
  <p:tag name="KSO_WM_UNIT_COMPATIBLE" val="0"/>
  <p:tag name="KSO_WM_UNIT_CLEAR" val="0"/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1_2"/>
  <p:tag name="KSO_WM_UNIT_ID" val="diagram20170902_5*l_h_i*1_1_2"/>
  <p:tag name="KSO_WM_UNIT_LAYERLEVEL" val="1_1_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a"/>
  <p:tag name="KSO_WM_UNIT_INDEX" val="1_1_1"/>
  <p:tag name="KSO_WM_UNIT_LAYERLEVEL" val="1_1_1"/>
  <p:tag name="KSO_WM_UNIT_VALUE" val="12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ID" val="diagram20170902_5*l_h_a*1_1_1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2_1"/>
  <p:tag name="KSO_WM_UNIT_ID" val="diagram20170902_5*l_h_i*1_2_1"/>
  <p:tag name="KSO_WM_UNIT_LAYERLEVEL" val="1_1_1"/>
  <p:tag name="KSO_WM_DIAGRAM_GROUP_CODE" val="l1-1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VALUE" val="0"/>
  <p:tag name="KSO_WM_UNIT_HIGHLIGHT" val="1"/>
  <p:tag name="KSO_WM_UNIT_COMPATIBLE" val="0"/>
  <p:tag name="KSO_WM_UNIT_CLEAR" val="0"/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2_2"/>
  <p:tag name="KSO_WM_UNIT_ID" val="diagram20170902_5*l_h_i*1_2_2"/>
  <p:tag name="KSO_WM_UNIT_LAYERLEVEL" val="1_1_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f"/>
  <p:tag name="KSO_WM_UNIT_INDEX" val="1_2_1"/>
  <p:tag name="KSO_WM_UNIT_ID" val="diagram20170902_5*l_h_f*1_2_1"/>
  <p:tag name="KSO_WM_UNIT_LAYERLEVEL" val="1_1_1"/>
  <p:tag name="KSO_WM_UNIT_VALUE" val="34"/>
  <p:tag name="KSO_WM_UNIT_HIGHLIGHT" val="0"/>
  <p:tag name="KSO_WM_UNIT_COMPATIBLE" val="0"/>
  <p:tag name="KSO_WM_UNIT_CLEAR" val="0"/>
  <p:tag name="KSO_WM_DIAGRAM_GROUP_CODE" val="l1-1"/>
  <p:tag name="KSO_WM_UNIT_PRESET_TEXT" val="Lorem ipsum dolor sit amet, consectetur adipisicing elit.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3_1"/>
  <p:tag name="KSO_WM_UNIT_ID" val="diagram20170902_5*l_h_i*1_3_1"/>
  <p:tag name="KSO_WM_UNIT_LAYERLEVEL" val="1_1_1"/>
  <p:tag name="KSO_WM_DIAGRAM_GROUP_CODE" val="l1-1"/>
  <p:tag name="KSO_WM_UNIT_FILL_FORE_SCHEMECOLOR_INDEX" val="9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UNIT_VALUE" val="0"/>
  <p:tag name="KSO_WM_UNIT_HIGHLIGHT" val="1"/>
  <p:tag name="KSO_WM_UNIT_COMPATIBLE" val="0"/>
  <p:tag name="KSO_WM_UNIT_CLEAR" val="0"/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3_2"/>
  <p:tag name="KSO_WM_UNIT_ID" val="diagram20170902_5*l_h_i*1_3_2"/>
  <p:tag name="KSO_WM_UNIT_LAYERLEVEL" val="1_1_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a"/>
  <p:tag name="KSO_WM_UNIT_INDEX" val="1_3_1"/>
  <p:tag name="KSO_WM_UNIT_LAYERLEVEL" val="1_1_1"/>
  <p:tag name="KSO_WM_UNIT_VALUE" val="12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ID" val="diagram20170902_5*l_h_a*1_3_1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4_1"/>
  <p:tag name="KSO_WM_UNIT_ID" val="diagram20170902_5*l_h_i*1_4_1"/>
  <p:tag name="KSO_WM_UNIT_LAYERLEVEL" val="1_1_1"/>
  <p:tag name="KSO_WM_DIAGRAM_GROUP_CODE" val="l1-1"/>
  <p:tag name="KSO_WM_UNIT_FILL_FORE_SCHEMECOLOR_INDEX" val="8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VALUE" val="0"/>
  <p:tag name="KSO_WM_UNIT_HIGHLIGHT" val="1"/>
  <p:tag name="KSO_WM_UNIT_COMPATIBLE" val="0"/>
  <p:tag name="KSO_WM_UNIT_CLEAR" val="0"/>
  <p:tag name="KSO_WM_TAG_VERSION" val="1.0"/>
  <p:tag name="KSO_WM_BEAUTIFY_FLAG" val="#wm#"/>
  <p:tag name="KSO_WM_TEMPLATE_CATEGORY" val="diagram"/>
  <p:tag name="KSO_WM_TEMPLATE_INDEX" val="20170902"/>
  <p:tag name="KSO_WM_UNIT_TYPE" val="l_h_i"/>
  <p:tag name="KSO_WM_UNIT_INDEX" val="1_4_2"/>
  <p:tag name="KSO_WM_UNIT_ID" val="diagram20170902_5*l_h_i*1_4_2"/>
  <p:tag name="KSO_WM_UNIT_LAYERLEVEL" val="1_1_1"/>
  <p:tag name="KSO_WM_DIAGRAM_GROUP_CODE" val="l1-1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70902"/>
  <p:tag name="KSO_WM_UNIT_TYPE" val="l_h_a"/>
  <p:tag name="KSO_WM_UNIT_INDEX" val="1_4_1"/>
  <p:tag name="KSO_WM_UNIT_LAYERLEVEL" val="1_1_1"/>
  <p:tag name="KSO_WM_UNIT_VALUE" val="12"/>
  <p:tag name="KSO_WM_UNIT_HIGHLIGHT" val="0"/>
  <p:tag name="KSO_WM_UNIT_COMPATIBLE" val="0"/>
  <p:tag name="KSO_WM_UNIT_CLEAR" val="0"/>
  <p:tag name="KSO_WM_UNIT_PRESET_TEXT_INDEX" val="3"/>
  <p:tag name="KSO_WM_UNIT_PRESET_TEXT_LEN" val="11"/>
  <p:tag name="KSO_WM_DIAGRAM_GROUP_CODE" val="l1-1"/>
  <p:tag name="KSO_WM_UNIT_ID" val="diagram20170902_5*l_h_a*1_4_1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ORIGINALNOUSEDACCENT" val="1"/>
  <p:tag name="STRIPEENUMTEXTTINT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28077_4*l_h_i*1_4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0"/>
  <p:tag name="KSO_WM_UNIT_ID" val="diagram20228077_4*l_h_i*1_3_10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0"/>
  <p:tag name="KSO_WM_UNIT_ID" val="diagram20228077_4*l_h_i*1_2_10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9"/>
  <p:tag name="KSO_WM_UNIT_ID" val="diagram20228077_4*l_h_i*1_1_9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6"/>
  <p:tag name="KSO_WM_UNIT_ID" val="diagram20228077_4*l_h_i*1_4_6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7"/>
  <p:tag name="KSO_WM_UNIT_ID" val="diagram20228077_4*l_h_i*1_3_7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8"/>
  <p:tag name="KSO_WM_UNIT_ID" val="diagram20228077_4*l_h_i*1_2_8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7"/>
  <p:tag name="KSO_WM_UNIT_ID" val="diagram20228077_4*l_h_i*1_1_7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8"/>
  <p:tag name="KSO_WM_UNIT_ID" val="diagram20228077_4*l_h_i*1_1_8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9"/>
  <p:tag name="KSO_WM_UNIT_ID" val="diagram20228077_4*l_h_i*1_2_9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8"/>
  <p:tag name="KSO_WM_UNIT_ID" val="diagram20228077_4*l_h_i*1_3_8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7"/>
  <p:tag name="KSO_WM_UNIT_ID" val="diagram20228077_4*l_h_i*1_4_7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77_4*l_h_i*1_1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8077_4*l_h_i*1_1_2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77_4*l_h_i*1_1_3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28077_4*l_h_i*1_1_4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28077_4*l_h_i*1_1_5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28077_4*l_h_i*1_1_6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8077_4*l_h_i*1_2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8077_4*l_h_i*1_2_2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28077_4*l_h_i*1_2_3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228077_4*l_h_i*1_2_4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5"/>
  <p:tag name="KSO_WM_UNIT_ID" val="diagram20228077_4*l_h_i*1_2_5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6"/>
  <p:tag name="KSO_WM_UNIT_ID" val="diagram20228077_4*l_h_i*1_2_6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9"/>
  <p:tag name="KSO_WM_UNIT_ID" val="diagram20228077_4*l_h_i*1_3_9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8077_4*l_h_i*1_3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8077_4*l_h_i*1_3_2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28077_4*l_h_i*1_3_3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28077_4*l_h_i*1_3_4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28077_4*l_h_i*1_3_5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8"/>
  <p:tag name="KSO_WM_UNIT_ID" val="diagram20228077_4*l_h_i*1_4_8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9"/>
  <p:tag name="KSO_WM_UNIT_ID" val="diagram20228077_4*l_h_i*1_4_9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0"/>
  <p:tag name="KSO_WM_UNIT_ID" val="diagram20228077_4*l_h_i*1_4_10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28077_4*l_h_i*1_4_2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28077_4*l_h_i*1_4_3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28077_4*l_h_i*1_4_4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8077_4*l_h_a*1_1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8077_4*l_h_a*1_2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8077_4*l_h_a*1_3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28077_4*l_h_a*1_4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7"/>
  <p:tag name="KSO_WM_UNIT_ID" val="diagram20228077_4*l_h_i*1_2_7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6"/>
  <p:tag name="KSO_WM_UNIT_ID" val="diagram20228077_4*l_h_i*1_3_6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5"/>
  <p:tag name="KSO_WM_UNIT_ID" val="diagram20228077_4*l_h_i*1_4_5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8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77_4*l_h_f*1_1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8077_4*l_h_f*1_2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8077_4*l_h_f*1_3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28077_4*l_h_f*1_4_1"/>
  <p:tag name="KSO_WM_TEMPLATE_CATEGORY" val="diagram"/>
  <p:tag name="KSO_WM_TEMPLATE_INDEX" val="20228077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ORIGINALNOUSEDACCENT" val="1"/>
  <p:tag name="STRIPEENUMTEXTTINT" val="1"/>
</p:tagLst>
</file>

<file path=ppt/tags/tag63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1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-0.15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3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100_5*l_h_f*1_1_1"/>
  <p:tag name="KSO_WM_TEMPLATE_CATEGORY" val="diagram"/>
  <p:tag name="KSO_WM_TEMPLATE_INDEX" val="20228100"/>
  <p:tag name="KSO_WM_UNIT_LAYERLEVEL" val="1_1_1"/>
  <p:tag name="KSO_WM_TAG_VERSION" val="1.0"/>
  <p:tag name="KSO_WM_BEAUTIFY_FLAG" val=""/>
  <p:tag name="KSO_WM_UNIT_TEXT_FILL_FORE_SCHEMECOLOR_INDEX" val="15"/>
  <p:tag name="KSO_WM_UNIT_TEXT_FILL_TYPE" val="1"/>
  <p:tag name="KSO_WM_UNIT_LINE_FORE_SCHEMECOLOR_INDEX_BRIGHTNESS" val="-0.15"/>
  <p:tag name="KSO_WM_UNIT_LINE_FORE_SCHEMECOLOR_INDEX" val="14"/>
  <p:tag name="KSO_WM_UNIT_LINE_FILL_TYPE" val="2"/>
</p:tagLst>
</file>

<file path=ppt/tags/tag84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5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100_5*l_h_f*1_1_1"/>
  <p:tag name="KSO_WM_TEMPLATE_CATEGORY" val="diagram"/>
  <p:tag name="KSO_WM_TEMPLATE_INDEX" val="20228100"/>
  <p:tag name="KSO_WM_UNIT_LAYERLEVEL" val="1_1_1"/>
  <p:tag name="KSO_WM_TAG_VERSION" val="1.0"/>
  <p:tag name="KSO_WM_BEAUTIFY_FLAG" val=""/>
  <p:tag name="KSO_WM_UNIT_TEXT_FILL_FORE_SCHEMECOLOR_INDEX" val="15"/>
  <p:tag name="KSO_WM_UNIT_TEXT_FILL_TYPE" val="1"/>
  <p:tag name="KSO_WM_UNIT_LINE_FORE_SCHEMECOLOR_INDEX_BRIGHTNESS" val="-0.15"/>
  <p:tag name="KSO_WM_UNIT_LINE_FORE_SCHEMECOLOR_INDEX" val="14"/>
  <p:tag name="KSO_WM_UNIT_LINE_FILL_TYPE" val="2"/>
</p:tagLst>
</file>

<file path=ppt/tags/tag86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7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100_5*l_h_f*1_1_1"/>
  <p:tag name="KSO_WM_TEMPLATE_CATEGORY" val="diagram"/>
  <p:tag name="KSO_WM_TEMPLATE_INDEX" val="20228100"/>
  <p:tag name="KSO_WM_UNIT_LAYERLEVEL" val="1_1_1"/>
  <p:tag name="KSO_WM_TAG_VERSION" val="1.0"/>
  <p:tag name="KSO_WM_BEAUTIFY_FLAG" val=""/>
  <p:tag name="KSO_WM_UNIT_TEXT_FILL_FORE_SCHEMECOLOR_INDEX" val="15"/>
  <p:tag name="KSO_WM_UNIT_TEXT_FILL_TYPE" val="1"/>
  <p:tag name="KSO_WM_UNIT_LINE_FORE_SCHEMECOLOR_INDEX_BRIGHTNESS" val="-0.15"/>
  <p:tag name="KSO_WM_UNIT_LINE_FORE_SCHEMECOLOR_INDEX" val="14"/>
  <p:tag name="KSO_WM_UNIT_LINE_FILL_TYPE" val="2"/>
</p:tagLst>
</file>

<file path=ppt/tags/tag88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9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100_5*l_h_f*1_1_1"/>
  <p:tag name="KSO_WM_TEMPLATE_CATEGORY" val="diagram"/>
  <p:tag name="KSO_WM_TEMPLATE_INDEX" val="20228100"/>
  <p:tag name="KSO_WM_UNIT_LAYERLEVEL" val="1_1_1"/>
  <p:tag name="KSO_WM_TAG_VERSION" val="1.0"/>
  <p:tag name="KSO_WM_BEAUTIFY_FLAG" val=""/>
  <p:tag name="KSO_WM_UNIT_TEXT_FILL_FORE_SCHEMECOLOR_INDEX" val="15"/>
  <p:tag name="KSO_WM_UNIT_TEXT_FILL_TYPE" val="1"/>
  <p:tag name="KSO_WM_UNIT_LINE_FORE_SCHEMECOLOR_INDEX_BRIGHTNESS" val="-0.15"/>
  <p:tag name="KSO_WM_UNIT_LINE_FORE_SCHEMECOLOR_INDEX" val="14"/>
  <p:tag name="KSO_WM_UNIT_LINE_FILL_TYPE" val="2"/>
</p:tagLst>
</file>

<file path=ppt/tags/tag90.xml><?xml version="1.0" encoding="utf-8"?>
<p:tagLst xmlns:p="http://schemas.openxmlformats.org/presentationml/2006/main">
  <p:tag name="KSO_WM_BEAUTIFY_FLAG" val="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1.xml><?xml version="1.0" encoding="utf-8"?>
<p:tagLst xmlns:p="http://schemas.openxmlformats.org/presentationml/2006/main">
  <p:tag name="KSO_WM_UNIT_SUBTYPE" val="a"/>
  <p:tag name="KSO_WM_UNIT_PRESET_TEXT" val="单击此处输入你的正文，文字是您思想的提炼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100_5*l_h_f*1_1_1"/>
  <p:tag name="KSO_WM_TEMPLATE_CATEGORY" val="diagram"/>
  <p:tag name="KSO_WM_TEMPLATE_INDEX" val="20228100"/>
  <p:tag name="KSO_WM_UNIT_LAYERLEVEL" val="1_1_1"/>
  <p:tag name="KSO_WM_TAG_VERSION" val="1.0"/>
  <p:tag name="KSO_WM_BEAUTIFY_FLAG" val=""/>
  <p:tag name="KSO_WM_UNIT_TEXT_FILL_FORE_SCHEMECOLOR_INDEX" val="15"/>
  <p:tag name="KSO_WM_UNIT_TEXT_FILL_TYPE" val="1"/>
  <p:tag name="KSO_WM_UNIT_LINE_FORE_SCHEMECOLOR_INDEX_BRIGHTNESS" val="-0.15"/>
  <p:tag name="KSO_WM_UNIT_LINE_FORE_SCHEMECOLOR_INDEX" val="14"/>
  <p:tag name="KSO_WM_UNIT_LINE_FILL_TYPE" val="2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TABLE_ENDDRAG_ORIGIN_RECT" val="523*260"/>
  <p:tag name="TABLE_ENDDRAG_RECT" val="87*94*523*260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TABLE_ENDDRAG_ORIGIN_RECT" val="601*308"/>
  <p:tag name="TABLE_ENDDRAG_RECT" val="31*72*601*308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TABLE_ENDDRAG_ORIGIN_RECT" val="507*267"/>
  <p:tag name="TABLE_ENDDRAG_RECT" val="76*89*507*267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TABLE_ENDDRAG_ORIGIN_RECT" val="500*245"/>
  <p:tag name="TABLE_ENDDRAG_RECT" val="99*100*500*245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TABLE_ENDDRAG_ORIGIN_RECT" val="617*274"/>
  <p:tag name="TABLE_ENDDRAG_RECT" val="70*100*617*274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12.xml><?xml version="1.0" encoding="utf-8"?>
<p:tagLst xmlns:p="http://schemas.openxmlformats.org/presentationml/2006/main">
  <p:tag name="KSO_WM_UNIT_LINE_FORE_SCHEMECOLOR_INDEX_BRIGHTNESS" val="-0.15"/>
  <p:tag name="KSO_WM_UNIT_LINE_FORE_SCHEMECOLOR_INDEX" val="16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113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14.xml><?xml version="1.0" encoding="utf-8"?>
<p:tagLst xmlns:p="http://schemas.openxmlformats.org/presentationml/2006/main">
  <p:tag name="KSO_WM_UNIT_LINE_FORE_SCHEMECOLOR_INDEX_BRIGHTNESS" val="-0.15"/>
  <p:tag name="KSO_WM_UNIT_LINE_FORE_SCHEMECOLOR_INDEX" val="16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115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16.xml><?xml version="1.0" encoding="utf-8"?>
<p:tagLst xmlns:p="http://schemas.openxmlformats.org/presentationml/2006/main">
  <p:tag name="KSO_WM_UNIT_LINE_FORE_SCHEMECOLOR_INDEX_BRIGHTNESS" val="-0.15"/>
  <p:tag name="KSO_WM_UNIT_LINE_FORE_SCHEMECOLOR_INDEX" val="16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117.xml><?xml version="1.0" encoding="utf-8"?>
<p:tagLst xmlns:p="http://schemas.openxmlformats.org/presentationml/2006/main"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118.xml><?xml version="1.0" encoding="utf-8"?>
<p:tagLst xmlns:p="http://schemas.openxmlformats.org/presentationml/2006/main">
  <p:tag name="KSO_WM_UNIT_LINE_FORE_SCHEMECOLOR_INDEX_BRIGHTNESS" val="-0.15"/>
  <p:tag name="KSO_WM_UNIT_LINE_FORE_SCHEMECOLOR_INDEX" val="16"/>
  <p:tag name="KSO_WM_UNIT_LINE_FILL_TYPE" val="2"/>
  <p:tag name="KSO_WM_UNIT_TEXT_FILL_FORE_SCHEMECOLOR_INDEX_BRIGHTNESS" val="0.25"/>
  <p:tag name="KSO_WM_UNIT_TEXT_FILL_FORE_SCHEMECOLOR_INDEX" val="13"/>
  <p:tag name="KSO_WM_UNIT_TEXT_FILL_TYPE" val="1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COMMONDATA" val="eyJoZGlkIjoiMGU0MGFmNWFlMWRmODk1ZmU0MWU0MmVlNjYwZjUyMzkifQ=="/>
</p:tagLst>
</file>

<file path=ppt/theme/theme1.xml><?xml version="1.0" encoding="utf-8"?>
<a:theme xmlns:a="http://schemas.openxmlformats.org/drawingml/2006/main" name="1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VTE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CVT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VTE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C30000"/>
      </a:accent1>
      <a:accent2>
        <a:srgbClr val="3B3E4D"/>
      </a:accent2>
      <a:accent3>
        <a:srgbClr val="C30000"/>
      </a:accent3>
      <a:accent4>
        <a:srgbClr val="3B3E4D"/>
      </a:accent4>
      <a:accent5>
        <a:srgbClr val="C30000"/>
      </a:accent5>
      <a:accent6>
        <a:srgbClr val="3B3E4D"/>
      </a:accent6>
      <a:hlink>
        <a:srgbClr val="5FCBFB"/>
      </a:hlink>
      <a:folHlink>
        <a:srgbClr val="B759BC"/>
      </a:folHlink>
    </a:clrScheme>
    <a:fontScheme name="CVT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crgbClr r="0" g="0" b="0">
        <a:alpha val="100000"/>
      </a:scrgbClr>
    </a:dk1>
    <a:lt1>
      <a:scrgbClr r="100000" g="100000" b="100000">
        <a:alpha val="100000"/>
      </a:scrgbClr>
    </a:lt1>
    <a:dk2>
      <a:scrgbClr r="10980" g="6666" b="12941">
        <a:alpha val="100000"/>
      </a:scrgbClr>
    </a:dk2>
    <a:lt2>
      <a:scrgbClr r="100000" g="100000" b="100000">
        <a:alpha val="100000"/>
      </a:scrgbClr>
    </a:lt2>
    <a:accent1>
      <a:scrgbClr r="91764" g="33333" b="34901">
        <a:alpha val="100000"/>
      </a:scrgbClr>
    </a:accent1>
    <a:accent2>
      <a:scrgbClr r="89411" g="49019" b="24313">
        <a:alpha val="100000"/>
      </a:scrgbClr>
    </a:accent2>
    <a:accent3>
      <a:scrgbClr r="80000" g="61960" b="20392">
        <a:alpha val="100000"/>
      </a:scrgbClr>
    </a:accent3>
    <a:accent4>
      <a:scrgbClr r="67450" g="74117" b="30980">
        <a:alpha val="100000"/>
      </a:scrgbClr>
    </a:accent4>
    <a:accent5>
      <a:scrgbClr r="52156" g="83921" b="50588">
        <a:alpha val="100000"/>
      </a:scrgbClr>
    </a:accent5>
    <a:accent6>
      <a:scrgbClr r="33725" g="91764" b="74117">
        <a:alpha val="100000"/>
      </a:scrgbClr>
    </a:accent6>
    <a:hlink>
      <a:scrgbClr r="39607" g="54509" b="83529">
        <a:alpha val="100000"/>
      </a:scrgbClr>
    </a:hlink>
    <a:folHlink>
      <a:scrgbClr r="62352" g="41176" b="63921">
        <a:alpha val="100000"/>
      </a:scrgbClr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CVTE</Template>
  <TotalTime>0</TotalTime>
  <Words>1703</Words>
  <Application>WPS 表格</Application>
  <PresentationFormat>全屏显示(16:9)</PresentationFormat>
  <Paragraphs>423</Paragraphs>
  <Slides>13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方正兰亭黑_GBK</vt:lpstr>
      <vt:lpstr>汉仪中黑KW</vt:lpstr>
      <vt:lpstr>Calibri</vt:lpstr>
      <vt:lpstr>Helvetica Neue</vt:lpstr>
      <vt:lpstr>汉仪旗黑</vt:lpstr>
      <vt:lpstr>汉仪书宋二KW</vt:lpstr>
      <vt:lpstr>黑体</vt:lpstr>
      <vt:lpstr>MiSans</vt:lpstr>
      <vt:lpstr>宋体</vt:lpstr>
      <vt:lpstr>Arial Unicode MS</vt:lpstr>
      <vt:lpstr>微软雅黑</vt:lpstr>
      <vt:lpstr>苹方-简</vt:lpstr>
      <vt:lpstr>Arial Black</vt:lpstr>
      <vt:lpstr>1_Office 主题​​</vt:lpstr>
      <vt:lpstr>2_CVTE</vt:lpstr>
      <vt:lpstr>3_CVTE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啃指头的人</cp:lastModifiedBy>
  <cp:revision>815</cp:revision>
  <dcterms:created xsi:type="dcterms:W3CDTF">2023-10-30T04:44:45Z</dcterms:created>
  <dcterms:modified xsi:type="dcterms:W3CDTF">2023-10-30T04:44:45Z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2052-6.2.2.8394</vt:lpwstr>
  </property>
  <property fmtid="{D5CDD505-2E9C-101B-9397-08002B2CF9AE}" pid="3" name="ICV">
    <vt:lpwstr>2EA1E3E18E82BC46BD343F654497FFC5_43</vt:lpwstr>
  </property>
</Properties>
</file>
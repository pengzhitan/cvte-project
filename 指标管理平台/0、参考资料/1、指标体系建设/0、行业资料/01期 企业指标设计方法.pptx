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jpeg"/><Relationship Id="rId8" Type="http://schemas.openxmlformats.org/officeDocument/2006/relationships/image" Target="../media/image23.jpe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Relationship Id="rId3" Type="http://schemas.openxmlformats.org/officeDocument/2006/relationships/image" Target="../media/image19.png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39.png"/><Relationship Id="rId24" Type="http://schemas.openxmlformats.org/officeDocument/2006/relationships/image" Target="../media/image38.png"/><Relationship Id="rId23" Type="http://schemas.openxmlformats.org/officeDocument/2006/relationships/image" Target="../media/image37.png"/><Relationship Id="rId22" Type="http://schemas.openxmlformats.org/officeDocument/2006/relationships/image" Target="../media/image36.png"/><Relationship Id="rId21" Type="http://schemas.openxmlformats.org/officeDocument/2006/relationships/image" Target="../media/image17.png"/><Relationship Id="rId20" Type="http://schemas.openxmlformats.org/officeDocument/2006/relationships/image" Target="../media/image35.png"/><Relationship Id="rId2" Type="http://schemas.openxmlformats.org/officeDocument/2006/relationships/image" Target="../media/image18.png"/><Relationship Id="rId19" Type="http://schemas.openxmlformats.org/officeDocument/2006/relationships/image" Target="../media/image34.png"/><Relationship Id="rId18" Type="http://schemas.openxmlformats.org/officeDocument/2006/relationships/image" Target="../media/image33.png"/><Relationship Id="rId17" Type="http://schemas.openxmlformats.org/officeDocument/2006/relationships/image" Target="../media/image32.png"/><Relationship Id="rId16" Type="http://schemas.openxmlformats.org/officeDocument/2006/relationships/image" Target="../media/image31.png"/><Relationship Id="rId15" Type="http://schemas.openxmlformats.org/officeDocument/2006/relationships/image" Target="../media/image30.png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jpeg"/><Relationship Id="rId10" Type="http://schemas.openxmlformats.org/officeDocument/2006/relationships/image" Target="../media/image25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3208020" y="4678679"/>
            <a:ext cx="2260091" cy="1653540"/>
            <a:chOff x="0" y="0"/>
            <a:chExt cx="2260091" cy="1653540"/>
          </a:xfrm>
        </p:grpSpPr>
        <p:grpSp>
          <p:nvGrpSpPr>
            <p:cNvPr id="4" name="group 4"/>
            <p:cNvGrpSpPr/>
            <p:nvPr/>
          </p:nvGrpSpPr>
          <p:grpSpPr>
            <a:xfrm rot="21600000">
              <a:off x="0" y="0"/>
              <a:ext cx="2260091" cy="1653540"/>
              <a:chOff x="0" y="0"/>
              <a:chExt cx="2260091" cy="1653540"/>
            </a:xfrm>
          </p:grpSpPr>
          <p:sp>
            <p:nvSpPr>
              <p:cNvPr id="5" name="path 4"/>
              <p:cNvSpPr/>
              <p:nvPr/>
            </p:nvSpPr>
            <p:spPr>
              <a:xfrm>
                <a:off x="0" y="0"/>
                <a:ext cx="2260091" cy="365759"/>
              </a:xfrm>
              <a:custGeom>
                <a:avLst/>
                <a:gdLst/>
                <a:ahLst/>
                <a:cxnLst/>
                <a:rect l="0" t="0" r="0" b="0"/>
                <a:pathLst>
                  <a:path w="3559" h="575">
                    <a:moveTo>
                      <a:pt x="0" y="0"/>
                    </a:moveTo>
                    <a:lnTo>
                      <a:pt x="3559" y="0"/>
                    </a:lnTo>
                    <a:lnTo>
                      <a:pt x="3559" y="575"/>
                    </a:lnTo>
                    <a:lnTo>
                      <a:pt x="0" y="5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EB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path 6"/>
              <p:cNvSpPr/>
              <p:nvPr/>
            </p:nvSpPr>
            <p:spPr>
              <a:xfrm>
                <a:off x="0" y="388620"/>
                <a:ext cx="2260091" cy="1264920"/>
              </a:xfrm>
              <a:custGeom>
                <a:avLst/>
                <a:gdLst/>
                <a:ahLst/>
                <a:cxnLst/>
                <a:rect l="0" t="0" r="0" b="0"/>
                <a:pathLst>
                  <a:path w="3559" h="1992">
                    <a:moveTo>
                      <a:pt x="0" y="0"/>
                    </a:moveTo>
                    <a:lnTo>
                      <a:pt x="3559" y="0"/>
                    </a:lnTo>
                    <a:lnTo>
                      <a:pt x="3559" y="1992"/>
                    </a:lnTo>
                    <a:lnTo>
                      <a:pt x="0" y="19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textbox 8"/>
            <p:cNvSpPr/>
            <p:nvPr/>
          </p:nvSpPr>
          <p:spPr>
            <a:xfrm>
              <a:off x="-12700" y="-12700"/>
              <a:ext cx="2286000" cy="16910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0375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业务部门vs业务部门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6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4630" indent="-106045" algn="l" rtl="0" eaLnBrk="0">
                <a:lnSpc>
                  <a:spcPct val="131000"/>
                </a:lnSpc>
                <a:spcBef>
                  <a:spcPts val="280"/>
                </a:spcBef>
              </a:pP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基于不同的指标，</a:t>
              </a:r>
              <a:r>
                <a:rPr sz="900" kern="0" spc="-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业务部门需要划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分主责部门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8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5265" indent="-106680" algn="l" rtl="0" eaLnBrk="0">
                <a:lnSpc>
                  <a:spcPct val="134000"/>
                </a:lnSpc>
                <a:spcBef>
                  <a:spcPts val="5"/>
                </a:spcBef>
              </a:pP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跨部门的指标设计，</a:t>
              </a:r>
              <a:r>
                <a:rPr sz="900" kern="0" spc="-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需要明确主责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部门，</a:t>
              </a:r>
              <a:r>
                <a:rPr sz="9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协同机制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56922" y="1332865"/>
            <a:ext cx="416559" cy="416559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03389" y="2124075"/>
            <a:ext cx="96456" cy="91964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821612" y="3836670"/>
            <a:ext cx="429895" cy="65214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72007" y="3360420"/>
            <a:ext cx="3887469" cy="1548764"/>
          </a:xfrm>
          <a:prstGeom prst="rect">
            <a:avLst/>
          </a:prstGeom>
        </p:spPr>
      </p:pic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5856922" y="1332865"/>
          <a:ext cx="5484495" cy="5254625"/>
        </p:xfrm>
        <a:graphic>
          <a:graphicData uri="http://schemas.openxmlformats.org/drawingml/2006/table">
            <a:tbl>
              <a:tblPr/>
              <a:tblGrid>
                <a:gridCol w="1231264"/>
                <a:gridCol w="4253229"/>
              </a:tblGrid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94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16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endParaRPr sz="1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4705" algn="l" rtl="0" eaLnBrk="0">
                        <a:lnSpc>
                          <a:spcPct val="88000"/>
                        </a:lnSpc>
                      </a:pPr>
                      <a:r>
                        <a:rPr sz="2000" b="1" kern="0" spc="0" dirty="0">
                          <a:solidFill>
                            <a:srgbClr val="0083B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指标口径不统一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7212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5986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445260" algn="l" rtl="0" eaLnBrk="0">
                        <a:lnSpc>
                          <a:spcPts val="1215"/>
                        </a:lnSpc>
                      </a:pP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径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4119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71595" indent="-165100" algn="l" rtl="0" eaLnBrk="0">
                        <a:lnSpc>
                          <a:spcPct val="100000"/>
                        </a:lnSpc>
                        <a:spcBef>
                          <a:spcPts val="365"/>
                        </a:spcBef>
                        <a:tabLst>
                          <a:tab pos="38144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跨部门指标未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</a:t>
                      </a: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拉通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72230" indent="-165735" algn="l" rtl="0" eaLnBrk="0">
                        <a:lnSpc>
                          <a:spcPct val="107000"/>
                        </a:lnSpc>
                        <a:tabLst>
                          <a:tab pos="381444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同样的指标含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</a:t>
                      </a: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义不同</a:t>
                      </a:r>
                      <a:r>
                        <a:rPr sz="12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，应用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场景不清晰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63875" y="4077944"/>
            <a:ext cx="108660" cy="99669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63875" y="3651224"/>
            <a:ext cx="108660" cy="99669"/>
          </a:xfrm>
          <a:prstGeom prst="rect">
            <a:avLst/>
          </a:prstGeom>
        </p:spPr>
      </p:pic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6400482" y="2047875"/>
          <a:ext cx="609600" cy="4375785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1229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500" b="1" kern="0" spc="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r>
                        <a:rPr sz="1500" b="1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500" b="1" kern="0" spc="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变动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  <a:tr h="166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128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1500" b="1" kern="0" spc="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同名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11125" algn="l" rtl="0" eaLnBrk="0">
                        <a:lnSpc>
                          <a:spcPct val="84000"/>
                        </a:lnSpc>
                        <a:spcBef>
                          <a:spcPts val="400"/>
                        </a:spcBef>
                      </a:pPr>
                      <a:r>
                        <a:rPr sz="1500" b="1" kern="0" spc="5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0820" algn="l" rtl="0" eaLnBrk="0">
                        <a:lnSpc>
                          <a:spcPct val="90000"/>
                        </a:lnSpc>
                        <a:spcBef>
                          <a:spcPts val="310"/>
                        </a:spcBef>
                      </a:pPr>
                      <a:r>
                        <a:rPr sz="1500" b="1" kern="0" spc="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  <a:tr h="1479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algn="l" rtl="0" eaLnBrk="0">
                        <a:lnSpc>
                          <a:spcPct val="92000"/>
                        </a:lnSpc>
                      </a:pPr>
                      <a:r>
                        <a:rPr sz="1500" b="1" kern="0" spc="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纵向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08585" algn="l" rtl="0" eaLnBrk="0">
                        <a:lnSpc>
                          <a:spcPct val="90000"/>
                        </a:lnSpc>
                        <a:spcBef>
                          <a:spcPts val="295"/>
                        </a:spcBef>
                      </a:pPr>
                      <a:r>
                        <a:rPr sz="1500" b="1" kern="0" spc="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未拉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8915" algn="l" rtl="0" eaLnBrk="0">
                        <a:lnSpc>
                          <a:spcPct val="85000"/>
                        </a:lnSpc>
                        <a:spcBef>
                          <a:spcPts val="350"/>
                        </a:spcBef>
                      </a:pPr>
                      <a:r>
                        <a:rPr sz="1500" b="1" kern="0" spc="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7165022" y="5042534"/>
          <a:ext cx="3887469" cy="1371600"/>
        </p:xfrm>
        <a:graphic>
          <a:graphicData uri="http://schemas.openxmlformats.org/drawingml/2006/table">
            <a:tbl>
              <a:tblPr/>
              <a:tblGrid>
                <a:gridCol w="3887469"/>
              </a:tblGrid>
              <a:tr h="1365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6786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剔除退货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20900" algn="l" rtl="0" eaLnBrk="0">
                        <a:lnSpc>
                          <a:spcPct val="76000"/>
                        </a:lnSpc>
                        <a:spcBef>
                          <a:spcPts val="365"/>
                        </a:spcBef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不剔除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117090" algn="l" rtl="0" eaLnBrk="0">
                        <a:lnSpc>
                          <a:spcPts val="1560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退货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8342312" y="2212340"/>
          <a:ext cx="581025" cy="253365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58102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09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900" b="1" kern="0" spc="4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口径2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451610" y="2997848"/>
            <a:ext cx="3330347" cy="96443"/>
          </a:xfrm>
          <a:prstGeom prst="rect">
            <a:avLst/>
          </a:prstGeom>
        </p:spPr>
      </p:pic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9111932" y="2222500"/>
          <a:ext cx="581025" cy="253365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58102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09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900" b="1" kern="0" spc="4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口径3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7768272" y="2600959"/>
          <a:ext cx="581659" cy="253365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581659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09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900" b="1" kern="0" spc="4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口径1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9781857" y="1983105"/>
          <a:ext cx="581025" cy="252729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581025"/>
              </a:tblGrid>
              <a:tr h="2463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09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900" b="1" kern="0" spc="4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口径4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sp>
        <p:nvSpPr>
          <p:cNvPr id="38" name="path 38"/>
          <p:cNvSpPr/>
          <p:nvPr/>
        </p:nvSpPr>
        <p:spPr>
          <a:xfrm>
            <a:off x="8817864" y="5198363"/>
            <a:ext cx="297180" cy="265176"/>
          </a:xfrm>
          <a:custGeom>
            <a:avLst/>
            <a:gdLst/>
            <a:ahLst/>
            <a:cxnLst/>
            <a:rect l="0" t="0" r="0" b="0"/>
            <a:pathLst>
              <a:path w="468" h="417">
                <a:moveTo>
                  <a:pt x="0" y="103"/>
                </a:moveTo>
                <a:lnTo>
                  <a:pt x="259" y="103"/>
                </a:lnTo>
                <a:lnTo>
                  <a:pt x="259" y="0"/>
                </a:lnTo>
                <a:lnTo>
                  <a:pt x="468" y="208"/>
                </a:lnTo>
                <a:lnTo>
                  <a:pt x="259" y="417"/>
                </a:lnTo>
                <a:lnTo>
                  <a:pt x="259" y="312"/>
                </a:lnTo>
                <a:lnTo>
                  <a:pt x="0" y="312"/>
                </a:lnTo>
                <a:lnTo>
                  <a:pt x="105" y="208"/>
                </a:lnTo>
                <a:lnTo>
                  <a:pt x="0" y="103"/>
                </a:lnTo>
              </a:path>
            </a:pathLst>
          </a:custGeom>
          <a:solidFill>
            <a:srgbClr val="00AF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7762075" y="5194300"/>
          <a:ext cx="832484" cy="252730"/>
        </p:xfrm>
        <a:graphic>
          <a:graphicData uri="http://schemas.openxmlformats.org/drawingml/2006/table">
            <a:tbl>
              <a:tblPr/>
              <a:tblGrid>
                <a:gridCol w="832484"/>
              </a:tblGrid>
              <a:tr h="2463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051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900" b="1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GMV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19606" y="5443220"/>
            <a:ext cx="1117752" cy="312420"/>
          </a:xfrm>
          <a:prstGeom prst="rect">
            <a:avLst/>
          </a:prstGeom>
        </p:spPr>
      </p:pic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7447598" y="5750559"/>
          <a:ext cx="419734" cy="590550"/>
        </p:xfrm>
        <a:graphic>
          <a:graphicData uri="http://schemas.openxmlformats.org/drawingml/2006/table">
            <a:tbl>
              <a:tblPr/>
              <a:tblGrid>
                <a:gridCol w="419734"/>
              </a:tblGrid>
              <a:tr h="584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900" b="1" kern="0" spc="7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北区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4455" algn="l" rtl="0" eaLnBrk="0">
                        <a:lnSpc>
                          <a:spcPct val="95000"/>
                        </a:lnSpc>
                        <a:spcBef>
                          <a:spcPts val="175"/>
                        </a:spcBef>
                      </a:pPr>
                      <a:r>
                        <a:rPr sz="900" b="1" kern="0" spc="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49225" algn="l" rtl="0" eaLnBrk="0">
                        <a:lnSpc>
                          <a:spcPct val="94000"/>
                        </a:lnSpc>
                        <a:spcBef>
                          <a:spcPts val="175"/>
                        </a:spcBef>
                      </a:pPr>
                      <a:r>
                        <a:rPr sz="900" b="1" kern="0" spc="5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额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7968374" y="5750559"/>
          <a:ext cx="419734" cy="590550"/>
        </p:xfrm>
        <a:graphic>
          <a:graphicData uri="http://schemas.openxmlformats.org/drawingml/2006/table">
            <a:tbl>
              <a:tblPr/>
              <a:tblGrid>
                <a:gridCol w="419734"/>
              </a:tblGrid>
              <a:tr h="584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763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900" b="1" kern="0" spc="7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南区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84455" algn="l" rtl="0" eaLnBrk="0">
                        <a:lnSpc>
                          <a:spcPct val="95000"/>
                        </a:lnSpc>
                        <a:spcBef>
                          <a:spcPts val="180"/>
                        </a:spcBef>
                      </a:pPr>
                      <a:r>
                        <a:rPr sz="900" b="1" kern="0" spc="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销售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49225" algn="l" rtl="0" eaLnBrk="0">
                        <a:lnSpc>
                          <a:spcPct val="94000"/>
                        </a:lnSpc>
                        <a:spcBef>
                          <a:spcPts val="175"/>
                        </a:spcBef>
                      </a:pPr>
                      <a:r>
                        <a:rPr sz="900" b="1" kern="0" spc="5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额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8489152" y="5750559"/>
          <a:ext cx="419734" cy="590550"/>
        </p:xfrm>
        <a:graphic>
          <a:graphicData uri="http://schemas.openxmlformats.org/drawingml/2006/table">
            <a:tbl>
              <a:tblPr/>
              <a:tblGrid>
                <a:gridCol w="419734"/>
              </a:tblGrid>
              <a:tr h="584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indent="1270" algn="l" rtl="0" eaLnBrk="0">
                        <a:lnSpc>
                          <a:spcPct val="105000"/>
                        </a:lnSpc>
                        <a:spcBef>
                          <a:spcPts val="0"/>
                        </a:spcBef>
                      </a:pPr>
                      <a:r>
                        <a:rPr sz="900" b="1" kern="0" spc="7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华中</a:t>
                      </a:r>
                      <a:r>
                        <a:rPr sz="900" b="1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900" b="1" kern="0" spc="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区销</a:t>
                      </a:r>
                      <a:r>
                        <a:rPr sz="900" b="1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900" b="1" kern="0" spc="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售额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path 50"/>
          <p:cNvSpPr/>
          <p:nvPr/>
        </p:nvSpPr>
        <p:spPr>
          <a:xfrm>
            <a:off x="8968740" y="5913120"/>
            <a:ext cx="297179" cy="265175"/>
          </a:xfrm>
          <a:custGeom>
            <a:avLst/>
            <a:gdLst/>
            <a:ahLst/>
            <a:cxnLst/>
            <a:rect l="0" t="0" r="0" b="0"/>
            <a:pathLst>
              <a:path w="467" h="417">
                <a:moveTo>
                  <a:pt x="0" y="105"/>
                </a:moveTo>
                <a:lnTo>
                  <a:pt x="259" y="105"/>
                </a:lnTo>
                <a:lnTo>
                  <a:pt x="259" y="0"/>
                </a:lnTo>
                <a:lnTo>
                  <a:pt x="467" y="208"/>
                </a:lnTo>
                <a:lnTo>
                  <a:pt x="259" y="417"/>
                </a:lnTo>
                <a:lnTo>
                  <a:pt x="259" y="314"/>
                </a:lnTo>
                <a:lnTo>
                  <a:pt x="0" y="314"/>
                </a:lnTo>
                <a:lnTo>
                  <a:pt x="103" y="208"/>
                </a:lnTo>
                <a:lnTo>
                  <a:pt x="0" y="105"/>
                </a:lnTo>
              </a:path>
            </a:pathLst>
          </a:custGeom>
          <a:solidFill>
            <a:srgbClr val="00AF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" name="textbox 52"/>
          <p:cNvSpPr/>
          <p:nvPr/>
        </p:nvSpPr>
        <p:spPr>
          <a:xfrm>
            <a:off x="9785604" y="5198109"/>
            <a:ext cx="1106805" cy="1099185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5275" indent="-166370" algn="l" rtl="0" eaLnBrk="0">
              <a:lnSpc>
                <a:spcPct val="101000"/>
              </a:lnSpc>
              <a:spcBef>
                <a:spcPts val="5"/>
              </a:spcBef>
              <a:tabLst>
                <a:tab pos="23749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纵向指标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未拉通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5275" indent="-166370" algn="l" rtl="0" eaLnBrk="0">
              <a:lnSpc>
                <a:spcPct val="101000"/>
              </a:lnSpc>
              <a:spcBef>
                <a:spcPts val="0"/>
              </a:spcBef>
              <a:tabLst>
                <a:tab pos="23749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指标口径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未统一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914852" y="5789091"/>
            <a:ext cx="108660" cy="99669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914852" y="5362371"/>
            <a:ext cx="108660" cy="99669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90166" y="707368"/>
            <a:ext cx="5859145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指标设计困境——企业指标体系设计面临的典型问题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358051" y="4374267"/>
            <a:ext cx="3171825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指标设计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指标模型                       指标使用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96607" y="1332865"/>
            <a:ext cx="416559" cy="416559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27645" y="2986455"/>
            <a:ext cx="4346041" cy="1055954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062412" y="3542664"/>
            <a:ext cx="875030" cy="589279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64952" y="3175000"/>
            <a:ext cx="875029" cy="589279"/>
          </a:xfrm>
          <a:prstGeom prst="rect">
            <a:avLst/>
          </a:prstGeom>
        </p:spPr>
      </p:pic>
      <p:sp>
        <p:nvSpPr>
          <p:cNvPr id="70" name="path 70"/>
          <p:cNvSpPr/>
          <p:nvPr/>
        </p:nvSpPr>
        <p:spPr>
          <a:xfrm>
            <a:off x="1271016" y="2777490"/>
            <a:ext cx="897826" cy="399415"/>
          </a:xfrm>
          <a:custGeom>
            <a:avLst/>
            <a:gdLst/>
            <a:ahLst/>
            <a:cxnLst/>
            <a:rect l="0" t="0" r="0" b="0"/>
            <a:pathLst>
              <a:path w="1413" h="629">
                <a:moveTo>
                  <a:pt x="0" y="315"/>
                </a:moveTo>
                <a:cubicBezTo>
                  <a:pt x="0" y="140"/>
                  <a:pt x="317" y="0"/>
                  <a:pt x="707" y="0"/>
                </a:cubicBezTo>
                <a:cubicBezTo>
                  <a:pt x="1097" y="0"/>
                  <a:pt x="1413" y="140"/>
                  <a:pt x="1413" y="314"/>
                </a:cubicBezTo>
                <a:cubicBezTo>
                  <a:pt x="1413" y="488"/>
                  <a:pt x="1097" y="629"/>
                  <a:pt x="707" y="629"/>
                </a:cubicBezTo>
                <a:cubicBezTo>
                  <a:pt x="317" y="629"/>
                  <a:pt x="0" y="488"/>
                  <a:pt x="0" y="315"/>
                </a:cubicBezTo>
              </a:path>
            </a:pathLst>
          </a:cu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path 72"/>
          <p:cNvSpPr/>
          <p:nvPr/>
        </p:nvSpPr>
        <p:spPr>
          <a:xfrm>
            <a:off x="1132331" y="3763009"/>
            <a:ext cx="1022540" cy="399415"/>
          </a:xfrm>
          <a:custGeom>
            <a:avLst/>
            <a:gdLst/>
            <a:ahLst/>
            <a:cxnLst/>
            <a:rect l="0" t="0" r="0" b="0"/>
            <a:pathLst>
              <a:path w="1610" h="629">
                <a:moveTo>
                  <a:pt x="0" y="314"/>
                </a:moveTo>
                <a:cubicBezTo>
                  <a:pt x="0" y="140"/>
                  <a:pt x="360" y="0"/>
                  <a:pt x="805" y="0"/>
                </a:cubicBezTo>
                <a:cubicBezTo>
                  <a:pt x="1249" y="0"/>
                  <a:pt x="1610" y="140"/>
                  <a:pt x="1610" y="314"/>
                </a:cubicBezTo>
                <a:cubicBezTo>
                  <a:pt x="1610" y="488"/>
                  <a:pt x="1249" y="629"/>
                  <a:pt x="805" y="629"/>
                </a:cubicBezTo>
                <a:cubicBezTo>
                  <a:pt x="360" y="629"/>
                  <a:pt x="0" y="488"/>
                  <a:pt x="0" y="314"/>
                </a:cubicBezTo>
              </a:path>
            </a:pathLst>
          </a:cu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58227" y="2000250"/>
            <a:ext cx="2479039" cy="556259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11187" y="6456082"/>
            <a:ext cx="979169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25"/>
              </a:lnSpc>
            </a:pP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1100" kern="0" spc="8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1100" kern="0" spc="8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1100" kern="0" spc="9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kern="0" spc="10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1100" kern="0" spc="7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path 78"/>
          <p:cNvSpPr/>
          <p:nvPr/>
        </p:nvSpPr>
        <p:spPr>
          <a:xfrm>
            <a:off x="2677477" y="3126740"/>
            <a:ext cx="1035684" cy="935989"/>
          </a:xfrm>
          <a:custGeom>
            <a:avLst/>
            <a:gdLst/>
            <a:ahLst/>
            <a:cxnLst/>
            <a:rect l="0" t="0" r="0" b="0"/>
            <a:pathLst>
              <a:path w="1630" h="1473">
                <a:moveTo>
                  <a:pt x="0" y="737"/>
                </a:moveTo>
                <a:cubicBezTo>
                  <a:pt x="0" y="329"/>
                  <a:pt x="365" y="0"/>
                  <a:pt x="815" y="0"/>
                </a:cubicBezTo>
                <a:cubicBezTo>
                  <a:pt x="1265" y="0"/>
                  <a:pt x="1630" y="329"/>
                  <a:pt x="1630" y="736"/>
                </a:cubicBezTo>
                <a:cubicBezTo>
                  <a:pt x="1630" y="1144"/>
                  <a:pt x="1265" y="1473"/>
                  <a:pt x="815" y="1473"/>
                </a:cubicBezTo>
                <a:cubicBezTo>
                  <a:pt x="365" y="1473"/>
                  <a:pt x="0" y="1144"/>
                  <a:pt x="0" y="737"/>
                </a:cubicBezTo>
              </a:path>
            </a:pathLst>
          </a:custGeom>
          <a:solidFill>
            <a:srgbClr val="5CDD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 rot="21600000">
            <a:off x="3648455" y="2029967"/>
            <a:ext cx="1725231" cy="1252727"/>
            <a:chOff x="0" y="0"/>
            <a:chExt cx="1725231" cy="1252727"/>
          </a:xfrm>
        </p:grpSpPr>
        <p:sp>
          <p:nvSpPr>
            <p:cNvPr id="80" name="path 80"/>
            <p:cNvSpPr/>
            <p:nvPr/>
          </p:nvSpPr>
          <p:spPr>
            <a:xfrm>
              <a:off x="0" y="585215"/>
              <a:ext cx="641603" cy="667511"/>
            </a:xfrm>
            <a:custGeom>
              <a:avLst/>
              <a:gdLst/>
              <a:ahLst/>
              <a:cxnLst/>
              <a:rect l="0" t="0" r="0" b="0"/>
              <a:pathLst>
                <a:path w="1010" h="1051">
                  <a:moveTo>
                    <a:pt x="647" y="0"/>
                  </a:moveTo>
                  <a:lnTo>
                    <a:pt x="0" y="1051"/>
                  </a:lnTo>
                  <a:lnTo>
                    <a:pt x="1010" y="343"/>
                  </a:lnTo>
                  <a:lnTo>
                    <a:pt x="647" y="0"/>
                  </a:lnTo>
                </a:path>
              </a:pathLst>
            </a:custGeom>
            <a:solidFill>
              <a:srgbClr val="8AD8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2" name="path 82"/>
            <p:cNvSpPr/>
            <p:nvPr/>
          </p:nvSpPr>
          <p:spPr>
            <a:xfrm>
              <a:off x="114300" y="566927"/>
              <a:ext cx="496823" cy="550164"/>
            </a:xfrm>
            <a:custGeom>
              <a:avLst/>
              <a:gdLst/>
              <a:ahLst/>
              <a:cxnLst/>
              <a:rect l="0" t="0" r="0" b="0"/>
              <a:pathLst>
                <a:path w="782" h="866">
                  <a:moveTo>
                    <a:pt x="532" y="0"/>
                  </a:moveTo>
                  <a:lnTo>
                    <a:pt x="0" y="866"/>
                  </a:lnTo>
                  <a:lnTo>
                    <a:pt x="782" y="237"/>
                  </a:lnTo>
                  <a:lnTo>
                    <a:pt x="532" y="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4" name="path 84"/>
            <p:cNvSpPr/>
            <p:nvPr/>
          </p:nvSpPr>
          <p:spPr>
            <a:xfrm>
              <a:off x="185356" y="0"/>
              <a:ext cx="1539875" cy="850391"/>
            </a:xfrm>
            <a:custGeom>
              <a:avLst/>
              <a:gdLst/>
              <a:ahLst/>
              <a:cxnLst/>
              <a:rect l="0" t="0" r="0" b="0"/>
              <a:pathLst>
                <a:path w="2425" h="1339">
                  <a:moveTo>
                    <a:pt x="0" y="223"/>
                  </a:moveTo>
                  <a:moveTo>
                    <a:pt x="0" y="223"/>
                  </a:moveTo>
                  <a:cubicBezTo>
                    <a:pt x="0" y="100"/>
                    <a:pt x="99" y="0"/>
                    <a:pt x="224" y="0"/>
                  </a:cubicBezTo>
                  <a:lnTo>
                    <a:pt x="2201" y="0"/>
                  </a:lnTo>
                  <a:cubicBezTo>
                    <a:pt x="2325" y="0"/>
                    <a:pt x="2425" y="100"/>
                    <a:pt x="2424" y="223"/>
                  </a:cubicBezTo>
                  <a:lnTo>
                    <a:pt x="2424" y="1116"/>
                  </a:lnTo>
                  <a:cubicBezTo>
                    <a:pt x="2425" y="1238"/>
                    <a:pt x="2325" y="1338"/>
                    <a:pt x="2201" y="1339"/>
                  </a:cubicBezTo>
                  <a:lnTo>
                    <a:pt x="224" y="1339"/>
                  </a:lnTo>
                  <a:cubicBezTo>
                    <a:pt x="99" y="1338"/>
                    <a:pt x="0" y="1238"/>
                    <a:pt x="0" y="1116"/>
                  </a:cubicBezTo>
                  <a:lnTo>
                    <a:pt x="0" y="223"/>
                  </a:lnTo>
                </a:path>
              </a:pathLst>
            </a:custGeom>
            <a:solidFill>
              <a:srgbClr val="8AD8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6" name="path 86"/>
            <p:cNvSpPr/>
            <p:nvPr/>
          </p:nvSpPr>
          <p:spPr>
            <a:xfrm>
              <a:off x="227901" y="21336"/>
              <a:ext cx="1454785" cy="773175"/>
            </a:xfrm>
            <a:custGeom>
              <a:avLst/>
              <a:gdLst/>
              <a:ahLst/>
              <a:cxnLst/>
              <a:rect l="0" t="0" r="0" b="0"/>
              <a:pathLst>
                <a:path w="2291" h="1217">
                  <a:moveTo>
                    <a:pt x="1" y="203"/>
                  </a:moveTo>
                  <a:moveTo>
                    <a:pt x="1" y="203"/>
                  </a:moveTo>
                  <a:cubicBezTo>
                    <a:pt x="0" y="91"/>
                    <a:pt x="90" y="0"/>
                    <a:pt x="202" y="0"/>
                  </a:cubicBezTo>
                  <a:lnTo>
                    <a:pt x="2089" y="0"/>
                  </a:lnTo>
                  <a:cubicBezTo>
                    <a:pt x="2200" y="0"/>
                    <a:pt x="2291" y="91"/>
                    <a:pt x="2290" y="203"/>
                  </a:cubicBezTo>
                  <a:lnTo>
                    <a:pt x="2290" y="1015"/>
                  </a:lnTo>
                  <a:cubicBezTo>
                    <a:pt x="2291" y="1126"/>
                    <a:pt x="2200" y="1217"/>
                    <a:pt x="2089" y="1216"/>
                  </a:cubicBezTo>
                  <a:lnTo>
                    <a:pt x="202" y="1216"/>
                  </a:lnTo>
                  <a:cubicBezTo>
                    <a:pt x="90" y="1217"/>
                    <a:pt x="0" y="1126"/>
                    <a:pt x="1" y="1015"/>
                  </a:cubicBezTo>
                  <a:lnTo>
                    <a:pt x="1" y="203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8" name="table 88"/>
          <p:cNvGraphicFramePr>
            <a:graphicFrameLocks noGrp="1"/>
          </p:cNvGraphicFramePr>
          <p:nvPr/>
        </p:nvGraphicFramePr>
        <p:xfrm>
          <a:off x="917892" y="1427479"/>
          <a:ext cx="4662169" cy="5160645"/>
        </p:xfrm>
        <a:graphic>
          <a:graphicData uri="http://schemas.openxmlformats.org/drawingml/2006/table">
            <a:tbl>
              <a:tblPr/>
              <a:tblGrid>
                <a:gridCol w="869315"/>
                <a:gridCol w="3792854"/>
              </a:tblGrid>
              <a:tr h="572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705" algn="l" rtl="0" eaLnBrk="0">
                        <a:lnSpc>
                          <a:spcPct val="82000"/>
                        </a:lnSpc>
                      </a:pPr>
                      <a:r>
                        <a:rPr sz="16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endParaRPr sz="1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340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2000" b="1" kern="0" spc="-10" dirty="0">
                          <a:solidFill>
                            <a:srgbClr val="0083B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权责错误或不清晰</a:t>
                      </a:r>
                      <a:endParaRPr sz="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5878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6730" algn="l" rtl="0" eaLnBrk="0">
                        <a:lnSpc>
                          <a:spcPts val="152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技术/数据部门主责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92430" algn="l" rtl="0" eaLnBrk="0">
                        <a:lnSpc>
                          <a:spcPct val="93000"/>
                        </a:lnSpc>
                        <a:spcBef>
                          <a:spcPts val="3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不同指标</a:t>
                      </a:r>
                      <a:r>
                        <a:rPr sz="12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，不同业务部门主责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635" algn="l" rtl="0" eaLnBrk="0">
                        <a:lnSpc>
                          <a:spcPct val="95000"/>
                        </a:lnSpc>
                        <a:spcBef>
                          <a:spcPts val="280"/>
                        </a:spcBef>
                      </a:pP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采购部门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93110" algn="l" rtl="0" eaLnBrk="0">
                        <a:lnSpc>
                          <a:spcPct val="95000"/>
                        </a:lnSpc>
                        <a:spcBef>
                          <a:spcPts val="280"/>
                        </a:spcBef>
                      </a:pP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采购部门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93745" algn="l" rtl="0" eaLnBrk="0">
                        <a:lnSpc>
                          <a:spcPct val="85000"/>
                        </a:lnSpc>
                        <a:spcBef>
                          <a:spcPts val="275"/>
                        </a:spcBef>
                      </a:pP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生产部门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40690" algn="l" rtl="0" eaLnBrk="0">
                        <a:lnSpc>
                          <a:spcPct val="92000"/>
                        </a:lnSpc>
                        <a:spcBef>
                          <a:spcPts val="10"/>
                        </a:spcBef>
                      </a:pPr>
                      <a:r>
                        <a:rPr sz="9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业务部门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" name="picture 9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02374" y="1092339"/>
            <a:ext cx="9951339" cy="4572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183957" y="4192270"/>
            <a:ext cx="4109719" cy="15430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21600000">
            <a:off x="995172" y="4675632"/>
            <a:ext cx="2026920" cy="1652016"/>
            <a:chOff x="0" y="0"/>
            <a:chExt cx="2026920" cy="1652016"/>
          </a:xfrm>
        </p:grpSpPr>
        <p:grpSp>
          <p:nvGrpSpPr>
            <p:cNvPr id="11" name="group 10"/>
            <p:cNvGrpSpPr/>
            <p:nvPr/>
          </p:nvGrpSpPr>
          <p:grpSpPr>
            <a:xfrm rot="21600000">
              <a:off x="0" y="0"/>
              <a:ext cx="2026920" cy="1652016"/>
              <a:chOff x="0" y="0"/>
              <a:chExt cx="2026920" cy="1652016"/>
            </a:xfrm>
          </p:grpSpPr>
          <p:sp>
            <p:nvSpPr>
              <p:cNvPr id="94" name="path 94"/>
              <p:cNvSpPr/>
              <p:nvPr/>
            </p:nvSpPr>
            <p:spPr>
              <a:xfrm>
                <a:off x="0" y="0"/>
                <a:ext cx="2026920" cy="364235"/>
              </a:xfrm>
              <a:custGeom>
                <a:avLst/>
                <a:gdLst/>
                <a:ahLst/>
                <a:cxnLst/>
                <a:rect l="0" t="0" r="0" b="0"/>
                <a:pathLst>
                  <a:path w="3192" h="573">
                    <a:moveTo>
                      <a:pt x="0" y="0"/>
                    </a:moveTo>
                    <a:lnTo>
                      <a:pt x="3192" y="0"/>
                    </a:lnTo>
                    <a:lnTo>
                      <a:pt x="3192" y="573"/>
                    </a:lnTo>
                    <a:lnTo>
                      <a:pt x="0" y="5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DEBD9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path 96"/>
              <p:cNvSpPr/>
              <p:nvPr/>
            </p:nvSpPr>
            <p:spPr>
              <a:xfrm>
                <a:off x="0" y="388620"/>
                <a:ext cx="2026920" cy="1263396"/>
              </a:xfrm>
              <a:custGeom>
                <a:avLst/>
                <a:gdLst/>
                <a:ahLst/>
                <a:cxnLst/>
                <a:rect l="0" t="0" r="0" b="0"/>
                <a:pathLst>
                  <a:path w="3192" h="1989">
                    <a:moveTo>
                      <a:pt x="0" y="0"/>
                    </a:moveTo>
                    <a:lnTo>
                      <a:pt x="3192" y="0"/>
                    </a:lnTo>
                    <a:lnTo>
                      <a:pt x="3192" y="1989"/>
                    </a:lnTo>
                    <a:lnTo>
                      <a:pt x="0" y="1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8" name="textbox 98"/>
            <p:cNvSpPr/>
            <p:nvPr/>
          </p:nvSpPr>
          <p:spPr>
            <a:xfrm>
              <a:off x="-12700" y="-12700"/>
              <a:ext cx="2052954" cy="16903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1925" algn="l" rtl="0" eaLnBrk="0">
                <a:lnSpc>
                  <a:spcPts val="1520"/>
                </a:lnSpc>
                <a:spcBef>
                  <a:spcPts val="5"/>
                </a:spcBef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业务部门vs技术/数据部门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6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2090" indent="-104140" algn="l" rtl="0" eaLnBrk="0">
                <a:lnSpc>
                  <a:spcPct val="137000"/>
                </a:lnSpc>
                <a:spcBef>
                  <a:spcPts val="280"/>
                </a:spcBef>
              </a:pP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指标设计环节：</a:t>
              </a:r>
              <a:r>
                <a:rPr sz="900" kern="0" spc="-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</a:t>
              </a: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部门主责，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技术/数据部门配合数据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探查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3360" indent="-105410" algn="l" rtl="0" eaLnBrk="0">
                <a:lnSpc>
                  <a:spcPct val="149000"/>
                </a:lnSpc>
                <a:spcBef>
                  <a:spcPts val="5"/>
                </a:spcBef>
              </a:pP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•   </a:t>
              </a: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指标模型落地</a:t>
              </a:r>
              <a:r>
                <a:rPr sz="9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：技术/数据部门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主责，</a:t>
              </a:r>
              <a:r>
                <a:rPr sz="900" kern="0" spc="-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业务部门配合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指标口径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细节落地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0" name="textbox 100"/>
          <p:cNvSpPr/>
          <p:nvPr/>
        </p:nvSpPr>
        <p:spPr>
          <a:xfrm>
            <a:off x="8448597" y="4367425"/>
            <a:ext cx="532130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销售部门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0" y="0"/>
            <a:ext cx="12192000" cy="217931"/>
          </a:xfrm>
          <a:prstGeom prst="rect">
            <a:avLst/>
          </a:prstGeom>
          <a:solidFill>
            <a:srgbClr val="00AF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1374660" y="2086229"/>
            <a:ext cx="1821179" cy="196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12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不同环节</a:t>
            </a:r>
            <a:r>
              <a:rPr sz="1200" b="1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，主责部门不同</a:t>
            </a:r>
            <a:r>
              <a:rPr sz="1200" b="1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7565035" y="3933325"/>
            <a:ext cx="161925" cy="444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900" b="1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 售 额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8450367" y="3792364"/>
            <a:ext cx="530225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财务部门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4134049" y="2341878"/>
            <a:ext cx="1156335" cy="465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3400" kern="0" spc="-30" dirty="0">
                <a:solidFill>
                  <a:srgbClr val="29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确权X</a:t>
            </a:r>
            <a:endParaRPr sz="3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2753269" y="3479276"/>
            <a:ext cx="833119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技术/数据部门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4"/>
          <p:cNvSpPr/>
          <p:nvPr/>
        </p:nvSpPr>
        <p:spPr>
          <a:xfrm rot="18900000">
            <a:off x="1390910" y="2556778"/>
            <a:ext cx="9659619" cy="1859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00"/>
              </a:lnSpc>
            </a:pPr>
            <a:r>
              <a:rPr sz="10000" kern="0" spc="1080" dirty="0">
                <a:solidFill>
                  <a:srgbClr val="D9D9D9">
                    <a:alpha val="3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袋鼠云DTSTACK</a:t>
            </a:r>
            <a:endParaRPr sz="10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path 116"/>
          <p:cNvSpPr/>
          <p:nvPr/>
        </p:nvSpPr>
        <p:spPr>
          <a:xfrm>
            <a:off x="1146047" y="3269614"/>
            <a:ext cx="1022794" cy="399415"/>
          </a:xfrm>
          <a:custGeom>
            <a:avLst/>
            <a:gdLst/>
            <a:ahLst/>
            <a:cxnLst/>
            <a:rect l="0" t="0" r="0" b="0"/>
            <a:pathLst>
              <a:path w="1610" h="629">
                <a:moveTo>
                  <a:pt x="0" y="313"/>
                </a:moveTo>
                <a:cubicBezTo>
                  <a:pt x="0" y="140"/>
                  <a:pt x="361" y="0"/>
                  <a:pt x="805" y="0"/>
                </a:cubicBezTo>
                <a:cubicBezTo>
                  <a:pt x="1250" y="0"/>
                  <a:pt x="1610" y="140"/>
                  <a:pt x="1610" y="314"/>
                </a:cubicBezTo>
                <a:cubicBezTo>
                  <a:pt x="1610" y="488"/>
                  <a:pt x="1250" y="629"/>
                  <a:pt x="805" y="629"/>
                </a:cubicBezTo>
                <a:cubicBezTo>
                  <a:pt x="361" y="629"/>
                  <a:pt x="0" y="488"/>
                  <a:pt x="0" y="313"/>
                </a:cubicBezTo>
              </a:path>
            </a:pathLst>
          </a:cu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0419588" y="784860"/>
            <a:ext cx="1264919" cy="315467"/>
          </a:xfrm>
          <a:prstGeom prst="rect">
            <a:avLst/>
          </a:prstGeom>
        </p:spPr>
      </p:pic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10204132" y="2421890"/>
          <a:ext cx="581025" cy="253365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581025"/>
              </a:tblGrid>
              <a:tr h="247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6530" algn="l" rtl="0" eaLnBrk="0">
                        <a:lnSpc>
                          <a:spcPts val="340"/>
                        </a:lnSpc>
                      </a:pPr>
                      <a:r>
                        <a:rPr sz="900" b="1" kern="0" spc="7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sp>
        <p:nvSpPr>
          <p:cNvPr id="122" name="textbox 122"/>
          <p:cNvSpPr/>
          <p:nvPr/>
        </p:nvSpPr>
        <p:spPr>
          <a:xfrm>
            <a:off x="1360907" y="3395032"/>
            <a:ext cx="525780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生产部门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000077" y="6457314"/>
            <a:ext cx="113664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200" kern="0" spc="10" dirty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68670" y="1332865"/>
            <a:ext cx="5484495" cy="1876425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8865107" y="2660904"/>
            <a:ext cx="983614" cy="356870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1760" indent="-67310" algn="l" rtl="0" eaLnBrk="0">
              <a:lnSpc>
                <a:spcPct val="88000"/>
              </a:lnSpc>
              <a:spcBef>
                <a:spcPts val="0"/>
              </a:spcBef>
            </a:pPr>
            <a:r>
              <a:rPr sz="1100" kern="0" spc="-60" dirty="0">
                <a:solidFill>
                  <a:srgbClr val="22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指标口径不凤,</a:t>
            </a:r>
            <a:r>
              <a:rPr sz="1100" kern="0" spc="10" dirty="0">
                <a:solidFill>
                  <a:srgbClr val="22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100" kern="0" spc="-70" dirty="0">
                <a:solidFill>
                  <a:srgbClr val="0C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导致数据矛盾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61684" y="3249929"/>
            <a:ext cx="5484495" cy="1475320"/>
          </a:xfrm>
          <a:prstGeom prst="rect">
            <a:avLst/>
          </a:prstGeom>
        </p:spPr>
      </p:pic>
      <p:graphicFrame>
        <p:nvGraphicFramePr>
          <p:cNvPr id="134" name="table 134"/>
          <p:cNvGraphicFramePr>
            <a:graphicFrameLocks noGrp="1"/>
          </p:cNvGraphicFramePr>
          <p:nvPr/>
        </p:nvGraphicFramePr>
        <p:xfrm>
          <a:off x="6254750" y="4299584"/>
          <a:ext cx="1123950" cy="307975"/>
        </p:xfrm>
        <a:graphic>
          <a:graphicData uri="http://schemas.openxmlformats.org/drawingml/2006/table">
            <a:tbl>
              <a:tblPr/>
              <a:tblGrid>
                <a:gridCol w="1123950"/>
              </a:tblGrid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750" algn="l" rtl="0" eaLnBrk="0">
                        <a:lnSpc>
                          <a:spcPct val="85000"/>
                        </a:lnSpc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权责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6" name="textbox 136"/>
          <p:cNvSpPr/>
          <p:nvPr/>
        </p:nvSpPr>
        <p:spPr>
          <a:xfrm>
            <a:off x="6246875" y="3753611"/>
            <a:ext cx="1492250" cy="307975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005" algn="l" rtl="0" eaLnBrk="0">
              <a:lnSpc>
                <a:spcPct val="86000"/>
              </a:lnSpc>
              <a:spcBef>
                <a:spcPts val="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指标管理组织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9630156" y="3753611"/>
            <a:ext cx="1492250" cy="307975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005" algn="l" rtl="0" eaLnBrk="0">
              <a:lnSpc>
                <a:spcPct val="88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指标管理流程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7936992" y="3753611"/>
            <a:ext cx="1493519" cy="307975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ct val="87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指标管理制度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2374" y="1092339"/>
            <a:ext cx="9951339" cy="45720"/>
          </a:xfrm>
          <a:prstGeom prst="rect">
            <a:avLst/>
          </a:prstGeom>
        </p:spPr>
      </p:pic>
      <p:graphicFrame>
        <p:nvGraphicFramePr>
          <p:cNvPr id="144" name="table 144"/>
          <p:cNvGraphicFramePr>
            <a:graphicFrameLocks noGrp="1"/>
          </p:cNvGraphicFramePr>
          <p:nvPr/>
        </p:nvGraphicFramePr>
        <p:xfrm>
          <a:off x="1202689" y="1880870"/>
          <a:ext cx="1796414" cy="292100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1796414"/>
              </a:tblGrid>
              <a:tr h="285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pic>
        <p:nvPicPr>
          <p:cNvPr id="146" name="picture 1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02689" y="2184400"/>
            <a:ext cx="4070350" cy="2369184"/>
          </a:xfrm>
          <a:prstGeom prst="rect">
            <a:avLst/>
          </a:prstGeom>
        </p:spPr>
      </p:pic>
      <p:graphicFrame>
        <p:nvGraphicFramePr>
          <p:cNvPr id="148" name="table 148"/>
          <p:cNvGraphicFramePr>
            <a:graphicFrameLocks noGrp="1"/>
          </p:cNvGraphicFramePr>
          <p:nvPr/>
        </p:nvGraphicFramePr>
        <p:xfrm>
          <a:off x="3517900" y="1880870"/>
          <a:ext cx="1755140" cy="292100"/>
        </p:xfrm>
        <a:graphic>
          <a:graphicData uri="http://schemas.openxmlformats.org/drawingml/2006/table">
            <a:tbl>
              <a:tblPr>
                <a:solidFill>
                  <a:srgbClr val="CCEFFF"/>
                </a:solidFill>
              </a:tblPr>
              <a:tblGrid>
                <a:gridCol w="1755140"/>
              </a:tblGrid>
              <a:tr h="285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</a:tbl>
          </a:graphicData>
        </a:graphic>
      </p:graphicFrame>
      <p:sp>
        <p:nvSpPr>
          <p:cNvPr id="150" name="textbox 150"/>
          <p:cNvSpPr/>
          <p:nvPr/>
        </p:nvSpPr>
        <p:spPr>
          <a:xfrm>
            <a:off x="1234041" y="2294839"/>
            <a:ext cx="1704975" cy="688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77000"/>
              </a:lnSpc>
            </a:pPr>
            <a:r>
              <a:rPr sz="1200" b="1" kern="0" spc="0" dirty="0">
                <a:solidFill>
                  <a:srgbClr val="00AFF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指标概念认知不同导致</a:t>
            </a:r>
            <a:r>
              <a:rPr sz="1200" b="1" kern="0" spc="-10" dirty="0">
                <a:solidFill>
                  <a:srgbClr val="00AFF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algn="l" rtl="0" eaLnBrk="0">
              <a:lnSpc>
                <a:spcPts val="2245"/>
              </a:lnSpc>
            </a:pPr>
            <a:r>
              <a:rPr sz="1200" b="1" kern="0" spc="-10" dirty="0">
                <a:solidFill>
                  <a:srgbClr val="00AFF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通不畅，指标无效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r>
              <a:rPr sz="90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算一下销售额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path 152"/>
          <p:cNvSpPr/>
          <p:nvPr/>
        </p:nvSpPr>
        <p:spPr>
          <a:xfrm>
            <a:off x="2910205" y="1744345"/>
            <a:ext cx="667385" cy="621029"/>
          </a:xfrm>
          <a:custGeom>
            <a:avLst/>
            <a:gdLst/>
            <a:ahLst/>
            <a:cxnLst/>
            <a:rect l="0" t="0" r="0" b="0"/>
            <a:pathLst>
              <a:path w="1051" h="977">
                <a:moveTo>
                  <a:pt x="0" y="488"/>
                </a:moveTo>
                <a:cubicBezTo>
                  <a:pt x="0" y="218"/>
                  <a:pt x="235" y="0"/>
                  <a:pt x="525" y="0"/>
                </a:cubicBezTo>
                <a:cubicBezTo>
                  <a:pt x="815" y="0"/>
                  <a:pt x="1051" y="218"/>
                  <a:pt x="1051" y="488"/>
                </a:cubicBezTo>
                <a:cubicBezTo>
                  <a:pt x="1051" y="759"/>
                  <a:pt x="815" y="977"/>
                  <a:pt x="525" y="977"/>
                </a:cubicBezTo>
                <a:cubicBezTo>
                  <a:pt x="235" y="977"/>
                  <a:pt x="0" y="759"/>
                  <a:pt x="0" y="488"/>
                </a:cubicBezTo>
              </a:path>
            </a:pathLst>
          </a:custGeom>
          <a:solidFill>
            <a:srgbClr val="99D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4" name="table 154"/>
          <p:cNvGraphicFramePr>
            <a:graphicFrameLocks noGrp="1"/>
          </p:cNvGraphicFramePr>
          <p:nvPr/>
        </p:nvGraphicFramePr>
        <p:xfrm>
          <a:off x="808354" y="1332865"/>
          <a:ext cx="4782820" cy="3331209"/>
        </p:xfrm>
        <a:graphic>
          <a:graphicData uri="http://schemas.openxmlformats.org/drawingml/2006/table">
            <a:tbl>
              <a:tblPr/>
              <a:tblGrid>
                <a:gridCol w="4782820"/>
              </a:tblGrid>
              <a:tr h="33248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68145" algn="l" rtl="0" eaLnBrk="0">
                        <a:lnSpc>
                          <a:spcPct val="92000"/>
                        </a:lnSpc>
                      </a:pPr>
                      <a:r>
                        <a:rPr sz="1700" b="1" kern="0" spc="90" dirty="0">
                          <a:solidFill>
                            <a:srgbClr val="0083B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指标概念认知偏差</a:t>
                      </a:r>
                      <a:endParaRPr sz="17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9020" algn="l" rtl="0" eaLnBrk="0">
                        <a:lnSpc>
                          <a:spcPct val="85000"/>
                        </a:lnSpc>
                        <a:spcBef>
                          <a:spcPts val="420"/>
                        </a:spcBef>
                      </a:pPr>
                      <a:r>
                        <a:rPr sz="1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VS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780030" algn="l" rtl="0" eaLnBrk="0">
                        <a:lnSpc>
                          <a:spcPct val="141000"/>
                        </a:lnSpc>
                        <a:spcBef>
                          <a:spcPts val="535"/>
                        </a:spcBef>
                      </a:pPr>
                      <a:r>
                        <a:rPr sz="1200" b="1" kern="0" spc="0" dirty="0">
                          <a:solidFill>
                            <a:srgbClr val="00AFF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指标概念认知不同导</a:t>
                      </a:r>
                      <a:r>
                        <a:rPr sz="1200" b="1" kern="0" spc="-10" dirty="0">
                          <a:solidFill>
                            <a:srgbClr val="00AFF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致</a:t>
                      </a:r>
                      <a:r>
                        <a:rPr sz="1200" b="1" kern="0" spc="0" dirty="0">
                          <a:solidFill>
                            <a:srgbClr val="00AFF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</a:t>
                      </a:r>
                      <a:r>
                        <a:rPr sz="1200" b="1" kern="0" spc="-10" dirty="0">
                          <a:solidFill>
                            <a:srgbClr val="00AFF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AFF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落地困难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0030" indent="-1905" algn="l" rtl="0" eaLnBrk="0">
                        <a:lnSpc>
                          <a:spcPct val="152000"/>
                        </a:lnSpc>
                        <a:spcBef>
                          <a:spcPts val="0"/>
                        </a:spcBef>
                      </a:pPr>
                      <a:r>
                        <a:rPr sz="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例：</a:t>
                      </a: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统计周期？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统计范围？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计维度？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6" name="textbox 156"/>
          <p:cNvSpPr/>
          <p:nvPr/>
        </p:nvSpPr>
        <p:spPr>
          <a:xfrm>
            <a:off x="390166" y="661025"/>
            <a:ext cx="6598919" cy="348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540"/>
              </a:lnSpc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指标设计困境——企业指标体系设计面临的典型问题（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续）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68984" y="4695825"/>
            <a:ext cx="4822825" cy="1877059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6009157" y="1434481"/>
            <a:ext cx="143510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600" b="1" kern="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905058" y="4797440"/>
            <a:ext cx="3141979" cy="30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25"/>
              </a:lnSpc>
            </a:pPr>
            <a:r>
              <a:rPr sz="2500" b="1" kern="0" spc="80" baseline="28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600" b="1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</a:t>
            </a: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700" b="1" kern="0" spc="80" dirty="0">
                <a:solidFill>
                  <a:srgbClr val="0083B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缺乏指标标准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1004569" y="5185409"/>
            <a:ext cx="4449825" cy="1191895"/>
            <a:chOff x="0" y="0"/>
            <a:chExt cx="4449825" cy="1191895"/>
          </a:xfrm>
        </p:grpSpPr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449825" cy="1191895"/>
            </a:xfrm>
            <a:prstGeom prst="rect">
              <a:avLst/>
            </a:prstGeom>
          </p:spPr>
        </p:pic>
        <p:sp>
          <p:nvSpPr>
            <p:cNvPr id="166" name="textbox 166"/>
            <p:cNvSpPr/>
            <p:nvPr/>
          </p:nvSpPr>
          <p:spPr>
            <a:xfrm>
              <a:off x="-12700" y="-12700"/>
              <a:ext cx="4475479" cy="12363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700" algn="l" rtl="0" eaLnBrk="0">
                <a:lnSpc>
                  <a:spcPct val="76000"/>
                </a:lnSpc>
                <a:spcBef>
                  <a:spcPts val="5"/>
                </a:spcBef>
              </a:pPr>
              <a:r>
                <a:rPr sz="1400" kern="0" spc="-30" dirty="0">
                  <a:solidFill>
                    <a:srgbClr val="C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Χ</a:t>
              </a:r>
              <a:r>
                <a:rPr sz="1400" kern="0" spc="150" dirty="0">
                  <a:solidFill>
                    <a:srgbClr val="C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无指标标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21945" algn="l" rtl="0" eaLnBrk="0">
                <a:lnSpc>
                  <a:spcPts val="1790"/>
                </a:lnSpc>
              </a:pP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准规范；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9700" algn="l" rtl="0" eaLnBrk="0">
                <a:lnSpc>
                  <a:spcPct val="78000"/>
                </a:lnSpc>
                <a:spcBef>
                  <a:spcPts val="260"/>
                </a:spcBef>
              </a:pPr>
              <a:r>
                <a:rPr sz="1400" kern="0" spc="-30" dirty="0">
                  <a:solidFill>
                    <a:srgbClr val="C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Χ</a:t>
              </a:r>
              <a:r>
                <a:rPr sz="1400" kern="0" spc="150" dirty="0">
                  <a:solidFill>
                    <a:srgbClr val="C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指标标准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20040" algn="l" rtl="0" eaLnBrk="0">
                <a:lnSpc>
                  <a:spcPct val="99000"/>
                </a:lnSpc>
                <a:spcBef>
                  <a:spcPts val="15"/>
                </a:spcBef>
              </a:pP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管理体系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316865" algn="l" rtl="0" eaLnBrk="0">
                <a:lnSpc>
                  <a:spcPts val="1830"/>
                </a:lnSpc>
              </a:pP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缺失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68" name="textbox 168"/>
          <p:cNvSpPr/>
          <p:nvPr/>
        </p:nvSpPr>
        <p:spPr>
          <a:xfrm>
            <a:off x="7624260" y="2047901"/>
            <a:ext cx="433069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700" i="1" kern="0" spc="40" dirty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战略层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700" i="1" kern="0" spc="50" dirty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经营层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7302473" y="1438021"/>
            <a:ext cx="299720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80"/>
              </a:lnSpc>
            </a:pPr>
            <a:r>
              <a:rPr sz="1700" b="1" kern="0" spc="80" dirty="0">
                <a:solidFill>
                  <a:srgbClr val="0083B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指标应用（报表使用）</a:t>
            </a:r>
            <a:r>
              <a:rPr sz="1700" b="1" kern="0" spc="-280" dirty="0">
                <a:solidFill>
                  <a:srgbClr val="0083B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80" dirty="0">
                <a:solidFill>
                  <a:srgbClr val="0083B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效果差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2" name="table 172"/>
          <p:cNvGraphicFramePr>
            <a:graphicFrameLocks noGrp="1"/>
          </p:cNvGraphicFramePr>
          <p:nvPr/>
        </p:nvGraphicFramePr>
        <p:xfrm>
          <a:off x="8453119" y="1891665"/>
          <a:ext cx="366394" cy="1164590"/>
        </p:xfrm>
        <a:graphic>
          <a:graphicData uri="http://schemas.openxmlformats.org/drawingml/2006/table">
            <a:tbl>
              <a:tblPr>
                <a:solidFill>
                  <a:srgbClr val="BEF1E6"/>
                </a:solidFill>
              </a:tblPr>
              <a:tblGrid>
                <a:gridCol w="366394"/>
              </a:tblGrid>
              <a:tr h="1158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 标</a:t>
                      </a:r>
                      <a:r>
                        <a:rPr sz="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矛</a:t>
                      </a:r>
                      <a:r>
                        <a:rPr sz="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盾</a:t>
                      </a: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</a:t>
                      </a: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</a:t>
                      </a:r>
                      <a:r>
                        <a:rPr sz="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eaVert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F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6044564" y="1741170"/>
          <a:ext cx="366395" cy="1315084"/>
        </p:xfrm>
        <a:graphic>
          <a:graphicData uri="http://schemas.openxmlformats.org/drawingml/2006/table">
            <a:tbl>
              <a:tblPr>
                <a:solidFill>
                  <a:srgbClr val="BEF1E6"/>
                </a:solidFill>
              </a:tblPr>
              <a:tblGrid>
                <a:gridCol w="366395"/>
              </a:tblGrid>
              <a:tr h="13087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2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报表缺乏体系化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eaVert">
                    <a:lnL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F1E6"/>
                    </a:solidFill>
                  </a:tcPr>
                </a:tc>
              </a:tr>
            </a:tbl>
          </a:graphicData>
        </a:graphic>
      </p:graphicFrame>
      <p:sp>
        <p:nvSpPr>
          <p:cNvPr id="176" name="textbox 176"/>
          <p:cNvSpPr/>
          <p:nvPr/>
        </p:nvSpPr>
        <p:spPr>
          <a:xfrm>
            <a:off x="7857780" y="2381280"/>
            <a:ext cx="311784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700" i="1" kern="0" spc="50" dirty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经营层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8" name="table 178"/>
          <p:cNvGraphicFramePr>
            <a:graphicFrameLocks noGrp="1"/>
          </p:cNvGraphicFramePr>
          <p:nvPr/>
        </p:nvGraphicFramePr>
        <p:xfrm>
          <a:off x="7258050" y="2174240"/>
          <a:ext cx="1158875" cy="718184"/>
        </p:xfrm>
        <a:graphic>
          <a:graphicData uri="http://schemas.openxmlformats.org/drawingml/2006/table">
            <a:tbl>
              <a:tblPr/>
              <a:tblGrid>
                <a:gridCol w="1158875"/>
              </a:tblGrid>
              <a:tr h="15747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0" name="textbox 180"/>
          <p:cNvSpPr/>
          <p:nvPr/>
        </p:nvSpPr>
        <p:spPr>
          <a:xfrm>
            <a:off x="7978344" y="2667929"/>
            <a:ext cx="309879" cy="11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700" i="1" kern="0" spc="40" dirty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业务层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6454140" y="1895855"/>
            <a:ext cx="1584959" cy="1161288"/>
            <a:chOff x="0" y="0"/>
            <a:chExt cx="1584959" cy="1161288"/>
          </a:xfrm>
        </p:grpSpPr>
        <p:sp>
          <p:nvSpPr>
            <p:cNvPr id="182" name="path 182"/>
            <p:cNvSpPr/>
            <p:nvPr/>
          </p:nvSpPr>
          <p:spPr>
            <a:xfrm>
              <a:off x="0" y="0"/>
              <a:ext cx="1584959" cy="1161288"/>
            </a:xfrm>
            <a:custGeom>
              <a:avLst/>
              <a:gdLst/>
              <a:ahLst/>
              <a:cxnLst/>
              <a:rect l="0" t="0" r="0" b="0"/>
              <a:pathLst>
                <a:path w="2495" h="1828">
                  <a:moveTo>
                    <a:pt x="0" y="1828"/>
                  </a:moveTo>
                  <a:lnTo>
                    <a:pt x="1247" y="0"/>
                  </a:lnTo>
                  <a:lnTo>
                    <a:pt x="2495" y="1828"/>
                  </a:lnTo>
                  <a:lnTo>
                    <a:pt x="0" y="1828"/>
                  </a:lnTo>
                </a:path>
              </a:pathLst>
            </a:custGeom>
            <a:solidFill>
              <a:srgbClr val="CCE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" name="textbox 184"/>
            <p:cNvSpPr/>
            <p:nvPr/>
          </p:nvSpPr>
          <p:spPr>
            <a:xfrm>
              <a:off x="267401" y="167380"/>
              <a:ext cx="605155" cy="937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37515" algn="l" rtl="0" eaLnBrk="0">
                <a:lnSpc>
                  <a:spcPct val="91000"/>
                </a:lnSpc>
              </a:pP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endParaRPr sz="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79425" algn="l" rtl="0" eaLnBrk="0">
                <a:lnSpc>
                  <a:spcPct val="91000"/>
                </a:lnSpc>
                <a:spcBef>
                  <a:spcPts val="745"/>
                </a:spcBef>
              </a:pP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endParaRPr sz="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06375" algn="l" rtl="0" eaLnBrk="0">
                <a:lnSpc>
                  <a:spcPct val="92000"/>
                </a:lnSpc>
                <a:spcBef>
                  <a:spcPts val="870"/>
                </a:spcBef>
              </a:pP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r>
                <a:rPr sz="4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</a:t>
              </a: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endParaRPr sz="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73075" algn="l" rtl="0" eaLnBrk="0">
                <a:lnSpc>
                  <a:spcPct val="91000"/>
                </a:lnSpc>
                <a:spcBef>
                  <a:spcPts val="125"/>
                </a:spcBef>
              </a:pP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endParaRPr sz="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94615" algn="l" rtl="0" eaLnBrk="0">
                <a:lnSpc>
                  <a:spcPct val="91000"/>
                </a:lnSpc>
                <a:spcBef>
                  <a:spcPts val="95"/>
                </a:spcBef>
              </a:pP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endParaRPr sz="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4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报表</a:t>
              </a:r>
              <a:endParaRPr sz="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86" name="picture 18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61011" y="984034"/>
              <a:ext cx="1414577" cy="12700"/>
            </a:xfrm>
            <a:prstGeom prst="rect">
              <a:avLst/>
            </a:prstGeom>
          </p:spPr>
        </p:pic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349021" y="612101"/>
              <a:ext cx="875918" cy="12700"/>
            </a:xfrm>
            <a:prstGeom prst="rect">
              <a:avLst/>
            </a:prstGeom>
          </p:spPr>
        </p:pic>
        <p:pic>
          <p:nvPicPr>
            <p:cNvPr id="190" name="picture 19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457466" y="429640"/>
              <a:ext cx="632015" cy="12700"/>
            </a:xfrm>
            <a:prstGeom prst="rect">
              <a:avLst/>
            </a:prstGeom>
          </p:spPr>
        </p:pic>
        <p:pic>
          <p:nvPicPr>
            <p:cNvPr id="192" name="picture 19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555587" y="278612"/>
              <a:ext cx="442124" cy="12700"/>
            </a:xfrm>
            <a:prstGeom prst="rect">
              <a:avLst/>
            </a:prstGeom>
          </p:spPr>
        </p:pic>
      </p:grpSp>
      <p:pic>
        <p:nvPicPr>
          <p:cNvPr id="194" name="picture 19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995742" y="2335466"/>
            <a:ext cx="184863" cy="742810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7445072" y="2396815"/>
            <a:ext cx="132714" cy="81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</a:t>
            </a:r>
            <a:endParaRPr sz="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8" name="picture 1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307185" y="2335466"/>
            <a:ext cx="184862" cy="74281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6454140" y="1895855"/>
            <a:ext cx="1584959" cy="1161288"/>
            <a:chOff x="0" y="0"/>
            <a:chExt cx="1584959" cy="1161288"/>
          </a:xfrm>
        </p:grpSpPr>
        <p:sp>
          <p:nvSpPr>
            <p:cNvPr id="200" name="textbox 200"/>
            <p:cNvSpPr/>
            <p:nvPr/>
          </p:nvSpPr>
          <p:spPr>
            <a:xfrm>
              <a:off x="-12700" y="-12700"/>
              <a:ext cx="1610360" cy="11868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6875" algn="l" rtl="0" eaLnBrk="0">
                <a:lnSpc>
                  <a:spcPct val="86000"/>
                </a:lnSpc>
              </a:pPr>
              <a:r>
                <a:rPr sz="1800" kern="0" spc="-130" dirty="0">
                  <a:solidFill>
                    <a:srgbClr val="02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缺乏体系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02" name="textbox 202"/>
          <p:cNvSpPr/>
          <p:nvPr/>
        </p:nvSpPr>
        <p:spPr>
          <a:xfrm>
            <a:off x="8089469" y="2939709"/>
            <a:ext cx="309879" cy="11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700" i="1" kern="0" spc="40" dirty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业务层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7526391" y="2653000"/>
            <a:ext cx="132714" cy="81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</a:t>
            </a:r>
            <a:endParaRPr sz="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846068" y="2530423"/>
            <a:ext cx="833595" cy="223774"/>
          </a:xfrm>
          <a:prstGeom prst="rect">
            <a:avLst/>
          </a:prstGeom>
        </p:spPr>
      </p:pic>
      <p:graphicFrame>
        <p:nvGraphicFramePr>
          <p:cNvPr id="208" name="table 208"/>
          <p:cNvGraphicFramePr>
            <a:graphicFrameLocks noGrp="1"/>
          </p:cNvGraphicFramePr>
          <p:nvPr/>
        </p:nvGraphicFramePr>
        <p:xfrm>
          <a:off x="8858250" y="2199640"/>
          <a:ext cx="2422525" cy="296545"/>
        </p:xfrm>
        <a:graphic>
          <a:graphicData uri="http://schemas.openxmlformats.org/drawingml/2006/table">
            <a:tbl>
              <a:tblPr/>
              <a:tblGrid>
                <a:gridCol w="408304"/>
                <a:gridCol w="401320"/>
                <a:gridCol w="401954"/>
                <a:gridCol w="401320"/>
                <a:gridCol w="401319"/>
                <a:gridCol w="408305"/>
              </a:tblGrid>
              <a:tr h="1670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155" algn="l" rtl="0" eaLnBrk="0">
                        <a:lnSpc>
                          <a:spcPct val="86000"/>
                        </a:lnSpc>
                      </a:pPr>
                      <a:r>
                        <a:rPr sz="900" kern="0" spc="-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序号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9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维度1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9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维度2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26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指标C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26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指标D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16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指标A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FFF"/>
                    </a:solidFill>
                  </a:tcPr>
                </a:tc>
              </a:tr>
              <a:tr h="12953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0" name="textbox 210"/>
          <p:cNvSpPr/>
          <p:nvPr/>
        </p:nvSpPr>
        <p:spPr>
          <a:xfrm>
            <a:off x="6002172" y="3348603"/>
            <a:ext cx="3602354" cy="29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080"/>
              </a:lnSpc>
            </a:pPr>
            <a:r>
              <a:rPr sz="2500" b="1" kern="0" spc="80" baseline="26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1600" b="1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</a:t>
            </a: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700" b="1" kern="0" spc="80" dirty="0">
                <a:solidFill>
                  <a:srgbClr val="0083B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指标管理待完善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8858250" y="1864995"/>
          <a:ext cx="2422525" cy="273050"/>
        </p:xfrm>
        <a:graphic>
          <a:graphicData uri="http://schemas.openxmlformats.org/drawingml/2006/table">
            <a:tbl>
              <a:tblPr/>
              <a:tblGrid>
                <a:gridCol w="408304"/>
                <a:gridCol w="401320"/>
                <a:gridCol w="401954"/>
                <a:gridCol w="401320"/>
                <a:gridCol w="401319"/>
                <a:gridCol w="408305"/>
              </a:tblGrid>
              <a:tr h="1568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1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900" kern="0" spc="-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序号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8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9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维度1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8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9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9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维度2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8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70" algn="l" rtl="0" eaLnBrk="0">
                        <a:lnSpc>
                          <a:spcPct val="69000"/>
                        </a:lnSpc>
                        <a:tabLst>
                          <a:tab pos="47625" algn="l"/>
                        </a:tabLst>
                      </a:pPr>
                      <a:r>
                        <a:rPr sz="9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9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指标C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8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260" algn="l" rtl="0" eaLnBrk="0">
                        <a:lnSpc>
                          <a:spcPct val="85000"/>
                        </a:lnSpc>
                      </a:pPr>
                      <a:r>
                        <a:rPr sz="9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指标D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8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070" algn="l" rtl="0" eaLnBrk="0">
                        <a:lnSpc>
                          <a:spcPct val="85000"/>
                        </a:lnSpc>
                      </a:pPr>
                      <a:r>
                        <a:rPr sz="900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指标E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8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5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5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5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5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5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65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DEB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4" name="picture 2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0078084" y="1965451"/>
            <a:ext cx="19050" cy="50038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0078084" y="1828165"/>
            <a:ext cx="801369" cy="755014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9332048" y="2202179"/>
            <a:ext cx="752423" cy="458470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989320" y="4802504"/>
            <a:ext cx="5364479" cy="1782445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6434328" y="5702808"/>
            <a:ext cx="1492250" cy="364490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5275" algn="l" rtl="0" eaLnBrk="0">
              <a:lnSpc>
                <a:spcPct val="85000"/>
              </a:lnSpc>
              <a:spcBef>
                <a:spcPts val="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设计指标体系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7926323" y="5341620"/>
            <a:ext cx="1493519" cy="365759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005" algn="l" rtl="0" eaLnBrk="0">
              <a:lnSpc>
                <a:spcPct val="86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构建指标标准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774688" y="5439613"/>
            <a:ext cx="4248277" cy="896340"/>
          </a:xfrm>
          <a:prstGeom prst="rect">
            <a:avLst/>
          </a:prstGeom>
        </p:spPr>
      </p:pic>
      <p:sp>
        <p:nvSpPr>
          <p:cNvPr id="228" name="rect 228"/>
          <p:cNvSpPr/>
          <p:nvPr/>
        </p:nvSpPr>
        <p:spPr>
          <a:xfrm>
            <a:off x="0" y="0"/>
            <a:ext cx="12192000" cy="217931"/>
          </a:xfrm>
          <a:prstGeom prst="rect">
            <a:avLst/>
          </a:prstGeom>
          <a:solidFill>
            <a:srgbClr val="00AF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0" name="textbox 230"/>
          <p:cNvSpPr/>
          <p:nvPr/>
        </p:nvSpPr>
        <p:spPr>
          <a:xfrm>
            <a:off x="6194697" y="4947396"/>
            <a:ext cx="734059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400" b="1" u="sng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9418319" y="4994148"/>
            <a:ext cx="1493519" cy="365759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685" algn="l" rtl="0" eaLnBrk="0">
              <a:lnSpc>
                <a:spcPct val="87000"/>
              </a:lnSpc>
              <a:spcBef>
                <a:spcPts val="5"/>
              </a:spcBef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完善指标管理机制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3897325" y="1900809"/>
            <a:ext cx="999489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20"/>
              </a:lnSpc>
            </a:pPr>
            <a:r>
              <a:rPr sz="1200" b="1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技术/数据部门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1789887" y="1929307"/>
            <a:ext cx="629284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200" b="1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业务部门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8" name="table 238"/>
          <p:cNvGraphicFramePr>
            <a:graphicFrameLocks noGrp="1"/>
          </p:cNvGraphicFramePr>
          <p:nvPr/>
        </p:nvGraphicFramePr>
        <p:xfrm>
          <a:off x="7506969" y="4299584"/>
          <a:ext cx="1123950" cy="307975"/>
        </p:xfrm>
        <a:graphic>
          <a:graphicData uri="http://schemas.openxmlformats.org/drawingml/2006/table">
            <a:tbl>
              <a:tblPr/>
              <a:tblGrid>
                <a:gridCol w="1123950"/>
              </a:tblGrid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5925" algn="l" rtl="0" eaLnBrk="0">
                        <a:lnSpc>
                          <a:spcPct val="86000"/>
                        </a:lnSpc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协同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40" name="picture 2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401925" y="4105773"/>
            <a:ext cx="4565175" cy="147710"/>
          </a:xfrm>
          <a:prstGeom prst="rect">
            <a:avLst/>
          </a:prstGeom>
        </p:spPr>
      </p:pic>
      <p:graphicFrame>
        <p:nvGraphicFramePr>
          <p:cNvPr id="242" name="table 242"/>
          <p:cNvGraphicFramePr>
            <a:graphicFrameLocks noGrp="1"/>
          </p:cNvGraphicFramePr>
          <p:nvPr/>
        </p:nvGraphicFramePr>
        <p:xfrm>
          <a:off x="8759825" y="4299584"/>
          <a:ext cx="1123950" cy="307975"/>
        </p:xfrm>
        <a:graphic>
          <a:graphicData uri="http://schemas.openxmlformats.org/drawingml/2006/table">
            <a:tbl>
              <a:tblPr/>
              <a:tblGrid>
                <a:gridCol w="1123950"/>
              </a:tblGrid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33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6" name="textbox 246"/>
          <p:cNvSpPr/>
          <p:nvPr/>
        </p:nvSpPr>
        <p:spPr>
          <a:xfrm>
            <a:off x="10009631" y="2660904"/>
            <a:ext cx="1264919" cy="356870"/>
          </a:xfrm>
          <a:prstGeom prst="rect">
            <a:avLst/>
          </a:prstGeom>
          <a:solidFill>
            <a:srgbClr val="CCE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55880" algn="l" rtl="0" eaLnBrk="0">
              <a:lnSpc>
                <a:spcPct val="90000"/>
              </a:lnSpc>
              <a:spcBef>
                <a:spcPts val="5"/>
              </a:spcBef>
            </a:pPr>
            <a:r>
              <a:rPr sz="1100" kern="0" spc="-50" dirty="0">
                <a:solidFill>
                  <a:srgbClr val="17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数据源不同</a:t>
            </a:r>
            <a:r>
              <a:rPr sz="1100" kern="0" spc="0" dirty="0">
                <a:solidFill>
                  <a:srgbClr val="17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100" kern="0" spc="-70" dirty="0">
                <a:solidFill>
                  <a:srgbClr val="0C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导致数据矛盾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0419588" y="784860"/>
            <a:ext cx="1264919" cy="315467"/>
          </a:xfrm>
          <a:prstGeom prst="rect">
            <a:avLst/>
          </a:prstGeom>
        </p:spPr>
      </p:pic>
      <p:graphicFrame>
        <p:nvGraphicFramePr>
          <p:cNvPr id="250" name="table 250"/>
          <p:cNvGraphicFramePr>
            <a:graphicFrameLocks noGrp="1"/>
          </p:cNvGraphicFramePr>
          <p:nvPr/>
        </p:nvGraphicFramePr>
        <p:xfrm>
          <a:off x="9999344" y="4299584"/>
          <a:ext cx="1123950" cy="307975"/>
        </p:xfrm>
        <a:graphic>
          <a:graphicData uri="http://schemas.openxmlformats.org/drawingml/2006/table">
            <a:tbl>
              <a:tblPr/>
              <a:tblGrid>
                <a:gridCol w="1123950"/>
              </a:tblGrid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035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流程规范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AF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52" name="picture 2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224769" y="1828165"/>
            <a:ext cx="295910" cy="755014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0860404" y="2218055"/>
            <a:ext cx="19050" cy="152400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0641965" y="2202179"/>
            <a:ext cx="435609" cy="464311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808354" y="1332865"/>
            <a:ext cx="416560" cy="416559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753021" y="6456082"/>
            <a:ext cx="837564" cy="13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25"/>
              </a:lnSpc>
            </a:pP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1100" kern="0" spc="9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1100" kern="0" spc="8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1100" kern="0" spc="9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kern="0" spc="10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1100" kern="0" spc="7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948842" y="1431538"/>
            <a:ext cx="14351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600" b="1" kern="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12004192" y="6457314"/>
            <a:ext cx="10922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200" kern="0" spc="-10" dirty="0">
                <a:solidFill>
                  <a:srgbClr val="89898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611187" y="6456082"/>
            <a:ext cx="114935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900" kern="0" spc="40" dirty="0">
                <a:solidFill>
                  <a:srgbClr val="D3D4D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8" name="rect 268"/>
          <p:cNvSpPr/>
          <p:nvPr/>
        </p:nvSpPr>
        <p:spPr>
          <a:xfrm>
            <a:off x="10078084" y="2075179"/>
            <a:ext cx="19050" cy="63500"/>
          </a:xfrm>
          <a:prstGeom prst="rect">
            <a:avLst/>
          </a:prstGeom>
          <a:solidFill>
            <a:srgbClr val="C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I3MjczNjJlOTJiNDA5YWE0NTE5NTY1OGY5NWJkNTI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WPS 演示</Application>
  <PresentationFormat/>
  <Paragraphs>270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彭志谭</cp:lastModifiedBy>
  <cp:revision>5</cp:revision>
  <dcterms:created xsi:type="dcterms:W3CDTF">2024-09-09T02:38:46Z</dcterms:created>
  <dcterms:modified xsi:type="dcterms:W3CDTF">2024-09-09T06:09:12Z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2024-09-09T10:38:28Z</vt:filetime>
  </property>
  <property fmtid="{D5CDD505-2E9C-101B-9397-08002B2CF9AE}" pid="4" name="ICV">
    <vt:lpwstr>B7133E09F24E47D08378449E4D773A5C_12</vt:lpwstr>
  </property>
  <property fmtid="{D5CDD505-2E9C-101B-9397-08002B2CF9AE}" pid="5" name="KSOProductBuildVer">
    <vt:lpwstr>2052-12.1.0.17827</vt:lpwstr>
  </property>
</Properties>
</file>
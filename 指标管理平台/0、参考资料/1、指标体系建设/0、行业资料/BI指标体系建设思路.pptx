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6"/>
  </p:notesMasterIdLst>
  <p:handoutMasterIdLst>
    <p:handoutMasterId r:id="rId31"/>
  </p:handoutMasterIdLst>
  <p:sldIdLst>
    <p:sldId id="286" r:id="rId4"/>
    <p:sldId id="529" r:id="rId5"/>
    <p:sldId id="950" r:id="rId7"/>
    <p:sldId id="933" r:id="rId8"/>
    <p:sldId id="944" r:id="rId9"/>
    <p:sldId id="942" r:id="rId10"/>
    <p:sldId id="945" r:id="rId11"/>
    <p:sldId id="946" r:id="rId12"/>
    <p:sldId id="947" r:id="rId13"/>
    <p:sldId id="948" r:id="rId14"/>
    <p:sldId id="951" r:id="rId15"/>
    <p:sldId id="931" r:id="rId16"/>
    <p:sldId id="932" r:id="rId17"/>
    <p:sldId id="958" r:id="rId18"/>
    <p:sldId id="952" r:id="rId19"/>
    <p:sldId id="957" r:id="rId20"/>
    <p:sldId id="954" r:id="rId21"/>
    <p:sldId id="955" r:id="rId22"/>
    <p:sldId id="959" r:id="rId23"/>
    <p:sldId id="960" r:id="rId24"/>
    <p:sldId id="982" r:id="rId25"/>
    <p:sldId id="981" r:id="rId26"/>
    <p:sldId id="984" r:id="rId27"/>
    <p:sldId id="983" r:id="rId28"/>
    <p:sldId id="985" r:id="rId29"/>
    <p:sldId id="686" r:id="rId30"/>
  </p:sldIdLst>
  <p:sldSz cx="9144000" cy="5143500" type="screen16x9"/>
  <p:notesSz cx="6858000" cy="9144000"/>
  <p:defaultTextStyle>
    <a:defPPr>
      <a:defRPr lang="zh-CN"/>
    </a:defPPr>
    <a:lvl1pPr marL="0" lvl="0" indent="0" algn="l" defTabSz="143319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20" kern="1200">
        <a:solidFill>
          <a:schemeClr val="tx1"/>
        </a:solidFill>
        <a:latin typeface="Arial" panose="020B0604020202090204" pitchFamily="34" charset="0"/>
        <a:ea typeface="黑体" charset="-122"/>
        <a:cs typeface="+mn-cs"/>
      </a:defRPr>
    </a:lvl1pPr>
    <a:lvl2pPr marL="716915" lvl="1" indent="0" algn="l" defTabSz="143319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20" kern="1200">
        <a:solidFill>
          <a:schemeClr val="tx1"/>
        </a:solidFill>
        <a:latin typeface="Arial" panose="020B0604020202090204" pitchFamily="34" charset="0"/>
        <a:ea typeface="黑体" charset="-122"/>
        <a:cs typeface="+mn-cs"/>
      </a:defRPr>
    </a:lvl2pPr>
    <a:lvl3pPr marL="1434465" lvl="2" indent="0" algn="l" defTabSz="143319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20" kern="1200">
        <a:solidFill>
          <a:schemeClr val="tx1"/>
        </a:solidFill>
        <a:latin typeface="Arial" panose="020B0604020202090204" pitchFamily="34" charset="0"/>
        <a:ea typeface="黑体" charset="-122"/>
        <a:cs typeface="+mn-cs"/>
      </a:defRPr>
    </a:lvl3pPr>
    <a:lvl4pPr marL="2150745" lvl="3" indent="0" algn="l" defTabSz="143319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20" kern="1200">
        <a:solidFill>
          <a:schemeClr val="tx1"/>
        </a:solidFill>
        <a:latin typeface="Arial" panose="020B0604020202090204" pitchFamily="34" charset="0"/>
        <a:ea typeface="黑体" charset="-122"/>
        <a:cs typeface="+mn-cs"/>
      </a:defRPr>
    </a:lvl4pPr>
    <a:lvl5pPr marL="2868295" lvl="4" indent="0" algn="l" defTabSz="143319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20" kern="1200">
        <a:solidFill>
          <a:schemeClr val="tx1"/>
        </a:solidFill>
        <a:latin typeface="Arial" panose="020B0604020202090204" pitchFamily="34" charset="0"/>
        <a:ea typeface="黑体" charset="-122"/>
        <a:cs typeface="+mn-cs"/>
      </a:defRPr>
    </a:lvl5pPr>
    <a:lvl6pPr marL="871220" lvl="5" indent="0" algn="l" defTabSz="143319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20" kern="1200">
        <a:solidFill>
          <a:schemeClr val="tx1"/>
        </a:solidFill>
        <a:latin typeface="Arial" panose="020B0604020202090204" pitchFamily="34" charset="0"/>
        <a:ea typeface="黑体" charset="-122"/>
        <a:cs typeface="+mn-cs"/>
      </a:defRPr>
    </a:lvl6pPr>
    <a:lvl7pPr marL="1045210" lvl="6" indent="0" algn="l" defTabSz="143319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20" kern="1200">
        <a:solidFill>
          <a:schemeClr val="tx1"/>
        </a:solidFill>
        <a:latin typeface="Arial" panose="020B0604020202090204" pitchFamily="34" charset="0"/>
        <a:ea typeface="黑体" charset="-122"/>
        <a:cs typeface="+mn-cs"/>
      </a:defRPr>
    </a:lvl7pPr>
    <a:lvl8pPr marL="1219200" lvl="7" indent="0" algn="l" defTabSz="143319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20" kern="1200">
        <a:solidFill>
          <a:schemeClr val="tx1"/>
        </a:solidFill>
        <a:latin typeface="Arial" panose="020B0604020202090204" pitchFamily="34" charset="0"/>
        <a:ea typeface="黑体" charset="-122"/>
        <a:cs typeface="+mn-cs"/>
      </a:defRPr>
    </a:lvl8pPr>
    <a:lvl9pPr marL="1393825" lvl="8" indent="0" algn="l" defTabSz="1433195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20" kern="1200">
        <a:solidFill>
          <a:schemeClr val="tx1"/>
        </a:solidFill>
        <a:latin typeface="Arial" panose="020B0604020202090204" pitchFamily="34" charset="0"/>
        <a:ea typeface="黑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8dd91eb-736d-4600-8084-8f0c34103f04}">
          <p14:sldIdLst>
            <p14:sldId id="286"/>
            <p14:sldId id="529"/>
            <p14:sldId id="950"/>
            <p14:sldId id="933"/>
            <p14:sldId id="944"/>
            <p14:sldId id="942"/>
            <p14:sldId id="945"/>
            <p14:sldId id="946"/>
            <p14:sldId id="947"/>
            <p14:sldId id="948"/>
            <p14:sldId id="951"/>
            <p14:sldId id="931"/>
            <p14:sldId id="932"/>
            <p14:sldId id="958"/>
            <p14:sldId id="952"/>
            <p14:sldId id="957"/>
            <p14:sldId id="954"/>
            <p14:sldId id="955"/>
            <p14:sldId id="959"/>
            <p14:sldId id="960"/>
            <p14:sldId id="982"/>
            <p14:sldId id="981"/>
            <p14:sldId id="984"/>
            <p14:sldId id="983"/>
            <p14:sldId id="985"/>
          </p14:sldIdLst>
        </p14:section>
        <p14:section name="结束" id="{50e59d5d-32d4-47c4-acea-b18b36be1ed1}">
          <p14:sldIdLst>
            <p14:sldId id="6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11" userDrawn="1">
          <p15:clr>
            <a:srgbClr val="A4A3A4"/>
          </p15:clr>
        </p15:guide>
        <p15:guide id="2" pos="294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3245775142@qq.com" initials="3" lastIdx="1" clrIdx="0"/>
  <p:cmAuthor id="0" name="JBMPRO" initials="J" lastIdx="1" clrIdx="0"/>
  <p:cmAuthor id="2" name="wllinjw40" initials="w" lastIdx="0" clrIdx="1"/>
  <p:cmAuthor id="3" name="xuyihong" initials="x" lastIdx="1" clrIdx="2"/>
  <p:cmAuthor id="4" name="梁" initials="梁" lastIdx="6" clrIdx="3"/>
  <p:cmAuthor id="5" name="张" initials="张" lastIdx="2" clrIdx="4"/>
  <p:cmAuthor id="6" name="蒙" initials="蒙" lastIdx="1" clrIdx="5"/>
  <p:cmAuthor id="15" name="Author" initials="A" lastIdx="0" clrIdx="1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00000"/>
    <a:srgbClr val="2A63F6"/>
    <a:srgbClr val="A9D18E"/>
    <a:srgbClr val="6BB76D"/>
    <a:srgbClr val="4E67C8"/>
    <a:srgbClr val="7185D3"/>
    <a:srgbClr val="B4C7E7"/>
    <a:srgbClr val="60B5CC"/>
    <a:srgbClr val="F0A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86"/>
  </p:normalViewPr>
  <p:slideViewPr>
    <p:cSldViewPr showGuides="1">
      <p:cViewPr varScale="1">
        <p:scale>
          <a:sx n="105" d="100"/>
          <a:sy n="105" d="100"/>
        </p:scale>
        <p:origin x="102" y="414"/>
      </p:cViewPr>
      <p:guideLst>
        <p:guide orient="horz" pos="1711"/>
        <p:guide pos="29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9E97983C-4A2D-4EA7-A7E7-AB5D628BB08C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331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99F95438-0172-4507-BFF9-F177DE98AF8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347980" rtl="0" eaLnBrk="1" latinLnBrk="0" hangingPunct="1">
      <a:defRPr sz="455" kern="1200">
        <a:solidFill>
          <a:schemeClr val="tx1"/>
        </a:solidFill>
        <a:latin typeface="+mn-lt"/>
        <a:ea typeface="+mn-ea"/>
        <a:cs typeface="+mn-cs"/>
      </a:defRPr>
    </a:lvl1pPr>
    <a:lvl2pPr marL="173990" algn="l" defTabSz="347980" rtl="0" eaLnBrk="1" latinLnBrk="0" hangingPunct="1">
      <a:defRPr sz="455" kern="1200">
        <a:solidFill>
          <a:schemeClr val="tx1"/>
        </a:solidFill>
        <a:latin typeface="+mn-lt"/>
        <a:ea typeface="+mn-ea"/>
        <a:cs typeface="+mn-cs"/>
      </a:defRPr>
    </a:lvl2pPr>
    <a:lvl3pPr marL="348615" algn="l" defTabSz="347980" rtl="0" eaLnBrk="1" latinLnBrk="0" hangingPunct="1">
      <a:defRPr sz="455" kern="1200">
        <a:solidFill>
          <a:schemeClr val="tx1"/>
        </a:solidFill>
        <a:latin typeface="+mn-lt"/>
        <a:ea typeface="+mn-ea"/>
        <a:cs typeface="+mn-cs"/>
      </a:defRPr>
    </a:lvl3pPr>
    <a:lvl4pPr marL="522605" algn="l" defTabSz="347980" rtl="0" eaLnBrk="1" latinLnBrk="0" hangingPunct="1">
      <a:defRPr sz="455" kern="1200">
        <a:solidFill>
          <a:schemeClr val="tx1"/>
        </a:solidFill>
        <a:latin typeface="+mn-lt"/>
        <a:ea typeface="+mn-ea"/>
        <a:cs typeface="+mn-cs"/>
      </a:defRPr>
    </a:lvl4pPr>
    <a:lvl5pPr marL="696595" algn="l" defTabSz="347980" rtl="0" eaLnBrk="1" latinLnBrk="0" hangingPunct="1">
      <a:defRPr sz="455" kern="1200">
        <a:solidFill>
          <a:schemeClr val="tx1"/>
        </a:solidFill>
        <a:latin typeface="+mn-lt"/>
        <a:ea typeface="+mn-ea"/>
        <a:cs typeface="+mn-cs"/>
      </a:defRPr>
    </a:lvl5pPr>
    <a:lvl6pPr marL="871220" algn="l" defTabSz="347980" rtl="0" eaLnBrk="1" latinLnBrk="0" hangingPunct="1">
      <a:defRPr sz="455" kern="1200">
        <a:solidFill>
          <a:schemeClr val="tx1"/>
        </a:solidFill>
        <a:latin typeface="+mn-lt"/>
        <a:ea typeface="+mn-ea"/>
        <a:cs typeface="+mn-cs"/>
      </a:defRPr>
    </a:lvl6pPr>
    <a:lvl7pPr marL="1045210" algn="l" defTabSz="347980" rtl="0" eaLnBrk="1" latinLnBrk="0" hangingPunct="1">
      <a:defRPr sz="455" kern="1200">
        <a:solidFill>
          <a:schemeClr val="tx1"/>
        </a:solidFill>
        <a:latin typeface="+mn-lt"/>
        <a:ea typeface="+mn-ea"/>
        <a:cs typeface="+mn-cs"/>
      </a:defRPr>
    </a:lvl7pPr>
    <a:lvl8pPr marL="1219200" algn="l" defTabSz="347980" rtl="0" eaLnBrk="1" latinLnBrk="0" hangingPunct="1">
      <a:defRPr sz="455" kern="1200">
        <a:solidFill>
          <a:schemeClr val="tx1"/>
        </a:solidFill>
        <a:latin typeface="+mn-lt"/>
        <a:ea typeface="+mn-ea"/>
        <a:cs typeface="+mn-cs"/>
      </a:defRPr>
    </a:lvl8pPr>
    <a:lvl9pPr marL="1393825" algn="l" defTabSz="347980" rtl="0" eaLnBrk="1" latinLnBrk="0" hangingPunct="1">
      <a:defRPr sz="4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使用对象、业务</a:t>
            </a:r>
            <a:r>
              <a:rPr lang="zh-CN" altLang="en-US"/>
              <a:t>价值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yyyy\Desktop\辅助图形2.png"/>
          <p:cNvPicPr>
            <a:picLocks noChangeAspect="1"/>
          </p:cNvPicPr>
          <p:nvPr userDrawn="1"/>
        </p:nvPicPr>
        <p:blipFill>
          <a:blip r:embed="rId2"/>
          <a:srcRect r="54395" b="48161"/>
          <a:stretch>
            <a:fillRect/>
          </a:stretch>
        </p:blipFill>
        <p:spPr>
          <a:xfrm>
            <a:off x="5200587" y="2125384"/>
            <a:ext cx="3943413" cy="30181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2" name="矩形 22"/>
          <p:cNvSpPr/>
          <p:nvPr userDrawn="1"/>
        </p:nvSpPr>
        <p:spPr>
          <a:xfrm>
            <a:off x="673751" y="4235646"/>
            <a:ext cx="184731" cy="2387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fontAlgn="base">
              <a:lnSpc>
                <a:spcPct val="150000"/>
              </a:lnSpc>
            </a:pPr>
            <a:endParaRPr lang="en-US" altLang="zh-CN" sz="635" b="1" strike="noStrike" noProof="1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3" hasCustomPrompt="1"/>
          </p:nvPr>
        </p:nvSpPr>
        <p:spPr>
          <a:xfrm>
            <a:off x="674077" y="1032137"/>
            <a:ext cx="4697544" cy="8434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 smtClean="0"/>
              <a:t>标题</a:t>
            </a:r>
            <a:endParaRPr lang="zh-CN" altLang="en-US" strike="noStrike" noProof="1" smtClean="0"/>
          </a:p>
        </p:txBody>
      </p:sp>
      <p:sp>
        <p:nvSpPr>
          <p:cNvPr id="21" name="内容占位符 13"/>
          <p:cNvSpPr>
            <a:spLocks noGrp="1"/>
          </p:cNvSpPr>
          <p:nvPr>
            <p:ph sz="quarter" idx="15" hasCustomPrompt="1"/>
          </p:nvPr>
        </p:nvSpPr>
        <p:spPr>
          <a:xfrm>
            <a:off x="674077" y="1875633"/>
            <a:ext cx="4697544" cy="4124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 smtClean="0"/>
              <a:t>副标题</a:t>
            </a:r>
            <a:endParaRPr lang="zh-CN" altLang="en-US" strike="noStrike" noProof="1" smtClean="0"/>
          </a:p>
        </p:txBody>
      </p:sp>
      <p:sp>
        <p:nvSpPr>
          <p:cNvPr id="22" name="内容占位符 13"/>
          <p:cNvSpPr>
            <a:spLocks noGrp="1"/>
          </p:cNvSpPr>
          <p:nvPr>
            <p:ph sz="quarter" idx="16" hasCustomPrompt="1"/>
          </p:nvPr>
        </p:nvSpPr>
        <p:spPr>
          <a:xfrm>
            <a:off x="674077" y="2746436"/>
            <a:ext cx="4697544" cy="11032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代用名</a:t>
            </a:r>
            <a:endParaRPr lang="en-US" altLang="zh-CN" strike="noStrike" noProof="1" smtClean="0"/>
          </a:p>
          <a:p>
            <a:pPr lvl="0" fontAlgn="auto"/>
            <a:r>
              <a:rPr lang="zh-CN" altLang="en-US" strike="noStrike" noProof="1" smtClean="0"/>
              <a:t>部门</a:t>
            </a:r>
            <a:endParaRPr lang="en-US" altLang="zh-CN" strike="noStrike" noProof="1" smtClean="0"/>
          </a:p>
          <a:p>
            <a:pPr lvl="0" fontAlgn="auto"/>
            <a:r>
              <a:rPr lang="en-US" altLang="zh-CN" strike="noStrike" noProof="1" smtClean="0"/>
              <a:t>2018.01.01</a:t>
            </a:r>
            <a:endParaRPr lang="zh-CN" altLang="en-US" strike="noStrike" noProof="1" smtClean="0"/>
          </a:p>
        </p:txBody>
      </p:sp>
      <p:sp>
        <p:nvSpPr>
          <p:cNvPr id="26" name="内容占位符 13"/>
          <p:cNvSpPr>
            <a:spLocks noGrp="1"/>
          </p:cNvSpPr>
          <p:nvPr>
            <p:ph sz="quarter" idx="17" hasCustomPrompt="1"/>
          </p:nvPr>
        </p:nvSpPr>
        <p:spPr>
          <a:xfrm>
            <a:off x="674077" y="4127651"/>
            <a:ext cx="4697544" cy="3012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 smtClean="0"/>
              <a:t>广州视源电子科技股份有限公司</a:t>
            </a:r>
            <a:endParaRPr lang="en-US" altLang="zh-CN" strike="noStrike" noProof="1" smtClean="0"/>
          </a:p>
          <a:p>
            <a:pPr lvl="0" fontAlgn="auto"/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_较多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3" y="62832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1292" y="959490"/>
            <a:ext cx="8000981" cy="32634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260985" indent="0">
              <a:lnSpc>
                <a:spcPct val="150000"/>
              </a:lnSpc>
              <a:spcAft>
                <a:spcPts val="0"/>
              </a:spcAft>
              <a:buNone/>
              <a:defRPr sz="156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522605" indent="0">
              <a:lnSpc>
                <a:spcPct val="150000"/>
              </a:lnSpc>
              <a:spcAft>
                <a:spcPts val="0"/>
              </a:spcAft>
              <a:buNone/>
              <a:defRPr sz="156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783590" indent="0">
              <a:lnSpc>
                <a:spcPct val="150000"/>
              </a:lnSpc>
              <a:spcAft>
                <a:spcPts val="0"/>
              </a:spcAft>
              <a:buNone/>
              <a:defRPr sz="156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 smtClean="0"/>
              <a:t>内容编辑处</a:t>
            </a:r>
            <a:endParaRPr lang="zh-CN" altLang="en-US" strike="noStrike" noProof="1" smtClean="0"/>
          </a:p>
          <a:p>
            <a:pPr lvl="0" fontAlgn="auto"/>
            <a:endParaRPr lang="zh-CN" altLang="en-US" strike="noStrike" noProof="1" smtClean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7995" y="267970"/>
            <a:ext cx="7614920" cy="34099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 smtClean="0"/>
              <a:t>标题</a:t>
            </a:r>
            <a:r>
              <a:rPr lang="en-US" altLang="zh-CN" strike="noStrike" noProof="1" smtClean="0"/>
              <a:t>|</a:t>
            </a:r>
            <a:r>
              <a:rPr lang="zh-CN" altLang="en-US" strike="noStrike" noProof="1" smtClean="0"/>
              <a:t>副标题</a:t>
            </a:r>
            <a:endParaRPr lang="en-US" strike="noStrike" noProof="1"/>
          </a:p>
        </p:txBody>
      </p:sp>
      <p:pic>
        <p:nvPicPr>
          <p:cNvPr id="2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458903" y="628324"/>
            <a:ext cx="8280000" cy="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2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535265" y="940743"/>
            <a:ext cx="3820720" cy="325155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2" name="图片占位符 8"/>
          <p:cNvSpPr>
            <a:spLocks noGrp="1"/>
          </p:cNvSpPr>
          <p:nvPr>
            <p:ph type="pic" sz="quarter" idx="14"/>
          </p:nvPr>
        </p:nvSpPr>
        <p:spPr>
          <a:xfrm>
            <a:off x="4666975" y="940742"/>
            <a:ext cx="3865299" cy="325155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3" y="62832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5" y="267970"/>
            <a:ext cx="7614920" cy="34099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 smtClean="0"/>
              <a:t>标题</a:t>
            </a:r>
            <a:r>
              <a:rPr lang="en-US" altLang="zh-CN" strike="noStrike" noProof="1" smtClean="0"/>
              <a:t>|</a:t>
            </a:r>
            <a:r>
              <a:rPr lang="zh-CN" altLang="en-US" strike="noStrike" noProof="1" smtClean="0"/>
              <a:t>副标题</a:t>
            </a:r>
            <a:endParaRPr lang="en-US" strike="noStrike" noProof="1"/>
          </a:p>
        </p:txBody>
      </p:sp>
      <p:pic>
        <p:nvPicPr>
          <p:cNvPr id="3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458903" y="628324"/>
            <a:ext cx="8280000" cy="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3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533589" y="1331103"/>
            <a:ext cx="2638226" cy="23034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20"/>
          </p:nvPr>
        </p:nvSpPr>
        <p:spPr>
          <a:xfrm>
            <a:off x="3213819" y="1331103"/>
            <a:ext cx="2638226" cy="23034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21"/>
          </p:nvPr>
        </p:nvSpPr>
        <p:spPr>
          <a:xfrm>
            <a:off x="5894049" y="1331103"/>
            <a:ext cx="2638226" cy="23034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3" y="62832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7995" y="267970"/>
            <a:ext cx="7614920" cy="34099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 smtClean="0"/>
              <a:t>标题</a:t>
            </a:r>
            <a:r>
              <a:rPr lang="en-US" altLang="zh-CN" strike="noStrike" noProof="1" smtClean="0"/>
              <a:t>|</a:t>
            </a:r>
            <a:r>
              <a:rPr lang="zh-CN" altLang="en-US" strike="noStrike" noProof="1" smtClean="0"/>
              <a:t>副标题</a:t>
            </a:r>
            <a:endParaRPr lang="en-US" strike="noStrike" noProof="1"/>
          </a:p>
        </p:txBody>
      </p:sp>
      <p:pic>
        <p:nvPicPr>
          <p:cNvPr id="2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458903" y="628324"/>
            <a:ext cx="8280000" cy="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4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537698" y="1337233"/>
            <a:ext cx="1902507" cy="312484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4"/>
          </p:nvPr>
        </p:nvSpPr>
        <p:spPr>
          <a:xfrm>
            <a:off x="2568388" y="1337233"/>
            <a:ext cx="1902507" cy="312484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5"/>
          </p:nvPr>
        </p:nvSpPr>
        <p:spPr>
          <a:xfrm>
            <a:off x="4599078" y="1337233"/>
            <a:ext cx="1902507" cy="312484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6"/>
          </p:nvPr>
        </p:nvSpPr>
        <p:spPr>
          <a:xfrm>
            <a:off x="6629767" y="1337233"/>
            <a:ext cx="1902507" cy="312484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3" y="62832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7995" y="267970"/>
            <a:ext cx="7614920" cy="34099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 smtClean="0"/>
              <a:t>标题</a:t>
            </a:r>
            <a:r>
              <a:rPr lang="en-US" altLang="zh-CN" strike="noStrike" noProof="1" smtClean="0"/>
              <a:t>|</a:t>
            </a:r>
            <a:r>
              <a:rPr lang="zh-CN" altLang="en-US" strike="noStrike" noProof="1" smtClean="0"/>
              <a:t>副标题</a:t>
            </a:r>
            <a:endParaRPr lang="en-US" strike="noStrike" noProof="1"/>
          </a:p>
        </p:txBody>
      </p:sp>
      <p:pic>
        <p:nvPicPr>
          <p:cNvPr id="2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458903" y="628324"/>
            <a:ext cx="8280000" cy="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多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8"/>
          <p:cNvSpPr>
            <a:spLocks noGrp="1"/>
          </p:cNvSpPr>
          <p:nvPr>
            <p:ph type="pic" sz="quarter" idx="19"/>
          </p:nvPr>
        </p:nvSpPr>
        <p:spPr>
          <a:xfrm>
            <a:off x="5350914" y="934390"/>
            <a:ext cx="3181359" cy="33344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3"/>
          </p:nvPr>
        </p:nvSpPr>
        <p:spPr>
          <a:xfrm>
            <a:off x="537698" y="937737"/>
            <a:ext cx="1691660" cy="33398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20"/>
          </p:nvPr>
        </p:nvSpPr>
        <p:spPr>
          <a:xfrm>
            <a:off x="2328390" y="937736"/>
            <a:ext cx="2923492" cy="200888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7" name="图片占位符 8"/>
          <p:cNvSpPr>
            <a:spLocks noGrp="1"/>
          </p:cNvSpPr>
          <p:nvPr>
            <p:ph type="pic" sz="quarter" idx="21"/>
          </p:nvPr>
        </p:nvSpPr>
        <p:spPr>
          <a:xfrm>
            <a:off x="2324296" y="3042823"/>
            <a:ext cx="1419644" cy="123951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0" name="图片占位符 8"/>
          <p:cNvSpPr>
            <a:spLocks noGrp="1"/>
          </p:cNvSpPr>
          <p:nvPr>
            <p:ph type="pic" sz="quarter" idx="22"/>
          </p:nvPr>
        </p:nvSpPr>
        <p:spPr>
          <a:xfrm>
            <a:off x="3832238" y="3042823"/>
            <a:ext cx="1419644" cy="123951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3" y="62832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7995" y="267970"/>
            <a:ext cx="7614920" cy="34099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 smtClean="0"/>
              <a:t>标题</a:t>
            </a:r>
            <a:r>
              <a:rPr lang="en-US" altLang="zh-CN" strike="noStrike" noProof="1" smtClean="0"/>
              <a:t>|</a:t>
            </a:r>
            <a:r>
              <a:rPr lang="zh-CN" altLang="en-US" strike="noStrike" noProof="1" smtClean="0"/>
              <a:t>副标题</a:t>
            </a:r>
            <a:endParaRPr lang="en-US" strike="noStrike" noProof="1"/>
          </a:p>
        </p:txBody>
      </p:sp>
      <p:pic>
        <p:nvPicPr>
          <p:cNvPr id="2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458903" y="628324"/>
            <a:ext cx="8280000" cy="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_较少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445785" y="1634365"/>
            <a:ext cx="6252606" cy="181165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260985" indent="0" algn="ctr">
              <a:lnSpc>
                <a:spcPct val="150000"/>
              </a:lnSpc>
              <a:spcAft>
                <a:spcPts val="0"/>
              </a:spcAft>
              <a:buNone/>
              <a:defRPr sz="131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522605" indent="0" algn="ctr">
              <a:lnSpc>
                <a:spcPct val="150000"/>
              </a:lnSpc>
              <a:spcAft>
                <a:spcPts val="0"/>
              </a:spcAft>
              <a:buNone/>
              <a:defRPr sz="107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783590" indent="0" algn="ctr">
              <a:lnSpc>
                <a:spcPct val="150000"/>
              </a:lnSpc>
              <a:spcAft>
                <a:spcPts val="0"/>
              </a:spcAft>
              <a:buNone/>
              <a:defRPr sz="9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 smtClean="0"/>
              <a:t>内容编辑处</a:t>
            </a:r>
            <a:endParaRPr lang="zh-CN" altLang="en-US" strike="noStrike" noProof="1" smtClean="0"/>
          </a:p>
          <a:p>
            <a:pPr lvl="0" fontAlgn="auto"/>
            <a:endParaRPr lang="zh-CN" altLang="en-US" strike="noStrike" noProof="1" smtClean="0"/>
          </a:p>
        </p:txBody>
      </p:sp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3" y="62832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5" y="267970"/>
            <a:ext cx="7614920" cy="34099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 smtClean="0"/>
              <a:t>标题</a:t>
            </a:r>
            <a:r>
              <a:rPr lang="en-US" altLang="zh-CN" strike="noStrike" noProof="1" smtClean="0"/>
              <a:t>|</a:t>
            </a:r>
            <a:r>
              <a:rPr lang="zh-CN" altLang="en-US" strike="noStrike" noProof="1" smtClean="0"/>
              <a:t>副标题</a:t>
            </a:r>
            <a:endParaRPr lang="en-US" strike="noStrike" noProof="1"/>
          </a:p>
        </p:txBody>
      </p:sp>
      <p:pic>
        <p:nvPicPr>
          <p:cNvPr id="4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458903" y="628324"/>
            <a:ext cx="8280000" cy="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并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1293" y="957957"/>
            <a:ext cx="3824692" cy="32634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260985" indent="0">
              <a:lnSpc>
                <a:spcPct val="150000"/>
              </a:lnSpc>
              <a:buNone/>
              <a:defRPr sz="131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522605" indent="0">
              <a:lnSpc>
                <a:spcPct val="150000"/>
              </a:lnSpc>
              <a:buNone/>
              <a:defRPr sz="107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783590" indent="0">
              <a:lnSpc>
                <a:spcPct val="150000"/>
              </a:lnSpc>
              <a:buNone/>
              <a:defRPr sz="9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 smtClean="0"/>
              <a:t>内容编辑处</a:t>
            </a:r>
            <a:endParaRPr lang="zh-CN" altLang="en-US" strike="noStrike" noProof="1" smtClean="0"/>
          </a:p>
          <a:p>
            <a:pPr lvl="0" fontAlgn="auto"/>
            <a:endParaRPr lang="zh-CN" altLang="en-US" strike="noStrike" noProof="1" smtClean="0"/>
          </a:p>
        </p:txBody>
      </p:sp>
      <p:sp>
        <p:nvSpPr>
          <p:cNvPr id="10" name="图片占位符 8"/>
          <p:cNvSpPr>
            <a:spLocks noGrp="1"/>
          </p:cNvSpPr>
          <p:nvPr>
            <p:ph type="pic" sz="quarter" idx="14"/>
          </p:nvPr>
        </p:nvSpPr>
        <p:spPr>
          <a:xfrm>
            <a:off x="4572000" y="959490"/>
            <a:ext cx="3960275" cy="3265850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5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3" y="62832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7995" y="267970"/>
            <a:ext cx="7614920" cy="34099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 smtClean="0"/>
              <a:t>标题</a:t>
            </a:r>
            <a:r>
              <a:rPr lang="en-US" altLang="zh-CN" strike="noStrike" noProof="1" smtClean="0"/>
              <a:t>|</a:t>
            </a:r>
            <a:r>
              <a:rPr lang="zh-CN" altLang="en-US" strike="noStrike" noProof="1" smtClean="0"/>
              <a:t>副标题</a:t>
            </a:r>
            <a:endParaRPr lang="en-US" strike="noStrike" noProof="1"/>
          </a:p>
        </p:txBody>
      </p:sp>
      <p:pic>
        <p:nvPicPr>
          <p:cNvPr id="8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458903" y="628324"/>
            <a:ext cx="8280000" cy="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表格占位符 8"/>
          <p:cNvSpPr>
            <a:spLocks noGrp="1"/>
          </p:cNvSpPr>
          <p:nvPr>
            <p:ph type="tbl" sz="quarter" idx="15" hasCustomPrompt="1"/>
          </p:nvPr>
        </p:nvSpPr>
        <p:spPr>
          <a:xfrm>
            <a:off x="531358" y="958005"/>
            <a:ext cx="7886927" cy="326746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400"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fontAlgn="auto"/>
            <a:endParaRPr lang="zh-CN" altLang="en-US" strike="noStrike" noProof="1"/>
          </a:p>
        </p:txBody>
      </p:sp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3" y="62832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5" y="267970"/>
            <a:ext cx="7614920" cy="340995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 smtClean="0"/>
              <a:t>标题</a:t>
            </a:r>
            <a:r>
              <a:rPr lang="en-US" altLang="zh-CN" strike="noStrike" noProof="1" smtClean="0"/>
              <a:t>|</a:t>
            </a:r>
            <a:r>
              <a:rPr lang="zh-CN" altLang="en-US" strike="noStrike" noProof="1" smtClean="0"/>
              <a:t>副标题</a:t>
            </a:r>
            <a:endParaRPr lang="en-US" strike="noStrike" noProof="1"/>
          </a:p>
        </p:txBody>
      </p:sp>
      <p:pic>
        <p:nvPicPr>
          <p:cNvPr id="3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458903" y="628324"/>
            <a:ext cx="8280000" cy="3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表格占位符 8"/>
          <p:cNvSpPr>
            <a:spLocks noGrp="1"/>
          </p:cNvSpPr>
          <p:nvPr>
            <p:ph type="tbl" sz="quarter" idx="15" hasCustomPrompt="1"/>
          </p:nvPr>
        </p:nvSpPr>
        <p:spPr>
          <a:xfrm>
            <a:off x="531358" y="958005"/>
            <a:ext cx="7886927" cy="326746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400"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fontAlgn="auto"/>
            <a:endParaRPr lang="zh-CN" altLang="en-US" strike="noStrike" noProof="1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74528" y="267840"/>
            <a:ext cx="8000982" cy="48637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 smtClean="0"/>
              <a:t>标题</a:t>
            </a:r>
            <a:r>
              <a:rPr lang="en-US" altLang="zh-CN" strike="noStrike" noProof="1" smtClean="0"/>
              <a:t>|</a:t>
            </a:r>
            <a:r>
              <a:rPr lang="zh-CN" altLang="en-US" strike="noStrike" noProof="1" smtClean="0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 descr="C:\Users\yyyy\Desktop\辅助图形2.png"/>
          <p:cNvPicPr>
            <a:picLocks noChangeAspect="1"/>
          </p:cNvPicPr>
          <p:nvPr userDrawn="1"/>
        </p:nvPicPr>
        <p:blipFill>
          <a:blip r:embed="rId2"/>
          <a:srcRect r="54395" b="48161"/>
          <a:stretch>
            <a:fillRect/>
          </a:stretch>
        </p:blipFill>
        <p:spPr>
          <a:xfrm>
            <a:off x="5200587" y="2125384"/>
            <a:ext cx="3943413" cy="30181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矩形 22"/>
          <p:cNvSpPr/>
          <p:nvPr userDrawn="1"/>
        </p:nvSpPr>
        <p:spPr>
          <a:xfrm>
            <a:off x="673751" y="4235646"/>
            <a:ext cx="184731" cy="2387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fontAlgn="base">
              <a:lnSpc>
                <a:spcPct val="150000"/>
              </a:lnSpc>
            </a:pPr>
            <a:endParaRPr lang="en-US" altLang="zh-CN" sz="635" b="1" strike="noStrike" noProof="1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3" hasCustomPrompt="1"/>
          </p:nvPr>
        </p:nvSpPr>
        <p:spPr>
          <a:xfrm>
            <a:off x="674077" y="1032137"/>
            <a:ext cx="4697544" cy="8434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 fontAlgn="auto"/>
            <a:r>
              <a:rPr lang="en-US" altLang="zh-CN" strike="noStrike" noProof="1" smtClean="0"/>
              <a:t>THANKS</a:t>
            </a:r>
            <a:endParaRPr lang="zh-CN" altLang="en-US" strike="noStrike" noProof="1" smtClean="0"/>
          </a:p>
        </p:txBody>
      </p:sp>
      <p:sp>
        <p:nvSpPr>
          <p:cNvPr id="22" name="内容占位符 13"/>
          <p:cNvSpPr>
            <a:spLocks noGrp="1"/>
          </p:cNvSpPr>
          <p:nvPr>
            <p:ph sz="quarter" idx="16" hasCustomPrompt="1"/>
          </p:nvPr>
        </p:nvSpPr>
        <p:spPr>
          <a:xfrm>
            <a:off x="674077" y="2746436"/>
            <a:ext cx="4697544" cy="11032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 smtClean="0"/>
              <a:t>代用名</a:t>
            </a:r>
            <a:endParaRPr lang="en-US" altLang="zh-CN" strike="noStrike" noProof="1" smtClean="0"/>
          </a:p>
          <a:p>
            <a:pPr lvl="0" fontAlgn="auto"/>
            <a:r>
              <a:rPr lang="zh-CN" altLang="en-US" strike="noStrike" noProof="1" smtClean="0"/>
              <a:t>部门</a:t>
            </a:r>
            <a:endParaRPr lang="en-US" altLang="zh-CN" strike="noStrike" noProof="1" smtClean="0"/>
          </a:p>
          <a:p>
            <a:pPr lvl="0" fontAlgn="auto"/>
            <a:r>
              <a:rPr lang="en-US" altLang="zh-CN" strike="noStrike" noProof="1" smtClean="0"/>
              <a:t>2018.01.01</a:t>
            </a:r>
            <a:endParaRPr lang="zh-CN" altLang="en-US" strike="noStrike" noProof="1" smtClean="0"/>
          </a:p>
        </p:txBody>
      </p:sp>
      <p:sp>
        <p:nvSpPr>
          <p:cNvPr id="26" name="内容占位符 13"/>
          <p:cNvSpPr>
            <a:spLocks noGrp="1"/>
          </p:cNvSpPr>
          <p:nvPr>
            <p:ph sz="quarter" idx="17" hasCustomPrompt="1"/>
          </p:nvPr>
        </p:nvSpPr>
        <p:spPr>
          <a:xfrm>
            <a:off x="674077" y="4127651"/>
            <a:ext cx="4697544" cy="3012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 smtClean="0"/>
              <a:t>广州视源电子科技股份有限公司</a:t>
            </a:r>
            <a:endParaRPr lang="en-US" altLang="zh-CN" strike="noStrike" noProof="1" smtClean="0"/>
          </a:p>
          <a:p>
            <a:pPr lvl="0" fontAlgn="auto"/>
            <a:endParaRPr lang="zh-CN" altLang="en-US" strike="noStrike" noProof="1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8"/>
          </p:nvPr>
        </p:nvSpPr>
        <p:spPr>
          <a:xfrm>
            <a:off x="6784036" y="4742496"/>
            <a:ext cx="2057192" cy="27399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9197ECB7-B80F-4ED2-ABCD-9D741132D1E1}" type="slidenum">
              <a:rPr lang="zh-CN" altLang="en-US" sz="100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3677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16133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26843F14-D882-43D2-910D-7D4F87C69D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EAC17D0-B82B-4518-9083-C784B530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4813" y="179546"/>
            <a:ext cx="7020401" cy="46910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37" y="813395"/>
            <a:ext cx="7831224" cy="315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1130" y="1571133"/>
            <a:ext cx="3468590" cy="892636"/>
          </a:xfrm>
        </p:spPr>
        <p:txBody>
          <a:bodyPr anchor="b">
            <a:normAutofit/>
          </a:bodyPr>
          <a:lstStyle>
            <a:lvl1pPr algn="ctr">
              <a:defRPr sz="5000" b="1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课程名称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1878590" y="2717249"/>
            <a:ext cx="1506130" cy="328647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 baseline="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讲师姓名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1878590" y="3130630"/>
            <a:ext cx="1506130" cy="239254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2013.0</a:t>
            </a:r>
            <a:r>
              <a:rPr lang="en-US" altLang="zh-CN" dirty="0"/>
              <a:t>7</a:t>
            </a:r>
            <a:r>
              <a:rPr lang="en-US" dirty="0"/>
              <a:t>.01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6" y="662072"/>
            <a:ext cx="8280000" cy="33387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428937" y="2147891"/>
            <a:ext cx="8266498" cy="847724"/>
          </a:xfrm>
        </p:spPr>
        <p:txBody>
          <a:bodyPr>
            <a:normAutofit/>
          </a:bodyPr>
          <a:lstStyle>
            <a:lvl1pPr marL="0" indent="0" algn="ctr">
              <a:buNone/>
              <a:defRPr sz="4800" b="0" i="0" u="none">
                <a:solidFill>
                  <a:schemeClr val="tx1">
                    <a:lumMod val="50000"/>
                  </a:schemeClr>
                </a:solidFill>
                <a:effectLst/>
                <a:latin typeface="+mn-ea"/>
                <a:ea typeface="+mn-ea"/>
              </a:defRPr>
            </a:lvl1pPr>
          </a:lstStyle>
          <a:p>
            <a:pPr lvl="0"/>
            <a:r>
              <a:rPr lang="zh-CN" altLang="en-US" sz="4800" b="1" dirty="0"/>
              <a:t>章节标题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801049" y="211767"/>
            <a:ext cx="907889" cy="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9040483" y="0"/>
            <a:ext cx="103517" cy="5143500"/>
          </a:xfrm>
          <a:prstGeom prst="rect">
            <a:avLst/>
          </a:prstGeom>
          <a:solidFill>
            <a:srgbClr val="DF061B"/>
          </a:solidFill>
          <a:ln>
            <a:solidFill>
              <a:srgbClr val="DF06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6" y="676042"/>
            <a:ext cx="8280000" cy="33387"/>
          </a:xfrm>
          <a:prstGeom prst="rect">
            <a:avLst/>
          </a:prstGeom>
        </p:spPr>
      </p:pic>
      <p:sp>
        <p:nvSpPr>
          <p:cNvPr id="10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428939" y="149504"/>
            <a:ext cx="5252955" cy="5270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标题，</a:t>
            </a:r>
            <a:r>
              <a:rPr lang="en-US" altLang="zh-CN" dirty="0"/>
              <a:t>32</a:t>
            </a:r>
            <a:r>
              <a:rPr lang="zh-CN" altLang="en-US" dirty="0"/>
              <a:t>号，微软雅黑粗体</a:t>
            </a:r>
            <a:endParaRPr lang="zh-CN" altLang="en-US" dirty="0"/>
          </a:p>
        </p:txBody>
      </p:sp>
      <p:sp>
        <p:nvSpPr>
          <p:cNvPr id="11" name="内容占位符 15"/>
          <p:cNvSpPr>
            <a:spLocks noGrp="1"/>
          </p:cNvSpPr>
          <p:nvPr>
            <p:ph sz="quarter" idx="10" hasCustomPrompt="1"/>
          </p:nvPr>
        </p:nvSpPr>
        <p:spPr>
          <a:xfrm>
            <a:off x="428936" y="1009650"/>
            <a:ext cx="8263712" cy="3695700"/>
          </a:xfrm>
        </p:spPr>
        <p:txBody>
          <a:bodyPr/>
          <a:lstStyle>
            <a:lvl1pPr>
              <a:lnSpc>
                <a:spcPct val="125000"/>
              </a:lnSpc>
              <a:defRPr sz="28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25000"/>
              </a:lnSpc>
              <a:defRPr sz="24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25000"/>
              </a:lnSpc>
              <a:defRPr sz="20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028700" indent="0">
              <a:lnSpc>
                <a:spcPct val="125000"/>
              </a:lnSpc>
              <a:buNone/>
              <a:defRPr sz="1800"/>
            </a:lvl4pPr>
            <a:lvl5pPr marL="1371600" indent="0">
              <a:lnSpc>
                <a:spcPct val="125000"/>
              </a:lnSpc>
              <a:buNone/>
              <a:defRPr sz="1600"/>
            </a:lvl5pPr>
          </a:lstStyle>
          <a:p>
            <a:pPr lvl="0"/>
            <a:r>
              <a:rPr lang="zh-CN" altLang="en-US" dirty="0"/>
              <a:t>华文中宋，</a:t>
            </a:r>
            <a:r>
              <a:rPr lang="en-US" altLang="zh-CN" dirty="0"/>
              <a:t>28</a:t>
            </a:r>
            <a:r>
              <a:rPr lang="zh-CN" altLang="en-US" dirty="0"/>
              <a:t>号，行距</a:t>
            </a:r>
            <a:r>
              <a:rPr lang="en-US" altLang="zh-CN" dirty="0"/>
              <a:t>1.25</a:t>
            </a:r>
            <a:endParaRPr lang="en-US" altLang="zh-CN" dirty="0"/>
          </a:p>
          <a:p>
            <a:pPr lvl="0"/>
            <a:r>
              <a:rPr lang="zh-CN" altLang="en-US" dirty="0"/>
              <a:t>正文第一级，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正文第二级，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  <a:p>
            <a:pPr lvl="2"/>
            <a:r>
              <a:rPr lang="zh-CN" altLang="en-US" dirty="0"/>
              <a:t>正文第三级，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801049" y="211767"/>
            <a:ext cx="907889" cy="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任意多边形: 形状 7"/>
          <p:cNvSpPr/>
          <p:nvPr userDrawn="1"/>
        </p:nvSpPr>
        <p:spPr>
          <a:xfrm flipH="1" flipV="1">
            <a:off x="7961630" y="3988435"/>
            <a:ext cx="1141095" cy="1122045"/>
          </a:xfrm>
          <a:custGeom>
            <a:avLst/>
            <a:gdLst>
              <a:gd name="connsiteX0" fmla="*/ 0 w 1882943"/>
              <a:gd name="connsiteY0" fmla="*/ 1882942 h 1882942"/>
              <a:gd name="connsiteX1" fmla="*/ 0 w 1882943"/>
              <a:gd name="connsiteY1" fmla="*/ 860308 h 1882942"/>
              <a:gd name="connsiteX2" fmla="*/ 860308 w 1882943"/>
              <a:gd name="connsiteY2" fmla="*/ 0 h 1882942"/>
              <a:gd name="connsiteX3" fmla="*/ 1882943 w 1882943"/>
              <a:gd name="connsiteY3" fmla="*/ 0 h 1882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82943" h="1882942">
                <a:moveTo>
                  <a:pt x="0" y="1882942"/>
                </a:moveTo>
                <a:lnTo>
                  <a:pt x="0" y="860308"/>
                </a:lnTo>
                <a:lnTo>
                  <a:pt x="860308" y="0"/>
                </a:lnTo>
                <a:lnTo>
                  <a:pt x="1882943" y="0"/>
                </a:lnTo>
                <a:close/>
              </a:path>
            </a:pathLst>
          </a:custGeom>
          <a:solidFill>
            <a:srgbClr val="DF06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铁线黑-65简" panose="00020600040101010101" pitchFamily="18" charset="-122"/>
              <a:ea typeface="汉仪铁线黑-65简" panose="00020600040101010101" pitchFamily="18" charset="-122"/>
              <a:sym typeface="汉仪铁线黑-65简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6" y="662072"/>
            <a:ext cx="8280000" cy="33387"/>
          </a:xfrm>
          <a:prstGeom prst="rect">
            <a:avLst/>
          </a:prstGeom>
        </p:spPr>
      </p:pic>
      <p:sp>
        <p:nvSpPr>
          <p:cNvPr id="9" name="内容占位符 15"/>
          <p:cNvSpPr>
            <a:spLocks noGrp="1"/>
          </p:cNvSpPr>
          <p:nvPr>
            <p:ph sz="quarter" idx="10" hasCustomPrompt="1"/>
          </p:nvPr>
        </p:nvSpPr>
        <p:spPr>
          <a:xfrm>
            <a:off x="428936" y="1009650"/>
            <a:ext cx="4086309" cy="3695700"/>
          </a:xfrm>
        </p:spPr>
        <p:txBody>
          <a:bodyPr/>
          <a:lstStyle>
            <a:lvl1pPr>
              <a:lnSpc>
                <a:spcPct val="125000"/>
              </a:lnSpc>
              <a:defRPr sz="28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25000"/>
              </a:lnSpc>
              <a:defRPr sz="24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25000"/>
              </a:lnSpc>
              <a:defRPr sz="20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028700" indent="0">
              <a:lnSpc>
                <a:spcPct val="125000"/>
              </a:lnSpc>
              <a:buNone/>
              <a:defRPr sz="1800"/>
            </a:lvl4pPr>
            <a:lvl5pPr marL="1371600" indent="0">
              <a:lnSpc>
                <a:spcPct val="125000"/>
              </a:lnSpc>
              <a:buNone/>
              <a:defRPr sz="1600"/>
            </a:lvl5pPr>
          </a:lstStyle>
          <a:p>
            <a:pPr lvl="0"/>
            <a:r>
              <a:rPr lang="zh-CN" altLang="en-US" dirty="0"/>
              <a:t>华文中宋，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行距</a:t>
            </a:r>
            <a:r>
              <a:rPr lang="en-US" altLang="zh-CN" dirty="0"/>
              <a:t>1.25</a:t>
            </a:r>
            <a:endParaRPr lang="en-US" altLang="zh-CN" dirty="0"/>
          </a:p>
          <a:p>
            <a:pPr lvl="0"/>
            <a:r>
              <a:rPr lang="zh-CN" altLang="en-US" dirty="0"/>
              <a:t>正文第一级，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正文第二级，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  <a:p>
            <a:pPr lvl="2"/>
            <a:r>
              <a:rPr lang="zh-CN" altLang="en-US" dirty="0"/>
              <a:t>正文第三级，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0" name="内容占位符 15"/>
          <p:cNvSpPr>
            <a:spLocks noGrp="1"/>
          </p:cNvSpPr>
          <p:nvPr>
            <p:ph sz="quarter" idx="14" hasCustomPrompt="1"/>
          </p:nvPr>
        </p:nvSpPr>
        <p:spPr>
          <a:xfrm>
            <a:off x="4609127" y="1009650"/>
            <a:ext cx="4086309" cy="3695700"/>
          </a:xfrm>
        </p:spPr>
        <p:txBody>
          <a:bodyPr/>
          <a:lstStyle>
            <a:lvl1pPr>
              <a:lnSpc>
                <a:spcPct val="125000"/>
              </a:lnSpc>
              <a:defRPr sz="28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25000"/>
              </a:lnSpc>
              <a:defRPr sz="24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25000"/>
              </a:lnSpc>
              <a:defRPr sz="20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028700" indent="0">
              <a:lnSpc>
                <a:spcPct val="125000"/>
              </a:lnSpc>
              <a:buNone/>
              <a:defRPr sz="1800"/>
            </a:lvl4pPr>
            <a:lvl5pPr marL="1371600" indent="0">
              <a:lnSpc>
                <a:spcPct val="125000"/>
              </a:lnSpc>
              <a:buNone/>
              <a:defRPr sz="1600"/>
            </a:lvl5pPr>
          </a:lstStyle>
          <a:p>
            <a:pPr lvl="0"/>
            <a:r>
              <a:rPr lang="zh-CN" altLang="en-US" dirty="0"/>
              <a:t>华文中宋，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行距</a:t>
            </a:r>
            <a:r>
              <a:rPr lang="en-US" altLang="zh-CN" dirty="0"/>
              <a:t>1.25</a:t>
            </a:r>
            <a:endParaRPr lang="en-US" altLang="zh-CN" dirty="0"/>
          </a:p>
          <a:p>
            <a:pPr lvl="0"/>
            <a:r>
              <a:rPr lang="zh-CN" altLang="en-US" dirty="0"/>
              <a:t>正文第一级，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正文第二级，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  <a:p>
            <a:pPr lvl="2"/>
            <a:r>
              <a:rPr lang="zh-CN" altLang="en-US" dirty="0"/>
              <a:t>正文第三级，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7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428939" y="149504"/>
            <a:ext cx="5252955" cy="5270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标题，</a:t>
            </a:r>
            <a:r>
              <a:rPr lang="en-US" altLang="zh-CN" dirty="0"/>
              <a:t>32</a:t>
            </a:r>
            <a:r>
              <a:rPr lang="zh-CN" altLang="en-US" dirty="0"/>
              <a:t>号，微软雅黑粗体</a:t>
            </a:r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801049" y="211767"/>
            <a:ext cx="907889" cy="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本和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1" hasCustomPrompt="1"/>
          </p:nvPr>
        </p:nvSpPr>
        <p:spPr>
          <a:xfrm>
            <a:off x="3493642" y="1009653"/>
            <a:ext cx="5201794" cy="3695699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sz="28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点击图标添加图片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6" y="662072"/>
            <a:ext cx="8280000" cy="33387"/>
          </a:xfrm>
          <a:prstGeom prst="rect">
            <a:avLst/>
          </a:prstGeom>
        </p:spPr>
      </p:pic>
      <p:sp>
        <p:nvSpPr>
          <p:cNvPr id="15" name="内容占位符 15"/>
          <p:cNvSpPr>
            <a:spLocks noGrp="1"/>
          </p:cNvSpPr>
          <p:nvPr>
            <p:ph sz="quarter" idx="10" hasCustomPrompt="1"/>
          </p:nvPr>
        </p:nvSpPr>
        <p:spPr>
          <a:xfrm>
            <a:off x="428937" y="1009650"/>
            <a:ext cx="2990538" cy="3695700"/>
          </a:xfrm>
        </p:spPr>
        <p:txBody>
          <a:bodyPr/>
          <a:lstStyle>
            <a:lvl1pPr>
              <a:lnSpc>
                <a:spcPct val="125000"/>
              </a:lnSpc>
              <a:defRPr sz="28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25000"/>
              </a:lnSpc>
              <a:defRPr sz="24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25000"/>
              </a:lnSpc>
              <a:defRPr sz="200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028700" indent="0">
              <a:lnSpc>
                <a:spcPct val="125000"/>
              </a:lnSpc>
              <a:buNone/>
              <a:defRPr sz="1800"/>
            </a:lvl4pPr>
            <a:lvl5pPr marL="1371600" indent="0">
              <a:lnSpc>
                <a:spcPct val="125000"/>
              </a:lnSpc>
              <a:buNone/>
              <a:defRPr sz="1600"/>
            </a:lvl5pPr>
          </a:lstStyle>
          <a:p>
            <a:pPr lvl="0"/>
            <a:r>
              <a:rPr lang="zh-CN" altLang="en-US" dirty="0"/>
              <a:t>华文中宋</a:t>
            </a:r>
            <a:endParaRPr lang="en-US" altLang="zh-CN" dirty="0"/>
          </a:p>
          <a:p>
            <a:pPr lvl="0"/>
            <a:r>
              <a:rPr lang="zh-CN" altLang="en-US" dirty="0"/>
              <a:t>行距</a:t>
            </a:r>
            <a:r>
              <a:rPr lang="en-US" altLang="zh-CN" dirty="0"/>
              <a:t>1.25</a:t>
            </a:r>
            <a:endParaRPr lang="en-US" altLang="zh-CN" dirty="0"/>
          </a:p>
          <a:p>
            <a:pPr lvl="0"/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第一级，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第二级，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  <a:p>
            <a:pPr lvl="2"/>
            <a:r>
              <a:rPr lang="zh-CN" altLang="en-US" dirty="0"/>
              <a:t>第三级，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7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428939" y="149504"/>
            <a:ext cx="5252955" cy="5270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标题，</a:t>
            </a:r>
            <a:r>
              <a:rPr lang="en-US" altLang="zh-CN" dirty="0"/>
              <a:t>32</a:t>
            </a:r>
            <a:r>
              <a:rPr lang="zh-CN" altLang="en-US" dirty="0"/>
              <a:t>号，微软雅黑粗体</a:t>
            </a:r>
            <a:endParaRPr lang="zh-CN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801049" y="211767"/>
            <a:ext cx="907889" cy="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6" y="662072"/>
            <a:ext cx="8280000" cy="33387"/>
          </a:xfrm>
          <a:prstGeom prst="rect">
            <a:avLst/>
          </a:prstGeom>
        </p:spPr>
      </p:pic>
      <p:sp>
        <p:nvSpPr>
          <p:cNvPr id="5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428939" y="149504"/>
            <a:ext cx="5252955" cy="527037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标题，</a:t>
            </a:r>
            <a:r>
              <a:rPr lang="en-US" altLang="zh-CN" dirty="0"/>
              <a:t>32</a:t>
            </a:r>
            <a:r>
              <a:rPr lang="zh-CN" altLang="en-US" dirty="0"/>
              <a:t>号，微软雅黑粗体</a:t>
            </a:r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7801049" y="211767"/>
            <a:ext cx="907889" cy="404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yyyy\Desktop\辅助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000" y="2598443"/>
            <a:ext cx="1368000" cy="3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3695700" y="2886076"/>
            <a:ext cx="1752600" cy="399459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讲师姓名</a:t>
            </a:r>
            <a:endParaRPr lang="en-US" altLang="zh-CN" dirty="0"/>
          </a:p>
        </p:txBody>
      </p:sp>
      <p:sp>
        <p:nvSpPr>
          <p:cNvPr id="11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3695700" y="3285536"/>
            <a:ext cx="1752600" cy="335848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CN" dirty="0"/>
              <a:t>2013.07.01</a:t>
            </a:r>
            <a:endParaRPr lang="en-US" altLang="zh-CN" dirty="0"/>
          </a:p>
        </p:txBody>
      </p:sp>
      <p:pic>
        <p:nvPicPr>
          <p:cNvPr id="6" name="Picture 2" descr="C:\Users\user\Desktop\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014" y="1745093"/>
            <a:ext cx="1609976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63-FBB7-4837-95DB-348E6D288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FEC63-FBB7-4837-95DB-348E6D28837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C:\Users\User\Desktop\胸牌源文件-03.png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099840" y="195579"/>
            <a:ext cx="671445" cy="41895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 userDrawn="1"/>
        </p:nvSpPr>
        <p:spPr>
          <a:xfrm>
            <a:off x="1384300" y="5259705"/>
            <a:ext cx="356235" cy="362585"/>
          </a:xfrm>
          <a:prstGeom prst="rect">
            <a:avLst/>
          </a:prstGeom>
          <a:solidFill>
            <a:srgbClr val="7185D3"/>
          </a:solidFill>
          <a:ln>
            <a:solidFill>
              <a:srgbClr val="7185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4525" y="5259705"/>
            <a:ext cx="356235" cy="3625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2464435" y="5259705"/>
            <a:ext cx="356235" cy="362585"/>
          </a:xfrm>
          <a:prstGeom prst="rect">
            <a:avLst/>
          </a:prstGeom>
          <a:solidFill>
            <a:srgbClr val="F14124"/>
          </a:solidFill>
          <a:ln>
            <a:solidFill>
              <a:srgbClr val="F141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984750" y="5259705"/>
            <a:ext cx="356235" cy="36258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3544570" y="5259705"/>
            <a:ext cx="356235" cy="362585"/>
          </a:xfrm>
          <a:prstGeom prst="rect">
            <a:avLst/>
          </a:prstGeom>
          <a:solidFill>
            <a:srgbClr val="A7EA52"/>
          </a:solidFill>
          <a:ln>
            <a:solidFill>
              <a:srgbClr val="A7EA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4624705" y="5259705"/>
            <a:ext cx="356235" cy="362585"/>
          </a:xfrm>
          <a:prstGeom prst="rect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24255" y="5259705"/>
            <a:ext cx="356235" cy="3625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2824480" y="5259705"/>
            <a:ext cx="356235" cy="36258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744345" y="5259705"/>
            <a:ext cx="356235" cy="362585"/>
          </a:xfrm>
          <a:prstGeom prst="rect">
            <a:avLst/>
          </a:prstGeom>
          <a:solidFill>
            <a:srgbClr val="4E67C8"/>
          </a:solidFill>
          <a:ln>
            <a:solidFill>
              <a:srgbClr val="4E67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2104390" y="5259705"/>
            <a:ext cx="356235" cy="362585"/>
          </a:xfrm>
          <a:prstGeom prst="rect">
            <a:avLst/>
          </a:prstGeom>
          <a:solidFill>
            <a:srgbClr val="F0AD00"/>
          </a:solidFill>
          <a:ln>
            <a:solidFill>
              <a:srgbClr val="F0AD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4264660" y="5259705"/>
            <a:ext cx="356235" cy="362585"/>
          </a:xfrm>
          <a:prstGeom prst="rect">
            <a:avLst/>
          </a:prstGeom>
          <a:solidFill>
            <a:srgbClr val="60B5CC"/>
          </a:solidFill>
          <a:ln>
            <a:solidFill>
              <a:srgbClr val="60B5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3904615" y="5259705"/>
            <a:ext cx="356235" cy="362585"/>
          </a:xfrm>
          <a:prstGeom prst="rect">
            <a:avLst/>
          </a:prstGeom>
          <a:solidFill>
            <a:srgbClr val="6BB76D"/>
          </a:solidFill>
          <a:ln>
            <a:solidFill>
              <a:srgbClr val="6BB7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521970" rtl="0" eaLnBrk="1" latinLnBrk="0" hangingPunct="1">
        <a:lnSpc>
          <a:spcPct val="90000"/>
        </a:lnSpc>
        <a:spcBef>
          <a:spcPct val="0"/>
        </a:spcBef>
        <a:buNone/>
        <a:defRPr sz="25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0810" indent="-130810" algn="l" defTabSz="521970" rtl="0" eaLnBrk="1" latinLnBrk="0" hangingPunct="1">
        <a:lnSpc>
          <a:spcPct val="90000"/>
        </a:lnSpc>
        <a:spcBef>
          <a:spcPct val="3940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j-ea"/>
          <a:ea typeface="+mj-ea"/>
          <a:cs typeface="+mn-cs"/>
        </a:defRPr>
      </a:lvl1pPr>
      <a:lvl2pPr marL="391795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370" kern="1200">
          <a:solidFill>
            <a:schemeClr val="tx1"/>
          </a:solidFill>
          <a:latin typeface="+mj-ea"/>
          <a:ea typeface="+mj-ea"/>
          <a:cs typeface="+mn-cs"/>
        </a:defRPr>
      </a:lvl2pPr>
      <a:lvl3pPr marL="652780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140" kern="1200">
          <a:solidFill>
            <a:schemeClr val="tx1"/>
          </a:solidFill>
          <a:latin typeface="+mj-ea"/>
          <a:ea typeface="+mj-ea"/>
          <a:cs typeface="+mn-cs"/>
        </a:defRPr>
      </a:lvl3pPr>
      <a:lvl4pPr marL="914400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j-ea"/>
          <a:ea typeface="+mj-ea"/>
          <a:cs typeface="+mn-cs"/>
        </a:defRPr>
      </a:lvl4pPr>
      <a:lvl5pPr marL="1175385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j-ea"/>
          <a:ea typeface="+mj-ea"/>
          <a:cs typeface="+mn-cs"/>
        </a:defRPr>
      </a:lvl5pPr>
      <a:lvl6pPr marL="1437005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6pPr>
      <a:lvl7pPr marL="1697990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7pPr>
      <a:lvl8pPr marL="1959610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8pPr>
      <a:lvl9pPr marL="2220595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1pPr>
      <a:lvl2pPr marL="260985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2pPr>
      <a:lvl3pPr marL="522605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3pPr>
      <a:lvl4pPr marL="783590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4pPr>
      <a:lvl5pPr marL="1045210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5pPr>
      <a:lvl6pPr marL="1306195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6pPr>
      <a:lvl7pPr marL="1567815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8pPr>
      <a:lvl9pPr marL="2089785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5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21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6"/>
            <a:ext cx="30861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FEC63-FBB7-4837-95DB-348E6D28837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notesSlide" Target="../notesSlides/notesSlide3.xml"/><Relationship Id="rId98" Type="http://schemas.openxmlformats.org/officeDocument/2006/relationships/slideLayout" Target="../slideLayouts/slideLayout2.xml"/><Relationship Id="rId97" Type="http://schemas.openxmlformats.org/officeDocument/2006/relationships/tags" Target="../tags/tag91.xml"/><Relationship Id="rId96" Type="http://schemas.openxmlformats.org/officeDocument/2006/relationships/tags" Target="../tags/tag90.xml"/><Relationship Id="rId95" Type="http://schemas.openxmlformats.org/officeDocument/2006/relationships/tags" Target="../tags/tag89.xml"/><Relationship Id="rId94" Type="http://schemas.openxmlformats.org/officeDocument/2006/relationships/tags" Target="../tags/tag88.xml"/><Relationship Id="rId93" Type="http://schemas.openxmlformats.org/officeDocument/2006/relationships/tags" Target="../tags/tag87.xml"/><Relationship Id="rId92" Type="http://schemas.openxmlformats.org/officeDocument/2006/relationships/tags" Target="../tags/tag86.xml"/><Relationship Id="rId91" Type="http://schemas.openxmlformats.org/officeDocument/2006/relationships/tags" Target="../tags/tag85.xml"/><Relationship Id="rId90" Type="http://schemas.openxmlformats.org/officeDocument/2006/relationships/tags" Target="../tags/tag84.xml"/><Relationship Id="rId9" Type="http://schemas.openxmlformats.org/officeDocument/2006/relationships/tags" Target="../tags/tag9.xml"/><Relationship Id="rId89" Type="http://schemas.openxmlformats.org/officeDocument/2006/relationships/tags" Target="../tags/tag83.xml"/><Relationship Id="rId88" Type="http://schemas.openxmlformats.org/officeDocument/2006/relationships/tags" Target="../tags/tag82.xml"/><Relationship Id="rId87" Type="http://schemas.openxmlformats.org/officeDocument/2006/relationships/tags" Target="../tags/tag81.xml"/><Relationship Id="rId86" Type="http://schemas.openxmlformats.org/officeDocument/2006/relationships/tags" Target="../tags/tag80.xml"/><Relationship Id="rId85" Type="http://schemas.openxmlformats.org/officeDocument/2006/relationships/tags" Target="../tags/tag79.xml"/><Relationship Id="rId84" Type="http://schemas.openxmlformats.org/officeDocument/2006/relationships/tags" Target="../tags/tag78.xml"/><Relationship Id="rId83" Type="http://schemas.openxmlformats.org/officeDocument/2006/relationships/tags" Target="../tags/tag77.xml"/><Relationship Id="rId82" Type="http://schemas.openxmlformats.org/officeDocument/2006/relationships/tags" Target="../tags/tag76.xml"/><Relationship Id="rId81" Type="http://schemas.openxmlformats.org/officeDocument/2006/relationships/tags" Target="../tags/tag75.xml"/><Relationship Id="rId80" Type="http://schemas.openxmlformats.org/officeDocument/2006/relationships/tags" Target="../tags/tag74.xml"/><Relationship Id="rId8" Type="http://schemas.openxmlformats.org/officeDocument/2006/relationships/tags" Target="../tags/tag8.xml"/><Relationship Id="rId79" Type="http://schemas.openxmlformats.org/officeDocument/2006/relationships/tags" Target="../tags/tag73.xml"/><Relationship Id="rId78" Type="http://schemas.openxmlformats.org/officeDocument/2006/relationships/tags" Target="../tags/tag72.xml"/><Relationship Id="rId77" Type="http://schemas.openxmlformats.org/officeDocument/2006/relationships/tags" Target="../tags/tag71.xml"/><Relationship Id="rId76" Type="http://schemas.openxmlformats.org/officeDocument/2006/relationships/tags" Target="../tags/tag70.xml"/><Relationship Id="rId75" Type="http://schemas.openxmlformats.org/officeDocument/2006/relationships/tags" Target="../tags/tag69.xml"/><Relationship Id="rId74" Type="http://schemas.openxmlformats.org/officeDocument/2006/relationships/tags" Target="../tags/tag68.xml"/><Relationship Id="rId73" Type="http://schemas.openxmlformats.org/officeDocument/2006/relationships/tags" Target="../tags/tag67.xml"/><Relationship Id="rId72" Type="http://schemas.openxmlformats.org/officeDocument/2006/relationships/tags" Target="../tags/tag66.xml"/><Relationship Id="rId71" Type="http://schemas.openxmlformats.org/officeDocument/2006/relationships/tags" Target="../tags/tag65.xml"/><Relationship Id="rId70" Type="http://schemas.openxmlformats.org/officeDocument/2006/relationships/tags" Target="../tags/tag64.xml"/><Relationship Id="rId7" Type="http://schemas.openxmlformats.org/officeDocument/2006/relationships/tags" Target="../tags/tag7.xml"/><Relationship Id="rId69" Type="http://schemas.openxmlformats.org/officeDocument/2006/relationships/tags" Target="../tags/tag63.xml"/><Relationship Id="rId68" Type="http://schemas.openxmlformats.org/officeDocument/2006/relationships/tags" Target="../tags/tag62.xml"/><Relationship Id="rId67" Type="http://schemas.openxmlformats.org/officeDocument/2006/relationships/tags" Target="../tags/tag61.xml"/><Relationship Id="rId66" Type="http://schemas.openxmlformats.org/officeDocument/2006/relationships/tags" Target="../tags/tag60.xml"/><Relationship Id="rId65" Type="http://schemas.openxmlformats.org/officeDocument/2006/relationships/tags" Target="../tags/tag59.xml"/><Relationship Id="rId64" Type="http://schemas.openxmlformats.org/officeDocument/2006/relationships/tags" Target="../tags/tag58.xml"/><Relationship Id="rId63" Type="http://schemas.openxmlformats.org/officeDocument/2006/relationships/tags" Target="../tags/tag57.xml"/><Relationship Id="rId62" Type="http://schemas.openxmlformats.org/officeDocument/2006/relationships/tags" Target="../tags/tag56.xml"/><Relationship Id="rId61" Type="http://schemas.openxmlformats.org/officeDocument/2006/relationships/tags" Target="../tags/tag55.xml"/><Relationship Id="rId60" Type="http://schemas.openxmlformats.org/officeDocument/2006/relationships/tags" Target="../tags/tag54.xml"/><Relationship Id="rId6" Type="http://schemas.openxmlformats.org/officeDocument/2006/relationships/tags" Target="../tags/tag6.xml"/><Relationship Id="rId59" Type="http://schemas.openxmlformats.org/officeDocument/2006/relationships/tags" Target="../tags/tag53.xml"/><Relationship Id="rId58" Type="http://schemas.openxmlformats.org/officeDocument/2006/relationships/tags" Target="../tags/tag52.xml"/><Relationship Id="rId57" Type="http://schemas.openxmlformats.org/officeDocument/2006/relationships/tags" Target="../tags/tag51.xml"/><Relationship Id="rId56" Type="http://schemas.openxmlformats.org/officeDocument/2006/relationships/tags" Target="../tags/tag50.xml"/><Relationship Id="rId55" Type="http://schemas.openxmlformats.org/officeDocument/2006/relationships/tags" Target="../tags/tag49.xml"/><Relationship Id="rId54" Type="http://schemas.openxmlformats.org/officeDocument/2006/relationships/tags" Target="../tags/tag48.xml"/><Relationship Id="rId53" Type="http://schemas.openxmlformats.org/officeDocument/2006/relationships/tags" Target="../tags/tag47.xml"/><Relationship Id="rId52" Type="http://schemas.openxmlformats.org/officeDocument/2006/relationships/tags" Target="../tags/tag46.xml"/><Relationship Id="rId51" Type="http://schemas.openxmlformats.org/officeDocument/2006/relationships/tags" Target="../tags/tag45.xml"/><Relationship Id="rId50" Type="http://schemas.openxmlformats.org/officeDocument/2006/relationships/tags" Target="../tags/tag44.xml"/><Relationship Id="rId5" Type="http://schemas.openxmlformats.org/officeDocument/2006/relationships/tags" Target="../tags/tag5.xml"/><Relationship Id="rId49" Type="http://schemas.openxmlformats.org/officeDocument/2006/relationships/tags" Target="../tags/tag43.xml"/><Relationship Id="rId48" Type="http://schemas.openxmlformats.org/officeDocument/2006/relationships/tags" Target="../tags/tag42.xml"/><Relationship Id="rId47" Type="http://schemas.openxmlformats.org/officeDocument/2006/relationships/tags" Target="../tags/tag41.xml"/><Relationship Id="rId46" Type="http://schemas.openxmlformats.org/officeDocument/2006/relationships/tags" Target="../tags/tag40.xml"/><Relationship Id="rId45" Type="http://schemas.openxmlformats.org/officeDocument/2006/relationships/tags" Target="../tags/tag39.xml"/><Relationship Id="rId44" Type="http://schemas.openxmlformats.org/officeDocument/2006/relationships/tags" Target="../tags/tag38.xml"/><Relationship Id="rId43" Type="http://schemas.openxmlformats.org/officeDocument/2006/relationships/tags" Target="../tags/tag37.xml"/><Relationship Id="rId42" Type="http://schemas.openxmlformats.org/officeDocument/2006/relationships/tags" Target="../tags/tag36.xml"/><Relationship Id="rId41" Type="http://schemas.openxmlformats.org/officeDocument/2006/relationships/tags" Target="../tags/tag35.xml"/><Relationship Id="rId40" Type="http://schemas.openxmlformats.org/officeDocument/2006/relationships/tags" Target="../tags/tag34.xml"/><Relationship Id="rId4" Type="http://schemas.openxmlformats.org/officeDocument/2006/relationships/tags" Target="../tags/tag4.xml"/><Relationship Id="rId39" Type="http://schemas.openxmlformats.org/officeDocument/2006/relationships/tags" Target="../tags/tag33.xml"/><Relationship Id="rId38" Type="http://schemas.openxmlformats.org/officeDocument/2006/relationships/tags" Target="../tags/tag32.xml"/><Relationship Id="rId37" Type="http://schemas.openxmlformats.org/officeDocument/2006/relationships/tags" Target="../tags/tag31.xml"/><Relationship Id="rId36" Type="http://schemas.openxmlformats.org/officeDocument/2006/relationships/tags" Target="../tags/tag30.xml"/><Relationship Id="rId35" Type="http://schemas.openxmlformats.org/officeDocument/2006/relationships/tags" Target="../tags/tag29.xml"/><Relationship Id="rId34" Type="http://schemas.openxmlformats.org/officeDocument/2006/relationships/image" Target="../media/image13.svg"/><Relationship Id="rId33" Type="http://schemas.openxmlformats.org/officeDocument/2006/relationships/image" Target="../media/image12.png"/><Relationship Id="rId32" Type="http://schemas.openxmlformats.org/officeDocument/2006/relationships/tags" Target="../tags/tag28.xml"/><Relationship Id="rId31" Type="http://schemas.openxmlformats.org/officeDocument/2006/relationships/tags" Target="../tags/tag27.xml"/><Relationship Id="rId30" Type="http://schemas.openxmlformats.org/officeDocument/2006/relationships/tags" Target="../tags/tag26.xml"/><Relationship Id="rId3" Type="http://schemas.openxmlformats.org/officeDocument/2006/relationships/tags" Target="../tags/tag3.xml"/><Relationship Id="rId29" Type="http://schemas.openxmlformats.org/officeDocument/2006/relationships/image" Target="../media/image11.svg"/><Relationship Id="rId28" Type="http://schemas.openxmlformats.org/officeDocument/2006/relationships/image" Target="../media/image10.png"/><Relationship Id="rId27" Type="http://schemas.openxmlformats.org/officeDocument/2006/relationships/tags" Target="../tags/tag25.xml"/><Relationship Id="rId26" Type="http://schemas.openxmlformats.org/officeDocument/2006/relationships/image" Target="../media/image9.svg"/><Relationship Id="rId25" Type="http://schemas.openxmlformats.org/officeDocument/2006/relationships/image" Target="../media/image8.png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7" Type="http://schemas.openxmlformats.org/officeDocument/2006/relationships/notesSlide" Target="../notesSlides/notesSlide4.xml"/><Relationship Id="rId76" Type="http://schemas.openxmlformats.org/officeDocument/2006/relationships/slideLayout" Target="../slideLayouts/slideLayout2.xml"/><Relationship Id="rId75" Type="http://schemas.openxmlformats.org/officeDocument/2006/relationships/tags" Target="../tags/tag164.xml"/><Relationship Id="rId74" Type="http://schemas.openxmlformats.org/officeDocument/2006/relationships/tags" Target="../tags/tag163.xml"/><Relationship Id="rId73" Type="http://schemas.openxmlformats.org/officeDocument/2006/relationships/tags" Target="../tags/tag162.xml"/><Relationship Id="rId72" Type="http://schemas.openxmlformats.org/officeDocument/2006/relationships/tags" Target="../tags/tag161.xml"/><Relationship Id="rId71" Type="http://schemas.openxmlformats.org/officeDocument/2006/relationships/tags" Target="../tags/tag160.xml"/><Relationship Id="rId70" Type="http://schemas.openxmlformats.org/officeDocument/2006/relationships/tags" Target="../tags/tag159.xml"/><Relationship Id="rId7" Type="http://schemas.openxmlformats.org/officeDocument/2006/relationships/tags" Target="../tags/tag98.xml"/><Relationship Id="rId69" Type="http://schemas.openxmlformats.org/officeDocument/2006/relationships/tags" Target="../tags/tag158.xml"/><Relationship Id="rId68" Type="http://schemas.openxmlformats.org/officeDocument/2006/relationships/tags" Target="../tags/tag157.xml"/><Relationship Id="rId67" Type="http://schemas.openxmlformats.org/officeDocument/2006/relationships/tags" Target="../tags/tag156.xml"/><Relationship Id="rId66" Type="http://schemas.openxmlformats.org/officeDocument/2006/relationships/tags" Target="../tags/tag155.xml"/><Relationship Id="rId65" Type="http://schemas.openxmlformats.org/officeDocument/2006/relationships/tags" Target="../tags/tag154.xml"/><Relationship Id="rId64" Type="http://schemas.openxmlformats.org/officeDocument/2006/relationships/tags" Target="../tags/tag153.xml"/><Relationship Id="rId63" Type="http://schemas.openxmlformats.org/officeDocument/2006/relationships/tags" Target="../tags/tag152.xml"/><Relationship Id="rId62" Type="http://schemas.openxmlformats.org/officeDocument/2006/relationships/image" Target="../media/image13.svg"/><Relationship Id="rId61" Type="http://schemas.openxmlformats.org/officeDocument/2006/relationships/image" Target="../media/image12.png"/><Relationship Id="rId60" Type="http://schemas.openxmlformats.org/officeDocument/2006/relationships/tags" Target="../tags/tag151.xml"/><Relationship Id="rId6" Type="http://schemas.openxmlformats.org/officeDocument/2006/relationships/tags" Target="../tags/tag97.xml"/><Relationship Id="rId59" Type="http://schemas.openxmlformats.org/officeDocument/2006/relationships/tags" Target="../tags/tag150.xml"/><Relationship Id="rId58" Type="http://schemas.openxmlformats.org/officeDocument/2006/relationships/tags" Target="../tags/tag149.xml"/><Relationship Id="rId57" Type="http://schemas.openxmlformats.org/officeDocument/2006/relationships/tags" Target="../tags/tag148.xml"/><Relationship Id="rId56" Type="http://schemas.openxmlformats.org/officeDocument/2006/relationships/tags" Target="../tags/tag147.xml"/><Relationship Id="rId55" Type="http://schemas.openxmlformats.org/officeDocument/2006/relationships/tags" Target="../tags/tag146.xml"/><Relationship Id="rId54" Type="http://schemas.openxmlformats.org/officeDocument/2006/relationships/tags" Target="../tags/tag145.xml"/><Relationship Id="rId53" Type="http://schemas.openxmlformats.org/officeDocument/2006/relationships/tags" Target="../tags/tag144.xml"/><Relationship Id="rId52" Type="http://schemas.openxmlformats.org/officeDocument/2006/relationships/tags" Target="../tags/tag143.xml"/><Relationship Id="rId51" Type="http://schemas.openxmlformats.org/officeDocument/2006/relationships/tags" Target="../tags/tag142.xml"/><Relationship Id="rId50" Type="http://schemas.openxmlformats.org/officeDocument/2006/relationships/tags" Target="../tags/tag141.xml"/><Relationship Id="rId5" Type="http://schemas.openxmlformats.org/officeDocument/2006/relationships/tags" Target="../tags/tag96.xml"/><Relationship Id="rId49" Type="http://schemas.openxmlformats.org/officeDocument/2006/relationships/tags" Target="../tags/tag140.xml"/><Relationship Id="rId48" Type="http://schemas.openxmlformats.org/officeDocument/2006/relationships/tags" Target="../tags/tag139.xml"/><Relationship Id="rId47" Type="http://schemas.openxmlformats.org/officeDocument/2006/relationships/tags" Target="../tags/tag138.xml"/><Relationship Id="rId46" Type="http://schemas.openxmlformats.org/officeDocument/2006/relationships/tags" Target="../tags/tag137.xml"/><Relationship Id="rId45" Type="http://schemas.openxmlformats.org/officeDocument/2006/relationships/tags" Target="../tags/tag136.xml"/><Relationship Id="rId44" Type="http://schemas.openxmlformats.org/officeDocument/2006/relationships/tags" Target="../tags/tag135.xml"/><Relationship Id="rId43" Type="http://schemas.openxmlformats.org/officeDocument/2006/relationships/tags" Target="../tags/tag134.xml"/><Relationship Id="rId42" Type="http://schemas.openxmlformats.org/officeDocument/2006/relationships/tags" Target="../tags/tag133.xml"/><Relationship Id="rId41" Type="http://schemas.openxmlformats.org/officeDocument/2006/relationships/tags" Target="../tags/tag132.xml"/><Relationship Id="rId40" Type="http://schemas.openxmlformats.org/officeDocument/2006/relationships/tags" Target="../tags/tag131.xml"/><Relationship Id="rId4" Type="http://schemas.openxmlformats.org/officeDocument/2006/relationships/tags" Target="../tags/tag95.xml"/><Relationship Id="rId39" Type="http://schemas.openxmlformats.org/officeDocument/2006/relationships/tags" Target="../tags/tag130.xml"/><Relationship Id="rId38" Type="http://schemas.openxmlformats.org/officeDocument/2006/relationships/tags" Target="../tags/tag129.xml"/><Relationship Id="rId37" Type="http://schemas.openxmlformats.org/officeDocument/2006/relationships/tags" Target="../tags/tag128.xml"/><Relationship Id="rId36" Type="http://schemas.openxmlformats.org/officeDocument/2006/relationships/tags" Target="../tags/tag127.xml"/><Relationship Id="rId35" Type="http://schemas.openxmlformats.org/officeDocument/2006/relationships/tags" Target="../tags/tag126.xml"/><Relationship Id="rId34" Type="http://schemas.openxmlformats.org/officeDocument/2006/relationships/tags" Target="../tags/tag125.xml"/><Relationship Id="rId33" Type="http://schemas.openxmlformats.org/officeDocument/2006/relationships/tags" Target="../tags/tag124.xml"/><Relationship Id="rId32" Type="http://schemas.openxmlformats.org/officeDocument/2006/relationships/tags" Target="../tags/tag123.xml"/><Relationship Id="rId31" Type="http://schemas.openxmlformats.org/officeDocument/2006/relationships/tags" Target="../tags/tag122.xml"/><Relationship Id="rId30" Type="http://schemas.openxmlformats.org/officeDocument/2006/relationships/tags" Target="../tags/tag121.xml"/><Relationship Id="rId3" Type="http://schemas.openxmlformats.org/officeDocument/2006/relationships/tags" Target="../tags/tag94.xml"/><Relationship Id="rId29" Type="http://schemas.openxmlformats.org/officeDocument/2006/relationships/tags" Target="../tags/tag120.xml"/><Relationship Id="rId28" Type="http://schemas.openxmlformats.org/officeDocument/2006/relationships/tags" Target="../tags/tag119.xml"/><Relationship Id="rId27" Type="http://schemas.openxmlformats.org/officeDocument/2006/relationships/tags" Target="../tags/tag118.xml"/><Relationship Id="rId26" Type="http://schemas.openxmlformats.org/officeDocument/2006/relationships/tags" Target="../tags/tag117.xml"/><Relationship Id="rId25" Type="http://schemas.openxmlformats.org/officeDocument/2006/relationships/tags" Target="../tags/tag116.xml"/><Relationship Id="rId24" Type="http://schemas.openxmlformats.org/officeDocument/2006/relationships/tags" Target="../tags/tag115.xml"/><Relationship Id="rId23" Type="http://schemas.openxmlformats.org/officeDocument/2006/relationships/tags" Target="../tags/tag114.xml"/><Relationship Id="rId22" Type="http://schemas.openxmlformats.org/officeDocument/2006/relationships/tags" Target="../tags/tag113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3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3" Type="http://schemas.openxmlformats.org/officeDocument/2006/relationships/notesSlide" Target="../notesSlides/notesSlide5.xml"/><Relationship Id="rId82" Type="http://schemas.openxmlformats.org/officeDocument/2006/relationships/slideLayout" Target="../slideLayouts/slideLayout2.xml"/><Relationship Id="rId81" Type="http://schemas.openxmlformats.org/officeDocument/2006/relationships/tags" Target="../tags/tag245.xml"/><Relationship Id="rId80" Type="http://schemas.openxmlformats.org/officeDocument/2006/relationships/tags" Target="../tags/tag244.xml"/><Relationship Id="rId8" Type="http://schemas.openxmlformats.org/officeDocument/2006/relationships/tags" Target="../tags/tag172.xml"/><Relationship Id="rId79" Type="http://schemas.openxmlformats.org/officeDocument/2006/relationships/tags" Target="../tags/tag243.xml"/><Relationship Id="rId78" Type="http://schemas.openxmlformats.org/officeDocument/2006/relationships/tags" Target="../tags/tag242.xml"/><Relationship Id="rId77" Type="http://schemas.openxmlformats.org/officeDocument/2006/relationships/tags" Target="../tags/tag241.xml"/><Relationship Id="rId76" Type="http://schemas.openxmlformats.org/officeDocument/2006/relationships/tags" Target="../tags/tag240.xml"/><Relationship Id="rId75" Type="http://schemas.openxmlformats.org/officeDocument/2006/relationships/tags" Target="../tags/tag239.xml"/><Relationship Id="rId74" Type="http://schemas.openxmlformats.org/officeDocument/2006/relationships/tags" Target="../tags/tag238.xml"/><Relationship Id="rId73" Type="http://schemas.openxmlformats.org/officeDocument/2006/relationships/tags" Target="../tags/tag237.xml"/><Relationship Id="rId72" Type="http://schemas.openxmlformats.org/officeDocument/2006/relationships/tags" Target="../tags/tag236.xml"/><Relationship Id="rId71" Type="http://schemas.openxmlformats.org/officeDocument/2006/relationships/tags" Target="../tags/tag235.xml"/><Relationship Id="rId70" Type="http://schemas.openxmlformats.org/officeDocument/2006/relationships/tags" Target="../tags/tag234.xml"/><Relationship Id="rId7" Type="http://schemas.openxmlformats.org/officeDocument/2006/relationships/tags" Target="../tags/tag171.xml"/><Relationship Id="rId69" Type="http://schemas.openxmlformats.org/officeDocument/2006/relationships/tags" Target="../tags/tag233.xml"/><Relationship Id="rId68" Type="http://schemas.openxmlformats.org/officeDocument/2006/relationships/tags" Target="../tags/tag232.xml"/><Relationship Id="rId67" Type="http://schemas.openxmlformats.org/officeDocument/2006/relationships/tags" Target="../tags/tag231.xml"/><Relationship Id="rId66" Type="http://schemas.openxmlformats.org/officeDocument/2006/relationships/tags" Target="../tags/tag230.xml"/><Relationship Id="rId65" Type="http://schemas.openxmlformats.org/officeDocument/2006/relationships/tags" Target="../tags/tag229.xml"/><Relationship Id="rId64" Type="http://schemas.openxmlformats.org/officeDocument/2006/relationships/tags" Target="../tags/tag228.xml"/><Relationship Id="rId63" Type="http://schemas.openxmlformats.org/officeDocument/2006/relationships/tags" Target="../tags/tag227.xml"/><Relationship Id="rId62" Type="http://schemas.openxmlformats.org/officeDocument/2006/relationships/tags" Target="../tags/tag226.xml"/><Relationship Id="rId61" Type="http://schemas.openxmlformats.org/officeDocument/2006/relationships/tags" Target="../tags/tag225.xml"/><Relationship Id="rId60" Type="http://schemas.openxmlformats.org/officeDocument/2006/relationships/tags" Target="../tags/tag224.xml"/><Relationship Id="rId6" Type="http://schemas.openxmlformats.org/officeDocument/2006/relationships/tags" Target="../tags/tag170.xml"/><Relationship Id="rId59" Type="http://schemas.openxmlformats.org/officeDocument/2006/relationships/tags" Target="../tags/tag223.xml"/><Relationship Id="rId58" Type="http://schemas.openxmlformats.org/officeDocument/2006/relationships/tags" Target="../tags/tag222.xml"/><Relationship Id="rId57" Type="http://schemas.openxmlformats.org/officeDocument/2006/relationships/tags" Target="../tags/tag221.xml"/><Relationship Id="rId56" Type="http://schemas.openxmlformats.org/officeDocument/2006/relationships/tags" Target="../tags/tag220.xml"/><Relationship Id="rId55" Type="http://schemas.openxmlformats.org/officeDocument/2006/relationships/tags" Target="../tags/tag219.xml"/><Relationship Id="rId54" Type="http://schemas.openxmlformats.org/officeDocument/2006/relationships/tags" Target="../tags/tag218.xml"/><Relationship Id="rId53" Type="http://schemas.openxmlformats.org/officeDocument/2006/relationships/tags" Target="../tags/tag217.xml"/><Relationship Id="rId52" Type="http://schemas.openxmlformats.org/officeDocument/2006/relationships/tags" Target="../tags/tag216.xml"/><Relationship Id="rId51" Type="http://schemas.openxmlformats.org/officeDocument/2006/relationships/tags" Target="../tags/tag215.xml"/><Relationship Id="rId50" Type="http://schemas.openxmlformats.org/officeDocument/2006/relationships/tags" Target="../tags/tag214.xml"/><Relationship Id="rId5" Type="http://schemas.openxmlformats.org/officeDocument/2006/relationships/tags" Target="../tags/tag169.xml"/><Relationship Id="rId49" Type="http://schemas.openxmlformats.org/officeDocument/2006/relationships/tags" Target="../tags/tag213.xml"/><Relationship Id="rId48" Type="http://schemas.openxmlformats.org/officeDocument/2006/relationships/tags" Target="../tags/tag212.xml"/><Relationship Id="rId47" Type="http://schemas.openxmlformats.org/officeDocument/2006/relationships/tags" Target="../tags/tag211.xml"/><Relationship Id="rId46" Type="http://schemas.openxmlformats.org/officeDocument/2006/relationships/tags" Target="../tags/tag210.xml"/><Relationship Id="rId45" Type="http://schemas.openxmlformats.org/officeDocument/2006/relationships/tags" Target="../tags/tag209.xml"/><Relationship Id="rId44" Type="http://schemas.openxmlformats.org/officeDocument/2006/relationships/tags" Target="../tags/tag208.xml"/><Relationship Id="rId43" Type="http://schemas.openxmlformats.org/officeDocument/2006/relationships/tags" Target="../tags/tag207.xml"/><Relationship Id="rId42" Type="http://schemas.openxmlformats.org/officeDocument/2006/relationships/tags" Target="../tags/tag206.xml"/><Relationship Id="rId41" Type="http://schemas.openxmlformats.org/officeDocument/2006/relationships/tags" Target="../tags/tag205.xml"/><Relationship Id="rId40" Type="http://schemas.openxmlformats.org/officeDocument/2006/relationships/tags" Target="../tags/tag204.xml"/><Relationship Id="rId4" Type="http://schemas.openxmlformats.org/officeDocument/2006/relationships/tags" Target="../tags/tag168.xml"/><Relationship Id="rId39" Type="http://schemas.openxmlformats.org/officeDocument/2006/relationships/tags" Target="../tags/tag203.xml"/><Relationship Id="rId38" Type="http://schemas.openxmlformats.org/officeDocument/2006/relationships/tags" Target="../tags/tag202.xml"/><Relationship Id="rId37" Type="http://schemas.openxmlformats.org/officeDocument/2006/relationships/tags" Target="../tags/tag201.xml"/><Relationship Id="rId36" Type="http://schemas.openxmlformats.org/officeDocument/2006/relationships/tags" Target="../tags/tag200.xml"/><Relationship Id="rId35" Type="http://schemas.openxmlformats.org/officeDocument/2006/relationships/tags" Target="../tags/tag199.xml"/><Relationship Id="rId34" Type="http://schemas.openxmlformats.org/officeDocument/2006/relationships/tags" Target="../tags/tag198.xml"/><Relationship Id="rId33" Type="http://schemas.openxmlformats.org/officeDocument/2006/relationships/tags" Target="../tags/tag197.xml"/><Relationship Id="rId32" Type="http://schemas.openxmlformats.org/officeDocument/2006/relationships/tags" Target="../tags/tag196.xml"/><Relationship Id="rId31" Type="http://schemas.openxmlformats.org/officeDocument/2006/relationships/tags" Target="../tags/tag195.xml"/><Relationship Id="rId30" Type="http://schemas.openxmlformats.org/officeDocument/2006/relationships/tags" Target="../tags/tag194.xml"/><Relationship Id="rId3" Type="http://schemas.openxmlformats.org/officeDocument/2006/relationships/tags" Target="../tags/tag167.xml"/><Relationship Id="rId29" Type="http://schemas.openxmlformats.org/officeDocument/2006/relationships/tags" Target="../tags/tag193.xml"/><Relationship Id="rId28" Type="http://schemas.openxmlformats.org/officeDocument/2006/relationships/tags" Target="../tags/tag192.xml"/><Relationship Id="rId27" Type="http://schemas.openxmlformats.org/officeDocument/2006/relationships/tags" Target="../tags/tag191.xml"/><Relationship Id="rId26" Type="http://schemas.openxmlformats.org/officeDocument/2006/relationships/tags" Target="../tags/tag190.xml"/><Relationship Id="rId25" Type="http://schemas.openxmlformats.org/officeDocument/2006/relationships/tags" Target="../tags/tag189.xml"/><Relationship Id="rId24" Type="http://schemas.openxmlformats.org/officeDocument/2006/relationships/tags" Target="../tags/tag188.xml"/><Relationship Id="rId23" Type="http://schemas.openxmlformats.org/officeDocument/2006/relationships/tags" Target="../tags/tag187.xml"/><Relationship Id="rId22" Type="http://schemas.openxmlformats.org/officeDocument/2006/relationships/tags" Target="../tags/tag186.xml"/><Relationship Id="rId21" Type="http://schemas.openxmlformats.org/officeDocument/2006/relationships/tags" Target="../tags/tag185.xml"/><Relationship Id="rId20" Type="http://schemas.openxmlformats.org/officeDocument/2006/relationships/tags" Target="../tags/tag184.xml"/><Relationship Id="rId2" Type="http://schemas.openxmlformats.org/officeDocument/2006/relationships/tags" Target="../tags/tag166.xml"/><Relationship Id="rId19" Type="http://schemas.openxmlformats.org/officeDocument/2006/relationships/tags" Target="../tags/tag183.xml"/><Relationship Id="rId18" Type="http://schemas.openxmlformats.org/officeDocument/2006/relationships/tags" Target="../tags/tag182.xml"/><Relationship Id="rId17" Type="http://schemas.openxmlformats.org/officeDocument/2006/relationships/tags" Target="../tags/tag181.xml"/><Relationship Id="rId16" Type="http://schemas.openxmlformats.org/officeDocument/2006/relationships/tags" Target="../tags/tag180.xml"/><Relationship Id="rId15" Type="http://schemas.openxmlformats.org/officeDocument/2006/relationships/tags" Target="../tags/tag179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tags" Target="../tags/tag16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54.xml"/><Relationship Id="rId8" Type="http://schemas.openxmlformats.org/officeDocument/2006/relationships/tags" Target="../tags/tag253.xml"/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3" Type="http://schemas.openxmlformats.org/officeDocument/2006/relationships/notesSlide" Target="../notesSlides/notesSlide11.xml"/><Relationship Id="rId42" Type="http://schemas.openxmlformats.org/officeDocument/2006/relationships/slideLayout" Target="../slideLayouts/slideLayout2.xml"/><Relationship Id="rId41" Type="http://schemas.openxmlformats.org/officeDocument/2006/relationships/tags" Target="../tags/tag286.xml"/><Relationship Id="rId40" Type="http://schemas.openxmlformats.org/officeDocument/2006/relationships/tags" Target="../tags/tag285.xml"/><Relationship Id="rId4" Type="http://schemas.openxmlformats.org/officeDocument/2006/relationships/tags" Target="../tags/tag249.xml"/><Relationship Id="rId39" Type="http://schemas.openxmlformats.org/officeDocument/2006/relationships/tags" Target="../tags/tag284.xml"/><Relationship Id="rId38" Type="http://schemas.openxmlformats.org/officeDocument/2006/relationships/tags" Target="../tags/tag283.xml"/><Relationship Id="rId37" Type="http://schemas.openxmlformats.org/officeDocument/2006/relationships/tags" Target="../tags/tag282.xml"/><Relationship Id="rId36" Type="http://schemas.openxmlformats.org/officeDocument/2006/relationships/tags" Target="../tags/tag281.xml"/><Relationship Id="rId35" Type="http://schemas.openxmlformats.org/officeDocument/2006/relationships/tags" Target="../tags/tag280.xml"/><Relationship Id="rId34" Type="http://schemas.openxmlformats.org/officeDocument/2006/relationships/tags" Target="../tags/tag279.xml"/><Relationship Id="rId33" Type="http://schemas.openxmlformats.org/officeDocument/2006/relationships/tags" Target="../tags/tag278.xml"/><Relationship Id="rId32" Type="http://schemas.openxmlformats.org/officeDocument/2006/relationships/tags" Target="../tags/tag277.xml"/><Relationship Id="rId31" Type="http://schemas.openxmlformats.org/officeDocument/2006/relationships/tags" Target="../tags/tag276.xml"/><Relationship Id="rId30" Type="http://schemas.openxmlformats.org/officeDocument/2006/relationships/tags" Target="../tags/tag275.xml"/><Relationship Id="rId3" Type="http://schemas.openxmlformats.org/officeDocument/2006/relationships/tags" Target="../tags/tag248.xml"/><Relationship Id="rId29" Type="http://schemas.openxmlformats.org/officeDocument/2006/relationships/tags" Target="../tags/tag274.xml"/><Relationship Id="rId28" Type="http://schemas.openxmlformats.org/officeDocument/2006/relationships/tags" Target="../tags/tag273.xml"/><Relationship Id="rId27" Type="http://schemas.openxmlformats.org/officeDocument/2006/relationships/tags" Target="../tags/tag272.xml"/><Relationship Id="rId26" Type="http://schemas.openxmlformats.org/officeDocument/2006/relationships/tags" Target="../tags/tag271.xml"/><Relationship Id="rId25" Type="http://schemas.openxmlformats.org/officeDocument/2006/relationships/tags" Target="../tags/tag270.xml"/><Relationship Id="rId24" Type="http://schemas.openxmlformats.org/officeDocument/2006/relationships/tags" Target="../tags/tag269.xml"/><Relationship Id="rId23" Type="http://schemas.openxmlformats.org/officeDocument/2006/relationships/tags" Target="../tags/tag268.xml"/><Relationship Id="rId22" Type="http://schemas.openxmlformats.org/officeDocument/2006/relationships/tags" Target="../tags/tag267.xml"/><Relationship Id="rId21" Type="http://schemas.openxmlformats.org/officeDocument/2006/relationships/tags" Target="../tags/tag266.xml"/><Relationship Id="rId20" Type="http://schemas.openxmlformats.org/officeDocument/2006/relationships/tags" Target="../tags/tag265.xml"/><Relationship Id="rId2" Type="http://schemas.openxmlformats.org/officeDocument/2006/relationships/tags" Target="../tags/tag247.xml"/><Relationship Id="rId19" Type="http://schemas.openxmlformats.org/officeDocument/2006/relationships/tags" Target="../tags/tag264.xml"/><Relationship Id="rId18" Type="http://schemas.openxmlformats.org/officeDocument/2006/relationships/tags" Target="../tags/tag263.xml"/><Relationship Id="rId17" Type="http://schemas.openxmlformats.org/officeDocument/2006/relationships/tags" Target="../tags/tag262.xml"/><Relationship Id="rId16" Type="http://schemas.openxmlformats.org/officeDocument/2006/relationships/tags" Target="../tags/tag261.xml"/><Relationship Id="rId15" Type="http://schemas.openxmlformats.org/officeDocument/2006/relationships/tags" Target="../tags/tag260.xml"/><Relationship Id="rId14" Type="http://schemas.openxmlformats.org/officeDocument/2006/relationships/tags" Target="../tags/tag259.xml"/><Relationship Id="rId13" Type="http://schemas.openxmlformats.org/officeDocument/2006/relationships/tags" Target="../tags/tag258.xml"/><Relationship Id="rId12" Type="http://schemas.openxmlformats.org/officeDocument/2006/relationships/tags" Target="../tags/tag257.xml"/><Relationship Id="rId11" Type="http://schemas.openxmlformats.org/officeDocument/2006/relationships/tags" Target="../tags/tag256.xml"/><Relationship Id="rId10" Type="http://schemas.openxmlformats.org/officeDocument/2006/relationships/tags" Target="../tags/tag255.xml"/><Relationship Id="rId1" Type="http://schemas.openxmlformats.org/officeDocument/2006/relationships/tags" Target="../tags/tag24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28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kb.cvte.com/pages/viewpage.action?pageId=324622532" TargetMode="External"/><Relationship Id="rId4" Type="http://schemas.openxmlformats.org/officeDocument/2006/relationships/tags" Target="../tags/tag290.xml"/><Relationship Id="rId3" Type="http://schemas.openxmlformats.org/officeDocument/2006/relationships/hyperlink" Target="https://www.kdocs.cn/l/cfN4uu3hp1B2&#13;" TargetMode="External"/><Relationship Id="rId2" Type="http://schemas.openxmlformats.org/officeDocument/2006/relationships/tags" Target="../tags/tag289.xml"/><Relationship Id="rId1" Type="http://schemas.openxmlformats.org/officeDocument/2006/relationships/tags" Target="../tags/tag28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0" Type="http://schemas.openxmlformats.org/officeDocument/2006/relationships/notesSlide" Target="../notesSlides/notesSlide15.xml"/><Relationship Id="rId1" Type="http://schemas.openxmlformats.org/officeDocument/2006/relationships/tags" Target="../tags/tag29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29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303.xml"/><Relationship Id="rId6" Type="http://schemas.openxmlformats.org/officeDocument/2006/relationships/image" Target="../media/image19.png"/><Relationship Id="rId5" Type="http://schemas.openxmlformats.org/officeDocument/2006/relationships/tags" Target="../tags/tag302.xml"/><Relationship Id="rId4" Type="http://schemas.openxmlformats.org/officeDocument/2006/relationships/image" Target="../media/image18.png"/><Relationship Id="rId3" Type="http://schemas.openxmlformats.org/officeDocument/2006/relationships/tags" Target="../tags/tag301.xml"/><Relationship Id="rId2" Type="http://schemas.openxmlformats.org/officeDocument/2006/relationships/image" Target="../media/image17.png"/><Relationship Id="rId1" Type="http://schemas.openxmlformats.org/officeDocument/2006/relationships/tags" Target="../tags/tag300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308.xml"/><Relationship Id="rId7" Type="http://schemas.openxmlformats.org/officeDocument/2006/relationships/image" Target="../media/image22.png"/><Relationship Id="rId6" Type="http://schemas.openxmlformats.org/officeDocument/2006/relationships/tags" Target="../tags/tag307.xml"/><Relationship Id="rId5" Type="http://schemas.openxmlformats.org/officeDocument/2006/relationships/image" Target="../media/image21.png"/><Relationship Id="rId4" Type="http://schemas.openxmlformats.org/officeDocument/2006/relationships/tags" Target="../tags/tag306.xml"/><Relationship Id="rId3" Type="http://schemas.openxmlformats.org/officeDocument/2006/relationships/image" Target="../media/image20.png"/><Relationship Id="rId2" Type="http://schemas.openxmlformats.org/officeDocument/2006/relationships/tags" Target="../tags/tag305.xml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04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tags" Target="../tags/tag311.xml"/><Relationship Id="rId3" Type="http://schemas.openxmlformats.org/officeDocument/2006/relationships/image" Target="../media/image24.png"/><Relationship Id="rId2" Type="http://schemas.openxmlformats.org/officeDocument/2006/relationships/tags" Target="../tags/tag310.xml"/><Relationship Id="rId1" Type="http://schemas.openxmlformats.org/officeDocument/2006/relationships/tags" Target="../tags/tag30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2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6.xml"/><Relationship Id="rId4" Type="http://schemas.openxmlformats.org/officeDocument/2006/relationships/tags" Target="../tags/tag315.xml"/><Relationship Id="rId3" Type="http://schemas.openxmlformats.org/officeDocument/2006/relationships/image" Target="../media/image26.png"/><Relationship Id="rId2" Type="http://schemas.openxmlformats.org/officeDocument/2006/relationships/tags" Target="../tags/tag314.xml"/><Relationship Id="rId1" Type="http://schemas.openxmlformats.org/officeDocument/2006/relationships/tags" Target="../tags/tag313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tags" Target="../tags/tag317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3" Type="http://schemas.openxmlformats.org/officeDocument/2006/relationships/notesSlide" Target="../notesSlides/notesSlide23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340.xml"/><Relationship Id="rId20" Type="http://schemas.openxmlformats.org/officeDocument/2006/relationships/tags" Target="../tags/tag339.xml"/><Relationship Id="rId2" Type="http://schemas.openxmlformats.org/officeDocument/2006/relationships/tags" Target="../tags/tag321.xml"/><Relationship Id="rId19" Type="http://schemas.openxmlformats.org/officeDocument/2006/relationships/tags" Target="../tags/tag338.xml"/><Relationship Id="rId18" Type="http://schemas.openxmlformats.org/officeDocument/2006/relationships/tags" Target="../tags/tag337.xml"/><Relationship Id="rId17" Type="http://schemas.openxmlformats.org/officeDocument/2006/relationships/tags" Target="../tags/tag336.xml"/><Relationship Id="rId16" Type="http://schemas.openxmlformats.org/officeDocument/2006/relationships/tags" Target="../tags/tag335.xml"/><Relationship Id="rId15" Type="http://schemas.openxmlformats.org/officeDocument/2006/relationships/tags" Target="../tags/tag334.xml"/><Relationship Id="rId14" Type="http://schemas.openxmlformats.org/officeDocument/2006/relationships/tags" Target="../tags/tag333.xml"/><Relationship Id="rId13" Type="http://schemas.openxmlformats.org/officeDocument/2006/relationships/tags" Target="../tags/tag332.xml"/><Relationship Id="rId12" Type="http://schemas.openxmlformats.org/officeDocument/2006/relationships/tags" Target="../tags/tag331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tags" Target="../tags/tag3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683895" y="1419225"/>
            <a:ext cx="6555105" cy="843280"/>
          </a:xfrm>
        </p:spPr>
        <p:txBody>
          <a:bodyPr/>
          <a:lstStyle/>
          <a:p>
            <a:r>
              <a:rPr lang="en-US" altLang="zh-CN" sz="3600" dirty="0"/>
              <a:t>BI</a:t>
            </a:r>
            <a:r>
              <a:rPr lang="zh-CN" altLang="en-US" sz="3600" dirty="0"/>
              <a:t>指标体系建设</a:t>
            </a:r>
            <a:r>
              <a:rPr lang="zh-CN" altLang="en-US" sz="3600" dirty="0"/>
              <a:t>思路</a:t>
            </a:r>
            <a:endParaRPr lang="zh-CN" altLang="en-US" sz="3600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6"/>
          </p:nvPr>
        </p:nvSpPr>
        <p:spPr>
          <a:xfrm>
            <a:off x="674370" y="3068320"/>
            <a:ext cx="4697095" cy="857885"/>
          </a:xfrm>
        </p:spPr>
        <p:txBody>
          <a:bodyPr/>
          <a:lstStyle/>
          <a:p>
            <a:r>
              <a:rPr lang="zh-CN" altLang="en-US" dirty="0">
                <a:latin typeface="方正兰亭黑_GBK" panose="02000000000000000000" pitchFamily="2" charset="-122"/>
                <a:ea typeface="方正兰亭黑_GBK" panose="02000000000000000000" pitchFamily="2" charset="-122"/>
              </a:rPr>
              <a:t>部件</a:t>
            </a:r>
            <a:r>
              <a:rPr lang="en-US" altLang="zh-CN" dirty="0">
                <a:latin typeface="方正兰亭黑_GBK" panose="02000000000000000000" pitchFamily="2" charset="-122"/>
                <a:ea typeface="方正兰亭黑_GBK" panose="02000000000000000000" pitchFamily="2" charset="-122"/>
              </a:rPr>
              <a:t>BG </a:t>
            </a:r>
            <a:r>
              <a:rPr lang="zh-CN" altLang="en-US" dirty="0">
                <a:latin typeface="方正兰亭黑_GBK" panose="02000000000000000000" pitchFamily="2" charset="-122"/>
                <a:ea typeface="方正兰亭黑_GBK" panose="02000000000000000000" pitchFamily="2" charset="-122"/>
              </a:rPr>
              <a:t>运营效率部</a:t>
            </a:r>
            <a:endParaRPr lang="en-US" altLang="zh-CN" dirty="0">
              <a:latin typeface="方正兰亭黑_GBK" panose="02000000000000000000" pitchFamily="2" charset="-122"/>
              <a:ea typeface="方正兰亭黑_GBK" panose="02000000000000000000" pitchFamily="2" charset="-122"/>
            </a:endParaRPr>
          </a:p>
          <a:p>
            <a:r>
              <a:rPr lang="en-US" altLang="zh-CN" dirty="0">
                <a:latin typeface="方正兰亭黑_GBK" panose="02000000000000000000" pitchFamily="2" charset="-122"/>
                <a:ea typeface="方正兰亭黑_GBK" panose="02000000000000000000" pitchFamily="2" charset="-122"/>
              </a:rPr>
              <a:t>2024.01</a:t>
            </a:r>
            <a:endParaRPr lang="zh-CN" altLang="en-US" dirty="0">
              <a:latin typeface="方正兰亭黑_GBK" panose="02000000000000000000" pitchFamily="2" charset="-122"/>
              <a:ea typeface="方正兰亭黑_GBK" panose="02000000000000000000" pitchFamily="2" charset="-122"/>
            </a:endParaRPr>
          </a:p>
          <a:p>
            <a:endParaRPr lang="zh-CN" altLang="en-US" dirty="0">
              <a:latin typeface="方正兰亭黑_GBK" panose="02000000000000000000" pitchFamily="2" charset="-122"/>
              <a:ea typeface="方正兰亭黑_GBK" panose="02000000000000000000" pitchFamily="2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zh-CN" altLang="en-US" dirty="0">
                <a:latin typeface="方正兰亭黑_GBK" panose="02000000000000000000" pitchFamily="2" charset="-122"/>
                <a:ea typeface="方正兰亭黑_GBK" panose="02000000000000000000" pitchFamily="2" charset="-122"/>
              </a:rPr>
              <a:t>广州视琨电子科技有限</a:t>
            </a:r>
            <a:r>
              <a:rPr lang="zh-CN" altLang="en-US" dirty="0">
                <a:latin typeface="方正兰亭黑_GBK" panose="02000000000000000000" pitchFamily="2" charset="-122"/>
                <a:ea typeface="方正兰亭黑_GBK" panose="02000000000000000000" pitchFamily="2" charset="-122"/>
              </a:rPr>
              <a:t>公司</a:t>
            </a:r>
            <a:endParaRPr lang="zh-CN" altLang="en-US" dirty="0">
              <a:latin typeface="方正兰亭黑_GBK" panose="02000000000000000000" pitchFamily="2" charset="-122"/>
              <a:ea typeface="方正兰亭黑_GBK" panose="020000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组合 104"/>
          <p:cNvGrpSpPr/>
          <p:nvPr/>
        </p:nvGrpSpPr>
        <p:grpSpPr>
          <a:xfrm>
            <a:off x="1331595" y="2539365"/>
            <a:ext cx="5400000" cy="612000"/>
            <a:chOff x="1711" y="2522"/>
            <a:chExt cx="11552" cy="1444"/>
          </a:xfrm>
        </p:grpSpPr>
        <p:sp>
          <p:nvSpPr>
            <p:cNvPr id="106" name="Freeform 5"/>
            <p:cNvSpPr/>
            <p:nvPr/>
          </p:nvSpPr>
          <p:spPr bwMode="auto">
            <a:xfrm>
              <a:off x="1711" y="2654"/>
              <a:ext cx="11400" cy="1313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07" name="Freeform 8"/>
            <p:cNvSpPr/>
            <p:nvPr/>
          </p:nvSpPr>
          <p:spPr bwMode="auto">
            <a:xfrm>
              <a:off x="13111" y="2654"/>
              <a:ext cx="152" cy="1313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08" name="Freeform 6"/>
            <p:cNvSpPr/>
            <p:nvPr/>
          </p:nvSpPr>
          <p:spPr bwMode="auto">
            <a:xfrm>
              <a:off x="2152" y="2522"/>
              <a:ext cx="1298" cy="1243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r>
                <a:rPr lang="en-US" sz="2400" b="1" dirty="0" smtClean="0">
                  <a:solidFill>
                    <a:sysClr val="window" lastClr="FFFFFF"/>
                  </a:solidFill>
                </a:rPr>
                <a:t>3</a:t>
              </a:r>
              <a:endParaRPr lang="en-US" sz="2400" b="1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109" name="Freeform 7"/>
            <p:cNvSpPr/>
            <p:nvPr/>
          </p:nvSpPr>
          <p:spPr bwMode="auto">
            <a:xfrm>
              <a:off x="2041" y="2522"/>
              <a:ext cx="224" cy="125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endParaRPr lang="en-US" sz="2400" b="1">
                <a:solidFill>
                  <a:sysClr val="window" lastClr="FFFFFF"/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273113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目录</a:t>
            </a:r>
            <a:endParaRPr lang="zh-CN" altLang="en-US" sz="2000" dirty="0"/>
          </a:p>
        </p:txBody>
      </p:sp>
      <p:grpSp>
        <p:nvGrpSpPr>
          <p:cNvPr id="60" name="组合 59"/>
          <p:cNvGrpSpPr/>
          <p:nvPr/>
        </p:nvGrpSpPr>
        <p:grpSpPr>
          <a:xfrm>
            <a:off x="1331595" y="960755"/>
            <a:ext cx="5400000" cy="612000"/>
            <a:chOff x="1711" y="2522"/>
            <a:chExt cx="11552" cy="1444"/>
          </a:xfrm>
        </p:grpSpPr>
        <p:sp>
          <p:nvSpPr>
            <p:cNvPr id="61" name="Freeform 5"/>
            <p:cNvSpPr/>
            <p:nvPr/>
          </p:nvSpPr>
          <p:spPr bwMode="auto">
            <a:xfrm>
              <a:off x="1711" y="2654"/>
              <a:ext cx="11400" cy="1313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2" name="Freeform 8"/>
            <p:cNvSpPr/>
            <p:nvPr/>
          </p:nvSpPr>
          <p:spPr bwMode="auto">
            <a:xfrm>
              <a:off x="13111" y="2654"/>
              <a:ext cx="152" cy="1313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66" name="Freeform 6"/>
            <p:cNvSpPr/>
            <p:nvPr/>
          </p:nvSpPr>
          <p:spPr bwMode="auto">
            <a:xfrm>
              <a:off x="2152" y="2522"/>
              <a:ext cx="1298" cy="1243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r>
                <a:rPr lang="en-US" sz="2400" b="1" dirty="0" smtClean="0">
                  <a:solidFill>
                    <a:sysClr val="window" lastClr="FFFFFF"/>
                  </a:solidFill>
                </a:rPr>
                <a:t>1</a:t>
              </a:r>
              <a:endParaRPr lang="en-US" sz="2400" b="1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67" name="Freeform 7"/>
            <p:cNvSpPr/>
            <p:nvPr/>
          </p:nvSpPr>
          <p:spPr bwMode="auto">
            <a:xfrm>
              <a:off x="2041" y="2522"/>
              <a:ext cx="224" cy="125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ysClr val="window" lastClr="FFFFFF"/>
                </a:solidFill>
              </a:endParaRPr>
            </a:p>
          </p:txBody>
        </p:sp>
      </p:grpSp>
      <p:sp>
        <p:nvSpPr>
          <p:cNvPr id="68" name="副标题 67"/>
          <p:cNvSpPr>
            <a:spLocks noGrp="1"/>
          </p:cNvSpPr>
          <p:nvPr>
            <p:ph type="subTitle" idx="1"/>
          </p:nvPr>
        </p:nvSpPr>
        <p:spPr>
          <a:xfrm>
            <a:off x="2268220" y="1040130"/>
            <a:ext cx="4382135" cy="527050"/>
          </a:xfrm>
        </p:spPr>
        <p:txBody>
          <a:bodyPr anchor="ctr" anchorCtr="0">
            <a:normAutofit/>
          </a:bodyPr>
          <a:p>
            <a:pPr marL="0" indent="0">
              <a:buNone/>
            </a:pP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：供应链数字化运营（</a:t>
            </a: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b="1" dirty="0" smtClean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331595" y="1750060"/>
            <a:ext cx="5400000" cy="612000"/>
            <a:chOff x="1711" y="2522"/>
            <a:chExt cx="11552" cy="1444"/>
          </a:xfrm>
        </p:grpSpPr>
        <p:sp>
          <p:nvSpPr>
            <p:cNvPr id="70" name="Freeform 5"/>
            <p:cNvSpPr/>
            <p:nvPr/>
          </p:nvSpPr>
          <p:spPr bwMode="auto">
            <a:xfrm>
              <a:off x="1711" y="2654"/>
              <a:ext cx="11400" cy="1313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71" name="Freeform 8"/>
            <p:cNvSpPr/>
            <p:nvPr/>
          </p:nvSpPr>
          <p:spPr bwMode="auto">
            <a:xfrm>
              <a:off x="13111" y="2654"/>
              <a:ext cx="152" cy="1313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72" name="Freeform 6"/>
            <p:cNvSpPr/>
            <p:nvPr/>
          </p:nvSpPr>
          <p:spPr bwMode="auto">
            <a:xfrm>
              <a:off x="2152" y="2522"/>
              <a:ext cx="1298" cy="1243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r>
                <a:rPr lang="en-US" sz="2400" b="1" dirty="0" smtClean="0">
                  <a:solidFill>
                    <a:sysClr val="window" lastClr="FFFFFF"/>
                  </a:solidFill>
                </a:rPr>
                <a:t>2</a:t>
              </a:r>
              <a:endParaRPr lang="en-US" sz="2400" b="1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76" name="Freeform 7"/>
            <p:cNvSpPr/>
            <p:nvPr/>
          </p:nvSpPr>
          <p:spPr bwMode="auto">
            <a:xfrm>
              <a:off x="2041" y="2522"/>
              <a:ext cx="224" cy="125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endParaRPr lang="en-US" sz="2400" b="1">
                <a:solidFill>
                  <a:sysClr val="window" lastClr="FFFFFF"/>
                </a:solidFill>
              </a:endParaRPr>
            </a:p>
          </p:txBody>
        </p:sp>
      </p:grpSp>
      <p:sp>
        <p:nvSpPr>
          <p:cNvPr id="92" name="副标题 19"/>
          <p:cNvSpPr>
            <a:spLocks noGrp="1"/>
          </p:cNvSpPr>
          <p:nvPr/>
        </p:nvSpPr>
        <p:spPr>
          <a:xfrm>
            <a:off x="2268220" y="1838325"/>
            <a:ext cx="4382135" cy="499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：整机BG-指标体系管理（</a:t>
            </a:r>
            <a:r>
              <a:rPr lang="en-US" altLang="zh-CN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2023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1400" b="1" dirty="0" smtClean="0">
              <a:solidFill>
                <a:schemeClr val="bg1">
                  <a:lumMod val="6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1331595" y="3331845"/>
            <a:ext cx="5400000" cy="612000"/>
            <a:chOff x="1711" y="2522"/>
            <a:chExt cx="11552" cy="1444"/>
          </a:xfrm>
        </p:grpSpPr>
        <p:sp>
          <p:nvSpPr>
            <p:cNvPr id="100" name="Freeform 5"/>
            <p:cNvSpPr/>
            <p:nvPr/>
          </p:nvSpPr>
          <p:spPr bwMode="auto">
            <a:xfrm>
              <a:off x="1711" y="2654"/>
              <a:ext cx="11400" cy="1313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01" name="Freeform 8"/>
            <p:cNvSpPr/>
            <p:nvPr/>
          </p:nvSpPr>
          <p:spPr bwMode="auto">
            <a:xfrm>
              <a:off x="13111" y="2654"/>
              <a:ext cx="152" cy="1313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02" name="Freeform 6"/>
            <p:cNvSpPr/>
            <p:nvPr/>
          </p:nvSpPr>
          <p:spPr bwMode="auto">
            <a:xfrm>
              <a:off x="2152" y="2522"/>
              <a:ext cx="1298" cy="1243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r>
                <a:rPr lang="en-US" sz="2400" b="1" dirty="0" smtClean="0">
                  <a:solidFill>
                    <a:sysClr val="window" lastClr="FFFFFF"/>
                  </a:solidFill>
                </a:rPr>
                <a:t>4</a:t>
              </a:r>
              <a:endParaRPr lang="en-US" sz="2400" b="1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103" name="Freeform 7"/>
            <p:cNvSpPr/>
            <p:nvPr/>
          </p:nvSpPr>
          <p:spPr bwMode="auto">
            <a:xfrm>
              <a:off x="2041" y="2522"/>
              <a:ext cx="224" cy="125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endParaRPr lang="en-US" sz="2400" b="1">
                <a:solidFill>
                  <a:sysClr val="window" lastClr="FFFFFF"/>
                </a:solidFill>
              </a:endParaRPr>
            </a:p>
          </p:txBody>
        </p:sp>
      </p:grpSp>
      <p:sp>
        <p:nvSpPr>
          <p:cNvPr id="104" name="副标题 19"/>
          <p:cNvSpPr>
            <a:spLocks noGrp="1"/>
          </p:cNvSpPr>
          <p:nvPr/>
        </p:nvSpPr>
        <p:spPr>
          <a:xfrm>
            <a:off x="2278380" y="2623820"/>
            <a:ext cx="4382135" cy="499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案例</a:t>
            </a:r>
            <a:r>
              <a:rPr lang="en-US" altLang="zh-CN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3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：部件供应链全员指标管理（</a:t>
            </a:r>
            <a:r>
              <a:rPr lang="en-US" altLang="zh-CN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2024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）</a:t>
            </a:r>
            <a:endParaRPr lang="zh-CN" altLang="en-US" sz="1400" b="1" dirty="0" smtClean="0">
              <a:solidFill>
                <a:schemeClr val="bg1">
                  <a:lumMod val="65000"/>
                </a:schemeClr>
              </a:solidFill>
              <a:sym typeface="+mn-ea"/>
            </a:endParaRPr>
          </a:p>
        </p:txBody>
      </p:sp>
      <p:sp>
        <p:nvSpPr>
          <p:cNvPr id="110" name="副标题 19"/>
          <p:cNvSpPr>
            <a:spLocks noGrp="1"/>
          </p:cNvSpPr>
          <p:nvPr/>
        </p:nvSpPr>
        <p:spPr>
          <a:xfrm>
            <a:off x="2278380" y="3416300"/>
            <a:ext cx="4382135" cy="499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指标体系建设过程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总结</a:t>
            </a:r>
            <a:endParaRPr lang="zh-CN" altLang="en-US" sz="1400" b="1" dirty="0" smtClean="0">
              <a:solidFill>
                <a:schemeClr val="bg1">
                  <a:lumMod val="65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 5"/>
          <p:cNvSpPr/>
          <p:nvPr/>
        </p:nvSpPr>
        <p:spPr bwMode="auto">
          <a:xfrm>
            <a:off x="1331595" y="2595245"/>
            <a:ext cx="5328920" cy="556260"/>
          </a:xfrm>
          <a:custGeom>
            <a:avLst/>
            <a:gdLst>
              <a:gd name="T0" fmla="*/ 31 w 2262"/>
              <a:gd name="T1" fmla="*/ 0 h 459"/>
              <a:gd name="T2" fmla="*/ 0 w 2262"/>
              <a:gd name="T3" fmla="*/ 31 h 459"/>
              <a:gd name="T4" fmla="*/ 0 w 2262"/>
              <a:gd name="T5" fmla="*/ 428 h 459"/>
              <a:gd name="T6" fmla="*/ 31 w 2262"/>
              <a:gd name="T7" fmla="*/ 459 h 459"/>
              <a:gd name="T8" fmla="*/ 2262 w 2262"/>
              <a:gd name="T9" fmla="*/ 459 h 459"/>
              <a:gd name="T10" fmla="*/ 2262 w 2262"/>
              <a:gd name="T11" fmla="*/ 0 h 459"/>
              <a:gd name="T12" fmla="*/ 31 w 2262"/>
              <a:gd name="T13" fmla="*/ 0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62" h="459">
                <a:moveTo>
                  <a:pt x="31" y="0"/>
                </a:moveTo>
                <a:cubicBezTo>
                  <a:pt x="14" y="0"/>
                  <a:pt x="0" y="14"/>
                  <a:pt x="0" y="31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45"/>
                  <a:pt x="14" y="459"/>
                  <a:pt x="31" y="459"/>
                </a:cubicBezTo>
                <a:cubicBezTo>
                  <a:pt x="2262" y="459"/>
                  <a:pt x="2262" y="459"/>
                  <a:pt x="2262" y="459"/>
                </a:cubicBezTo>
                <a:cubicBezTo>
                  <a:pt x="2262" y="0"/>
                  <a:pt x="2262" y="0"/>
                  <a:pt x="2262" y="0"/>
                </a:cubicBezTo>
                <a:lnTo>
                  <a:pt x="31" y="0"/>
                </a:ln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sp>
        <p:nvSpPr>
          <p:cNvPr id="107" name="Freeform 8"/>
          <p:cNvSpPr/>
          <p:nvPr/>
        </p:nvSpPr>
        <p:spPr bwMode="auto">
          <a:xfrm>
            <a:off x="6660515" y="2595245"/>
            <a:ext cx="71120" cy="556260"/>
          </a:xfrm>
          <a:custGeom>
            <a:avLst/>
            <a:gdLst>
              <a:gd name="T0" fmla="*/ 30 w 61"/>
              <a:gd name="T1" fmla="*/ 0 h 459"/>
              <a:gd name="T2" fmla="*/ 0 w 61"/>
              <a:gd name="T3" fmla="*/ 0 h 459"/>
              <a:gd name="T4" fmla="*/ 0 w 61"/>
              <a:gd name="T5" fmla="*/ 459 h 459"/>
              <a:gd name="T6" fmla="*/ 30 w 61"/>
              <a:gd name="T7" fmla="*/ 459 h 459"/>
              <a:gd name="T8" fmla="*/ 61 w 61"/>
              <a:gd name="T9" fmla="*/ 428 h 459"/>
              <a:gd name="T10" fmla="*/ 61 w 61"/>
              <a:gd name="T11" fmla="*/ 31 h 459"/>
              <a:gd name="T12" fmla="*/ 30 w 61"/>
              <a:gd name="T13" fmla="*/ 0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" h="459">
                <a:moveTo>
                  <a:pt x="3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59"/>
                  <a:pt x="0" y="459"/>
                  <a:pt x="0" y="459"/>
                </a:cubicBezTo>
                <a:cubicBezTo>
                  <a:pt x="30" y="459"/>
                  <a:pt x="30" y="459"/>
                  <a:pt x="30" y="459"/>
                </a:cubicBezTo>
                <a:cubicBezTo>
                  <a:pt x="47" y="459"/>
                  <a:pt x="61" y="445"/>
                  <a:pt x="61" y="428"/>
                </a:cubicBezTo>
                <a:cubicBezTo>
                  <a:pt x="61" y="31"/>
                  <a:pt x="61" y="31"/>
                  <a:pt x="61" y="31"/>
                </a:cubicBezTo>
                <a:cubicBezTo>
                  <a:pt x="61" y="14"/>
                  <a:pt x="47" y="0"/>
                  <a:pt x="3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108" name="Freeform 6"/>
          <p:cNvSpPr/>
          <p:nvPr/>
        </p:nvSpPr>
        <p:spPr bwMode="auto">
          <a:xfrm>
            <a:off x="1537970" y="2539365"/>
            <a:ext cx="607060" cy="527050"/>
          </a:xfrm>
          <a:custGeom>
            <a:avLst/>
            <a:gdLst>
              <a:gd name="T0" fmla="*/ 351 w 384"/>
              <a:gd name="T1" fmla="*/ 0 h 420"/>
              <a:gd name="T2" fmla="*/ 33 w 384"/>
              <a:gd name="T3" fmla="*/ 0 h 420"/>
              <a:gd name="T4" fmla="*/ 0 w 384"/>
              <a:gd name="T5" fmla="*/ 0 h 420"/>
              <a:gd name="T6" fmla="*/ 33 w 384"/>
              <a:gd name="T7" fmla="*/ 33 h 420"/>
              <a:gd name="T8" fmla="*/ 33 w 384"/>
              <a:gd name="T9" fmla="*/ 400 h 420"/>
              <a:gd name="T10" fmla="*/ 53 w 384"/>
              <a:gd name="T11" fmla="*/ 420 h 420"/>
              <a:gd name="T12" fmla="*/ 364 w 384"/>
              <a:gd name="T13" fmla="*/ 420 h 420"/>
              <a:gd name="T14" fmla="*/ 384 w 384"/>
              <a:gd name="T15" fmla="*/ 400 h 420"/>
              <a:gd name="T16" fmla="*/ 384 w 384"/>
              <a:gd name="T17" fmla="*/ 33 h 420"/>
              <a:gd name="T18" fmla="*/ 351 w 384"/>
              <a:gd name="T19" fmla="*/ 0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4" h="420">
                <a:moveTo>
                  <a:pt x="351" y="0"/>
                </a:moveTo>
                <a:cubicBezTo>
                  <a:pt x="33" y="0"/>
                  <a:pt x="33" y="0"/>
                  <a:pt x="33" y="0"/>
                </a:cubicBezTo>
                <a:cubicBezTo>
                  <a:pt x="0" y="0"/>
                  <a:pt x="0" y="0"/>
                  <a:pt x="0" y="0"/>
                </a:cubicBezTo>
                <a:cubicBezTo>
                  <a:pt x="18" y="0"/>
                  <a:pt x="33" y="14"/>
                  <a:pt x="33" y="33"/>
                </a:cubicBezTo>
                <a:cubicBezTo>
                  <a:pt x="33" y="400"/>
                  <a:pt x="33" y="400"/>
                  <a:pt x="33" y="400"/>
                </a:cubicBezTo>
                <a:cubicBezTo>
                  <a:pt x="33" y="411"/>
                  <a:pt x="42" y="420"/>
                  <a:pt x="53" y="420"/>
                </a:cubicBezTo>
                <a:cubicBezTo>
                  <a:pt x="364" y="420"/>
                  <a:pt x="364" y="420"/>
                  <a:pt x="364" y="420"/>
                </a:cubicBezTo>
                <a:cubicBezTo>
                  <a:pt x="375" y="420"/>
                  <a:pt x="384" y="411"/>
                  <a:pt x="384" y="400"/>
                </a:cubicBezTo>
                <a:cubicBezTo>
                  <a:pt x="384" y="33"/>
                  <a:pt x="384" y="33"/>
                  <a:pt x="384" y="33"/>
                </a:cubicBezTo>
                <a:cubicBezTo>
                  <a:pt x="384" y="14"/>
                  <a:pt x="369" y="0"/>
                  <a:pt x="3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2400" b="1" dirty="0" smtClean="0">
                <a:solidFill>
                  <a:sysClr val="window" lastClr="FFFFFF"/>
                </a:solidFill>
                <a:sym typeface="+mn-ea"/>
              </a:rPr>
              <a:t>3</a:t>
            </a: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109" name="Freeform 7"/>
          <p:cNvSpPr/>
          <p:nvPr/>
        </p:nvSpPr>
        <p:spPr bwMode="auto">
          <a:xfrm>
            <a:off x="1485900" y="2539365"/>
            <a:ext cx="104775" cy="52705"/>
          </a:xfrm>
          <a:custGeom>
            <a:avLst/>
            <a:gdLst>
              <a:gd name="T0" fmla="*/ 33 w 66"/>
              <a:gd name="T1" fmla="*/ 0 h 33"/>
              <a:gd name="T2" fmla="*/ 0 w 66"/>
              <a:gd name="T3" fmla="*/ 33 h 33"/>
              <a:gd name="T4" fmla="*/ 66 w 66"/>
              <a:gd name="T5" fmla="*/ 33 h 33"/>
              <a:gd name="T6" fmla="*/ 33 w 66"/>
              <a:gd name="T7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" h="33">
                <a:moveTo>
                  <a:pt x="33" y="0"/>
                </a:moveTo>
                <a:cubicBezTo>
                  <a:pt x="14" y="0"/>
                  <a:pt x="0" y="14"/>
                  <a:pt x="0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4"/>
                  <a:pt x="51" y="0"/>
                  <a:pt x="3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273113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目录</a:t>
            </a:r>
            <a:endParaRPr lang="zh-CN" altLang="en-US" sz="2000" dirty="0"/>
          </a:p>
        </p:txBody>
      </p:sp>
      <p:sp>
        <p:nvSpPr>
          <p:cNvPr id="61" name="Freeform 5"/>
          <p:cNvSpPr/>
          <p:nvPr/>
        </p:nvSpPr>
        <p:spPr bwMode="auto">
          <a:xfrm>
            <a:off x="1331595" y="1016635"/>
            <a:ext cx="5328920" cy="556260"/>
          </a:xfrm>
          <a:custGeom>
            <a:avLst/>
            <a:gdLst>
              <a:gd name="T0" fmla="*/ 31 w 2262"/>
              <a:gd name="T1" fmla="*/ 0 h 459"/>
              <a:gd name="T2" fmla="*/ 0 w 2262"/>
              <a:gd name="T3" fmla="*/ 31 h 459"/>
              <a:gd name="T4" fmla="*/ 0 w 2262"/>
              <a:gd name="T5" fmla="*/ 428 h 459"/>
              <a:gd name="T6" fmla="*/ 31 w 2262"/>
              <a:gd name="T7" fmla="*/ 459 h 459"/>
              <a:gd name="T8" fmla="*/ 2262 w 2262"/>
              <a:gd name="T9" fmla="*/ 459 h 459"/>
              <a:gd name="T10" fmla="*/ 2262 w 2262"/>
              <a:gd name="T11" fmla="*/ 0 h 459"/>
              <a:gd name="T12" fmla="*/ 31 w 2262"/>
              <a:gd name="T13" fmla="*/ 0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62" h="459">
                <a:moveTo>
                  <a:pt x="31" y="0"/>
                </a:moveTo>
                <a:cubicBezTo>
                  <a:pt x="14" y="0"/>
                  <a:pt x="0" y="14"/>
                  <a:pt x="0" y="31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45"/>
                  <a:pt x="14" y="459"/>
                  <a:pt x="31" y="459"/>
                </a:cubicBezTo>
                <a:cubicBezTo>
                  <a:pt x="2262" y="459"/>
                  <a:pt x="2262" y="459"/>
                  <a:pt x="2262" y="459"/>
                </a:cubicBezTo>
                <a:cubicBezTo>
                  <a:pt x="2262" y="0"/>
                  <a:pt x="2262" y="0"/>
                  <a:pt x="2262" y="0"/>
                </a:cubicBezTo>
                <a:lnTo>
                  <a:pt x="31" y="0"/>
                </a:ln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2" name="Freeform 8"/>
          <p:cNvSpPr/>
          <p:nvPr/>
        </p:nvSpPr>
        <p:spPr bwMode="auto">
          <a:xfrm>
            <a:off x="6660515" y="1016635"/>
            <a:ext cx="71120" cy="556260"/>
          </a:xfrm>
          <a:custGeom>
            <a:avLst/>
            <a:gdLst>
              <a:gd name="T0" fmla="*/ 30 w 61"/>
              <a:gd name="T1" fmla="*/ 0 h 459"/>
              <a:gd name="T2" fmla="*/ 0 w 61"/>
              <a:gd name="T3" fmla="*/ 0 h 459"/>
              <a:gd name="T4" fmla="*/ 0 w 61"/>
              <a:gd name="T5" fmla="*/ 459 h 459"/>
              <a:gd name="T6" fmla="*/ 30 w 61"/>
              <a:gd name="T7" fmla="*/ 459 h 459"/>
              <a:gd name="T8" fmla="*/ 61 w 61"/>
              <a:gd name="T9" fmla="*/ 428 h 459"/>
              <a:gd name="T10" fmla="*/ 61 w 61"/>
              <a:gd name="T11" fmla="*/ 31 h 459"/>
              <a:gd name="T12" fmla="*/ 30 w 61"/>
              <a:gd name="T13" fmla="*/ 0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" h="459">
                <a:moveTo>
                  <a:pt x="3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59"/>
                  <a:pt x="0" y="459"/>
                  <a:pt x="0" y="459"/>
                </a:cubicBezTo>
                <a:cubicBezTo>
                  <a:pt x="30" y="459"/>
                  <a:pt x="30" y="459"/>
                  <a:pt x="30" y="459"/>
                </a:cubicBezTo>
                <a:cubicBezTo>
                  <a:pt x="47" y="459"/>
                  <a:pt x="61" y="445"/>
                  <a:pt x="61" y="428"/>
                </a:cubicBezTo>
                <a:cubicBezTo>
                  <a:pt x="61" y="31"/>
                  <a:pt x="61" y="31"/>
                  <a:pt x="61" y="31"/>
                </a:cubicBezTo>
                <a:cubicBezTo>
                  <a:pt x="61" y="14"/>
                  <a:pt x="47" y="0"/>
                  <a:pt x="30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66" name="Freeform 6"/>
          <p:cNvSpPr/>
          <p:nvPr/>
        </p:nvSpPr>
        <p:spPr bwMode="auto">
          <a:xfrm>
            <a:off x="1537970" y="960755"/>
            <a:ext cx="607060" cy="527050"/>
          </a:xfrm>
          <a:custGeom>
            <a:avLst/>
            <a:gdLst>
              <a:gd name="T0" fmla="*/ 351 w 384"/>
              <a:gd name="T1" fmla="*/ 0 h 420"/>
              <a:gd name="T2" fmla="*/ 33 w 384"/>
              <a:gd name="T3" fmla="*/ 0 h 420"/>
              <a:gd name="T4" fmla="*/ 0 w 384"/>
              <a:gd name="T5" fmla="*/ 0 h 420"/>
              <a:gd name="T6" fmla="*/ 33 w 384"/>
              <a:gd name="T7" fmla="*/ 33 h 420"/>
              <a:gd name="T8" fmla="*/ 33 w 384"/>
              <a:gd name="T9" fmla="*/ 400 h 420"/>
              <a:gd name="T10" fmla="*/ 53 w 384"/>
              <a:gd name="T11" fmla="*/ 420 h 420"/>
              <a:gd name="T12" fmla="*/ 364 w 384"/>
              <a:gd name="T13" fmla="*/ 420 h 420"/>
              <a:gd name="T14" fmla="*/ 384 w 384"/>
              <a:gd name="T15" fmla="*/ 400 h 420"/>
              <a:gd name="T16" fmla="*/ 384 w 384"/>
              <a:gd name="T17" fmla="*/ 33 h 420"/>
              <a:gd name="T18" fmla="*/ 351 w 384"/>
              <a:gd name="T19" fmla="*/ 0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4" h="420">
                <a:moveTo>
                  <a:pt x="351" y="0"/>
                </a:moveTo>
                <a:cubicBezTo>
                  <a:pt x="33" y="0"/>
                  <a:pt x="33" y="0"/>
                  <a:pt x="33" y="0"/>
                </a:cubicBezTo>
                <a:cubicBezTo>
                  <a:pt x="0" y="0"/>
                  <a:pt x="0" y="0"/>
                  <a:pt x="0" y="0"/>
                </a:cubicBezTo>
                <a:cubicBezTo>
                  <a:pt x="18" y="0"/>
                  <a:pt x="33" y="14"/>
                  <a:pt x="33" y="33"/>
                </a:cubicBezTo>
                <a:cubicBezTo>
                  <a:pt x="33" y="400"/>
                  <a:pt x="33" y="400"/>
                  <a:pt x="33" y="400"/>
                </a:cubicBezTo>
                <a:cubicBezTo>
                  <a:pt x="33" y="411"/>
                  <a:pt x="42" y="420"/>
                  <a:pt x="53" y="420"/>
                </a:cubicBezTo>
                <a:cubicBezTo>
                  <a:pt x="364" y="420"/>
                  <a:pt x="364" y="420"/>
                  <a:pt x="364" y="420"/>
                </a:cubicBezTo>
                <a:cubicBezTo>
                  <a:pt x="375" y="420"/>
                  <a:pt x="384" y="411"/>
                  <a:pt x="384" y="400"/>
                </a:cubicBezTo>
                <a:cubicBezTo>
                  <a:pt x="384" y="33"/>
                  <a:pt x="384" y="33"/>
                  <a:pt x="384" y="33"/>
                </a:cubicBezTo>
                <a:cubicBezTo>
                  <a:pt x="384" y="14"/>
                  <a:pt x="369" y="0"/>
                  <a:pt x="351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2400" b="1" dirty="0" smtClean="0">
                <a:solidFill>
                  <a:sysClr val="window" lastClr="FFFFFF"/>
                </a:solidFill>
                <a:sym typeface="+mn-ea"/>
              </a:rPr>
              <a:t>1</a:t>
            </a: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67" name="Freeform 7"/>
          <p:cNvSpPr/>
          <p:nvPr/>
        </p:nvSpPr>
        <p:spPr bwMode="auto">
          <a:xfrm>
            <a:off x="1485900" y="960755"/>
            <a:ext cx="104775" cy="52705"/>
          </a:xfrm>
          <a:custGeom>
            <a:avLst/>
            <a:gdLst>
              <a:gd name="T0" fmla="*/ 33 w 66"/>
              <a:gd name="T1" fmla="*/ 0 h 33"/>
              <a:gd name="T2" fmla="*/ 0 w 66"/>
              <a:gd name="T3" fmla="*/ 33 h 33"/>
              <a:gd name="T4" fmla="*/ 66 w 66"/>
              <a:gd name="T5" fmla="*/ 33 h 33"/>
              <a:gd name="T6" fmla="*/ 33 w 66"/>
              <a:gd name="T7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" h="33">
                <a:moveTo>
                  <a:pt x="33" y="0"/>
                </a:moveTo>
                <a:cubicBezTo>
                  <a:pt x="14" y="0"/>
                  <a:pt x="0" y="14"/>
                  <a:pt x="0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4"/>
                  <a:pt x="51" y="0"/>
                  <a:pt x="33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68" name="副标题 67"/>
          <p:cNvSpPr>
            <a:spLocks noGrp="1"/>
          </p:cNvSpPr>
          <p:nvPr>
            <p:ph type="subTitle" idx="1"/>
          </p:nvPr>
        </p:nvSpPr>
        <p:spPr>
          <a:xfrm>
            <a:off x="2268220" y="1040130"/>
            <a:ext cx="4382135" cy="527050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 fontAlgn="base">
              <a:buClrTx/>
              <a:buSzTx/>
              <a:buNone/>
            </a:pP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案例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1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：供应链数字化运营（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2020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）</a:t>
            </a:r>
            <a:endParaRPr lang="zh-CN" altLang="en-US" sz="1400" b="1" dirty="0" smtClean="0">
              <a:solidFill>
                <a:schemeClr val="bg1">
                  <a:lumMod val="65000"/>
                </a:schemeClr>
              </a:solidFill>
              <a:sym typeface="+mn-ea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331595" y="1750060"/>
            <a:ext cx="5400000" cy="612000"/>
            <a:chOff x="1711" y="2522"/>
            <a:chExt cx="11552" cy="1444"/>
          </a:xfrm>
        </p:grpSpPr>
        <p:sp>
          <p:nvSpPr>
            <p:cNvPr id="70" name="Freeform 5"/>
            <p:cNvSpPr/>
            <p:nvPr/>
          </p:nvSpPr>
          <p:spPr bwMode="auto">
            <a:xfrm>
              <a:off x="1711" y="2654"/>
              <a:ext cx="11400" cy="1313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71" name="Freeform 8"/>
            <p:cNvSpPr/>
            <p:nvPr/>
          </p:nvSpPr>
          <p:spPr bwMode="auto">
            <a:xfrm>
              <a:off x="13111" y="2654"/>
              <a:ext cx="152" cy="1313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72" name="Freeform 6"/>
            <p:cNvSpPr/>
            <p:nvPr/>
          </p:nvSpPr>
          <p:spPr bwMode="auto">
            <a:xfrm>
              <a:off x="2152" y="2522"/>
              <a:ext cx="1298" cy="1243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r>
                <a:rPr lang="en-US" sz="2400" b="1" dirty="0" smtClean="0">
                  <a:solidFill>
                    <a:sysClr val="window" lastClr="FFFFFF"/>
                  </a:solidFill>
                </a:rPr>
                <a:t>2</a:t>
              </a:r>
              <a:endParaRPr lang="en-US" sz="2400" b="1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76" name="Freeform 7"/>
            <p:cNvSpPr/>
            <p:nvPr/>
          </p:nvSpPr>
          <p:spPr bwMode="auto">
            <a:xfrm>
              <a:off x="2041" y="2522"/>
              <a:ext cx="224" cy="125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endParaRPr lang="en-US" sz="2400" b="1">
                <a:solidFill>
                  <a:sysClr val="window" lastClr="FFFFFF"/>
                </a:solidFill>
              </a:endParaRPr>
            </a:p>
          </p:txBody>
        </p:sp>
      </p:grpSp>
      <p:sp>
        <p:nvSpPr>
          <p:cNvPr id="92" name="副标题 19"/>
          <p:cNvSpPr>
            <a:spLocks noGrp="1"/>
          </p:cNvSpPr>
          <p:nvPr/>
        </p:nvSpPr>
        <p:spPr>
          <a:xfrm>
            <a:off x="2268220" y="1838325"/>
            <a:ext cx="4382135" cy="499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：整机BG-指标体系管理（</a:t>
            </a:r>
            <a:r>
              <a:rPr lang="en-US" altLang="zh-CN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2023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1400" b="1" dirty="0" smtClean="0">
              <a:solidFill>
                <a:schemeClr val="bg1">
                  <a:lumMod val="6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1331595" y="3331845"/>
            <a:ext cx="5400000" cy="612000"/>
            <a:chOff x="1711" y="2522"/>
            <a:chExt cx="11552" cy="1444"/>
          </a:xfrm>
        </p:grpSpPr>
        <p:sp>
          <p:nvSpPr>
            <p:cNvPr id="100" name="Freeform 5"/>
            <p:cNvSpPr/>
            <p:nvPr/>
          </p:nvSpPr>
          <p:spPr bwMode="auto">
            <a:xfrm>
              <a:off x="1711" y="2654"/>
              <a:ext cx="11400" cy="1313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01" name="Freeform 8"/>
            <p:cNvSpPr/>
            <p:nvPr/>
          </p:nvSpPr>
          <p:spPr bwMode="auto">
            <a:xfrm>
              <a:off x="13111" y="2654"/>
              <a:ext cx="152" cy="1313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02" name="Freeform 6"/>
            <p:cNvSpPr/>
            <p:nvPr/>
          </p:nvSpPr>
          <p:spPr bwMode="auto">
            <a:xfrm>
              <a:off x="2152" y="2522"/>
              <a:ext cx="1298" cy="1243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r>
                <a:rPr lang="en-US" sz="2400" b="1" dirty="0" smtClean="0">
                  <a:solidFill>
                    <a:sysClr val="window" lastClr="FFFFFF"/>
                  </a:solidFill>
                </a:rPr>
                <a:t>4</a:t>
              </a:r>
              <a:endParaRPr lang="en-US" sz="2400" b="1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103" name="Freeform 7"/>
            <p:cNvSpPr/>
            <p:nvPr/>
          </p:nvSpPr>
          <p:spPr bwMode="auto">
            <a:xfrm>
              <a:off x="2041" y="2522"/>
              <a:ext cx="224" cy="125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endParaRPr lang="en-US" sz="2400" b="1">
                <a:solidFill>
                  <a:sysClr val="window" lastClr="FFFFFF"/>
                </a:solidFill>
              </a:endParaRPr>
            </a:p>
          </p:txBody>
        </p:sp>
      </p:grpSp>
      <p:sp>
        <p:nvSpPr>
          <p:cNvPr id="104" name="副标题 19"/>
          <p:cNvSpPr>
            <a:spLocks noGrp="1"/>
          </p:cNvSpPr>
          <p:nvPr/>
        </p:nvSpPr>
        <p:spPr>
          <a:xfrm>
            <a:off x="2278380" y="2623820"/>
            <a:ext cx="4382135" cy="499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 dirty="0" smtClean="0">
                <a:solidFill>
                  <a:schemeClr val="accent5">
                    <a:lumMod val="75000"/>
                  </a:schemeClr>
                </a:solidFill>
                <a:sym typeface="+mn-ea"/>
              </a:rPr>
              <a:t>案例3：部件供应链全员指标管理（2024）</a:t>
            </a:r>
            <a:endParaRPr lang="zh-CN" altLang="en-US" sz="1400" b="1" dirty="0" smtClean="0">
              <a:solidFill>
                <a:schemeClr val="accent5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10" name="副标题 19"/>
          <p:cNvSpPr>
            <a:spLocks noGrp="1"/>
          </p:cNvSpPr>
          <p:nvPr/>
        </p:nvSpPr>
        <p:spPr>
          <a:xfrm>
            <a:off x="2278380" y="3416300"/>
            <a:ext cx="4382135" cy="499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指标体系建设过程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总结</a:t>
            </a:r>
            <a:endParaRPr lang="zh-CN" altLang="en-US" sz="1400" b="1" dirty="0" smtClean="0">
              <a:solidFill>
                <a:schemeClr val="bg1">
                  <a:lumMod val="65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549910" y="880110"/>
            <a:ext cx="8111490" cy="3862070"/>
            <a:chOff x="866" y="1386"/>
            <a:chExt cx="12774" cy="6082"/>
          </a:xfrm>
        </p:grpSpPr>
        <p:grpSp>
          <p:nvGrpSpPr>
            <p:cNvPr id="205" name="组合 204"/>
            <p:cNvGrpSpPr/>
            <p:nvPr/>
          </p:nvGrpSpPr>
          <p:grpSpPr>
            <a:xfrm>
              <a:off x="866" y="1386"/>
              <a:ext cx="942" cy="6082"/>
              <a:chOff x="296894" y="724365"/>
              <a:chExt cx="878035" cy="5675915"/>
            </a:xfrm>
          </p:grpSpPr>
          <p:sp>
            <p:nvSpPr>
              <p:cNvPr id="206" name="梯形 205"/>
              <p:cNvSpPr/>
              <p:nvPr>
                <p:custDataLst>
                  <p:tags r:id="rId1"/>
                </p:custDataLst>
              </p:nvPr>
            </p:nvSpPr>
            <p:spPr>
              <a:xfrm>
                <a:off x="381715" y="1956231"/>
                <a:ext cx="700937" cy="4444049"/>
              </a:xfrm>
              <a:prstGeom prst="trapezoid">
                <a:avLst/>
              </a:prstGeom>
              <a:gradFill flip="none" rotWithShape="1">
                <a:gsLst>
                  <a:gs pos="50000">
                    <a:srgbClr val="5A80A7"/>
                  </a:gs>
                  <a:gs pos="0">
                    <a:srgbClr val="91AAC4"/>
                  </a:gs>
                  <a:gs pos="100000">
                    <a:srgbClr val="235589"/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>
                  <a:latin typeface="宋体" pitchFamily="2" charset="-122"/>
                  <a:ea typeface="楷体" panose="02010609060101010101" pitchFamily="49" charset="-122"/>
                  <a:cs typeface="+mn-ea"/>
                  <a:sym typeface="宋体" pitchFamily="2" charset="-122"/>
                </a:endParaRPr>
              </a:p>
            </p:txBody>
          </p:sp>
          <p:sp>
            <p:nvSpPr>
              <p:cNvPr id="207" name="梯形 206"/>
              <p:cNvSpPr/>
              <p:nvPr>
                <p:custDataLst>
                  <p:tags r:id="rId2"/>
                </p:custDataLst>
              </p:nvPr>
            </p:nvSpPr>
            <p:spPr>
              <a:xfrm>
                <a:off x="591437" y="724365"/>
                <a:ext cx="298271" cy="476881"/>
              </a:xfrm>
              <a:prstGeom prst="trapezoid">
                <a:avLst>
                  <a:gd name="adj" fmla="val 36331"/>
                </a:avLst>
              </a:prstGeom>
              <a:gradFill flip="none" rotWithShape="1"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宋体" pitchFamily="2" charset="-122"/>
                  <a:ea typeface="楷体" panose="02010609060101010101" pitchFamily="49" charset="-122"/>
                  <a:cs typeface="+mn-ea"/>
                  <a:sym typeface="宋体" pitchFamily="2" charset="-122"/>
                </a:endParaRPr>
              </a:p>
            </p:txBody>
          </p:sp>
          <p:sp>
            <p:nvSpPr>
              <p:cNvPr id="208" name="梯形 207"/>
              <p:cNvSpPr/>
              <p:nvPr>
                <p:custDataLst>
                  <p:tags r:id="rId3"/>
                </p:custDataLst>
              </p:nvPr>
            </p:nvSpPr>
            <p:spPr>
              <a:xfrm rot="10800000">
                <a:off x="296894" y="1390693"/>
                <a:ext cx="869646" cy="523543"/>
              </a:xfrm>
              <a:prstGeom prst="trapezoid">
                <a:avLst>
                  <a:gd name="adj" fmla="val 9962"/>
                </a:avLst>
              </a:prstGeom>
              <a:gradFill flip="none" rotWithShape="1">
                <a:gsLst>
                  <a:gs pos="50000">
                    <a:srgbClr val="5A80A7"/>
                  </a:gs>
                  <a:gs pos="0">
                    <a:srgbClr val="91AAC4"/>
                  </a:gs>
                  <a:gs pos="100000">
                    <a:srgbClr val="235589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宋体" pitchFamily="2" charset="-122"/>
                  <a:ea typeface="楷体" panose="02010609060101010101" pitchFamily="49" charset="-122"/>
                  <a:cs typeface="+mn-ea"/>
                  <a:sym typeface="宋体" pitchFamily="2" charset="-122"/>
                </a:endParaRPr>
              </a:p>
            </p:txBody>
          </p:sp>
          <p:sp>
            <p:nvSpPr>
              <p:cNvPr id="209" name="梯形 208"/>
              <p:cNvSpPr/>
              <p:nvPr>
                <p:custDataLst>
                  <p:tags r:id="rId4"/>
                </p:custDataLst>
              </p:nvPr>
            </p:nvSpPr>
            <p:spPr>
              <a:xfrm>
                <a:off x="305359" y="1245856"/>
                <a:ext cx="869570" cy="101706"/>
              </a:xfrm>
              <a:prstGeom prst="trapezoid">
                <a:avLst>
                  <a:gd name="adj" fmla="val 55599"/>
                </a:avLst>
              </a:prstGeom>
              <a:gradFill flip="none" rotWithShape="1">
                <a:gsLst>
                  <a:gs pos="50000">
                    <a:srgbClr val="5A80A7"/>
                  </a:gs>
                  <a:gs pos="0">
                    <a:srgbClr val="91AAC4"/>
                  </a:gs>
                  <a:gs pos="100000">
                    <a:srgbClr val="235589"/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宋体" pitchFamily="2" charset="-122"/>
                  <a:ea typeface="楷体" panose="02010609060101010101" pitchFamily="49" charset="-122"/>
                  <a:cs typeface="+mn-ea"/>
                  <a:sym typeface="宋体" pitchFamily="2" charset="-122"/>
                </a:endParaRPr>
              </a:p>
            </p:txBody>
          </p:sp>
        </p:grpSp>
        <p:sp>
          <p:nvSpPr>
            <p:cNvPr id="3" name="矩形 2"/>
            <p:cNvSpPr/>
            <p:nvPr>
              <p:custDataLst>
                <p:tags r:id="rId5"/>
              </p:custDataLst>
            </p:nvPr>
          </p:nvSpPr>
          <p:spPr>
            <a:xfrm>
              <a:off x="957" y="4052"/>
              <a:ext cx="751" cy="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95" name="直接连接符 394"/>
            <p:cNvCxnSpPr/>
            <p:nvPr>
              <p:custDataLst>
                <p:tags r:id="rId6"/>
              </p:custDataLst>
            </p:nvPr>
          </p:nvCxnSpPr>
          <p:spPr>
            <a:xfrm>
              <a:off x="1868" y="2669"/>
              <a:ext cx="11760" cy="0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/>
            <p:cNvCxnSpPr/>
            <p:nvPr>
              <p:custDataLst>
                <p:tags r:id="rId7"/>
              </p:custDataLst>
            </p:nvPr>
          </p:nvCxnSpPr>
          <p:spPr>
            <a:xfrm>
              <a:off x="1858" y="4038"/>
              <a:ext cx="11757" cy="0"/>
            </a:xfrm>
            <a:prstGeom prst="line">
              <a:avLst/>
            </a:prstGeom>
            <a:ln w="28575">
              <a:solidFill>
                <a:schemeClr val="bg2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>
              <p:custDataLst>
                <p:tags r:id="rId8"/>
              </p:custDataLst>
            </p:nvPr>
          </p:nvSpPr>
          <p:spPr>
            <a:xfrm>
              <a:off x="1061" y="5121"/>
              <a:ext cx="545" cy="1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>
                  <a:solidFill>
                    <a:schemeClr val="bg1"/>
                  </a:solidFill>
                </a:rPr>
                <a:t>业务端到端可视</a:t>
              </a:r>
              <a:endParaRPr lang="zh-CN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9"/>
              </p:custDataLst>
            </p:nvPr>
          </p:nvSpPr>
          <p:spPr>
            <a:xfrm>
              <a:off x="1070" y="2715"/>
              <a:ext cx="651" cy="1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>
                  <a:solidFill>
                    <a:schemeClr val="bg1"/>
                  </a:solidFill>
                </a:rPr>
                <a:t>预警</a:t>
              </a:r>
              <a:endParaRPr lang="zh-CN" altLang="en-US" sz="1000" b="1">
                <a:solidFill>
                  <a:schemeClr val="bg1"/>
                </a:solidFill>
              </a:endParaRPr>
            </a:p>
            <a:p>
              <a:r>
                <a:rPr lang="en-US" altLang="zh-CN" sz="1000" b="1">
                  <a:solidFill>
                    <a:schemeClr val="bg1"/>
                  </a:solidFill>
                </a:rPr>
                <a:t>&amp;</a:t>
              </a:r>
              <a:endParaRPr lang="en-US" altLang="zh-CN" sz="1000" b="1">
                <a:solidFill>
                  <a:schemeClr val="bg1"/>
                </a:solidFill>
              </a:endParaRPr>
            </a:p>
            <a:p>
              <a:r>
                <a:rPr lang="zh-CN" altLang="en-US" sz="1000" b="1">
                  <a:solidFill>
                    <a:schemeClr val="bg1"/>
                  </a:solidFill>
                </a:rPr>
                <a:t>干预</a:t>
              </a:r>
              <a:endParaRPr lang="zh-CN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10"/>
              </p:custDataLst>
            </p:nvPr>
          </p:nvSpPr>
          <p:spPr>
            <a:xfrm>
              <a:off x="1007" y="2142"/>
              <a:ext cx="714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900" b="1">
                  <a:solidFill>
                    <a:schemeClr val="bg1"/>
                  </a:solidFill>
                </a:rPr>
                <a:t>决策</a:t>
              </a:r>
              <a:endParaRPr lang="zh-CN" altLang="en-US" sz="900" b="1">
                <a:solidFill>
                  <a:schemeClr val="bg1"/>
                </a:solidFill>
              </a:endParaRPr>
            </a:p>
          </p:txBody>
        </p:sp>
        <p:sp>
          <p:nvSpPr>
            <p:cNvPr id="8" name="Rounded Rectangle 2"/>
            <p:cNvSpPr/>
            <p:nvPr>
              <p:custDataLst>
                <p:tags r:id="rId11"/>
              </p:custDataLst>
            </p:nvPr>
          </p:nvSpPr>
          <p:spPr>
            <a:xfrm>
              <a:off x="1858" y="4096"/>
              <a:ext cx="11772" cy="3371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p>
              <a:pPr lvl="0" algn="l">
                <a:buClrTx/>
                <a:buSzTx/>
                <a:buFontTx/>
              </a:pP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Control Tower level 1----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阶段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1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：实现价值节点的在线</a:t>
              </a:r>
              <a:endParaRPr lang="en-US" altLang="zh-CN" sz="7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12" name="五边形 11"/>
            <p:cNvSpPr/>
            <p:nvPr>
              <p:custDataLst>
                <p:tags r:id="rId12"/>
              </p:custDataLst>
            </p:nvPr>
          </p:nvSpPr>
          <p:spPr>
            <a:xfrm>
              <a:off x="2918" y="4498"/>
              <a:ext cx="2970" cy="479"/>
            </a:xfrm>
            <a:prstGeom prst="homePlat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计划</a:t>
              </a:r>
              <a:endParaRPr lang="zh-CN" altLang="en-US" sz="7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latin typeface="微软雅黑" pitchFamily="34" charset="-122"/>
                  <a:ea typeface="微软雅黑" pitchFamily="34" charset="-122"/>
                  <a:sym typeface="+mn-ea"/>
                </a:rPr>
                <a:t>库存周转率｜交付达成</a:t>
              </a:r>
              <a:r>
                <a:rPr lang="zh-CN" altLang="en-US" sz="600" dirty="0">
                  <a:latin typeface="微软雅黑" pitchFamily="34" charset="-122"/>
                  <a:ea typeface="微软雅黑" pitchFamily="34" charset="-122"/>
                  <a:sym typeface="+mn-ea"/>
                </a:rPr>
                <a:t>率</a:t>
              </a:r>
              <a:endParaRPr lang="zh-CN" altLang="en-US" sz="600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3"/>
              </p:custDataLst>
            </p:nvPr>
          </p:nvSpPr>
          <p:spPr>
            <a:xfrm>
              <a:off x="1924" y="4491"/>
              <a:ext cx="8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全价值链</a:t>
              </a:r>
              <a:r>
                <a:rPr lang="zh-CN" altLang="en-US" sz="700"/>
                <a:t>驱动</a:t>
              </a:r>
              <a:endParaRPr lang="zh-CN" altLang="en-US" sz="700"/>
            </a:p>
          </p:txBody>
        </p:sp>
        <p:sp>
          <p:nvSpPr>
            <p:cNvPr id="15" name="文本框 14"/>
            <p:cNvSpPr txBox="1"/>
            <p:nvPr>
              <p:custDataLst>
                <p:tags r:id="rId14"/>
              </p:custDataLst>
            </p:nvPr>
          </p:nvSpPr>
          <p:spPr>
            <a:xfrm>
              <a:off x="1929" y="5551"/>
              <a:ext cx="8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业务能力</a:t>
              </a:r>
              <a:r>
                <a:rPr lang="zh-CN" altLang="en-US" sz="700"/>
                <a:t>支撑</a:t>
              </a:r>
              <a:endParaRPr lang="zh-CN" altLang="en-US" sz="700"/>
            </a:p>
          </p:txBody>
        </p:sp>
        <p:sp>
          <p:nvSpPr>
            <p:cNvPr id="16" name="文本框 15"/>
            <p:cNvSpPr txBox="1"/>
            <p:nvPr>
              <p:custDataLst>
                <p:tags r:id="rId15"/>
              </p:custDataLst>
            </p:nvPr>
          </p:nvSpPr>
          <p:spPr>
            <a:xfrm>
              <a:off x="1918" y="6575"/>
              <a:ext cx="85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执行</a:t>
              </a:r>
              <a:r>
                <a:rPr lang="zh-CN" altLang="en-US" sz="700"/>
                <a:t>效率</a:t>
              </a:r>
              <a:endParaRPr lang="zh-CN" altLang="en-US" sz="700"/>
            </a:p>
            <a:p>
              <a:r>
                <a:rPr lang="zh-CN" altLang="en-US" sz="700"/>
                <a:t>评价</a:t>
              </a:r>
              <a:endParaRPr lang="zh-CN" altLang="en-US" sz="700"/>
            </a:p>
          </p:txBody>
        </p:sp>
        <p:sp>
          <p:nvSpPr>
            <p:cNvPr id="17" name="文本框 16"/>
            <p:cNvSpPr txBox="1"/>
            <p:nvPr>
              <p:custDataLst>
                <p:tags r:id="rId16"/>
              </p:custDataLst>
            </p:nvPr>
          </p:nvSpPr>
          <p:spPr>
            <a:xfrm>
              <a:off x="2918" y="5133"/>
              <a:ext cx="1361" cy="28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en-US" altLang="zh-CN" sz="600"/>
                <a:t>S&amp;OP-</a:t>
              </a:r>
              <a:r>
                <a:rPr lang="zh-CN" altLang="en-US" sz="600"/>
                <a:t>供应链规划</a:t>
              </a:r>
              <a:endParaRPr lang="zh-CN" altLang="en-US" sz="600"/>
            </a:p>
          </p:txBody>
        </p:sp>
        <p:sp>
          <p:nvSpPr>
            <p:cNvPr id="18" name="文本框 17"/>
            <p:cNvSpPr txBox="1"/>
            <p:nvPr>
              <p:custDataLst>
                <p:tags r:id="rId17"/>
              </p:custDataLst>
            </p:nvPr>
          </p:nvSpPr>
          <p:spPr>
            <a:xfrm>
              <a:off x="2918" y="5459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en-US" altLang="zh-CN" sz="600"/>
                <a:t>MPS-</a:t>
              </a:r>
              <a:r>
                <a:rPr lang="zh-CN" altLang="en-US" sz="600"/>
                <a:t>主计划</a:t>
              </a:r>
              <a:endParaRPr lang="zh-CN" altLang="en-US" sz="600"/>
            </a:p>
          </p:txBody>
        </p:sp>
        <p:sp>
          <p:nvSpPr>
            <p:cNvPr id="19" name="文本框 18"/>
            <p:cNvSpPr txBox="1"/>
            <p:nvPr>
              <p:custDataLst>
                <p:tags r:id="rId18"/>
              </p:custDataLst>
            </p:nvPr>
          </p:nvSpPr>
          <p:spPr>
            <a:xfrm>
              <a:off x="2918" y="5785"/>
              <a:ext cx="1361" cy="28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en-US" altLang="zh-CN" sz="600"/>
                <a:t>MRP-</a:t>
              </a:r>
              <a:r>
                <a:rPr lang="zh-CN" altLang="en-US" sz="600"/>
                <a:t>物料需求计划</a:t>
              </a:r>
              <a:endParaRPr lang="zh-CN" altLang="en-US" sz="600"/>
            </a:p>
          </p:txBody>
        </p:sp>
        <p:sp>
          <p:nvSpPr>
            <p:cNvPr id="20" name="文本框 19"/>
            <p:cNvSpPr txBox="1"/>
            <p:nvPr>
              <p:custDataLst>
                <p:tags r:id="rId19"/>
              </p:custDataLst>
            </p:nvPr>
          </p:nvSpPr>
          <p:spPr>
            <a:xfrm>
              <a:off x="2918" y="6111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en-US" sz="600"/>
                <a:t>APS-</a:t>
              </a:r>
              <a:r>
                <a:rPr lang="zh-CN" altLang="en-US" sz="600"/>
                <a:t>生产计划</a:t>
              </a:r>
              <a:endParaRPr lang="zh-CN" altLang="en-US" sz="600"/>
            </a:p>
          </p:txBody>
        </p:sp>
        <p:sp>
          <p:nvSpPr>
            <p:cNvPr id="21" name="文本框 20"/>
            <p:cNvSpPr txBox="1"/>
            <p:nvPr>
              <p:custDataLst>
                <p:tags r:id="rId20"/>
              </p:custDataLst>
            </p:nvPr>
          </p:nvSpPr>
          <p:spPr>
            <a:xfrm>
              <a:off x="4411" y="5133"/>
              <a:ext cx="1202" cy="283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……</a:t>
              </a:r>
              <a:endParaRPr lang="zh-CN" altLang="en-US" sz="600"/>
            </a:p>
          </p:txBody>
        </p:sp>
        <p:sp>
          <p:nvSpPr>
            <p:cNvPr id="22" name="文本框 21"/>
            <p:cNvSpPr txBox="1"/>
            <p:nvPr>
              <p:custDataLst>
                <p:tags r:id="rId21"/>
              </p:custDataLst>
            </p:nvPr>
          </p:nvSpPr>
          <p:spPr>
            <a:xfrm>
              <a:off x="4417" y="5463"/>
              <a:ext cx="120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产能利用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22"/>
              </p:custDataLst>
            </p:nvPr>
          </p:nvSpPr>
          <p:spPr>
            <a:xfrm>
              <a:off x="4411" y="5793"/>
              <a:ext cx="120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库存周转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23"/>
              </p:custDataLst>
            </p:nvPr>
          </p:nvSpPr>
          <p:spPr>
            <a:xfrm>
              <a:off x="4417" y="6123"/>
              <a:ext cx="120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承诺达成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pic>
          <p:nvPicPr>
            <p:cNvPr id="27" name="图片 26" descr="350430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918" y="6779"/>
              <a:ext cx="320" cy="320"/>
            </a:xfrm>
            <a:prstGeom prst="rect">
              <a:avLst/>
            </a:prstGeom>
          </p:spPr>
        </p:pic>
        <p:pic>
          <p:nvPicPr>
            <p:cNvPr id="28" name="图片 27" descr="4450929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2918" y="6488"/>
              <a:ext cx="320" cy="320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>
              <p:custDataLst>
                <p:tags r:id="rId30"/>
              </p:custDataLst>
            </p:nvPr>
          </p:nvSpPr>
          <p:spPr>
            <a:xfrm>
              <a:off x="3173" y="6491"/>
              <a:ext cx="2715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岗位职责：主计划、物料计划、物</a:t>
              </a:r>
              <a:r>
                <a:rPr lang="zh-CN" altLang="en-US" sz="700"/>
                <a:t>控</a:t>
              </a:r>
              <a:endParaRPr lang="zh-CN" altLang="en-US" sz="700"/>
            </a:p>
          </p:txBody>
        </p:sp>
        <p:sp>
          <p:nvSpPr>
            <p:cNvPr id="30" name="文本框 29"/>
            <p:cNvSpPr txBox="1"/>
            <p:nvPr>
              <p:custDataLst>
                <p:tags r:id="rId31"/>
              </p:custDataLst>
            </p:nvPr>
          </p:nvSpPr>
          <p:spPr>
            <a:xfrm>
              <a:off x="3142" y="6782"/>
              <a:ext cx="2715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业务</a:t>
              </a:r>
              <a:r>
                <a:rPr lang="en-US" altLang="zh-CN" sz="700"/>
                <a:t>owner</a:t>
              </a:r>
              <a:r>
                <a:rPr lang="zh-CN" altLang="en-US" sz="700"/>
                <a:t>：主计划、物料</a:t>
              </a:r>
              <a:r>
                <a:rPr lang="zh-CN" altLang="en-US" sz="700"/>
                <a:t>计划</a:t>
              </a:r>
              <a:endParaRPr lang="zh-CN" altLang="en-US" sz="700"/>
            </a:p>
          </p:txBody>
        </p:sp>
        <p:pic>
          <p:nvPicPr>
            <p:cNvPr id="31" name="图片 30" descr="3504291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6901" y="7115"/>
              <a:ext cx="282" cy="282"/>
            </a:xfrm>
            <a:prstGeom prst="rect">
              <a:avLst/>
            </a:prstGeom>
          </p:spPr>
        </p:pic>
        <p:sp>
          <p:nvSpPr>
            <p:cNvPr id="32" name="文本框 31"/>
            <p:cNvSpPr txBox="1"/>
            <p:nvPr>
              <p:custDataLst>
                <p:tags r:id="rId35"/>
              </p:custDataLst>
            </p:nvPr>
          </p:nvSpPr>
          <p:spPr>
            <a:xfrm>
              <a:off x="7089" y="7119"/>
              <a:ext cx="2273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全链</a:t>
              </a:r>
              <a:r>
                <a:rPr lang="zh-CN" altLang="en-US" sz="700"/>
                <a:t>条人效丨时效丨周</a:t>
              </a:r>
              <a:r>
                <a:rPr lang="zh-CN" altLang="en-US" sz="700"/>
                <a:t>期</a:t>
              </a:r>
              <a:endParaRPr lang="zh-CN" altLang="en-US" sz="700"/>
            </a:p>
          </p:txBody>
        </p:sp>
        <p:sp>
          <p:nvSpPr>
            <p:cNvPr id="34" name="燕尾形 33"/>
            <p:cNvSpPr/>
            <p:nvPr>
              <p:custDataLst>
                <p:tags r:id="rId36"/>
              </p:custDataLst>
            </p:nvPr>
          </p:nvSpPr>
          <p:spPr>
            <a:xfrm>
              <a:off x="5730" y="4502"/>
              <a:ext cx="2694" cy="478"/>
            </a:xfrm>
            <a:prstGeom prst="chevron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采购</a:t>
              </a:r>
              <a:endParaRPr lang="zh-CN" altLang="en-US" sz="7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700" dirty="0">
                  <a:latin typeface="微软雅黑" pitchFamily="34" charset="-122"/>
                  <a:ea typeface="微软雅黑" pitchFamily="34" charset="-122"/>
                  <a:sym typeface="+mn-ea"/>
                </a:rPr>
                <a:t>齐套率｜采购降本率</a:t>
              </a:r>
              <a:r>
                <a:rPr lang="en-US" altLang="zh-CN" sz="700" dirty="0">
                  <a:latin typeface="微软雅黑" pitchFamily="34" charset="-122"/>
                  <a:ea typeface="微软雅黑" pitchFamily="34" charset="-122"/>
                  <a:sym typeface="+mn-ea"/>
                </a:rPr>
                <a:t> </a:t>
              </a:r>
              <a:r>
                <a:rPr lang="zh-CN" altLang="en-US" sz="700" dirty="0">
                  <a:latin typeface="微软雅黑" pitchFamily="34" charset="-122"/>
                  <a:ea typeface="微软雅黑" pitchFamily="34" charset="-122"/>
                  <a:sym typeface="+mn-ea"/>
                </a:rPr>
                <a:t>丨合格</a:t>
              </a:r>
              <a:r>
                <a:rPr lang="zh-CN" altLang="en-US" sz="700" dirty="0">
                  <a:latin typeface="微软雅黑" pitchFamily="34" charset="-122"/>
                  <a:ea typeface="微软雅黑" pitchFamily="34" charset="-122"/>
                  <a:sym typeface="+mn-ea"/>
                </a:rPr>
                <a:t>率</a:t>
              </a:r>
              <a:endParaRPr lang="zh-CN" altLang="en-US" sz="700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37"/>
              </p:custDataLst>
            </p:nvPr>
          </p:nvSpPr>
          <p:spPr>
            <a:xfrm>
              <a:off x="5728" y="5133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寻源</a:t>
              </a:r>
              <a:r>
                <a:rPr lang="zh-CN" altLang="en-US" sz="600"/>
                <a:t>体系</a:t>
              </a:r>
              <a:endParaRPr lang="zh-CN" altLang="en-US" sz="600"/>
            </a:p>
          </p:txBody>
        </p:sp>
        <p:sp>
          <p:nvSpPr>
            <p:cNvPr id="37" name="文本框 36"/>
            <p:cNvSpPr txBox="1"/>
            <p:nvPr>
              <p:custDataLst>
                <p:tags r:id="rId38"/>
              </p:custDataLst>
            </p:nvPr>
          </p:nvSpPr>
          <p:spPr>
            <a:xfrm>
              <a:off x="5728" y="5785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采购执行</a:t>
              </a:r>
              <a:r>
                <a:rPr lang="zh-CN" altLang="en-US" sz="600"/>
                <a:t>体系</a:t>
              </a:r>
              <a:endParaRPr lang="zh-CN" altLang="en-US" sz="600"/>
            </a:p>
          </p:txBody>
        </p:sp>
        <p:sp>
          <p:nvSpPr>
            <p:cNvPr id="40" name="文本框 39"/>
            <p:cNvSpPr txBox="1"/>
            <p:nvPr>
              <p:custDataLst>
                <p:tags r:id="rId39"/>
              </p:custDataLst>
            </p:nvPr>
          </p:nvSpPr>
          <p:spPr>
            <a:xfrm>
              <a:off x="7221" y="5133"/>
              <a:ext cx="97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采购降</a:t>
              </a:r>
              <a:r>
                <a:rPr lang="zh-CN" altLang="en-US" sz="600"/>
                <a:t>本</a:t>
              </a:r>
              <a:endParaRPr lang="zh-CN" altLang="en-US" sz="600"/>
            </a:p>
          </p:txBody>
        </p:sp>
        <p:sp>
          <p:nvSpPr>
            <p:cNvPr id="41" name="文本框 40"/>
            <p:cNvSpPr txBox="1"/>
            <p:nvPr>
              <p:custDataLst>
                <p:tags r:id="rId40"/>
              </p:custDataLst>
            </p:nvPr>
          </p:nvSpPr>
          <p:spPr>
            <a:xfrm>
              <a:off x="7227" y="5463"/>
              <a:ext cx="97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批</a:t>
              </a:r>
              <a:r>
                <a:rPr lang="zh-CN" altLang="en-US" sz="600">
                  <a:sym typeface="+mn-ea"/>
                </a:rPr>
                <a:t>次齐套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41"/>
              </p:custDataLst>
            </p:nvPr>
          </p:nvSpPr>
          <p:spPr>
            <a:xfrm>
              <a:off x="7221" y="5793"/>
              <a:ext cx="97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批次齐套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42"/>
              </p:custDataLst>
            </p:nvPr>
          </p:nvSpPr>
          <p:spPr>
            <a:xfrm>
              <a:off x="7227" y="6123"/>
              <a:ext cx="97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来料合格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pic>
          <p:nvPicPr>
            <p:cNvPr id="44" name="图片 43" descr="3504302"/>
            <p:cNvPicPr>
              <a:picLocks noChangeAspect="1"/>
            </p:cNvPicPr>
            <p:nvPr>
              <p:custDataLst>
                <p:tags r:id="rId43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728" y="6779"/>
              <a:ext cx="320" cy="320"/>
            </a:xfrm>
            <a:prstGeom prst="rect">
              <a:avLst/>
            </a:prstGeom>
          </p:spPr>
        </p:pic>
        <p:pic>
          <p:nvPicPr>
            <p:cNvPr id="45" name="图片 44" descr="4450929"/>
            <p:cNvPicPr>
              <a:picLocks noChangeAspect="1"/>
            </p:cNvPicPr>
            <p:nvPr>
              <p:custDataLst>
                <p:tags r:id="rId44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728" y="6488"/>
              <a:ext cx="320" cy="320"/>
            </a:xfrm>
            <a:prstGeom prst="rect">
              <a:avLst/>
            </a:prstGeom>
          </p:spPr>
        </p:pic>
        <p:sp>
          <p:nvSpPr>
            <p:cNvPr id="46" name="文本框 45"/>
            <p:cNvSpPr txBox="1"/>
            <p:nvPr>
              <p:custDataLst>
                <p:tags r:id="rId45"/>
              </p:custDataLst>
            </p:nvPr>
          </p:nvSpPr>
          <p:spPr>
            <a:xfrm>
              <a:off x="5983" y="6491"/>
              <a:ext cx="2715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岗位职责：策采</a:t>
              </a:r>
              <a:r>
                <a:rPr lang="en-US" altLang="zh-CN" sz="700"/>
                <a:t>/</a:t>
              </a:r>
              <a:r>
                <a:rPr lang="zh-CN" altLang="en-US" sz="700"/>
                <a:t>执采经理</a:t>
              </a:r>
              <a:endParaRPr lang="zh-CN" altLang="en-US" sz="700"/>
            </a:p>
          </p:txBody>
        </p:sp>
        <p:sp>
          <p:nvSpPr>
            <p:cNvPr id="47" name="文本框 46"/>
            <p:cNvSpPr txBox="1"/>
            <p:nvPr>
              <p:custDataLst>
                <p:tags r:id="rId46"/>
              </p:custDataLst>
            </p:nvPr>
          </p:nvSpPr>
          <p:spPr>
            <a:xfrm>
              <a:off x="5952" y="6782"/>
              <a:ext cx="2715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业务</a:t>
              </a:r>
              <a:r>
                <a:rPr lang="en-US" altLang="zh-CN" sz="700"/>
                <a:t>owner</a:t>
              </a:r>
              <a:r>
                <a:rPr lang="zh-CN" altLang="en-US" sz="700"/>
                <a:t>：策采</a:t>
              </a:r>
              <a:r>
                <a:rPr lang="en-US" altLang="zh-CN" sz="700"/>
                <a:t>/</a:t>
              </a:r>
              <a:r>
                <a:rPr lang="zh-CN" altLang="en-US" sz="700"/>
                <a:t>执采工程</a:t>
              </a:r>
              <a:r>
                <a:rPr lang="zh-CN" altLang="en-US" sz="700"/>
                <a:t>师</a:t>
              </a:r>
              <a:endParaRPr lang="zh-CN" altLang="en-US" sz="700"/>
            </a:p>
          </p:txBody>
        </p:sp>
        <p:sp>
          <p:nvSpPr>
            <p:cNvPr id="50" name="燕尾形 49"/>
            <p:cNvSpPr/>
            <p:nvPr>
              <p:custDataLst>
                <p:tags r:id="rId47"/>
              </p:custDataLst>
            </p:nvPr>
          </p:nvSpPr>
          <p:spPr>
            <a:xfrm>
              <a:off x="8260" y="4502"/>
              <a:ext cx="2694" cy="478"/>
            </a:xfrm>
            <a:prstGeom prst="chevron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制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造</a:t>
              </a:r>
              <a:endParaRPr lang="zh-CN" altLang="en-US" sz="7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700" dirty="0">
                  <a:latin typeface="微软雅黑" pitchFamily="34" charset="-122"/>
                  <a:ea typeface="微软雅黑" pitchFamily="34" charset="-122"/>
                  <a:sym typeface="+mn-ea"/>
                </a:rPr>
                <a:t>承诺达成率丨制造降本</a:t>
              </a:r>
              <a:r>
                <a:rPr lang="zh-CN" altLang="en-US" sz="700" dirty="0">
                  <a:latin typeface="微软雅黑" pitchFamily="34" charset="-122"/>
                  <a:ea typeface="微软雅黑" pitchFamily="34" charset="-122"/>
                  <a:sym typeface="+mn-ea"/>
                </a:rPr>
                <a:t>率</a:t>
              </a:r>
              <a:endParaRPr lang="zh-CN" altLang="en-US" sz="700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48"/>
              </p:custDataLst>
            </p:nvPr>
          </p:nvSpPr>
          <p:spPr>
            <a:xfrm>
              <a:off x="8258" y="5133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生产管</a:t>
              </a:r>
              <a:r>
                <a:rPr lang="zh-CN" altLang="en-US" sz="600"/>
                <a:t>理</a:t>
              </a:r>
              <a:endParaRPr lang="zh-CN" altLang="en-US" sz="600"/>
            </a:p>
          </p:txBody>
        </p:sp>
        <p:sp>
          <p:nvSpPr>
            <p:cNvPr id="52" name="文本框 51"/>
            <p:cNvSpPr txBox="1"/>
            <p:nvPr>
              <p:custDataLst>
                <p:tags r:id="rId49"/>
              </p:custDataLst>
            </p:nvPr>
          </p:nvSpPr>
          <p:spPr>
            <a:xfrm>
              <a:off x="8258" y="5785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成本管</a:t>
              </a:r>
              <a:r>
                <a:rPr lang="zh-CN" altLang="en-US" sz="600"/>
                <a:t>理</a:t>
              </a:r>
              <a:endParaRPr lang="zh-CN" altLang="en-US" sz="600"/>
            </a:p>
          </p:txBody>
        </p:sp>
        <p:sp>
          <p:nvSpPr>
            <p:cNvPr id="53" name="文本框 52"/>
            <p:cNvSpPr txBox="1"/>
            <p:nvPr>
              <p:custDataLst>
                <p:tags r:id="rId50"/>
              </p:custDataLst>
            </p:nvPr>
          </p:nvSpPr>
          <p:spPr>
            <a:xfrm>
              <a:off x="9751" y="5133"/>
              <a:ext cx="963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生产达成</a:t>
              </a:r>
              <a:r>
                <a:rPr lang="zh-CN" altLang="en-US" sz="600"/>
                <a:t>率</a:t>
              </a:r>
              <a:endParaRPr lang="zh-CN" altLang="en-US" sz="600"/>
            </a:p>
          </p:txBody>
        </p:sp>
        <p:sp>
          <p:nvSpPr>
            <p:cNvPr id="54" name="文本框 53"/>
            <p:cNvSpPr txBox="1"/>
            <p:nvPr>
              <p:custDataLst>
                <p:tags r:id="rId51"/>
              </p:custDataLst>
            </p:nvPr>
          </p:nvSpPr>
          <p:spPr>
            <a:xfrm>
              <a:off x="9757" y="5463"/>
              <a:ext cx="963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合格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52"/>
              </p:custDataLst>
            </p:nvPr>
          </p:nvSpPr>
          <p:spPr>
            <a:xfrm>
              <a:off x="9751" y="5793"/>
              <a:ext cx="963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600">
                  <a:sym typeface="+mn-ea"/>
                </a:rPr>
                <a:t>pt</a:t>
              </a:r>
              <a:r>
                <a:rPr lang="zh-CN" altLang="en-US" sz="600">
                  <a:sym typeface="+mn-ea"/>
                </a:rPr>
                <a:t>降本</a:t>
              </a:r>
              <a:r>
                <a:rPr lang="zh-CN" altLang="en-US" sz="600">
                  <a:sym typeface="+mn-ea"/>
                </a:rPr>
                <a:t>点</a:t>
              </a:r>
              <a:endParaRPr lang="zh-CN" altLang="en-US" sz="600">
                <a:sym typeface="+mn-ea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53"/>
              </p:custDataLst>
            </p:nvPr>
          </p:nvSpPr>
          <p:spPr>
            <a:xfrm>
              <a:off x="9757" y="6123"/>
              <a:ext cx="963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账物准确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pic>
          <p:nvPicPr>
            <p:cNvPr id="57" name="图片 56" descr="3504302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8258" y="6779"/>
              <a:ext cx="320" cy="320"/>
            </a:xfrm>
            <a:prstGeom prst="rect">
              <a:avLst/>
            </a:prstGeom>
          </p:spPr>
        </p:pic>
        <p:pic>
          <p:nvPicPr>
            <p:cNvPr id="58" name="图片 57" descr="4450929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258" y="6488"/>
              <a:ext cx="320" cy="320"/>
            </a:xfrm>
            <a:prstGeom prst="rect">
              <a:avLst/>
            </a:prstGeom>
          </p:spPr>
        </p:pic>
        <p:sp>
          <p:nvSpPr>
            <p:cNvPr id="59" name="文本框 58"/>
            <p:cNvSpPr txBox="1"/>
            <p:nvPr>
              <p:custDataLst>
                <p:tags r:id="rId56"/>
              </p:custDataLst>
            </p:nvPr>
          </p:nvSpPr>
          <p:spPr>
            <a:xfrm>
              <a:off x="8513" y="6491"/>
              <a:ext cx="2715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岗位职责：厂长</a:t>
              </a:r>
              <a:r>
                <a:rPr lang="en-US" altLang="zh-CN" sz="700"/>
                <a:t>/IE/</a:t>
              </a:r>
              <a:r>
                <a:rPr lang="zh-CN" altLang="en-US" sz="700"/>
                <a:t>生</a:t>
              </a:r>
              <a:r>
                <a:rPr lang="zh-CN" altLang="en-US" sz="700"/>
                <a:t>管</a:t>
              </a:r>
              <a:endParaRPr lang="zh-CN" altLang="en-US" sz="700"/>
            </a:p>
          </p:txBody>
        </p:sp>
        <p:sp>
          <p:nvSpPr>
            <p:cNvPr id="60" name="文本框 59"/>
            <p:cNvSpPr txBox="1"/>
            <p:nvPr>
              <p:custDataLst>
                <p:tags r:id="rId57"/>
              </p:custDataLst>
            </p:nvPr>
          </p:nvSpPr>
          <p:spPr>
            <a:xfrm>
              <a:off x="8482" y="6782"/>
              <a:ext cx="2715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业务</a:t>
              </a:r>
              <a:r>
                <a:rPr lang="en-US" altLang="zh-CN" sz="700"/>
                <a:t>owner</a:t>
              </a:r>
              <a:r>
                <a:rPr lang="zh-CN" altLang="en-US" sz="700"/>
                <a:t>：厂</a:t>
              </a:r>
              <a:r>
                <a:rPr lang="zh-CN" altLang="en-US" sz="700"/>
                <a:t>长</a:t>
              </a:r>
              <a:endParaRPr lang="zh-CN" altLang="en-US" sz="700"/>
            </a:p>
          </p:txBody>
        </p:sp>
        <p:sp>
          <p:nvSpPr>
            <p:cNvPr id="63" name="文本框 62"/>
            <p:cNvSpPr txBox="1"/>
            <p:nvPr>
              <p:custDataLst>
                <p:tags r:id="rId58"/>
              </p:custDataLst>
            </p:nvPr>
          </p:nvSpPr>
          <p:spPr>
            <a:xfrm>
              <a:off x="8258" y="5459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质量管</a:t>
              </a:r>
              <a:r>
                <a:rPr lang="zh-CN" altLang="en-US" sz="600"/>
                <a:t>理</a:t>
              </a:r>
              <a:endParaRPr lang="zh-CN" altLang="en-US" sz="600"/>
            </a:p>
          </p:txBody>
        </p:sp>
        <p:sp>
          <p:nvSpPr>
            <p:cNvPr id="64" name="文本框 63"/>
            <p:cNvSpPr txBox="1"/>
            <p:nvPr>
              <p:custDataLst>
                <p:tags r:id="rId59"/>
              </p:custDataLst>
            </p:nvPr>
          </p:nvSpPr>
          <p:spPr>
            <a:xfrm>
              <a:off x="8260" y="6123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物料管</a:t>
              </a:r>
              <a:r>
                <a:rPr lang="zh-CN" altLang="en-US" sz="600"/>
                <a:t>理</a:t>
              </a:r>
              <a:endParaRPr lang="zh-CN" altLang="en-US" sz="600"/>
            </a:p>
          </p:txBody>
        </p:sp>
        <p:sp>
          <p:nvSpPr>
            <p:cNvPr id="65" name="燕尾形 64"/>
            <p:cNvSpPr/>
            <p:nvPr>
              <p:custDataLst>
                <p:tags r:id="rId60"/>
              </p:custDataLst>
            </p:nvPr>
          </p:nvSpPr>
          <p:spPr>
            <a:xfrm>
              <a:off x="10783" y="4498"/>
              <a:ext cx="2694" cy="478"/>
            </a:xfrm>
            <a:prstGeom prst="chevron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交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付</a:t>
              </a:r>
              <a:endParaRPr lang="zh-CN" altLang="en-US" sz="7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700" dirty="0">
                  <a:latin typeface="微软雅黑" pitchFamily="34" charset="-122"/>
                  <a:ea typeface="微软雅黑" pitchFamily="34" charset="-122"/>
                  <a:sym typeface="+mn-ea"/>
                </a:rPr>
                <a:t>交付周期丨交付达成</a:t>
              </a:r>
              <a:r>
                <a:rPr lang="zh-CN" altLang="en-US" sz="700" dirty="0">
                  <a:latin typeface="微软雅黑" pitchFamily="34" charset="-122"/>
                  <a:ea typeface="微软雅黑" pitchFamily="34" charset="-122"/>
                  <a:sym typeface="+mn-ea"/>
                </a:rPr>
                <a:t>率</a:t>
              </a:r>
              <a:endParaRPr lang="zh-CN" altLang="en-US" sz="700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61"/>
              </p:custDataLst>
            </p:nvPr>
          </p:nvSpPr>
          <p:spPr>
            <a:xfrm>
              <a:off x="10781" y="5129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订单处</a:t>
              </a:r>
              <a:r>
                <a:rPr lang="zh-CN" altLang="en-US" sz="600"/>
                <a:t>理</a:t>
              </a:r>
              <a:endParaRPr lang="zh-CN" altLang="en-US" sz="600"/>
            </a:p>
          </p:txBody>
        </p:sp>
        <p:sp>
          <p:nvSpPr>
            <p:cNvPr id="67" name="文本框 66"/>
            <p:cNvSpPr txBox="1"/>
            <p:nvPr>
              <p:custDataLst>
                <p:tags r:id="rId62"/>
              </p:custDataLst>
            </p:nvPr>
          </p:nvSpPr>
          <p:spPr>
            <a:xfrm>
              <a:off x="10781" y="5781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生</a:t>
              </a:r>
              <a:r>
                <a:rPr lang="zh-CN" altLang="en-US" sz="600"/>
                <a:t>产</a:t>
              </a:r>
              <a:endParaRPr lang="zh-CN" altLang="en-US" sz="600"/>
            </a:p>
          </p:txBody>
        </p:sp>
        <p:sp>
          <p:nvSpPr>
            <p:cNvPr id="68" name="文本框 67"/>
            <p:cNvSpPr txBox="1"/>
            <p:nvPr>
              <p:custDataLst>
                <p:tags r:id="rId63"/>
              </p:custDataLst>
            </p:nvPr>
          </p:nvSpPr>
          <p:spPr>
            <a:xfrm>
              <a:off x="12274" y="5129"/>
              <a:ext cx="105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及时</a:t>
              </a:r>
              <a:r>
                <a:rPr lang="zh-CN" altLang="en-US" sz="600"/>
                <a:t>率</a:t>
              </a:r>
              <a:endParaRPr lang="zh-CN" altLang="en-US" sz="600"/>
            </a:p>
          </p:txBody>
        </p:sp>
        <p:sp>
          <p:nvSpPr>
            <p:cNvPr id="69" name="文本框 68"/>
            <p:cNvSpPr txBox="1"/>
            <p:nvPr>
              <p:custDataLst>
                <p:tags r:id="rId64"/>
              </p:custDataLst>
            </p:nvPr>
          </p:nvSpPr>
          <p:spPr>
            <a:xfrm>
              <a:off x="12280" y="5459"/>
              <a:ext cx="105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齐套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65"/>
              </p:custDataLst>
            </p:nvPr>
          </p:nvSpPr>
          <p:spPr>
            <a:xfrm>
              <a:off x="12274" y="5789"/>
              <a:ext cx="105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承诺达成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sp>
          <p:nvSpPr>
            <p:cNvPr id="71" name="文本框 70"/>
            <p:cNvSpPr txBox="1"/>
            <p:nvPr>
              <p:custDataLst>
                <p:tags r:id="rId66"/>
              </p:custDataLst>
            </p:nvPr>
          </p:nvSpPr>
          <p:spPr>
            <a:xfrm>
              <a:off x="12280" y="6119"/>
              <a:ext cx="1052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  <a:prstDash val="sysDot"/>
            </a:ln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600">
                  <a:sym typeface="+mn-ea"/>
                </a:rPr>
                <a:t>发运及时</a:t>
              </a:r>
              <a:r>
                <a:rPr lang="zh-CN" altLang="en-US" sz="600">
                  <a:sym typeface="+mn-ea"/>
                </a:rPr>
                <a:t>率</a:t>
              </a:r>
              <a:endParaRPr lang="zh-CN" altLang="en-US" sz="600">
                <a:sym typeface="+mn-ea"/>
              </a:endParaRPr>
            </a:p>
          </p:txBody>
        </p:sp>
        <p:pic>
          <p:nvPicPr>
            <p:cNvPr id="72" name="图片 71" descr="3504302"/>
            <p:cNvPicPr>
              <a:picLocks noChangeAspect="1"/>
            </p:cNvPicPr>
            <p:nvPr>
              <p:custDataLst>
                <p:tags r:id="rId67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0781" y="6779"/>
              <a:ext cx="320" cy="320"/>
            </a:xfrm>
            <a:prstGeom prst="rect">
              <a:avLst/>
            </a:prstGeom>
          </p:spPr>
        </p:pic>
        <p:pic>
          <p:nvPicPr>
            <p:cNvPr id="73" name="图片 72" descr="4450929"/>
            <p:cNvPicPr>
              <a:picLocks noChangeAspect="1"/>
            </p:cNvPicPr>
            <p:nvPr>
              <p:custDataLst>
                <p:tags r:id="rId68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781" y="6488"/>
              <a:ext cx="320" cy="320"/>
            </a:xfrm>
            <a:prstGeom prst="rect">
              <a:avLst/>
            </a:prstGeom>
          </p:spPr>
        </p:pic>
        <p:sp>
          <p:nvSpPr>
            <p:cNvPr id="74" name="文本框 73"/>
            <p:cNvSpPr txBox="1"/>
            <p:nvPr>
              <p:custDataLst>
                <p:tags r:id="rId69"/>
              </p:custDataLst>
            </p:nvPr>
          </p:nvSpPr>
          <p:spPr>
            <a:xfrm>
              <a:off x="11036" y="6491"/>
              <a:ext cx="2273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岗位职责：交付经</a:t>
              </a:r>
              <a:r>
                <a:rPr lang="zh-CN" altLang="en-US" sz="700"/>
                <a:t>理</a:t>
              </a:r>
              <a:endParaRPr lang="zh-CN" altLang="en-US" sz="700"/>
            </a:p>
          </p:txBody>
        </p:sp>
        <p:sp>
          <p:nvSpPr>
            <p:cNvPr id="75" name="文本框 74"/>
            <p:cNvSpPr txBox="1"/>
            <p:nvPr>
              <p:custDataLst>
                <p:tags r:id="rId70"/>
              </p:custDataLst>
            </p:nvPr>
          </p:nvSpPr>
          <p:spPr>
            <a:xfrm>
              <a:off x="11005" y="6782"/>
              <a:ext cx="1985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业务</a:t>
              </a:r>
              <a:r>
                <a:rPr lang="en-US" altLang="zh-CN" sz="700"/>
                <a:t>owner</a:t>
              </a:r>
              <a:r>
                <a:rPr lang="zh-CN" altLang="en-US" sz="700"/>
                <a:t>：交付经</a:t>
              </a:r>
              <a:r>
                <a:rPr lang="zh-CN" altLang="en-US" sz="700"/>
                <a:t>理</a:t>
              </a:r>
              <a:endParaRPr lang="zh-CN" altLang="en-US" sz="700"/>
            </a:p>
          </p:txBody>
        </p:sp>
        <p:sp>
          <p:nvSpPr>
            <p:cNvPr id="78" name="文本框 77"/>
            <p:cNvSpPr txBox="1"/>
            <p:nvPr>
              <p:custDataLst>
                <p:tags r:id="rId71"/>
              </p:custDataLst>
            </p:nvPr>
          </p:nvSpPr>
          <p:spPr>
            <a:xfrm>
              <a:off x="10781" y="5455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物料齐</a:t>
              </a:r>
              <a:r>
                <a:rPr lang="zh-CN" altLang="en-US" sz="600"/>
                <a:t>套</a:t>
              </a:r>
              <a:endParaRPr lang="zh-CN" altLang="en-US" sz="600"/>
            </a:p>
          </p:txBody>
        </p:sp>
        <p:sp>
          <p:nvSpPr>
            <p:cNvPr id="79" name="文本框 78"/>
            <p:cNvSpPr txBox="1"/>
            <p:nvPr>
              <p:custDataLst>
                <p:tags r:id="rId72"/>
              </p:custDataLst>
            </p:nvPr>
          </p:nvSpPr>
          <p:spPr>
            <a:xfrm>
              <a:off x="10783" y="6119"/>
              <a:ext cx="1361" cy="289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r>
                <a:rPr lang="zh-CN" altLang="en-US" sz="600"/>
                <a:t>发</a:t>
              </a:r>
              <a:r>
                <a:rPr lang="zh-CN" altLang="en-US" sz="600"/>
                <a:t>运</a:t>
              </a:r>
              <a:endParaRPr lang="zh-CN" altLang="en-US" sz="600"/>
            </a:p>
          </p:txBody>
        </p:sp>
        <p:cxnSp>
          <p:nvCxnSpPr>
            <p:cNvPr id="80" name="直接连接符 79"/>
            <p:cNvCxnSpPr/>
            <p:nvPr>
              <p:custDataLst>
                <p:tags r:id="rId73"/>
              </p:custDataLst>
            </p:nvPr>
          </p:nvCxnSpPr>
          <p:spPr>
            <a:xfrm>
              <a:off x="2918" y="7100"/>
              <a:ext cx="1031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ounded Rectangle 2"/>
            <p:cNvSpPr/>
            <p:nvPr>
              <p:custDataLst>
                <p:tags r:id="rId74"/>
              </p:custDataLst>
            </p:nvPr>
          </p:nvSpPr>
          <p:spPr>
            <a:xfrm>
              <a:off x="1858" y="2706"/>
              <a:ext cx="11772" cy="1286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p>
              <a:pPr lvl="0" algn="l">
                <a:buClrTx/>
                <a:buSzTx/>
                <a:buFontTx/>
              </a:pP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Control Tower level 2----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阶段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2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：建立业务评价标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准，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实现业务节点的自动反馈与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干预</a:t>
              </a:r>
              <a:endParaRPr lang="en-US" altLang="zh-CN" sz="7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9" name="Rounded Rectangle 2"/>
            <p:cNvSpPr/>
            <p:nvPr>
              <p:custDataLst>
                <p:tags r:id="rId75"/>
              </p:custDataLst>
            </p:nvPr>
          </p:nvSpPr>
          <p:spPr>
            <a:xfrm>
              <a:off x="1868" y="1386"/>
              <a:ext cx="11772" cy="123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p>
              <a:pPr algn="l"/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</a:rPr>
                <a:t>Control Tower level 3----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阶段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：全价值链智能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决策</a:t>
              </a:r>
              <a:endParaRPr lang="zh-CN" altLang="en-US" sz="7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1" name="Rounded Rectangle 3"/>
            <p:cNvSpPr/>
            <p:nvPr>
              <p:custDataLst>
                <p:tags r:id="rId76"/>
              </p:custDataLst>
            </p:nvPr>
          </p:nvSpPr>
          <p:spPr>
            <a:xfrm>
              <a:off x="2036" y="1729"/>
              <a:ext cx="2084" cy="54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p>
              <a:pPr algn="ctr"/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预测</a:t>
              </a:r>
              <a:endParaRPr lang="en-US" altLang="zh-CN" sz="700" dirty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销量预测</a:t>
              </a:r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 | 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需求预测 </a:t>
              </a:r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| 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订单预测｜物料预测｜产品生命周期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预测</a:t>
              </a:r>
              <a:endParaRPr lang="zh-CN" altLang="en-US" sz="5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Rounded Rectangle 3"/>
            <p:cNvSpPr/>
            <p:nvPr>
              <p:custDataLst>
                <p:tags r:id="rId77"/>
              </p:custDataLst>
            </p:nvPr>
          </p:nvSpPr>
          <p:spPr>
            <a:xfrm>
              <a:off x="4411" y="1729"/>
              <a:ext cx="2084" cy="54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p>
              <a:pPr algn="ctr"/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计划策略</a:t>
              </a:r>
              <a:endParaRPr lang="en-US" altLang="zh-CN" sz="700" dirty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S&amp;OP 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优化模型</a:t>
              </a:r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 | 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生产计划</a:t>
              </a:r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/APS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优化引擎 </a:t>
              </a:r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| 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物料计划</a:t>
              </a:r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/MRP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规则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引擎</a:t>
              </a:r>
              <a:endParaRPr lang="zh-CN" altLang="en-US" sz="5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Rounded Rectangle 3"/>
            <p:cNvSpPr/>
            <p:nvPr>
              <p:custDataLst>
                <p:tags r:id="rId78"/>
              </p:custDataLst>
            </p:nvPr>
          </p:nvSpPr>
          <p:spPr>
            <a:xfrm>
              <a:off x="6712" y="1731"/>
              <a:ext cx="2084" cy="54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p>
              <a:pPr algn="ctr"/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库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存策略</a:t>
              </a:r>
              <a:endParaRPr lang="en-US" altLang="zh-CN" sz="700" dirty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补货模型</a:t>
              </a:r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 | 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库存健康度评估模型 </a:t>
              </a:r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| CPL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模型丨物料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标签</a:t>
              </a:r>
              <a:endParaRPr lang="zh-CN" altLang="en-US" sz="5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Rounded Rectangle 3"/>
            <p:cNvSpPr/>
            <p:nvPr>
              <p:custDataLst>
                <p:tags r:id="rId79"/>
              </p:custDataLst>
            </p:nvPr>
          </p:nvSpPr>
          <p:spPr>
            <a:xfrm>
              <a:off x="9017" y="1731"/>
              <a:ext cx="2084" cy="54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p>
              <a:pPr algn="ctr"/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供应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</a:rPr>
                <a:t>/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交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付策略</a:t>
              </a:r>
              <a:endParaRPr lang="en-US" altLang="zh-CN" sz="700" dirty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供应商评估模型</a:t>
              </a:r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 | 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产品标签</a:t>
              </a:r>
              <a:r>
                <a:rPr lang="en-US" altLang="zh-CN" sz="500" dirty="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en-US" sz="500" dirty="0">
                  <a:latin typeface="微软雅黑" pitchFamily="34" charset="-122"/>
                  <a:ea typeface="微软雅黑" pitchFamily="34" charset="-122"/>
                </a:rPr>
                <a:t>丨……</a:t>
              </a:r>
              <a:endParaRPr lang="zh-CN" altLang="en-US" sz="5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Rounded Rectangle 3"/>
            <p:cNvSpPr/>
            <p:nvPr>
              <p:custDataLst>
                <p:tags r:id="rId80"/>
              </p:custDataLst>
            </p:nvPr>
          </p:nvSpPr>
          <p:spPr>
            <a:xfrm>
              <a:off x="11393" y="1731"/>
              <a:ext cx="2084" cy="541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p>
              <a:pPr algn="ctr"/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</a:rPr>
                <a:t>智能决策</a:t>
              </a:r>
              <a:endParaRPr lang="en-US" altLang="zh-CN" sz="700" dirty="0"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500" dirty="0" smtClean="0">
                  <a:latin typeface="微软雅黑" pitchFamily="34" charset="-122"/>
                  <a:ea typeface="微软雅黑" pitchFamily="34" charset="-122"/>
                </a:rPr>
                <a:t>……</a:t>
              </a:r>
              <a:endParaRPr lang="zh-CN" altLang="en-US" sz="5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燕尾形 37"/>
            <p:cNvSpPr/>
            <p:nvPr>
              <p:custDataLst>
                <p:tags r:id="rId81"/>
              </p:custDataLst>
            </p:nvPr>
          </p:nvSpPr>
          <p:spPr>
            <a:xfrm>
              <a:off x="10847" y="3018"/>
              <a:ext cx="2630" cy="290"/>
            </a:xfrm>
            <a:prstGeom prst="chevron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交付异常告警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&amp;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预警</a:t>
              </a:r>
              <a:endParaRPr lang="zh-CN" altLang="en-US" sz="700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82"/>
              </p:custDataLst>
            </p:nvPr>
          </p:nvSpPr>
          <p:spPr>
            <a:xfrm>
              <a:off x="11005" y="3372"/>
              <a:ext cx="2083" cy="580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订单履约节点时</a:t>
              </a:r>
              <a:r>
                <a:rPr lang="zh-CN" altLang="en-US" sz="600"/>
                <a:t>效</a:t>
              </a:r>
              <a:endParaRPr lang="zh-CN" altLang="en-US" sz="600"/>
            </a:p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物流节点时</a:t>
              </a:r>
              <a:r>
                <a:rPr lang="zh-CN" altLang="en-US" sz="600"/>
                <a:t>效</a:t>
              </a:r>
              <a:endParaRPr lang="zh-CN" altLang="en-US" sz="600"/>
            </a:p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……</a:t>
              </a:r>
              <a:endParaRPr lang="zh-CN" altLang="en-US" sz="600"/>
            </a:p>
          </p:txBody>
        </p:sp>
        <p:sp>
          <p:nvSpPr>
            <p:cNvPr id="48" name="燕尾形 47"/>
            <p:cNvSpPr/>
            <p:nvPr>
              <p:custDataLst>
                <p:tags r:id="rId83"/>
              </p:custDataLst>
            </p:nvPr>
          </p:nvSpPr>
          <p:spPr>
            <a:xfrm>
              <a:off x="8258" y="3018"/>
              <a:ext cx="2627" cy="290"/>
            </a:xfrm>
            <a:prstGeom prst="chevron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制程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异常告警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&amp;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预警</a:t>
              </a:r>
              <a:endParaRPr lang="zh-CN" altLang="en-US" sz="700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4"/>
              </p:custDataLst>
            </p:nvPr>
          </p:nvSpPr>
          <p:spPr>
            <a:xfrm>
              <a:off x="8424" y="3372"/>
              <a:ext cx="2358" cy="580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产量、质量（</a:t>
              </a:r>
              <a:r>
                <a:rPr lang="en-US" altLang="zh-CN" sz="600"/>
                <a:t>4M</a:t>
              </a:r>
              <a:r>
                <a:rPr lang="zh-CN" altLang="en-US" sz="600"/>
                <a:t>）</a:t>
              </a:r>
              <a:endParaRPr lang="zh-CN" altLang="en-US" sz="600"/>
            </a:p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en-US" altLang="zh-CN" sz="600"/>
                <a:t>ECN/</a:t>
              </a:r>
              <a:r>
                <a:rPr lang="zh-CN" altLang="en-US" sz="600"/>
                <a:t>订单变</a:t>
              </a:r>
              <a:r>
                <a:rPr lang="zh-CN" altLang="en-US" sz="600"/>
                <a:t>更</a:t>
              </a:r>
              <a:endParaRPr lang="zh-CN" altLang="en-US" sz="600"/>
            </a:p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制造周</a:t>
              </a:r>
              <a:r>
                <a:rPr lang="zh-CN" altLang="en-US" sz="600"/>
                <a:t>期</a:t>
              </a:r>
              <a:endParaRPr lang="zh-CN" altLang="en-US" sz="600"/>
            </a:p>
          </p:txBody>
        </p:sp>
        <p:sp>
          <p:nvSpPr>
            <p:cNvPr id="61" name="燕尾形 60"/>
            <p:cNvSpPr/>
            <p:nvPr>
              <p:custDataLst>
                <p:tags r:id="rId85"/>
              </p:custDataLst>
            </p:nvPr>
          </p:nvSpPr>
          <p:spPr>
            <a:xfrm>
              <a:off x="5695" y="3018"/>
              <a:ext cx="2627" cy="290"/>
            </a:xfrm>
            <a:prstGeom prst="chevron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采购交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料告警</a:t>
              </a:r>
              <a:r>
                <a:rPr lang="en-US" altLang="zh-CN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&amp;</a:t>
              </a: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预警</a:t>
              </a:r>
              <a:endParaRPr lang="zh-CN" altLang="en-US" sz="700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86"/>
              </p:custDataLst>
            </p:nvPr>
          </p:nvSpPr>
          <p:spPr>
            <a:xfrm>
              <a:off x="5863" y="3372"/>
              <a:ext cx="2358" cy="580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交</a:t>
              </a:r>
              <a:r>
                <a:rPr lang="zh-CN" altLang="en-US" sz="600"/>
                <a:t>料</a:t>
              </a:r>
              <a:endParaRPr lang="zh-CN" altLang="en-US" sz="600"/>
            </a:p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齐套</a:t>
              </a:r>
              <a:r>
                <a:rPr lang="zh-CN" altLang="en-US" sz="600"/>
                <a:t>预警</a:t>
              </a:r>
              <a:endParaRPr lang="zh-CN" altLang="en-US" sz="600"/>
            </a:p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采购周</a:t>
              </a:r>
              <a:r>
                <a:rPr lang="zh-CN" altLang="en-US" sz="600"/>
                <a:t>期</a:t>
              </a:r>
              <a:endParaRPr lang="zh-CN" altLang="en-US" sz="600"/>
            </a:p>
          </p:txBody>
        </p:sp>
        <p:sp>
          <p:nvSpPr>
            <p:cNvPr id="76" name="五边形 75"/>
            <p:cNvSpPr/>
            <p:nvPr>
              <p:custDataLst>
                <p:tags r:id="rId87"/>
              </p:custDataLst>
            </p:nvPr>
          </p:nvSpPr>
          <p:spPr>
            <a:xfrm>
              <a:off x="2918" y="3018"/>
              <a:ext cx="2855" cy="290"/>
            </a:xfrm>
            <a:prstGeom prst="homePlat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t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700" b="1" dirty="0">
                  <a:latin typeface="微软雅黑" pitchFamily="34" charset="-122"/>
                  <a:ea typeface="微软雅黑" pitchFamily="34" charset="-122"/>
                  <a:sym typeface="+mn-ea"/>
                </a:rPr>
                <a:t>计划</a:t>
              </a:r>
              <a:endParaRPr lang="zh-CN" altLang="en-US" sz="600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88"/>
              </p:custDataLst>
            </p:nvPr>
          </p:nvSpPr>
          <p:spPr>
            <a:xfrm>
              <a:off x="2919" y="3372"/>
              <a:ext cx="2699" cy="580"/>
            </a:xfrm>
            <a:prstGeom prst="rect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</p:spPr>
          <p:txBody>
            <a:bodyPr wrap="square" rtlCol="0">
              <a:spAutoFit/>
            </a:bodyPr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生产均衡</a:t>
              </a:r>
              <a:r>
                <a:rPr lang="en-US" altLang="zh-CN" sz="600"/>
                <a:t>-</a:t>
              </a:r>
              <a:r>
                <a:rPr lang="zh-CN" altLang="en-US" sz="600"/>
                <a:t>发运</a:t>
              </a:r>
              <a:r>
                <a:rPr lang="en-US" altLang="zh-CN" sz="600"/>
                <a:t>&amp;</a:t>
              </a:r>
              <a:r>
                <a:rPr lang="zh-CN" altLang="en-US" sz="600"/>
                <a:t>齐套摆</a:t>
              </a:r>
              <a:r>
                <a:rPr lang="zh-CN" altLang="en-US" sz="600"/>
                <a:t>放</a:t>
              </a:r>
              <a:endParaRPr lang="zh-CN" altLang="en-US" sz="600"/>
            </a:p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库存水位</a:t>
              </a:r>
              <a:r>
                <a:rPr lang="en-US" altLang="zh-CN" sz="600"/>
                <a:t>-</a:t>
              </a:r>
              <a:r>
                <a:rPr lang="zh-CN" altLang="en-US" sz="600"/>
                <a:t>缺货</a:t>
              </a:r>
              <a:r>
                <a:rPr lang="zh-CN" altLang="en-US" sz="600"/>
                <a:t>预警</a:t>
              </a:r>
              <a:endParaRPr lang="zh-CN" altLang="en-US" sz="600"/>
            </a:p>
            <a:p>
              <a:pPr marL="171450" indent="-171450" algn="l">
                <a:buFont typeface="Wingdings" panose="05000000000000000000" charset="0"/>
                <a:buChar char=""/>
              </a:pPr>
              <a:r>
                <a:rPr lang="zh-CN" altLang="en-US" sz="600"/>
                <a:t>……</a:t>
              </a:r>
              <a:endParaRPr lang="zh-CN" altLang="en-US" sz="600"/>
            </a:p>
          </p:txBody>
        </p:sp>
        <p:sp>
          <p:nvSpPr>
            <p:cNvPr id="81" name="文本框 80"/>
            <p:cNvSpPr txBox="1"/>
            <p:nvPr>
              <p:custDataLst>
                <p:tags r:id="rId89"/>
              </p:custDataLst>
            </p:nvPr>
          </p:nvSpPr>
          <p:spPr>
            <a:xfrm>
              <a:off x="2068" y="3018"/>
              <a:ext cx="851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业务节</a:t>
              </a:r>
              <a:r>
                <a:rPr lang="zh-CN" altLang="en-US" sz="700"/>
                <a:t>点</a:t>
              </a:r>
              <a:endParaRPr lang="zh-CN" altLang="en-US" sz="700"/>
            </a:p>
          </p:txBody>
        </p:sp>
        <p:sp>
          <p:nvSpPr>
            <p:cNvPr id="82" name="文本框 81"/>
            <p:cNvSpPr txBox="1"/>
            <p:nvPr>
              <p:custDataLst>
                <p:tags r:id="rId90"/>
              </p:custDataLst>
            </p:nvPr>
          </p:nvSpPr>
          <p:spPr>
            <a:xfrm>
              <a:off x="2228" y="3372"/>
              <a:ext cx="65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告警</a:t>
              </a:r>
              <a:endParaRPr lang="zh-CN" altLang="en-US" sz="700"/>
            </a:p>
            <a:p>
              <a:r>
                <a:rPr lang="zh-CN" altLang="en-US" sz="700"/>
                <a:t>预警</a:t>
              </a:r>
              <a:endParaRPr lang="zh-CN" altLang="en-US" sz="700"/>
            </a:p>
            <a:p>
              <a:r>
                <a:rPr lang="zh-CN" altLang="en-US" sz="700"/>
                <a:t>干预</a:t>
              </a:r>
              <a:endParaRPr lang="zh-CN" altLang="en-US" sz="700"/>
            </a:p>
          </p:txBody>
        </p:sp>
        <p:sp>
          <p:nvSpPr>
            <p:cNvPr id="83" name="上箭头 82"/>
            <p:cNvSpPr/>
            <p:nvPr>
              <p:custDataLst>
                <p:tags r:id="rId91"/>
              </p:custDataLst>
            </p:nvPr>
          </p:nvSpPr>
          <p:spPr>
            <a:xfrm>
              <a:off x="5452" y="3913"/>
              <a:ext cx="320" cy="213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上箭头 83"/>
            <p:cNvSpPr/>
            <p:nvPr>
              <p:custDataLst>
                <p:tags r:id="rId92"/>
              </p:custDataLst>
            </p:nvPr>
          </p:nvSpPr>
          <p:spPr>
            <a:xfrm>
              <a:off x="8162" y="3913"/>
              <a:ext cx="320" cy="213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上箭头 85"/>
            <p:cNvSpPr/>
            <p:nvPr>
              <p:custDataLst>
                <p:tags r:id="rId93"/>
              </p:custDataLst>
            </p:nvPr>
          </p:nvSpPr>
          <p:spPr>
            <a:xfrm>
              <a:off x="13157" y="3913"/>
              <a:ext cx="320" cy="213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上箭头 86"/>
            <p:cNvSpPr/>
            <p:nvPr>
              <p:custDataLst>
                <p:tags r:id="rId94"/>
              </p:custDataLst>
            </p:nvPr>
          </p:nvSpPr>
          <p:spPr>
            <a:xfrm>
              <a:off x="3964" y="2562"/>
              <a:ext cx="320" cy="213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上箭头 87"/>
            <p:cNvSpPr/>
            <p:nvPr>
              <p:custDataLst>
                <p:tags r:id="rId95"/>
              </p:custDataLst>
            </p:nvPr>
          </p:nvSpPr>
          <p:spPr>
            <a:xfrm>
              <a:off x="7227" y="2562"/>
              <a:ext cx="320" cy="213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上箭头 88"/>
            <p:cNvSpPr/>
            <p:nvPr>
              <p:custDataLst>
                <p:tags r:id="rId96"/>
              </p:custDataLst>
            </p:nvPr>
          </p:nvSpPr>
          <p:spPr>
            <a:xfrm>
              <a:off x="11101" y="2562"/>
              <a:ext cx="320" cy="213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6" name="文本占位符 35"/>
          <p:cNvSpPr>
            <a:spLocks noGrp="1"/>
          </p:cNvSpPr>
          <p:nvPr>
            <p:custDataLst>
              <p:tags r:id="rId97"/>
            </p:custDataLst>
          </p:nvPr>
        </p:nvSpPr>
        <p:spPr>
          <a:xfrm>
            <a:off x="428625" y="149225"/>
            <a:ext cx="7475220" cy="527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90204" pitchFamily="34" charset="0"/>
              <a:buNone/>
              <a:defRPr sz="3200" b="1" kern="120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部件</a:t>
            </a:r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BG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供应链运营体系整体解决方案</a:t>
            </a:r>
            <a:endParaRPr kumimoji="1" lang="zh-CN" altLang="en-US" sz="1600" spc="3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五边形 4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467985" y="2840990"/>
            <a:ext cx="2416175" cy="318770"/>
          </a:xfrm>
          <a:prstGeom prst="homePlate">
            <a:avLst>
              <a:gd name="adj" fmla="val 0"/>
            </a:avLst>
          </a:prstGeom>
          <a:solidFill>
            <a:srgbClr val="1178FE">
              <a:alpha val="40000"/>
            </a:srgbClr>
          </a:solidFill>
          <a:ln>
            <a:noFill/>
          </a:ln>
          <a:effectLst/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algn="ctr"/>
            <a:r>
              <a:rPr kumimoji="1" lang="zh-CN" altLang="en-US" sz="900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岗位：指标看板</a:t>
            </a:r>
            <a:endParaRPr kumimoji="1" lang="zh-CN" altLang="en-US" sz="900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120" name="矩形 119"/>
          <p:cNvSpPr/>
          <p:nvPr>
            <p:custDataLst>
              <p:tags r:id="rId2"/>
            </p:custDataLst>
          </p:nvPr>
        </p:nvSpPr>
        <p:spPr>
          <a:xfrm>
            <a:off x="748030" y="1362710"/>
            <a:ext cx="501015" cy="226695"/>
          </a:xfrm>
          <a:prstGeom prst="rect">
            <a:avLst/>
          </a:prstGeom>
          <a:noFill/>
          <a:ln w="31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CN" altLang="en-US" sz="700" b="1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业务域</a:t>
            </a:r>
            <a:endParaRPr lang="zh-CN" altLang="en-US" sz="700" b="1" dirty="0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五边形 4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86535" y="955040"/>
            <a:ext cx="1139190" cy="318770"/>
          </a:xfrm>
          <a:prstGeom prst="homePlate">
            <a:avLst>
              <a:gd name="adj" fmla="val 0"/>
            </a:avLst>
          </a:prstGeom>
          <a:solidFill>
            <a:srgbClr val="1178FE">
              <a:alpha val="40000"/>
            </a:srgbClr>
          </a:solidFill>
          <a:ln>
            <a:noFill/>
          </a:ln>
          <a:effectLst/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algn="ctr"/>
            <a:r>
              <a:rPr kumimoji="1" lang="zh-CN" altLang="en-US" sz="900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提升计划驱动能力</a:t>
            </a:r>
            <a:endParaRPr kumimoji="1" lang="zh-CN" altLang="en-US" sz="900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4" name="五边形 4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796540" y="955040"/>
            <a:ext cx="1141095" cy="318770"/>
          </a:xfrm>
          <a:prstGeom prst="homePlate">
            <a:avLst>
              <a:gd name="adj" fmla="val 0"/>
            </a:avLst>
          </a:prstGeom>
          <a:solidFill>
            <a:srgbClr val="1178FE">
              <a:alpha val="40000"/>
            </a:srgbClr>
          </a:solidFill>
          <a:ln>
            <a:noFill/>
          </a:ln>
          <a:effectLst/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lvl="0" algn="ctr" defTabSz="914400" latinLnBrk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提升物料供给能力</a:t>
            </a:r>
            <a:endParaRPr kumimoji="1" lang="zh-CN" altLang="en-US" sz="900" b="1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5" name="五边形 4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07815" y="946785"/>
            <a:ext cx="1127760" cy="318770"/>
          </a:xfrm>
          <a:prstGeom prst="homePlate">
            <a:avLst>
              <a:gd name="adj" fmla="val 0"/>
            </a:avLst>
          </a:prstGeom>
          <a:solidFill>
            <a:srgbClr val="1178FE">
              <a:alpha val="40000"/>
            </a:srgbClr>
          </a:solidFill>
          <a:ln>
            <a:noFill/>
          </a:ln>
          <a:effectLst/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lvl="0" algn="ctr" defTabSz="914400" latinLnBrk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900" b="1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提升过程制造能力</a:t>
            </a:r>
            <a:endParaRPr kumimoji="1" lang="zh-CN" altLang="en-US" sz="900" b="1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6" name="五边形 4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406390" y="946785"/>
            <a:ext cx="1141095" cy="318770"/>
          </a:xfrm>
          <a:prstGeom prst="homePlate">
            <a:avLst>
              <a:gd name="adj" fmla="val 0"/>
            </a:avLst>
          </a:prstGeom>
          <a:solidFill>
            <a:srgbClr val="1178FE">
              <a:alpha val="40000"/>
            </a:srgbClr>
          </a:solidFill>
          <a:ln>
            <a:noFill/>
          </a:ln>
          <a:effectLst/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lvl="0" algn="ctr" defTabSz="914400" latinLnBrk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900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提升交付能力</a:t>
            </a:r>
            <a:endParaRPr kumimoji="1" lang="zh-CN" altLang="en-US" sz="900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748030" y="1610360"/>
            <a:ext cx="500380" cy="603885"/>
          </a:xfrm>
          <a:prstGeom prst="rect">
            <a:avLst/>
          </a:prstGeom>
          <a:noFill/>
          <a:ln w="31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CN" altLang="en-US" sz="700" b="1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数据资产沉淀：指标平台搭建</a:t>
            </a:r>
            <a:endParaRPr lang="zh-CN" altLang="en-US" sz="700" b="1" dirty="0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69" name="矩形 68"/>
          <p:cNvSpPr/>
          <p:nvPr>
            <p:custDataLst>
              <p:tags r:id="rId8"/>
            </p:custDataLst>
          </p:nvPr>
        </p:nvSpPr>
        <p:spPr>
          <a:xfrm>
            <a:off x="681355" y="946785"/>
            <a:ext cx="634365" cy="226695"/>
          </a:xfrm>
          <a:prstGeom prst="rect">
            <a:avLst/>
          </a:prstGeom>
          <a:noFill/>
          <a:ln w="31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CN" altLang="en-US" sz="700" b="1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核心价值</a:t>
            </a:r>
            <a:endParaRPr lang="zh-CN" altLang="en-US" sz="700" b="1" dirty="0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cxnSp>
        <p:nvCxnSpPr>
          <p:cNvPr id="77" name="直接连接符 76"/>
          <p:cNvCxnSpPr/>
          <p:nvPr>
            <p:custDataLst>
              <p:tags r:id="rId9"/>
            </p:custDataLst>
          </p:nvPr>
        </p:nvCxnSpPr>
        <p:spPr>
          <a:xfrm>
            <a:off x="1315720" y="1354455"/>
            <a:ext cx="0" cy="281940"/>
          </a:xfrm>
          <a:prstGeom prst="line">
            <a:avLst/>
          </a:prstGeom>
          <a:noFill/>
          <a:ln w="57150" cap="flat">
            <a:solidFill>
              <a:schemeClr val="tx2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直接连接符 77"/>
          <p:cNvCxnSpPr/>
          <p:nvPr>
            <p:custDataLst>
              <p:tags r:id="rId10"/>
            </p:custDataLst>
          </p:nvPr>
        </p:nvCxnSpPr>
        <p:spPr>
          <a:xfrm>
            <a:off x="1315720" y="1680210"/>
            <a:ext cx="0" cy="957580"/>
          </a:xfrm>
          <a:prstGeom prst="line">
            <a:avLst/>
          </a:prstGeom>
          <a:noFill/>
          <a:ln w="57150" cap="flat">
            <a:solidFill>
              <a:schemeClr val="tx2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五边形 4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717665" y="946785"/>
            <a:ext cx="1141095" cy="318770"/>
          </a:xfrm>
          <a:prstGeom prst="homePlate">
            <a:avLst>
              <a:gd name="adj" fmla="val 0"/>
            </a:avLst>
          </a:prstGeom>
          <a:solidFill>
            <a:srgbClr val="1178FE">
              <a:alpha val="40000"/>
            </a:srgbClr>
          </a:solidFill>
          <a:ln>
            <a:noFill/>
          </a:ln>
          <a:effectLst/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lvl="0" algn="ctr" defTabSz="914400" latinLnBrk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900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提升成本管控能力</a:t>
            </a:r>
            <a:endParaRPr kumimoji="1" lang="zh-CN" altLang="en-US" sz="900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2"/>
            </p:custDataLst>
          </p:nvPr>
        </p:nvCxnSpPr>
        <p:spPr>
          <a:xfrm>
            <a:off x="1315720" y="955040"/>
            <a:ext cx="0" cy="309880"/>
          </a:xfrm>
          <a:prstGeom prst="line">
            <a:avLst/>
          </a:prstGeom>
          <a:noFill/>
          <a:ln w="57150" cap="flat">
            <a:solidFill>
              <a:schemeClr val="tx2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五边形 43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612900" y="1354455"/>
            <a:ext cx="1139190" cy="242570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bg1">
                <a:lumMod val="75000"/>
              </a:schemeClr>
            </a:solidFill>
            <a:prstDash val="sys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178FE">
                    <a:alpha val="40000"/>
                  </a:srgbClr>
                </a:solidFill>
              </a14:hiddenFill>
            </a:ext>
          </a:extLst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algn="ctr"/>
            <a:r>
              <a:rPr kumimoji="1" lang="zh-CN" altLang="en-US" sz="900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交付线</a:t>
            </a:r>
            <a:endParaRPr kumimoji="1" lang="zh-CN" altLang="en-US" sz="900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24" name="五边形 43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091940" y="1354455"/>
            <a:ext cx="1139190" cy="242570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bg1">
                <a:lumMod val="75000"/>
              </a:schemeClr>
            </a:solidFill>
            <a:prstDash val="sys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178FE">
                    <a:alpha val="40000"/>
                  </a:srgbClr>
                </a:solidFill>
              </a14:hiddenFill>
            </a:ext>
          </a:extLst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algn="ctr"/>
            <a:r>
              <a:rPr kumimoji="1" lang="zh-CN" altLang="en-US" sz="900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制造线</a:t>
            </a:r>
            <a:endParaRPr kumimoji="1" lang="zh-CN" altLang="en-US" sz="900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25" name="五边形 43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547485" y="1354455"/>
            <a:ext cx="1139190" cy="242570"/>
          </a:xfrm>
          <a:prstGeom prst="homePlate">
            <a:avLst>
              <a:gd name="adj" fmla="val 0"/>
            </a:avLst>
          </a:prstGeom>
          <a:noFill/>
          <a:ln w="6350">
            <a:solidFill>
              <a:schemeClr val="bg1">
                <a:lumMod val="75000"/>
              </a:schemeClr>
            </a:solidFill>
            <a:prstDash val="sys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178FE">
                    <a:alpha val="40000"/>
                  </a:srgbClr>
                </a:solidFill>
              </a14:hiddenFill>
            </a:ext>
          </a:extLst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algn="ctr"/>
            <a:r>
              <a:rPr kumimoji="1" lang="zh-CN" altLang="en-US" sz="900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资源线</a:t>
            </a:r>
            <a:endParaRPr kumimoji="1" lang="zh-CN" altLang="en-US" sz="900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6"/>
            </p:custDataLst>
          </p:nvPr>
        </p:nvSpPr>
        <p:spPr>
          <a:xfrm>
            <a:off x="2675890" y="1619885"/>
            <a:ext cx="143192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  <a:buChar char="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目标管理中心</a:t>
            </a: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--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简道云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7"/>
            </p:custDataLst>
          </p:nvPr>
        </p:nvSpPr>
        <p:spPr>
          <a:xfrm>
            <a:off x="5116195" y="1631315"/>
            <a:ext cx="172148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  <a:buChar char="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指标管理中心</a:t>
            </a: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--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简道云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</p:txBody>
      </p:sp>
      <p:cxnSp>
        <p:nvCxnSpPr>
          <p:cNvPr id="117" name="直接连接符 116"/>
          <p:cNvCxnSpPr/>
          <p:nvPr>
            <p:custDataLst>
              <p:tags r:id="rId18"/>
            </p:custDataLst>
          </p:nvPr>
        </p:nvCxnSpPr>
        <p:spPr>
          <a:xfrm>
            <a:off x="1497965" y="1854835"/>
            <a:ext cx="6386195" cy="0"/>
          </a:xfrm>
          <a:prstGeom prst="line">
            <a:avLst/>
          </a:prstGeom>
          <a:noFill/>
          <a:ln w="3175" cap="flat">
            <a:solidFill>
              <a:schemeClr val="tx2">
                <a:lumMod val="50000"/>
              </a:schemeClr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文本框 42"/>
          <p:cNvSpPr txBox="1"/>
          <p:nvPr>
            <p:custDataLst>
              <p:tags r:id="rId19"/>
            </p:custDataLst>
          </p:nvPr>
        </p:nvSpPr>
        <p:spPr>
          <a:xfrm>
            <a:off x="1486535" y="1619885"/>
            <a:ext cx="635000" cy="252730"/>
          </a:xfrm>
          <a:prstGeom prst="rect">
            <a:avLst/>
          </a:prstGeom>
          <a:noFill/>
          <a:ln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数据建模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20"/>
            </p:custDataLst>
          </p:nvPr>
        </p:nvSpPr>
        <p:spPr>
          <a:xfrm>
            <a:off x="1482725" y="1811020"/>
            <a:ext cx="635000" cy="252730"/>
          </a:xfrm>
          <a:prstGeom prst="rect">
            <a:avLst/>
          </a:prstGeom>
          <a:noFill/>
          <a:ln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0000"/>
                    <a:lumOff val="40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指标平台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</p:txBody>
      </p:sp>
      <p:sp>
        <p:nvSpPr>
          <p:cNvPr id="171" name="五边形 170"/>
          <p:cNvSpPr/>
          <p:nvPr>
            <p:custDataLst>
              <p:tags r:id="rId21"/>
            </p:custDataLst>
          </p:nvPr>
        </p:nvSpPr>
        <p:spPr bwMode="auto">
          <a:xfrm>
            <a:off x="1486535" y="2703830"/>
            <a:ext cx="6424930" cy="1688465"/>
          </a:xfrm>
          <a:prstGeom prst="homePlate">
            <a:avLst>
              <a:gd name="adj" fmla="val 0"/>
            </a:avLst>
          </a:prstGeom>
          <a:gradFill>
            <a:gsLst>
              <a:gs pos="100000">
                <a:schemeClr val="bg1">
                  <a:lumMod val="75000"/>
                  <a:alpha val="56000"/>
                </a:schemeClr>
              </a:gs>
              <a:gs pos="0">
                <a:schemeClr val="accent3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/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22"/>
            </p:custDataLst>
          </p:nvPr>
        </p:nvSpPr>
        <p:spPr>
          <a:xfrm>
            <a:off x="1501775" y="2038985"/>
            <a:ext cx="1139190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计划变动率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预测准确率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计划完成率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</p:txBody>
      </p:sp>
      <p:sp>
        <p:nvSpPr>
          <p:cNvPr id="46" name="文本框 45"/>
          <p:cNvSpPr txBox="1"/>
          <p:nvPr>
            <p:custDataLst>
              <p:tags r:id="rId23"/>
            </p:custDataLst>
          </p:nvPr>
        </p:nvSpPr>
        <p:spPr>
          <a:xfrm>
            <a:off x="2811780" y="2038985"/>
            <a:ext cx="11391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批次齐套率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SLT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缩短完成率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采购降价率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A/B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供应商占比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</p:txBody>
      </p:sp>
      <p:sp>
        <p:nvSpPr>
          <p:cNvPr id="47" name="文本框 46"/>
          <p:cNvSpPr txBox="1"/>
          <p:nvPr>
            <p:custDataLst>
              <p:tags r:id="rId24"/>
            </p:custDataLst>
          </p:nvPr>
        </p:nvSpPr>
        <p:spPr>
          <a:xfrm>
            <a:off x="4154170" y="2038985"/>
            <a:ext cx="11391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生产达成率（承诺）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合格率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PT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降本率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</p:txBody>
      </p:sp>
      <p:sp>
        <p:nvSpPr>
          <p:cNvPr id="49" name="文本框 48"/>
          <p:cNvSpPr txBox="1"/>
          <p:nvPr>
            <p:custDataLst>
              <p:tags r:id="rId25"/>
            </p:custDataLst>
          </p:nvPr>
        </p:nvSpPr>
        <p:spPr>
          <a:xfrm>
            <a:off x="5416550" y="2038985"/>
            <a:ext cx="1139190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交付达成成率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交付周期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物流降本率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</p:txBody>
      </p:sp>
      <p:sp>
        <p:nvSpPr>
          <p:cNvPr id="50" name="文本框 49"/>
          <p:cNvSpPr txBox="1"/>
          <p:nvPr>
            <p:custDataLst>
              <p:tags r:id="rId26"/>
            </p:custDataLst>
          </p:nvPr>
        </p:nvSpPr>
        <p:spPr>
          <a:xfrm>
            <a:off x="6727825" y="2038985"/>
            <a:ext cx="1139190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库存周转率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接收及时率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Clr>
                <a:srgbClr val="F5F7F9"/>
              </a:buClr>
              <a:buFont typeface="Wingdings" panose="05000000000000000000" charset="0"/>
              <a:buChar char="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rPr>
              <a:t>调拨及时率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  <a:sym typeface="+mn-ea"/>
            </a:endParaRPr>
          </a:p>
        </p:txBody>
      </p:sp>
      <p:sp>
        <p:nvSpPr>
          <p:cNvPr id="51" name="五边形 50"/>
          <p:cNvSpPr/>
          <p:nvPr>
            <p:custDataLst>
              <p:tags r:id="rId27"/>
            </p:custDataLst>
          </p:nvPr>
        </p:nvSpPr>
        <p:spPr bwMode="auto">
          <a:xfrm>
            <a:off x="1482725" y="2038985"/>
            <a:ext cx="6416675" cy="603885"/>
          </a:xfrm>
          <a:prstGeom prst="homePlate">
            <a:avLst>
              <a:gd name="adj" fmla="val 0"/>
            </a:avLst>
          </a:prstGeom>
          <a:gradFill>
            <a:gsLst>
              <a:gs pos="100000">
                <a:schemeClr val="bg1">
                  <a:lumMod val="75000"/>
                  <a:alpha val="56000"/>
                </a:schemeClr>
              </a:gs>
              <a:gs pos="0">
                <a:schemeClr val="accent3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/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52" name="下箭头 51"/>
          <p:cNvSpPr/>
          <p:nvPr>
            <p:custDataLst>
              <p:tags r:id="rId28"/>
            </p:custDataLst>
          </p:nvPr>
        </p:nvSpPr>
        <p:spPr bwMode="auto">
          <a:xfrm>
            <a:off x="2334895" y="1913890"/>
            <a:ext cx="359410" cy="211455"/>
          </a:xfrm>
          <a:prstGeom prst="downArrow">
            <a:avLst/>
          </a:prstGeom>
          <a:gradFill>
            <a:gsLst>
              <a:gs pos="100000">
                <a:schemeClr val="bg1">
                  <a:lumMod val="75000"/>
                  <a:alpha val="56000"/>
                </a:schemeClr>
              </a:gs>
              <a:gs pos="0">
                <a:schemeClr val="accent3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/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  <a:sym typeface="Helvetica"/>
            </a:endParaRPr>
          </a:p>
        </p:txBody>
      </p:sp>
      <p:sp>
        <p:nvSpPr>
          <p:cNvPr id="53" name="下箭头 52"/>
          <p:cNvSpPr/>
          <p:nvPr>
            <p:custDataLst>
              <p:tags r:id="rId29"/>
            </p:custDataLst>
          </p:nvPr>
        </p:nvSpPr>
        <p:spPr bwMode="auto">
          <a:xfrm>
            <a:off x="6202680" y="1921510"/>
            <a:ext cx="359410" cy="211455"/>
          </a:xfrm>
          <a:prstGeom prst="downArrow">
            <a:avLst/>
          </a:prstGeom>
          <a:gradFill>
            <a:gsLst>
              <a:gs pos="100000">
                <a:schemeClr val="bg1">
                  <a:lumMod val="75000"/>
                  <a:alpha val="56000"/>
                </a:schemeClr>
              </a:gs>
              <a:gs pos="0">
                <a:schemeClr val="accent3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/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  <a:sym typeface="Helvetica"/>
            </a:endParaRPr>
          </a:p>
        </p:txBody>
      </p:sp>
      <p:sp>
        <p:nvSpPr>
          <p:cNvPr id="54" name="矩形 53"/>
          <p:cNvSpPr/>
          <p:nvPr>
            <p:custDataLst>
              <p:tags r:id="rId30"/>
            </p:custDataLst>
          </p:nvPr>
        </p:nvSpPr>
        <p:spPr>
          <a:xfrm>
            <a:off x="642620" y="2703830"/>
            <a:ext cx="606425" cy="226695"/>
          </a:xfrm>
          <a:prstGeom prst="rect">
            <a:avLst/>
          </a:prstGeom>
          <a:noFill/>
          <a:ln w="31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CN" altLang="en-US" sz="700" b="1" dirty="0">
                <a:solidFill>
                  <a:schemeClr val="tx1"/>
                </a:solidFill>
                <a:latin typeface="微软雅黑" charset="0"/>
                <a:ea typeface="微软雅黑" charset="0"/>
                <a:sym typeface="+mn-ea"/>
              </a:rPr>
              <a:t>指标应用</a:t>
            </a:r>
            <a:endParaRPr lang="zh-CN" altLang="en-US" sz="700" b="1" dirty="0">
              <a:solidFill>
                <a:schemeClr val="tx1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cxnSp>
        <p:nvCxnSpPr>
          <p:cNvPr id="55" name="直接连接符 54"/>
          <p:cNvCxnSpPr/>
          <p:nvPr>
            <p:custDataLst>
              <p:tags r:id="rId31"/>
            </p:custDataLst>
          </p:nvPr>
        </p:nvCxnSpPr>
        <p:spPr>
          <a:xfrm>
            <a:off x="1315720" y="2717800"/>
            <a:ext cx="0" cy="1674495"/>
          </a:xfrm>
          <a:prstGeom prst="line">
            <a:avLst/>
          </a:prstGeom>
          <a:noFill/>
          <a:ln w="57150" cap="flat">
            <a:solidFill>
              <a:schemeClr val="tx2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直接连接符 55"/>
          <p:cNvCxnSpPr/>
          <p:nvPr>
            <p:custDataLst>
              <p:tags r:id="rId32"/>
            </p:custDataLst>
          </p:nvPr>
        </p:nvCxnSpPr>
        <p:spPr>
          <a:xfrm>
            <a:off x="1486535" y="3651250"/>
            <a:ext cx="606425" cy="0"/>
          </a:xfrm>
          <a:prstGeom prst="line">
            <a:avLst/>
          </a:prstGeom>
          <a:ln w="9525">
            <a:solidFill>
              <a:srgbClr val="92D050"/>
            </a:solidFill>
            <a:headEnd type="oval"/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>
            <p:custDataLst>
              <p:tags r:id="rId33"/>
            </p:custDataLst>
          </p:nvPr>
        </p:nvCxnSpPr>
        <p:spPr>
          <a:xfrm>
            <a:off x="2214245" y="3651250"/>
            <a:ext cx="2924810" cy="0"/>
          </a:xfrm>
          <a:prstGeom prst="line">
            <a:avLst/>
          </a:prstGeom>
          <a:ln w="9525">
            <a:solidFill>
              <a:srgbClr val="92D050"/>
            </a:solidFill>
            <a:headEnd type="oval"/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>
            <p:custDataLst>
              <p:tags r:id="rId34"/>
            </p:custDataLst>
          </p:nvPr>
        </p:nvCxnSpPr>
        <p:spPr>
          <a:xfrm>
            <a:off x="5234940" y="3651250"/>
            <a:ext cx="1226185" cy="0"/>
          </a:xfrm>
          <a:prstGeom prst="line">
            <a:avLst/>
          </a:prstGeom>
          <a:ln w="9525">
            <a:solidFill>
              <a:srgbClr val="92D050"/>
            </a:solidFill>
            <a:headEnd type="oval"/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35"/>
            </p:custDataLst>
          </p:nvPr>
        </p:nvCxnSpPr>
        <p:spPr>
          <a:xfrm>
            <a:off x="6621780" y="3651250"/>
            <a:ext cx="1251585" cy="0"/>
          </a:xfrm>
          <a:prstGeom prst="line">
            <a:avLst/>
          </a:prstGeom>
          <a:ln w="9525">
            <a:solidFill>
              <a:srgbClr val="92D050"/>
            </a:solidFill>
            <a:headEnd type="oval"/>
            <a:tailEnd type="oval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>
            <p:custDataLst>
              <p:tags r:id="rId36"/>
            </p:custDataLst>
          </p:nvPr>
        </p:nvSpPr>
        <p:spPr>
          <a:xfrm>
            <a:off x="1486535" y="3618865"/>
            <a:ext cx="6350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销售订单处理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37"/>
            </p:custDataLst>
          </p:nvPr>
        </p:nvSpPr>
        <p:spPr>
          <a:xfrm>
            <a:off x="3359150" y="3618865"/>
            <a:ext cx="635000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物料齐套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38"/>
            </p:custDataLst>
          </p:nvPr>
        </p:nvSpPr>
        <p:spPr>
          <a:xfrm>
            <a:off x="5538470" y="3618865"/>
            <a:ext cx="635000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生产制造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39"/>
            </p:custDataLst>
          </p:nvPr>
        </p:nvSpPr>
        <p:spPr>
          <a:xfrm>
            <a:off x="6929755" y="3610610"/>
            <a:ext cx="635000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发运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40"/>
            </p:custDataLst>
          </p:nvPr>
        </p:nvSpPr>
        <p:spPr>
          <a:xfrm>
            <a:off x="1486535" y="3237230"/>
            <a:ext cx="1885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录单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41"/>
            </p:custDataLst>
          </p:nvPr>
        </p:nvSpPr>
        <p:spPr>
          <a:xfrm>
            <a:off x="1670685" y="3237230"/>
            <a:ext cx="1885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合同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42"/>
            </p:custDataLst>
          </p:nvPr>
        </p:nvSpPr>
        <p:spPr>
          <a:xfrm>
            <a:off x="1859280" y="3237230"/>
            <a:ext cx="1885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下推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43"/>
            </p:custDataLst>
          </p:nvPr>
        </p:nvSpPr>
        <p:spPr>
          <a:xfrm>
            <a:off x="2319020" y="3204845"/>
            <a:ext cx="37528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订单承诺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44"/>
            </p:custDataLst>
          </p:nvPr>
        </p:nvSpPr>
        <p:spPr>
          <a:xfrm>
            <a:off x="2752090" y="3204845"/>
            <a:ext cx="1885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下单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45"/>
            </p:custDataLst>
          </p:nvPr>
        </p:nvSpPr>
        <p:spPr>
          <a:xfrm>
            <a:off x="3169920" y="3204845"/>
            <a:ext cx="50038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采购协同回复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46"/>
            </p:custDataLst>
          </p:nvPr>
        </p:nvSpPr>
        <p:spPr>
          <a:xfrm>
            <a:off x="3695065" y="3237230"/>
            <a:ext cx="29845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提货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47"/>
            </p:custDataLst>
          </p:nvPr>
        </p:nvSpPr>
        <p:spPr>
          <a:xfrm>
            <a:off x="4138930" y="3237230"/>
            <a:ext cx="161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预约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48"/>
            </p:custDataLst>
          </p:nvPr>
        </p:nvSpPr>
        <p:spPr>
          <a:xfrm>
            <a:off x="4519295" y="3237230"/>
            <a:ext cx="161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接收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49"/>
            </p:custDataLst>
          </p:nvPr>
        </p:nvSpPr>
        <p:spPr>
          <a:xfrm>
            <a:off x="4977765" y="3237230"/>
            <a:ext cx="161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入库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50"/>
            </p:custDataLst>
          </p:nvPr>
        </p:nvSpPr>
        <p:spPr>
          <a:xfrm>
            <a:off x="5377180" y="3237230"/>
            <a:ext cx="161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领料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51"/>
            </p:custDataLst>
          </p:nvPr>
        </p:nvSpPr>
        <p:spPr>
          <a:xfrm>
            <a:off x="5763260" y="3237230"/>
            <a:ext cx="161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大货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52"/>
            </p:custDataLst>
          </p:nvPr>
        </p:nvSpPr>
        <p:spPr>
          <a:xfrm>
            <a:off x="6109335" y="3237230"/>
            <a:ext cx="161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清尾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53"/>
            </p:custDataLst>
          </p:nvPr>
        </p:nvSpPr>
        <p:spPr>
          <a:xfrm>
            <a:off x="6717665" y="3237230"/>
            <a:ext cx="161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挑库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54"/>
            </p:custDataLst>
          </p:nvPr>
        </p:nvSpPr>
        <p:spPr>
          <a:xfrm>
            <a:off x="7039610" y="3237230"/>
            <a:ext cx="161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回款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55"/>
            </p:custDataLst>
          </p:nvPr>
        </p:nvSpPr>
        <p:spPr>
          <a:xfrm>
            <a:off x="7362825" y="3237865"/>
            <a:ext cx="161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运输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56"/>
            </p:custDataLst>
          </p:nvPr>
        </p:nvSpPr>
        <p:spPr>
          <a:xfrm>
            <a:off x="7686675" y="3237865"/>
            <a:ext cx="16129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签收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57"/>
            </p:custDataLst>
          </p:nvPr>
        </p:nvSpPr>
        <p:spPr>
          <a:xfrm>
            <a:off x="3169920" y="3793490"/>
            <a:ext cx="2593340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全价值链节点在线、展示、监控</a:t>
            </a: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&amp;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异常定位</a:t>
            </a: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-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角色</a:t>
            </a: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&amp;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岗位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cxnSp>
        <p:nvCxnSpPr>
          <p:cNvPr id="89" name="直接连接符 88"/>
          <p:cNvCxnSpPr/>
          <p:nvPr>
            <p:custDataLst>
              <p:tags r:id="rId58"/>
            </p:custDataLst>
          </p:nvPr>
        </p:nvCxnSpPr>
        <p:spPr>
          <a:xfrm>
            <a:off x="1451610" y="3831590"/>
            <a:ext cx="6420485" cy="0"/>
          </a:xfrm>
          <a:prstGeom prst="line">
            <a:avLst/>
          </a:prstGeom>
          <a:noFill/>
          <a:ln w="3175" cap="flat">
            <a:solidFill>
              <a:schemeClr val="tx2">
                <a:lumMod val="50000"/>
              </a:schemeClr>
            </a:solidFill>
            <a:prstDash val="sys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1" name="文本框 90"/>
          <p:cNvSpPr txBox="1"/>
          <p:nvPr>
            <p:custDataLst>
              <p:tags r:id="rId59"/>
            </p:custDataLst>
          </p:nvPr>
        </p:nvSpPr>
        <p:spPr>
          <a:xfrm>
            <a:off x="4149725" y="4107815"/>
            <a:ext cx="635000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BI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重构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pic>
        <p:nvPicPr>
          <p:cNvPr id="92" name="图片 91" descr="3504291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4124325" y="4107815"/>
            <a:ext cx="189865" cy="189865"/>
          </a:xfrm>
          <a:prstGeom prst="rect">
            <a:avLst/>
          </a:prstGeom>
        </p:spPr>
      </p:pic>
      <p:sp>
        <p:nvSpPr>
          <p:cNvPr id="93" name="下箭头 92"/>
          <p:cNvSpPr/>
          <p:nvPr>
            <p:custDataLst>
              <p:tags r:id="rId63"/>
            </p:custDataLst>
          </p:nvPr>
        </p:nvSpPr>
        <p:spPr bwMode="auto">
          <a:xfrm>
            <a:off x="4245610" y="3968115"/>
            <a:ext cx="273685" cy="160655"/>
          </a:xfrm>
          <a:prstGeom prst="downArrow">
            <a:avLst/>
          </a:prstGeom>
          <a:gradFill>
            <a:gsLst>
              <a:gs pos="100000">
                <a:schemeClr val="bg1">
                  <a:lumMod val="75000"/>
                  <a:alpha val="56000"/>
                </a:schemeClr>
              </a:gs>
              <a:gs pos="0">
                <a:schemeClr val="accent3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/>
            <a:endParaRPr lang="zh-CN" altLang="en-US" sz="900" b="1">
              <a:solidFill>
                <a:schemeClr val="tx1"/>
              </a:solidFill>
              <a:latin typeface="微软雅黑" charset="0"/>
              <a:ea typeface="微软雅黑" charset="0"/>
              <a:sym typeface="Helvetica"/>
            </a:endParaRPr>
          </a:p>
        </p:txBody>
      </p:sp>
      <p:sp>
        <p:nvSpPr>
          <p:cNvPr id="95" name="文本框 94"/>
          <p:cNvSpPr txBox="1"/>
          <p:nvPr>
            <p:custDataLst>
              <p:tags r:id="rId64"/>
            </p:custDataLst>
          </p:nvPr>
        </p:nvSpPr>
        <p:spPr>
          <a:xfrm>
            <a:off x="6326505" y="3790315"/>
            <a:ext cx="4171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客户视角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65"/>
            </p:custDataLst>
          </p:nvPr>
        </p:nvSpPr>
        <p:spPr>
          <a:xfrm>
            <a:off x="6739255" y="3790315"/>
            <a:ext cx="50101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供应商视角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66"/>
            </p:custDataLst>
          </p:nvPr>
        </p:nvSpPr>
        <p:spPr>
          <a:xfrm>
            <a:off x="7363460" y="3790315"/>
            <a:ext cx="61531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组织、岗位视角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99" name="五边形 43"/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>
            <a:off x="7978140" y="946785"/>
            <a:ext cx="501015" cy="650240"/>
          </a:xfrm>
          <a:prstGeom prst="homePlate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algn="ctr"/>
            <a:r>
              <a:rPr kumimoji="1" lang="zh-CN" altLang="en-US" sz="900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能力设计</a:t>
            </a:r>
            <a:endParaRPr kumimoji="1" lang="zh-CN" altLang="en-US" sz="900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100" name="五边形 43"/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7978140" y="1664335"/>
            <a:ext cx="501015" cy="979170"/>
          </a:xfrm>
          <a:prstGeom prst="homePlate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900">
                <a:latin typeface="微软雅黑" charset="0"/>
                <a:ea typeface="微软雅黑" charset="0"/>
                <a:sym typeface="微软雅黑" pitchFamily="34" charset="-122"/>
              </a:rPr>
              <a:t>数据清洗</a:t>
            </a:r>
            <a:endParaRPr kumimoji="1" lang="zh-CN" altLang="en-US" sz="900"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102" name="五边形 43"/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>
            <a:off x="7978140" y="2717800"/>
            <a:ext cx="501015" cy="1674495"/>
          </a:xfrm>
          <a:prstGeom prst="homePlate">
            <a:avLst>
              <a:gd name="adj" fmla="val 0"/>
            </a:avLst>
          </a:prstGeom>
          <a:noFill/>
          <a:ln w="3175">
            <a:solidFill>
              <a:schemeClr val="bg1">
                <a:lumMod val="75000"/>
              </a:schemeClr>
            </a:solidFill>
            <a:prstDash val="sysDot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lvl="0" algn="ctr">
              <a:buClrTx/>
              <a:buSzTx/>
              <a:buFontTx/>
            </a:pPr>
            <a:r>
              <a:rPr kumimoji="1" lang="zh-CN" altLang="en-US" sz="900">
                <a:latin typeface="微软雅黑" charset="0"/>
                <a:ea typeface="微软雅黑" charset="0"/>
                <a:sym typeface="微软雅黑" pitchFamily="34" charset="-122"/>
              </a:rPr>
              <a:t>数据消费</a:t>
            </a:r>
            <a:endParaRPr kumimoji="1" lang="zh-CN" altLang="en-US" sz="900"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104" name="下箭头 103"/>
          <p:cNvSpPr/>
          <p:nvPr>
            <p:custDataLst>
              <p:tags r:id="rId70"/>
            </p:custDataLst>
          </p:nvPr>
        </p:nvSpPr>
        <p:spPr>
          <a:xfrm>
            <a:off x="8088630" y="1391920"/>
            <a:ext cx="280670" cy="49212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Overflow="overflow" horzOverflow="overflow" vert="horz" wrap="square" lIns="35390" tIns="35390" rIns="35390" bIns="35390" numCol="1" spcCol="38100" rtlCol="0" anchor="ctr" forceAA="0">
            <a:spAutoFit/>
          </a:bodyPr>
          <a:p>
            <a:pPr marL="0" marR="0" indent="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05" name="下箭头 104"/>
          <p:cNvSpPr/>
          <p:nvPr>
            <p:custDataLst>
              <p:tags r:id="rId71"/>
            </p:custDataLst>
          </p:nvPr>
        </p:nvSpPr>
        <p:spPr>
          <a:xfrm>
            <a:off x="8088630" y="2478405"/>
            <a:ext cx="280670" cy="49212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Overflow="overflow" horzOverflow="overflow" vert="horz" wrap="square" lIns="35390" tIns="35390" rIns="35390" bIns="35390" numCol="1" spcCol="38100" rtlCol="0" anchor="ctr" forceAA="0">
            <a:spAutoFit/>
          </a:bodyPr>
          <a:p>
            <a:pPr marL="0" marR="0" indent="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五边形 43"/>
          <p:cNvSpPr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3557905" y="2768600"/>
            <a:ext cx="2416175" cy="318135"/>
          </a:xfrm>
          <a:prstGeom prst="homePlate">
            <a:avLst>
              <a:gd name="adj" fmla="val 0"/>
            </a:avLst>
          </a:prstGeom>
          <a:solidFill>
            <a:srgbClr val="1178FE">
              <a:alpha val="40000"/>
            </a:srgbClr>
          </a:solidFill>
          <a:ln>
            <a:noFill/>
          </a:ln>
          <a:effectLst/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algn="ctr"/>
            <a:r>
              <a:rPr kumimoji="1" lang="zh-CN" altLang="en-US" sz="900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职能中心：指标看板</a:t>
            </a:r>
            <a:endParaRPr kumimoji="1" lang="zh-CN" altLang="en-US" sz="900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11" name="五边形 43"/>
          <p:cNvSpPr>
            <a:spLocks noChangeArrowheads="1"/>
          </p:cNvSpPr>
          <p:nvPr>
            <p:custDataLst>
              <p:tags r:id="rId73"/>
            </p:custDataLst>
          </p:nvPr>
        </p:nvSpPr>
        <p:spPr bwMode="auto">
          <a:xfrm>
            <a:off x="1577340" y="2706370"/>
            <a:ext cx="2416175" cy="318770"/>
          </a:xfrm>
          <a:prstGeom prst="homePlate">
            <a:avLst>
              <a:gd name="adj" fmla="val 0"/>
            </a:avLst>
          </a:prstGeom>
          <a:solidFill>
            <a:srgbClr val="1178FE">
              <a:alpha val="40000"/>
            </a:srgbClr>
          </a:solidFill>
          <a:ln>
            <a:noFill/>
          </a:ln>
          <a:effectLst/>
        </p:spPr>
        <p:txBody>
          <a:bodyPr rot="0" spcFirstLastPara="0" vert="horz" wrap="none" lIns="117210" tIns="58605" rIns="117210" bIns="58605" numCol="1" spcCol="0" rtlCol="0" fromWordArt="0" anchor="ctr" anchorCtr="0" forceAA="0" compatLnSpc="0">
            <a:noAutofit/>
          </a:bodyPr>
          <a:p>
            <a:pPr algn="ctr"/>
            <a:r>
              <a:rPr kumimoji="1" lang="zh-CN" altLang="en-US" sz="900">
                <a:solidFill>
                  <a:schemeClr val="tx1"/>
                </a:solidFill>
                <a:latin typeface="微软雅黑" charset="0"/>
                <a:ea typeface="微软雅黑" charset="0"/>
                <a:sym typeface="微软雅黑" pitchFamily="34" charset="-122"/>
              </a:rPr>
              <a:t>供应链平台：管理驾驶仓</a:t>
            </a:r>
            <a:endParaRPr kumimoji="1" lang="zh-CN" altLang="en-US" sz="900">
              <a:solidFill>
                <a:schemeClr val="tx1"/>
              </a:solidFill>
              <a:latin typeface="微软雅黑" charset="0"/>
              <a:ea typeface="微软雅黑" charset="0"/>
              <a:sym typeface="微软雅黑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4"/>
            </p:custDataLst>
          </p:nvPr>
        </p:nvSpPr>
        <p:spPr>
          <a:xfrm>
            <a:off x="1577340" y="3025140"/>
            <a:ext cx="2588260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>
                <a:srgbClr val="FFFF00"/>
              </a:buClr>
              <a:buFont typeface="Wingdings" panose="05000000000000000000" charset="0"/>
            </a:pP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我的</a:t>
            </a: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KPI&gt;&gt;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我的团队</a:t>
            </a: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&gt;&gt;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我的相关方</a:t>
            </a: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&gt;&gt;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我的预算</a:t>
            </a:r>
            <a:r>
              <a:rPr lang="en-US" altLang="zh-CN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&gt;&gt;</a:t>
            </a:r>
            <a:r>
              <a:rPr lang="zh-CN" altLang="en-US" sz="7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我的效率</a:t>
            </a:r>
            <a:endParaRPr lang="zh-CN" altLang="en-US" sz="70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custDataLst>
              <p:tags r:id="rId75"/>
            </p:custDataLst>
          </p:nvPr>
        </p:nvSpPr>
        <p:spPr>
          <a:xfrm>
            <a:off x="428939" y="149504"/>
            <a:ext cx="5252955" cy="5270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90204" pitchFamily="34" charset="0"/>
              <a:buNone/>
              <a:defRPr sz="3200" b="1" kern="120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2.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供应链指标平台建设方案</a:t>
            </a:r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: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业务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设计</a:t>
            </a:r>
            <a:endParaRPr kumimoji="1" lang="zh-CN" altLang="en-US" sz="1600" spc="300" dirty="0">
              <a:solidFill>
                <a:schemeClr val="tx1"/>
              </a:solidFill>
              <a:latin typeface="微软雅黑" charset="0"/>
              <a:ea typeface="微软雅黑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圆角矩形 25"/>
          <p:cNvSpPr/>
          <p:nvPr>
            <p:custDataLst>
              <p:tags r:id="rId1"/>
            </p:custDataLst>
          </p:nvPr>
        </p:nvSpPr>
        <p:spPr>
          <a:xfrm>
            <a:off x="1408430" y="3862705"/>
            <a:ext cx="4916170" cy="685165"/>
          </a:xfrm>
          <a:prstGeom prst="roundRect">
            <a:avLst>
              <a:gd name="adj" fmla="val 10379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目标管理中</a:t>
            </a:r>
            <a:r>
              <a:rPr lang="zh-CN" altLang="en-US" sz="1000"/>
              <a:t>心</a:t>
            </a:r>
            <a:endParaRPr lang="zh-CN" altLang="en-US" sz="1000"/>
          </a:p>
        </p:txBody>
      </p:sp>
      <p:sp>
        <p:nvSpPr>
          <p:cNvPr id="36" name="文本占位符 3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28939" y="149504"/>
            <a:ext cx="5252955" cy="5270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90204" pitchFamily="34" charset="0"/>
              <a:buNone/>
              <a:defRPr sz="3200" b="1" kern="120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2.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供应链指标平台建设方案</a:t>
            </a:r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: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数据架构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方案</a:t>
            </a:r>
            <a:endParaRPr kumimoji="1" lang="zh-CN" altLang="en-US" sz="1600" spc="300" dirty="0">
              <a:solidFill>
                <a:schemeClr val="tx1"/>
              </a:solidFill>
              <a:latin typeface="微软雅黑" charset="0"/>
              <a:ea typeface="微软雅黑" charset="0"/>
              <a:sym typeface="Arial" panose="020B0604020202090204" pitchFamily="34" charset="0"/>
            </a:endParaRPr>
          </a:p>
        </p:txBody>
      </p:sp>
      <p:sp>
        <p:nvSpPr>
          <p:cNvPr id="14" name="圆角矩形 13"/>
          <p:cNvSpPr/>
          <p:nvPr>
            <p:custDataLst>
              <p:tags r:id="rId3"/>
            </p:custDataLst>
          </p:nvPr>
        </p:nvSpPr>
        <p:spPr>
          <a:xfrm>
            <a:off x="2357120" y="3985895"/>
            <a:ext cx="857885" cy="2025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OMS</a:t>
            </a:r>
            <a:endParaRPr lang="en-US" altLang="zh-CN" sz="800"/>
          </a:p>
        </p:txBody>
      </p:sp>
      <p:sp>
        <p:nvSpPr>
          <p:cNvPr id="13" name="圆角矩形 12"/>
          <p:cNvSpPr/>
          <p:nvPr>
            <p:custDataLst>
              <p:tags r:id="rId4"/>
            </p:custDataLst>
          </p:nvPr>
        </p:nvSpPr>
        <p:spPr>
          <a:xfrm>
            <a:off x="3356610" y="3985895"/>
            <a:ext cx="857885" cy="2025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APS</a:t>
            </a:r>
            <a:endParaRPr lang="en-US" altLang="zh-CN" sz="800"/>
          </a:p>
        </p:txBody>
      </p:sp>
      <p:sp>
        <p:nvSpPr>
          <p:cNvPr id="15" name="圆角矩形 14"/>
          <p:cNvSpPr/>
          <p:nvPr>
            <p:custDataLst>
              <p:tags r:id="rId5"/>
            </p:custDataLst>
          </p:nvPr>
        </p:nvSpPr>
        <p:spPr>
          <a:xfrm>
            <a:off x="4372610" y="3985895"/>
            <a:ext cx="857885" cy="2025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PMS</a:t>
            </a:r>
            <a:endParaRPr lang="en-US" altLang="zh-CN" sz="800"/>
          </a:p>
        </p:txBody>
      </p:sp>
      <p:sp>
        <p:nvSpPr>
          <p:cNvPr id="16" name="圆角矩形 15"/>
          <p:cNvSpPr/>
          <p:nvPr>
            <p:custDataLst>
              <p:tags r:id="rId6"/>
            </p:custDataLst>
          </p:nvPr>
        </p:nvSpPr>
        <p:spPr>
          <a:xfrm>
            <a:off x="4372610" y="4253230"/>
            <a:ext cx="857885" cy="2025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CRM</a:t>
            </a:r>
            <a:endParaRPr lang="en-US" altLang="zh-CN" sz="800"/>
          </a:p>
        </p:txBody>
      </p:sp>
      <p:sp>
        <p:nvSpPr>
          <p:cNvPr id="18" name="圆角矩形 17"/>
          <p:cNvSpPr/>
          <p:nvPr>
            <p:custDataLst>
              <p:tags r:id="rId7"/>
            </p:custDataLst>
          </p:nvPr>
        </p:nvSpPr>
        <p:spPr>
          <a:xfrm>
            <a:off x="5372100" y="3985895"/>
            <a:ext cx="857885" cy="2025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SRM</a:t>
            </a:r>
            <a:endParaRPr lang="en-US" altLang="zh-CN" sz="800"/>
          </a:p>
        </p:txBody>
      </p:sp>
      <p:sp>
        <p:nvSpPr>
          <p:cNvPr id="19" name="圆角矩形 18"/>
          <p:cNvSpPr/>
          <p:nvPr>
            <p:custDataLst>
              <p:tags r:id="rId8"/>
            </p:custDataLst>
          </p:nvPr>
        </p:nvSpPr>
        <p:spPr>
          <a:xfrm>
            <a:off x="2357120" y="4253230"/>
            <a:ext cx="857885" cy="2025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MES</a:t>
            </a:r>
            <a:endParaRPr lang="en-US" altLang="zh-CN" sz="800"/>
          </a:p>
        </p:txBody>
      </p:sp>
      <p:sp>
        <p:nvSpPr>
          <p:cNvPr id="20" name="圆角矩形 19"/>
          <p:cNvSpPr/>
          <p:nvPr>
            <p:custDataLst>
              <p:tags r:id="rId9"/>
            </p:custDataLst>
          </p:nvPr>
        </p:nvSpPr>
        <p:spPr>
          <a:xfrm>
            <a:off x="3356610" y="4253230"/>
            <a:ext cx="857885" cy="2025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TMS</a:t>
            </a:r>
            <a:endParaRPr lang="en-US" altLang="zh-CN" sz="800"/>
          </a:p>
        </p:txBody>
      </p:sp>
      <p:sp>
        <p:nvSpPr>
          <p:cNvPr id="21" name="圆角矩形 20"/>
          <p:cNvSpPr/>
          <p:nvPr>
            <p:custDataLst>
              <p:tags r:id="rId10"/>
            </p:custDataLst>
          </p:nvPr>
        </p:nvSpPr>
        <p:spPr>
          <a:xfrm>
            <a:off x="5372100" y="4253230"/>
            <a:ext cx="857885" cy="2025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OMS</a:t>
            </a:r>
            <a:endParaRPr lang="en-US" altLang="zh-CN" sz="800"/>
          </a:p>
        </p:txBody>
      </p:sp>
      <p:sp>
        <p:nvSpPr>
          <p:cNvPr id="22" name="圆角矩形 21"/>
          <p:cNvSpPr/>
          <p:nvPr>
            <p:custDataLst>
              <p:tags r:id="rId11"/>
            </p:custDataLst>
          </p:nvPr>
        </p:nvSpPr>
        <p:spPr>
          <a:xfrm>
            <a:off x="7253605" y="3970020"/>
            <a:ext cx="1098550" cy="2025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目标管理中</a:t>
            </a:r>
            <a:r>
              <a:rPr lang="zh-CN" altLang="en-US" sz="800"/>
              <a:t>心</a:t>
            </a:r>
            <a:endParaRPr lang="zh-CN" altLang="en-US" sz="800"/>
          </a:p>
        </p:txBody>
      </p:sp>
      <p:sp>
        <p:nvSpPr>
          <p:cNvPr id="23" name="圆角矩形 22"/>
          <p:cNvSpPr/>
          <p:nvPr>
            <p:custDataLst>
              <p:tags r:id="rId12"/>
            </p:custDataLst>
          </p:nvPr>
        </p:nvSpPr>
        <p:spPr>
          <a:xfrm>
            <a:off x="7253605" y="4237355"/>
            <a:ext cx="1098550" cy="2025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指标管理中心</a:t>
            </a:r>
            <a:endParaRPr lang="zh-CN" altLang="en-US" sz="800"/>
          </a:p>
        </p:txBody>
      </p:sp>
      <p:sp>
        <p:nvSpPr>
          <p:cNvPr id="27" name="圆角矩形 26"/>
          <p:cNvSpPr/>
          <p:nvPr>
            <p:custDataLst>
              <p:tags r:id="rId13"/>
            </p:custDataLst>
          </p:nvPr>
        </p:nvSpPr>
        <p:spPr>
          <a:xfrm>
            <a:off x="1598295" y="3985895"/>
            <a:ext cx="617220" cy="4699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业务系统源数据</a:t>
            </a:r>
            <a:endParaRPr lang="zh-CN" altLang="en-US" sz="800"/>
          </a:p>
        </p:txBody>
      </p:sp>
      <p:sp>
        <p:nvSpPr>
          <p:cNvPr id="29" name="圆角矩形 28"/>
          <p:cNvSpPr/>
          <p:nvPr>
            <p:custDataLst>
              <p:tags r:id="rId14"/>
            </p:custDataLst>
          </p:nvPr>
        </p:nvSpPr>
        <p:spPr>
          <a:xfrm>
            <a:off x="6421120" y="3862705"/>
            <a:ext cx="2058670" cy="685165"/>
          </a:xfrm>
          <a:prstGeom prst="roundRect">
            <a:avLst>
              <a:gd name="adj" fmla="val 10379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30" name="圆角矩形 29"/>
          <p:cNvSpPr/>
          <p:nvPr>
            <p:custDataLst>
              <p:tags r:id="rId15"/>
            </p:custDataLst>
          </p:nvPr>
        </p:nvSpPr>
        <p:spPr>
          <a:xfrm>
            <a:off x="6541135" y="3970655"/>
            <a:ext cx="617220" cy="4699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简道</a:t>
            </a:r>
            <a:r>
              <a:rPr lang="zh-CN" altLang="en-US" sz="800"/>
              <a:t>云</a:t>
            </a:r>
            <a:endParaRPr lang="zh-CN" altLang="en-US" sz="800"/>
          </a:p>
        </p:txBody>
      </p:sp>
      <p:sp>
        <p:nvSpPr>
          <p:cNvPr id="31" name="圆角矩形 30"/>
          <p:cNvSpPr/>
          <p:nvPr>
            <p:custDataLst>
              <p:tags r:id="rId16"/>
            </p:custDataLst>
          </p:nvPr>
        </p:nvSpPr>
        <p:spPr>
          <a:xfrm>
            <a:off x="1893570" y="310451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交付</a:t>
            </a:r>
            <a:r>
              <a:rPr lang="zh-CN" altLang="en-US" sz="800"/>
              <a:t>线</a:t>
            </a:r>
            <a:endParaRPr lang="zh-CN" altLang="en-US" sz="800"/>
          </a:p>
        </p:txBody>
      </p:sp>
      <p:sp>
        <p:nvSpPr>
          <p:cNvPr id="32" name="圆角矩形 31"/>
          <p:cNvSpPr/>
          <p:nvPr>
            <p:custDataLst>
              <p:tags r:id="rId17"/>
            </p:custDataLst>
          </p:nvPr>
        </p:nvSpPr>
        <p:spPr>
          <a:xfrm>
            <a:off x="1893570" y="2856230"/>
            <a:ext cx="857885" cy="202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指标清</a:t>
            </a:r>
            <a:r>
              <a:rPr lang="zh-CN" altLang="en-US" sz="800"/>
              <a:t>单</a:t>
            </a:r>
            <a:endParaRPr lang="zh-CN" altLang="en-US" sz="800"/>
          </a:p>
        </p:txBody>
      </p:sp>
      <p:sp>
        <p:nvSpPr>
          <p:cNvPr id="33" name="圆角矩形 32"/>
          <p:cNvSpPr/>
          <p:nvPr>
            <p:custDataLst>
              <p:tags r:id="rId18"/>
            </p:custDataLst>
          </p:nvPr>
        </p:nvSpPr>
        <p:spPr>
          <a:xfrm>
            <a:off x="703580" y="2342515"/>
            <a:ext cx="617220" cy="1419225"/>
          </a:xfrm>
          <a:prstGeom prst="roundRect">
            <a:avLst>
              <a:gd name="adj" fmla="val 1244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hive</a:t>
            </a:r>
            <a:r>
              <a:rPr lang="zh-CN" altLang="en-US" sz="800"/>
              <a:t>：建立指标数据集，实时</a:t>
            </a:r>
            <a:r>
              <a:rPr lang="en-US" altLang="zh-CN" sz="800"/>
              <a:t>+</a:t>
            </a:r>
            <a:r>
              <a:rPr lang="zh-CN" altLang="en-US" sz="800"/>
              <a:t>离线同</a:t>
            </a:r>
            <a:r>
              <a:rPr lang="zh-CN" altLang="en-US" sz="800"/>
              <a:t>步</a:t>
            </a:r>
            <a:endParaRPr lang="zh-CN" altLang="en-US" sz="800"/>
          </a:p>
        </p:txBody>
      </p:sp>
      <p:sp>
        <p:nvSpPr>
          <p:cNvPr id="35" name="圆角矩形 34"/>
          <p:cNvSpPr/>
          <p:nvPr>
            <p:custDataLst>
              <p:tags r:id="rId19"/>
            </p:custDataLst>
          </p:nvPr>
        </p:nvSpPr>
        <p:spPr>
          <a:xfrm>
            <a:off x="1893570" y="332676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资源</a:t>
            </a:r>
            <a:r>
              <a:rPr lang="zh-CN" altLang="en-US" sz="800"/>
              <a:t>线</a:t>
            </a:r>
            <a:endParaRPr lang="zh-CN" altLang="en-US" sz="800"/>
          </a:p>
        </p:txBody>
      </p:sp>
      <p:sp>
        <p:nvSpPr>
          <p:cNvPr id="37" name="圆角矩形 36"/>
          <p:cNvSpPr/>
          <p:nvPr>
            <p:custDataLst>
              <p:tags r:id="rId20"/>
            </p:custDataLst>
          </p:nvPr>
        </p:nvSpPr>
        <p:spPr>
          <a:xfrm>
            <a:off x="1893570" y="35331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制造</a:t>
            </a:r>
            <a:r>
              <a:rPr lang="zh-CN" altLang="en-US" sz="800"/>
              <a:t>线</a:t>
            </a:r>
            <a:endParaRPr lang="zh-CN" altLang="en-US" sz="800"/>
          </a:p>
        </p:txBody>
      </p:sp>
      <p:sp>
        <p:nvSpPr>
          <p:cNvPr id="38" name="圆角矩形 37"/>
          <p:cNvSpPr/>
          <p:nvPr>
            <p:custDataLst>
              <p:tags r:id="rId21"/>
            </p:custDataLst>
          </p:nvPr>
        </p:nvSpPr>
        <p:spPr>
          <a:xfrm>
            <a:off x="3012440" y="2856230"/>
            <a:ext cx="857885" cy="202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组织</a:t>
            </a:r>
            <a:r>
              <a:rPr lang="zh-CN" altLang="en-US" sz="800"/>
              <a:t>维</a:t>
            </a:r>
            <a:endParaRPr lang="zh-CN" altLang="en-US" sz="800"/>
          </a:p>
        </p:txBody>
      </p:sp>
      <p:sp>
        <p:nvSpPr>
          <p:cNvPr id="39" name="圆角矩形 38"/>
          <p:cNvSpPr/>
          <p:nvPr>
            <p:custDataLst>
              <p:tags r:id="rId22"/>
            </p:custDataLst>
          </p:nvPr>
        </p:nvSpPr>
        <p:spPr>
          <a:xfrm>
            <a:off x="3012440" y="310451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BG</a:t>
            </a:r>
            <a:endParaRPr lang="en-US" altLang="zh-CN" sz="800"/>
          </a:p>
        </p:txBody>
      </p:sp>
      <p:sp>
        <p:nvSpPr>
          <p:cNvPr id="40" name="圆角矩形 39"/>
          <p:cNvSpPr/>
          <p:nvPr>
            <p:custDataLst>
              <p:tags r:id="rId23"/>
            </p:custDataLst>
          </p:nvPr>
        </p:nvSpPr>
        <p:spPr>
          <a:xfrm>
            <a:off x="3012440" y="332676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BU</a:t>
            </a:r>
            <a:endParaRPr lang="en-US" altLang="zh-CN" sz="800"/>
          </a:p>
        </p:txBody>
      </p:sp>
      <p:sp>
        <p:nvSpPr>
          <p:cNvPr id="41" name="圆角矩形 40"/>
          <p:cNvSpPr/>
          <p:nvPr>
            <p:custDataLst>
              <p:tags r:id="rId24"/>
            </p:custDataLst>
          </p:nvPr>
        </p:nvSpPr>
        <p:spPr>
          <a:xfrm>
            <a:off x="3012440" y="35331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BT</a:t>
            </a:r>
            <a:endParaRPr lang="en-US" altLang="zh-CN" sz="800"/>
          </a:p>
        </p:txBody>
      </p:sp>
      <p:sp>
        <p:nvSpPr>
          <p:cNvPr id="42" name="圆角矩形 41"/>
          <p:cNvSpPr/>
          <p:nvPr>
            <p:custDataLst>
              <p:tags r:id="rId25"/>
            </p:custDataLst>
          </p:nvPr>
        </p:nvSpPr>
        <p:spPr>
          <a:xfrm>
            <a:off x="4157345" y="2856230"/>
            <a:ext cx="857885" cy="202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业务</a:t>
            </a:r>
            <a:r>
              <a:rPr lang="zh-CN" altLang="en-US" sz="800"/>
              <a:t>维</a:t>
            </a:r>
            <a:endParaRPr lang="zh-CN" altLang="en-US" sz="800"/>
          </a:p>
        </p:txBody>
      </p:sp>
      <p:sp>
        <p:nvSpPr>
          <p:cNvPr id="48" name="圆角矩形 47"/>
          <p:cNvSpPr/>
          <p:nvPr>
            <p:custDataLst>
              <p:tags r:id="rId26"/>
            </p:custDataLst>
          </p:nvPr>
        </p:nvSpPr>
        <p:spPr>
          <a:xfrm>
            <a:off x="4157345" y="310451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工</a:t>
            </a:r>
            <a:r>
              <a:rPr lang="zh-CN" altLang="en-US" sz="800"/>
              <a:t>厂</a:t>
            </a:r>
            <a:endParaRPr lang="zh-CN" altLang="en-US" sz="800"/>
          </a:p>
        </p:txBody>
      </p:sp>
      <p:sp>
        <p:nvSpPr>
          <p:cNvPr id="66" name="圆角矩形 65"/>
          <p:cNvSpPr/>
          <p:nvPr>
            <p:custDataLst>
              <p:tags r:id="rId27"/>
            </p:custDataLst>
          </p:nvPr>
        </p:nvSpPr>
        <p:spPr>
          <a:xfrm>
            <a:off x="4157345" y="332676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客</a:t>
            </a:r>
            <a:r>
              <a:rPr lang="zh-CN" altLang="en-US" sz="800"/>
              <a:t>户</a:t>
            </a:r>
            <a:endParaRPr lang="zh-CN" altLang="en-US" sz="800"/>
          </a:p>
        </p:txBody>
      </p:sp>
      <p:sp>
        <p:nvSpPr>
          <p:cNvPr id="75" name="圆角矩形 74"/>
          <p:cNvSpPr/>
          <p:nvPr>
            <p:custDataLst>
              <p:tags r:id="rId28"/>
            </p:custDataLst>
          </p:nvPr>
        </p:nvSpPr>
        <p:spPr>
          <a:xfrm>
            <a:off x="4157345" y="35331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工应</a:t>
            </a:r>
            <a:r>
              <a:rPr lang="zh-CN" altLang="en-US" sz="800"/>
              <a:t>商</a:t>
            </a:r>
            <a:endParaRPr lang="zh-CN" altLang="en-US" sz="800"/>
          </a:p>
        </p:txBody>
      </p:sp>
      <p:sp>
        <p:nvSpPr>
          <p:cNvPr id="79" name="圆角矩形 78"/>
          <p:cNvSpPr/>
          <p:nvPr>
            <p:custDataLst>
              <p:tags r:id="rId29"/>
            </p:custDataLst>
          </p:nvPr>
        </p:nvSpPr>
        <p:spPr>
          <a:xfrm>
            <a:off x="5302250" y="2856230"/>
            <a:ext cx="857885" cy="202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时</a:t>
            </a:r>
            <a:r>
              <a:rPr lang="zh-CN" altLang="en-US" sz="800"/>
              <a:t>间维</a:t>
            </a:r>
            <a:endParaRPr lang="zh-CN" altLang="en-US" sz="800"/>
          </a:p>
        </p:txBody>
      </p:sp>
      <p:sp>
        <p:nvSpPr>
          <p:cNvPr id="84" name="圆角矩形 83"/>
          <p:cNvSpPr/>
          <p:nvPr>
            <p:custDataLst>
              <p:tags r:id="rId30"/>
            </p:custDataLst>
          </p:nvPr>
        </p:nvSpPr>
        <p:spPr>
          <a:xfrm>
            <a:off x="5302250" y="310451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年</a:t>
            </a:r>
            <a:r>
              <a:rPr lang="zh-CN" altLang="en-US" sz="800"/>
              <a:t>度</a:t>
            </a:r>
            <a:endParaRPr lang="zh-CN" altLang="en-US" sz="800"/>
          </a:p>
        </p:txBody>
      </p:sp>
      <p:sp>
        <p:nvSpPr>
          <p:cNvPr id="90" name="圆角矩形 89"/>
          <p:cNvSpPr/>
          <p:nvPr>
            <p:custDataLst>
              <p:tags r:id="rId31"/>
            </p:custDataLst>
          </p:nvPr>
        </p:nvSpPr>
        <p:spPr>
          <a:xfrm>
            <a:off x="5302250" y="332676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月度</a:t>
            </a:r>
            <a:endParaRPr lang="zh-CN" altLang="en-US" sz="800"/>
          </a:p>
        </p:txBody>
      </p:sp>
      <p:sp>
        <p:nvSpPr>
          <p:cNvPr id="94" name="圆角矩形 93"/>
          <p:cNvSpPr/>
          <p:nvPr>
            <p:custDataLst>
              <p:tags r:id="rId32"/>
            </p:custDataLst>
          </p:nvPr>
        </p:nvSpPr>
        <p:spPr>
          <a:xfrm>
            <a:off x="5302250" y="35331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季度</a:t>
            </a:r>
            <a:endParaRPr lang="zh-CN" altLang="en-US" sz="800"/>
          </a:p>
        </p:txBody>
      </p:sp>
      <p:sp>
        <p:nvSpPr>
          <p:cNvPr id="96" name="圆角矩形 95"/>
          <p:cNvSpPr/>
          <p:nvPr>
            <p:custDataLst>
              <p:tags r:id="rId33"/>
            </p:custDataLst>
          </p:nvPr>
        </p:nvSpPr>
        <p:spPr>
          <a:xfrm>
            <a:off x="6421120" y="2856230"/>
            <a:ext cx="857885" cy="202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目标清</a:t>
            </a:r>
            <a:r>
              <a:rPr lang="zh-CN" altLang="en-US" sz="800"/>
              <a:t>单</a:t>
            </a:r>
            <a:endParaRPr lang="zh-CN" altLang="en-US" sz="800"/>
          </a:p>
        </p:txBody>
      </p:sp>
      <p:sp>
        <p:nvSpPr>
          <p:cNvPr id="101" name="圆角矩形 100"/>
          <p:cNvSpPr/>
          <p:nvPr>
            <p:custDataLst>
              <p:tags r:id="rId34"/>
            </p:custDataLst>
          </p:nvPr>
        </p:nvSpPr>
        <p:spPr>
          <a:xfrm>
            <a:off x="6421120" y="310451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年</a:t>
            </a:r>
            <a:r>
              <a:rPr lang="zh-CN" altLang="en-US" sz="800"/>
              <a:t>度</a:t>
            </a:r>
            <a:endParaRPr lang="zh-CN" altLang="en-US" sz="800"/>
          </a:p>
        </p:txBody>
      </p:sp>
      <p:sp>
        <p:nvSpPr>
          <p:cNvPr id="103" name="圆角矩形 102"/>
          <p:cNvSpPr/>
          <p:nvPr>
            <p:custDataLst>
              <p:tags r:id="rId35"/>
            </p:custDataLst>
          </p:nvPr>
        </p:nvSpPr>
        <p:spPr>
          <a:xfrm>
            <a:off x="6421120" y="332676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月度</a:t>
            </a:r>
            <a:endParaRPr lang="zh-CN" altLang="en-US" sz="800"/>
          </a:p>
        </p:txBody>
      </p:sp>
      <p:sp>
        <p:nvSpPr>
          <p:cNvPr id="106" name="圆角矩形 105"/>
          <p:cNvSpPr/>
          <p:nvPr>
            <p:custDataLst>
              <p:tags r:id="rId36"/>
            </p:custDataLst>
          </p:nvPr>
        </p:nvSpPr>
        <p:spPr>
          <a:xfrm>
            <a:off x="6421120" y="35331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季度</a:t>
            </a:r>
            <a:endParaRPr lang="zh-CN" altLang="en-US" sz="800"/>
          </a:p>
        </p:txBody>
      </p:sp>
      <p:sp>
        <p:nvSpPr>
          <p:cNvPr id="107" name="圆角矩形 106"/>
          <p:cNvSpPr/>
          <p:nvPr>
            <p:custDataLst>
              <p:tags r:id="rId37"/>
            </p:custDataLst>
          </p:nvPr>
        </p:nvSpPr>
        <p:spPr>
          <a:xfrm>
            <a:off x="7539990" y="2856230"/>
            <a:ext cx="857885" cy="202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角色清</a:t>
            </a:r>
            <a:r>
              <a:rPr lang="zh-CN" altLang="en-US" sz="800"/>
              <a:t>单</a:t>
            </a:r>
            <a:endParaRPr lang="zh-CN" altLang="en-US" sz="800"/>
          </a:p>
        </p:txBody>
      </p:sp>
      <p:sp>
        <p:nvSpPr>
          <p:cNvPr id="108" name="圆角矩形 107"/>
          <p:cNvSpPr/>
          <p:nvPr>
            <p:custDataLst>
              <p:tags r:id="rId38"/>
            </p:custDataLst>
          </p:nvPr>
        </p:nvSpPr>
        <p:spPr>
          <a:xfrm>
            <a:off x="7539990" y="310451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姓</a:t>
            </a:r>
            <a:r>
              <a:rPr lang="zh-CN" altLang="en-US" sz="800"/>
              <a:t>名</a:t>
            </a:r>
            <a:endParaRPr lang="zh-CN" altLang="en-US" sz="800"/>
          </a:p>
        </p:txBody>
      </p:sp>
      <p:sp>
        <p:nvSpPr>
          <p:cNvPr id="109" name="圆角矩形 108"/>
          <p:cNvSpPr/>
          <p:nvPr>
            <p:custDataLst>
              <p:tags r:id="rId39"/>
            </p:custDataLst>
          </p:nvPr>
        </p:nvSpPr>
        <p:spPr>
          <a:xfrm>
            <a:off x="7539990" y="332676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业务</a:t>
            </a:r>
            <a:r>
              <a:rPr lang="zh-CN" altLang="en-US" sz="800"/>
              <a:t>线</a:t>
            </a:r>
            <a:endParaRPr lang="zh-CN" altLang="en-US" sz="800"/>
          </a:p>
        </p:txBody>
      </p:sp>
      <p:sp>
        <p:nvSpPr>
          <p:cNvPr id="110" name="圆角矩形 109"/>
          <p:cNvSpPr/>
          <p:nvPr>
            <p:custDataLst>
              <p:tags r:id="rId40"/>
            </p:custDataLst>
          </p:nvPr>
        </p:nvSpPr>
        <p:spPr>
          <a:xfrm>
            <a:off x="7539990" y="35331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权</a:t>
            </a:r>
            <a:r>
              <a:rPr lang="zh-CN" altLang="en-US" sz="800"/>
              <a:t>重</a:t>
            </a:r>
            <a:endParaRPr lang="zh-CN" altLang="en-US" sz="800"/>
          </a:p>
        </p:txBody>
      </p:sp>
      <p:sp>
        <p:nvSpPr>
          <p:cNvPr id="111" name="圆角矩形 110"/>
          <p:cNvSpPr/>
          <p:nvPr>
            <p:custDataLst>
              <p:tags r:id="rId41"/>
            </p:custDataLst>
          </p:nvPr>
        </p:nvSpPr>
        <p:spPr>
          <a:xfrm>
            <a:off x="1893570" y="247777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指</a:t>
            </a:r>
            <a:r>
              <a:rPr lang="zh-CN" altLang="en-US" sz="800"/>
              <a:t>标</a:t>
            </a:r>
            <a:endParaRPr lang="zh-CN" altLang="en-US" sz="800"/>
          </a:p>
        </p:txBody>
      </p:sp>
      <p:sp>
        <p:nvSpPr>
          <p:cNvPr id="112" name="圆角矩形 111"/>
          <p:cNvSpPr/>
          <p:nvPr>
            <p:custDataLst>
              <p:tags r:id="rId42"/>
            </p:custDataLst>
          </p:nvPr>
        </p:nvSpPr>
        <p:spPr>
          <a:xfrm>
            <a:off x="3012440" y="247777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目标</a:t>
            </a:r>
            <a:endParaRPr lang="zh-CN" altLang="en-US" sz="800"/>
          </a:p>
        </p:txBody>
      </p:sp>
      <p:sp>
        <p:nvSpPr>
          <p:cNvPr id="113" name="圆角矩形 112"/>
          <p:cNvSpPr/>
          <p:nvPr>
            <p:custDataLst>
              <p:tags r:id="rId43"/>
            </p:custDataLst>
          </p:nvPr>
        </p:nvSpPr>
        <p:spPr>
          <a:xfrm>
            <a:off x="4142740" y="247713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权</a:t>
            </a:r>
            <a:r>
              <a:rPr lang="zh-CN" altLang="en-US" sz="800"/>
              <a:t>重</a:t>
            </a:r>
            <a:endParaRPr lang="zh-CN" altLang="en-US" sz="800"/>
          </a:p>
        </p:txBody>
      </p:sp>
      <p:sp>
        <p:nvSpPr>
          <p:cNvPr id="114" name="圆角矩形 113"/>
          <p:cNvSpPr/>
          <p:nvPr>
            <p:custDataLst>
              <p:tags r:id="rId44"/>
            </p:custDataLst>
          </p:nvPr>
        </p:nvSpPr>
        <p:spPr>
          <a:xfrm>
            <a:off x="5302250" y="247713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加权指</a:t>
            </a:r>
            <a:r>
              <a:rPr lang="zh-CN" altLang="en-US" sz="800"/>
              <a:t>标</a:t>
            </a:r>
            <a:endParaRPr lang="zh-CN" altLang="en-US" sz="800"/>
          </a:p>
        </p:txBody>
      </p:sp>
      <p:sp>
        <p:nvSpPr>
          <p:cNvPr id="115" name="圆角矩形 114"/>
          <p:cNvSpPr/>
          <p:nvPr>
            <p:custDataLst>
              <p:tags r:id="rId45"/>
            </p:custDataLst>
          </p:nvPr>
        </p:nvSpPr>
        <p:spPr>
          <a:xfrm>
            <a:off x="6421120" y="247777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加权</a:t>
            </a:r>
            <a:r>
              <a:rPr lang="zh-CN" altLang="en-US" sz="800"/>
              <a:t>目标</a:t>
            </a:r>
            <a:endParaRPr lang="zh-CN" altLang="en-US" sz="800"/>
          </a:p>
        </p:txBody>
      </p:sp>
      <p:sp>
        <p:nvSpPr>
          <p:cNvPr id="116" name="圆角矩形 115"/>
          <p:cNvSpPr/>
          <p:nvPr>
            <p:custDataLst>
              <p:tags r:id="rId46"/>
            </p:custDataLst>
          </p:nvPr>
        </p:nvSpPr>
        <p:spPr>
          <a:xfrm>
            <a:off x="7539990" y="2477135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角色</a:t>
            </a:r>
            <a:endParaRPr lang="zh-CN" altLang="en-US" sz="800"/>
          </a:p>
        </p:txBody>
      </p:sp>
      <p:sp>
        <p:nvSpPr>
          <p:cNvPr id="118" name="圆角矩形 117"/>
          <p:cNvSpPr/>
          <p:nvPr>
            <p:custDataLst>
              <p:tags r:id="rId47"/>
            </p:custDataLst>
          </p:nvPr>
        </p:nvSpPr>
        <p:spPr>
          <a:xfrm>
            <a:off x="1499235" y="2856230"/>
            <a:ext cx="274320" cy="8362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数据</a:t>
            </a:r>
            <a:r>
              <a:rPr lang="zh-CN" altLang="en-US" sz="800"/>
              <a:t>清洗</a:t>
            </a:r>
            <a:endParaRPr lang="zh-CN" altLang="en-US" sz="800"/>
          </a:p>
        </p:txBody>
      </p:sp>
      <p:sp>
        <p:nvSpPr>
          <p:cNvPr id="119" name="圆角矩形 118"/>
          <p:cNvSpPr/>
          <p:nvPr>
            <p:custDataLst>
              <p:tags r:id="rId48"/>
            </p:custDataLst>
          </p:nvPr>
        </p:nvSpPr>
        <p:spPr>
          <a:xfrm>
            <a:off x="1499235" y="2378710"/>
            <a:ext cx="274320" cy="31432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建</a:t>
            </a:r>
            <a:r>
              <a:rPr lang="zh-CN" altLang="en-US" sz="800"/>
              <a:t>模</a:t>
            </a:r>
            <a:endParaRPr lang="zh-CN" altLang="en-US" sz="800"/>
          </a:p>
        </p:txBody>
      </p:sp>
      <p:sp>
        <p:nvSpPr>
          <p:cNvPr id="121" name="圆角矩形 120"/>
          <p:cNvSpPr/>
          <p:nvPr>
            <p:custDataLst>
              <p:tags r:id="rId49"/>
            </p:custDataLst>
          </p:nvPr>
        </p:nvSpPr>
        <p:spPr>
          <a:xfrm>
            <a:off x="1408430" y="2800985"/>
            <a:ext cx="7071995" cy="960755"/>
          </a:xfrm>
          <a:prstGeom prst="roundRect">
            <a:avLst>
              <a:gd name="adj" fmla="val 5882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122" name="圆角矩形 121"/>
          <p:cNvSpPr/>
          <p:nvPr>
            <p:custDataLst>
              <p:tags r:id="rId50"/>
            </p:custDataLst>
          </p:nvPr>
        </p:nvSpPr>
        <p:spPr>
          <a:xfrm>
            <a:off x="1408430" y="2342515"/>
            <a:ext cx="7071995" cy="374650"/>
          </a:xfrm>
          <a:prstGeom prst="roundRect">
            <a:avLst>
              <a:gd name="adj" fmla="val 10379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123" name="圆角矩形 122"/>
          <p:cNvSpPr/>
          <p:nvPr>
            <p:custDataLst>
              <p:tags r:id="rId51"/>
            </p:custDataLst>
          </p:nvPr>
        </p:nvSpPr>
        <p:spPr>
          <a:xfrm>
            <a:off x="1893570" y="17678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计划</a:t>
            </a:r>
            <a:endParaRPr lang="zh-CN" altLang="en-US" sz="800"/>
          </a:p>
        </p:txBody>
      </p:sp>
      <p:sp>
        <p:nvSpPr>
          <p:cNvPr id="124" name="圆角矩形 123"/>
          <p:cNvSpPr/>
          <p:nvPr>
            <p:custDataLst>
              <p:tags r:id="rId52"/>
            </p:custDataLst>
          </p:nvPr>
        </p:nvSpPr>
        <p:spPr>
          <a:xfrm>
            <a:off x="1893570" y="1508125"/>
            <a:ext cx="2834005" cy="202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分析主题（报表重</a:t>
            </a:r>
            <a:r>
              <a:rPr lang="zh-CN" altLang="en-US" sz="800"/>
              <a:t>构）</a:t>
            </a:r>
            <a:endParaRPr lang="zh-CN" altLang="en-US" sz="800"/>
          </a:p>
        </p:txBody>
      </p:sp>
      <p:sp>
        <p:nvSpPr>
          <p:cNvPr id="125" name="圆角矩形 124"/>
          <p:cNvSpPr/>
          <p:nvPr>
            <p:custDataLst>
              <p:tags r:id="rId53"/>
            </p:custDataLst>
          </p:nvPr>
        </p:nvSpPr>
        <p:spPr>
          <a:xfrm>
            <a:off x="2882900" y="17678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库</a:t>
            </a:r>
            <a:r>
              <a:rPr lang="zh-CN" altLang="en-US" sz="800"/>
              <a:t>存</a:t>
            </a:r>
            <a:endParaRPr lang="zh-CN" altLang="en-US" sz="800"/>
          </a:p>
        </p:txBody>
      </p:sp>
      <p:sp>
        <p:nvSpPr>
          <p:cNvPr id="126" name="圆角矩形 125"/>
          <p:cNvSpPr/>
          <p:nvPr>
            <p:custDataLst>
              <p:tags r:id="rId54"/>
            </p:custDataLst>
          </p:nvPr>
        </p:nvSpPr>
        <p:spPr>
          <a:xfrm>
            <a:off x="3870325" y="17678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采购</a:t>
            </a:r>
            <a:endParaRPr lang="zh-CN" altLang="en-US" sz="800"/>
          </a:p>
        </p:txBody>
      </p:sp>
      <p:sp>
        <p:nvSpPr>
          <p:cNvPr id="127" name="圆角矩形 126"/>
          <p:cNvSpPr/>
          <p:nvPr>
            <p:custDataLst>
              <p:tags r:id="rId55"/>
            </p:custDataLst>
          </p:nvPr>
        </p:nvSpPr>
        <p:spPr>
          <a:xfrm>
            <a:off x="1893570" y="198120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制</a:t>
            </a:r>
            <a:r>
              <a:rPr lang="zh-CN" altLang="en-US" sz="800"/>
              <a:t>造</a:t>
            </a:r>
            <a:endParaRPr lang="zh-CN" altLang="en-US" sz="800"/>
          </a:p>
        </p:txBody>
      </p:sp>
      <p:sp>
        <p:nvSpPr>
          <p:cNvPr id="128" name="圆角矩形 127"/>
          <p:cNvSpPr/>
          <p:nvPr>
            <p:custDataLst>
              <p:tags r:id="rId56"/>
            </p:custDataLst>
          </p:nvPr>
        </p:nvSpPr>
        <p:spPr>
          <a:xfrm>
            <a:off x="2882900" y="198120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物</a:t>
            </a:r>
            <a:r>
              <a:rPr lang="zh-CN" altLang="en-US" sz="800"/>
              <a:t>流</a:t>
            </a:r>
            <a:endParaRPr lang="zh-CN" altLang="en-US" sz="800"/>
          </a:p>
        </p:txBody>
      </p:sp>
      <p:sp>
        <p:nvSpPr>
          <p:cNvPr id="129" name="圆角矩形 128"/>
          <p:cNvSpPr/>
          <p:nvPr>
            <p:custDataLst>
              <p:tags r:id="rId57"/>
            </p:custDataLst>
          </p:nvPr>
        </p:nvSpPr>
        <p:spPr>
          <a:xfrm>
            <a:off x="3870325" y="198120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器件</a:t>
            </a:r>
            <a:endParaRPr lang="zh-CN" altLang="en-US" sz="800"/>
          </a:p>
        </p:txBody>
      </p:sp>
      <p:sp>
        <p:nvSpPr>
          <p:cNvPr id="130" name="圆角矩形 129"/>
          <p:cNvSpPr/>
          <p:nvPr>
            <p:custDataLst>
              <p:tags r:id="rId58"/>
            </p:custDataLst>
          </p:nvPr>
        </p:nvSpPr>
        <p:spPr>
          <a:xfrm>
            <a:off x="5563235" y="17678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我的</a:t>
            </a:r>
            <a:r>
              <a:rPr lang="en-US" altLang="zh-CN" sz="800"/>
              <a:t>KPI</a:t>
            </a:r>
            <a:endParaRPr lang="en-US" altLang="zh-CN" sz="800"/>
          </a:p>
        </p:txBody>
      </p:sp>
      <p:sp>
        <p:nvSpPr>
          <p:cNvPr id="131" name="圆角矩形 130"/>
          <p:cNvSpPr/>
          <p:nvPr>
            <p:custDataLst>
              <p:tags r:id="rId59"/>
            </p:custDataLst>
          </p:nvPr>
        </p:nvSpPr>
        <p:spPr>
          <a:xfrm>
            <a:off x="5563235" y="1508125"/>
            <a:ext cx="2834005" cy="202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管理看板</a:t>
            </a:r>
            <a:r>
              <a:rPr lang="en-US" altLang="zh-CN" sz="800"/>
              <a:t>-</a:t>
            </a:r>
            <a:r>
              <a:rPr lang="zh-CN" altLang="en-US" sz="800"/>
              <a:t>个</a:t>
            </a:r>
            <a:r>
              <a:rPr lang="zh-CN" altLang="en-US" sz="800"/>
              <a:t>人</a:t>
            </a:r>
            <a:endParaRPr lang="zh-CN" altLang="en-US" sz="800"/>
          </a:p>
        </p:txBody>
      </p:sp>
      <p:sp>
        <p:nvSpPr>
          <p:cNvPr id="132" name="圆角矩形 131"/>
          <p:cNvSpPr/>
          <p:nvPr>
            <p:custDataLst>
              <p:tags r:id="rId60"/>
            </p:custDataLst>
          </p:nvPr>
        </p:nvSpPr>
        <p:spPr>
          <a:xfrm>
            <a:off x="6552565" y="17678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我的团</a:t>
            </a:r>
            <a:r>
              <a:rPr lang="zh-CN" altLang="en-US" sz="800"/>
              <a:t>队</a:t>
            </a:r>
            <a:endParaRPr lang="zh-CN" altLang="en-US" sz="800"/>
          </a:p>
        </p:txBody>
      </p:sp>
      <p:sp>
        <p:nvSpPr>
          <p:cNvPr id="133" name="圆角矩形 132"/>
          <p:cNvSpPr/>
          <p:nvPr>
            <p:custDataLst>
              <p:tags r:id="rId61"/>
            </p:custDataLst>
          </p:nvPr>
        </p:nvSpPr>
        <p:spPr>
          <a:xfrm>
            <a:off x="7539990" y="176784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我的相关</a:t>
            </a:r>
            <a:r>
              <a:rPr lang="zh-CN" altLang="en-US" sz="800"/>
              <a:t>方</a:t>
            </a:r>
            <a:endParaRPr lang="zh-CN" altLang="en-US" sz="800"/>
          </a:p>
        </p:txBody>
      </p:sp>
      <p:sp>
        <p:nvSpPr>
          <p:cNvPr id="134" name="圆角矩形 133"/>
          <p:cNvSpPr/>
          <p:nvPr>
            <p:custDataLst>
              <p:tags r:id="rId62"/>
            </p:custDataLst>
          </p:nvPr>
        </p:nvSpPr>
        <p:spPr>
          <a:xfrm>
            <a:off x="5563235" y="198120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外</a:t>
            </a:r>
            <a:r>
              <a:rPr lang="zh-CN" altLang="en-US" sz="800"/>
              <a:t>部</a:t>
            </a:r>
            <a:endParaRPr lang="zh-CN" altLang="en-US" sz="800"/>
          </a:p>
        </p:txBody>
      </p:sp>
      <p:sp>
        <p:nvSpPr>
          <p:cNvPr id="135" name="圆角矩形 134"/>
          <p:cNvSpPr/>
          <p:nvPr>
            <p:custDataLst>
              <p:tags r:id="rId63"/>
            </p:custDataLst>
          </p:nvPr>
        </p:nvSpPr>
        <p:spPr>
          <a:xfrm>
            <a:off x="6552565" y="198120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费</a:t>
            </a:r>
            <a:r>
              <a:rPr lang="zh-CN" altLang="en-US" sz="800"/>
              <a:t>用</a:t>
            </a:r>
            <a:endParaRPr lang="zh-CN" altLang="en-US" sz="800"/>
          </a:p>
        </p:txBody>
      </p:sp>
      <p:sp>
        <p:nvSpPr>
          <p:cNvPr id="136" name="圆角矩形 135"/>
          <p:cNvSpPr/>
          <p:nvPr>
            <p:custDataLst>
              <p:tags r:id="rId64"/>
            </p:custDataLst>
          </p:nvPr>
        </p:nvSpPr>
        <p:spPr>
          <a:xfrm>
            <a:off x="7539990" y="198120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人</a:t>
            </a:r>
            <a:r>
              <a:rPr lang="zh-CN" altLang="en-US" sz="800"/>
              <a:t>效</a:t>
            </a:r>
            <a:endParaRPr lang="zh-CN" altLang="en-US" sz="800"/>
          </a:p>
        </p:txBody>
      </p:sp>
      <p:sp>
        <p:nvSpPr>
          <p:cNvPr id="137" name="圆角矩形 136"/>
          <p:cNvSpPr/>
          <p:nvPr>
            <p:custDataLst>
              <p:tags r:id="rId65"/>
            </p:custDataLst>
          </p:nvPr>
        </p:nvSpPr>
        <p:spPr>
          <a:xfrm>
            <a:off x="1893570" y="962025"/>
            <a:ext cx="6504940" cy="202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管理看板</a:t>
            </a:r>
            <a:r>
              <a:rPr lang="en-US" altLang="zh-CN" sz="800"/>
              <a:t>-</a:t>
            </a:r>
            <a:r>
              <a:rPr lang="zh-CN" altLang="en-US" sz="800"/>
              <a:t>中心</a:t>
            </a:r>
            <a:r>
              <a:rPr lang="en-US" altLang="zh-CN" sz="800"/>
              <a:t>/</a:t>
            </a:r>
            <a:r>
              <a:rPr lang="zh-CN" altLang="en-US" sz="800"/>
              <a:t>平台驾驶仓</a:t>
            </a:r>
            <a:r>
              <a:rPr lang="en-US" altLang="zh-CN" sz="800"/>
              <a:t>/</a:t>
            </a:r>
            <a:r>
              <a:rPr lang="zh-CN" altLang="en-US" sz="800"/>
              <a:t>平台决策中</a:t>
            </a:r>
            <a:r>
              <a:rPr lang="zh-CN" altLang="en-US" sz="800"/>
              <a:t>心</a:t>
            </a:r>
            <a:endParaRPr lang="zh-CN" altLang="en-US" sz="800"/>
          </a:p>
        </p:txBody>
      </p:sp>
      <p:sp>
        <p:nvSpPr>
          <p:cNvPr id="138" name="圆角矩形 137"/>
          <p:cNvSpPr/>
          <p:nvPr>
            <p:custDataLst>
              <p:tags r:id="rId66"/>
            </p:custDataLst>
          </p:nvPr>
        </p:nvSpPr>
        <p:spPr>
          <a:xfrm>
            <a:off x="1893570" y="123063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我的</a:t>
            </a:r>
            <a:r>
              <a:rPr lang="en-US" altLang="zh-CN" sz="800"/>
              <a:t>KPI</a:t>
            </a:r>
            <a:endParaRPr lang="en-US" altLang="zh-CN" sz="800"/>
          </a:p>
        </p:txBody>
      </p:sp>
      <p:sp>
        <p:nvSpPr>
          <p:cNvPr id="139" name="圆角矩形 138"/>
          <p:cNvSpPr/>
          <p:nvPr>
            <p:custDataLst>
              <p:tags r:id="rId67"/>
            </p:custDataLst>
          </p:nvPr>
        </p:nvSpPr>
        <p:spPr>
          <a:xfrm>
            <a:off x="2943225" y="123063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我的团</a:t>
            </a:r>
            <a:r>
              <a:rPr lang="zh-CN" altLang="en-US" sz="800"/>
              <a:t>队</a:t>
            </a:r>
            <a:endParaRPr lang="zh-CN" altLang="en-US" sz="800"/>
          </a:p>
        </p:txBody>
      </p:sp>
      <p:sp>
        <p:nvSpPr>
          <p:cNvPr id="140" name="圆角矩形 139"/>
          <p:cNvSpPr/>
          <p:nvPr>
            <p:custDataLst>
              <p:tags r:id="rId68"/>
            </p:custDataLst>
          </p:nvPr>
        </p:nvSpPr>
        <p:spPr>
          <a:xfrm>
            <a:off x="4003675" y="123063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我的相关</a:t>
            </a:r>
            <a:r>
              <a:rPr lang="zh-CN" altLang="en-US" sz="800"/>
              <a:t>方</a:t>
            </a:r>
            <a:endParaRPr lang="zh-CN" altLang="en-US" sz="800"/>
          </a:p>
        </p:txBody>
      </p:sp>
      <p:sp>
        <p:nvSpPr>
          <p:cNvPr id="141" name="圆角矩形 140"/>
          <p:cNvSpPr/>
          <p:nvPr>
            <p:custDataLst>
              <p:tags r:id="rId69"/>
            </p:custDataLst>
          </p:nvPr>
        </p:nvSpPr>
        <p:spPr>
          <a:xfrm>
            <a:off x="5372100" y="123063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外</a:t>
            </a:r>
            <a:r>
              <a:rPr lang="zh-CN" altLang="en-US" sz="800"/>
              <a:t>部</a:t>
            </a:r>
            <a:endParaRPr lang="zh-CN" altLang="en-US" sz="800"/>
          </a:p>
        </p:txBody>
      </p:sp>
      <p:sp>
        <p:nvSpPr>
          <p:cNvPr id="142" name="圆角矩形 141"/>
          <p:cNvSpPr/>
          <p:nvPr>
            <p:custDataLst>
              <p:tags r:id="rId70"/>
            </p:custDataLst>
          </p:nvPr>
        </p:nvSpPr>
        <p:spPr>
          <a:xfrm>
            <a:off x="6421120" y="123063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费</a:t>
            </a:r>
            <a:r>
              <a:rPr lang="zh-CN" altLang="en-US" sz="800"/>
              <a:t>用</a:t>
            </a:r>
            <a:endParaRPr lang="zh-CN" altLang="en-US" sz="800"/>
          </a:p>
        </p:txBody>
      </p:sp>
      <p:sp>
        <p:nvSpPr>
          <p:cNvPr id="143" name="圆角矩形 142"/>
          <p:cNvSpPr/>
          <p:nvPr>
            <p:custDataLst>
              <p:tags r:id="rId71"/>
            </p:custDataLst>
          </p:nvPr>
        </p:nvSpPr>
        <p:spPr>
          <a:xfrm>
            <a:off x="7532370" y="1230630"/>
            <a:ext cx="857885" cy="1593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人</a:t>
            </a:r>
            <a:r>
              <a:rPr lang="zh-CN" altLang="en-US" sz="800"/>
              <a:t>效</a:t>
            </a:r>
            <a:endParaRPr lang="zh-CN" altLang="en-US" sz="800"/>
          </a:p>
        </p:txBody>
      </p:sp>
      <p:sp>
        <p:nvSpPr>
          <p:cNvPr id="144" name="丁字箭头 143"/>
          <p:cNvSpPr/>
          <p:nvPr>
            <p:custDataLst>
              <p:tags r:id="rId72"/>
            </p:custDataLst>
          </p:nvPr>
        </p:nvSpPr>
        <p:spPr>
          <a:xfrm>
            <a:off x="4861560" y="1231265"/>
            <a:ext cx="569595" cy="536575"/>
          </a:xfrm>
          <a:prstGeom prst="leftRightUpArrow">
            <a:avLst>
              <a:gd name="adj1" fmla="val 18343"/>
              <a:gd name="adj2" fmla="val 25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5" name="文本框 144"/>
          <p:cNvSpPr txBox="1"/>
          <p:nvPr>
            <p:custDataLst>
              <p:tags r:id="rId73"/>
            </p:custDataLst>
          </p:nvPr>
        </p:nvSpPr>
        <p:spPr>
          <a:xfrm>
            <a:off x="4838065" y="1767840"/>
            <a:ext cx="617220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800"/>
              <a:t>分解</a:t>
            </a:r>
            <a:r>
              <a:rPr lang="en-US" altLang="zh-CN" sz="800"/>
              <a:t>/</a:t>
            </a:r>
            <a:r>
              <a:rPr lang="zh-CN" altLang="en-US" sz="800"/>
              <a:t>汇聚</a:t>
            </a:r>
            <a:endParaRPr lang="zh-CN" altLang="en-US" sz="800"/>
          </a:p>
        </p:txBody>
      </p:sp>
      <p:sp>
        <p:nvSpPr>
          <p:cNvPr id="146" name="圆角矩形 145"/>
          <p:cNvSpPr/>
          <p:nvPr>
            <p:custDataLst>
              <p:tags r:id="rId74"/>
            </p:custDataLst>
          </p:nvPr>
        </p:nvSpPr>
        <p:spPr>
          <a:xfrm>
            <a:off x="1408430" y="876300"/>
            <a:ext cx="7071995" cy="1418590"/>
          </a:xfrm>
          <a:prstGeom prst="roundRect">
            <a:avLst>
              <a:gd name="adj" fmla="val 6132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/>
          </a:p>
        </p:txBody>
      </p:sp>
      <p:sp>
        <p:nvSpPr>
          <p:cNvPr id="147" name="圆角矩形 146"/>
          <p:cNvSpPr/>
          <p:nvPr>
            <p:custDataLst>
              <p:tags r:id="rId75"/>
            </p:custDataLst>
          </p:nvPr>
        </p:nvSpPr>
        <p:spPr>
          <a:xfrm>
            <a:off x="1499235" y="962025"/>
            <a:ext cx="274320" cy="117856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800"/>
              <a:t>数据</a:t>
            </a:r>
            <a:r>
              <a:rPr lang="zh-CN" altLang="en-US" sz="800"/>
              <a:t>展示</a:t>
            </a:r>
            <a:endParaRPr lang="zh-CN" altLang="en-US" sz="800"/>
          </a:p>
        </p:txBody>
      </p:sp>
      <p:sp>
        <p:nvSpPr>
          <p:cNvPr id="148" name="圆角矩形 147"/>
          <p:cNvSpPr/>
          <p:nvPr>
            <p:custDataLst>
              <p:tags r:id="rId76"/>
            </p:custDataLst>
          </p:nvPr>
        </p:nvSpPr>
        <p:spPr>
          <a:xfrm>
            <a:off x="703580" y="876300"/>
            <a:ext cx="617220" cy="1419225"/>
          </a:xfrm>
          <a:prstGeom prst="roundRect">
            <a:avLst>
              <a:gd name="adj" fmla="val 1244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/>
              <a:t>BI</a:t>
            </a:r>
            <a:r>
              <a:rPr lang="zh-CN" altLang="en-US" sz="800"/>
              <a:t>：</a:t>
            </a:r>
            <a:endParaRPr lang="zh-CN" altLang="en-US" sz="800"/>
          </a:p>
          <a:p>
            <a:pPr algn="ctr"/>
            <a:r>
              <a:rPr lang="zh-CN" altLang="en-US" sz="800"/>
              <a:t>统一视图</a:t>
            </a:r>
            <a:r>
              <a:rPr lang="en-US" altLang="zh-CN" sz="800"/>
              <a:t>/</a:t>
            </a:r>
            <a:r>
              <a:rPr lang="zh-CN" altLang="en-US" sz="800"/>
              <a:t>二</a:t>
            </a:r>
            <a:r>
              <a:rPr lang="en-US" altLang="zh-CN" sz="800"/>
              <a:t>/</a:t>
            </a:r>
            <a:r>
              <a:rPr lang="zh-CN" altLang="en-US" sz="800"/>
              <a:t>三级指标看板</a:t>
            </a:r>
            <a:r>
              <a:rPr lang="en-US" altLang="zh-CN" sz="800"/>
              <a:t>+</a:t>
            </a:r>
            <a:r>
              <a:rPr lang="zh-CN" altLang="en-US" sz="800"/>
              <a:t>报表重</a:t>
            </a:r>
            <a:r>
              <a:rPr lang="zh-CN" altLang="en-US" sz="800"/>
              <a:t>构</a:t>
            </a:r>
            <a:endParaRPr lang="zh-CN" altLang="en-US" sz="800"/>
          </a:p>
        </p:txBody>
      </p:sp>
      <p:sp>
        <p:nvSpPr>
          <p:cNvPr id="149" name="圆角矩形 148"/>
          <p:cNvSpPr/>
          <p:nvPr>
            <p:custDataLst>
              <p:tags r:id="rId77"/>
            </p:custDataLst>
          </p:nvPr>
        </p:nvSpPr>
        <p:spPr>
          <a:xfrm>
            <a:off x="703580" y="3862705"/>
            <a:ext cx="617220" cy="685800"/>
          </a:xfrm>
          <a:prstGeom prst="roundRect">
            <a:avLst>
              <a:gd name="adj" fmla="val 1244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700"/>
              <a:t>业务</a:t>
            </a:r>
            <a:endParaRPr lang="zh-CN" altLang="en-US" sz="700"/>
          </a:p>
          <a:p>
            <a:pPr algn="ctr"/>
            <a:r>
              <a:rPr lang="zh-CN" altLang="en-US" sz="700"/>
              <a:t>系统：数据抽取、简道云指标配置</a:t>
            </a:r>
            <a:endParaRPr lang="zh-CN" altLang="en-US" sz="700"/>
          </a:p>
        </p:txBody>
      </p:sp>
      <p:sp>
        <p:nvSpPr>
          <p:cNvPr id="150" name="上箭头 149"/>
          <p:cNvSpPr/>
          <p:nvPr>
            <p:custDataLst>
              <p:tags r:id="rId78"/>
            </p:custDataLst>
          </p:nvPr>
        </p:nvSpPr>
        <p:spPr>
          <a:xfrm>
            <a:off x="3838575" y="3722370"/>
            <a:ext cx="327660" cy="1644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1" name="上箭头 150"/>
          <p:cNvSpPr/>
          <p:nvPr>
            <p:custDataLst>
              <p:tags r:id="rId79"/>
            </p:custDataLst>
          </p:nvPr>
        </p:nvSpPr>
        <p:spPr>
          <a:xfrm>
            <a:off x="7204710" y="3722370"/>
            <a:ext cx="327660" cy="1644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上箭头 151"/>
          <p:cNvSpPr/>
          <p:nvPr>
            <p:custDataLst>
              <p:tags r:id="rId80"/>
            </p:custDataLst>
          </p:nvPr>
        </p:nvSpPr>
        <p:spPr>
          <a:xfrm>
            <a:off x="4982845" y="2691765"/>
            <a:ext cx="327660" cy="1644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3" name="上箭头 152"/>
          <p:cNvSpPr/>
          <p:nvPr>
            <p:custDataLst>
              <p:tags r:id="rId81"/>
            </p:custDataLst>
          </p:nvPr>
        </p:nvSpPr>
        <p:spPr>
          <a:xfrm>
            <a:off x="4974590" y="2214245"/>
            <a:ext cx="327660" cy="1644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占位符 35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3.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项目目标</a:t>
            </a:r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&amp;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价值</a:t>
            </a:r>
            <a:endParaRPr kumimoji="1" lang="zh-CN" altLang="en-US" sz="1600" spc="300" dirty="0">
              <a:solidFill>
                <a:schemeClr val="tx1"/>
              </a:solidFill>
              <a:latin typeface="微软雅黑" charset="0"/>
              <a:ea typeface="微软雅黑" charset="0"/>
              <a:sym typeface="Arial" panose="020B060402020209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90855" y="966470"/>
            <a:ext cx="8326120" cy="3728085"/>
            <a:chOff x="773" y="1522"/>
            <a:chExt cx="13112" cy="5871"/>
          </a:xfrm>
        </p:grpSpPr>
        <p:sp>
          <p:nvSpPr>
            <p:cNvPr id="2" name="文本框 1"/>
            <p:cNvSpPr txBox="1"/>
            <p:nvPr/>
          </p:nvSpPr>
          <p:spPr>
            <a:xfrm>
              <a:off x="1871" y="1537"/>
              <a:ext cx="2328" cy="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350"/>
                <a:t>1</a:t>
              </a:r>
              <a:r>
                <a:rPr lang="zh-CN" altLang="en-US" sz="1350"/>
                <a:t>、全员目标</a:t>
              </a:r>
              <a:r>
                <a:rPr lang="zh-CN" altLang="en-US" sz="1350"/>
                <a:t>驱动</a:t>
              </a:r>
              <a:endParaRPr lang="zh-CN" altLang="en-US" sz="1350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871" y="2168"/>
              <a:ext cx="4758" cy="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350"/>
                <a:t>2</a:t>
              </a:r>
              <a:r>
                <a:rPr lang="zh-CN" altLang="en-US" sz="1350"/>
                <a:t>、通过数据快速</a:t>
              </a:r>
              <a:r>
                <a:rPr lang="zh-CN" altLang="en-US" sz="1350"/>
                <a:t>识别问题、快速暴露</a:t>
              </a:r>
              <a:endParaRPr lang="zh-CN" altLang="en-US" sz="135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871" y="2799"/>
              <a:ext cx="4218" cy="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350"/>
                <a:t>3</a:t>
              </a:r>
              <a:r>
                <a:rPr lang="zh-CN" altLang="en-US" sz="1350"/>
                <a:t>、建立指标平台，沉淀数据</a:t>
              </a:r>
              <a:r>
                <a:rPr lang="zh-CN" altLang="en-US" sz="1350"/>
                <a:t>资产</a:t>
              </a:r>
              <a:endParaRPr lang="zh-CN" altLang="en-US" sz="135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871" y="3430"/>
              <a:ext cx="5568" cy="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350"/>
                <a:t>4</a:t>
              </a:r>
              <a:r>
                <a:rPr lang="zh-CN" altLang="en-US" sz="1350"/>
                <a:t>、数据驱动管理：统一看数逻辑、管理</a:t>
              </a:r>
              <a:r>
                <a:rPr lang="zh-CN" altLang="en-US" sz="1350"/>
                <a:t>逻辑</a:t>
              </a:r>
              <a:endParaRPr lang="zh-CN" altLang="en-US" sz="1350"/>
            </a:p>
          </p:txBody>
        </p:sp>
        <p:sp>
          <p:nvSpPr>
            <p:cNvPr id="146" name="圆角矩形 145"/>
            <p:cNvSpPr/>
            <p:nvPr/>
          </p:nvSpPr>
          <p:spPr>
            <a:xfrm>
              <a:off x="1237" y="4297"/>
              <a:ext cx="1887" cy="2370"/>
            </a:xfrm>
            <a:prstGeom prst="roundRect">
              <a:avLst>
                <a:gd name="adj" fmla="val 6132"/>
              </a:avLst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352" y="4660"/>
              <a:ext cx="1188" cy="16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900"/>
                <a:t>交付达成</a:t>
              </a:r>
              <a:r>
                <a:rPr lang="zh-CN" altLang="en-US" sz="900"/>
                <a:t>率</a:t>
              </a:r>
              <a:endParaRPr lang="zh-CN" altLang="en-US" sz="900"/>
            </a:p>
            <a:p>
              <a:endParaRPr lang="zh-CN" altLang="en-US" sz="900"/>
            </a:p>
            <a:p>
              <a:r>
                <a:rPr lang="zh-CN" altLang="en-US" sz="900"/>
                <a:t>交付周</a:t>
              </a:r>
              <a:r>
                <a:rPr lang="zh-CN" altLang="en-US" sz="900"/>
                <a:t>期</a:t>
              </a:r>
              <a:endParaRPr lang="zh-CN" altLang="en-US" sz="900"/>
            </a:p>
            <a:p>
              <a:endParaRPr lang="zh-CN" altLang="en-US" sz="900"/>
            </a:p>
            <a:p>
              <a:r>
                <a:rPr lang="zh-CN" altLang="en-US" sz="900"/>
                <a:t>库存周</a:t>
              </a:r>
              <a:r>
                <a:rPr lang="zh-CN" altLang="en-US" sz="900"/>
                <a:t>转</a:t>
              </a:r>
              <a:endParaRPr lang="zh-CN" altLang="en-US" sz="900"/>
            </a:p>
            <a:p>
              <a:endParaRPr lang="zh-CN" altLang="en-US" sz="900"/>
            </a:p>
            <a:p>
              <a:r>
                <a:rPr lang="zh-CN" altLang="en-US" sz="900"/>
                <a:t>……</a:t>
              </a:r>
              <a:endParaRPr lang="zh-CN" altLang="en-US" sz="900"/>
            </a:p>
          </p:txBody>
        </p:sp>
        <p:sp>
          <p:nvSpPr>
            <p:cNvPr id="127" name="圆角矩形 126"/>
            <p:cNvSpPr/>
            <p:nvPr/>
          </p:nvSpPr>
          <p:spPr>
            <a:xfrm>
              <a:off x="1505" y="4297"/>
              <a:ext cx="1351" cy="2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/>
                <a:t>平台驾驶</a:t>
              </a:r>
              <a:r>
                <a:rPr lang="zh-CN" altLang="en-US" sz="800"/>
                <a:t>仓</a:t>
              </a:r>
              <a:endParaRPr lang="zh-CN" altLang="en-US" sz="800"/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856" y="4660"/>
              <a:ext cx="1887" cy="2370"/>
            </a:xfrm>
            <a:prstGeom prst="roundRect">
              <a:avLst>
                <a:gd name="adj" fmla="val 6132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971" y="5023"/>
              <a:ext cx="1208" cy="16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900"/>
                <a:t>齐套</a:t>
              </a:r>
              <a:r>
                <a:rPr lang="zh-CN" altLang="en-US" sz="900"/>
                <a:t>率</a:t>
              </a:r>
              <a:endParaRPr lang="zh-CN" altLang="en-US" sz="900"/>
            </a:p>
            <a:p>
              <a:endParaRPr lang="zh-CN" altLang="en-US" sz="900"/>
            </a:p>
            <a:p>
              <a:r>
                <a:rPr lang="zh-CN" altLang="en-US" sz="900"/>
                <a:t>采购降</a:t>
              </a:r>
              <a:r>
                <a:rPr lang="zh-CN" altLang="en-US" sz="900"/>
                <a:t>本</a:t>
              </a:r>
              <a:endParaRPr lang="zh-CN" altLang="en-US" sz="900"/>
            </a:p>
            <a:p>
              <a:endParaRPr lang="zh-CN" altLang="en-US" sz="900"/>
            </a:p>
            <a:p>
              <a:r>
                <a:rPr lang="zh-CN" altLang="en-US" sz="900"/>
                <a:t>超</a:t>
              </a:r>
              <a:r>
                <a:rPr lang="en-US" altLang="zh-CN" sz="900"/>
                <a:t>90</a:t>
              </a:r>
              <a:r>
                <a:rPr lang="zh-CN" altLang="en-US" sz="900"/>
                <a:t>天库</a:t>
              </a:r>
              <a:r>
                <a:rPr lang="zh-CN" altLang="en-US" sz="900"/>
                <a:t>存</a:t>
              </a:r>
              <a:endParaRPr lang="zh-CN" altLang="en-US" sz="900"/>
            </a:p>
            <a:p>
              <a:endParaRPr lang="zh-CN" altLang="en-US" sz="900"/>
            </a:p>
            <a:p>
              <a:r>
                <a:rPr lang="zh-CN" altLang="en-US" sz="900"/>
                <a:t>……</a:t>
              </a:r>
              <a:endParaRPr lang="zh-CN" altLang="en-US" sz="900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3124" y="4660"/>
              <a:ext cx="1351" cy="2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/>
                <a:t>中心看</a:t>
              </a:r>
              <a:r>
                <a:rPr lang="zh-CN" altLang="en-US" sz="800"/>
                <a:t>板</a:t>
              </a:r>
              <a:endParaRPr lang="zh-CN" altLang="en-US" sz="800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4475" y="5023"/>
              <a:ext cx="1887" cy="2370"/>
            </a:xfrm>
            <a:prstGeom prst="roundRect">
              <a:avLst>
                <a:gd name="adj" fmla="val 6132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590" y="5386"/>
              <a:ext cx="1008" cy="12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900"/>
                <a:t>承诺达</a:t>
              </a:r>
              <a:r>
                <a:rPr lang="zh-CN" altLang="en-US" sz="900"/>
                <a:t>成</a:t>
              </a:r>
              <a:endParaRPr lang="zh-CN" altLang="en-US" sz="900"/>
            </a:p>
            <a:p>
              <a:endParaRPr lang="zh-CN" altLang="en-US" sz="900"/>
            </a:p>
            <a:p>
              <a:r>
                <a:rPr lang="zh-CN" altLang="en-US" sz="900"/>
                <a:t>承诺及</a:t>
              </a:r>
              <a:r>
                <a:rPr lang="zh-CN" altLang="en-US" sz="900"/>
                <a:t>时</a:t>
              </a:r>
              <a:endParaRPr lang="zh-CN" altLang="en-US" sz="900"/>
            </a:p>
            <a:p>
              <a:endParaRPr lang="zh-CN" altLang="en-US" sz="900"/>
            </a:p>
            <a:p>
              <a:r>
                <a:rPr lang="zh-CN" altLang="en-US" sz="900"/>
                <a:t>……</a:t>
              </a:r>
              <a:endParaRPr lang="zh-CN" altLang="en-US" sz="900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4743" y="5023"/>
              <a:ext cx="1351" cy="2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/>
                <a:t>个人看</a:t>
              </a:r>
              <a:r>
                <a:rPr lang="zh-CN" altLang="en-US" sz="800"/>
                <a:t>板</a:t>
              </a:r>
              <a:endParaRPr lang="zh-CN" altLang="en-US" sz="80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7090" y="5621"/>
              <a:ext cx="1887" cy="1290"/>
            </a:xfrm>
            <a:prstGeom prst="roundRect">
              <a:avLst>
                <a:gd name="adj" fmla="val 6132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l">
                <a:buClrTx/>
                <a:buSzTx/>
                <a:buFontTx/>
              </a:pPr>
              <a:r>
                <a:rPr lang="zh-CN" altLang="en-US" sz="1000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我的</a:t>
              </a:r>
              <a:r>
                <a:rPr lang="zh-CN" altLang="en-US" sz="1000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KPI</a:t>
              </a:r>
              <a:endPara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8161" y="5621"/>
              <a:ext cx="1887" cy="1290"/>
            </a:xfrm>
            <a:prstGeom prst="roundRect">
              <a:avLst>
                <a:gd name="adj" fmla="val 6132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l">
                <a:buClrTx/>
                <a:buSzTx/>
                <a:buFontTx/>
              </a:pPr>
              <a:r>
                <a:rPr lang="zh-CN" altLang="en-US" sz="1000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我的团</a:t>
              </a:r>
              <a:r>
                <a:rPr lang="zh-CN" altLang="en-US" sz="1000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队</a:t>
              </a:r>
              <a:endPara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9228" y="5621"/>
              <a:ext cx="1887" cy="1290"/>
            </a:xfrm>
            <a:prstGeom prst="roundRect">
              <a:avLst>
                <a:gd name="adj" fmla="val 6132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l">
                <a:buClrTx/>
                <a:buSzTx/>
                <a:buFontTx/>
              </a:pPr>
              <a:r>
                <a:rPr lang="zh-CN" altLang="en-US" sz="1000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我的相关</a:t>
              </a:r>
              <a:r>
                <a:rPr lang="zh-CN" altLang="en-US" sz="1000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方</a:t>
              </a:r>
              <a:endPara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0456" y="5621"/>
              <a:ext cx="1887" cy="1290"/>
            </a:xfrm>
            <a:prstGeom prst="roundRect">
              <a:avLst>
                <a:gd name="adj" fmla="val 6132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l">
                <a:buClrTx/>
                <a:buSzTx/>
                <a:buFontTx/>
              </a:pPr>
              <a:r>
                <a:rPr lang="zh-CN" altLang="en-US" sz="1000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外</a:t>
              </a:r>
              <a:r>
                <a:rPr lang="zh-CN" altLang="en-US" sz="1000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部</a:t>
              </a:r>
              <a:endPara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1172" y="5621"/>
              <a:ext cx="1887" cy="1290"/>
            </a:xfrm>
            <a:prstGeom prst="roundRect">
              <a:avLst>
                <a:gd name="adj" fmla="val 6132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l">
                <a:buClrTx/>
                <a:buSzTx/>
                <a:buFontTx/>
              </a:pPr>
              <a:r>
                <a:rPr lang="zh-CN" altLang="en-US" sz="1000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钱</a:t>
              </a:r>
              <a:endPara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1999" y="5621"/>
              <a:ext cx="1887" cy="1290"/>
            </a:xfrm>
            <a:prstGeom prst="roundRect">
              <a:avLst>
                <a:gd name="adj" fmla="val 6132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zh-CN" altLang="en-US" sz="1000">
                  <a:solidFill>
                    <a:schemeClr val="accent1">
                      <a:lumMod val="75000"/>
                    </a:schemeClr>
                  </a:solidFill>
                </a:rPr>
                <a:t>人</a:t>
              </a:r>
              <a:endParaRPr lang="zh-CN" altLang="en-US" sz="10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0" name="圆角右箭头 19"/>
            <p:cNvSpPr/>
            <p:nvPr/>
          </p:nvSpPr>
          <p:spPr>
            <a:xfrm rot="5400000">
              <a:off x="3094" y="4105"/>
              <a:ext cx="472" cy="413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21" name="圆角右箭头 20"/>
            <p:cNvSpPr/>
            <p:nvPr/>
          </p:nvSpPr>
          <p:spPr>
            <a:xfrm rot="5400000">
              <a:off x="4713" y="4468"/>
              <a:ext cx="472" cy="413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22" name="圆角右箭头 21"/>
            <p:cNvSpPr/>
            <p:nvPr/>
          </p:nvSpPr>
          <p:spPr>
            <a:xfrm rot="5400000">
              <a:off x="6811" y="4866"/>
              <a:ext cx="471" cy="785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73" y="1522"/>
              <a:ext cx="1098" cy="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350"/>
                <a:t>价值：</a:t>
              </a:r>
              <a:endParaRPr lang="zh-CN" altLang="en-US" sz="135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950" y="1696"/>
              <a:ext cx="1098" cy="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1350"/>
                <a:t>目标：</a:t>
              </a:r>
              <a:endParaRPr lang="zh-CN" altLang="en-US" sz="135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290" y="1697"/>
              <a:ext cx="1638" cy="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350"/>
                <a:t>指标覆盖</a:t>
              </a:r>
              <a:r>
                <a:rPr lang="zh-CN" altLang="en-US" sz="1350"/>
                <a:t>率</a:t>
              </a:r>
              <a:endParaRPr lang="zh-CN" altLang="en-US" sz="135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445" y="2052"/>
              <a:ext cx="132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altLang="zh-CN" sz="3600" b="1">
                  <a:latin typeface="Arial Bold" panose="020B0604020202090204" charset="0"/>
                  <a:cs typeface="Arial Bold" panose="020B0604020202090204" charset="0"/>
                </a:rPr>
                <a:t>95</a:t>
              </a:r>
              <a:r>
                <a:rPr lang="en-US" altLang="zh-CN" sz="1350"/>
                <a:t>%</a:t>
              </a:r>
              <a:endParaRPr lang="en-US" altLang="zh-CN" sz="135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456" y="3796"/>
              <a:ext cx="132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en-US" altLang="zh-CN" sz="3600" b="1">
                  <a:latin typeface="Arial Bold" panose="020B0604020202090204" charset="0"/>
                  <a:cs typeface="Arial Bold" panose="020B0604020202090204" charset="0"/>
                </a:rPr>
                <a:t>95</a:t>
              </a:r>
              <a:r>
                <a:rPr lang="en-US" altLang="zh-CN" sz="1350"/>
                <a:t>%</a:t>
              </a:r>
              <a:endParaRPr lang="en-US" altLang="zh-CN" sz="135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0290" y="3430"/>
              <a:ext cx="1638" cy="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 sz="1350"/>
                <a:t>人</a:t>
              </a:r>
              <a:r>
                <a:rPr lang="zh-CN" altLang="en-US" sz="1350"/>
                <a:t>员覆盖</a:t>
              </a:r>
              <a:r>
                <a:rPr lang="zh-CN" altLang="en-US" sz="1350"/>
                <a:t>率</a:t>
              </a:r>
              <a:endParaRPr lang="zh-CN" altLang="en-US" sz="135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1573530" y="921385"/>
            <a:ext cx="5975350" cy="5613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4.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项目团队：组织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架构</a:t>
            </a:r>
            <a:endParaRPr kumimoji="1" lang="zh-CN" altLang="en-US" sz="1600" spc="3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056255" y="1058545"/>
            <a:ext cx="991235" cy="24955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50"/>
              <a:t>高洋</a:t>
            </a:r>
            <a:r>
              <a:rPr lang="zh-CN" altLang="en-US" sz="1350"/>
              <a:t>洋</a:t>
            </a:r>
            <a:endParaRPr lang="zh-CN" altLang="en-US" sz="1350"/>
          </a:p>
        </p:txBody>
      </p:sp>
      <p:sp>
        <p:nvSpPr>
          <p:cNvPr id="17" name="文本框 16"/>
          <p:cNvSpPr txBox="1"/>
          <p:nvPr/>
        </p:nvSpPr>
        <p:spPr>
          <a:xfrm>
            <a:off x="1748155" y="1033780"/>
            <a:ext cx="7924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1350"/>
              <a:t>sponser</a:t>
            </a:r>
            <a:endParaRPr lang="en-US" altLang="zh-CN" sz="1350"/>
          </a:p>
        </p:txBody>
      </p:sp>
      <p:sp>
        <p:nvSpPr>
          <p:cNvPr id="18" name="圆角矩形 17"/>
          <p:cNvSpPr/>
          <p:nvPr/>
        </p:nvSpPr>
        <p:spPr>
          <a:xfrm>
            <a:off x="4359275" y="1058545"/>
            <a:ext cx="991235" cy="24955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50"/>
              <a:t>马兰</a:t>
            </a:r>
            <a:r>
              <a:rPr lang="zh-CN" altLang="en-US" sz="1350"/>
              <a:t>军</a:t>
            </a:r>
            <a:endParaRPr lang="zh-CN" altLang="en-US" sz="1350"/>
          </a:p>
        </p:txBody>
      </p:sp>
      <p:sp>
        <p:nvSpPr>
          <p:cNvPr id="19" name="圆角矩形 18"/>
          <p:cNvSpPr/>
          <p:nvPr/>
        </p:nvSpPr>
        <p:spPr>
          <a:xfrm>
            <a:off x="5662295" y="1058545"/>
            <a:ext cx="991235" cy="24955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350"/>
              <a:t>赵冬</a:t>
            </a:r>
            <a:r>
              <a:rPr lang="zh-CN" altLang="en-US" sz="1350"/>
              <a:t>生</a:t>
            </a:r>
            <a:endParaRPr lang="zh-CN" altLang="en-US" sz="1350"/>
          </a:p>
        </p:txBody>
      </p:sp>
      <p:sp>
        <p:nvSpPr>
          <p:cNvPr id="23" name="圆角矩形 22"/>
          <p:cNvSpPr/>
          <p:nvPr/>
        </p:nvSpPr>
        <p:spPr>
          <a:xfrm>
            <a:off x="4359275" y="1631315"/>
            <a:ext cx="991235" cy="24955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PM:</a:t>
            </a:r>
            <a:r>
              <a:rPr lang="zh-CN" altLang="en-US" sz="1200"/>
              <a:t>陈肖霜</a:t>
            </a:r>
            <a:endParaRPr lang="zh-CN" altLang="en-US" sz="1200"/>
          </a:p>
        </p:txBody>
      </p:sp>
      <p:cxnSp>
        <p:nvCxnSpPr>
          <p:cNvPr id="24" name="直接连接符 23"/>
          <p:cNvCxnSpPr>
            <a:endCxn id="23" idx="0"/>
          </p:cNvCxnSpPr>
          <p:nvPr/>
        </p:nvCxnSpPr>
        <p:spPr>
          <a:xfrm>
            <a:off x="4855210" y="1490345"/>
            <a:ext cx="0" cy="140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>
            <a:off x="1769745" y="2131060"/>
            <a:ext cx="2121535" cy="24955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业务</a:t>
            </a:r>
            <a:r>
              <a:rPr lang="zh-CN" altLang="en-US" sz="1200"/>
              <a:t>统筹：吴金龙</a:t>
            </a:r>
            <a:endParaRPr lang="zh-CN" altLang="en-US" sz="1200"/>
          </a:p>
        </p:txBody>
      </p:sp>
      <p:sp>
        <p:nvSpPr>
          <p:cNvPr id="26" name="圆角矩形 25"/>
          <p:cNvSpPr/>
          <p:nvPr/>
        </p:nvSpPr>
        <p:spPr>
          <a:xfrm>
            <a:off x="1464945" y="2804160"/>
            <a:ext cx="440055" cy="14344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计划</a:t>
            </a:r>
            <a:endParaRPr lang="zh-CN" altLang="en-US" sz="1200"/>
          </a:p>
          <a:p>
            <a:pPr algn="ctr"/>
            <a:r>
              <a:rPr lang="zh-CN" altLang="en-US" sz="1200"/>
              <a:t>丨</a:t>
            </a:r>
            <a:r>
              <a:rPr lang="en-US" altLang="zh-CN" sz="1200"/>
              <a:t> </a:t>
            </a:r>
            <a:endParaRPr lang="en-US" altLang="zh-CN" sz="1200"/>
          </a:p>
          <a:p>
            <a:pPr algn="ctr"/>
            <a:r>
              <a:rPr lang="zh-CN" altLang="en-US" sz="1200"/>
              <a:t>王纪</a:t>
            </a:r>
            <a:r>
              <a:rPr lang="zh-CN" altLang="en-US" sz="1200"/>
              <a:t>敏</a:t>
            </a:r>
            <a:endParaRPr lang="zh-CN" altLang="en-US" sz="1200"/>
          </a:p>
        </p:txBody>
      </p:sp>
      <p:sp>
        <p:nvSpPr>
          <p:cNvPr id="28" name="圆角矩形 27"/>
          <p:cNvSpPr/>
          <p:nvPr/>
        </p:nvSpPr>
        <p:spPr>
          <a:xfrm>
            <a:off x="1928495" y="2804160"/>
            <a:ext cx="440055" cy="14344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执</a:t>
            </a:r>
            <a:r>
              <a:rPr lang="zh-CN" altLang="en-US" sz="1200"/>
              <a:t>采丨</a:t>
            </a:r>
            <a:r>
              <a:rPr lang="en-US" altLang="zh-CN" sz="1200"/>
              <a:t> </a:t>
            </a:r>
            <a:endParaRPr lang="en-US" altLang="zh-CN" sz="1200"/>
          </a:p>
          <a:p>
            <a:pPr algn="ctr"/>
            <a:r>
              <a:rPr lang="zh-CN" altLang="en-US" sz="1200"/>
              <a:t>许镒</a:t>
            </a:r>
            <a:r>
              <a:rPr lang="zh-CN" altLang="en-US" sz="1200"/>
              <a:t>洪</a:t>
            </a:r>
            <a:endParaRPr lang="zh-CN" altLang="en-US" sz="1200"/>
          </a:p>
        </p:txBody>
      </p:sp>
      <p:sp>
        <p:nvSpPr>
          <p:cNvPr id="29" name="圆角矩形 28"/>
          <p:cNvSpPr/>
          <p:nvPr/>
        </p:nvSpPr>
        <p:spPr>
          <a:xfrm>
            <a:off x="2392045" y="2804160"/>
            <a:ext cx="440055" cy="14344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策</a:t>
            </a:r>
            <a:r>
              <a:rPr lang="zh-CN" altLang="en-US" sz="1200"/>
              <a:t>采丨</a:t>
            </a:r>
            <a:r>
              <a:rPr lang="en-US" altLang="zh-CN" sz="1200"/>
              <a:t> </a:t>
            </a:r>
            <a:endParaRPr lang="en-US" altLang="zh-CN" sz="1200"/>
          </a:p>
          <a:p>
            <a:pPr algn="ctr"/>
            <a:r>
              <a:rPr lang="zh-CN" altLang="en-US" sz="1200"/>
              <a:t>黄雯</a:t>
            </a:r>
            <a:r>
              <a:rPr lang="zh-CN" altLang="en-US" sz="1200"/>
              <a:t>雯</a:t>
            </a:r>
            <a:endParaRPr lang="zh-CN" altLang="en-US" sz="1200"/>
          </a:p>
        </p:txBody>
      </p:sp>
      <p:sp>
        <p:nvSpPr>
          <p:cNvPr id="30" name="圆角矩形 29"/>
          <p:cNvSpPr/>
          <p:nvPr/>
        </p:nvSpPr>
        <p:spPr>
          <a:xfrm>
            <a:off x="2855595" y="2804160"/>
            <a:ext cx="440055" cy="14344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制</a:t>
            </a:r>
            <a:r>
              <a:rPr lang="zh-CN" altLang="en-US" sz="1200"/>
              <a:t>造丨</a:t>
            </a:r>
            <a:r>
              <a:rPr lang="en-US" altLang="zh-CN" sz="1200"/>
              <a:t> </a:t>
            </a:r>
            <a:endParaRPr lang="en-US" altLang="zh-CN" sz="1200"/>
          </a:p>
          <a:p>
            <a:pPr algn="ctr"/>
            <a:r>
              <a:rPr lang="zh-CN" altLang="en-US" sz="1200"/>
              <a:t>任启</a:t>
            </a:r>
            <a:r>
              <a:rPr lang="zh-CN" altLang="en-US" sz="1200"/>
              <a:t>武</a:t>
            </a:r>
            <a:endParaRPr lang="zh-CN" altLang="en-US" sz="1200"/>
          </a:p>
        </p:txBody>
      </p:sp>
      <p:sp>
        <p:nvSpPr>
          <p:cNvPr id="31" name="圆角矩形 30"/>
          <p:cNvSpPr/>
          <p:nvPr/>
        </p:nvSpPr>
        <p:spPr>
          <a:xfrm>
            <a:off x="3319145" y="2804160"/>
            <a:ext cx="440055" cy="14344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物</a:t>
            </a:r>
            <a:r>
              <a:rPr lang="zh-CN" altLang="en-US" sz="1200"/>
              <a:t>流丨</a:t>
            </a:r>
            <a:r>
              <a:rPr lang="en-US" altLang="zh-CN" sz="1200"/>
              <a:t> </a:t>
            </a:r>
            <a:endParaRPr lang="en-US" altLang="zh-CN" sz="1200"/>
          </a:p>
          <a:p>
            <a:pPr algn="ctr"/>
            <a:r>
              <a:rPr lang="zh-CN" altLang="en-US" sz="1200"/>
              <a:t>郭亚</a:t>
            </a:r>
            <a:r>
              <a:rPr lang="zh-CN" altLang="en-US" sz="1200"/>
              <a:t>琳</a:t>
            </a:r>
            <a:endParaRPr lang="zh-CN" altLang="en-US" sz="1200"/>
          </a:p>
        </p:txBody>
      </p:sp>
      <p:sp>
        <p:nvSpPr>
          <p:cNvPr id="32" name="圆角矩形 31"/>
          <p:cNvSpPr/>
          <p:nvPr/>
        </p:nvSpPr>
        <p:spPr>
          <a:xfrm>
            <a:off x="3782695" y="2804160"/>
            <a:ext cx="440055" cy="14344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器</a:t>
            </a:r>
            <a:r>
              <a:rPr lang="zh-CN" altLang="en-US" sz="1200"/>
              <a:t>件丨</a:t>
            </a:r>
            <a:r>
              <a:rPr lang="en-US" altLang="zh-CN" sz="1200"/>
              <a:t> </a:t>
            </a:r>
            <a:endParaRPr lang="en-US" altLang="zh-CN" sz="1200"/>
          </a:p>
          <a:p>
            <a:pPr algn="ctr"/>
            <a:r>
              <a:rPr lang="zh-CN" altLang="en-US" sz="1200"/>
              <a:t>张铭</a:t>
            </a:r>
            <a:r>
              <a:rPr lang="zh-CN" altLang="en-US" sz="1200"/>
              <a:t>环</a:t>
            </a:r>
            <a:endParaRPr lang="zh-CN" altLang="en-US" sz="1200"/>
          </a:p>
        </p:txBody>
      </p:sp>
      <p:sp>
        <p:nvSpPr>
          <p:cNvPr id="33" name="圆角矩形 32"/>
          <p:cNvSpPr/>
          <p:nvPr/>
        </p:nvSpPr>
        <p:spPr>
          <a:xfrm>
            <a:off x="5471160" y="2131060"/>
            <a:ext cx="2121535" cy="24955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数据统筹：彭</a:t>
            </a:r>
            <a:r>
              <a:rPr lang="zh-CN" altLang="en-US" sz="1200"/>
              <a:t>峻</a:t>
            </a:r>
            <a:endParaRPr lang="zh-CN" altLang="en-US" sz="1200"/>
          </a:p>
        </p:txBody>
      </p:sp>
      <p:sp>
        <p:nvSpPr>
          <p:cNvPr id="34" name="圆角矩形 33"/>
          <p:cNvSpPr/>
          <p:nvPr/>
        </p:nvSpPr>
        <p:spPr>
          <a:xfrm>
            <a:off x="5630545" y="2804160"/>
            <a:ext cx="440055" cy="14344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开发</a:t>
            </a:r>
            <a:r>
              <a:rPr lang="zh-CN" altLang="en-US" sz="1200"/>
              <a:t>丨辛</a:t>
            </a:r>
            <a:r>
              <a:rPr lang="zh-CN" altLang="en-US" sz="1200"/>
              <a:t>岩</a:t>
            </a:r>
            <a:endParaRPr lang="zh-CN" altLang="en-US" sz="1200"/>
          </a:p>
        </p:txBody>
      </p:sp>
      <p:sp>
        <p:nvSpPr>
          <p:cNvPr id="35" name="圆角矩形 34"/>
          <p:cNvSpPr/>
          <p:nvPr/>
        </p:nvSpPr>
        <p:spPr>
          <a:xfrm>
            <a:off x="6094095" y="2804160"/>
            <a:ext cx="440055" cy="14344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开发</a:t>
            </a:r>
            <a:r>
              <a:rPr lang="zh-CN" altLang="en-US" sz="1200"/>
              <a:t>丨邓又</a:t>
            </a:r>
            <a:r>
              <a:rPr lang="zh-CN" altLang="en-US" sz="1200"/>
              <a:t>榕</a:t>
            </a:r>
            <a:endParaRPr lang="zh-CN" altLang="en-US" sz="1200"/>
          </a:p>
        </p:txBody>
      </p:sp>
      <p:sp>
        <p:nvSpPr>
          <p:cNvPr id="37" name="圆角矩形 36"/>
          <p:cNvSpPr/>
          <p:nvPr/>
        </p:nvSpPr>
        <p:spPr>
          <a:xfrm>
            <a:off x="6557645" y="2804160"/>
            <a:ext cx="440055" cy="14344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开发</a:t>
            </a:r>
            <a:r>
              <a:rPr lang="zh-CN" altLang="en-US" sz="1200"/>
              <a:t>丨黄祎</a:t>
            </a:r>
            <a:r>
              <a:rPr lang="zh-CN" altLang="en-US" sz="1200"/>
              <a:t>鸿</a:t>
            </a:r>
            <a:endParaRPr lang="zh-CN" altLang="en-US" sz="1200"/>
          </a:p>
        </p:txBody>
      </p:sp>
      <p:cxnSp>
        <p:nvCxnSpPr>
          <p:cNvPr id="38" name="肘形连接符 37"/>
          <p:cNvCxnSpPr>
            <a:stCxn id="33" idx="2"/>
            <a:endCxn id="34" idx="0"/>
          </p:cNvCxnSpPr>
          <p:nvPr/>
        </p:nvCxnSpPr>
        <p:spPr>
          <a:xfrm rot="5400000">
            <a:off x="5979795" y="2251710"/>
            <a:ext cx="423545" cy="681355"/>
          </a:xfrm>
          <a:prstGeom prst="bentConnector3">
            <a:avLst>
              <a:gd name="adj1" fmla="val 5007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33" idx="2"/>
            <a:endCxn id="35" idx="0"/>
          </p:cNvCxnSpPr>
          <p:nvPr/>
        </p:nvCxnSpPr>
        <p:spPr>
          <a:xfrm rot="5400000">
            <a:off x="6211570" y="2483485"/>
            <a:ext cx="423545" cy="217805"/>
          </a:xfrm>
          <a:prstGeom prst="bentConnector3">
            <a:avLst>
              <a:gd name="adj1" fmla="val 5007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39"/>
          <p:cNvCxnSpPr>
            <a:stCxn id="33" idx="2"/>
            <a:endCxn id="37" idx="0"/>
          </p:cNvCxnSpPr>
          <p:nvPr/>
        </p:nvCxnSpPr>
        <p:spPr>
          <a:xfrm rot="5400000" flipV="1">
            <a:off x="6443345" y="2469515"/>
            <a:ext cx="423545" cy="245745"/>
          </a:xfrm>
          <a:prstGeom prst="bentConnector3">
            <a:avLst>
              <a:gd name="adj1" fmla="val 5007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stCxn id="25" idx="2"/>
            <a:endCxn id="26" idx="0"/>
          </p:cNvCxnSpPr>
          <p:nvPr/>
        </p:nvCxnSpPr>
        <p:spPr>
          <a:xfrm rot="5400000">
            <a:off x="2046288" y="2019618"/>
            <a:ext cx="423545" cy="11455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25" idx="2"/>
            <a:endCxn id="28" idx="0"/>
          </p:cNvCxnSpPr>
          <p:nvPr/>
        </p:nvCxnSpPr>
        <p:spPr>
          <a:xfrm rot="5400000">
            <a:off x="2278063" y="2251393"/>
            <a:ext cx="423545" cy="68199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25" idx="2"/>
            <a:endCxn id="29" idx="0"/>
          </p:cNvCxnSpPr>
          <p:nvPr/>
        </p:nvCxnSpPr>
        <p:spPr>
          <a:xfrm rot="5400000">
            <a:off x="2509838" y="2483168"/>
            <a:ext cx="423545" cy="2184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stCxn id="25" idx="2"/>
            <a:endCxn id="30" idx="0"/>
          </p:cNvCxnSpPr>
          <p:nvPr/>
        </p:nvCxnSpPr>
        <p:spPr>
          <a:xfrm rot="5400000" flipV="1">
            <a:off x="2741613" y="2469833"/>
            <a:ext cx="423545" cy="2451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25" idx="2"/>
            <a:endCxn id="31" idx="0"/>
          </p:cNvCxnSpPr>
          <p:nvPr/>
        </p:nvCxnSpPr>
        <p:spPr>
          <a:xfrm rot="5400000" flipV="1">
            <a:off x="2973388" y="2238058"/>
            <a:ext cx="423545" cy="70866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25" idx="2"/>
            <a:endCxn id="32" idx="0"/>
          </p:cNvCxnSpPr>
          <p:nvPr/>
        </p:nvCxnSpPr>
        <p:spPr>
          <a:xfrm rot="5400000" flipV="1">
            <a:off x="3205163" y="2006283"/>
            <a:ext cx="423545" cy="11722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连接符 46"/>
          <p:cNvCxnSpPr>
            <a:stCxn id="23" idx="2"/>
            <a:endCxn id="25" idx="0"/>
          </p:cNvCxnSpPr>
          <p:nvPr/>
        </p:nvCxnSpPr>
        <p:spPr>
          <a:xfrm rot="5400000">
            <a:off x="3717925" y="993775"/>
            <a:ext cx="250190" cy="20243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23" idx="2"/>
            <a:endCxn id="33" idx="0"/>
          </p:cNvCxnSpPr>
          <p:nvPr/>
        </p:nvCxnSpPr>
        <p:spPr>
          <a:xfrm rot="5400000" flipV="1">
            <a:off x="5568315" y="1167130"/>
            <a:ext cx="250190" cy="1677035"/>
          </a:xfrm>
          <a:prstGeom prst="bentConnector3">
            <a:avLst>
              <a:gd name="adj1" fmla="val 498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48"/>
          <p:cNvSpPr/>
          <p:nvPr/>
        </p:nvSpPr>
        <p:spPr>
          <a:xfrm>
            <a:off x="7021195" y="2805430"/>
            <a:ext cx="440055" cy="143446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开发</a:t>
            </a:r>
            <a:r>
              <a:rPr lang="zh-CN" altLang="en-US" sz="1200"/>
              <a:t>丨</a:t>
            </a:r>
            <a:endParaRPr lang="zh-CN" altLang="en-US" sz="1200"/>
          </a:p>
          <a:p>
            <a:pPr algn="ctr"/>
            <a:r>
              <a:rPr lang="zh-CN" altLang="en-US" sz="1200"/>
              <a:t>唐佳</a:t>
            </a:r>
            <a:r>
              <a:rPr lang="zh-CN" altLang="en-US" sz="1200"/>
              <a:t>林</a:t>
            </a:r>
            <a:endParaRPr lang="zh-CN" altLang="en-US" sz="1200"/>
          </a:p>
        </p:txBody>
      </p:sp>
      <p:cxnSp>
        <p:nvCxnSpPr>
          <p:cNvPr id="50" name="肘形连接符 49"/>
          <p:cNvCxnSpPr>
            <a:stCxn id="33" idx="2"/>
            <a:endCxn id="49" idx="0"/>
          </p:cNvCxnSpPr>
          <p:nvPr/>
        </p:nvCxnSpPr>
        <p:spPr>
          <a:xfrm rot="5400000" flipV="1">
            <a:off x="6674485" y="2238375"/>
            <a:ext cx="424815" cy="709295"/>
          </a:xfrm>
          <a:prstGeom prst="bentConnector3">
            <a:avLst>
              <a:gd name="adj1" fmla="val 5007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占位符 35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5.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项目团队：协作</a:t>
            </a:r>
            <a:r>
              <a:rPr kumimoji="1" lang="zh-CN" altLang="en-US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方式</a:t>
            </a:r>
            <a:endParaRPr kumimoji="1" lang="zh-CN" altLang="en-US" sz="1600" spc="3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48815" y="1178560"/>
            <a:ext cx="19926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350"/>
              <a:t>1</a:t>
            </a:r>
            <a:r>
              <a:rPr lang="zh-CN" altLang="en-US" sz="1350"/>
              <a:t>、指标</a:t>
            </a:r>
            <a:r>
              <a:rPr lang="zh-CN" altLang="en-US" sz="1350"/>
              <a:t>清单、</a:t>
            </a:r>
            <a:r>
              <a:rPr lang="zh-CN" altLang="en-US" sz="1350"/>
              <a:t>口径共</a:t>
            </a:r>
            <a:r>
              <a:rPr lang="zh-CN" altLang="en-US" sz="1350"/>
              <a:t>识</a:t>
            </a:r>
            <a:endParaRPr lang="zh-CN" altLang="en-US" sz="1350"/>
          </a:p>
        </p:txBody>
      </p:sp>
      <p:sp>
        <p:nvSpPr>
          <p:cNvPr id="3" name="文本框 2"/>
          <p:cNvSpPr txBox="1"/>
          <p:nvPr/>
        </p:nvSpPr>
        <p:spPr>
          <a:xfrm>
            <a:off x="1948815" y="1567815"/>
            <a:ext cx="16497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350"/>
              <a:t>2</a:t>
            </a:r>
            <a:r>
              <a:rPr lang="zh-CN" altLang="en-US" sz="1350"/>
              <a:t>、角色、岗位</a:t>
            </a:r>
            <a:r>
              <a:rPr lang="zh-CN" altLang="en-US" sz="1350"/>
              <a:t>梳理</a:t>
            </a:r>
            <a:endParaRPr lang="zh-CN" altLang="en-US" sz="1350"/>
          </a:p>
        </p:txBody>
      </p:sp>
      <p:sp>
        <p:nvSpPr>
          <p:cNvPr id="4" name="文本框 3"/>
          <p:cNvSpPr txBox="1"/>
          <p:nvPr/>
        </p:nvSpPr>
        <p:spPr>
          <a:xfrm>
            <a:off x="1948815" y="1957070"/>
            <a:ext cx="13068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350"/>
              <a:t>3</a:t>
            </a:r>
            <a:r>
              <a:rPr lang="zh-CN" altLang="en-US" sz="1350"/>
              <a:t>、分解及互</a:t>
            </a:r>
            <a:r>
              <a:rPr lang="zh-CN" altLang="en-US" sz="1350"/>
              <a:t>锁</a:t>
            </a:r>
            <a:endParaRPr lang="zh-CN" altLang="en-US" sz="1350"/>
          </a:p>
        </p:txBody>
      </p:sp>
      <p:sp>
        <p:nvSpPr>
          <p:cNvPr id="5" name="文本框 4"/>
          <p:cNvSpPr txBox="1"/>
          <p:nvPr/>
        </p:nvSpPr>
        <p:spPr>
          <a:xfrm>
            <a:off x="1948815" y="2346325"/>
            <a:ext cx="503682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350"/>
              <a:t>4</a:t>
            </a:r>
            <a:r>
              <a:rPr lang="zh-CN" altLang="en-US" sz="1350"/>
              <a:t>、数据探查</a:t>
            </a:r>
            <a:r>
              <a:rPr lang="en-US" altLang="zh-CN" sz="1350"/>
              <a:t>+</a:t>
            </a:r>
            <a:r>
              <a:rPr lang="zh-CN" altLang="en-US" sz="1350"/>
              <a:t>数据需求整理</a:t>
            </a:r>
            <a:r>
              <a:rPr lang="en-US" altLang="zh-CN" sz="1350"/>
              <a:t>+</a:t>
            </a:r>
            <a:r>
              <a:rPr lang="zh-CN" altLang="en-US" sz="1350"/>
              <a:t>工作量评估</a:t>
            </a:r>
            <a:r>
              <a:rPr lang="en-US" altLang="zh-CN" sz="1350"/>
              <a:t>+</a:t>
            </a:r>
            <a:r>
              <a:rPr lang="zh-CN" altLang="en-US" sz="1350"/>
              <a:t>资源规划（开发</a:t>
            </a:r>
            <a:r>
              <a:rPr lang="zh-CN" altLang="en-US" sz="1350"/>
              <a:t>资源）</a:t>
            </a:r>
            <a:endParaRPr lang="zh-CN" altLang="en-US" sz="1350"/>
          </a:p>
        </p:txBody>
      </p:sp>
      <p:sp>
        <p:nvSpPr>
          <p:cNvPr id="6" name="文本框 5"/>
          <p:cNvSpPr txBox="1"/>
          <p:nvPr/>
        </p:nvSpPr>
        <p:spPr>
          <a:xfrm>
            <a:off x="1948815" y="2735580"/>
            <a:ext cx="14782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350"/>
              <a:t>5</a:t>
            </a:r>
            <a:r>
              <a:rPr lang="zh-CN" altLang="en-US" sz="1350"/>
              <a:t>、数据底座</a:t>
            </a:r>
            <a:r>
              <a:rPr lang="zh-CN" altLang="en-US" sz="1350"/>
              <a:t>规划</a:t>
            </a:r>
            <a:endParaRPr lang="zh-CN" altLang="en-US" sz="1350"/>
          </a:p>
        </p:txBody>
      </p:sp>
      <p:sp>
        <p:nvSpPr>
          <p:cNvPr id="7" name="文本框 6"/>
          <p:cNvSpPr txBox="1"/>
          <p:nvPr/>
        </p:nvSpPr>
        <p:spPr>
          <a:xfrm>
            <a:off x="1948815" y="3124835"/>
            <a:ext cx="54216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350"/>
              <a:t>6</a:t>
            </a:r>
            <a:r>
              <a:rPr lang="zh-CN" altLang="en-US" sz="1350"/>
              <a:t>、目标管理方案设计：</a:t>
            </a:r>
            <a:r>
              <a:rPr lang="zh-CN" altLang="en-US" sz="1350"/>
              <a:t>支持不同的管理层级及时间维度灵活配置</a:t>
            </a:r>
            <a:r>
              <a:rPr lang="zh-CN" altLang="en-US" sz="1350"/>
              <a:t>目标</a:t>
            </a:r>
            <a:endParaRPr lang="zh-CN" altLang="en-US" sz="1350"/>
          </a:p>
        </p:txBody>
      </p:sp>
      <p:sp>
        <p:nvSpPr>
          <p:cNvPr id="8" name="文本框 7"/>
          <p:cNvSpPr txBox="1"/>
          <p:nvPr/>
        </p:nvSpPr>
        <p:spPr>
          <a:xfrm>
            <a:off x="1948815" y="3514090"/>
            <a:ext cx="54216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350"/>
              <a:t>7</a:t>
            </a:r>
            <a:r>
              <a:rPr lang="zh-CN" altLang="en-US" sz="1350"/>
              <a:t>、指标展示方案设计：看数逻辑、看数范围、展示形式（统一视</a:t>
            </a:r>
            <a:r>
              <a:rPr lang="zh-CN" altLang="en-US" sz="1350"/>
              <a:t>图）</a:t>
            </a:r>
            <a:endParaRPr lang="zh-CN" altLang="en-US" sz="1350"/>
          </a:p>
        </p:txBody>
      </p:sp>
      <p:sp>
        <p:nvSpPr>
          <p:cNvPr id="9" name="文本框 8"/>
          <p:cNvSpPr txBox="1"/>
          <p:nvPr/>
        </p:nvSpPr>
        <p:spPr>
          <a:xfrm>
            <a:off x="1948815" y="3903345"/>
            <a:ext cx="3726815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350"/>
              <a:t>8</a:t>
            </a:r>
            <a:r>
              <a:rPr lang="zh-CN" altLang="en-US" sz="1350"/>
              <a:t>、指标开发：数据开发</a:t>
            </a:r>
            <a:r>
              <a:rPr lang="en-US" altLang="zh-CN" sz="1350"/>
              <a:t>+</a:t>
            </a:r>
            <a:r>
              <a:rPr lang="zh-CN" altLang="en-US" sz="1350"/>
              <a:t>目标管理开发</a:t>
            </a:r>
            <a:r>
              <a:rPr lang="en-US" altLang="zh-CN" sz="1350"/>
              <a:t>+BI</a:t>
            </a:r>
            <a:r>
              <a:rPr lang="zh-CN" altLang="en-US" sz="1350"/>
              <a:t>开</a:t>
            </a:r>
            <a:r>
              <a:rPr lang="zh-CN" altLang="en-US" sz="1350"/>
              <a:t>发</a:t>
            </a:r>
            <a:endParaRPr lang="zh-CN" altLang="en-US" sz="1350"/>
          </a:p>
        </p:txBody>
      </p:sp>
      <p:sp>
        <p:nvSpPr>
          <p:cNvPr id="10" name="左中括号 9"/>
          <p:cNvSpPr/>
          <p:nvPr/>
        </p:nvSpPr>
        <p:spPr>
          <a:xfrm>
            <a:off x="1687830" y="1315403"/>
            <a:ext cx="161925" cy="276098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1" name="文本框 10"/>
          <p:cNvSpPr txBox="1"/>
          <p:nvPr/>
        </p:nvSpPr>
        <p:spPr>
          <a:xfrm>
            <a:off x="1148715" y="2546350"/>
            <a:ext cx="440055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350" b="1"/>
              <a:t>PM</a:t>
            </a:r>
            <a:endParaRPr lang="en-US" sz="1350" b="1"/>
          </a:p>
        </p:txBody>
      </p:sp>
      <p:sp>
        <p:nvSpPr>
          <p:cNvPr id="12" name="文本框 11"/>
          <p:cNvSpPr txBox="1"/>
          <p:nvPr/>
        </p:nvSpPr>
        <p:spPr>
          <a:xfrm>
            <a:off x="340995" y="2546350"/>
            <a:ext cx="573405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350" b="1"/>
              <a:t>PMO</a:t>
            </a:r>
            <a:endParaRPr lang="en-US" sz="1350" b="1"/>
          </a:p>
        </p:txBody>
      </p:sp>
      <p:sp>
        <p:nvSpPr>
          <p:cNvPr id="13" name="左中括号 12"/>
          <p:cNvSpPr/>
          <p:nvPr/>
        </p:nvSpPr>
        <p:spPr>
          <a:xfrm>
            <a:off x="998855" y="2414905"/>
            <a:ext cx="149860" cy="5619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 b="1"/>
          </a:p>
        </p:txBody>
      </p:sp>
      <p:sp>
        <p:nvSpPr>
          <p:cNvPr id="14" name="文本框 13"/>
          <p:cNvSpPr txBox="1"/>
          <p:nvPr/>
        </p:nvSpPr>
        <p:spPr>
          <a:xfrm>
            <a:off x="4570730" y="1565910"/>
            <a:ext cx="52705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350" b="1"/>
              <a:t>业务</a:t>
            </a:r>
            <a:endParaRPr lang="zh-CN" altLang="en-US" sz="1350" b="1"/>
          </a:p>
        </p:txBody>
      </p:sp>
      <p:sp>
        <p:nvSpPr>
          <p:cNvPr id="15" name="文本框 14"/>
          <p:cNvSpPr txBox="1"/>
          <p:nvPr/>
        </p:nvSpPr>
        <p:spPr>
          <a:xfrm>
            <a:off x="7668260" y="3125470"/>
            <a:ext cx="995045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350" b="1"/>
              <a:t>数据</a:t>
            </a:r>
            <a:r>
              <a:rPr lang="en-US" altLang="zh-CN" sz="1350" b="1"/>
              <a:t>&amp;</a:t>
            </a:r>
            <a:r>
              <a:rPr lang="zh-CN" altLang="en-US" sz="1350" b="1"/>
              <a:t>业务</a:t>
            </a:r>
            <a:endParaRPr lang="zh-CN" altLang="en-US" sz="1350" b="1"/>
          </a:p>
        </p:txBody>
      </p:sp>
      <p:sp>
        <p:nvSpPr>
          <p:cNvPr id="20" name="右中括号 19"/>
          <p:cNvSpPr/>
          <p:nvPr/>
        </p:nvSpPr>
        <p:spPr>
          <a:xfrm>
            <a:off x="4346575" y="1315720"/>
            <a:ext cx="112395" cy="799465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21" name="右中括号 20"/>
          <p:cNvSpPr/>
          <p:nvPr/>
        </p:nvSpPr>
        <p:spPr>
          <a:xfrm>
            <a:off x="7469505" y="2473325"/>
            <a:ext cx="99695" cy="1602740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占位符 35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kumimoji="1" lang="en-US" altLang="zh-CN" sz="1600" spc="3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6.roadmap</a:t>
            </a:r>
            <a:endParaRPr kumimoji="1" lang="en-US" altLang="zh-CN" sz="1600" spc="300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16" name="五边形 15"/>
          <p:cNvSpPr/>
          <p:nvPr/>
        </p:nvSpPr>
        <p:spPr>
          <a:xfrm>
            <a:off x="428625" y="2313305"/>
            <a:ext cx="2035175" cy="23749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一阶段：</a:t>
            </a:r>
            <a:r>
              <a:rPr lang="en-US" altLang="zh-CN" sz="1000"/>
              <a:t>2023</a:t>
            </a:r>
            <a:r>
              <a:rPr lang="zh-CN" altLang="en-US" sz="1000"/>
              <a:t>年</a:t>
            </a:r>
            <a:r>
              <a:rPr lang="en-US" altLang="zh-CN" sz="1000"/>
              <a:t>12</a:t>
            </a:r>
            <a:endParaRPr lang="en-US" altLang="zh-CN" sz="1000"/>
          </a:p>
        </p:txBody>
      </p:sp>
      <p:sp>
        <p:nvSpPr>
          <p:cNvPr id="17" name="燕尾形 16"/>
          <p:cNvSpPr/>
          <p:nvPr/>
        </p:nvSpPr>
        <p:spPr>
          <a:xfrm>
            <a:off x="2410460" y="2313305"/>
            <a:ext cx="2147570" cy="23749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二阶段：</a:t>
            </a:r>
            <a:r>
              <a:rPr lang="en-US" altLang="zh-CN" sz="1000"/>
              <a:t>2024</a:t>
            </a:r>
            <a:r>
              <a:rPr lang="zh-CN" altLang="en-US" sz="1000"/>
              <a:t>年</a:t>
            </a:r>
            <a:r>
              <a:rPr lang="en-US" altLang="zh-CN" sz="1000"/>
              <a:t>1</a:t>
            </a:r>
            <a:r>
              <a:rPr lang="zh-CN" altLang="en-US" sz="1000"/>
              <a:t>月份</a:t>
            </a:r>
            <a:endParaRPr lang="zh-CN" altLang="en-US" sz="1000"/>
          </a:p>
        </p:txBody>
      </p:sp>
      <p:sp>
        <p:nvSpPr>
          <p:cNvPr id="18" name="燕尾形 17"/>
          <p:cNvSpPr/>
          <p:nvPr/>
        </p:nvSpPr>
        <p:spPr>
          <a:xfrm>
            <a:off x="4502150" y="2313305"/>
            <a:ext cx="2147570" cy="23685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三阶段：</a:t>
            </a:r>
            <a:r>
              <a:rPr lang="en-US" altLang="zh-CN" sz="1000"/>
              <a:t>2024</a:t>
            </a:r>
            <a:r>
              <a:rPr lang="zh-CN" altLang="en-US" sz="1000"/>
              <a:t>年</a:t>
            </a:r>
            <a:r>
              <a:rPr lang="en-US" altLang="zh-CN" sz="1000"/>
              <a:t>2</a:t>
            </a:r>
            <a:r>
              <a:rPr lang="zh-CN" altLang="en-US" sz="1000"/>
              <a:t>月～</a:t>
            </a:r>
            <a:r>
              <a:rPr lang="en-US" altLang="zh-CN" sz="1000"/>
              <a:t>3</a:t>
            </a:r>
            <a:r>
              <a:rPr lang="zh-CN" altLang="en-US" sz="1000"/>
              <a:t>月份</a:t>
            </a:r>
            <a:endParaRPr lang="zh-CN" altLang="en-US" sz="1000"/>
          </a:p>
        </p:txBody>
      </p:sp>
      <p:sp>
        <p:nvSpPr>
          <p:cNvPr id="19" name="文本框 18"/>
          <p:cNvSpPr txBox="1"/>
          <p:nvPr/>
        </p:nvSpPr>
        <p:spPr>
          <a:xfrm>
            <a:off x="504190" y="2632075"/>
            <a:ext cx="188341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350"/>
              <a:t>交付线</a:t>
            </a:r>
            <a:r>
              <a:rPr lang="en-US" altLang="zh-CN" sz="1350"/>
              <a:t>L1+L2</a:t>
            </a:r>
            <a:r>
              <a:rPr lang="zh-CN" altLang="en-US" sz="1350"/>
              <a:t>（</a:t>
            </a:r>
            <a:r>
              <a:rPr lang="en-US" altLang="zh-CN" sz="1350"/>
              <a:t>17</a:t>
            </a:r>
            <a:r>
              <a:rPr lang="zh-CN" altLang="en-US" sz="1350"/>
              <a:t>个）</a:t>
            </a:r>
            <a:endParaRPr lang="zh-CN" altLang="en-US" sz="1350"/>
          </a:p>
        </p:txBody>
      </p:sp>
      <p:sp>
        <p:nvSpPr>
          <p:cNvPr id="22" name="文本框 21"/>
          <p:cNvSpPr txBox="1"/>
          <p:nvPr/>
        </p:nvSpPr>
        <p:spPr>
          <a:xfrm>
            <a:off x="2466340" y="2632075"/>
            <a:ext cx="203581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350"/>
              <a:t>制造线</a:t>
            </a:r>
            <a:r>
              <a:rPr lang="en-US" altLang="zh-CN" sz="1350"/>
              <a:t>+</a:t>
            </a:r>
            <a:r>
              <a:rPr lang="zh-CN" altLang="en-US" sz="1350"/>
              <a:t>资源线</a:t>
            </a:r>
            <a:r>
              <a:rPr lang="en-US" altLang="zh-CN" sz="1350"/>
              <a:t>L1</a:t>
            </a:r>
            <a:r>
              <a:rPr lang="zh-CN" altLang="en-US" sz="1350"/>
              <a:t>：</a:t>
            </a:r>
            <a:r>
              <a:rPr lang="en-US" altLang="zh-CN" sz="1350"/>
              <a:t>14</a:t>
            </a:r>
            <a:r>
              <a:rPr lang="zh-CN" altLang="en-US" sz="1350"/>
              <a:t>个</a:t>
            </a:r>
            <a:endParaRPr lang="zh-CN" altLang="en-US" sz="1350"/>
          </a:p>
        </p:txBody>
      </p:sp>
      <p:sp>
        <p:nvSpPr>
          <p:cNvPr id="23" name="文本框 22"/>
          <p:cNvSpPr txBox="1"/>
          <p:nvPr/>
        </p:nvSpPr>
        <p:spPr>
          <a:xfrm>
            <a:off x="4939665" y="2632075"/>
            <a:ext cx="150241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350"/>
              <a:t>制造线</a:t>
            </a:r>
            <a:r>
              <a:rPr lang="en-US" altLang="zh-CN" sz="1350"/>
              <a:t>+</a:t>
            </a:r>
            <a:r>
              <a:rPr lang="zh-CN" altLang="en-US" sz="1350"/>
              <a:t>资源线</a:t>
            </a:r>
            <a:r>
              <a:rPr lang="en-US" altLang="zh-CN" sz="1350"/>
              <a:t>L2</a:t>
            </a:r>
            <a:endParaRPr lang="en-US" altLang="zh-CN" sz="1350"/>
          </a:p>
        </p:txBody>
      </p:sp>
      <p:sp>
        <p:nvSpPr>
          <p:cNvPr id="24" name="燕尾形 23"/>
          <p:cNvSpPr/>
          <p:nvPr/>
        </p:nvSpPr>
        <p:spPr>
          <a:xfrm>
            <a:off x="6595110" y="2313305"/>
            <a:ext cx="2147570" cy="23685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四阶段：</a:t>
            </a:r>
            <a:r>
              <a:rPr lang="en-US" altLang="zh-CN" sz="1000"/>
              <a:t>2024</a:t>
            </a:r>
            <a:r>
              <a:rPr lang="zh-CN" altLang="en-US" sz="1000"/>
              <a:t>年</a:t>
            </a:r>
            <a:r>
              <a:rPr lang="en-US" altLang="zh-CN" sz="1000"/>
              <a:t>4</a:t>
            </a:r>
            <a:r>
              <a:rPr lang="zh-CN" altLang="en-US" sz="1000"/>
              <a:t>月份</a:t>
            </a:r>
            <a:r>
              <a:rPr lang="en-US" altLang="zh-CN" sz="1000"/>
              <a:t>-5</a:t>
            </a:r>
            <a:r>
              <a:rPr lang="zh-CN" altLang="en-US" sz="1000"/>
              <a:t>月份</a:t>
            </a:r>
            <a:endParaRPr lang="zh-CN" altLang="en-US" sz="1000"/>
          </a:p>
        </p:txBody>
      </p:sp>
      <p:sp>
        <p:nvSpPr>
          <p:cNvPr id="25" name="文本框 24"/>
          <p:cNvSpPr txBox="1"/>
          <p:nvPr/>
        </p:nvSpPr>
        <p:spPr>
          <a:xfrm>
            <a:off x="7372985" y="2632075"/>
            <a:ext cx="592455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1350"/>
              <a:t>all </a:t>
            </a:r>
            <a:r>
              <a:rPr lang="en-US" altLang="zh-CN" sz="1350"/>
              <a:t>L3</a:t>
            </a:r>
            <a:endParaRPr lang="en-US" altLang="zh-CN" sz="1350"/>
          </a:p>
        </p:txBody>
      </p:sp>
      <p:sp>
        <p:nvSpPr>
          <p:cNvPr id="26" name="五边形 25"/>
          <p:cNvSpPr/>
          <p:nvPr/>
        </p:nvSpPr>
        <p:spPr>
          <a:xfrm>
            <a:off x="428625" y="1402080"/>
            <a:ext cx="2035175" cy="23749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/>
              <a:t>2023</a:t>
            </a:r>
            <a:r>
              <a:rPr lang="zh-CN" altLang="en-US" sz="1000"/>
              <a:t>年</a:t>
            </a:r>
            <a:r>
              <a:rPr lang="en-US" altLang="zh-CN" sz="1000"/>
              <a:t>12</a:t>
            </a:r>
            <a:r>
              <a:rPr lang="zh-CN" altLang="en-US" sz="1000"/>
              <a:t>月份</a:t>
            </a:r>
            <a:endParaRPr lang="zh-CN" altLang="en-US" sz="1000"/>
          </a:p>
        </p:txBody>
      </p:sp>
      <p:sp>
        <p:nvSpPr>
          <p:cNvPr id="28" name="文本框 27"/>
          <p:cNvSpPr txBox="1"/>
          <p:nvPr/>
        </p:nvSpPr>
        <p:spPr>
          <a:xfrm>
            <a:off x="428625" y="1102995"/>
            <a:ext cx="10401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350"/>
              <a:t>口径</a:t>
            </a:r>
            <a:r>
              <a:rPr lang="zh-CN" altLang="en-US" sz="1350"/>
              <a:t>梳理：</a:t>
            </a:r>
            <a:endParaRPr lang="zh-CN" altLang="en-US" sz="1350"/>
          </a:p>
        </p:txBody>
      </p:sp>
      <p:sp>
        <p:nvSpPr>
          <p:cNvPr id="29" name="文本框 28"/>
          <p:cNvSpPr txBox="1"/>
          <p:nvPr/>
        </p:nvSpPr>
        <p:spPr>
          <a:xfrm>
            <a:off x="428625" y="1997710"/>
            <a:ext cx="104013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350"/>
              <a:t>指标开</a:t>
            </a:r>
            <a:r>
              <a:rPr lang="zh-CN" altLang="en-US" sz="1350"/>
              <a:t>发：</a:t>
            </a:r>
            <a:endParaRPr lang="zh-CN" altLang="en-US" sz="1350"/>
          </a:p>
        </p:txBody>
      </p:sp>
      <p:cxnSp>
        <p:nvCxnSpPr>
          <p:cNvPr id="30" name="直接连接符 29"/>
          <p:cNvCxnSpPr>
            <a:stCxn id="19" idx="3"/>
          </p:cNvCxnSpPr>
          <p:nvPr/>
        </p:nvCxnSpPr>
        <p:spPr>
          <a:xfrm>
            <a:off x="2387600" y="2781935"/>
            <a:ext cx="0" cy="101981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1353185" y="3923665"/>
            <a:ext cx="2068830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1350"/>
              <a:t>交付线</a:t>
            </a:r>
            <a:r>
              <a:rPr lang="en-US" altLang="zh-CN" sz="1350"/>
              <a:t>L1-L2</a:t>
            </a:r>
            <a:r>
              <a:rPr lang="zh-CN" altLang="en-US" sz="1350"/>
              <a:t>看板上</a:t>
            </a:r>
            <a:r>
              <a:rPr lang="zh-CN" altLang="en-US" sz="1350"/>
              <a:t>线</a:t>
            </a:r>
            <a:endParaRPr lang="zh-CN" altLang="en-US" sz="1350"/>
          </a:p>
          <a:p>
            <a:pPr algn="ctr"/>
            <a:r>
              <a:rPr lang="zh-CN" altLang="en-US" sz="1350">
                <a:solidFill>
                  <a:srgbClr val="C00000"/>
                </a:solidFill>
              </a:rPr>
              <a:t>一个完整的全员指标样例</a:t>
            </a:r>
            <a:endParaRPr lang="zh-CN" altLang="en-US" sz="1350">
              <a:solidFill>
                <a:srgbClr val="C00000"/>
              </a:solidFill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4502150" y="2781935"/>
            <a:ext cx="0" cy="101981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458210" y="3923665"/>
            <a:ext cx="20878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350"/>
              <a:t>供应链平台</a:t>
            </a:r>
            <a:r>
              <a:rPr lang="en-US" altLang="zh-CN" sz="1350"/>
              <a:t>L1</a:t>
            </a:r>
            <a:r>
              <a:rPr lang="zh-CN" altLang="en-US" sz="1350"/>
              <a:t>驾驶仓上</a:t>
            </a:r>
            <a:r>
              <a:rPr lang="zh-CN" altLang="en-US" sz="1350"/>
              <a:t>线</a:t>
            </a:r>
            <a:endParaRPr lang="zh-CN" altLang="en-US" sz="1350"/>
          </a:p>
        </p:txBody>
      </p:sp>
      <p:cxnSp>
        <p:nvCxnSpPr>
          <p:cNvPr id="34" name="直接连接符 33"/>
          <p:cNvCxnSpPr/>
          <p:nvPr/>
        </p:nvCxnSpPr>
        <p:spPr>
          <a:xfrm>
            <a:off x="8742680" y="2781935"/>
            <a:ext cx="0" cy="101981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7589520" y="3923665"/>
            <a:ext cx="15544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350"/>
              <a:t>全员指标看板上</a:t>
            </a:r>
            <a:r>
              <a:rPr lang="zh-CN" altLang="en-US" sz="1350"/>
              <a:t>线</a:t>
            </a:r>
            <a:endParaRPr lang="zh-CN" altLang="en-US" sz="1350"/>
          </a:p>
        </p:txBody>
      </p:sp>
      <p:sp>
        <p:nvSpPr>
          <p:cNvPr id="37" name="文本框 36"/>
          <p:cNvSpPr txBox="1"/>
          <p:nvPr/>
        </p:nvSpPr>
        <p:spPr>
          <a:xfrm>
            <a:off x="5372100" y="1209675"/>
            <a:ext cx="243586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350"/>
              <a:t>制造线</a:t>
            </a:r>
            <a:r>
              <a:rPr lang="en-US" altLang="zh-CN" sz="1350"/>
              <a:t>+</a:t>
            </a:r>
            <a:r>
              <a:rPr lang="zh-CN" altLang="en-US" sz="1350"/>
              <a:t>资源线</a:t>
            </a:r>
            <a:r>
              <a:rPr lang="en-US" altLang="zh-CN" sz="1350"/>
              <a:t>L1-L2</a:t>
            </a:r>
            <a:r>
              <a:rPr lang="zh-CN" altLang="en-US" sz="1350"/>
              <a:t>看板上</a:t>
            </a:r>
            <a:r>
              <a:rPr lang="zh-CN" altLang="en-US" sz="1350"/>
              <a:t>线</a:t>
            </a:r>
            <a:endParaRPr lang="zh-CN" altLang="en-US" sz="1350"/>
          </a:p>
        </p:txBody>
      </p:sp>
      <p:cxnSp>
        <p:nvCxnSpPr>
          <p:cNvPr id="38" name="直接连接符 37"/>
          <p:cNvCxnSpPr/>
          <p:nvPr/>
        </p:nvCxnSpPr>
        <p:spPr>
          <a:xfrm>
            <a:off x="6590030" y="1590675"/>
            <a:ext cx="0" cy="640715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428625" y="4552315"/>
            <a:ext cx="373888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000"/>
              <a:t>注：二阶段之后时间计划将视指标数据完整情况调整，仅供参考</a:t>
            </a:r>
            <a:endParaRPr lang="zh-CN" alt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 5"/>
          <p:cNvSpPr/>
          <p:nvPr/>
        </p:nvSpPr>
        <p:spPr bwMode="auto">
          <a:xfrm>
            <a:off x="1331595" y="2595245"/>
            <a:ext cx="5328920" cy="556260"/>
          </a:xfrm>
          <a:custGeom>
            <a:avLst/>
            <a:gdLst>
              <a:gd name="T0" fmla="*/ 31 w 2262"/>
              <a:gd name="T1" fmla="*/ 0 h 459"/>
              <a:gd name="T2" fmla="*/ 0 w 2262"/>
              <a:gd name="T3" fmla="*/ 31 h 459"/>
              <a:gd name="T4" fmla="*/ 0 w 2262"/>
              <a:gd name="T5" fmla="*/ 428 h 459"/>
              <a:gd name="T6" fmla="*/ 31 w 2262"/>
              <a:gd name="T7" fmla="*/ 459 h 459"/>
              <a:gd name="T8" fmla="*/ 2262 w 2262"/>
              <a:gd name="T9" fmla="*/ 459 h 459"/>
              <a:gd name="T10" fmla="*/ 2262 w 2262"/>
              <a:gd name="T11" fmla="*/ 0 h 459"/>
              <a:gd name="T12" fmla="*/ 31 w 2262"/>
              <a:gd name="T13" fmla="*/ 0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62" h="459">
                <a:moveTo>
                  <a:pt x="31" y="0"/>
                </a:moveTo>
                <a:cubicBezTo>
                  <a:pt x="14" y="0"/>
                  <a:pt x="0" y="14"/>
                  <a:pt x="0" y="31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45"/>
                  <a:pt x="14" y="459"/>
                  <a:pt x="31" y="459"/>
                </a:cubicBezTo>
                <a:cubicBezTo>
                  <a:pt x="2262" y="459"/>
                  <a:pt x="2262" y="459"/>
                  <a:pt x="2262" y="459"/>
                </a:cubicBezTo>
                <a:cubicBezTo>
                  <a:pt x="2262" y="0"/>
                  <a:pt x="2262" y="0"/>
                  <a:pt x="2262" y="0"/>
                </a:cubicBezTo>
                <a:lnTo>
                  <a:pt x="31" y="0"/>
                </a:ln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sp>
        <p:nvSpPr>
          <p:cNvPr id="107" name="Freeform 8"/>
          <p:cNvSpPr/>
          <p:nvPr/>
        </p:nvSpPr>
        <p:spPr bwMode="auto">
          <a:xfrm>
            <a:off x="6660515" y="2595245"/>
            <a:ext cx="71120" cy="556260"/>
          </a:xfrm>
          <a:custGeom>
            <a:avLst/>
            <a:gdLst>
              <a:gd name="T0" fmla="*/ 30 w 61"/>
              <a:gd name="T1" fmla="*/ 0 h 459"/>
              <a:gd name="T2" fmla="*/ 0 w 61"/>
              <a:gd name="T3" fmla="*/ 0 h 459"/>
              <a:gd name="T4" fmla="*/ 0 w 61"/>
              <a:gd name="T5" fmla="*/ 459 h 459"/>
              <a:gd name="T6" fmla="*/ 30 w 61"/>
              <a:gd name="T7" fmla="*/ 459 h 459"/>
              <a:gd name="T8" fmla="*/ 61 w 61"/>
              <a:gd name="T9" fmla="*/ 428 h 459"/>
              <a:gd name="T10" fmla="*/ 61 w 61"/>
              <a:gd name="T11" fmla="*/ 31 h 459"/>
              <a:gd name="T12" fmla="*/ 30 w 61"/>
              <a:gd name="T13" fmla="*/ 0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" h="459">
                <a:moveTo>
                  <a:pt x="3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59"/>
                  <a:pt x="0" y="459"/>
                  <a:pt x="0" y="459"/>
                </a:cubicBezTo>
                <a:cubicBezTo>
                  <a:pt x="30" y="459"/>
                  <a:pt x="30" y="459"/>
                  <a:pt x="30" y="459"/>
                </a:cubicBezTo>
                <a:cubicBezTo>
                  <a:pt x="47" y="459"/>
                  <a:pt x="61" y="445"/>
                  <a:pt x="61" y="428"/>
                </a:cubicBezTo>
                <a:cubicBezTo>
                  <a:pt x="61" y="31"/>
                  <a:pt x="61" y="31"/>
                  <a:pt x="61" y="31"/>
                </a:cubicBezTo>
                <a:cubicBezTo>
                  <a:pt x="61" y="14"/>
                  <a:pt x="47" y="0"/>
                  <a:pt x="30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108" name="Freeform 6"/>
          <p:cNvSpPr/>
          <p:nvPr/>
        </p:nvSpPr>
        <p:spPr bwMode="auto">
          <a:xfrm>
            <a:off x="1537970" y="2539365"/>
            <a:ext cx="607060" cy="527050"/>
          </a:xfrm>
          <a:custGeom>
            <a:avLst/>
            <a:gdLst>
              <a:gd name="T0" fmla="*/ 351 w 384"/>
              <a:gd name="T1" fmla="*/ 0 h 420"/>
              <a:gd name="T2" fmla="*/ 33 w 384"/>
              <a:gd name="T3" fmla="*/ 0 h 420"/>
              <a:gd name="T4" fmla="*/ 0 w 384"/>
              <a:gd name="T5" fmla="*/ 0 h 420"/>
              <a:gd name="T6" fmla="*/ 33 w 384"/>
              <a:gd name="T7" fmla="*/ 33 h 420"/>
              <a:gd name="T8" fmla="*/ 33 w 384"/>
              <a:gd name="T9" fmla="*/ 400 h 420"/>
              <a:gd name="T10" fmla="*/ 53 w 384"/>
              <a:gd name="T11" fmla="*/ 420 h 420"/>
              <a:gd name="T12" fmla="*/ 364 w 384"/>
              <a:gd name="T13" fmla="*/ 420 h 420"/>
              <a:gd name="T14" fmla="*/ 384 w 384"/>
              <a:gd name="T15" fmla="*/ 400 h 420"/>
              <a:gd name="T16" fmla="*/ 384 w 384"/>
              <a:gd name="T17" fmla="*/ 33 h 420"/>
              <a:gd name="T18" fmla="*/ 351 w 384"/>
              <a:gd name="T19" fmla="*/ 0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4" h="420">
                <a:moveTo>
                  <a:pt x="351" y="0"/>
                </a:moveTo>
                <a:cubicBezTo>
                  <a:pt x="33" y="0"/>
                  <a:pt x="33" y="0"/>
                  <a:pt x="33" y="0"/>
                </a:cubicBezTo>
                <a:cubicBezTo>
                  <a:pt x="0" y="0"/>
                  <a:pt x="0" y="0"/>
                  <a:pt x="0" y="0"/>
                </a:cubicBezTo>
                <a:cubicBezTo>
                  <a:pt x="18" y="0"/>
                  <a:pt x="33" y="14"/>
                  <a:pt x="33" y="33"/>
                </a:cubicBezTo>
                <a:cubicBezTo>
                  <a:pt x="33" y="400"/>
                  <a:pt x="33" y="400"/>
                  <a:pt x="33" y="400"/>
                </a:cubicBezTo>
                <a:cubicBezTo>
                  <a:pt x="33" y="411"/>
                  <a:pt x="42" y="420"/>
                  <a:pt x="53" y="420"/>
                </a:cubicBezTo>
                <a:cubicBezTo>
                  <a:pt x="364" y="420"/>
                  <a:pt x="364" y="420"/>
                  <a:pt x="364" y="420"/>
                </a:cubicBezTo>
                <a:cubicBezTo>
                  <a:pt x="375" y="420"/>
                  <a:pt x="384" y="411"/>
                  <a:pt x="384" y="400"/>
                </a:cubicBezTo>
                <a:cubicBezTo>
                  <a:pt x="384" y="33"/>
                  <a:pt x="384" y="33"/>
                  <a:pt x="384" y="33"/>
                </a:cubicBezTo>
                <a:cubicBezTo>
                  <a:pt x="384" y="14"/>
                  <a:pt x="369" y="0"/>
                  <a:pt x="351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2400" b="1" dirty="0" smtClean="0">
                <a:solidFill>
                  <a:sysClr val="window" lastClr="FFFFFF"/>
                </a:solidFill>
                <a:sym typeface="+mn-ea"/>
              </a:rPr>
              <a:t>3</a:t>
            </a: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109" name="Freeform 7"/>
          <p:cNvSpPr/>
          <p:nvPr/>
        </p:nvSpPr>
        <p:spPr bwMode="auto">
          <a:xfrm>
            <a:off x="1485900" y="2539365"/>
            <a:ext cx="104775" cy="52705"/>
          </a:xfrm>
          <a:custGeom>
            <a:avLst/>
            <a:gdLst>
              <a:gd name="T0" fmla="*/ 33 w 66"/>
              <a:gd name="T1" fmla="*/ 0 h 33"/>
              <a:gd name="T2" fmla="*/ 0 w 66"/>
              <a:gd name="T3" fmla="*/ 33 h 33"/>
              <a:gd name="T4" fmla="*/ 66 w 66"/>
              <a:gd name="T5" fmla="*/ 33 h 33"/>
              <a:gd name="T6" fmla="*/ 33 w 66"/>
              <a:gd name="T7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" h="33">
                <a:moveTo>
                  <a:pt x="33" y="0"/>
                </a:moveTo>
                <a:cubicBezTo>
                  <a:pt x="14" y="0"/>
                  <a:pt x="0" y="14"/>
                  <a:pt x="0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4"/>
                  <a:pt x="51" y="0"/>
                  <a:pt x="33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273113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目录</a:t>
            </a:r>
            <a:endParaRPr lang="zh-CN" altLang="en-US" sz="2000" dirty="0"/>
          </a:p>
        </p:txBody>
      </p:sp>
      <p:sp>
        <p:nvSpPr>
          <p:cNvPr id="61" name="Freeform 5"/>
          <p:cNvSpPr/>
          <p:nvPr/>
        </p:nvSpPr>
        <p:spPr bwMode="auto">
          <a:xfrm>
            <a:off x="1331595" y="1016635"/>
            <a:ext cx="5328920" cy="556260"/>
          </a:xfrm>
          <a:custGeom>
            <a:avLst/>
            <a:gdLst>
              <a:gd name="T0" fmla="*/ 31 w 2262"/>
              <a:gd name="T1" fmla="*/ 0 h 459"/>
              <a:gd name="T2" fmla="*/ 0 w 2262"/>
              <a:gd name="T3" fmla="*/ 31 h 459"/>
              <a:gd name="T4" fmla="*/ 0 w 2262"/>
              <a:gd name="T5" fmla="*/ 428 h 459"/>
              <a:gd name="T6" fmla="*/ 31 w 2262"/>
              <a:gd name="T7" fmla="*/ 459 h 459"/>
              <a:gd name="T8" fmla="*/ 2262 w 2262"/>
              <a:gd name="T9" fmla="*/ 459 h 459"/>
              <a:gd name="T10" fmla="*/ 2262 w 2262"/>
              <a:gd name="T11" fmla="*/ 0 h 459"/>
              <a:gd name="T12" fmla="*/ 31 w 2262"/>
              <a:gd name="T13" fmla="*/ 0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62" h="459">
                <a:moveTo>
                  <a:pt x="31" y="0"/>
                </a:moveTo>
                <a:cubicBezTo>
                  <a:pt x="14" y="0"/>
                  <a:pt x="0" y="14"/>
                  <a:pt x="0" y="31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45"/>
                  <a:pt x="14" y="459"/>
                  <a:pt x="31" y="459"/>
                </a:cubicBezTo>
                <a:cubicBezTo>
                  <a:pt x="2262" y="459"/>
                  <a:pt x="2262" y="459"/>
                  <a:pt x="2262" y="459"/>
                </a:cubicBezTo>
                <a:cubicBezTo>
                  <a:pt x="2262" y="0"/>
                  <a:pt x="2262" y="0"/>
                  <a:pt x="2262" y="0"/>
                </a:cubicBezTo>
                <a:lnTo>
                  <a:pt x="31" y="0"/>
                </a:ln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2" name="Freeform 8"/>
          <p:cNvSpPr/>
          <p:nvPr/>
        </p:nvSpPr>
        <p:spPr bwMode="auto">
          <a:xfrm>
            <a:off x="6660515" y="1016635"/>
            <a:ext cx="71120" cy="556260"/>
          </a:xfrm>
          <a:custGeom>
            <a:avLst/>
            <a:gdLst>
              <a:gd name="T0" fmla="*/ 30 w 61"/>
              <a:gd name="T1" fmla="*/ 0 h 459"/>
              <a:gd name="T2" fmla="*/ 0 w 61"/>
              <a:gd name="T3" fmla="*/ 0 h 459"/>
              <a:gd name="T4" fmla="*/ 0 w 61"/>
              <a:gd name="T5" fmla="*/ 459 h 459"/>
              <a:gd name="T6" fmla="*/ 30 w 61"/>
              <a:gd name="T7" fmla="*/ 459 h 459"/>
              <a:gd name="T8" fmla="*/ 61 w 61"/>
              <a:gd name="T9" fmla="*/ 428 h 459"/>
              <a:gd name="T10" fmla="*/ 61 w 61"/>
              <a:gd name="T11" fmla="*/ 31 h 459"/>
              <a:gd name="T12" fmla="*/ 30 w 61"/>
              <a:gd name="T13" fmla="*/ 0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" h="459">
                <a:moveTo>
                  <a:pt x="3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59"/>
                  <a:pt x="0" y="459"/>
                  <a:pt x="0" y="459"/>
                </a:cubicBezTo>
                <a:cubicBezTo>
                  <a:pt x="30" y="459"/>
                  <a:pt x="30" y="459"/>
                  <a:pt x="30" y="459"/>
                </a:cubicBezTo>
                <a:cubicBezTo>
                  <a:pt x="47" y="459"/>
                  <a:pt x="61" y="445"/>
                  <a:pt x="61" y="428"/>
                </a:cubicBezTo>
                <a:cubicBezTo>
                  <a:pt x="61" y="31"/>
                  <a:pt x="61" y="31"/>
                  <a:pt x="61" y="31"/>
                </a:cubicBezTo>
                <a:cubicBezTo>
                  <a:pt x="61" y="14"/>
                  <a:pt x="47" y="0"/>
                  <a:pt x="30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66" name="Freeform 6"/>
          <p:cNvSpPr/>
          <p:nvPr/>
        </p:nvSpPr>
        <p:spPr bwMode="auto">
          <a:xfrm>
            <a:off x="1537970" y="960755"/>
            <a:ext cx="607060" cy="527050"/>
          </a:xfrm>
          <a:custGeom>
            <a:avLst/>
            <a:gdLst>
              <a:gd name="T0" fmla="*/ 351 w 384"/>
              <a:gd name="T1" fmla="*/ 0 h 420"/>
              <a:gd name="T2" fmla="*/ 33 w 384"/>
              <a:gd name="T3" fmla="*/ 0 h 420"/>
              <a:gd name="T4" fmla="*/ 0 w 384"/>
              <a:gd name="T5" fmla="*/ 0 h 420"/>
              <a:gd name="T6" fmla="*/ 33 w 384"/>
              <a:gd name="T7" fmla="*/ 33 h 420"/>
              <a:gd name="T8" fmla="*/ 33 w 384"/>
              <a:gd name="T9" fmla="*/ 400 h 420"/>
              <a:gd name="T10" fmla="*/ 53 w 384"/>
              <a:gd name="T11" fmla="*/ 420 h 420"/>
              <a:gd name="T12" fmla="*/ 364 w 384"/>
              <a:gd name="T13" fmla="*/ 420 h 420"/>
              <a:gd name="T14" fmla="*/ 384 w 384"/>
              <a:gd name="T15" fmla="*/ 400 h 420"/>
              <a:gd name="T16" fmla="*/ 384 w 384"/>
              <a:gd name="T17" fmla="*/ 33 h 420"/>
              <a:gd name="T18" fmla="*/ 351 w 384"/>
              <a:gd name="T19" fmla="*/ 0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4" h="420">
                <a:moveTo>
                  <a:pt x="351" y="0"/>
                </a:moveTo>
                <a:cubicBezTo>
                  <a:pt x="33" y="0"/>
                  <a:pt x="33" y="0"/>
                  <a:pt x="33" y="0"/>
                </a:cubicBezTo>
                <a:cubicBezTo>
                  <a:pt x="0" y="0"/>
                  <a:pt x="0" y="0"/>
                  <a:pt x="0" y="0"/>
                </a:cubicBezTo>
                <a:cubicBezTo>
                  <a:pt x="18" y="0"/>
                  <a:pt x="33" y="14"/>
                  <a:pt x="33" y="33"/>
                </a:cubicBezTo>
                <a:cubicBezTo>
                  <a:pt x="33" y="400"/>
                  <a:pt x="33" y="400"/>
                  <a:pt x="33" y="400"/>
                </a:cubicBezTo>
                <a:cubicBezTo>
                  <a:pt x="33" y="411"/>
                  <a:pt x="42" y="420"/>
                  <a:pt x="53" y="420"/>
                </a:cubicBezTo>
                <a:cubicBezTo>
                  <a:pt x="364" y="420"/>
                  <a:pt x="364" y="420"/>
                  <a:pt x="364" y="420"/>
                </a:cubicBezTo>
                <a:cubicBezTo>
                  <a:pt x="375" y="420"/>
                  <a:pt x="384" y="411"/>
                  <a:pt x="384" y="400"/>
                </a:cubicBezTo>
                <a:cubicBezTo>
                  <a:pt x="384" y="33"/>
                  <a:pt x="384" y="33"/>
                  <a:pt x="384" y="33"/>
                </a:cubicBezTo>
                <a:cubicBezTo>
                  <a:pt x="384" y="14"/>
                  <a:pt x="369" y="0"/>
                  <a:pt x="351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2400" b="1" dirty="0" smtClean="0">
                <a:solidFill>
                  <a:sysClr val="window" lastClr="FFFFFF"/>
                </a:solidFill>
                <a:sym typeface="+mn-ea"/>
              </a:rPr>
              <a:t>1</a:t>
            </a: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67" name="Freeform 7"/>
          <p:cNvSpPr/>
          <p:nvPr/>
        </p:nvSpPr>
        <p:spPr bwMode="auto">
          <a:xfrm>
            <a:off x="1485900" y="960755"/>
            <a:ext cx="104775" cy="52705"/>
          </a:xfrm>
          <a:custGeom>
            <a:avLst/>
            <a:gdLst>
              <a:gd name="T0" fmla="*/ 33 w 66"/>
              <a:gd name="T1" fmla="*/ 0 h 33"/>
              <a:gd name="T2" fmla="*/ 0 w 66"/>
              <a:gd name="T3" fmla="*/ 33 h 33"/>
              <a:gd name="T4" fmla="*/ 66 w 66"/>
              <a:gd name="T5" fmla="*/ 33 h 33"/>
              <a:gd name="T6" fmla="*/ 33 w 66"/>
              <a:gd name="T7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" h="33">
                <a:moveTo>
                  <a:pt x="33" y="0"/>
                </a:moveTo>
                <a:cubicBezTo>
                  <a:pt x="14" y="0"/>
                  <a:pt x="0" y="14"/>
                  <a:pt x="0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4"/>
                  <a:pt x="51" y="0"/>
                  <a:pt x="33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68" name="副标题 67"/>
          <p:cNvSpPr>
            <a:spLocks noGrp="1"/>
          </p:cNvSpPr>
          <p:nvPr>
            <p:ph type="subTitle" idx="1"/>
          </p:nvPr>
        </p:nvSpPr>
        <p:spPr>
          <a:xfrm>
            <a:off x="2268220" y="1040130"/>
            <a:ext cx="4382135" cy="527050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l" fontAlgn="base">
              <a:buClrTx/>
              <a:buSzTx/>
              <a:buNone/>
            </a:pP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案例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1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：供应链数字化运营（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2020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）</a:t>
            </a:r>
            <a:endParaRPr lang="zh-CN" altLang="en-US" sz="1400" b="1" dirty="0" smtClean="0">
              <a:solidFill>
                <a:schemeClr val="bg1">
                  <a:lumMod val="65000"/>
                </a:schemeClr>
              </a:solidFill>
              <a:sym typeface="+mn-ea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331595" y="1750060"/>
            <a:ext cx="5400000" cy="612000"/>
            <a:chOff x="1711" y="2522"/>
            <a:chExt cx="11552" cy="1444"/>
          </a:xfrm>
        </p:grpSpPr>
        <p:sp>
          <p:nvSpPr>
            <p:cNvPr id="70" name="Freeform 5"/>
            <p:cNvSpPr/>
            <p:nvPr/>
          </p:nvSpPr>
          <p:spPr bwMode="auto">
            <a:xfrm>
              <a:off x="1711" y="2654"/>
              <a:ext cx="11400" cy="1313"/>
            </a:xfrm>
            <a:custGeom>
              <a:avLst/>
              <a:gdLst>
                <a:gd name="T0" fmla="*/ 31 w 2262"/>
                <a:gd name="T1" fmla="*/ 0 h 459"/>
                <a:gd name="T2" fmla="*/ 0 w 2262"/>
                <a:gd name="T3" fmla="*/ 31 h 459"/>
                <a:gd name="T4" fmla="*/ 0 w 2262"/>
                <a:gd name="T5" fmla="*/ 428 h 459"/>
                <a:gd name="T6" fmla="*/ 31 w 2262"/>
                <a:gd name="T7" fmla="*/ 459 h 459"/>
                <a:gd name="T8" fmla="*/ 2262 w 2262"/>
                <a:gd name="T9" fmla="*/ 459 h 459"/>
                <a:gd name="T10" fmla="*/ 2262 w 2262"/>
                <a:gd name="T11" fmla="*/ 0 h 459"/>
                <a:gd name="T12" fmla="*/ 31 w 2262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62" h="459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28"/>
                    <a:pt x="0" y="428"/>
                    <a:pt x="0" y="428"/>
                  </a:cubicBezTo>
                  <a:cubicBezTo>
                    <a:pt x="0" y="445"/>
                    <a:pt x="14" y="459"/>
                    <a:pt x="31" y="459"/>
                  </a:cubicBezTo>
                  <a:cubicBezTo>
                    <a:pt x="2262" y="459"/>
                    <a:pt x="2262" y="459"/>
                    <a:pt x="2262" y="459"/>
                  </a:cubicBezTo>
                  <a:cubicBezTo>
                    <a:pt x="2262" y="0"/>
                    <a:pt x="2262" y="0"/>
                    <a:pt x="2262" y="0"/>
                  </a:cubicBezTo>
                  <a:lnTo>
                    <a:pt x="31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71" name="Freeform 8"/>
            <p:cNvSpPr/>
            <p:nvPr/>
          </p:nvSpPr>
          <p:spPr bwMode="auto">
            <a:xfrm>
              <a:off x="13111" y="2654"/>
              <a:ext cx="152" cy="1313"/>
            </a:xfrm>
            <a:custGeom>
              <a:avLst/>
              <a:gdLst>
                <a:gd name="T0" fmla="*/ 30 w 61"/>
                <a:gd name="T1" fmla="*/ 0 h 459"/>
                <a:gd name="T2" fmla="*/ 0 w 61"/>
                <a:gd name="T3" fmla="*/ 0 h 459"/>
                <a:gd name="T4" fmla="*/ 0 w 61"/>
                <a:gd name="T5" fmla="*/ 459 h 459"/>
                <a:gd name="T6" fmla="*/ 30 w 61"/>
                <a:gd name="T7" fmla="*/ 459 h 459"/>
                <a:gd name="T8" fmla="*/ 61 w 61"/>
                <a:gd name="T9" fmla="*/ 428 h 459"/>
                <a:gd name="T10" fmla="*/ 61 w 61"/>
                <a:gd name="T11" fmla="*/ 31 h 459"/>
                <a:gd name="T12" fmla="*/ 30 w 61"/>
                <a:gd name="T13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459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30" y="459"/>
                    <a:pt x="30" y="459"/>
                    <a:pt x="30" y="459"/>
                  </a:cubicBezTo>
                  <a:cubicBezTo>
                    <a:pt x="47" y="459"/>
                    <a:pt x="61" y="445"/>
                    <a:pt x="61" y="428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1" y="14"/>
                    <a:pt x="47" y="0"/>
                    <a:pt x="30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72" name="Freeform 6"/>
            <p:cNvSpPr/>
            <p:nvPr/>
          </p:nvSpPr>
          <p:spPr bwMode="auto">
            <a:xfrm>
              <a:off x="2152" y="2522"/>
              <a:ext cx="1298" cy="1243"/>
            </a:xfrm>
            <a:custGeom>
              <a:avLst/>
              <a:gdLst>
                <a:gd name="T0" fmla="*/ 351 w 384"/>
                <a:gd name="T1" fmla="*/ 0 h 420"/>
                <a:gd name="T2" fmla="*/ 33 w 384"/>
                <a:gd name="T3" fmla="*/ 0 h 420"/>
                <a:gd name="T4" fmla="*/ 0 w 384"/>
                <a:gd name="T5" fmla="*/ 0 h 420"/>
                <a:gd name="T6" fmla="*/ 33 w 384"/>
                <a:gd name="T7" fmla="*/ 33 h 420"/>
                <a:gd name="T8" fmla="*/ 33 w 384"/>
                <a:gd name="T9" fmla="*/ 400 h 420"/>
                <a:gd name="T10" fmla="*/ 53 w 384"/>
                <a:gd name="T11" fmla="*/ 420 h 420"/>
                <a:gd name="T12" fmla="*/ 364 w 384"/>
                <a:gd name="T13" fmla="*/ 420 h 420"/>
                <a:gd name="T14" fmla="*/ 384 w 384"/>
                <a:gd name="T15" fmla="*/ 400 h 420"/>
                <a:gd name="T16" fmla="*/ 384 w 384"/>
                <a:gd name="T17" fmla="*/ 33 h 420"/>
                <a:gd name="T18" fmla="*/ 351 w 384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4" h="420">
                  <a:moveTo>
                    <a:pt x="351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" y="0"/>
                    <a:pt x="33" y="14"/>
                    <a:pt x="33" y="33"/>
                  </a:cubicBezTo>
                  <a:cubicBezTo>
                    <a:pt x="33" y="400"/>
                    <a:pt x="33" y="400"/>
                    <a:pt x="33" y="400"/>
                  </a:cubicBezTo>
                  <a:cubicBezTo>
                    <a:pt x="33" y="411"/>
                    <a:pt x="42" y="420"/>
                    <a:pt x="53" y="420"/>
                  </a:cubicBezTo>
                  <a:cubicBezTo>
                    <a:pt x="364" y="420"/>
                    <a:pt x="364" y="420"/>
                    <a:pt x="364" y="420"/>
                  </a:cubicBezTo>
                  <a:cubicBezTo>
                    <a:pt x="375" y="420"/>
                    <a:pt x="384" y="411"/>
                    <a:pt x="384" y="400"/>
                  </a:cubicBezTo>
                  <a:cubicBezTo>
                    <a:pt x="384" y="33"/>
                    <a:pt x="384" y="33"/>
                    <a:pt x="384" y="33"/>
                  </a:cubicBezTo>
                  <a:cubicBezTo>
                    <a:pt x="384" y="14"/>
                    <a:pt x="369" y="0"/>
                    <a:pt x="351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r>
                <a:rPr lang="en-US" sz="2400" b="1" dirty="0" smtClean="0">
                  <a:solidFill>
                    <a:sysClr val="window" lastClr="FFFFFF"/>
                  </a:solidFill>
                </a:rPr>
                <a:t>2</a:t>
              </a:r>
              <a:endParaRPr lang="en-US" sz="2400" b="1" dirty="0">
                <a:solidFill>
                  <a:sysClr val="window" lastClr="FFFFFF"/>
                </a:solidFill>
              </a:endParaRPr>
            </a:p>
          </p:txBody>
        </p:sp>
        <p:sp>
          <p:nvSpPr>
            <p:cNvPr id="76" name="Freeform 7"/>
            <p:cNvSpPr/>
            <p:nvPr/>
          </p:nvSpPr>
          <p:spPr bwMode="auto">
            <a:xfrm>
              <a:off x="2041" y="2522"/>
              <a:ext cx="224" cy="125"/>
            </a:xfrm>
            <a:custGeom>
              <a:avLst/>
              <a:gdLst>
                <a:gd name="T0" fmla="*/ 33 w 66"/>
                <a:gd name="T1" fmla="*/ 0 h 33"/>
                <a:gd name="T2" fmla="*/ 0 w 66"/>
                <a:gd name="T3" fmla="*/ 33 h 33"/>
                <a:gd name="T4" fmla="*/ 66 w 66"/>
                <a:gd name="T5" fmla="*/ 33 h 33"/>
                <a:gd name="T6" fmla="*/ 33 w 66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33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14"/>
                    <a:pt x="51" y="0"/>
                    <a:pt x="33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p>
              <a:pPr algn="ctr"/>
              <a:endParaRPr lang="en-US" sz="2400" b="1">
                <a:solidFill>
                  <a:sysClr val="window" lastClr="FFFFFF"/>
                </a:solidFill>
              </a:endParaRPr>
            </a:p>
          </p:txBody>
        </p:sp>
      </p:grpSp>
      <p:sp>
        <p:nvSpPr>
          <p:cNvPr id="92" name="副标题 19"/>
          <p:cNvSpPr>
            <a:spLocks noGrp="1"/>
          </p:cNvSpPr>
          <p:nvPr/>
        </p:nvSpPr>
        <p:spPr>
          <a:xfrm>
            <a:off x="2268220" y="1838325"/>
            <a:ext cx="4382135" cy="499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案例</a:t>
            </a:r>
            <a:r>
              <a:rPr lang="en-US" altLang="zh-CN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：整机BG-指标体系管理（</a:t>
            </a:r>
            <a:r>
              <a:rPr lang="en-US" altLang="zh-CN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2023</a:t>
            </a: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1400" b="1" dirty="0" smtClean="0">
              <a:solidFill>
                <a:schemeClr val="bg1">
                  <a:lumMod val="6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0" name="Freeform 5"/>
          <p:cNvSpPr/>
          <p:nvPr/>
        </p:nvSpPr>
        <p:spPr bwMode="auto">
          <a:xfrm>
            <a:off x="1331595" y="3387725"/>
            <a:ext cx="5328920" cy="556260"/>
          </a:xfrm>
          <a:custGeom>
            <a:avLst/>
            <a:gdLst>
              <a:gd name="T0" fmla="*/ 31 w 2262"/>
              <a:gd name="T1" fmla="*/ 0 h 459"/>
              <a:gd name="T2" fmla="*/ 0 w 2262"/>
              <a:gd name="T3" fmla="*/ 31 h 459"/>
              <a:gd name="T4" fmla="*/ 0 w 2262"/>
              <a:gd name="T5" fmla="*/ 428 h 459"/>
              <a:gd name="T6" fmla="*/ 31 w 2262"/>
              <a:gd name="T7" fmla="*/ 459 h 459"/>
              <a:gd name="T8" fmla="*/ 2262 w 2262"/>
              <a:gd name="T9" fmla="*/ 459 h 459"/>
              <a:gd name="T10" fmla="*/ 2262 w 2262"/>
              <a:gd name="T11" fmla="*/ 0 h 459"/>
              <a:gd name="T12" fmla="*/ 31 w 2262"/>
              <a:gd name="T13" fmla="*/ 0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262" h="459">
                <a:moveTo>
                  <a:pt x="31" y="0"/>
                </a:moveTo>
                <a:cubicBezTo>
                  <a:pt x="14" y="0"/>
                  <a:pt x="0" y="14"/>
                  <a:pt x="0" y="31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45"/>
                  <a:pt x="14" y="459"/>
                  <a:pt x="31" y="459"/>
                </a:cubicBezTo>
                <a:cubicBezTo>
                  <a:pt x="2262" y="459"/>
                  <a:pt x="2262" y="459"/>
                  <a:pt x="2262" y="459"/>
                </a:cubicBezTo>
                <a:cubicBezTo>
                  <a:pt x="2262" y="0"/>
                  <a:pt x="2262" y="0"/>
                  <a:pt x="2262" y="0"/>
                </a:cubicBezTo>
                <a:lnTo>
                  <a:pt x="31" y="0"/>
                </a:ln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sp>
        <p:nvSpPr>
          <p:cNvPr id="101" name="Freeform 8"/>
          <p:cNvSpPr/>
          <p:nvPr/>
        </p:nvSpPr>
        <p:spPr bwMode="auto">
          <a:xfrm>
            <a:off x="6660515" y="3387725"/>
            <a:ext cx="71120" cy="556260"/>
          </a:xfrm>
          <a:custGeom>
            <a:avLst/>
            <a:gdLst>
              <a:gd name="T0" fmla="*/ 30 w 61"/>
              <a:gd name="T1" fmla="*/ 0 h 459"/>
              <a:gd name="T2" fmla="*/ 0 w 61"/>
              <a:gd name="T3" fmla="*/ 0 h 459"/>
              <a:gd name="T4" fmla="*/ 0 w 61"/>
              <a:gd name="T5" fmla="*/ 459 h 459"/>
              <a:gd name="T6" fmla="*/ 30 w 61"/>
              <a:gd name="T7" fmla="*/ 459 h 459"/>
              <a:gd name="T8" fmla="*/ 61 w 61"/>
              <a:gd name="T9" fmla="*/ 428 h 459"/>
              <a:gd name="T10" fmla="*/ 61 w 61"/>
              <a:gd name="T11" fmla="*/ 31 h 459"/>
              <a:gd name="T12" fmla="*/ 30 w 61"/>
              <a:gd name="T13" fmla="*/ 0 h 4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" h="459">
                <a:moveTo>
                  <a:pt x="3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459"/>
                  <a:pt x="0" y="459"/>
                  <a:pt x="0" y="459"/>
                </a:cubicBezTo>
                <a:cubicBezTo>
                  <a:pt x="30" y="459"/>
                  <a:pt x="30" y="459"/>
                  <a:pt x="30" y="459"/>
                </a:cubicBezTo>
                <a:cubicBezTo>
                  <a:pt x="47" y="459"/>
                  <a:pt x="61" y="445"/>
                  <a:pt x="61" y="428"/>
                </a:cubicBezTo>
                <a:cubicBezTo>
                  <a:pt x="61" y="31"/>
                  <a:pt x="61" y="31"/>
                  <a:pt x="61" y="31"/>
                </a:cubicBezTo>
                <a:cubicBezTo>
                  <a:pt x="61" y="14"/>
                  <a:pt x="47" y="0"/>
                  <a:pt x="3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102" name="Freeform 6"/>
          <p:cNvSpPr/>
          <p:nvPr/>
        </p:nvSpPr>
        <p:spPr bwMode="auto">
          <a:xfrm>
            <a:off x="1537970" y="3331845"/>
            <a:ext cx="607060" cy="527050"/>
          </a:xfrm>
          <a:custGeom>
            <a:avLst/>
            <a:gdLst>
              <a:gd name="T0" fmla="*/ 351 w 384"/>
              <a:gd name="T1" fmla="*/ 0 h 420"/>
              <a:gd name="T2" fmla="*/ 33 w 384"/>
              <a:gd name="T3" fmla="*/ 0 h 420"/>
              <a:gd name="T4" fmla="*/ 0 w 384"/>
              <a:gd name="T5" fmla="*/ 0 h 420"/>
              <a:gd name="T6" fmla="*/ 33 w 384"/>
              <a:gd name="T7" fmla="*/ 33 h 420"/>
              <a:gd name="T8" fmla="*/ 33 w 384"/>
              <a:gd name="T9" fmla="*/ 400 h 420"/>
              <a:gd name="T10" fmla="*/ 53 w 384"/>
              <a:gd name="T11" fmla="*/ 420 h 420"/>
              <a:gd name="T12" fmla="*/ 364 w 384"/>
              <a:gd name="T13" fmla="*/ 420 h 420"/>
              <a:gd name="T14" fmla="*/ 384 w 384"/>
              <a:gd name="T15" fmla="*/ 400 h 420"/>
              <a:gd name="T16" fmla="*/ 384 w 384"/>
              <a:gd name="T17" fmla="*/ 33 h 420"/>
              <a:gd name="T18" fmla="*/ 351 w 384"/>
              <a:gd name="T19" fmla="*/ 0 h 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84" h="420">
                <a:moveTo>
                  <a:pt x="351" y="0"/>
                </a:moveTo>
                <a:cubicBezTo>
                  <a:pt x="33" y="0"/>
                  <a:pt x="33" y="0"/>
                  <a:pt x="33" y="0"/>
                </a:cubicBezTo>
                <a:cubicBezTo>
                  <a:pt x="0" y="0"/>
                  <a:pt x="0" y="0"/>
                  <a:pt x="0" y="0"/>
                </a:cubicBezTo>
                <a:cubicBezTo>
                  <a:pt x="18" y="0"/>
                  <a:pt x="33" y="14"/>
                  <a:pt x="33" y="33"/>
                </a:cubicBezTo>
                <a:cubicBezTo>
                  <a:pt x="33" y="400"/>
                  <a:pt x="33" y="400"/>
                  <a:pt x="33" y="400"/>
                </a:cubicBezTo>
                <a:cubicBezTo>
                  <a:pt x="33" y="411"/>
                  <a:pt x="42" y="420"/>
                  <a:pt x="53" y="420"/>
                </a:cubicBezTo>
                <a:cubicBezTo>
                  <a:pt x="364" y="420"/>
                  <a:pt x="364" y="420"/>
                  <a:pt x="364" y="420"/>
                </a:cubicBezTo>
                <a:cubicBezTo>
                  <a:pt x="375" y="420"/>
                  <a:pt x="384" y="411"/>
                  <a:pt x="384" y="400"/>
                </a:cubicBezTo>
                <a:cubicBezTo>
                  <a:pt x="384" y="33"/>
                  <a:pt x="384" y="33"/>
                  <a:pt x="384" y="33"/>
                </a:cubicBezTo>
                <a:cubicBezTo>
                  <a:pt x="384" y="14"/>
                  <a:pt x="369" y="0"/>
                  <a:pt x="3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sz="2400" b="1" dirty="0" smtClean="0">
                <a:solidFill>
                  <a:sysClr val="window" lastClr="FFFFFF"/>
                </a:solidFill>
                <a:sym typeface="+mn-ea"/>
              </a:rPr>
              <a:t>4</a:t>
            </a: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103" name="Freeform 7"/>
          <p:cNvSpPr/>
          <p:nvPr/>
        </p:nvSpPr>
        <p:spPr bwMode="auto">
          <a:xfrm>
            <a:off x="1485900" y="3331845"/>
            <a:ext cx="104775" cy="52705"/>
          </a:xfrm>
          <a:custGeom>
            <a:avLst/>
            <a:gdLst>
              <a:gd name="T0" fmla="*/ 33 w 66"/>
              <a:gd name="T1" fmla="*/ 0 h 33"/>
              <a:gd name="T2" fmla="*/ 0 w 66"/>
              <a:gd name="T3" fmla="*/ 33 h 33"/>
              <a:gd name="T4" fmla="*/ 66 w 66"/>
              <a:gd name="T5" fmla="*/ 33 h 33"/>
              <a:gd name="T6" fmla="*/ 33 w 66"/>
              <a:gd name="T7" fmla="*/ 0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6" h="33">
                <a:moveTo>
                  <a:pt x="33" y="0"/>
                </a:moveTo>
                <a:cubicBezTo>
                  <a:pt x="14" y="0"/>
                  <a:pt x="0" y="14"/>
                  <a:pt x="0" y="33"/>
                </a:cubicBezTo>
                <a:cubicBezTo>
                  <a:pt x="66" y="33"/>
                  <a:pt x="66" y="33"/>
                  <a:pt x="66" y="33"/>
                </a:cubicBezTo>
                <a:cubicBezTo>
                  <a:pt x="66" y="14"/>
                  <a:pt x="51" y="0"/>
                  <a:pt x="3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2400" b="1" dirty="0" smtClean="0">
              <a:solidFill>
                <a:sysClr val="window" lastClr="FFFFFF"/>
              </a:solidFill>
              <a:sym typeface="+mn-ea"/>
            </a:endParaRPr>
          </a:p>
        </p:txBody>
      </p:sp>
      <p:sp>
        <p:nvSpPr>
          <p:cNvPr id="104" name="副标题 19"/>
          <p:cNvSpPr>
            <a:spLocks noGrp="1"/>
          </p:cNvSpPr>
          <p:nvPr/>
        </p:nvSpPr>
        <p:spPr>
          <a:xfrm>
            <a:off x="2278380" y="2623820"/>
            <a:ext cx="4382135" cy="499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 dirty="0" smtClean="0">
                <a:solidFill>
                  <a:schemeClr val="bg1">
                    <a:lumMod val="65000"/>
                  </a:schemeClr>
                </a:solidFill>
                <a:sym typeface="+mn-ea"/>
              </a:rPr>
              <a:t>案例3：部件供应链全员指标管理（2024）</a:t>
            </a:r>
            <a:endParaRPr lang="zh-CN" altLang="en-US" sz="1400" b="1" dirty="0" smtClean="0">
              <a:solidFill>
                <a:schemeClr val="bg1">
                  <a:lumMod val="65000"/>
                </a:schemeClr>
              </a:solidFill>
              <a:sym typeface="+mn-ea"/>
            </a:endParaRPr>
          </a:p>
        </p:txBody>
      </p:sp>
      <p:sp>
        <p:nvSpPr>
          <p:cNvPr id="110" name="副标题 19"/>
          <p:cNvSpPr>
            <a:spLocks noGrp="1"/>
          </p:cNvSpPr>
          <p:nvPr/>
        </p:nvSpPr>
        <p:spPr>
          <a:xfrm>
            <a:off x="2278380" y="3416300"/>
            <a:ext cx="4382135" cy="4991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b="1" dirty="0" smtClean="0">
                <a:solidFill>
                  <a:schemeClr val="accent5">
                    <a:lumMod val="75000"/>
                  </a:schemeClr>
                </a:solidFill>
                <a:sym typeface="+mn-ea"/>
              </a:rPr>
              <a:t>指标体系建设</a:t>
            </a:r>
            <a:r>
              <a:rPr lang="zh-CN" altLang="en-US" sz="1400" b="1" dirty="0" smtClean="0">
                <a:solidFill>
                  <a:schemeClr val="accent5">
                    <a:lumMod val="75000"/>
                  </a:schemeClr>
                </a:solidFill>
                <a:sym typeface="+mn-ea"/>
              </a:rPr>
              <a:t>过程总结</a:t>
            </a:r>
            <a:endParaRPr lang="zh-CN" altLang="en-US" sz="1400" b="1" dirty="0" smtClean="0">
              <a:solidFill>
                <a:schemeClr val="accent5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318198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思路</a:t>
            </a:r>
            <a:endParaRPr lang="zh-CN" altLang="en-US" sz="2000" dirty="0"/>
          </a:p>
        </p:txBody>
      </p:sp>
      <p:sp>
        <p:nvSpPr>
          <p:cNvPr id="122" name="Inhaltsplatzhalter 4"/>
          <p:cNvSpPr txBox="1"/>
          <p:nvPr>
            <p:custDataLst>
              <p:tags r:id="rId1"/>
            </p:custDataLst>
          </p:nvPr>
        </p:nvSpPr>
        <p:spPr>
          <a:xfrm>
            <a:off x="828040" y="2284095"/>
            <a:ext cx="1649095" cy="215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buFont typeface="Wingdings" panose="05000000000000000000" charset="0"/>
              <a:buChar char=""/>
            </a:pPr>
            <a:r>
              <a:rPr lang="zh-CN" altLang="en-US" sz="1400" b="1" dirty="0" smtClean="0">
                <a:solidFill>
                  <a:schemeClr val="accent5"/>
                </a:solidFill>
                <a:latin typeface="微软雅黑" charset="0"/>
                <a:ea typeface="微软雅黑" charset="0"/>
              </a:rPr>
              <a:t>业务</a:t>
            </a:r>
            <a:r>
              <a:rPr lang="zh-CN" altLang="en-US" sz="1400" b="1" dirty="0" smtClean="0">
                <a:solidFill>
                  <a:schemeClr val="accent5"/>
                </a:solidFill>
                <a:latin typeface="微软雅黑" charset="0"/>
                <a:ea typeface="微软雅黑" charset="0"/>
              </a:rPr>
              <a:t>价值</a:t>
            </a:r>
            <a:endParaRPr lang="zh-CN" altLang="en-US" sz="1400" b="1" dirty="0" smtClean="0">
              <a:solidFill>
                <a:schemeClr val="accent5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3" name="Inhaltsplatzhalter 4"/>
          <p:cNvSpPr txBox="1"/>
          <p:nvPr>
            <p:custDataLst>
              <p:tags r:id="rId2"/>
            </p:custDataLst>
          </p:nvPr>
        </p:nvSpPr>
        <p:spPr>
          <a:xfrm>
            <a:off x="2891790" y="2284095"/>
            <a:ext cx="1649730" cy="215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  <a:buFont typeface="Wingdings" panose="05000000000000000000" charset="0"/>
              <a:buChar char=""/>
            </a:pPr>
            <a:r>
              <a:rPr lang="zh-CN" altLang="en-US" sz="1400" b="1" dirty="0" smtClean="0">
                <a:solidFill>
                  <a:schemeClr val="accent2">
                    <a:lumMod val="75000"/>
                  </a:schemeClr>
                </a:solidFill>
                <a:latin typeface="微软雅黑" charset="0"/>
                <a:ea typeface="微软雅黑" charset="0"/>
              </a:rPr>
              <a:t>指标体系</a:t>
            </a:r>
            <a:r>
              <a:rPr lang="zh-CN" altLang="en-US" sz="1400" b="1" dirty="0" smtClean="0">
                <a:solidFill>
                  <a:schemeClr val="accent2">
                    <a:lumMod val="75000"/>
                  </a:schemeClr>
                </a:solidFill>
                <a:latin typeface="微软雅黑" charset="0"/>
                <a:ea typeface="微软雅黑" charset="0"/>
              </a:rPr>
              <a:t>管理</a:t>
            </a:r>
            <a:endParaRPr lang="zh-CN" altLang="en-US" sz="1400" b="1" dirty="0" smtClean="0">
              <a:solidFill>
                <a:schemeClr val="accent2">
                  <a:lumMod val="75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6" name="Inhaltsplatzhalter 4"/>
          <p:cNvSpPr txBox="1"/>
          <p:nvPr>
            <p:custDataLst>
              <p:tags r:id="rId3"/>
            </p:custDataLst>
          </p:nvPr>
        </p:nvSpPr>
        <p:spPr>
          <a:xfrm>
            <a:off x="4858385" y="2284095"/>
            <a:ext cx="1649095" cy="215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  <a:buFont typeface="Wingdings" panose="05000000000000000000" charset="0"/>
              <a:buChar char=""/>
            </a:pPr>
            <a:r>
              <a:rPr lang="zh-CN" altLang="en-US" sz="1400" b="1" dirty="0" smtClean="0">
                <a:solidFill>
                  <a:schemeClr val="accent6">
                    <a:lumMod val="75000"/>
                  </a:schemeClr>
                </a:solidFill>
                <a:latin typeface="微软雅黑" charset="0"/>
                <a:ea typeface="微软雅黑" charset="0"/>
              </a:rPr>
              <a:t>数据</a:t>
            </a:r>
            <a:r>
              <a:rPr lang="zh-CN" altLang="en-US" sz="1400" b="1" dirty="0" smtClean="0">
                <a:solidFill>
                  <a:schemeClr val="accent6">
                    <a:lumMod val="75000"/>
                  </a:schemeClr>
                </a:solidFill>
                <a:latin typeface="微软雅黑" charset="0"/>
                <a:ea typeface="微软雅黑" charset="0"/>
              </a:rPr>
              <a:t>呈现</a:t>
            </a:r>
            <a:endParaRPr lang="zh-CN" altLang="en-US" sz="1400" b="1" dirty="0" smtClean="0">
              <a:solidFill>
                <a:schemeClr val="accent6">
                  <a:lumMod val="75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7" name="Inhaltsplatzhalter 4"/>
          <p:cNvSpPr txBox="1"/>
          <p:nvPr>
            <p:custDataLst>
              <p:tags r:id="rId4"/>
            </p:custDataLst>
          </p:nvPr>
        </p:nvSpPr>
        <p:spPr>
          <a:xfrm>
            <a:off x="6922770" y="2284095"/>
            <a:ext cx="1649095" cy="215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200"/>
              </a:spcAft>
              <a:buFont typeface="Wingdings" panose="05000000000000000000" charset="0"/>
              <a:buChar char=""/>
            </a:pPr>
            <a:r>
              <a:rPr lang="zh-CN" altLang="en-US" sz="1400" b="1" dirty="0" smtClean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</a:rPr>
              <a:t>数据运营</a:t>
            </a:r>
            <a:endParaRPr lang="zh-CN" altLang="en-US" sz="1400" b="1" dirty="0" smtClean="0">
              <a:solidFill>
                <a:schemeClr val="accent5">
                  <a:lumMod val="75000"/>
                </a:schemeClr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6" name="Rounded Rectangle 3"/>
          <p:cNvSpPr/>
          <p:nvPr>
            <p:custDataLst>
              <p:tags r:id="rId5"/>
            </p:custDataLst>
          </p:nvPr>
        </p:nvSpPr>
        <p:spPr>
          <a:xfrm>
            <a:off x="899160" y="1753870"/>
            <a:ext cx="6810375" cy="137795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6"/>
          <p:cNvGrpSpPr/>
          <p:nvPr/>
        </p:nvGrpSpPr>
        <p:grpSpPr>
          <a:xfrm rot="0">
            <a:off x="1316990" y="1698625"/>
            <a:ext cx="252095" cy="231775"/>
            <a:chOff x="2996418" y="1828800"/>
            <a:chExt cx="717453" cy="717453"/>
          </a:xfrm>
          <a:solidFill>
            <a:schemeClr val="accent5"/>
          </a:solidFill>
        </p:grpSpPr>
        <p:sp>
          <p:nvSpPr>
            <p:cNvPr id="78" name="Oval 4"/>
            <p:cNvSpPr/>
            <p:nvPr>
              <p:custDataLst>
                <p:tags r:id="rId6"/>
              </p:custDataLst>
            </p:nvPr>
          </p:nvSpPr>
          <p:spPr>
            <a:xfrm>
              <a:off x="2996418" y="1828800"/>
              <a:ext cx="717453" cy="7174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5"/>
            <p:cNvSpPr/>
            <p:nvPr>
              <p:custDataLst>
                <p:tags r:id="rId7"/>
              </p:custDataLst>
            </p:nvPr>
          </p:nvSpPr>
          <p:spPr>
            <a:xfrm>
              <a:off x="3142370" y="1974752"/>
              <a:ext cx="425548" cy="4255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6" name="Group 9"/>
          <p:cNvGrpSpPr/>
          <p:nvPr/>
        </p:nvGrpSpPr>
        <p:grpSpPr>
          <a:xfrm rot="0">
            <a:off x="899160" y="1097280"/>
            <a:ext cx="1087755" cy="565785"/>
            <a:chOff x="596313" y="1252025"/>
            <a:chExt cx="2743200" cy="1954482"/>
          </a:xfrm>
          <a:solidFill>
            <a:schemeClr val="accent5"/>
          </a:solidFill>
        </p:grpSpPr>
        <p:sp>
          <p:nvSpPr>
            <p:cNvPr id="87" name="Rounded Rectangle 7"/>
            <p:cNvSpPr/>
            <p:nvPr>
              <p:custDataLst>
                <p:tags r:id="rId8"/>
              </p:custDataLst>
            </p:nvPr>
          </p:nvSpPr>
          <p:spPr>
            <a:xfrm>
              <a:off x="596313" y="1252025"/>
              <a:ext cx="2743200" cy="1730326"/>
            </a:xfrm>
            <a:prstGeom prst="roundRect">
              <a:avLst>
                <a:gd name="adj" fmla="val 1016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Isosceles Triangle 8"/>
            <p:cNvSpPr/>
            <p:nvPr>
              <p:custDataLst>
                <p:tags r:id="rId9"/>
              </p:custDataLst>
            </p:nvPr>
          </p:nvSpPr>
          <p:spPr>
            <a:xfrm rot="10800000">
              <a:off x="1712595" y="2955143"/>
              <a:ext cx="510637" cy="25136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Right Arrow 10"/>
          <p:cNvSpPr/>
          <p:nvPr>
            <p:custDataLst>
              <p:tags r:id="rId10"/>
            </p:custDataLst>
          </p:nvPr>
        </p:nvSpPr>
        <p:spPr>
          <a:xfrm>
            <a:off x="2221230" y="1207135"/>
            <a:ext cx="494665" cy="327660"/>
          </a:xfrm>
          <a:prstGeom prst="rightArrow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13"/>
          <p:cNvGrpSpPr/>
          <p:nvPr/>
        </p:nvGrpSpPr>
        <p:grpSpPr>
          <a:xfrm rot="0">
            <a:off x="3296920" y="1698625"/>
            <a:ext cx="251460" cy="231775"/>
            <a:chOff x="2996418" y="1828800"/>
            <a:chExt cx="717453" cy="717453"/>
          </a:xfrm>
        </p:grpSpPr>
        <p:sp>
          <p:nvSpPr>
            <p:cNvPr id="92" name="Oval 18"/>
            <p:cNvSpPr/>
            <p:nvPr>
              <p:custDataLst>
                <p:tags r:id="rId11"/>
              </p:custDataLst>
            </p:nvPr>
          </p:nvSpPr>
          <p:spPr>
            <a:xfrm>
              <a:off x="2996418" y="1828800"/>
              <a:ext cx="717453" cy="71745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19"/>
            <p:cNvSpPr/>
            <p:nvPr>
              <p:custDataLst>
                <p:tags r:id="rId12"/>
              </p:custDataLst>
            </p:nvPr>
          </p:nvSpPr>
          <p:spPr>
            <a:xfrm>
              <a:off x="3142370" y="1974752"/>
              <a:ext cx="425548" cy="42554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14"/>
          <p:cNvGrpSpPr/>
          <p:nvPr/>
        </p:nvGrpSpPr>
        <p:grpSpPr>
          <a:xfrm rot="0">
            <a:off x="2878455" y="1097280"/>
            <a:ext cx="1087755" cy="565785"/>
            <a:chOff x="596313" y="1252025"/>
            <a:chExt cx="2743200" cy="1954482"/>
          </a:xfrm>
        </p:grpSpPr>
        <p:sp>
          <p:nvSpPr>
            <p:cNvPr id="98" name="Rounded Rectangle 16"/>
            <p:cNvSpPr/>
            <p:nvPr>
              <p:custDataLst>
                <p:tags r:id="rId13"/>
              </p:custDataLst>
            </p:nvPr>
          </p:nvSpPr>
          <p:spPr>
            <a:xfrm>
              <a:off x="596313" y="1252025"/>
              <a:ext cx="2743200" cy="1730326"/>
            </a:xfrm>
            <a:prstGeom prst="roundRect">
              <a:avLst>
                <a:gd name="adj" fmla="val 1016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Isosceles Triangle 17"/>
            <p:cNvSpPr/>
            <p:nvPr>
              <p:custDataLst>
                <p:tags r:id="rId14"/>
              </p:custDataLst>
            </p:nvPr>
          </p:nvSpPr>
          <p:spPr>
            <a:xfrm rot="10800000">
              <a:off x="1712595" y="2955143"/>
              <a:ext cx="510637" cy="251364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Right Arrow 15"/>
          <p:cNvSpPr/>
          <p:nvPr>
            <p:custDataLst>
              <p:tags r:id="rId15"/>
            </p:custDataLst>
          </p:nvPr>
        </p:nvSpPr>
        <p:spPr>
          <a:xfrm>
            <a:off x="4128770" y="1207135"/>
            <a:ext cx="494665" cy="327660"/>
          </a:xfrm>
          <a:prstGeom prst="rightArrow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组合 149"/>
          <p:cNvGrpSpPr/>
          <p:nvPr/>
        </p:nvGrpSpPr>
        <p:grpSpPr>
          <a:xfrm rot="0">
            <a:off x="5276215" y="1698625"/>
            <a:ext cx="252095" cy="231775"/>
            <a:chOff x="8173" y="3013"/>
            <a:chExt cx="448" cy="460"/>
          </a:xfrm>
        </p:grpSpPr>
        <p:sp>
          <p:nvSpPr>
            <p:cNvPr id="101" name="Oval 26"/>
            <p:cNvSpPr/>
            <p:nvPr>
              <p:custDataLst>
                <p:tags r:id="rId16"/>
              </p:custDataLst>
            </p:nvPr>
          </p:nvSpPr>
          <p:spPr>
            <a:xfrm>
              <a:off x="8173" y="3013"/>
              <a:ext cx="448" cy="46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27"/>
            <p:cNvSpPr/>
            <p:nvPr>
              <p:custDataLst>
                <p:tags r:id="rId17"/>
              </p:custDataLst>
            </p:nvPr>
          </p:nvSpPr>
          <p:spPr>
            <a:xfrm>
              <a:off x="8264" y="3107"/>
              <a:ext cx="266" cy="27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22"/>
          <p:cNvGrpSpPr/>
          <p:nvPr/>
        </p:nvGrpSpPr>
        <p:grpSpPr>
          <a:xfrm rot="0">
            <a:off x="4858385" y="1097280"/>
            <a:ext cx="1087755" cy="565785"/>
            <a:chOff x="596313" y="1252025"/>
            <a:chExt cx="2743200" cy="1954482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05" name="Rounded Rectangle 24"/>
            <p:cNvSpPr/>
            <p:nvPr>
              <p:custDataLst>
                <p:tags r:id="rId18"/>
              </p:custDataLst>
            </p:nvPr>
          </p:nvSpPr>
          <p:spPr>
            <a:xfrm>
              <a:off x="596313" y="1252025"/>
              <a:ext cx="2743200" cy="1730326"/>
            </a:xfrm>
            <a:prstGeom prst="roundRect">
              <a:avLst>
                <a:gd name="adj" fmla="val 1016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Isosceles Triangle 25"/>
            <p:cNvSpPr/>
            <p:nvPr>
              <p:custDataLst>
                <p:tags r:id="rId19"/>
              </p:custDataLst>
            </p:nvPr>
          </p:nvSpPr>
          <p:spPr>
            <a:xfrm rot="10800000">
              <a:off x="1712595" y="2955143"/>
              <a:ext cx="510637" cy="25136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" name="Right Arrow 23"/>
          <p:cNvSpPr/>
          <p:nvPr>
            <p:custDataLst>
              <p:tags r:id="rId20"/>
            </p:custDataLst>
          </p:nvPr>
        </p:nvSpPr>
        <p:spPr>
          <a:xfrm>
            <a:off x="6109335" y="1207135"/>
            <a:ext cx="494665" cy="327660"/>
          </a:xfrm>
          <a:prstGeom prst="rightArrow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9" name="组合 148"/>
          <p:cNvGrpSpPr/>
          <p:nvPr/>
        </p:nvGrpSpPr>
        <p:grpSpPr>
          <a:xfrm rot="0">
            <a:off x="7255510" y="1698625"/>
            <a:ext cx="252095" cy="231775"/>
            <a:chOff x="11311" y="3013"/>
            <a:chExt cx="448" cy="460"/>
          </a:xfrm>
        </p:grpSpPr>
        <p:sp>
          <p:nvSpPr>
            <p:cNvPr id="110" name="Oval 34"/>
            <p:cNvSpPr/>
            <p:nvPr>
              <p:custDataLst>
                <p:tags r:id="rId21"/>
              </p:custDataLst>
            </p:nvPr>
          </p:nvSpPr>
          <p:spPr>
            <a:xfrm>
              <a:off x="11311" y="3013"/>
              <a:ext cx="448" cy="46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35"/>
            <p:cNvSpPr/>
            <p:nvPr>
              <p:custDataLst>
                <p:tags r:id="rId22"/>
              </p:custDataLst>
            </p:nvPr>
          </p:nvSpPr>
          <p:spPr>
            <a:xfrm>
              <a:off x="11402" y="3107"/>
              <a:ext cx="266" cy="27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2" name="Group 30"/>
          <p:cNvGrpSpPr/>
          <p:nvPr/>
        </p:nvGrpSpPr>
        <p:grpSpPr>
          <a:xfrm rot="0">
            <a:off x="6837680" y="1097280"/>
            <a:ext cx="1087755" cy="565785"/>
            <a:chOff x="596313" y="1252025"/>
            <a:chExt cx="2743200" cy="1954482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13" name="Rounded Rectangle 32"/>
            <p:cNvSpPr/>
            <p:nvPr>
              <p:custDataLst>
                <p:tags r:id="rId23"/>
              </p:custDataLst>
            </p:nvPr>
          </p:nvSpPr>
          <p:spPr>
            <a:xfrm>
              <a:off x="596313" y="1252025"/>
              <a:ext cx="2743200" cy="1730326"/>
            </a:xfrm>
            <a:prstGeom prst="roundRect">
              <a:avLst>
                <a:gd name="adj" fmla="val 1016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Isosceles Triangle 33"/>
            <p:cNvSpPr/>
            <p:nvPr>
              <p:custDataLst>
                <p:tags r:id="rId24"/>
              </p:custDataLst>
            </p:nvPr>
          </p:nvSpPr>
          <p:spPr>
            <a:xfrm rot="10800000">
              <a:off x="1712595" y="2955143"/>
              <a:ext cx="510637" cy="25136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6" name="标题 1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828040" y="2582545"/>
            <a:ext cx="1428115" cy="2292350"/>
          </a:xfrm>
          <a:prstGeom prst="rect">
            <a:avLst/>
          </a:prstGeom>
        </p:spPr>
        <p:txBody>
          <a:bodyPr/>
          <a:lstStyle>
            <a:lvl1pPr algn="l" defTabSz="5219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j-cs"/>
              </a:defRPr>
            </a:lvl1pPr>
          </a:lstStyle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企业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角色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50000"/>
              </a:lnSpc>
              <a:buFont typeface="Arial" panose="020B0604020202090204" pitchFamily="34" charset="0"/>
            </a:pPr>
            <a:r>
              <a:rPr lang="en-US" altLang="zh-CN" sz="1000" b="0" dirty="0">
                <a:latin typeface="微软雅黑" charset="0"/>
                <a:ea typeface="微软雅黑" charset="0"/>
                <a:cs typeface="微软雅黑" charset="0"/>
              </a:rPr>
              <a:t>    </a:t>
            </a:r>
            <a:r>
              <a:rPr lang="zh-CN" altLang="en-US" sz="8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高层</a:t>
            </a:r>
            <a:r>
              <a:rPr lang="en-US" altLang="zh-CN" sz="8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8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管理</a:t>
            </a:r>
            <a:r>
              <a:rPr lang="en-US" altLang="zh-CN" sz="8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8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执行层</a:t>
            </a:r>
            <a:r>
              <a:rPr lang="en-US" altLang="zh-CN" sz="8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zh-CN" altLang="en-US" sz="800" b="0" dirty="0">
              <a:solidFill>
                <a:schemeClr val="accent5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价值链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800" b="0" dirty="0">
                <a:latin typeface="微软雅黑" charset="0"/>
                <a:ea typeface="微软雅黑" charset="0"/>
                <a:cs typeface="微软雅黑" charset="0"/>
              </a:rPr>
              <a:t>     </a:t>
            </a: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股东</a:t>
            </a: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价值</a:t>
            </a:r>
            <a:endParaRPr lang="zh-CN" altLang="en-US" sz="800" b="0" dirty="0">
              <a:solidFill>
                <a:schemeClr val="accent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800" b="0" dirty="0">
                <a:latin typeface="微软雅黑" charset="0"/>
                <a:ea typeface="微软雅黑" charset="0"/>
                <a:cs typeface="微软雅黑" charset="0"/>
              </a:rPr>
              <a:t>     </a:t>
            </a: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客户</a:t>
            </a:r>
            <a:r>
              <a:rPr lang="en-US" altLang="zh-CN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产品价值链</a:t>
            </a:r>
            <a:endParaRPr lang="zh-CN" altLang="en-US" sz="800" b="0" dirty="0">
              <a:solidFill>
                <a:schemeClr val="accent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关键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措施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</a:t>
            </a: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提高营收</a:t>
            </a:r>
            <a:r>
              <a:rPr lang="en-US" altLang="zh-CN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利润</a:t>
            </a:r>
            <a:endParaRPr lang="zh-CN" altLang="en-US" sz="800" b="0" dirty="0">
              <a:solidFill>
                <a:schemeClr val="accent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en-US" altLang="zh-CN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</a:t>
            </a: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降低成本</a:t>
            </a:r>
            <a:endParaRPr lang="zh-CN" altLang="en-US" sz="800" b="0" dirty="0">
              <a:solidFill>
                <a:schemeClr val="accent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en-US" altLang="zh-CN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</a:t>
            </a: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提升运营水平</a:t>
            </a:r>
            <a:endParaRPr lang="zh-CN" altLang="en-US" sz="800" b="0" dirty="0">
              <a:solidFill>
                <a:schemeClr val="accent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en-US" altLang="zh-CN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</a:t>
            </a:r>
            <a:r>
              <a:rPr lang="zh-CN" altLang="en-US" sz="800" b="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降低风险</a:t>
            </a:r>
            <a:endParaRPr lang="zh-CN" altLang="en-US" sz="800" b="0" dirty="0">
              <a:solidFill>
                <a:schemeClr val="accent1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50000"/>
              </a:lnSpc>
              <a:buFont typeface="Arial" panose="020B0604020202090204" pitchFamily="34" charset="0"/>
            </a:pPr>
            <a:r>
              <a:rPr lang="en-US" altLang="zh-CN" sz="800" b="0" dirty="0">
                <a:latin typeface="微软雅黑" charset="0"/>
                <a:ea typeface="微软雅黑" charset="0"/>
                <a:cs typeface="微软雅黑" charset="0"/>
              </a:rPr>
              <a:t>     ...</a:t>
            </a:r>
            <a:endParaRPr lang="en-US" altLang="zh-CN" sz="800" b="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7" name="标题 1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2891790" y="2582545"/>
            <a:ext cx="1515110" cy="1626870"/>
          </a:xfrm>
          <a:prstGeom prst="rect">
            <a:avLst/>
          </a:prstGeom>
        </p:spPr>
        <p:txBody>
          <a:bodyPr/>
          <a:lstStyle>
            <a:lvl1pPr algn="l" defTabSz="5219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j-cs"/>
              </a:defRPr>
            </a:lvl1pPr>
          </a:lstStyle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分析框架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800" b="0" dirty="0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EVM</a:t>
            </a:r>
            <a:endParaRPr lang="zh-CN" altLang="en-US" sz="800" b="0" dirty="0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800" b="0" dirty="0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 </a:t>
            </a:r>
            <a:r>
              <a:rPr lang="zh-CN" altLang="en-US" sz="800" b="0" dirty="0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战略地图</a:t>
            </a:r>
            <a:r>
              <a:rPr lang="en-US" altLang="zh-CN" sz="800" b="0" dirty="0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lang="zh-CN" altLang="en-US" sz="800" b="0" dirty="0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平衡记分卡</a:t>
            </a:r>
            <a:endParaRPr lang="zh-CN" altLang="en-US" sz="800" b="0" dirty="0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800" b="0" dirty="0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en-US" altLang="zh-CN" sz="800" b="0" dirty="0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   </a:t>
            </a:r>
            <a:r>
              <a:rPr lang="zh-CN" altLang="en-US" sz="800" b="0" dirty="0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岗位</a:t>
            </a:r>
            <a:r>
              <a:rPr lang="en-US" altLang="zh-CN" sz="800" b="0" dirty="0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KPIs</a:t>
            </a:r>
            <a:endParaRPr lang="zh-CN" altLang="en-US" sz="800" b="0" dirty="0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指标库</a:t>
            </a:r>
            <a:r>
              <a:rPr lang="en-US" altLang="zh-CN" sz="1000" b="0" dirty="0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指标清单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指标管理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规范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8" name="标题 1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4858385" y="2583180"/>
            <a:ext cx="1514475" cy="1222375"/>
          </a:xfrm>
          <a:prstGeom prst="rect">
            <a:avLst/>
          </a:prstGeom>
        </p:spPr>
        <p:txBody>
          <a:bodyPr/>
          <a:lstStyle>
            <a:lvl1pPr algn="l" defTabSz="5219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j-cs"/>
              </a:defRPr>
            </a:lvl1pPr>
          </a:lstStyle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驾驶舱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主题域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报表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明细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表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预警</a:t>
            </a:r>
            <a:r>
              <a:rPr lang="en-US" altLang="zh-CN" sz="1000" b="0" dirty="0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推送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信息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9" name="标题 1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6876415" y="2583180"/>
            <a:ext cx="1514475" cy="1379220"/>
          </a:xfrm>
          <a:prstGeom prst="rect">
            <a:avLst/>
          </a:prstGeom>
        </p:spPr>
        <p:txBody>
          <a:bodyPr/>
          <a:lstStyle>
            <a:lvl1pPr algn="l" defTabSz="5219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j-cs"/>
              </a:defRPr>
            </a:lvl1pPr>
          </a:lstStyle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指标生命周期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管理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报表生命周期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管理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数据监控</a:t>
            </a:r>
            <a:r>
              <a:rPr lang="en-US" altLang="zh-CN" sz="1000" b="0" dirty="0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决策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改善</a:t>
            </a:r>
            <a:r>
              <a:rPr lang="zh-CN" altLang="en-US" sz="1000" b="0" dirty="0">
                <a:latin typeface="微软雅黑" charset="0"/>
                <a:ea typeface="微软雅黑" charset="0"/>
                <a:cs typeface="微软雅黑" charset="0"/>
              </a:rPr>
              <a:t>闭环</a:t>
            </a: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1000" b="0" dirty="0"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169" name="Group 44"/>
          <p:cNvGrpSpPr>
            <a:grpSpLocks noChangeAspect="1"/>
          </p:cNvGrpSpPr>
          <p:nvPr/>
        </p:nvGrpSpPr>
        <p:grpSpPr>
          <a:xfrm>
            <a:off x="1299210" y="1217295"/>
            <a:ext cx="246380" cy="281940"/>
            <a:chOff x="9990138" y="2690813"/>
            <a:chExt cx="481013" cy="550863"/>
          </a:xfrm>
          <a:solidFill>
            <a:schemeClr val="bg1"/>
          </a:solidFill>
        </p:grpSpPr>
        <p:sp>
          <p:nvSpPr>
            <p:cNvPr id="170" name="Freeform 107"/>
            <p:cNvSpPr/>
            <p:nvPr>
              <p:custDataLst>
                <p:tags r:id="rId29"/>
              </p:custDataLst>
            </p:nvPr>
          </p:nvSpPr>
          <p:spPr bwMode="auto">
            <a:xfrm>
              <a:off x="10121901" y="3182938"/>
              <a:ext cx="219075" cy="58738"/>
            </a:xfrm>
            <a:custGeom>
              <a:avLst/>
              <a:gdLst>
                <a:gd name="T0" fmla="*/ 689 w 1378"/>
                <a:gd name="T1" fmla="*/ 0 h 371"/>
                <a:gd name="T2" fmla="*/ 708 w 1378"/>
                <a:gd name="T3" fmla="*/ 2 h 371"/>
                <a:gd name="T4" fmla="*/ 724 w 1378"/>
                <a:gd name="T5" fmla="*/ 10 h 371"/>
                <a:gd name="T6" fmla="*/ 739 w 1378"/>
                <a:gd name="T7" fmla="*/ 20 h 371"/>
                <a:gd name="T8" fmla="*/ 749 w 1378"/>
                <a:gd name="T9" fmla="*/ 35 h 371"/>
                <a:gd name="T10" fmla="*/ 757 w 1378"/>
                <a:gd name="T11" fmla="*/ 51 h 371"/>
                <a:gd name="T12" fmla="*/ 759 w 1378"/>
                <a:gd name="T13" fmla="*/ 70 h 371"/>
                <a:gd name="T14" fmla="*/ 759 w 1378"/>
                <a:gd name="T15" fmla="*/ 230 h 371"/>
                <a:gd name="T16" fmla="*/ 1307 w 1378"/>
                <a:gd name="T17" fmla="*/ 230 h 371"/>
                <a:gd name="T18" fmla="*/ 1326 w 1378"/>
                <a:gd name="T19" fmla="*/ 232 h 371"/>
                <a:gd name="T20" fmla="*/ 1343 w 1378"/>
                <a:gd name="T21" fmla="*/ 239 h 371"/>
                <a:gd name="T22" fmla="*/ 1357 w 1378"/>
                <a:gd name="T23" fmla="*/ 250 h 371"/>
                <a:gd name="T24" fmla="*/ 1368 w 1378"/>
                <a:gd name="T25" fmla="*/ 265 h 371"/>
                <a:gd name="T26" fmla="*/ 1375 w 1378"/>
                <a:gd name="T27" fmla="*/ 282 h 371"/>
                <a:gd name="T28" fmla="*/ 1378 w 1378"/>
                <a:gd name="T29" fmla="*/ 300 h 371"/>
                <a:gd name="T30" fmla="*/ 1376 w 1378"/>
                <a:gd name="T31" fmla="*/ 319 h 371"/>
                <a:gd name="T32" fmla="*/ 1368 w 1378"/>
                <a:gd name="T33" fmla="*/ 336 h 371"/>
                <a:gd name="T34" fmla="*/ 1358 w 1378"/>
                <a:gd name="T35" fmla="*/ 349 h 371"/>
                <a:gd name="T36" fmla="*/ 1343 w 1378"/>
                <a:gd name="T37" fmla="*/ 361 h 371"/>
                <a:gd name="T38" fmla="*/ 1326 w 1378"/>
                <a:gd name="T39" fmla="*/ 367 h 371"/>
                <a:gd name="T40" fmla="*/ 1308 w 1378"/>
                <a:gd name="T41" fmla="*/ 371 h 371"/>
                <a:gd name="T42" fmla="*/ 71 w 1378"/>
                <a:gd name="T43" fmla="*/ 371 h 371"/>
                <a:gd name="T44" fmla="*/ 52 w 1378"/>
                <a:gd name="T45" fmla="*/ 367 h 371"/>
                <a:gd name="T46" fmla="*/ 35 w 1378"/>
                <a:gd name="T47" fmla="*/ 361 h 371"/>
                <a:gd name="T48" fmla="*/ 21 w 1378"/>
                <a:gd name="T49" fmla="*/ 349 h 371"/>
                <a:gd name="T50" fmla="*/ 9 w 1378"/>
                <a:gd name="T51" fmla="*/ 336 h 371"/>
                <a:gd name="T52" fmla="*/ 3 w 1378"/>
                <a:gd name="T53" fmla="*/ 319 h 371"/>
                <a:gd name="T54" fmla="*/ 0 w 1378"/>
                <a:gd name="T55" fmla="*/ 300 h 371"/>
                <a:gd name="T56" fmla="*/ 3 w 1378"/>
                <a:gd name="T57" fmla="*/ 282 h 371"/>
                <a:gd name="T58" fmla="*/ 9 w 1378"/>
                <a:gd name="T59" fmla="*/ 265 h 371"/>
                <a:gd name="T60" fmla="*/ 21 w 1378"/>
                <a:gd name="T61" fmla="*/ 250 h 371"/>
                <a:gd name="T62" fmla="*/ 35 w 1378"/>
                <a:gd name="T63" fmla="*/ 239 h 371"/>
                <a:gd name="T64" fmla="*/ 52 w 1378"/>
                <a:gd name="T65" fmla="*/ 232 h 371"/>
                <a:gd name="T66" fmla="*/ 71 w 1378"/>
                <a:gd name="T67" fmla="*/ 230 h 371"/>
                <a:gd name="T68" fmla="*/ 618 w 1378"/>
                <a:gd name="T69" fmla="*/ 230 h 371"/>
                <a:gd name="T70" fmla="*/ 618 w 1378"/>
                <a:gd name="T71" fmla="*/ 70 h 371"/>
                <a:gd name="T72" fmla="*/ 621 w 1378"/>
                <a:gd name="T73" fmla="*/ 51 h 371"/>
                <a:gd name="T74" fmla="*/ 627 w 1378"/>
                <a:gd name="T75" fmla="*/ 35 h 371"/>
                <a:gd name="T76" fmla="*/ 639 w 1378"/>
                <a:gd name="T77" fmla="*/ 20 h 371"/>
                <a:gd name="T78" fmla="*/ 653 w 1378"/>
                <a:gd name="T79" fmla="*/ 10 h 371"/>
                <a:gd name="T80" fmla="*/ 670 w 1378"/>
                <a:gd name="T81" fmla="*/ 2 h 371"/>
                <a:gd name="T82" fmla="*/ 689 w 1378"/>
                <a:gd name="T83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78" h="371">
                  <a:moveTo>
                    <a:pt x="689" y="0"/>
                  </a:moveTo>
                  <a:lnTo>
                    <a:pt x="708" y="2"/>
                  </a:lnTo>
                  <a:lnTo>
                    <a:pt x="724" y="10"/>
                  </a:lnTo>
                  <a:lnTo>
                    <a:pt x="739" y="20"/>
                  </a:lnTo>
                  <a:lnTo>
                    <a:pt x="749" y="35"/>
                  </a:lnTo>
                  <a:lnTo>
                    <a:pt x="757" y="51"/>
                  </a:lnTo>
                  <a:lnTo>
                    <a:pt x="759" y="70"/>
                  </a:lnTo>
                  <a:lnTo>
                    <a:pt x="759" y="230"/>
                  </a:lnTo>
                  <a:lnTo>
                    <a:pt x="1307" y="230"/>
                  </a:lnTo>
                  <a:lnTo>
                    <a:pt x="1326" y="232"/>
                  </a:lnTo>
                  <a:lnTo>
                    <a:pt x="1343" y="239"/>
                  </a:lnTo>
                  <a:lnTo>
                    <a:pt x="1357" y="250"/>
                  </a:lnTo>
                  <a:lnTo>
                    <a:pt x="1368" y="265"/>
                  </a:lnTo>
                  <a:lnTo>
                    <a:pt x="1375" y="282"/>
                  </a:lnTo>
                  <a:lnTo>
                    <a:pt x="1378" y="300"/>
                  </a:lnTo>
                  <a:lnTo>
                    <a:pt x="1376" y="319"/>
                  </a:lnTo>
                  <a:lnTo>
                    <a:pt x="1368" y="336"/>
                  </a:lnTo>
                  <a:lnTo>
                    <a:pt x="1358" y="349"/>
                  </a:lnTo>
                  <a:lnTo>
                    <a:pt x="1343" y="361"/>
                  </a:lnTo>
                  <a:lnTo>
                    <a:pt x="1326" y="367"/>
                  </a:lnTo>
                  <a:lnTo>
                    <a:pt x="1308" y="371"/>
                  </a:lnTo>
                  <a:lnTo>
                    <a:pt x="71" y="371"/>
                  </a:lnTo>
                  <a:lnTo>
                    <a:pt x="52" y="367"/>
                  </a:lnTo>
                  <a:lnTo>
                    <a:pt x="35" y="361"/>
                  </a:lnTo>
                  <a:lnTo>
                    <a:pt x="21" y="349"/>
                  </a:lnTo>
                  <a:lnTo>
                    <a:pt x="9" y="336"/>
                  </a:lnTo>
                  <a:lnTo>
                    <a:pt x="3" y="319"/>
                  </a:lnTo>
                  <a:lnTo>
                    <a:pt x="0" y="300"/>
                  </a:lnTo>
                  <a:lnTo>
                    <a:pt x="3" y="282"/>
                  </a:lnTo>
                  <a:lnTo>
                    <a:pt x="9" y="265"/>
                  </a:lnTo>
                  <a:lnTo>
                    <a:pt x="21" y="250"/>
                  </a:lnTo>
                  <a:lnTo>
                    <a:pt x="35" y="239"/>
                  </a:lnTo>
                  <a:lnTo>
                    <a:pt x="52" y="232"/>
                  </a:lnTo>
                  <a:lnTo>
                    <a:pt x="71" y="230"/>
                  </a:lnTo>
                  <a:lnTo>
                    <a:pt x="618" y="230"/>
                  </a:lnTo>
                  <a:lnTo>
                    <a:pt x="618" y="70"/>
                  </a:lnTo>
                  <a:lnTo>
                    <a:pt x="621" y="51"/>
                  </a:lnTo>
                  <a:lnTo>
                    <a:pt x="627" y="35"/>
                  </a:lnTo>
                  <a:lnTo>
                    <a:pt x="639" y="20"/>
                  </a:lnTo>
                  <a:lnTo>
                    <a:pt x="653" y="10"/>
                  </a:lnTo>
                  <a:lnTo>
                    <a:pt x="670" y="2"/>
                  </a:lnTo>
                  <a:lnTo>
                    <a:pt x="6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71" name="Freeform 108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9990138" y="2809875"/>
              <a:ext cx="481013" cy="347663"/>
            </a:xfrm>
            <a:custGeom>
              <a:avLst/>
              <a:gdLst>
                <a:gd name="T0" fmla="*/ 1388 w 3034"/>
                <a:gd name="T1" fmla="*/ 1364 h 2187"/>
                <a:gd name="T2" fmla="*/ 1263 w 3034"/>
                <a:gd name="T3" fmla="*/ 1465 h 2187"/>
                <a:gd name="T4" fmla="*/ 1808 w 3034"/>
                <a:gd name="T5" fmla="*/ 1577 h 2187"/>
                <a:gd name="T6" fmla="*/ 1732 w 3034"/>
                <a:gd name="T7" fmla="*/ 1434 h 2187"/>
                <a:gd name="T8" fmla="*/ 1594 w 3034"/>
                <a:gd name="T9" fmla="*/ 1351 h 2187"/>
                <a:gd name="T10" fmla="*/ 2873 w 3034"/>
                <a:gd name="T11" fmla="*/ 0 h 2187"/>
                <a:gd name="T12" fmla="*/ 2986 w 3034"/>
                <a:gd name="T13" fmla="*/ 47 h 2187"/>
                <a:gd name="T14" fmla="*/ 3034 w 3034"/>
                <a:gd name="T15" fmla="*/ 160 h 2187"/>
                <a:gd name="T16" fmla="*/ 3006 w 3034"/>
                <a:gd name="T17" fmla="*/ 2117 h 2187"/>
                <a:gd name="T18" fmla="*/ 2906 w 3034"/>
                <a:gd name="T19" fmla="*/ 2184 h 2187"/>
                <a:gd name="T20" fmla="*/ 98 w 3034"/>
                <a:gd name="T21" fmla="*/ 2175 h 2187"/>
                <a:gd name="T22" fmla="*/ 13 w 3034"/>
                <a:gd name="T23" fmla="*/ 2089 h 2187"/>
                <a:gd name="T24" fmla="*/ 2 w 3034"/>
                <a:gd name="T25" fmla="*/ 1625 h 2187"/>
                <a:gd name="T26" fmla="*/ 51 w 3034"/>
                <a:gd name="T27" fmla="*/ 1576 h 2187"/>
                <a:gd name="T28" fmla="*/ 645 w 3034"/>
                <a:gd name="T29" fmla="*/ 1577 h 2187"/>
                <a:gd name="T30" fmla="*/ 716 w 3034"/>
                <a:gd name="T31" fmla="*/ 1411 h 2187"/>
                <a:gd name="T32" fmla="*/ 851 w 3034"/>
                <a:gd name="T33" fmla="*/ 1296 h 2187"/>
                <a:gd name="T34" fmla="*/ 1030 w 3034"/>
                <a:gd name="T35" fmla="*/ 1252 h 2187"/>
                <a:gd name="T36" fmla="*/ 1090 w 3034"/>
                <a:gd name="T37" fmla="*/ 1287 h 2187"/>
                <a:gd name="T38" fmla="*/ 1090 w 3034"/>
                <a:gd name="T39" fmla="*/ 1358 h 2187"/>
                <a:gd name="T40" fmla="*/ 1030 w 3034"/>
                <a:gd name="T41" fmla="*/ 1393 h 2187"/>
                <a:gd name="T42" fmla="*/ 892 w 3034"/>
                <a:gd name="T43" fmla="*/ 1434 h 2187"/>
                <a:gd name="T44" fmla="*/ 801 w 3034"/>
                <a:gd name="T45" fmla="*/ 1542 h 2187"/>
                <a:gd name="T46" fmla="*/ 1096 w 3034"/>
                <a:gd name="T47" fmla="*/ 1482 h 2187"/>
                <a:gd name="T48" fmla="*/ 1200 w 3034"/>
                <a:gd name="T49" fmla="*/ 1324 h 2187"/>
                <a:gd name="T50" fmla="*/ 1362 w 3034"/>
                <a:gd name="T51" fmla="*/ 1224 h 2187"/>
                <a:gd name="T52" fmla="*/ 1432 w 3034"/>
                <a:gd name="T53" fmla="*/ 1206 h 2187"/>
                <a:gd name="T54" fmla="*/ 1519 w 3034"/>
                <a:gd name="T55" fmla="*/ 1199 h 2187"/>
                <a:gd name="T56" fmla="*/ 1695 w 3034"/>
                <a:gd name="T57" fmla="*/ 1238 h 2187"/>
                <a:gd name="T58" fmla="*/ 1849 w 3034"/>
                <a:gd name="T59" fmla="*/ 1356 h 2187"/>
                <a:gd name="T60" fmla="*/ 1940 w 3034"/>
                <a:gd name="T61" fmla="*/ 1528 h 2187"/>
                <a:gd name="T62" fmla="*/ 2201 w 3034"/>
                <a:gd name="T63" fmla="*/ 1511 h 2187"/>
                <a:gd name="T64" fmla="*/ 2096 w 3034"/>
                <a:gd name="T65" fmla="*/ 1417 h 2187"/>
                <a:gd name="T66" fmla="*/ 1970 w 3034"/>
                <a:gd name="T67" fmla="*/ 1391 h 2187"/>
                <a:gd name="T68" fmla="*/ 1920 w 3034"/>
                <a:gd name="T69" fmla="*/ 1342 h 2187"/>
                <a:gd name="T70" fmla="*/ 1938 w 3034"/>
                <a:gd name="T71" fmla="*/ 1273 h 2187"/>
                <a:gd name="T72" fmla="*/ 2035 w 3034"/>
                <a:gd name="T73" fmla="*/ 1255 h 2187"/>
                <a:gd name="T74" fmla="*/ 2206 w 3034"/>
                <a:gd name="T75" fmla="*/ 1319 h 2187"/>
                <a:gd name="T76" fmla="*/ 2328 w 3034"/>
                <a:gd name="T77" fmla="*/ 1449 h 2187"/>
                <a:gd name="T78" fmla="*/ 2674 w 3034"/>
                <a:gd name="T79" fmla="*/ 1577 h 2187"/>
                <a:gd name="T80" fmla="*/ 2734 w 3034"/>
                <a:gd name="T81" fmla="*/ 1612 h 2187"/>
                <a:gd name="T82" fmla="*/ 2734 w 3034"/>
                <a:gd name="T83" fmla="*/ 1683 h 2187"/>
                <a:gd name="T84" fmla="*/ 2674 w 3034"/>
                <a:gd name="T85" fmla="*/ 1718 h 2187"/>
                <a:gd name="T86" fmla="*/ 150 w 3034"/>
                <a:gd name="T87" fmla="*/ 2045 h 2187"/>
                <a:gd name="T88" fmla="*/ 2891 w 3034"/>
                <a:gd name="T89" fmla="*/ 2037 h 2187"/>
                <a:gd name="T90" fmla="*/ 2883 w 3034"/>
                <a:gd name="T91" fmla="*/ 143 h 2187"/>
                <a:gd name="T92" fmla="*/ 2078 w 3034"/>
                <a:gd name="T93" fmla="*/ 131 h 2187"/>
                <a:gd name="T94" fmla="*/ 2044 w 3034"/>
                <a:gd name="T95" fmla="*/ 70 h 2187"/>
                <a:gd name="T96" fmla="*/ 2078 w 3034"/>
                <a:gd name="T97" fmla="*/ 9 h 2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34" h="2187">
                  <a:moveTo>
                    <a:pt x="1510" y="1339"/>
                  </a:moveTo>
                  <a:lnTo>
                    <a:pt x="1467" y="1342"/>
                  </a:lnTo>
                  <a:lnTo>
                    <a:pt x="1427" y="1351"/>
                  </a:lnTo>
                  <a:lnTo>
                    <a:pt x="1388" y="1364"/>
                  </a:lnTo>
                  <a:lnTo>
                    <a:pt x="1352" y="1383"/>
                  </a:lnTo>
                  <a:lnTo>
                    <a:pt x="1318" y="1407"/>
                  </a:lnTo>
                  <a:lnTo>
                    <a:pt x="1288" y="1434"/>
                  </a:lnTo>
                  <a:lnTo>
                    <a:pt x="1263" y="1465"/>
                  </a:lnTo>
                  <a:lnTo>
                    <a:pt x="1242" y="1500"/>
                  </a:lnTo>
                  <a:lnTo>
                    <a:pt x="1225" y="1537"/>
                  </a:lnTo>
                  <a:lnTo>
                    <a:pt x="1213" y="1577"/>
                  </a:lnTo>
                  <a:lnTo>
                    <a:pt x="1808" y="1577"/>
                  </a:lnTo>
                  <a:lnTo>
                    <a:pt x="1795" y="1537"/>
                  </a:lnTo>
                  <a:lnTo>
                    <a:pt x="1778" y="1500"/>
                  </a:lnTo>
                  <a:lnTo>
                    <a:pt x="1757" y="1465"/>
                  </a:lnTo>
                  <a:lnTo>
                    <a:pt x="1732" y="1434"/>
                  </a:lnTo>
                  <a:lnTo>
                    <a:pt x="1702" y="1407"/>
                  </a:lnTo>
                  <a:lnTo>
                    <a:pt x="1669" y="1383"/>
                  </a:lnTo>
                  <a:lnTo>
                    <a:pt x="1633" y="1364"/>
                  </a:lnTo>
                  <a:lnTo>
                    <a:pt x="1594" y="1351"/>
                  </a:lnTo>
                  <a:lnTo>
                    <a:pt x="1553" y="1342"/>
                  </a:lnTo>
                  <a:lnTo>
                    <a:pt x="1510" y="1339"/>
                  </a:lnTo>
                  <a:close/>
                  <a:moveTo>
                    <a:pt x="2114" y="0"/>
                  </a:moveTo>
                  <a:lnTo>
                    <a:pt x="2873" y="0"/>
                  </a:lnTo>
                  <a:lnTo>
                    <a:pt x="2906" y="3"/>
                  </a:lnTo>
                  <a:lnTo>
                    <a:pt x="2935" y="12"/>
                  </a:lnTo>
                  <a:lnTo>
                    <a:pt x="2963" y="27"/>
                  </a:lnTo>
                  <a:lnTo>
                    <a:pt x="2986" y="47"/>
                  </a:lnTo>
                  <a:lnTo>
                    <a:pt x="3006" y="71"/>
                  </a:lnTo>
                  <a:lnTo>
                    <a:pt x="3021" y="98"/>
                  </a:lnTo>
                  <a:lnTo>
                    <a:pt x="3030" y="128"/>
                  </a:lnTo>
                  <a:lnTo>
                    <a:pt x="3034" y="160"/>
                  </a:lnTo>
                  <a:lnTo>
                    <a:pt x="3034" y="2027"/>
                  </a:lnTo>
                  <a:lnTo>
                    <a:pt x="3030" y="2058"/>
                  </a:lnTo>
                  <a:lnTo>
                    <a:pt x="3021" y="2089"/>
                  </a:lnTo>
                  <a:lnTo>
                    <a:pt x="3006" y="2117"/>
                  </a:lnTo>
                  <a:lnTo>
                    <a:pt x="2986" y="2140"/>
                  </a:lnTo>
                  <a:lnTo>
                    <a:pt x="2963" y="2160"/>
                  </a:lnTo>
                  <a:lnTo>
                    <a:pt x="2935" y="2175"/>
                  </a:lnTo>
                  <a:lnTo>
                    <a:pt x="2906" y="2184"/>
                  </a:lnTo>
                  <a:lnTo>
                    <a:pt x="2873" y="2187"/>
                  </a:lnTo>
                  <a:lnTo>
                    <a:pt x="161" y="2187"/>
                  </a:lnTo>
                  <a:lnTo>
                    <a:pt x="128" y="2184"/>
                  </a:lnTo>
                  <a:lnTo>
                    <a:pt x="98" y="2175"/>
                  </a:lnTo>
                  <a:lnTo>
                    <a:pt x="71" y="2160"/>
                  </a:lnTo>
                  <a:lnTo>
                    <a:pt x="47" y="2140"/>
                  </a:lnTo>
                  <a:lnTo>
                    <a:pt x="28" y="2117"/>
                  </a:lnTo>
                  <a:lnTo>
                    <a:pt x="13" y="2089"/>
                  </a:lnTo>
                  <a:lnTo>
                    <a:pt x="3" y="2058"/>
                  </a:lnTo>
                  <a:lnTo>
                    <a:pt x="0" y="2027"/>
                  </a:lnTo>
                  <a:lnTo>
                    <a:pt x="0" y="1644"/>
                  </a:lnTo>
                  <a:lnTo>
                    <a:pt x="2" y="1625"/>
                  </a:lnTo>
                  <a:lnTo>
                    <a:pt x="10" y="1608"/>
                  </a:lnTo>
                  <a:lnTo>
                    <a:pt x="20" y="1594"/>
                  </a:lnTo>
                  <a:lnTo>
                    <a:pt x="34" y="1582"/>
                  </a:lnTo>
                  <a:lnTo>
                    <a:pt x="51" y="1576"/>
                  </a:lnTo>
                  <a:lnTo>
                    <a:pt x="70" y="1573"/>
                  </a:lnTo>
                  <a:lnTo>
                    <a:pt x="80" y="1574"/>
                  </a:lnTo>
                  <a:lnTo>
                    <a:pt x="91" y="1577"/>
                  </a:lnTo>
                  <a:lnTo>
                    <a:pt x="645" y="1577"/>
                  </a:lnTo>
                  <a:lnTo>
                    <a:pt x="655" y="1532"/>
                  </a:lnTo>
                  <a:lnTo>
                    <a:pt x="671" y="1489"/>
                  </a:lnTo>
                  <a:lnTo>
                    <a:pt x="691" y="1448"/>
                  </a:lnTo>
                  <a:lnTo>
                    <a:pt x="716" y="1411"/>
                  </a:lnTo>
                  <a:lnTo>
                    <a:pt x="744" y="1376"/>
                  </a:lnTo>
                  <a:lnTo>
                    <a:pt x="777" y="1345"/>
                  </a:lnTo>
                  <a:lnTo>
                    <a:pt x="813" y="1318"/>
                  </a:lnTo>
                  <a:lnTo>
                    <a:pt x="851" y="1296"/>
                  </a:lnTo>
                  <a:lnTo>
                    <a:pt x="893" y="1277"/>
                  </a:lnTo>
                  <a:lnTo>
                    <a:pt x="937" y="1264"/>
                  </a:lnTo>
                  <a:lnTo>
                    <a:pt x="982" y="1255"/>
                  </a:lnTo>
                  <a:lnTo>
                    <a:pt x="1030" y="1252"/>
                  </a:lnTo>
                  <a:lnTo>
                    <a:pt x="1049" y="1254"/>
                  </a:lnTo>
                  <a:lnTo>
                    <a:pt x="1066" y="1262"/>
                  </a:lnTo>
                  <a:lnTo>
                    <a:pt x="1080" y="1272"/>
                  </a:lnTo>
                  <a:lnTo>
                    <a:pt x="1090" y="1287"/>
                  </a:lnTo>
                  <a:lnTo>
                    <a:pt x="1098" y="1304"/>
                  </a:lnTo>
                  <a:lnTo>
                    <a:pt x="1100" y="1322"/>
                  </a:lnTo>
                  <a:lnTo>
                    <a:pt x="1098" y="1341"/>
                  </a:lnTo>
                  <a:lnTo>
                    <a:pt x="1090" y="1358"/>
                  </a:lnTo>
                  <a:lnTo>
                    <a:pt x="1080" y="1372"/>
                  </a:lnTo>
                  <a:lnTo>
                    <a:pt x="1066" y="1383"/>
                  </a:lnTo>
                  <a:lnTo>
                    <a:pt x="1049" y="1390"/>
                  </a:lnTo>
                  <a:lnTo>
                    <a:pt x="1030" y="1393"/>
                  </a:lnTo>
                  <a:lnTo>
                    <a:pt x="993" y="1395"/>
                  </a:lnTo>
                  <a:lnTo>
                    <a:pt x="957" y="1404"/>
                  </a:lnTo>
                  <a:lnTo>
                    <a:pt x="923" y="1416"/>
                  </a:lnTo>
                  <a:lnTo>
                    <a:pt x="892" y="1434"/>
                  </a:lnTo>
                  <a:lnTo>
                    <a:pt x="864" y="1456"/>
                  </a:lnTo>
                  <a:lnTo>
                    <a:pt x="838" y="1482"/>
                  </a:lnTo>
                  <a:lnTo>
                    <a:pt x="818" y="1510"/>
                  </a:lnTo>
                  <a:lnTo>
                    <a:pt x="801" y="1542"/>
                  </a:lnTo>
                  <a:lnTo>
                    <a:pt x="789" y="1577"/>
                  </a:lnTo>
                  <a:lnTo>
                    <a:pt x="1070" y="1577"/>
                  </a:lnTo>
                  <a:lnTo>
                    <a:pt x="1080" y="1528"/>
                  </a:lnTo>
                  <a:lnTo>
                    <a:pt x="1096" y="1482"/>
                  </a:lnTo>
                  <a:lnTo>
                    <a:pt x="1116" y="1438"/>
                  </a:lnTo>
                  <a:lnTo>
                    <a:pt x="1140" y="1397"/>
                  </a:lnTo>
                  <a:lnTo>
                    <a:pt x="1169" y="1359"/>
                  </a:lnTo>
                  <a:lnTo>
                    <a:pt x="1200" y="1324"/>
                  </a:lnTo>
                  <a:lnTo>
                    <a:pt x="1236" y="1292"/>
                  </a:lnTo>
                  <a:lnTo>
                    <a:pt x="1275" y="1265"/>
                  </a:lnTo>
                  <a:lnTo>
                    <a:pt x="1318" y="1242"/>
                  </a:lnTo>
                  <a:lnTo>
                    <a:pt x="1362" y="1224"/>
                  </a:lnTo>
                  <a:lnTo>
                    <a:pt x="1410" y="1210"/>
                  </a:lnTo>
                  <a:lnTo>
                    <a:pt x="1412" y="1209"/>
                  </a:lnTo>
                  <a:lnTo>
                    <a:pt x="1419" y="1208"/>
                  </a:lnTo>
                  <a:lnTo>
                    <a:pt x="1432" y="1206"/>
                  </a:lnTo>
                  <a:lnTo>
                    <a:pt x="1448" y="1204"/>
                  </a:lnTo>
                  <a:lnTo>
                    <a:pt x="1468" y="1201"/>
                  </a:lnTo>
                  <a:lnTo>
                    <a:pt x="1492" y="1199"/>
                  </a:lnTo>
                  <a:lnTo>
                    <a:pt x="1519" y="1199"/>
                  </a:lnTo>
                  <a:lnTo>
                    <a:pt x="1550" y="1200"/>
                  </a:lnTo>
                  <a:lnTo>
                    <a:pt x="1600" y="1208"/>
                  </a:lnTo>
                  <a:lnTo>
                    <a:pt x="1648" y="1220"/>
                  </a:lnTo>
                  <a:lnTo>
                    <a:pt x="1695" y="1238"/>
                  </a:lnTo>
                  <a:lnTo>
                    <a:pt x="1738" y="1262"/>
                  </a:lnTo>
                  <a:lnTo>
                    <a:pt x="1778" y="1289"/>
                  </a:lnTo>
                  <a:lnTo>
                    <a:pt x="1815" y="1320"/>
                  </a:lnTo>
                  <a:lnTo>
                    <a:pt x="1849" y="1356"/>
                  </a:lnTo>
                  <a:lnTo>
                    <a:pt x="1879" y="1394"/>
                  </a:lnTo>
                  <a:lnTo>
                    <a:pt x="1903" y="1436"/>
                  </a:lnTo>
                  <a:lnTo>
                    <a:pt x="1924" y="1481"/>
                  </a:lnTo>
                  <a:lnTo>
                    <a:pt x="1940" y="1528"/>
                  </a:lnTo>
                  <a:lnTo>
                    <a:pt x="1950" y="1577"/>
                  </a:lnTo>
                  <a:lnTo>
                    <a:pt x="2229" y="1577"/>
                  </a:lnTo>
                  <a:lnTo>
                    <a:pt x="2218" y="1543"/>
                  </a:lnTo>
                  <a:lnTo>
                    <a:pt x="2201" y="1511"/>
                  </a:lnTo>
                  <a:lnTo>
                    <a:pt x="2179" y="1483"/>
                  </a:lnTo>
                  <a:lnTo>
                    <a:pt x="2155" y="1456"/>
                  </a:lnTo>
                  <a:lnTo>
                    <a:pt x="2127" y="1435"/>
                  </a:lnTo>
                  <a:lnTo>
                    <a:pt x="2096" y="1417"/>
                  </a:lnTo>
                  <a:lnTo>
                    <a:pt x="2062" y="1405"/>
                  </a:lnTo>
                  <a:lnTo>
                    <a:pt x="2026" y="1396"/>
                  </a:lnTo>
                  <a:lnTo>
                    <a:pt x="1988" y="1393"/>
                  </a:lnTo>
                  <a:lnTo>
                    <a:pt x="1970" y="1391"/>
                  </a:lnTo>
                  <a:lnTo>
                    <a:pt x="1953" y="1383"/>
                  </a:lnTo>
                  <a:lnTo>
                    <a:pt x="1938" y="1373"/>
                  </a:lnTo>
                  <a:lnTo>
                    <a:pt x="1928" y="1359"/>
                  </a:lnTo>
                  <a:lnTo>
                    <a:pt x="1920" y="1342"/>
                  </a:lnTo>
                  <a:lnTo>
                    <a:pt x="1918" y="1323"/>
                  </a:lnTo>
                  <a:lnTo>
                    <a:pt x="1920" y="1304"/>
                  </a:lnTo>
                  <a:lnTo>
                    <a:pt x="1928" y="1287"/>
                  </a:lnTo>
                  <a:lnTo>
                    <a:pt x="1938" y="1273"/>
                  </a:lnTo>
                  <a:lnTo>
                    <a:pt x="1953" y="1263"/>
                  </a:lnTo>
                  <a:lnTo>
                    <a:pt x="1970" y="1255"/>
                  </a:lnTo>
                  <a:lnTo>
                    <a:pt x="1988" y="1253"/>
                  </a:lnTo>
                  <a:lnTo>
                    <a:pt x="2035" y="1255"/>
                  </a:lnTo>
                  <a:lnTo>
                    <a:pt x="2082" y="1264"/>
                  </a:lnTo>
                  <a:lnTo>
                    <a:pt x="2125" y="1278"/>
                  </a:lnTo>
                  <a:lnTo>
                    <a:pt x="2167" y="1296"/>
                  </a:lnTo>
                  <a:lnTo>
                    <a:pt x="2206" y="1319"/>
                  </a:lnTo>
                  <a:lnTo>
                    <a:pt x="2242" y="1346"/>
                  </a:lnTo>
                  <a:lnTo>
                    <a:pt x="2274" y="1377"/>
                  </a:lnTo>
                  <a:lnTo>
                    <a:pt x="2302" y="1412"/>
                  </a:lnTo>
                  <a:lnTo>
                    <a:pt x="2328" y="1449"/>
                  </a:lnTo>
                  <a:lnTo>
                    <a:pt x="2348" y="1489"/>
                  </a:lnTo>
                  <a:lnTo>
                    <a:pt x="2363" y="1533"/>
                  </a:lnTo>
                  <a:lnTo>
                    <a:pt x="2373" y="1577"/>
                  </a:lnTo>
                  <a:lnTo>
                    <a:pt x="2674" y="1577"/>
                  </a:lnTo>
                  <a:lnTo>
                    <a:pt x="2692" y="1580"/>
                  </a:lnTo>
                  <a:lnTo>
                    <a:pt x="2709" y="1588"/>
                  </a:lnTo>
                  <a:lnTo>
                    <a:pt x="2724" y="1598"/>
                  </a:lnTo>
                  <a:lnTo>
                    <a:pt x="2734" y="1612"/>
                  </a:lnTo>
                  <a:lnTo>
                    <a:pt x="2742" y="1629"/>
                  </a:lnTo>
                  <a:lnTo>
                    <a:pt x="2744" y="1648"/>
                  </a:lnTo>
                  <a:lnTo>
                    <a:pt x="2742" y="1667"/>
                  </a:lnTo>
                  <a:lnTo>
                    <a:pt x="2734" y="1683"/>
                  </a:lnTo>
                  <a:lnTo>
                    <a:pt x="2724" y="1698"/>
                  </a:lnTo>
                  <a:lnTo>
                    <a:pt x="2709" y="1708"/>
                  </a:lnTo>
                  <a:lnTo>
                    <a:pt x="2692" y="1716"/>
                  </a:lnTo>
                  <a:lnTo>
                    <a:pt x="2674" y="1718"/>
                  </a:lnTo>
                  <a:lnTo>
                    <a:pt x="140" y="1718"/>
                  </a:lnTo>
                  <a:lnTo>
                    <a:pt x="140" y="2027"/>
                  </a:lnTo>
                  <a:lnTo>
                    <a:pt x="143" y="2037"/>
                  </a:lnTo>
                  <a:lnTo>
                    <a:pt x="150" y="2045"/>
                  </a:lnTo>
                  <a:lnTo>
                    <a:pt x="161" y="2048"/>
                  </a:lnTo>
                  <a:lnTo>
                    <a:pt x="2873" y="2048"/>
                  </a:lnTo>
                  <a:lnTo>
                    <a:pt x="2883" y="2045"/>
                  </a:lnTo>
                  <a:lnTo>
                    <a:pt x="2891" y="2037"/>
                  </a:lnTo>
                  <a:lnTo>
                    <a:pt x="2893" y="2027"/>
                  </a:lnTo>
                  <a:lnTo>
                    <a:pt x="2893" y="160"/>
                  </a:lnTo>
                  <a:lnTo>
                    <a:pt x="2891" y="150"/>
                  </a:lnTo>
                  <a:lnTo>
                    <a:pt x="2883" y="143"/>
                  </a:lnTo>
                  <a:lnTo>
                    <a:pt x="2873" y="140"/>
                  </a:lnTo>
                  <a:lnTo>
                    <a:pt x="2114" y="140"/>
                  </a:lnTo>
                  <a:lnTo>
                    <a:pt x="2095" y="137"/>
                  </a:lnTo>
                  <a:lnTo>
                    <a:pt x="2078" y="131"/>
                  </a:lnTo>
                  <a:lnTo>
                    <a:pt x="2064" y="119"/>
                  </a:lnTo>
                  <a:lnTo>
                    <a:pt x="2053" y="105"/>
                  </a:lnTo>
                  <a:lnTo>
                    <a:pt x="2046" y="89"/>
                  </a:lnTo>
                  <a:lnTo>
                    <a:pt x="2044" y="70"/>
                  </a:lnTo>
                  <a:lnTo>
                    <a:pt x="2046" y="52"/>
                  </a:lnTo>
                  <a:lnTo>
                    <a:pt x="2053" y="35"/>
                  </a:lnTo>
                  <a:lnTo>
                    <a:pt x="2064" y="20"/>
                  </a:lnTo>
                  <a:lnTo>
                    <a:pt x="2078" y="9"/>
                  </a:lnTo>
                  <a:lnTo>
                    <a:pt x="2095" y="2"/>
                  </a:lnTo>
                  <a:lnTo>
                    <a:pt x="21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72" name="Freeform 109"/>
            <p:cNvSpPr/>
            <p:nvPr>
              <p:custDataLst>
                <p:tags r:id="rId31"/>
              </p:custDataLst>
            </p:nvPr>
          </p:nvSpPr>
          <p:spPr bwMode="auto">
            <a:xfrm>
              <a:off x="9990138" y="2809875"/>
              <a:ext cx="157163" cy="231775"/>
            </a:xfrm>
            <a:custGeom>
              <a:avLst/>
              <a:gdLst>
                <a:gd name="T0" fmla="*/ 161 w 993"/>
                <a:gd name="T1" fmla="*/ 0 h 1455"/>
                <a:gd name="T2" fmla="*/ 922 w 993"/>
                <a:gd name="T3" fmla="*/ 0 h 1455"/>
                <a:gd name="T4" fmla="*/ 941 w 993"/>
                <a:gd name="T5" fmla="*/ 2 h 1455"/>
                <a:gd name="T6" fmla="*/ 958 w 993"/>
                <a:gd name="T7" fmla="*/ 9 h 1455"/>
                <a:gd name="T8" fmla="*/ 972 w 993"/>
                <a:gd name="T9" fmla="*/ 20 h 1455"/>
                <a:gd name="T10" fmla="*/ 983 w 993"/>
                <a:gd name="T11" fmla="*/ 35 h 1455"/>
                <a:gd name="T12" fmla="*/ 990 w 993"/>
                <a:gd name="T13" fmla="*/ 52 h 1455"/>
                <a:gd name="T14" fmla="*/ 993 w 993"/>
                <a:gd name="T15" fmla="*/ 70 h 1455"/>
                <a:gd name="T16" fmla="*/ 990 w 993"/>
                <a:gd name="T17" fmla="*/ 89 h 1455"/>
                <a:gd name="T18" fmla="*/ 983 w 993"/>
                <a:gd name="T19" fmla="*/ 105 h 1455"/>
                <a:gd name="T20" fmla="*/ 972 w 993"/>
                <a:gd name="T21" fmla="*/ 119 h 1455"/>
                <a:gd name="T22" fmla="*/ 958 w 993"/>
                <a:gd name="T23" fmla="*/ 131 h 1455"/>
                <a:gd name="T24" fmla="*/ 941 w 993"/>
                <a:gd name="T25" fmla="*/ 137 h 1455"/>
                <a:gd name="T26" fmla="*/ 922 w 993"/>
                <a:gd name="T27" fmla="*/ 140 h 1455"/>
                <a:gd name="T28" fmla="*/ 161 w 993"/>
                <a:gd name="T29" fmla="*/ 140 h 1455"/>
                <a:gd name="T30" fmla="*/ 150 w 993"/>
                <a:gd name="T31" fmla="*/ 143 h 1455"/>
                <a:gd name="T32" fmla="*/ 143 w 993"/>
                <a:gd name="T33" fmla="*/ 150 h 1455"/>
                <a:gd name="T34" fmla="*/ 140 w 993"/>
                <a:gd name="T35" fmla="*/ 160 h 1455"/>
                <a:gd name="T36" fmla="*/ 140 w 993"/>
                <a:gd name="T37" fmla="*/ 1384 h 1455"/>
                <a:gd name="T38" fmla="*/ 138 w 993"/>
                <a:gd name="T39" fmla="*/ 1404 h 1455"/>
                <a:gd name="T40" fmla="*/ 130 w 993"/>
                <a:gd name="T41" fmla="*/ 1420 h 1455"/>
                <a:gd name="T42" fmla="*/ 120 w 993"/>
                <a:gd name="T43" fmla="*/ 1434 h 1455"/>
                <a:gd name="T44" fmla="*/ 105 w 993"/>
                <a:gd name="T45" fmla="*/ 1446 h 1455"/>
                <a:gd name="T46" fmla="*/ 89 w 993"/>
                <a:gd name="T47" fmla="*/ 1452 h 1455"/>
                <a:gd name="T48" fmla="*/ 70 w 993"/>
                <a:gd name="T49" fmla="*/ 1455 h 1455"/>
                <a:gd name="T50" fmla="*/ 51 w 993"/>
                <a:gd name="T51" fmla="*/ 1452 h 1455"/>
                <a:gd name="T52" fmla="*/ 34 w 993"/>
                <a:gd name="T53" fmla="*/ 1446 h 1455"/>
                <a:gd name="T54" fmla="*/ 20 w 993"/>
                <a:gd name="T55" fmla="*/ 1434 h 1455"/>
                <a:gd name="T56" fmla="*/ 10 w 993"/>
                <a:gd name="T57" fmla="*/ 1420 h 1455"/>
                <a:gd name="T58" fmla="*/ 2 w 993"/>
                <a:gd name="T59" fmla="*/ 1404 h 1455"/>
                <a:gd name="T60" fmla="*/ 0 w 993"/>
                <a:gd name="T61" fmla="*/ 1384 h 1455"/>
                <a:gd name="T62" fmla="*/ 0 w 993"/>
                <a:gd name="T63" fmla="*/ 160 h 1455"/>
                <a:gd name="T64" fmla="*/ 3 w 993"/>
                <a:gd name="T65" fmla="*/ 128 h 1455"/>
                <a:gd name="T66" fmla="*/ 13 w 993"/>
                <a:gd name="T67" fmla="*/ 98 h 1455"/>
                <a:gd name="T68" fmla="*/ 28 w 993"/>
                <a:gd name="T69" fmla="*/ 71 h 1455"/>
                <a:gd name="T70" fmla="*/ 47 w 993"/>
                <a:gd name="T71" fmla="*/ 47 h 1455"/>
                <a:gd name="T72" fmla="*/ 71 w 993"/>
                <a:gd name="T73" fmla="*/ 27 h 1455"/>
                <a:gd name="T74" fmla="*/ 98 w 993"/>
                <a:gd name="T75" fmla="*/ 12 h 1455"/>
                <a:gd name="T76" fmla="*/ 128 w 993"/>
                <a:gd name="T77" fmla="*/ 3 h 1455"/>
                <a:gd name="T78" fmla="*/ 161 w 993"/>
                <a:gd name="T79" fmla="*/ 0 h 1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93" h="1455">
                  <a:moveTo>
                    <a:pt x="161" y="0"/>
                  </a:moveTo>
                  <a:lnTo>
                    <a:pt x="922" y="0"/>
                  </a:lnTo>
                  <a:lnTo>
                    <a:pt x="941" y="2"/>
                  </a:lnTo>
                  <a:lnTo>
                    <a:pt x="958" y="9"/>
                  </a:lnTo>
                  <a:lnTo>
                    <a:pt x="972" y="20"/>
                  </a:lnTo>
                  <a:lnTo>
                    <a:pt x="983" y="35"/>
                  </a:lnTo>
                  <a:lnTo>
                    <a:pt x="990" y="52"/>
                  </a:lnTo>
                  <a:lnTo>
                    <a:pt x="993" y="70"/>
                  </a:lnTo>
                  <a:lnTo>
                    <a:pt x="990" y="89"/>
                  </a:lnTo>
                  <a:lnTo>
                    <a:pt x="983" y="105"/>
                  </a:lnTo>
                  <a:lnTo>
                    <a:pt x="972" y="119"/>
                  </a:lnTo>
                  <a:lnTo>
                    <a:pt x="958" y="131"/>
                  </a:lnTo>
                  <a:lnTo>
                    <a:pt x="941" y="137"/>
                  </a:lnTo>
                  <a:lnTo>
                    <a:pt x="922" y="140"/>
                  </a:lnTo>
                  <a:lnTo>
                    <a:pt x="161" y="140"/>
                  </a:lnTo>
                  <a:lnTo>
                    <a:pt x="150" y="143"/>
                  </a:lnTo>
                  <a:lnTo>
                    <a:pt x="143" y="150"/>
                  </a:lnTo>
                  <a:lnTo>
                    <a:pt x="140" y="160"/>
                  </a:lnTo>
                  <a:lnTo>
                    <a:pt x="140" y="1384"/>
                  </a:lnTo>
                  <a:lnTo>
                    <a:pt x="138" y="1404"/>
                  </a:lnTo>
                  <a:lnTo>
                    <a:pt x="130" y="1420"/>
                  </a:lnTo>
                  <a:lnTo>
                    <a:pt x="120" y="1434"/>
                  </a:lnTo>
                  <a:lnTo>
                    <a:pt x="105" y="1446"/>
                  </a:lnTo>
                  <a:lnTo>
                    <a:pt x="89" y="1452"/>
                  </a:lnTo>
                  <a:lnTo>
                    <a:pt x="70" y="1455"/>
                  </a:lnTo>
                  <a:lnTo>
                    <a:pt x="51" y="1452"/>
                  </a:lnTo>
                  <a:lnTo>
                    <a:pt x="34" y="1446"/>
                  </a:lnTo>
                  <a:lnTo>
                    <a:pt x="20" y="1434"/>
                  </a:lnTo>
                  <a:lnTo>
                    <a:pt x="10" y="1420"/>
                  </a:lnTo>
                  <a:lnTo>
                    <a:pt x="2" y="1404"/>
                  </a:lnTo>
                  <a:lnTo>
                    <a:pt x="0" y="1384"/>
                  </a:lnTo>
                  <a:lnTo>
                    <a:pt x="0" y="160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8" y="71"/>
                  </a:lnTo>
                  <a:lnTo>
                    <a:pt x="47" y="47"/>
                  </a:lnTo>
                  <a:lnTo>
                    <a:pt x="71" y="27"/>
                  </a:lnTo>
                  <a:lnTo>
                    <a:pt x="98" y="12"/>
                  </a:lnTo>
                  <a:lnTo>
                    <a:pt x="128" y="3"/>
                  </a:lnTo>
                  <a:lnTo>
                    <a:pt x="1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73" name="Freeform 110"/>
            <p:cNvSpPr/>
            <p:nvPr>
              <p:custDataLst>
                <p:tags r:id="rId32"/>
              </p:custDataLst>
            </p:nvPr>
          </p:nvSpPr>
          <p:spPr bwMode="auto">
            <a:xfrm>
              <a:off x="10139363" y="2690813"/>
              <a:ext cx="179388" cy="300038"/>
            </a:xfrm>
            <a:custGeom>
              <a:avLst/>
              <a:gdLst>
                <a:gd name="T0" fmla="*/ 603 w 1137"/>
                <a:gd name="T1" fmla="*/ 7 h 1894"/>
                <a:gd name="T2" fmla="*/ 887 w 1137"/>
                <a:gd name="T3" fmla="*/ 325 h 1894"/>
                <a:gd name="T4" fmla="*/ 951 w 1137"/>
                <a:gd name="T5" fmla="*/ 433 h 1894"/>
                <a:gd name="T6" fmla="*/ 974 w 1137"/>
                <a:gd name="T7" fmla="*/ 557 h 1894"/>
                <a:gd name="T8" fmla="*/ 980 w 1137"/>
                <a:gd name="T9" fmla="*/ 1155 h 1894"/>
                <a:gd name="T10" fmla="*/ 1114 w 1137"/>
                <a:gd name="T11" fmla="*/ 1375 h 1894"/>
                <a:gd name="T12" fmla="*/ 1137 w 1137"/>
                <a:gd name="T13" fmla="*/ 1477 h 1894"/>
                <a:gd name="T14" fmla="*/ 1127 w 1137"/>
                <a:gd name="T15" fmla="*/ 1653 h 1894"/>
                <a:gd name="T16" fmla="*/ 1086 w 1137"/>
                <a:gd name="T17" fmla="*/ 1685 h 1894"/>
                <a:gd name="T18" fmla="*/ 912 w 1137"/>
                <a:gd name="T19" fmla="*/ 1823 h 1894"/>
                <a:gd name="T20" fmla="*/ 891 w 1137"/>
                <a:gd name="T21" fmla="*/ 1873 h 1894"/>
                <a:gd name="T22" fmla="*/ 841 w 1137"/>
                <a:gd name="T23" fmla="*/ 1893 h 1894"/>
                <a:gd name="T24" fmla="*/ 793 w 1137"/>
                <a:gd name="T25" fmla="*/ 1873 h 1894"/>
                <a:gd name="T26" fmla="*/ 771 w 1137"/>
                <a:gd name="T27" fmla="*/ 1823 h 1894"/>
                <a:gd name="T28" fmla="*/ 747 w 1137"/>
                <a:gd name="T29" fmla="*/ 1652 h 1894"/>
                <a:gd name="T30" fmla="*/ 740 w 1137"/>
                <a:gd name="T31" fmla="*/ 1598 h 1894"/>
                <a:gd name="T32" fmla="*/ 772 w 1137"/>
                <a:gd name="T33" fmla="*/ 1556 h 1894"/>
                <a:gd name="T34" fmla="*/ 996 w 1137"/>
                <a:gd name="T35" fmla="*/ 1546 h 1894"/>
                <a:gd name="T36" fmla="*/ 988 w 1137"/>
                <a:gd name="T37" fmla="*/ 1436 h 1894"/>
                <a:gd name="T38" fmla="*/ 854 w 1137"/>
                <a:gd name="T39" fmla="*/ 1216 h 1894"/>
                <a:gd name="T40" fmla="*/ 833 w 1137"/>
                <a:gd name="T41" fmla="*/ 1116 h 1894"/>
                <a:gd name="T42" fmla="*/ 824 w 1137"/>
                <a:gd name="T43" fmla="*/ 497 h 1894"/>
                <a:gd name="T44" fmla="*/ 781 w 1137"/>
                <a:gd name="T45" fmla="*/ 416 h 1894"/>
                <a:gd name="T46" fmla="*/ 352 w 1137"/>
                <a:gd name="T47" fmla="*/ 442 h 1894"/>
                <a:gd name="T48" fmla="*/ 321 w 1137"/>
                <a:gd name="T49" fmla="*/ 526 h 1894"/>
                <a:gd name="T50" fmla="*/ 316 w 1137"/>
                <a:gd name="T51" fmla="*/ 1149 h 1894"/>
                <a:gd name="T52" fmla="*/ 276 w 1137"/>
                <a:gd name="T53" fmla="*/ 1252 h 1894"/>
                <a:gd name="T54" fmla="*/ 143 w 1137"/>
                <a:gd name="T55" fmla="*/ 1459 h 1894"/>
                <a:gd name="T56" fmla="*/ 338 w 1137"/>
                <a:gd name="T57" fmla="*/ 1547 h 1894"/>
                <a:gd name="T58" fmla="*/ 388 w 1137"/>
                <a:gd name="T59" fmla="*/ 1567 h 1894"/>
                <a:gd name="T60" fmla="*/ 409 w 1137"/>
                <a:gd name="T61" fmla="*/ 1617 h 1894"/>
                <a:gd name="T62" fmla="*/ 388 w 1137"/>
                <a:gd name="T63" fmla="*/ 1667 h 1894"/>
                <a:gd name="T64" fmla="*/ 338 w 1137"/>
                <a:gd name="T65" fmla="*/ 1688 h 1894"/>
                <a:gd name="T66" fmla="*/ 335 w 1137"/>
                <a:gd name="T67" fmla="*/ 1842 h 1894"/>
                <a:gd name="T68" fmla="*/ 303 w 1137"/>
                <a:gd name="T69" fmla="*/ 1885 h 1894"/>
                <a:gd name="T70" fmla="*/ 250 w 1137"/>
                <a:gd name="T71" fmla="*/ 1891 h 1894"/>
                <a:gd name="T72" fmla="*/ 207 w 1137"/>
                <a:gd name="T73" fmla="*/ 1859 h 1894"/>
                <a:gd name="T74" fmla="*/ 198 w 1137"/>
                <a:gd name="T75" fmla="*/ 1688 h 1894"/>
                <a:gd name="T76" fmla="*/ 35 w 1137"/>
                <a:gd name="T77" fmla="*/ 1678 h 1894"/>
                <a:gd name="T78" fmla="*/ 2 w 1137"/>
                <a:gd name="T79" fmla="*/ 1636 h 1894"/>
                <a:gd name="T80" fmla="*/ 3 w 1137"/>
                <a:gd name="T81" fmla="*/ 1443 h 1894"/>
                <a:gd name="T82" fmla="*/ 45 w 1137"/>
                <a:gd name="T83" fmla="*/ 1338 h 1894"/>
                <a:gd name="T84" fmla="*/ 178 w 1137"/>
                <a:gd name="T85" fmla="*/ 1134 h 1894"/>
                <a:gd name="T86" fmla="*/ 182 w 1137"/>
                <a:gd name="T87" fmla="*/ 515 h 1894"/>
                <a:gd name="T88" fmla="*/ 218 w 1137"/>
                <a:gd name="T89" fmla="*/ 395 h 1894"/>
                <a:gd name="T90" fmla="*/ 522 w 1137"/>
                <a:gd name="T91" fmla="*/ 25 h 1894"/>
                <a:gd name="T92" fmla="*/ 574 w 1137"/>
                <a:gd name="T93" fmla="*/ 0 h 1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37" h="1894">
                  <a:moveTo>
                    <a:pt x="574" y="0"/>
                  </a:moveTo>
                  <a:lnTo>
                    <a:pt x="589" y="3"/>
                  </a:lnTo>
                  <a:lnTo>
                    <a:pt x="603" y="7"/>
                  </a:lnTo>
                  <a:lnTo>
                    <a:pt x="617" y="14"/>
                  </a:lnTo>
                  <a:lnTo>
                    <a:pt x="627" y="25"/>
                  </a:lnTo>
                  <a:lnTo>
                    <a:pt x="887" y="325"/>
                  </a:lnTo>
                  <a:lnTo>
                    <a:pt x="913" y="359"/>
                  </a:lnTo>
                  <a:lnTo>
                    <a:pt x="934" y="395"/>
                  </a:lnTo>
                  <a:lnTo>
                    <a:pt x="951" y="433"/>
                  </a:lnTo>
                  <a:lnTo>
                    <a:pt x="964" y="473"/>
                  </a:lnTo>
                  <a:lnTo>
                    <a:pt x="971" y="515"/>
                  </a:lnTo>
                  <a:lnTo>
                    <a:pt x="974" y="557"/>
                  </a:lnTo>
                  <a:lnTo>
                    <a:pt x="974" y="1118"/>
                  </a:lnTo>
                  <a:lnTo>
                    <a:pt x="976" y="1137"/>
                  </a:lnTo>
                  <a:lnTo>
                    <a:pt x="980" y="1155"/>
                  </a:lnTo>
                  <a:lnTo>
                    <a:pt x="989" y="1173"/>
                  </a:lnTo>
                  <a:lnTo>
                    <a:pt x="1097" y="1343"/>
                  </a:lnTo>
                  <a:lnTo>
                    <a:pt x="1114" y="1375"/>
                  </a:lnTo>
                  <a:lnTo>
                    <a:pt x="1127" y="1407"/>
                  </a:lnTo>
                  <a:lnTo>
                    <a:pt x="1134" y="1442"/>
                  </a:lnTo>
                  <a:lnTo>
                    <a:pt x="1137" y="1477"/>
                  </a:lnTo>
                  <a:lnTo>
                    <a:pt x="1137" y="1617"/>
                  </a:lnTo>
                  <a:lnTo>
                    <a:pt x="1134" y="1636"/>
                  </a:lnTo>
                  <a:lnTo>
                    <a:pt x="1127" y="1653"/>
                  </a:lnTo>
                  <a:lnTo>
                    <a:pt x="1116" y="1667"/>
                  </a:lnTo>
                  <a:lnTo>
                    <a:pt x="1102" y="1678"/>
                  </a:lnTo>
                  <a:lnTo>
                    <a:pt x="1086" y="1685"/>
                  </a:lnTo>
                  <a:lnTo>
                    <a:pt x="1067" y="1688"/>
                  </a:lnTo>
                  <a:lnTo>
                    <a:pt x="912" y="1688"/>
                  </a:lnTo>
                  <a:lnTo>
                    <a:pt x="912" y="1823"/>
                  </a:lnTo>
                  <a:lnTo>
                    <a:pt x="909" y="1841"/>
                  </a:lnTo>
                  <a:lnTo>
                    <a:pt x="903" y="1858"/>
                  </a:lnTo>
                  <a:lnTo>
                    <a:pt x="891" y="1873"/>
                  </a:lnTo>
                  <a:lnTo>
                    <a:pt x="877" y="1883"/>
                  </a:lnTo>
                  <a:lnTo>
                    <a:pt x="860" y="1891"/>
                  </a:lnTo>
                  <a:lnTo>
                    <a:pt x="841" y="1893"/>
                  </a:lnTo>
                  <a:lnTo>
                    <a:pt x="823" y="1891"/>
                  </a:lnTo>
                  <a:lnTo>
                    <a:pt x="806" y="1883"/>
                  </a:lnTo>
                  <a:lnTo>
                    <a:pt x="793" y="1873"/>
                  </a:lnTo>
                  <a:lnTo>
                    <a:pt x="781" y="1858"/>
                  </a:lnTo>
                  <a:lnTo>
                    <a:pt x="773" y="1841"/>
                  </a:lnTo>
                  <a:lnTo>
                    <a:pt x="771" y="1823"/>
                  </a:lnTo>
                  <a:lnTo>
                    <a:pt x="771" y="1676"/>
                  </a:lnTo>
                  <a:lnTo>
                    <a:pt x="758" y="1666"/>
                  </a:lnTo>
                  <a:lnTo>
                    <a:pt x="747" y="1652"/>
                  </a:lnTo>
                  <a:lnTo>
                    <a:pt x="740" y="1635"/>
                  </a:lnTo>
                  <a:lnTo>
                    <a:pt x="737" y="1617"/>
                  </a:lnTo>
                  <a:lnTo>
                    <a:pt x="740" y="1598"/>
                  </a:lnTo>
                  <a:lnTo>
                    <a:pt x="747" y="1581"/>
                  </a:lnTo>
                  <a:lnTo>
                    <a:pt x="758" y="1567"/>
                  </a:lnTo>
                  <a:lnTo>
                    <a:pt x="772" y="1556"/>
                  </a:lnTo>
                  <a:lnTo>
                    <a:pt x="789" y="1549"/>
                  </a:lnTo>
                  <a:lnTo>
                    <a:pt x="807" y="1546"/>
                  </a:lnTo>
                  <a:lnTo>
                    <a:pt x="996" y="1546"/>
                  </a:lnTo>
                  <a:lnTo>
                    <a:pt x="996" y="1477"/>
                  </a:lnTo>
                  <a:lnTo>
                    <a:pt x="995" y="1456"/>
                  </a:lnTo>
                  <a:lnTo>
                    <a:pt x="988" y="1436"/>
                  </a:lnTo>
                  <a:lnTo>
                    <a:pt x="979" y="1417"/>
                  </a:lnTo>
                  <a:lnTo>
                    <a:pt x="871" y="1247"/>
                  </a:lnTo>
                  <a:lnTo>
                    <a:pt x="854" y="1216"/>
                  </a:lnTo>
                  <a:lnTo>
                    <a:pt x="842" y="1184"/>
                  </a:lnTo>
                  <a:lnTo>
                    <a:pt x="836" y="1151"/>
                  </a:lnTo>
                  <a:lnTo>
                    <a:pt x="833" y="1116"/>
                  </a:lnTo>
                  <a:lnTo>
                    <a:pt x="833" y="556"/>
                  </a:lnTo>
                  <a:lnTo>
                    <a:pt x="831" y="526"/>
                  </a:lnTo>
                  <a:lnTo>
                    <a:pt x="824" y="497"/>
                  </a:lnTo>
                  <a:lnTo>
                    <a:pt x="814" y="468"/>
                  </a:lnTo>
                  <a:lnTo>
                    <a:pt x="800" y="442"/>
                  </a:lnTo>
                  <a:lnTo>
                    <a:pt x="781" y="416"/>
                  </a:lnTo>
                  <a:lnTo>
                    <a:pt x="576" y="178"/>
                  </a:lnTo>
                  <a:lnTo>
                    <a:pt x="370" y="417"/>
                  </a:lnTo>
                  <a:lnTo>
                    <a:pt x="352" y="442"/>
                  </a:lnTo>
                  <a:lnTo>
                    <a:pt x="338" y="468"/>
                  </a:lnTo>
                  <a:lnTo>
                    <a:pt x="328" y="497"/>
                  </a:lnTo>
                  <a:lnTo>
                    <a:pt x="321" y="526"/>
                  </a:lnTo>
                  <a:lnTo>
                    <a:pt x="319" y="556"/>
                  </a:lnTo>
                  <a:lnTo>
                    <a:pt x="319" y="1112"/>
                  </a:lnTo>
                  <a:lnTo>
                    <a:pt x="316" y="1149"/>
                  </a:lnTo>
                  <a:lnTo>
                    <a:pt x="308" y="1185"/>
                  </a:lnTo>
                  <a:lnTo>
                    <a:pt x="294" y="1219"/>
                  </a:lnTo>
                  <a:lnTo>
                    <a:pt x="276" y="1252"/>
                  </a:lnTo>
                  <a:lnTo>
                    <a:pt x="160" y="1418"/>
                  </a:lnTo>
                  <a:lnTo>
                    <a:pt x="149" y="1438"/>
                  </a:lnTo>
                  <a:lnTo>
                    <a:pt x="143" y="1459"/>
                  </a:lnTo>
                  <a:lnTo>
                    <a:pt x="140" y="1481"/>
                  </a:lnTo>
                  <a:lnTo>
                    <a:pt x="140" y="1547"/>
                  </a:lnTo>
                  <a:lnTo>
                    <a:pt x="338" y="1547"/>
                  </a:lnTo>
                  <a:lnTo>
                    <a:pt x="357" y="1549"/>
                  </a:lnTo>
                  <a:lnTo>
                    <a:pt x="374" y="1557"/>
                  </a:lnTo>
                  <a:lnTo>
                    <a:pt x="388" y="1567"/>
                  </a:lnTo>
                  <a:lnTo>
                    <a:pt x="400" y="1582"/>
                  </a:lnTo>
                  <a:lnTo>
                    <a:pt x="406" y="1599"/>
                  </a:lnTo>
                  <a:lnTo>
                    <a:pt x="409" y="1617"/>
                  </a:lnTo>
                  <a:lnTo>
                    <a:pt x="406" y="1636"/>
                  </a:lnTo>
                  <a:lnTo>
                    <a:pt x="400" y="1653"/>
                  </a:lnTo>
                  <a:lnTo>
                    <a:pt x="388" y="1667"/>
                  </a:lnTo>
                  <a:lnTo>
                    <a:pt x="374" y="1678"/>
                  </a:lnTo>
                  <a:lnTo>
                    <a:pt x="357" y="1685"/>
                  </a:lnTo>
                  <a:lnTo>
                    <a:pt x="338" y="1688"/>
                  </a:lnTo>
                  <a:lnTo>
                    <a:pt x="338" y="1688"/>
                  </a:lnTo>
                  <a:lnTo>
                    <a:pt x="338" y="1823"/>
                  </a:lnTo>
                  <a:lnTo>
                    <a:pt x="335" y="1842"/>
                  </a:lnTo>
                  <a:lnTo>
                    <a:pt x="329" y="1859"/>
                  </a:lnTo>
                  <a:lnTo>
                    <a:pt x="317" y="1873"/>
                  </a:lnTo>
                  <a:lnTo>
                    <a:pt x="303" y="1885"/>
                  </a:lnTo>
                  <a:lnTo>
                    <a:pt x="287" y="1891"/>
                  </a:lnTo>
                  <a:lnTo>
                    <a:pt x="268" y="1894"/>
                  </a:lnTo>
                  <a:lnTo>
                    <a:pt x="250" y="1891"/>
                  </a:lnTo>
                  <a:lnTo>
                    <a:pt x="233" y="1885"/>
                  </a:lnTo>
                  <a:lnTo>
                    <a:pt x="218" y="1873"/>
                  </a:lnTo>
                  <a:lnTo>
                    <a:pt x="207" y="1859"/>
                  </a:lnTo>
                  <a:lnTo>
                    <a:pt x="200" y="1842"/>
                  </a:lnTo>
                  <a:lnTo>
                    <a:pt x="198" y="1823"/>
                  </a:lnTo>
                  <a:lnTo>
                    <a:pt x="198" y="1688"/>
                  </a:lnTo>
                  <a:lnTo>
                    <a:pt x="70" y="1688"/>
                  </a:lnTo>
                  <a:lnTo>
                    <a:pt x="52" y="1685"/>
                  </a:lnTo>
                  <a:lnTo>
                    <a:pt x="35" y="1678"/>
                  </a:lnTo>
                  <a:lnTo>
                    <a:pt x="20" y="1667"/>
                  </a:lnTo>
                  <a:lnTo>
                    <a:pt x="9" y="1653"/>
                  </a:lnTo>
                  <a:lnTo>
                    <a:pt x="2" y="1636"/>
                  </a:lnTo>
                  <a:lnTo>
                    <a:pt x="0" y="1617"/>
                  </a:lnTo>
                  <a:lnTo>
                    <a:pt x="0" y="1481"/>
                  </a:lnTo>
                  <a:lnTo>
                    <a:pt x="3" y="1443"/>
                  </a:lnTo>
                  <a:lnTo>
                    <a:pt x="11" y="1406"/>
                  </a:lnTo>
                  <a:lnTo>
                    <a:pt x="25" y="1371"/>
                  </a:lnTo>
                  <a:lnTo>
                    <a:pt x="45" y="1338"/>
                  </a:lnTo>
                  <a:lnTo>
                    <a:pt x="161" y="1171"/>
                  </a:lnTo>
                  <a:lnTo>
                    <a:pt x="171" y="1154"/>
                  </a:lnTo>
                  <a:lnTo>
                    <a:pt x="178" y="1134"/>
                  </a:lnTo>
                  <a:lnTo>
                    <a:pt x="180" y="1113"/>
                  </a:lnTo>
                  <a:lnTo>
                    <a:pt x="180" y="556"/>
                  </a:lnTo>
                  <a:lnTo>
                    <a:pt x="182" y="515"/>
                  </a:lnTo>
                  <a:lnTo>
                    <a:pt x="189" y="473"/>
                  </a:lnTo>
                  <a:lnTo>
                    <a:pt x="201" y="433"/>
                  </a:lnTo>
                  <a:lnTo>
                    <a:pt x="218" y="395"/>
                  </a:lnTo>
                  <a:lnTo>
                    <a:pt x="239" y="359"/>
                  </a:lnTo>
                  <a:lnTo>
                    <a:pt x="264" y="326"/>
                  </a:lnTo>
                  <a:lnTo>
                    <a:pt x="522" y="25"/>
                  </a:lnTo>
                  <a:lnTo>
                    <a:pt x="536" y="12"/>
                  </a:lnTo>
                  <a:lnTo>
                    <a:pt x="554" y="4"/>
                  </a:lnTo>
                  <a:lnTo>
                    <a:pt x="5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74" name="Freeform 111"/>
            <p:cNvSpPr/>
            <p:nvPr>
              <p:custDataLst>
                <p:tags r:id="rId33"/>
              </p:custDataLst>
            </p:nvPr>
          </p:nvSpPr>
          <p:spPr bwMode="auto">
            <a:xfrm>
              <a:off x="10217151" y="2943225"/>
              <a:ext cx="22225" cy="71438"/>
            </a:xfrm>
            <a:custGeom>
              <a:avLst/>
              <a:gdLst>
                <a:gd name="T0" fmla="*/ 70 w 140"/>
                <a:gd name="T1" fmla="*/ 0 h 445"/>
                <a:gd name="T2" fmla="*/ 89 w 140"/>
                <a:gd name="T3" fmla="*/ 2 h 445"/>
                <a:gd name="T4" fmla="*/ 106 w 140"/>
                <a:gd name="T5" fmla="*/ 9 h 445"/>
                <a:gd name="T6" fmla="*/ 120 w 140"/>
                <a:gd name="T7" fmla="*/ 20 h 445"/>
                <a:gd name="T8" fmla="*/ 130 w 140"/>
                <a:gd name="T9" fmla="*/ 35 h 445"/>
                <a:gd name="T10" fmla="*/ 138 w 140"/>
                <a:gd name="T11" fmla="*/ 52 h 445"/>
                <a:gd name="T12" fmla="*/ 140 w 140"/>
                <a:gd name="T13" fmla="*/ 70 h 445"/>
                <a:gd name="T14" fmla="*/ 140 w 140"/>
                <a:gd name="T15" fmla="*/ 375 h 445"/>
                <a:gd name="T16" fmla="*/ 138 w 140"/>
                <a:gd name="T17" fmla="*/ 394 h 445"/>
                <a:gd name="T18" fmla="*/ 130 w 140"/>
                <a:gd name="T19" fmla="*/ 412 h 445"/>
                <a:gd name="T20" fmla="*/ 119 w 140"/>
                <a:gd name="T21" fmla="*/ 426 h 445"/>
                <a:gd name="T22" fmla="*/ 103 w 140"/>
                <a:gd name="T23" fmla="*/ 438 h 445"/>
                <a:gd name="T24" fmla="*/ 86 w 140"/>
                <a:gd name="T25" fmla="*/ 444 h 445"/>
                <a:gd name="T26" fmla="*/ 66 w 140"/>
                <a:gd name="T27" fmla="*/ 445 h 445"/>
                <a:gd name="T28" fmla="*/ 48 w 140"/>
                <a:gd name="T29" fmla="*/ 442 h 445"/>
                <a:gd name="T30" fmla="*/ 32 w 140"/>
                <a:gd name="T31" fmla="*/ 435 h 445"/>
                <a:gd name="T32" fmla="*/ 19 w 140"/>
                <a:gd name="T33" fmla="*/ 422 h 445"/>
                <a:gd name="T34" fmla="*/ 9 w 140"/>
                <a:gd name="T35" fmla="*/ 408 h 445"/>
                <a:gd name="T36" fmla="*/ 2 w 140"/>
                <a:gd name="T37" fmla="*/ 391 h 445"/>
                <a:gd name="T38" fmla="*/ 0 w 140"/>
                <a:gd name="T39" fmla="*/ 372 h 445"/>
                <a:gd name="T40" fmla="*/ 0 w 140"/>
                <a:gd name="T41" fmla="*/ 70 h 445"/>
                <a:gd name="T42" fmla="*/ 2 w 140"/>
                <a:gd name="T43" fmla="*/ 52 h 445"/>
                <a:gd name="T44" fmla="*/ 10 w 140"/>
                <a:gd name="T45" fmla="*/ 35 h 445"/>
                <a:gd name="T46" fmla="*/ 20 w 140"/>
                <a:gd name="T47" fmla="*/ 20 h 445"/>
                <a:gd name="T48" fmla="*/ 35 w 140"/>
                <a:gd name="T49" fmla="*/ 9 h 445"/>
                <a:gd name="T50" fmla="*/ 51 w 140"/>
                <a:gd name="T51" fmla="*/ 2 h 445"/>
                <a:gd name="T52" fmla="*/ 70 w 140"/>
                <a:gd name="T53" fmla="*/ 0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0" h="445">
                  <a:moveTo>
                    <a:pt x="70" y="0"/>
                  </a:moveTo>
                  <a:lnTo>
                    <a:pt x="89" y="2"/>
                  </a:lnTo>
                  <a:lnTo>
                    <a:pt x="106" y="9"/>
                  </a:lnTo>
                  <a:lnTo>
                    <a:pt x="120" y="20"/>
                  </a:lnTo>
                  <a:lnTo>
                    <a:pt x="130" y="35"/>
                  </a:lnTo>
                  <a:lnTo>
                    <a:pt x="138" y="52"/>
                  </a:lnTo>
                  <a:lnTo>
                    <a:pt x="140" y="70"/>
                  </a:lnTo>
                  <a:lnTo>
                    <a:pt x="140" y="375"/>
                  </a:lnTo>
                  <a:lnTo>
                    <a:pt x="138" y="394"/>
                  </a:lnTo>
                  <a:lnTo>
                    <a:pt x="130" y="412"/>
                  </a:lnTo>
                  <a:lnTo>
                    <a:pt x="119" y="426"/>
                  </a:lnTo>
                  <a:lnTo>
                    <a:pt x="103" y="438"/>
                  </a:lnTo>
                  <a:lnTo>
                    <a:pt x="86" y="444"/>
                  </a:lnTo>
                  <a:lnTo>
                    <a:pt x="66" y="445"/>
                  </a:lnTo>
                  <a:lnTo>
                    <a:pt x="48" y="442"/>
                  </a:lnTo>
                  <a:lnTo>
                    <a:pt x="32" y="435"/>
                  </a:lnTo>
                  <a:lnTo>
                    <a:pt x="19" y="422"/>
                  </a:lnTo>
                  <a:lnTo>
                    <a:pt x="9" y="408"/>
                  </a:lnTo>
                  <a:lnTo>
                    <a:pt x="2" y="391"/>
                  </a:lnTo>
                  <a:lnTo>
                    <a:pt x="0" y="372"/>
                  </a:lnTo>
                  <a:lnTo>
                    <a:pt x="0" y="70"/>
                  </a:lnTo>
                  <a:lnTo>
                    <a:pt x="2" y="52"/>
                  </a:lnTo>
                  <a:lnTo>
                    <a:pt x="10" y="35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2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grpSp>
        <p:nvGrpSpPr>
          <p:cNvPr id="175" name="Group 40"/>
          <p:cNvGrpSpPr>
            <a:grpSpLocks noChangeAspect="1"/>
          </p:cNvGrpSpPr>
          <p:nvPr/>
        </p:nvGrpSpPr>
        <p:grpSpPr>
          <a:xfrm>
            <a:off x="7254240" y="1217295"/>
            <a:ext cx="257810" cy="215265"/>
            <a:chOff x="10987088" y="1993900"/>
            <a:chExt cx="477837" cy="398463"/>
          </a:xfrm>
          <a:solidFill>
            <a:schemeClr val="bg1"/>
          </a:solidFill>
        </p:grpSpPr>
        <p:sp>
          <p:nvSpPr>
            <p:cNvPr id="176" name="Freeform 107"/>
            <p:cNvSpPr/>
            <p:nvPr>
              <p:custDataLst>
                <p:tags r:id="rId34"/>
              </p:custDataLst>
            </p:nvPr>
          </p:nvSpPr>
          <p:spPr bwMode="auto">
            <a:xfrm>
              <a:off x="10987088" y="1993900"/>
              <a:ext cx="396875" cy="398463"/>
            </a:xfrm>
            <a:custGeom>
              <a:avLst/>
              <a:gdLst>
                <a:gd name="T0" fmla="*/ 0 w 2745"/>
                <a:gd name="T1" fmla="*/ 0 h 2770"/>
                <a:gd name="T2" fmla="*/ 371 w 2745"/>
                <a:gd name="T3" fmla="*/ 0 h 2770"/>
                <a:gd name="T4" fmla="*/ 371 w 2745"/>
                <a:gd name="T5" fmla="*/ 2398 h 2770"/>
                <a:gd name="T6" fmla="*/ 2745 w 2745"/>
                <a:gd name="T7" fmla="*/ 2398 h 2770"/>
                <a:gd name="T8" fmla="*/ 2745 w 2745"/>
                <a:gd name="T9" fmla="*/ 2770 h 2770"/>
                <a:gd name="T10" fmla="*/ 0 w 2745"/>
                <a:gd name="T11" fmla="*/ 2770 h 2770"/>
                <a:gd name="T12" fmla="*/ 0 w 2745"/>
                <a:gd name="T13" fmla="*/ 0 h 2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5" h="2770">
                  <a:moveTo>
                    <a:pt x="0" y="0"/>
                  </a:moveTo>
                  <a:lnTo>
                    <a:pt x="371" y="0"/>
                  </a:lnTo>
                  <a:lnTo>
                    <a:pt x="371" y="2398"/>
                  </a:lnTo>
                  <a:lnTo>
                    <a:pt x="2745" y="2398"/>
                  </a:lnTo>
                  <a:lnTo>
                    <a:pt x="2745" y="2770"/>
                  </a:lnTo>
                  <a:lnTo>
                    <a:pt x="0" y="27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77" name="Freeform 108"/>
            <p:cNvSpPr/>
            <p:nvPr>
              <p:custDataLst>
                <p:tags r:id="rId35"/>
              </p:custDataLst>
            </p:nvPr>
          </p:nvSpPr>
          <p:spPr bwMode="auto">
            <a:xfrm>
              <a:off x="11066463" y="2047875"/>
              <a:ext cx="398462" cy="249238"/>
            </a:xfrm>
            <a:custGeom>
              <a:avLst/>
              <a:gdLst>
                <a:gd name="T0" fmla="*/ 2761 w 2761"/>
                <a:gd name="T1" fmla="*/ 0 h 1725"/>
                <a:gd name="T2" fmla="*/ 2559 w 2761"/>
                <a:gd name="T3" fmla="*/ 1146 h 1725"/>
                <a:gd name="T4" fmla="*/ 2274 w 2761"/>
                <a:gd name="T5" fmla="*/ 861 h 1725"/>
                <a:gd name="T6" fmla="*/ 1411 w 2761"/>
                <a:gd name="T7" fmla="*/ 1725 h 1725"/>
                <a:gd name="T8" fmla="*/ 864 w 2761"/>
                <a:gd name="T9" fmla="*/ 1177 h 1725"/>
                <a:gd name="T10" fmla="*/ 349 w 2761"/>
                <a:gd name="T11" fmla="*/ 1693 h 1725"/>
                <a:gd name="T12" fmla="*/ 0 w 2761"/>
                <a:gd name="T13" fmla="*/ 1341 h 1725"/>
                <a:gd name="T14" fmla="*/ 864 w 2761"/>
                <a:gd name="T15" fmla="*/ 476 h 1725"/>
                <a:gd name="T16" fmla="*/ 1411 w 2761"/>
                <a:gd name="T17" fmla="*/ 1025 h 1725"/>
                <a:gd name="T18" fmla="*/ 1924 w 2761"/>
                <a:gd name="T19" fmla="*/ 509 h 1725"/>
                <a:gd name="T20" fmla="*/ 1618 w 2761"/>
                <a:gd name="T21" fmla="*/ 202 h 1725"/>
                <a:gd name="T22" fmla="*/ 2761 w 2761"/>
                <a:gd name="T23" fmla="*/ 0 h 1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61" h="1725">
                  <a:moveTo>
                    <a:pt x="2761" y="0"/>
                  </a:moveTo>
                  <a:lnTo>
                    <a:pt x="2559" y="1146"/>
                  </a:lnTo>
                  <a:lnTo>
                    <a:pt x="2274" y="861"/>
                  </a:lnTo>
                  <a:lnTo>
                    <a:pt x="1411" y="1725"/>
                  </a:lnTo>
                  <a:lnTo>
                    <a:pt x="864" y="1177"/>
                  </a:lnTo>
                  <a:lnTo>
                    <a:pt x="349" y="1693"/>
                  </a:lnTo>
                  <a:lnTo>
                    <a:pt x="0" y="1341"/>
                  </a:lnTo>
                  <a:lnTo>
                    <a:pt x="864" y="476"/>
                  </a:lnTo>
                  <a:lnTo>
                    <a:pt x="1411" y="1025"/>
                  </a:lnTo>
                  <a:lnTo>
                    <a:pt x="1924" y="509"/>
                  </a:lnTo>
                  <a:lnTo>
                    <a:pt x="1618" y="202"/>
                  </a:lnTo>
                  <a:lnTo>
                    <a:pt x="27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grpSp>
        <p:nvGrpSpPr>
          <p:cNvPr id="183" name="Group 34"/>
          <p:cNvGrpSpPr>
            <a:grpSpLocks noChangeAspect="1"/>
          </p:cNvGrpSpPr>
          <p:nvPr/>
        </p:nvGrpSpPr>
        <p:grpSpPr>
          <a:xfrm>
            <a:off x="3286125" y="1217295"/>
            <a:ext cx="252095" cy="234950"/>
            <a:chOff x="6275388" y="4252913"/>
            <a:chExt cx="552450" cy="514349"/>
          </a:xfrm>
          <a:solidFill>
            <a:schemeClr val="bg1"/>
          </a:solidFill>
        </p:grpSpPr>
        <p:sp>
          <p:nvSpPr>
            <p:cNvPr id="184" name="Freeform 317"/>
            <p:cNvSpPr>
              <a:spLocks noEditPoints="1"/>
            </p:cNvSpPr>
            <p:nvPr>
              <p:custDataLst>
                <p:tags r:id="rId36"/>
              </p:custDataLst>
            </p:nvPr>
          </p:nvSpPr>
          <p:spPr bwMode="auto">
            <a:xfrm>
              <a:off x="6429376" y="4252913"/>
              <a:ext cx="242888" cy="239712"/>
            </a:xfrm>
            <a:custGeom>
              <a:avLst/>
              <a:gdLst>
                <a:gd name="T0" fmla="*/ 174 w 1535"/>
                <a:gd name="T1" fmla="*/ 142 h 1507"/>
                <a:gd name="T2" fmla="*/ 150 w 1535"/>
                <a:gd name="T3" fmla="*/ 160 h 1507"/>
                <a:gd name="T4" fmla="*/ 140 w 1535"/>
                <a:gd name="T5" fmla="*/ 190 h 1507"/>
                <a:gd name="T6" fmla="*/ 144 w 1535"/>
                <a:gd name="T7" fmla="*/ 1034 h 1507"/>
                <a:gd name="T8" fmla="*/ 160 w 1535"/>
                <a:gd name="T9" fmla="*/ 1059 h 1507"/>
                <a:gd name="T10" fmla="*/ 190 w 1535"/>
                <a:gd name="T11" fmla="*/ 1069 h 1507"/>
                <a:gd name="T12" fmla="*/ 1361 w 1535"/>
                <a:gd name="T13" fmla="*/ 1065 h 1507"/>
                <a:gd name="T14" fmla="*/ 1385 w 1535"/>
                <a:gd name="T15" fmla="*/ 1048 h 1507"/>
                <a:gd name="T16" fmla="*/ 1394 w 1535"/>
                <a:gd name="T17" fmla="*/ 1018 h 1507"/>
                <a:gd name="T18" fmla="*/ 1391 w 1535"/>
                <a:gd name="T19" fmla="*/ 174 h 1507"/>
                <a:gd name="T20" fmla="*/ 1373 w 1535"/>
                <a:gd name="T21" fmla="*/ 150 h 1507"/>
                <a:gd name="T22" fmla="*/ 1345 w 1535"/>
                <a:gd name="T23" fmla="*/ 140 h 1507"/>
                <a:gd name="T24" fmla="*/ 190 w 1535"/>
                <a:gd name="T25" fmla="*/ 0 h 1507"/>
                <a:gd name="T26" fmla="*/ 1380 w 1535"/>
                <a:gd name="T27" fmla="*/ 2 h 1507"/>
                <a:gd name="T28" fmla="*/ 1441 w 1535"/>
                <a:gd name="T29" fmla="*/ 25 h 1507"/>
                <a:gd name="T30" fmla="*/ 1490 w 1535"/>
                <a:gd name="T31" fmla="*/ 68 h 1507"/>
                <a:gd name="T32" fmla="*/ 1523 w 1535"/>
                <a:gd name="T33" fmla="*/ 123 h 1507"/>
                <a:gd name="T34" fmla="*/ 1535 w 1535"/>
                <a:gd name="T35" fmla="*/ 190 h 1507"/>
                <a:gd name="T36" fmla="*/ 1531 w 1535"/>
                <a:gd name="T37" fmla="*/ 1053 h 1507"/>
                <a:gd name="T38" fmla="*/ 1509 w 1535"/>
                <a:gd name="T39" fmla="*/ 1114 h 1507"/>
                <a:gd name="T40" fmla="*/ 1467 w 1535"/>
                <a:gd name="T41" fmla="*/ 1164 h 1507"/>
                <a:gd name="T42" fmla="*/ 1411 w 1535"/>
                <a:gd name="T43" fmla="*/ 1196 h 1507"/>
                <a:gd name="T44" fmla="*/ 1345 w 1535"/>
                <a:gd name="T45" fmla="*/ 1209 h 1507"/>
                <a:gd name="T46" fmla="*/ 837 w 1535"/>
                <a:gd name="T47" fmla="*/ 1367 h 1507"/>
                <a:gd name="T48" fmla="*/ 1019 w 1535"/>
                <a:gd name="T49" fmla="*/ 1369 h 1507"/>
                <a:gd name="T50" fmla="*/ 1049 w 1535"/>
                <a:gd name="T51" fmla="*/ 1387 h 1507"/>
                <a:gd name="T52" fmla="*/ 1067 w 1535"/>
                <a:gd name="T53" fmla="*/ 1419 h 1507"/>
                <a:gd name="T54" fmla="*/ 1067 w 1535"/>
                <a:gd name="T55" fmla="*/ 1456 h 1507"/>
                <a:gd name="T56" fmla="*/ 1049 w 1535"/>
                <a:gd name="T57" fmla="*/ 1487 h 1507"/>
                <a:gd name="T58" fmla="*/ 1019 w 1535"/>
                <a:gd name="T59" fmla="*/ 1505 h 1507"/>
                <a:gd name="T60" fmla="*/ 535 w 1535"/>
                <a:gd name="T61" fmla="*/ 1507 h 1507"/>
                <a:gd name="T62" fmla="*/ 500 w 1535"/>
                <a:gd name="T63" fmla="*/ 1498 h 1507"/>
                <a:gd name="T64" fmla="*/ 475 w 1535"/>
                <a:gd name="T65" fmla="*/ 1473 h 1507"/>
                <a:gd name="T66" fmla="*/ 465 w 1535"/>
                <a:gd name="T67" fmla="*/ 1437 h 1507"/>
                <a:gd name="T68" fmla="*/ 475 w 1535"/>
                <a:gd name="T69" fmla="*/ 1402 h 1507"/>
                <a:gd name="T70" fmla="*/ 500 w 1535"/>
                <a:gd name="T71" fmla="*/ 1377 h 1507"/>
                <a:gd name="T72" fmla="*/ 535 w 1535"/>
                <a:gd name="T73" fmla="*/ 1367 h 1507"/>
                <a:gd name="T74" fmla="*/ 697 w 1535"/>
                <a:gd name="T75" fmla="*/ 1209 h 1507"/>
                <a:gd name="T76" fmla="*/ 156 w 1535"/>
                <a:gd name="T77" fmla="*/ 1206 h 1507"/>
                <a:gd name="T78" fmla="*/ 94 w 1535"/>
                <a:gd name="T79" fmla="*/ 1183 h 1507"/>
                <a:gd name="T80" fmla="*/ 46 w 1535"/>
                <a:gd name="T81" fmla="*/ 1140 h 1507"/>
                <a:gd name="T82" fmla="*/ 13 w 1535"/>
                <a:gd name="T83" fmla="*/ 1084 h 1507"/>
                <a:gd name="T84" fmla="*/ 0 w 1535"/>
                <a:gd name="T85" fmla="*/ 1018 h 1507"/>
                <a:gd name="T86" fmla="*/ 3 w 1535"/>
                <a:gd name="T87" fmla="*/ 155 h 1507"/>
                <a:gd name="T88" fmla="*/ 27 w 1535"/>
                <a:gd name="T89" fmla="*/ 94 h 1507"/>
                <a:gd name="T90" fmla="*/ 68 w 1535"/>
                <a:gd name="T91" fmla="*/ 44 h 1507"/>
                <a:gd name="T92" fmla="*/ 125 w 1535"/>
                <a:gd name="T93" fmla="*/ 12 h 1507"/>
                <a:gd name="T94" fmla="*/ 190 w 1535"/>
                <a:gd name="T95" fmla="*/ 0 h 1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35" h="1507">
                  <a:moveTo>
                    <a:pt x="190" y="140"/>
                  </a:moveTo>
                  <a:lnTo>
                    <a:pt x="174" y="142"/>
                  </a:lnTo>
                  <a:lnTo>
                    <a:pt x="160" y="150"/>
                  </a:lnTo>
                  <a:lnTo>
                    <a:pt x="150" y="160"/>
                  </a:lnTo>
                  <a:lnTo>
                    <a:pt x="144" y="174"/>
                  </a:lnTo>
                  <a:lnTo>
                    <a:pt x="140" y="190"/>
                  </a:lnTo>
                  <a:lnTo>
                    <a:pt x="140" y="1018"/>
                  </a:lnTo>
                  <a:lnTo>
                    <a:pt x="144" y="1034"/>
                  </a:lnTo>
                  <a:lnTo>
                    <a:pt x="150" y="1048"/>
                  </a:lnTo>
                  <a:lnTo>
                    <a:pt x="160" y="1059"/>
                  </a:lnTo>
                  <a:lnTo>
                    <a:pt x="174" y="1065"/>
                  </a:lnTo>
                  <a:lnTo>
                    <a:pt x="190" y="1069"/>
                  </a:lnTo>
                  <a:lnTo>
                    <a:pt x="1345" y="1069"/>
                  </a:lnTo>
                  <a:lnTo>
                    <a:pt x="1361" y="1065"/>
                  </a:lnTo>
                  <a:lnTo>
                    <a:pt x="1373" y="1059"/>
                  </a:lnTo>
                  <a:lnTo>
                    <a:pt x="1385" y="1048"/>
                  </a:lnTo>
                  <a:lnTo>
                    <a:pt x="1391" y="1034"/>
                  </a:lnTo>
                  <a:lnTo>
                    <a:pt x="1394" y="1018"/>
                  </a:lnTo>
                  <a:lnTo>
                    <a:pt x="1394" y="190"/>
                  </a:lnTo>
                  <a:lnTo>
                    <a:pt x="1391" y="174"/>
                  </a:lnTo>
                  <a:lnTo>
                    <a:pt x="1385" y="160"/>
                  </a:lnTo>
                  <a:lnTo>
                    <a:pt x="1373" y="150"/>
                  </a:lnTo>
                  <a:lnTo>
                    <a:pt x="1361" y="142"/>
                  </a:lnTo>
                  <a:lnTo>
                    <a:pt x="1345" y="140"/>
                  </a:lnTo>
                  <a:lnTo>
                    <a:pt x="190" y="140"/>
                  </a:lnTo>
                  <a:close/>
                  <a:moveTo>
                    <a:pt x="190" y="0"/>
                  </a:moveTo>
                  <a:lnTo>
                    <a:pt x="1345" y="0"/>
                  </a:lnTo>
                  <a:lnTo>
                    <a:pt x="1380" y="2"/>
                  </a:lnTo>
                  <a:lnTo>
                    <a:pt x="1411" y="12"/>
                  </a:lnTo>
                  <a:lnTo>
                    <a:pt x="1441" y="25"/>
                  </a:lnTo>
                  <a:lnTo>
                    <a:pt x="1467" y="44"/>
                  </a:lnTo>
                  <a:lnTo>
                    <a:pt x="1490" y="68"/>
                  </a:lnTo>
                  <a:lnTo>
                    <a:pt x="1509" y="94"/>
                  </a:lnTo>
                  <a:lnTo>
                    <a:pt x="1523" y="123"/>
                  </a:lnTo>
                  <a:lnTo>
                    <a:pt x="1531" y="155"/>
                  </a:lnTo>
                  <a:lnTo>
                    <a:pt x="1535" y="190"/>
                  </a:lnTo>
                  <a:lnTo>
                    <a:pt x="1535" y="1018"/>
                  </a:lnTo>
                  <a:lnTo>
                    <a:pt x="1531" y="1053"/>
                  </a:lnTo>
                  <a:lnTo>
                    <a:pt x="1523" y="1084"/>
                  </a:lnTo>
                  <a:lnTo>
                    <a:pt x="1509" y="1114"/>
                  </a:lnTo>
                  <a:lnTo>
                    <a:pt x="1490" y="1140"/>
                  </a:lnTo>
                  <a:lnTo>
                    <a:pt x="1467" y="1164"/>
                  </a:lnTo>
                  <a:lnTo>
                    <a:pt x="1441" y="1183"/>
                  </a:lnTo>
                  <a:lnTo>
                    <a:pt x="1411" y="1196"/>
                  </a:lnTo>
                  <a:lnTo>
                    <a:pt x="1380" y="1206"/>
                  </a:lnTo>
                  <a:lnTo>
                    <a:pt x="1345" y="1209"/>
                  </a:lnTo>
                  <a:lnTo>
                    <a:pt x="837" y="1209"/>
                  </a:lnTo>
                  <a:lnTo>
                    <a:pt x="837" y="1367"/>
                  </a:lnTo>
                  <a:lnTo>
                    <a:pt x="1000" y="1367"/>
                  </a:lnTo>
                  <a:lnTo>
                    <a:pt x="1019" y="1369"/>
                  </a:lnTo>
                  <a:lnTo>
                    <a:pt x="1036" y="1377"/>
                  </a:lnTo>
                  <a:lnTo>
                    <a:pt x="1049" y="1387"/>
                  </a:lnTo>
                  <a:lnTo>
                    <a:pt x="1061" y="1402"/>
                  </a:lnTo>
                  <a:lnTo>
                    <a:pt x="1067" y="1419"/>
                  </a:lnTo>
                  <a:lnTo>
                    <a:pt x="1071" y="1437"/>
                  </a:lnTo>
                  <a:lnTo>
                    <a:pt x="1067" y="1456"/>
                  </a:lnTo>
                  <a:lnTo>
                    <a:pt x="1061" y="1473"/>
                  </a:lnTo>
                  <a:lnTo>
                    <a:pt x="1049" y="1487"/>
                  </a:lnTo>
                  <a:lnTo>
                    <a:pt x="1036" y="1498"/>
                  </a:lnTo>
                  <a:lnTo>
                    <a:pt x="1019" y="1505"/>
                  </a:lnTo>
                  <a:lnTo>
                    <a:pt x="1000" y="1507"/>
                  </a:lnTo>
                  <a:lnTo>
                    <a:pt x="535" y="1507"/>
                  </a:lnTo>
                  <a:lnTo>
                    <a:pt x="517" y="1505"/>
                  </a:lnTo>
                  <a:lnTo>
                    <a:pt x="500" y="1498"/>
                  </a:lnTo>
                  <a:lnTo>
                    <a:pt x="485" y="1487"/>
                  </a:lnTo>
                  <a:lnTo>
                    <a:pt x="475" y="1473"/>
                  </a:lnTo>
                  <a:lnTo>
                    <a:pt x="467" y="1456"/>
                  </a:lnTo>
                  <a:lnTo>
                    <a:pt x="465" y="1437"/>
                  </a:lnTo>
                  <a:lnTo>
                    <a:pt x="467" y="1419"/>
                  </a:lnTo>
                  <a:lnTo>
                    <a:pt x="475" y="1402"/>
                  </a:lnTo>
                  <a:lnTo>
                    <a:pt x="485" y="1387"/>
                  </a:lnTo>
                  <a:lnTo>
                    <a:pt x="500" y="1377"/>
                  </a:lnTo>
                  <a:lnTo>
                    <a:pt x="517" y="1369"/>
                  </a:lnTo>
                  <a:lnTo>
                    <a:pt x="535" y="1367"/>
                  </a:lnTo>
                  <a:lnTo>
                    <a:pt x="697" y="1367"/>
                  </a:lnTo>
                  <a:lnTo>
                    <a:pt x="697" y="1209"/>
                  </a:lnTo>
                  <a:lnTo>
                    <a:pt x="190" y="1209"/>
                  </a:lnTo>
                  <a:lnTo>
                    <a:pt x="156" y="1206"/>
                  </a:lnTo>
                  <a:lnTo>
                    <a:pt x="125" y="1196"/>
                  </a:lnTo>
                  <a:lnTo>
                    <a:pt x="94" y="1183"/>
                  </a:lnTo>
                  <a:lnTo>
                    <a:pt x="68" y="1164"/>
                  </a:lnTo>
                  <a:lnTo>
                    <a:pt x="46" y="1140"/>
                  </a:lnTo>
                  <a:lnTo>
                    <a:pt x="27" y="1114"/>
                  </a:lnTo>
                  <a:lnTo>
                    <a:pt x="13" y="1084"/>
                  </a:lnTo>
                  <a:lnTo>
                    <a:pt x="3" y="1053"/>
                  </a:lnTo>
                  <a:lnTo>
                    <a:pt x="0" y="1018"/>
                  </a:lnTo>
                  <a:lnTo>
                    <a:pt x="0" y="190"/>
                  </a:lnTo>
                  <a:lnTo>
                    <a:pt x="3" y="155"/>
                  </a:lnTo>
                  <a:lnTo>
                    <a:pt x="13" y="123"/>
                  </a:lnTo>
                  <a:lnTo>
                    <a:pt x="27" y="94"/>
                  </a:lnTo>
                  <a:lnTo>
                    <a:pt x="46" y="68"/>
                  </a:lnTo>
                  <a:lnTo>
                    <a:pt x="68" y="44"/>
                  </a:lnTo>
                  <a:lnTo>
                    <a:pt x="94" y="25"/>
                  </a:lnTo>
                  <a:lnTo>
                    <a:pt x="125" y="12"/>
                  </a:lnTo>
                  <a:lnTo>
                    <a:pt x="156" y="2"/>
                  </a:lnTo>
                  <a:lnTo>
                    <a:pt x="1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85" name="Freeform 318"/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6275388" y="4527550"/>
              <a:ext cx="242888" cy="239712"/>
            </a:xfrm>
            <a:custGeom>
              <a:avLst/>
              <a:gdLst>
                <a:gd name="T0" fmla="*/ 174 w 1534"/>
                <a:gd name="T1" fmla="*/ 144 h 1508"/>
                <a:gd name="T2" fmla="*/ 150 w 1534"/>
                <a:gd name="T3" fmla="*/ 162 h 1508"/>
                <a:gd name="T4" fmla="*/ 140 w 1534"/>
                <a:gd name="T5" fmla="*/ 191 h 1508"/>
                <a:gd name="T6" fmla="*/ 142 w 1534"/>
                <a:gd name="T7" fmla="*/ 1036 h 1508"/>
                <a:gd name="T8" fmla="*/ 160 w 1534"/>
                <a:gd name="T9" fmla="*/ 1060 h 1508"/>
                <a:gd name="T10" fmla="*/ 190 w 1534"/>
                <a:gd name="T11" fmla="*/ 1070 h 1508"/>
                <a:gd name="T12" fmla="*/ 1360 w 1534"/>
                <a:gd name="T13" fmla="*/ 1067 h 1508"/>
                <a:gd name="T14" fmla="*/ 1385 w 1534"/>
                <a:gd name="T15" fmla="*/ 1049 h 1508"/>
                <a:gd name="T16" fmla="*/ 1394 w 1534"/>
                <a:gd name="T17" fmla="*/ 1020 h 1508"/>
                <a:gd name="T18" fmla="*/ 1393 w 1534"/>
                <a:gd name="T19" fmla="*/ 191 h 1508"/>
                <a:gd name="T20" fmla="*/ 1384 w 1534"/>
                <a:gd name="T21" fmla="*/ 162 h 1508"/>
                <a:gd name="T22" fmla="*/ 1359 w 1534"/>
                <a:gd name="T23" fmla="*/ 144 h 1508"/>
                <a:gd name="T24" fmla="*/ 190 w 1534"/>
                <a:gd name="T25" fmla="*/ 141 h 1508"/>
                <a:gd name="T26" fmla="*/ 1345 w 1534"/>
                <a:gd name="T27" fmla="*/ 0 h 1508"/>
                <a:gd name="T28" fmla="*/ 1411 w 1534"/>
                <a:gd name="T29" fmla="*/ 12 h 1508"/>
                <a:gd name="T30" fmla="*/ 1467 w 1534"/>
                <a:gd name="T31" fmla="*/ 45 h 1508"/>
                <a:gd name="T32" fmla="*/ 1508 w 1534"/>
                <a:gd name="T33" fmla="*/ 94 h 1508"/>
                <a:gd name="T34" fmla="*/ 1531 w 1534"/>
                <a:gd name="T35" fmla="*/ 156 h 1508"/>
                <a:gd name="T36" fmla="*/ 1534 w 1534"/>
                <a:gd name="T37" fmla="*/ 1019 h 1508"/>
                <a:gd name="T38" fmla="*/ 1523 w 1534"/>
                <a:gd name="T39" fmla="*/ 1086 h 1508"/>
                <a:gd name="T40" fmla="*/ 1490 w 1534"/>
                <a:gd name="T41" fmla="*/ 1141 h 1508"/>
                <a:gd name="T42" fmla="*/ 1441 w 1534"/>
                <a:gd name="T43" fmla="*/ 1183 h 1508"/>
                <a:gd name="T44" fmla="*/ 1378 w 1534"/>
                <a:gd name="T45" fmla="*/ 1206 h 1508"/>
                <a:gd name="T46" fmla="*/ 837 w 1534"/>
                <a:gd name="T47" fmla="*/ 1209 h 1508"/>
                <a:gd name="T48" fmla="*/ 1000 w 1534"/>
                <a:gd name="T49" fmla="*/ 1367 h 1508"/>
                <a:gd name="T50" fmla="*/ 1036 w 1534"/>
                <a:gd name="T51" fmla="*/ 1377 h 1508"/>
                <a:gd name="T52" fmla="*/ 1060 w 1534"/>
                <a:gd name="T53" fmla="*/ 1402 h 1508"/>
                <a:gd name="T54" fmla="*/ 1069 w 1534"/>
                <a:gd name="T55" fmla="*/ 1438 h 1508"/>
                <a:gd name="T56" fmla="*/ 1060 w 1534"/>
                <a:gd name="T57" fmla="*/ 1474 h 1508"/>
                <a:gd name="T58" fmla="*/ 1036 w 1534"/>
                <a:gd name="T59" fmla="*/ 1498 h 1508"/>
                <a:gd name="T60" fmla="*/ 1000 w 1534"/>
                <a:gd name="T61" fmla="*/ 1508 h 1508"/>
                <a:gd name="T62" fmla="*/ 516 w 1534"/>
                <a:gd name="T63" fmla="*/ 1505 h 1508"/>
                <a:gd name="T64" fmla="*/ 485 w 1534"/>
                <a:gd name="T65" fmla="*/ 1487 h 1508"/>
                <a:gd name="T66" fmla="*/ 467 w 1534"/>
                <a:gd name="T67" fmla="*/ 1457 h 1508"/>
                <a:gd name="T68" fmla="*/ 467 w 1534"/>
                <a:gd name="T69" fmla="*/ 1419 h 1508"/>
                <a:gd name="T70" fmla="*/ 485 w 1534"/>
                <a:gd name="T71" fmla="*/ 1388 h 1508"/>
                <a:gd name="T72" fmla="*/ 516 w 1534"/>
                <a:gd name="T73" fmla="*/ 1370 h 1508"/>
                <a:gd name="T74" fmla="*/ 697 w 1534"/>
                <a:gd name="T75" fmla="*/ 1367 h 1508"/>
                <a:gd name="T76" fmla="*/ 190 w 1534"/>
                <a:gd name="T77" fmla="*/ 1209 h 1508"/>
                <a:gd name="T78" fmla="*/ 123 w 1534"/>
                <a:gd name="T79" fmla="*/ 1197 h 1508"/>
                <a:gd name="T80" fmla="*/ 67 w 1534"/>
                <a:gd name="T81" fmla="*/ 1165 h 1508"/>
                <a:gd name="T82" fmla="*/ 26 w 1534"/>
                <a:gd name="T83" fmla="*/ 1115 h 1508"/>
                <a:gd name="T84" fmla="*/ 3 w 1534"/>
                <a:gd name="T85" fmla="*/ 1053 h 1508"/>
                <a:gd name="T86" fmla="*/ 0 w 1534"/>
                <a:gd name="T87" fmla="*/ 190 h 1508"/>
                <a:gd name="T88" fmla="*/ 12 w 1534"/>
                <a:gd name="T89" fmla="*/ 124 h 1508"/>
                <a:gd name="T90" fmla="*/ 44 w 1534"/>
                <a:gd name="T91" fmla="*/ 68 h 1508"/>
                <a:gd name="T92" fmla="*/ 94 w 1534"/>
                <a:gd name="T93" fmla="*/ 26 h 1508"/>
                <a:gd name="T94" fmla="*/ 156 w 1534"/>
                <a:gd name="T95" fmla="*/ 3 h 1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34" h="1508">
                  <a:moveTo>
                    <a:pt x="190" y="141"/>
                  </a:moveTo>
                  <a:lnTo>
                    <a:pt x="174" y="144"/>
                  </a:lnTo>
                  <a:lnTo>
                    <a:pt x="160" y="151"/>
                  </a:lnTo>
                  <a:lnTo>
                    <a:pt x="150" y="162"/>
                  </a:lnTo>
                  <a:lnTo>
                    <a:pt x="142" y="175"/>
                  </a:lnTo>
                  <a:lnTo>
                    <a:pt x="140" y="191"/>
                  </a:lnTo>
                  <a:lnTo>
                    <a:pt x="140" y="1020"/>
                  </a:lnTo>
                  <a:lnTo>
                    <a:pt x="142" y="1036"/>
                  </a:lnTo>
                  <a:lnTo>
                    <a:pt x="150" y="1049"/>
                  </a:lnTo>
                  <a:lnTo>
                    <a:pt x="160" y="1060"/>
                  </a:lnTo>
                  <a:lnTo>
                    <a:pt x="174" y="1067"/>
                  </a:lnTo>
                  <a:lnTo>
                    <a:pt x="190" y="1070"/>
                  </a:lnTo>
                  <a:lnTo>
                    <a:pt x="1345" y="1070"/>
                  </a:lnTo>
                  <a:lnTo>
                    <a:pt x="1360" y="1067"/>
                  </a:lnTo>
                  <a:lnTo>
                    <a:pt x="1374" y="1060"/>
                  </a:lnTo>
                  <a:lnTo>
                    <a:pt x="1385" y="1049"/>
                  </a:lnTo>
                  <a:lnTo>
                    <a:pt x="1392" y="1036"/>
                  </a:lnTo>
                  <a:lnTo>
                    <a:pt x="1394" y="1020"/>
                  </a:lnTo>
                  <a:lnTo>
                    <a:pt x="1393" y="1020"/>
                  </a:lnTo>
                  <a:lnTo>
                    <a:pt x="1393" y="191"/>
                  </a:lnTo>
                  <a:lnTo>
                    <a:pt x="1391" y="175"/>
                  </a:lnTo>
                  <a:lnTo>
                    <a:pt x="1384" y="162"/>
                  </a:lnTo>
                  <a:lnTo>
                    <a:pt x="1373" y="151"/>
                  </a:lnTo>
                  <a:lnTo>
                    <a:pt x="1359" y="144"/>
                  </a:lnTo>
                  <a:lnTo>
                    <a:pt x="1343" y="141"/>
                  </a:lnTo>
                  <a:lnTo>
                    <a:pt x="190" y="141"/>
                  </a:lnTo>
                  <a:close/>
                  <a:moveTo>
                    <a:pt x="190" y="0"/>
                  </a:moveTo>
                  <a:lnTo>
                    <a:pt x="1345" y="0"/>
                  </a:lnTo>
                  <a:lnTo>
                    <a:pt x="1378" y="3"/>
                  </a:lnTo>
                  <a:lnTo>
                    <a:pt x="1411" y="12"/>
                  </a:lnTo>
                  <a:lnTo>
                    <a:pt x="1441" y="26"/>
                  </a:lnTo>
                  <a:lnTo>
                    <a:pt x="1467" y="45"/>
                  </a:lnTo>
                  <a:lnTo>
                    <a:pt x="1489" y="68"/>
                  </a:lnTo>
                  <a:lnTo>
                    <a:pt x="1508" y="94"/>
                  </a:lnTo>
                  <a:lnTo>
                    <a:pt x="1523" y="124"/>
                  </a:lnTo>
                  <a:lnTo>
                    <a:pt x="1531" y="156"/>
                  </a:lnTo>
                  <a:lnTo>
                    <a:pt x="1534" y="190"/>
                  </a:lnTo>
                  <a:lnTo>
                    <a:pt x="1534" y="1019"/>
                  </a:lnTo>
                  <a:lnTo>
                    <a:pt x="1531" y="1053"/>
                  </a:lnTo>
                  <a:lnTo>
                    <a:pt x="1523" y="1086"/>
                  </a:lnTo>
                  <a:lnTo>
                    <a:pt x="1508" y="1115"/>
                  </a:lnTo>
                  <a:lnTo>
                    <a:pt x="1490" y="1141"/>
                  </a:lnTo>
                  <a:lnTo>
                    <a:pt x="1467" y="1165"/>
                  </a:lnTo>
                  <a:lnTo>
                    <a:pt x="1441" y="1183"/>
                  </a:lnTo>
                  <a:lnTo>
                    <a:pt x="1411" y="1197"/>
                  </a:lnTo>
                  <a:lnTo>
                    <a:pt x="1378" y="1206"/>
                  </a:lnTo>
                  <a:lnTo>
                    <a:pt x="1345" y="1209"/>
                  </a:lnTo>
                  <a:lnTo>
                    <a:pt x="837" y="1209"/>
                  </a:lnTo>
                  <a:lnTo>
                    <a:pt x="837" y="1367"/>
                  </a:lnTo>
                  <a:lnTo>
                    <a:pt x="1000" y="1367"/>
                  </a:lnTo>
                  <a:lnTo>
                    <a:pt x="1019" y="1370"/>
                  </a:lnTo>
                  <a:lnTo>
                    <a:pt x="1036" y="1377"/>
                  </a:lnTo>
                  <a:lnTo>
                    <a:pt x="1049" y="1388"/>
                  </a:lnTo>
                  <a:lnTo>
                    <a:pt x="1060" y="1402"/>
                  </a:lnTo>
                  <a:lnTo>
                    <a:pt x="1067" y="1419"/>
                  </a:lnTo>
                  <a:lnTo>
                    <a:pt x="1069" y="1438"/>
                  </a:lnTo>
                  <a:lnTo>
                    <a:pt x="1067" y="1457"/>
                  </a:lnTo>
                  <a:lnTo>
                    <a:pt x="1060" y="1474"/>
                  </a:lnTo>
                  <a:lnTo>
                    <a:pt x="1049" y="1487"/>
                  </a:lnTo>
                  <a:lnTo>
                    <a:pt x="1036" y="1498"/>
                  </a:lnTo>
                  <a:lnTo>
                    <a:pt x="1019" y="1505"/>
                  </a:lnTo>
                  <a:lnTo>
                    <a:pt x="1000" y="1508"/>
                  </a:lnTo>
                  <a:lnTo>
                    <a:pt x="535" y="1508"/>
                  </a:lnTo>
                  <a:lnTo>
                    <a:pt x="516" y="1505"/>
                  </a:lnTo>
                  <a:lnTo>
                    <a:pt x="500" y="1498"/>
                  </a:lnTo>
                  <a:lnTo>
                    <a:pt x="485" y="1487"/>
                  </a:lnTo>
                  <a:lnTo>
                    <a:pt x="475" y="1474"/>
                  </a:lnTo>
                  <a:lnTo>
                    <a:pt x="467" y="1457"/>
                  </a:lnTo>
                  <a:lnTo>
                    <a:pt x="465" y="1438"/>
                  </a:lnTo>
                  <a:lnTo>
                    <a:pt x="467" y="1419"/>
                  </a:lnTo>
                  <a:lnTo>
                    <a:pt x="475" y="1402"/>
                  </a:lnTo>
                  <a:lnTo>
                    <a:pt x="485" y="1388"/>
                  </a:lnTo>
                  <a:lnTo>
                    <a:pt x="500" y="1377"/>
                  </a:lnTo>
                  <a:lnTo>
                    <a:pt x="516" y="1370"/>
                  </a:lnTo>
                  <a:lnTo>
                    <a:pt x="535" y="1367"/>
                  </a:lnTo>
                  <a:lnTo>
                    <a:pt x="697" y="1367"/>
                  </a:lnTo>
                  <a:lnTo>
                    <a:pt x="697" y="1209"/>
                  </a:lnTo>
                  <a:lnTo>
                    <a:pt x="190" y="1209"/>
                  </a:lnTo>
                  <a:lnTo>
                    <a:pt x="156" y="1206"/>
                  </a:lnTo>
                  <a:lnTo>
                    <a:pt x="123" y="1197"/>
                  </a:lnTo>
                  <a:lnTo>
                    <a:pt x="94" y="1183"/>
                  </a:lnTo>
                  <a:lnTo>
                    <a:pt x="67" y="1165"/>
                  </a:lnTo>
                  <a:lnTo>
                    <a:pt x="44" y="1141"/>
                  </a:lnTo>
                  <a:lnTo>
                    <a:pt x="26" y="1115"/>
                  </a:lnTo>
                  <a:lnTo>
                    <a:pt x="12" y="1086"/>
                  </a:lnTo>
                  <a:lnTo>
                    <a:pt x="3" y="1053"/>
                  </a:lnTo>
                  <a:lnTo>
                    <a:pt x="0" y="1019"/>
                  </a:lnTo>
                  <a:lnTo>
                    <a:pt x="0" y="190"/>
                  </a:lnTo>
                  <a:lnTo>
                    <a:pt x="3" y="156"/>
                  </a:lnTo>
                  <a:lnTo>
                    <a:pt x="12" y="124"/>
                  </a:lnTo>
                  <a:lnTo>
                    <a:pt x="26" y="94"/>
                  </a:lnTo>
                  <a:lnTo>
                    <a:pt x="44" y="68"/>
                  </a:lnTo>
                  <a:lnTo>
                    <a:pt x="67" y="44"/>
                  </a:lnTo>
                  <a:lnTo>
                    <a:pt x="94" y="26"/>
                  </a:lnTo>
                  <a:lnTo>
                    <a:pt x="123" y="12"/>
                  </a:lnTo>
                  <a:lnTo>
                    <a:pt x="156" y="3"/>
                  </a:lnTo>
                  <a:lnTo>
                    <a:pt x="1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86" name="Freeform 319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6583363" y="4527550"/>
              <a:ext cx="244475" cy="239712"/>
            </a:xfrm>
            <a:custGeom>
              <a:avLst/>
              <a:gdLst>
                <a:gd name="T0" fmla="*/ 174 w 1535"/>
                <a:gd name="T1" fmla="*/ 144 h 1508"/>
                <a:gd name="T2" fmla="*/ 150 w 1535"/>
                <a:gd name="T3" fmla="*/ 162 h 1508"/>
                <a:gd name="T4" fmla="*/ 141 w 1535"/>
                <a:gd name="T5" fmla="*/ 191 h 1508"/>
                <a:gd name="T6" fmla="*/ 143 w 1535"/>
                <a:gd name="T7" fmla="*/ 1036 h 1508"/>
                <a:gd name="T8" fmla="*/ 161 w 1535"/>
                <a:gd name="T9" fmla="*/ 1060 h 1508"/>
                <a:gd name="T10" fmla="*/ 190 w 1535"/>
                <a:gd name="T11" fmla="*/ 1070 h 1508"/>
                <a:gd name="T12" fmla="*/ 1361 w 1535"/>
                <a:gd name="T13" fmla="*/ 1067 h 1508"/>
                <a:gd name="T14" fmla="*/ 1385 w 1535"/>
                <a:gd name="T15" fmla="*/ 1049 h 1508"/>
                <a:gd name="T16" fmla="*/ 1395 w 1535"/>
                <a:gd name="T17" fmla="*/ 1020 h 1508"/>
                <a:gd name="T18" fmla="*/ 1393 w 1535"/>
                <a:gd name="T19" fmla="*/ 191 h 1508"/>
                <a:gd name="T20" fmla="*/ 1384 w 1535"/>
                <a:gd name="T21" fmla="*/ 162 h 1508"/>
                <a:gd name="T22" fmla="*/ 1360 w 1535"/>
                <a:gd name="T23" fmla="*/ 144 h 1508"/>
                <a:gd name="T24" fmla="*/ 190 w 1535"/>
                <a:gd name="T25" fmla="*/ 141 h 1508"/>
                <a:gd name="T26" fmla="*/ 1345 w 1535"/>
                <a:gd name="T27" fmla="*/ 0 h 1508"/>
                <a:gd name="T28" fmla="*/ 1410 w 1535"/>
                <a:gd name="T29" fmla="*/ 12 h 1508"/>
                <a:gd name="T30" fmla="*/ 1466 w 1535"/>
                <a:gd name="T31" fmla="*/ 45 h 1508"/>
                <a:gd name="T32" fmla="*/ 1508 w 1535"/>
                <a:gd name="T33" fmla="*/ 94 h 1508"/>
                <a:gd name="T34" fmla="*/ 1532 w 1535"/>
                <a:gd name="T35" fmla="*/ 156 h 1508"/>
                <a:gd name="T36" fmla="*/ 1535 w 1535"/>
                <a:gd name="T37" fmla="*/ 1019 h 1508"/>
                <a:gd name="T38" fmla="*/ 1522 w 1535"/>
                <a:gd name="T39" fmla="*/ 1086 h 1508"/>
                <a:gd name="T40" fmla="*/ 1489 w 1535"/>
                <a:gd name="T41" fmla="*/ 1141 h 1508"/>
                <a:gd name="T42" fmla="*/ 1440 w 1535"/>
                <a:gd name="T43" fmla="*/ 1183 h 1508"/>
                <a:gd name="T44" fmla="*/ 1379 w 1535"/>
                <a:gd name="T45" fmla="*/ 1206 h 1508"/>
                <a:gd name="T46" fmla="*/ 838 w 1535"/>
                <a:gd name="T47" fmla="*/ 1209 h 1508"/>
                <a:gd name="T48" fmla="*/ 999 w 1535"/>
                <a:gd name="T49" fmla="*/ 1367 h 1508"/>
                <a:gd name="T50" fmla="*/ 1035 w 1535"/>
                <a:gd name="T51" fmla="*/ 1377 h 1508"/>
                <a:gd name="T52" fmla="*/ 1060 w 1535"/>
                <a:gd name="T53" fmla="*/ 1402 h 1508"/>
                <a:gd name="T54" fmla="*/ 1070 w 1535"/>
                <a:gd name="T55" fmla="*/ 1438 h 1508"/>
                <a:gd name="T56" fmla="*/ 1060 w 1535"/>
                <a:gd name="T57" fmla="*/ 1474 h 1508"/>
                <a:gd name="T58" fmla="*/ 1035 w 1535"/>
                <a:gd name="T59" fmla="*/ 1498 h 1508"/>
                <a:gd name="T60" fmla="*/ 999 w 1535"/>
                <a:gd name="T61" fmla="*/ 1508 h 1508"/>
                <a:gd name="T62" fmla="*/ 516 w 1535"/>
                <a:gd name="T63" fmla="*/ 1505 h 1508"/>
                <a:gd name="T64" fmla="*/ 486 w 1535"/>
                <a:gd name="T65" fmla="*/ 1487 h 1508"/>
                <a:gd name="T66" fmla="*/ 468 w 1535"/>
                <a:gd name="T67" fmla="*/ 1457 h 1508"/>
                <a:gd name="T68" fmla="*/ 468 w 1535"/>
                <a:gd name="T69" fmla="*/ 1419 h 1508"/>
                <a:gd name="T70" fmla="*/ 486 w 1535"/>
                <a:gd name="T71" fmla="*/ 1388 h 1508"/>
                <a:gd name="T72" fmla="*/ 516 w 1535"/>
                <a:gd name="T73" fmla="*/ 1370 h 1508"/>
                <a:gd name="T74" fmla="*/ 697 w 1535"/>
                <a:gd name="T75" fmla="*/ 1367 h 1508"/>
                <a:gd name="T76" fmla="*/ 190 w 1535"/>
                <a:gd name="T77" fmla="*/ 1209 h 1508"/>
                <a:gd name="T78" fmla="*/ 124 w 1535"/>
                <a:gd name="T79" fmla="*/ 1197 h 1508"/>
                <a:gd name="T80" fmla="*/ 68 w 1535"/>
                <a:gd name="T81" fmla="*/ 1165 h 1508"/>
                <a:gd name="T82" fmla="*/ 26 w 1535"/>
                <a:gd name="T83" fmla="*/ 1115 h 1508"/>
                <a:gd name="T84" fmla="*/ 4 w 1535"/>
                <a:gd name="T85" fmla="*/ 1053 h 1508"/>
                <a:gd name="T86" fmla="*/ 0 w 1535"/>
                <a:gd name="T87" fmla="*/ 190 h 1508"/>
                <a:gd name="T88" fmla="*/ 12 w 1535"/>
                <a:gd name="T89" fmla="*/ 124 h 1508"/>
                <a:gd name="T90" fmla="*/ 45 w 1535"/>
                <a:gd name="T91" fmla="*/ 68 h 1508"/>
                <a:gd name="T92" fmla="*/ 94 w 1535"/>
                <a:gd name="T93" fmla="*/ 26 h 1508"/>
                <a:gd name="T94" fmla="*/ 155 w 1535"/>
                <a:gd name="T95" fmla="*/ 3 h 1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35" h="1508">
                  <a:moveTo>
                    <a:pt x="190" y="141"/>
                  </a:moveTo>
                  <a:lnTo>
                    <a:pt x="174" y="144"/>
                  </a:lnTo>
                  <a:lnTo>
                    <a:pt x="161" y="151"/>
                  </a:lnTo>
                  <a:lnTo>
                    <a:pt x="150" y="162"/>
                  </a:lnTo>
                  <a:lnTo>
                    <a:pt x="143" y="175"/>
                  </a:lnTo>
                  <a:lnTo>
                    <a:pt x="141" y="191"/>
                  </a:lnTo>
                  <a:lnTo>
                    <a:pt x="141" y="1020"/>
                  </a:lnTo>
                  <a:lnTo>
                    <a:pt x="143" y="1036"/>
                  </a:lnTo>
                  <a:lnTo>
                    <a:pt x="150" y="1049"/>
                  </a:lnTo>
                  <a:lnTo>
                    <a:pt x="161" y="1060"/>
                  </a:lnTo>
                  <a:lnTo>
                    <a:pt x="174" y="1067"/>
                  </a:lnTo>
                  <a:lnTo>
                    <a:pt x="190" y="1070"/>
                  </a:lnTo>
                  <a:lnTo>
                    <a:pt x="1345" y="1070"/>
                  </a:lnTo>
                  <a:lnTo>
                    <a:pt x="1361" y="1067"/>
                  </a:lnTo>
                  <a:lnTo>
                    <a:pt x="1373" y="1060"/>
                  </a:lnTo>
                  <a:lnTo>
                    <a:pt x="1385" y="1049"/>
                  </a:lnTo>
                  <a:lnTo>
                    <a:pt x="1391" y="1036"/>
                  </a:lnTo>
                  <a:lnTo>
                    <a:pt x="1395" y="1020"/>
                  </a:lnTo>
                  <a:lnTo>
                    <a:pt x="1393" y="1020"/>
                  </a:lnTo>
                  <a:lnTo>
                    <a:pt x="1393" y="191"/>
                  </a:lnTo>
                  <a:lnTo>
                    <a:pt x="1391" y="175"/>
                  </a:lnTo>
                  <a:lnTo>
                    <a:pt x="1384" y="162"/>
                  </a:lnTo>
                  <a:lnTo>
                    <a:pt x="1373" y="151"/>
                  </a:lnTo>
                  <a:lnTo>
                    <a:pt x="1360" y="144"/>
                  </a:lnTo>
                  <a:lnTo>
                    <a:pt x="1344" y="141"/>
                  </a:lnTo>
                  <a:lnTo>
                    <a:pt x="190" y="141"/>
                  </a:lnTo>
                  <a:close/>
                  <a:moveTo>
                    <a:pt x="190" y="0"/>
                  </a:moveTo>
                  <a:lnTo>
                    <a:pt x="1345" y="0"/>
                  </a:lnTo>
                  <a:lnTo>
                    <a:pt x="1379" y="3"/>
                  </a:lnTo>
                  <a:lnTo>
                    <a:pt x="1410" y="12"/>
                  </a:lnTo>
                  <a:lnTo>
                    <a:pt x="1440" y="26"/>
                  </a:lnTo>
                  <a:lnTo>
                    <a:pt x="1466" y="45"/>
                  </a:lnTo>
                  <a:lnTo>
                    <a:pt x="1489" y="68"/>
                  </a:lnTo>
                  <a:lnTo>
                    <a:pt x="1508" y="94"/>
                  </a:lnTo>
                  <a:lnTo>
                    <a:pt x="1522" y="124"/>
                  </a:lnTo>
                  <a:lnTo>
                    <a:pt x="1532" y="156"/>
                  </a:lnTo>
                  <a:lnTo>
                    <a:pt x="1535" y="190"/>
                  </a:lnTo>
                  <a:lnTo>
                    <a:pt x="1535" y="1019"/>
                  </a:lnTo>
                  <a:lnTo>
                    <a:pt x="1532" y="1053"/>
                  </a:lnTo>
                  <a:lnTo>
                    <a:pt x="1522" y="1086"/>
                  </a:lnTo>
                  <a:lnTo>
                    <a:pt x="1508" y="1115"/>
                  </a:lnTo>
                  <a:lnTo>
                    <a:pt x="1489" y="1141"/>
                  </a:lnTo>
                  <a:lnTo>
                    <a:pt x="1467" y="1165"/>
                  </a:lnTo>
                  <a:lnTo>
                    <a:pt x="1440" y="1183"/>
                  </a:lnTo>
                  <a:lnTo>
                    <a:pt x="1410" y="1197"/>
                  </a:lnTo>
                  <a:lnTo>
                    <a:pt x="1379" y="1206"/>
                  </a:lnTo>
                  <a:lnTo>
                    <a:pt x="1345" y="1209"/>
                  </a:lnTo>
                  <a:lnTo>
                    <a:pt x="838" y="1209"/>
                  </a:lnTo>
                  <a:lnTo>
                    <a:pt x="838" y="1367"/>
                  </a:lnTo>
                  <a:lnTo>
                    <a:pt x="999" y="1367"/>
                  </a:lnTo>
                  <a:lnTo>
                    <a:pt x="1018" y="1370"/>
                  </a:lnTo>
                  <a:lnTo>
                    <a:pt x="1035" y="1377"/>
                  </a:lnTo>
                  <a:lnTo>
                    <a:pt x="1050" y="1388"/>
                  </a:lnTo>
                  <a:lnTo>
                    <a:pt x="1060" y="1402"/>
                  </a:lnTo>
                  <a:lnTo>
                    <a:pt x="1068" y="1419"/>
                  </a:lnTo>
                  <a:lnTo>
                    <a:pt x="1070" y="1438"/>
                  </a:lnTo>
                  <a:lnTo>
                    <a:pt x="1068" y="1457"/>
                  </a:lnTo>
                  <a:lnTo>
                    <a:pt x="1060" y="1474"/>
                  </a:lnTo>
                  <a:lnTo>
                    <a:pt x="1050" y="1487"/>
                  </a:lnTo>
                  <a:lnTo>
                    <a:pt x="1035" y="1498"/>
                  </a:lnTo>
                  <a:lnTo>
                    <a:pt x="1018" y="1505"/>
                  </a:lnTo>
                  <a:lnTo>
                    <a:pt x="999" y="1508"/>
                  </a:lnTo>
                  <a:lnTo>
                    <a:pt x="535" y="1508"/>
                  </a:lnTo>
                  <a:lnTo>
                    <a:pt x="516" y="1505"/>
                  </a:lnTo>
                  <a:lnTo>
                    <a:pt x="499" y="1498"/>
                  </a:lnTo>
                  <a:lnTo>
                    <a:pt x="486" y="1487"/>
                  </a:lnTo>
                  <a:lnTo>
                    <a:pt x="474" y="1474"/>
                  </a:lnTo>
                  <a:lnTo>
                    <a:pt x="468" y="1457"/>
                  </a:lnTo>
                  <a:lnTo>
                    <a:pt x="464" y="1438"/>
                  </a:lnTo>
                  <a:lnTo>
                    <a:pt x="468" y="1419"/>
                  </a:lnTo>
                  <a:lnTo>
                    <a:pt x="474" y="1402"/>
                  </a:lnTo>
                  <a:lnTo>
                    <a:pt x="486" y="1388"/>
                  </a:lnTo>
                  <a:lnTo>
                    <a:pt x="499" y="1377"/>
                  </a:lnTo>
                  <a:lnTo>
                    <a:pt x="516" y="1370"/>
                  </a:lnTo>
                  <a:lnTo>
                    <a:pt x="535" y="1367"/>
                  </a:lnTo>
                  <a:lnTo>
                    <a:pt x="697" y="1367"/>
                  </a:lnTo>
                  <a:lnTo>
                    <a:pt x="697" y="1209"/>
                  </a:lnTo>
                  <a:lnTo>
                    <a:pt x="190" y="1209"/>
                  </a:lnTo>
                  <a:lnTo>
                    <a:pt x="155" y="1206"/>
                  </a:lnTo>
                  <a:lnTo>
                    <a:pt x="124" y="1197"/>
                  </a:lnTo>
                  <a:lnTo>
                    <a:pt x="94" y="1183"/>
                  </a:lnTo>
                  <a:lnTo>
                    <a:pt x="68" y="1165"/>
                  </a:lnTo>
                  <a:lnTo>
                    <a:pt x="45" y="1141"/>
                  </a:lnTo>
                  <a:lnTo>
                    <a:pt x="26" y="1115"/>
                  </a:lnTo>
                  <a:lnTo>
                    <a:pt x="12" y="1086"/>
                  </a:lnTo>
                  <a:lnTo>
                    <a:pt x="4" y="1053"/>
                  </a:lnTo>
                  <a:lnTo>
                    <a:pt x="0" y="1019"/>
                  </a:lnTo>
                  <a:lnTo>
                    <a:pt x="0" y="190"/>
                  </a:lnTo>
                  <a:lnTo>
                    <a:pt x="4" y="156"/>
                  </a:lnTo>
                  <a:lnTo>
                    <a:pt x="12" y="124"/>
                  </a:lnTo>
                  <a:lnTo>
                    <a:pt x="26" y="94"/>
                  </a:lnTo>
                  <a:lnTo>
                    <a:pt x="45" y="68"/>
                  </a:lnTo>
                  <a:lnTo>
                    <a:pt x="68" y="44"/>
                  </a:lnTo>
                  <a:lnTo>
                    <a:pt x="94" y="26"/>
                  </a:lnTo>
                  <a:lnTo>
                    <a:pt x="124" y="12"/>
                  </a:lnTo>
                  <a:lnTo>
                    <a:pt x="155" y="3"/>
                  </a:lnTo>
                  <a:lnTo>
                    <a:pt x="1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87" name="Freeform 320"/>
            <p:cNvSpPr/>
            <p:nvPr>
              <p:custDataLst>
                <p:tags r:id="rId39"/>
              </p:custDataLst>
            </p:nvPr>
          </p:nvSpPr>
          <p:spPr bwMode="auto">
            <a:xfrm>
              <a:off x="6307138" y="4319588"/>
              <a:ext cx="92075" cy="173037"/>
            </a:xfrm>
            <a:custGeom>
              <a:avLst/>
              <a:gdLst>
                <a:gd name="T0" fmla="*/ 71 w 589"/>
                <a:gd name="T1" fmla="*/ 0 h 1084"/>
                <a:gd name="T2" fmla="*/ 519 w 589"/>
                <a:gd name="T3" fmla="*/ 0 h 1084"/>
                <a:gd name="T4" fmla="*/ 538 w 589"/>
                <a:gd name="T5" fmla="*/ 2 h 1084"/>
                <a:gd name="T6" fmla="*/ 554 w 589"/>
                <a:gd name="T7" fmla="*/ 10 h 1084"/>
                <a:gd name="T8" fmla="*/ 569 w 589"/>
                <a:gd name="T9" fmla="*/ 20 h 1084"/>
                <a:gd name="T10" fmla="*/ 579 w 589"/>
                <a:gd name="T11" fmla="*/ 34 h 1084"/>
                <a:gd name="T12" fmla="*/ 586 w 589"/>
                <a:gd name="T13" fmla="*/ 51 h 1084"/>
                <a:gd name="T14" fmla="*/ 589 w 589"/>
                <a:gd name="T15" fmla="*/ 70 h 1084"/>
                <a:gd name="T16" fmla="*/ 586 w 589"/>
                <a:gd name="T17" fmla="*/ 89 h 1084"/>
                <a:gd name="T18" fmla="*/ 579 w 589"/>
                <a:gd name="T19" fmla="*/ 106 h 1084"/>
                <a:gd name="T20" fmla="*/ 569 w 589"/>
                <a:gd name="T21" fmla="*/ 119 h 1084"/>
                <a:gd name="T22" fmla="*/ 554 w 589"/>
                <a:gd name="T23" fmla="*/ 131 h 1084"/>
                <a:gd name="T24" fmla="*/ 538 w 589"/>
                <a:gd name="T25" fmla="*/ 137 h 1084"/>
                <a:gd name="T26" fmla="*/ 519 w 589"/>
                <a:gd name="T27" fmla="*/ 140 h 1084"/>
                <a:gd name="T28" fmla="*/ 140 w 589"/>
                <a:gd name="T29" fmla="*/ 140 h 1084"/>
                <a:gd name="T30" fmla="*/ 140 w 589"/>
                <a:gd name="T31" fmla="*/ 1014 h 1084"/>
                <a:gd name="T32" fmla="*/ 138 w 589"/>
                <a:gd name="T33" fmla="*/ 1033 h 1084"/>
                <a:gd name="T34" fmla="*/ 131 w 589"/>
                <a:gd name="T35" fmla="*/ 1050 h 1084"/>
                <a:gd name="T36" fmla="*/ 120 w 589"/>
                <a:gd name="T37" fmla="*/ 1064 h 1084"/>
                <a:gd name="T38" fmla="*/ 106 w 589"/>
                <a:gd name="T39" fmla="*/ 1075 h 1084"/>
                <a:gd name="T40" fmla="*/ 89 w 589"/>
                <a:gd name="T41" fmla="*/ 1082 h 1084"/>
                <a:gd name="T42" fmla="*/ 71 w 589"/>
                <a:gd name="T43" fmla="*/ 1084 h 1084"/>
                <a:gd name="T44" fmla="*/ 52 w 589"/>
                <a:gd name="T45" fmla="*/ 1082 h 1084"/>
                <a:gd name="T46" fmla="*/ 35 w 589"/>
                <a:gd name="T47" fmla="*/ 1075 h 1084"/>
                <a:gd name="T48" fmla="*/ 20 w 589"/>
                <a:gd name="T49" fmla="*/ 1064 h 1084"/>
                <a:gd name="T50" fmla="*/ 10 w 589"/>
                <a:gd name="T51" fmla="*/ 1050 h 1084"/>
                <a:gd name="T52" fmla="*/ 2 w 589"/>
                <a:gd name="T53" fmla="*/ 1033 h 1084"/>
                <a:gd name="T54" fmla="*/ 0 w 589"/>
                <a:gd name="T55" fmla="*/ 1014 h 1084"/>
                <a:gd name="T56" fmla="*/ 0 w 589"/>
                <a:gd name="T57" fmla="*/ 70 h 1084"/>
                <a:gd name="T58" fmla="*/ 2 w 589"/>
                <a:gd name="T59" fmla="*/ 52 h 1084"/>
                <a:gd name="T60" fmla="*/ 10 w 589"/>
                <a:gd name="T61" fmla="*/ 35 h 1084"/>
                <a:gd name="T62" fmla="*/ 21 w 589"/>
                <a:gd name="T63" fmla="*/ 20 h 1084"/>
                <a:gd name="T64" fmla="*/ 35 w 589"/>
                <a:gd name="T65" fmla="*/ 10 h 1084"/>
                <a:gd name="T66" fmla="*/ 52 w 589"/>
                <a:gd name="T67" fmla="*/ 2 h 1084"/>
                <a:gd name="T68" fmla="*/ 71 w 589"/>
                <a:gd name="T69" fmla="*/ 0 h 1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89" h="1084">
                  <a:moveTo>
                    <a:pt x="71" y="0"/>
                  </a:moveTo>
                  <a:lnTo>
                    <a:pt x="519" y="0"/>
                  </a:lnTo>
                  <a:lnTo>
                    <a:pt x="538" y="2"/>
                  </a:lnTo>
                  <a:lnTo>
                    <a:pt x="554" y="10"/>
                  </a:lnTo>
                  <a:lnTo>
                    <a:pt x="569" y="20"/>
                  </a:lnTo>
                  <a:lnTo>
                    <a:pt x="579" y="34"/>
                  </a:lnTo>
                  <a:lnTo>
                    <a:pt x="586" y="51"/>
                  </a:lnTo>
                  <a:lnTo>
                    <a:pt x="589" y="70"/>
                  </a:lnTo>
                  <a:lnTo>
                    <a:pt x="586" y="89"/>
                  </a:lnTo>
                  <a:lnTo>
                    <a:pt x="579" y="106"/>
                  </a:lnTo>
                  <a:lnTo>
                    <a:pt x="569" y="119"/>
                  </a:lnTo>
                  <a:lnTo>
                    <a:pt x="554" y="131"/>
                  </a:lnTo>
                  <a:lnTo>
                    <a:pt x="538" y="137"/>
                  </a:lnTo>
                  <a:lnTo>
                    <a:pt x="519" y="140"/>
                  </a:lnTo>
                  <a:lnTo>
                    <a:pt x="140" y="140"/>
                  </a:lnTo>
                  <a:lnTo>
                    <a:pt x="140" y="1014"/>
                  </a:lnTo>
                  <a:lnTo>
                    <a:pt x="138" y="1033"/>
                  </a:lnTo>
                  <a:lnTo>
                    <a:pt x="131" y="1050"/>
                  </a:lnTo>
                  <a:lnTo>
                    <a:pt x="120" y="1064"/>
                  </a:lnTo>
                  <a:lnTo>
                    <a:pt x="106" y="1075"/>
                  </a:lnTo>
                  <a:lnTo>
                    <a:pt x="89" y="1082"/>
                  </a:lnTo>
                  <a:lnTo>
                    <a:pt x="71" y="1084"/>
                  </a:lnTo>
                  <a:lnTo>
                    <a:pt x="52" y="1082"/>
                  </a:lnTo>
                  <a:lnTo>
                    <a:pt x="35" y="1075"/>
                  </a:lnTo>
                  <a:lnTo>
                    <a:pt x="20" y="1064"/>
                  </a:lnTo>
                  <a:lnTo>
                    <a:pt x="10" y="1050"/>
                  </a:lnTo>
                  <a:lnTo>
                    <a:pt x="2" y="1033"/>
                  </a:lnTo>
                  <a:lnTo>
                    <a:pt x="0" y="1014"/>
                  </a:lnTo>
                  <a:lnTo>
                    <a:pt x="0" y="70"/>
                  </a:lnTo>
                  <a:lnTo>
                    <a:pt x="2" y="52"/>
                  </a:lnTo>
                  <a:lnTo>
                    <a:pt x="10" y="35"/>
                  </a:lnTo>
                  <a:lnTo>
                    <a:pt x="21" y="20"/>
                  </a:lnTo>
                  <a:lnTo>
                    <a:pt x="35" y="10"/>
                  </a:lnTo>
                  <a:lnTo>
                    <a:pt x="52" y="2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188" name="Freeform 321"/>
            <p:cNvSpPr/>
            <p:nvPr>
              <p:custDataLst>
                <p:tags r:id="rId40"/>
              </p:custDataLst>
            </p:nvPr>
          </p:nvSpPr>
          <p:spPr bwMode="auto">
            <a:xfrm>
              <a:off x="6702426" y="4319588"/>
              <a:ext cx="93663" cy="173037"/>
            </a:xfrm>
            <a:custGeom>
              <a:avLst/>
              <a:gdLst>
                <a:gd name="T0" fmla="*/ 71 w 590"/>
                <a:gd name="T1" fmla="*/ 0 h 1085"/>
                <a:gd name="T2" fmla="*/ 519 w 590"/>
                <a:gd name="T3" fmla="*/ 0 h 1085"/>
                <a:gd name="T4" fmla="*/ 538 w 590"/>
                <a:gd name="T5" fmla="*/ 2 h 1085"/>
                <a:gd name="T6" fmla="*/ 555 w 590"/>
                <a:gd name="T7" fmla="*/ 10 h 1085"/>
                <a:gd name="T8" fmla="*/ 569 w 590"/>
                <a:gd name="T9" fmla="*/ 20 h 1085"/>
                <a:gd name="T10" fmla="*/ 580 w 590"/>
                <a:gd name="T11" fmla="*/ 34 h 1085"/>
                <a:gd name="T12" fmla="*/ 586 w 590"/>
                <a:gd name="T13" fmla="*/ 51 h 1085"/>
                <a:gd name="T14" fmla="*/ 590 w 590"/>
                <a:gd name="T15" fmla="*/ 70 h 1085"/>
                <a:gd name="T16" fmla="*/ 590 w 590"/>
                <a:gd name="T17" fmla="*/ 1015 h 1085"/>
                <a:gd name="T18" fmla="*/ 586 w 590"/>
                <a:gd name="T19" fmla="*/ 1034 h 1085"/>
                <a:gd name="T20" fmla="*/ 580 w 590"/>
                <a:gd name="T21" fmla="*/ 1051 h 1085"/>
                <a:gd name="T22" fmla="*/ 569 w 590"/>
                <a:gd name="T23" fmla="*/ 1064 h 1085"/>
                <a:gd name="T24" fmla="*/ 555 w 590"/>
                <a:gd name="T25" fmla="*/ 1076 h 1085"/>
                <a:gd name="T26" fmla="*/ 538 w 590"/>
                <a:gd name="T27" fmla="*/ 1082 h 1085"/>
                <a:gd name="T28" fmla="*/ 519 w 590"/>
                <a:gd name="T29" fmla="*/ 1085 h 1085"/>
                <a:gd name="T30" fmla="*/ 500 w 590"/>
                <a:gd name="T31" fmla="*/ 1082 h 1085"/>
                <a:gd name="T32" fmla="*/ 483 w 590"/>
                <a:gd name="T33" fmla="*/ 1075 h 1085"/>
                <a:gd name="T34" fmla="*/ 469 w 590"/>
                <a:gd name="T35" fmla="*/ 1064 h 1085"/>
                <a:gd name="T36" fmla="*/ 459 w 590"/>
                <a:gd name="T37" fmla="*/ 1050 h 1085"/>
                <a:gd name="T38" fmla="*/ 451 w 590"/>
                <a:gd name="T39" fmla="*/ 1033 h 1085"/>
                <a:gd name="T40" fmla="*/ 449 w 590"/>
                <a:gd name="T41" fmla="*/ 1014 h 1085"/>
                <a:gd name="T42" fmla="*/ 449 w 590"/>
                <a:gd name="T43" fmla="*/ 140 h 1085"/>
                <a:gd name="T44" fmla="*/ 71 w 590"/>
                <a:gd name="T45" fmla="*/ 140 h 1085"/>
                <a:gd name="T46" fmla="*/ 52 w 590"/>
                <a:gd name="T47" fmla="*/ 137 h 1085"/>
                <a:gd name="T48" fmla="*/ 35 w 590"/>
                <a:gd name="T49" fmla="*/ 131 h 1085"/>
                <a:gd name="T50" fmla="*/ 21 w 590"/>
                <a:gd name="T51" fmla="*/ 119 h 1085"/>
                <a:gd name="T52" fmla="*/ 10 w 590"/>
                <a:gd name="T53" fmla="*/ 106 h 1085"/>
                <a:gd name="T54" fmla="*/ 3 w 590"/>
                <a:gd name="T55" fmla="*/ 89 h 1085"/>
                <a:gd name="T56" fmla="*/ 0 w 590"/>
                <a:gd name="T57" fmla="*/ 70 h 1085"/>
                <a:gd name="T58" fmla="*/ 3 w 590"/>
                <a:gd name="T59" fmla="*/ 51 h 1085"/>
                <a:gd name="T60" fmla="*/ 10 w 590"/>
                <a:gd name="T61" fmla="*/ 34 h 1085"/>
                <a:gd name="T62" fmla="*/ 21 w 590"/>
                <a:gd name="T63" fmla="*/ 20 h 1085"/>
                <a:gd name="T64" fmla="*/ 35 w 590"/>
                <a:gd name="T65" fmla="*/ 10 h 1085"/>
                <a:gd name="T66" fmla="*/ 52 w 590"/>
                <a:gd name="T67" fmla="*/ 2 h 1085"/>
                <a:gd name="T68" fmla="*/ 71 w 590"/>
                <a:gd name="T69" fmla="*/ 0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90" h="1085">
                  <a:moveTo>
                    <a:pt x="71" y="0"/>
                  </a:moveTo>
                  <a:lnTo>
                    <a:pt x="519" y="0"/>
                  </a:lnTo>
                  <a:lnTo>
                    <a:pt x="538" y="2"/>
                  </a:lnTo>
                  <a:lnTo>
                    <a:pt x="555" y="10"/>
                  </a:lnTo>
                  <a:lnTo>
                    <a:pt x="569" y="20"/>
                  </a:lnTo>
                  <a:lnTo>
                    <a:pt x="580" y="34"/>
                  </a:lnTo>
                  <a:lnTo>
                    <a:pt x="586" y="51"/>
                  </a:lnTo>
                  <a:lnTo>
                    <a:pt x="590" y="70"/>
                  </a:lnTo>
                  <a:lnTo>
                    <a:pt x="590" y="1015"/>
                  </a:lnTo>
                  <a:lnTo>
                    <a:pt x="586" y="1034"/>
                  </a:lnTo>
                  <a:lnTo>
                    <a:pt x="580" y="1051"/>
                  </a:lnTo>
                  <a:lnTo>
                    <a:pt x="569" y="1064"/>
                  </a:lnTo>
                  <a:lnTo>
                    <a:pt x="555" y="1076"/>
                  </a:lnTo>
                  <a:lnTo>
                    <a:pt x="538" y="1082"/>
                  </a:lnTo>
                  <a:lnTo>
                    <a:pt x="519" y="1085"/>
                  </a:lnTo>
                  <a:lnTo>
                    <a:pt x="500" y="1082"/>
                  </a:lnTo>
                  <a:lnTo>
                    <a:pt x="483" y="1075"/>
                  </a:lnTo>
                  <a:lnTo>
                    <a:pt x="469" y="1064"/>
                  </a:lnTo>
                  <a:lnTo>
                    <a:pt x="459" y="1050"/>
                  </a:lnTo>
                  <a:lnTo>
                    <a:pt x="451" y="1033"/>
                  </a:lnTo>
                  <a:lnTo>
                    <a:pt x="449" y="1014"/>
                  </a:lnTo>
                  <a:lnTo>
                    <a:pt x="449" y="140"/>
                  </a:lnTo>
                  <a:lnTo>
                    <a:pt x="71" y="140"/>
                  </a:lnTo>
                  <a:lnTo>
                    <a:pt x="52" y="137"/>
                  </a:lnTo>
                  <a:lnTo>
                    <a:pt x="35" y="131"/>
                  </a:lnTo>
                  <a:lnTo>
                    <a:pt x="21" y="119"/>
                  </a:lnTo>
                  <a:lnTo>
                    <a:pt x="10" y="106"/>
                  </a:lnTo>
                  <a:lnTo>
                    <a:pt x="3" y="89"/>
                  </a:lnTo>
                  <a:lnTo>
                    <a:pt x="0" y="70"/>
                  </a:lnTo>
                  <a:lnTo>
                    <a:pt x="3" y="51"/>
                  </a:lnTo>
                  <a:lnTo>
                    <a:pt x="10" y="34"/>
                  </a:lnTo>
                  <a:lnTo>
                    <a:pt x="21" y="20"/>
                  </a:lnTo>
                  <a:lnTo>
                    <a:pt x="35" y="10"/>
                  </a:lnTo>
                  <a:lnTo>
                    <a:pt x="52" y="2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sp>
        <p:nvSpPr>
          <p:cNvPr id="189" name="Freeform 178"/>
          <p:cNvSpPr>
            <a:spLocks noEditPoints="1"/>
          </p:cNvSpPr>
          <p:nvPr>
            <p:custDataLst>
              <p:tags r:id="rId41"/>
            </p:custDataLst>
          </p:nvPr>
        </p:nvSpPr>
        <p:spPr bwMode="auto">
          <a:xfrm>
            <a:off x="5243195" y="1247775"/>
            <a:ext cx="285115" cy="223520"/>
          </a:xfrm>
          <a:custGeom>
            <a:avLst/>
            <a:gdLst/>
            <a:ahLst/>
            <a:cxnLst>
              <a:cxn ang="0">
                <a:pos x="158" y="119"/>
              </a:cxn>
              <a:cxn ang="0">
                <a:pos x="0" y="119"/>
              </a:cxn>
              <a:cxn ang="0">
                <a:pos x="0" y="0"/>
              </a:cxn>
              <a:cxn ang="0">
                <a:pos x="9" y="0"/>
              </a:cxn>
              <a:cxn ang="0">
                <a:pos x="9" y="108"/>
              </a:cxn>
              <a:cxn ang="0">
                <a:pos x="158" y="108"/>
              </a:cxn>
              <a:cxn ang="0">
                <a:pos x="158" y="119"/>
              </a:cxn>
              <a:cxn ang="0">
                <a:pos x="50" y="99"/>
              </a:cxn>
              <a:cxn ang="0">
                <a:pos x="29" y="99"/>
              </a:cxn>
              <a:cxn ang="0">
                <a:pos x="29" y="60"/>
              </a:cxn>
              <a:cxn ang="0">
                <a:pos x="50" y="60"/>
              </a:cxn>
              <a:cxn ang="0">
                <a:pos x="50" y="99"/>
              </a:cxn>
              <a:cxn ang="0">
                <a:pos x="78" y="99"/>
              </a:cxn>
              <a:cxn ang="0">
                <a:pos x="59" y="99"/>
              </a:cxn>
              <a:cxn ang="0">
                <a:pos x="59" y="19"/>
              </a:cxn>
              <a:cxn ang="0">
                <a:pos x="78" y="19"/>
              </a:cxn>
              <a:cxn ang="0">
                <a:pos x="78" y="99"/>
              </a:cxn>
              <a:cxn ang="0">
                <a:pos x="109" y="99"/>
              </a:cxn>
              <a:cxn ang="0">
                <a:pos x="89" y="99"/>
              </a:cxn>
              <a:cxn ang="0">
                <a:pos x="89" y="39"/>
              </a:cxn>
              <a:cxn ang="0">
                <a:pos x="109" y="39"/>
              </a:cxn>
              <a:cxn ang="0">
                <a:pos x="109" y="99"/>
              </a:cxn>
              <a:cxn ang="0">
                <a:pos x="139" y="99"/>
              </a:cxn>
              <a:cxn ang="0">
                <a:pos x="119" y="99"/>
              </a:cxn>
              <a:cxn ang="0">
                <a:pos x="119" y="11"/>
              </a:cxn>
              <a:cxn ang="0">
                <a:pos x="139" y="11"/>
              </a:cxn>
              <a:cxn ang="0">
                <a:pos x="139" y="99"/>
              </a:cxn>
            </a:cxnLst>
            <a:rect l="0" t="0" r="r" b="b"/>
            <a:pathLst>
              <a:path w="158" h="119">
                <a:moveTo>
                  <a:pt x="158" y="119"/>
                </a:moveTo>
                <a:lnTo>
                  <a:pt x="0" y="119"/>
                </a:lnTo>
                <a:lnTo>
                  <a:pt x="0" y="0"/>
                </a:lnTo>
                <a:lnTo>
                  <a:pt x="9" y="0"/>
                </a:lnTo>
                <a:lnTo>
                  <a:pt x="9" y="108"/>
                </a:lnTo>
                <a:lnTo>
                  <a:pt x="158" y="108"/>
                </a:lnTo>
                <a:lnTo>
                  <a:pt x="158" y="119"/>
                </a:lnTo>
                <a:close/>
                <a:moveTo>
                  <a:pt x="50" y="99"/>
                </a:moveTo>
                <a:lnTo>
                  <a:pt x="29" y="99"/>
                </a:lnTo>
                <a:lnTo>
                  <a:pt x="29" y="60"/>
                </a:lnTo>
                <a:lnTo>
                  <a:pt x="50" y="60"/>
                </a:lnTo>
                <a:lnTo>
                  <a:pt x="50" y="99"/>
                </a:lnTo>
                <a:close/>
                <a:moveTo>
                  <a:pt x="78" y="99"/>
                </a:moveTo>
                <a:lnTo>
                  <a:pt x="59" y="99"/>
                </a:lnTo>
                <a:lnTo>
                  <a:pt x="59" y="19"/>
                </a:lnTo>
                <a:lnTo>
                  <a:pt x="78" y="19"/>
                </a:lnTo>
                <a:lnTo>
                  <a:pt x="78" y="99"/>
                </a:lnTo>
                <a:close/>
                <a:moveTo>
                  <a:pt x="109" y="99"/>
                </a:moveTo>
                <a:lnTo>
                  <a:pt x="89" y="99"/>
                </a:lnTo>
                <a:lnTo>
                  <a:pt x="89" y="39"/>
                </a:lnTo>
                <a:lnTo>
                  <a:pt x="109" y="39"/>
                </a:lnTo>
                <a:lnTo>
                  <a:pt x="109" y="99"/>
                </a:lnTo>
                <a:close/>
                <a:moveTo>
                  <a:pt x="139" y="99"/>
                </a:moveTo>
                <a:lnTo>
                  <a:pt x="119" y="99"/>
                </a:lnTo>
                <a:lnTo>
                  <a:pt x="119" y="11"/>
                </a:lnTo>
                <a:lnTo>
                  <a:pt x="139" y="11"/>
                </a:lnTo>
                <a:lnTo>
                  <a:pt x="139" y="9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p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512000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业务价值案例</a:t>
            </a:r>
            <a:r>
              <a:rPr lang="en-US" altLang="zh-CN" sz="2000" dirty="0"/>
              <a:t>1</a:t>
            </a:r>
            <a:endParaRPr lang="zh-CN" altLang="en-US" sz="2000" dirty="0"/>
          </a:p>
        </p:txBody>
      </p:sp>
      <p:pic>
        <p:nvPicPr>
          <p:cNvPr id="81" name="图片 8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8495" y="754380"/>
            <a:ext cx="7827645" cy="4222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512000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业务价值案例</a:t>
            </a:r>
            <a:r>
              <a:rPr lang="en-US" altLang="zh-CN" sz="2000" dirty="0"/>
              <a:t>2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95" y="1203960"/>
            <a:ext cx="8258810" cy="333883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99795" y="2657475"/>
            <a:ext cx="7344410" cy="432435"/>
          </a:xfrm>
          <a:prstGeom prst="rect">
            <a:avLst/>
          </a:prstGeom>
          <a:noFill/>
          <a:ln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318198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指标清单：关键属性</a:t>
            </a:r>
            <a:r>
              <a:rPr lang="zh-CN" altLang="en-US" sz="2000" dirty="0"/>
              <a:t>说明</a:t>
            </a:r>
            <a:endParaRPr lang="zh-CN" altLang="en-US" sz="2000" dirty="0"/>
          </a:p>
        </p:txBody>
      </p:sp>
      <p:sp>
        <p:nvSpPr>
          <p:cNvPr id="67" name="Shape 67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39750" y="843915"/>
            <a:ext cx="4032250" cy="3902710"/>
          </a:xfrm>
          <a:prstGeom prst="rect">
            <a:avLst/>
          </a:prstGeom>
        </p:spPr>
        <p:txBody>
          <a:bodyPr/>
          <a:p>
            <a:r>
              <a:rPr lang="zh-CN" sz="1200">
                <a:latin typeface="微软雅黑" charset="0"/>
                <a:ea typeface="微软雅黑" charset="0"/>
              </a:rPr>
              <a:t>指标编码：</a:t>
            </a:r>
            <a:r>
              <a:rPr lang="zh-CN" sz="1200">
                <a:latin typeface="微软雅黑" charset="0"/>
                <a:ea typeface="微软雅黑" charset="0"/>
              </a:rPr>
              <a:t>唯一性</a:t>
            </a:r>
            <a:endParaRPr lang="zh-CN" sz="1200">
              <a:latin typeface="微软雅黑" charset="0"/>
              <a:ea typeface="微软雅黑" charset="0"/>
            </a:endParaRPr>
          </a:p>
          <a:p>
            <a:r>
              <a:rPr lang="zh-CN" sz="1200">
                <a:latin typeface="微软雅黑" charset="0"/>
                <a:ea typeface="微软雅黑" charset="0"/>
              </a:rPr>
              <a:t>指标分类：有多种分类，常用业务域</a:t>
            </a:r>
            <a:r>
              <a:rPr lang="zh-CN" sz="1200">
                <a:latin typeface="微软雅黑" charset="0"/>
                <a:ea typeface="微软雅黑" charset="0"/>
              </a:rPr>
              <a:t>多级</a:t>
            </a:r>
            <a:endParaRPr lang="zh-CN" sz="1200">
              <a:latin typeface="微软雅黑" charset="0"/>
              <a:ea typeface="微软雅黑" charset="0"/>
            </a:endParaRPr>
          </a:p>
          <a:p>
            <a:r>
              <a:rPr lang="zh-CN" sz="1200">
                <a:latin typeface="微软雅黑" charset="0"/>
                <a:ea typeface="微软雅黑" charset="0"/>
              </a:rPr>
              <a:t>指标名称：遵循标准、符合业务</a:t>
            </a:r>
            <a:r>
              <a:rPr lang="zh-CN" sz="1200">
                <a:latin typeface="微软雅黑" charset="0"/>
                <a:ea typeface="微软雅黑" charset="0"/>
              </a:rPr>
              <a:t>实际</a:t>
            </a:r>
            <a:endParaRPr lang="zh-CN" sz="1200">
              <a:latin typeface="微软雅黑" charset="0"/>
              <a:ea typeface="微软雅黑" charset="0"/>
            </a:endParaRPr>
          </a:p>
          <a:p>
            <a:r>
              <a:rPr lang="zh-CN" sz="1200">
                <a:latin typeface="微软雅黑" charset="0"/>
                <a:ea typeface="微软雅黑" charset="0"/>
              </a:rPr>
              <a:t>指标层级：有多种定义方法，可按需</a:t>
            </a:r>
            <a:r>
              <a:rPr lang="zh-CN" sz="1200">
                <a:latin typeface="微软雅黑" charset="0"/>
                <a:ea typeface="微软雅黑" charset="0"/>
              </a:rPr>
              <a:t>定义</a:t>
            </a:r>
            <a:endParaRPr lang="zh-CN" sz="1200">
              <a:latin typeface="微软雅黑" charset="0"/>
              <a:ea typeface="微软雅黑" charset="0"/>
            </a:endParaRPr>
          </a:p>
          <a:p>
            <a:r>
              <a:rPr lang="zh-CN" sz="1200">
                <a:latin typeface="微软雅黑" charset="0"/>
                <a:ea typeface="微软雅黑" charset="0"/>
              </a:rPr>
              <a:t>指标定义：指标说明、价值</a:t>
            </a:r>
            <a:r>
              <a:rPr lang="zh-CN" sz="1200">
                <a:latin typeface="微软雅黑" charset="0"/>
                <a:ea typeface="微软雅黑" charset="0"/>
              </a:rPr>
              <a:t>体现</a:t>
            </a:r>
            <a:endParaRPr lang="zh-CN" sz="1200">
              <a:latin typeface="微软雅黑" charset="0"/>
              <a:ea typeface="微软雅黑" charset="0"/>
            </a:endParaRPr>
          </a:p>
          <a:p>
            <a:r>
              <a:rPr lang="zh-CN" sz="1200">
                <a:latin typeface="微软雅黑" charset="0"/>
                <a:ea typeface="微软雅黑" charset="0"/>
              </a:rPr>
              <a:t>统一口径：指标的计算条件、</a:t>
            </a:r>
            <a:r>
              <a:rPr lang="zh-CN" sz="1200">
                <a:latin typeface="微软雅黑" charset="0"/>
                <a:ea typeface="微软雅黑" charset="0"/>
              </a:rPr>
              <a:t>公式</a:t>
            </a:r>
            <a:endParaRPr lang="zh-CN" sz="1200">
              <a:latin typeface="微软雅黑" charset="0"/>
              <a:ea typeface="微软雅黑" charset="0"/>
            </a:endParaRPr>
          </a:p>
          <a:p>
            <a:r>
              <a:rPr lang="zh-CN" sz="1200">
                <a:latin typeface="微软雅黑" charset="0"/>
                <a:ea typeface="微软雅黑" charset="0"/>
              </a:rPr>
              <a:t>指标状态：管理状态（梳理中</a:t>
            </a:r>
            <a:r>
              <a:rPr lang="en-US" altLang="zh-CN" sz="1200">
                <a:latin typeface="微软雅黑" charset="0"/>
                <a:ea typeface="微软雅黑" charset="0"/>
              </a:rPr>
              <a:t>/</a:t>
            </a:r>
            <a:r>
              <a:rPr lang="zh-CN" altLang="en-US" sz="1200">
                <a:latin typeface="微软雅黑" charset="0"/>
                <a:ea typeface="微软雅黑" charset="0"/>
              </a:rPr>
              <a:t>已共识</a:t>
            </a:r>
            <a:r>
              <a:rPr lang="en-US" altLang="zh-CN" sz="1200">
                <a:latin typeface="微软雅黑" charset="0"/>
                <a:ea typeface="微软雅黑" charset="0"/>
              </a:rPr>
              <a:t>/</a:t>
            </a:r>
            <a:r>
              <a:rPr lang="zh-CN" altLang="en-US" sz="1200">
                <a:latin typeface="微软雅黑" charset="0"/>
                <a:ea typeface="微软雅黑" charset="0"/>
              </a:rPr>
              <a:t>开发中</a:t>
            </a:r>
            <a:r>
              <a:rPr lang="en-US" altLang="zh-CN" sz="1200">
                <a:latin typeface="微软雅黑" charset="0"/>
                <a:ea typeface="微软雅黑" charset="0"/>
              </a:rPr>
              <a:t>/</a:t>
            </a:r>
            <a:r>
              <a:rPr lang="zh-CN" altLang="en-US" sz="1200">
                <a:latin typeface="微软雅黑" charset="0"/>
                <a:ea typeface="微软雅黑" charset="0"/>
              </a:rPr>
              <a:t>已上线</a:t>
            </a:r>
            <a:r>
              <a:rPr lang="en-US" altLang="zh-CN" sz="1200">
                <a:latin typeface="微软雅黑" charset="0"/>
                <a:ea typeface="微软雅黑" charset="0"/>
              </a:rPr>
              <a:t>...)</a:t>
            </a:r>
            <a:endParaRPr lang="en-US" altLang="zh-CN" sz="1200">
              <a:latin typeface="微软雅黑" charset="0"/>
              <a:ea typeface="微软雅黑" charset="0"/>
            </a:endParaRPr>
          </a:p>
          <a:p>
            <a:r>
              <a:rPr lang="zh-CN" altLang="en-US" sz="1200">
                <a:latin typeface="微软雅黑" charset="0"/>
                <a:ea typeface="微软雅黑" charset="0"/>
              </a:rPr>
              <a:t>指标极向：正向</a:t>
            </a:r>
            <a:r>
              <a:rPr lang="en-US" altLang="zh-CN" sz="1200">
                <a:latin typeface="微软雅黑" charset="0"/>
                <a:ea typeface="微软雅黑" charset="0"/>
              </a:rPr>
              <a:t>/</a:t>
            </a:r>
            <a:r>
              <a:rPr lang="zh-CN" altLang="en-US" sz="1200">
                <a:latin typeface="微软雅黑" charset="0"/>
                <a:ea typeface="微软雅黑" charset="0"/>
              </a:rPr>
              <a:t>负向</a:t>
            </a:r>
            <a:r>
              <a:rPr lang="en-US" altLang="zh-CN" sz="1200">
                <a:latin typeface="微软雅黑" charset="0"/>
                <a:ea typeface="微软雅黑" charset="0"/>
              </a:rPr>
              <a:t>/</a:t>
            </a:r>
            <a:r>
              <a:rPr lang="zh-CN" altLang="en-US" sz="1200">
                <a:latin typeface="微软雅黑" charset="0"/>
                <a:ea typeface="微软雅黑" charset="0"/>
              </a:rPr>
              <a:t>中性，用来判断</a:t>
            </a:r>
            <a:r>
              <a:rPr lang="zh-CN" altLang="en-US" sz="1200">
                <a:latin typeface="微软雅黑" charset="0"/>
                <a:ea typeface="微软雅黑" charset="0"/>
              </a:rPr>
              <a:t>趋势</a:t>
            </a:r>
            <a:endParaRPr lang="zh-CN" altLang="en-US" sz="1200">
              <a:latin typeface="微软雅黑" charset="0"/>
              <a:ea typeface="微软雅黑" charset="0"/>
            </a:endParaRPr>
          </a:p>
          <a:p>
            <a:r>
              <a:rPr lang="zh-CN" altLang="en-US" sz="1200">
                <a:latin typeface="微软雅黑" charset="0"/>
                <a:ea typeface="微软雅黑" charset="0"/>
              </a:rPr>
              <a:t>指标阈值：预警</a:t>
            </a:r>
            <a:r>
              <a:rPr lang="zh-CN" altLang="en-US" sz="1200">
                <a:latin typeface="微软雅黑" charset="0"/>
                <a:ea typeface="微软雅黑" charset="0"/>
              </a:rPr>
              <a:t>范围</a:t>
            </a:r>
            <a:endParaRPr lang="zh-CN" altLang="en-US" sz="1200">
              <a:latin typeface="微软雅黑" charset="0"/>
              <a:ea typeface="微软雅黑" charset="0"/>
            </a:endParaRPr>
          </a:p>
          <a:p>
            <a:r>
              <a:rPr lang="zh-CN" altLang="en-US" sz="1200">
                <a:latin typeface="微软雅黑" charset="0"/>
                <a:ea typeface="微软雅黑" charset="0"/>
              </a:rPr>
              <a:t>指标类型：多种类型，常见：基础指标</a:t>
            </a:r>
            <a:r>
              <a:rPr lang="en-US" altLang="zh-CN" sz="1200">
                <a:latin typeface="微软雅黑" charset="0"/>
                <a:ea typeface="微软雅黑" charset="0"/>
              </a:rPr>
              <a:t>/</a:t>
            </a:r>
            <a:r>
              <a:rPr lang="zh-CN" altLang="en-US" sz="1200">
                <a:latin typeface="微软雅黑" charset="0"/>
                <a:ea typeface="微软雅黑" charset="0"/>
              </a:rPr>
              <a:t>派生指标</a:t>
            </a:r>
            <a:r>
              <a:rPr lang="zh-CN" altLang="en-US" sz="1200">
                <a:latin typeface="微软雅黑" charset="0"/>
                <a:ea typeface="微软雅黑" charset="0"/>
              </a:rPr>
              <a:t>等</a:t>
            </a:r>
            <a:endParaRPr lang="zh-CN" altLang="en-US" sz="1200">
              <a:latin typeface="微软雅黑" charset="0"/>
              <a:ea typeface="微软雅黑" charset="0"/>
            </a:endParaRPr>
          </a:p>
          <a:p>
            <a:r>
              <a:rPr lang="zh-CN" altLang="en-US" sz="1200">
                <a:latin typeface="微软雅黑" charset="0"/>
                <a:ea typeface="微软雅黑" charset="0"/>
              </a:rPr>
              <a:t>指标</a:t>
            </a:r>
            <a:r>
              <a:rPr lang="en-US" altLang="zh-CN" sz="1200">
                <a:latin typeface="微软雅黑" charset="0"/>
                <a:ea typeface="微软雅黑" charset="0"/>
              </a:rPr>
              <a:t>Owner</a:t>
            </a:r>
            <a:r>
              <a:rPr lang="zh-CN" altLang="en-US" sz="1200">
                <a:latin typeface="微软雅黑" charset="0"/>
                <a:ea typeface="微软雅黑" charset="0"/>
              </a:rPr>
              <a:t>：多以岗位</a:t>
            </a:r>
            <a:r>
              <a:rPr lang="zh-CN" altLang="en-US" sz="1200">
                <a:latin typeface="微软雅黑" charset="0"/>
                <a:ea typeface="微软雅黑" charset="0"/>
              </a:rPr>
              <a:t>归属</a:t>
            </a:r>
            <a:endParaRPr lang="zh-CN" altLang="en-US" sz="1200">
              <a:latin typeface="微软雅黑" charset="0"/>
              <a:ea typeface="微软雅黑" charset="0"/>
            </a:endParaRPr>
          </a:p>
          <a:p>
            <a:r>
              <a:rPr lang="zh-CN" altLang="en-US" sz="1200">
                <a:latin typeface="微软雅黑" charset="0"/>
                <a:ea typeface="微软雅黑" charset="0"/>
              </a:rPr>
              <a:t>指标类型：</a:t>
            </a:r>
            <a:r>
              <a:rPr lang="en-US" altLang="zh-CN" sz="1200">
                <a:latin typeface="微软雅黑" charset="0"/>
                <a:ea typeface="微软雅黑" charset="0"/>
              </a:rPr>
              <a:t>%</a:t>
            </a:r>
            <a:r>
              <a:rPr lang="zh-CN" altLang="en-US" sz="1200">
                <a:latin typeface="微软雅黑" charset="0"/>
                <a:ea typeface="微软雅黑" charset="0"/>
              </a:rPr>
              <a:t>，金额，数量</a:t>
            </a:r>
            <a:r>
              <a:rPr lang="zh-CN" altLang="en-US" sz="1200">
                <a:latin typeface="微软雅黑" charset="0"/>
                <a:ea typeface="微软雅黑" charset="0"/>
              </a:rPr>
              <a:t>等</a:t>
            </a:r>
            <a:endParaRPr lang="zh-CN" altLang="en-US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  <p:sp>
        <p:nvSpPr>
          <p:cNvPr id="4" name="Shape 6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435600" y="1275715"/>
            <a:ext cx="2310130" cy="370840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>
                <a:latin typeface="微软雅黑" charset="0"/>
                <a:ea typeface="微软雅黑" charset="0"/>
                <a:sym typeface="+mn-ea"/>
                <a:hlinkClick r:id="rId3" action="ppaction://hlinkfile"/>
              </a:rPr>
              <a:t>☆</a:t>
            </a:r>
            <a:r>
              <a:rPr lang="zh-CN" sz="1200">
                <a:latin typeface="微软雅黑" charset="0"/>
                <a:ea typeface="微软雅黑" charset="0"/>
                <a:hlinkClick r:id="rId3" action="ppaction://hlinkfile"/>
              </a:rPr>
              <a:t>部件全员指标文件</a:t>
            </a:r>
            <a:endParaRPr lang="zh-CN" altLang="en-US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  <p:sp>
        <p:nvSpPr>
          <p:cNvPr id="5" name="Shape 6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435600" y="1851660"/>
            <a:ext cx="3093720" cy="370840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>
                <a:latin typeface="微软雅黑" charset="0"/>
                <a:ea typeface="微软雅黑" charset="0"/>
                <a:hlinkClick r:id="rId5" action="ppaction://hlinkfile"/>
              </a:rPr>
              <a:t>☆整机BG运营指标总览</a:t>
            </a:r>
            <a:r>
              <a:rPr lang="en-US" altLang="zh-CN" sz="1200">
                <a:latin typeface="微软雅黑" charset="0"/>
                <a:ea typeface="微软雅黑" charset="0"/>
              </a:rPr>
              <a:t> </a:t>
            </a:r>
            <a:r>
              <a:rPr lang="zh-CN" altLang="en-US" sz="1200">
                <a:latin typeface="微软雅黑" charset="0"/>
                <a:ea typeface="微软雅黑" charset="0"/>
              </a:rPr>
              <a:t>（</a:t>
            </a:r>
            <a:r>
              <a:rPr lang="en-US" altLang="zh-CN" sz="1200">
                <a:latin typeface="微软雅黑" charset="0"/>
                <a:ea typeface="微软雅黑" charset="0"/>
              </a:rPr>
              <a:t>KB/</a:t>
            </a:r>
            <a:r>
              <a:rPr lang="zh-CN" altLang="en-US" sz="1200">
                <a:latin typeface="微软雅黑" charset="0"/>
                <a:ea typeface="微软雅黑" charset="0"/>
              </a:rPr>
              <a:t>简道云）</a:t>
            </a:r>
            <a:endParaRPr lang="zh-CN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318198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指标</a:t>
            </a:r>
            <a:r>
              <a:rPr lang="zh-CN" altLang="en-US" sz="2000" dirty="0"/>
              <a:t>维度</a:t>
            </a:r>
            <a:endParaRPr lang="zh-CN" altLang="en-US" sz="2000" dirty="0"/>
          </a:p>
        </p:txBody>
      </p:sp>
      <p:sp>
        <p:nvSpPr>
          <p:cNvPr id="67" name="Shape 67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39750" y="772160"/>
            <a:ext cx="4031615" cy="333375"/>
          </a:xfrm>
          <a:prstGeom prst="rect">
            <a:avLst/>
          </a:prstGeom>
        </p:spPr>
        <p:txBody>
          <a:bodyPr/>
          <a:p>
            <a:r>
              <a:rPr lang="zh-CN" sz="1200">
                <a:latin typeface="微软雅黑" charset="0"/>
                <a:ea typeface="微软雅黑" charset="0"/>
              </a:rPr>
              <a:t>交付</a:t>
            </a:r>
            <a:r>
              <a:rPr lang="zh-CN" sz="1200">
                <a:latin typeface="微软雅黑" charset="0"/>
                <a:ea typeface="微软雅黑" charset="0"/>
              </a:rPr>
              <a:t>达成率</a:t>
            </a:r>
            <a:endParaRPr lang="zh-CN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  <p:sp>
        <p:nvSpPr>
          <p:cNvPr id="3" name="Shape 6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9750" y="1684020"/>
            <a:ext cx="4031615" cy="33337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>
                <a:solidFill>
                  <a:srgbClr val="2A63F6"/>
                </a:solidFill>
                <a:latin typeface="微软雅黑" charset="0"/>
                <a:ea typeface="微软雅黑" charset="0"/>
              </a:rPr>
              <a:t>公板</a:t>
            </a:r>
            <a:r>
              <a:rPr lang="zh-CN" sz="1200">
                <a:latin typeface="微软雅黑" charset="0"/>
                <a:ea typeface="微软雅黑" charset="0"/>
              </a:rPr>
              <a:t>交付</a:t>
            </a:r>
            <a:r>
              <a:rPr lang="zh-CN" sz="1200">
                <a:latin typeface="微软雅黑" charset="0"/>
                <a:ea typeface="微软雅黑" charset="0"/>
              </a:rPr>
              <a:t>达成率</a:t>
            </a:r>
            <a:endParaRPr lang="zh-CN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  <p:sp>
        <p:nvSpPr>
          <p:cNvPr id="4" name="Shape 6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39750" y="2139950"/>
            <a:ext cx="4031615" cy="33337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2A63F6"/>
                </a:solidFill>
                <a:latin typeface="微软雅黑" charset="0"/>
                <a:ea typeface="微软雅黑" charset="0"/>
              </a:rPr>
              <a:t>T</a:t>
            </a:r>
            <a:r>
              <a:rPr lang="zh-CN" altLang="en-US" sz="1200">
                <a:solidFill>
                  <a:srgbClr val="2A63F6"/>
                </a:solidFill>
                <a:latin typeface="微软雅黑" charset="0"/>
                <a:ea typeface="微软雅黑" charset="0"/>
              </a:rPr>
              <a:t>客户</a:t>
            </a:r>
            <a:r>
              <a:rPr lang="zh-CN" sz="1200">
                <a:latin typeface="微软雅黑" charset="0"/>
                <a:ea typeface="微软雅黑" charset="0"/>
              </a:rPr>
              <a:t>交付</a:t>
            </a:r>
            <a:r>
              <a:rPr lang="zh-CN" sz="1200">
                <a:latin typeface="微软雅黑" charset="0"/>
                <a:ea typeface="微软雅黑" charset="0"/>
              </a:rPr>
              <a:t>达成率</a:t>
            </a:r>
            <a:endParaRPr lang="zh-CN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  <p:sp>
        <p:nvSpPr>
          <p:cNvPr id="5" name="Shape 6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39750" y="2595880"/>
            <a:ext cx="4031615" cy="33337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>
                <a:solidFill>
                  <a:srgbClr val="2A63F6"/>
                </a:solidFill>
                <a:latin typeface="微软雅黑" charset="0"/>
                <a:ea typeface="微软雅黑" charset="0"/>
              </a:rPr>
              <a:t>海外</a:t>
            </a:r>
            <a:r>
              <a:rPr lang="zh-CN" sz="1200">
                <a:latin typeface="微软雅黑" charset="0"/>
                <a:ea typeface="微软雅黑" charset="0"/>
              </a:rPr>
              <a:t>交付</a:t>
            </a:r>
            <a:r>
              <a:rPr lang="zh-CN" sz="1200">
                <a:latin typeface="微软雅黑" charset="0"/>
                <a:ea typeface="微软雅黑" charset="0"/>
              </a:rPr>
              <a:t>达成率</a:t>
            </a:r>
            <a:endParaRPr lang="zh-CN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  <p:sp>
        <p:nvSpPr>
          <p:cNvPr id="6" name="Shape 6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39750" y="3051810"/>
            <a:ext cx="4031615" cy="33337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2A63F6"/>
                </a:solidFill>
                <a:latin typeface="微软雅黑" charset="0"/>
                <a:ea typeface="微软雅黑" charset="0"/>
              </a:rPr>
              <a:t>A</a:t>
            </a:r>
            <a:r>
              <a:rPr lang="zh-CN" altLang="en-US" sz="1200">
                <a:solidFill>
                  <a:srgbClr val="2A63F6"/>
                </a:solidFill>
                <a:latin typeface="微软雅黑" charset="0"/>
                <a:ea typeface="微软雅黑" charset="0"/>
              </a:rPr>
              <a:t>产品型号</a:t>
            </a:r>
            <a:r>
              <a:rPr lang="zh-CN" sz="1200">
                <a:latin typeface="微软雅黑" charset="0"/>
                <a:ea typeface="微软雅黑" charset="0"/>
              </a:rPr>
              <a:t>交付</a:t>
            </a:r>
            <a:r>
              <a:rPr lang="zh-CN" sz="1200">
                <a:latin typeface="微软雅黑" charset="0"/>
                <a:ea typeface="微软雅黑" charset="0"/>
              </a:rPr>
              <a:t>达成率</a:t>
            </a:r>
            <a:endParaRPr lang="zh-CN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  <p:sp>
        <p:nvSpPr>
          <p:cNvPr id="7" name="Shape 6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39750" y="3507740"/>
            <a:ext cx="4031615" cy="33337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2A63F6"/>
                </a:solidFill>
                <a:latin typeface="微软雅黑" charset="0"/>
                <a:ea typeface="微软雅黑" charset="0"/>
              </a:rPr>
              <a:t>TV</a:t>
            </a:r>
            <a:r>
              <a:rPr lang="zh-CN" sz="1200">
                <a:latin typeface="微软雅黑" charset="0"/>
                <a:ea typeface="微软雅黑" charset="0"/>
              </a:rPr>
              <a:t>交付</a:t>
            </a:r>
            <a:r>
              <a:rPr lang="zh-CN" sz="1200">
                <a:latin typeface="微软雅黑" charset="0"/>
                <a:ea typeface="微软雅黑" charset="0"/>
              </a:rPr>
              <a:t>达成率</a:t>
            </a:r>
            <a:endParaRPr lang="zh-CN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  <p:sp>
        <p:nvSpPr>
          <p:cNvPr id="9" name="Shape 6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43755" y="899160"/>
            <a:ext cx="3376295" cy="33337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charset="0"/>
            </a:pPr>
            <a:r>
              <a:rPr lang="zh-CN" sz="1200" b="1">
                <a:solidFill>
                  <a:srgbClr val="2A63F6"/>
                </a:solidFill>
                <a:latin typeface="微软雅黑" charset="0"/>
                <a:ea typeface="微软雅黑" charset="0"/>
              </a:rPr>
              <a:t>常用维度</a:t>
            </a:r>
            <a:endParaRPr lang="zh-CN" sz="1200" b="1">
              <a:solidFill>
                <a:srgbClr val="2A63F6"/>
              </a:solidFill>
              <a:latin typeface="微软雅黑" charset="0"/>
              <a:ea typeface="微软雅黑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>
                <a:latin typeface="微软雅黑" charset="0"/>
                <a:ea typeface="微软雅黑" charset="0"/>
              </a:rPr>
              <a:t>期间</a:t>
            </a:r>
            <a:endParaRPr lang="zh-CN" altLang="en-US" sz="1200">
              <a:latin typeface="微软雅黑" charset="0"/>
              <a:ea typeface="微软雅黑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>
                <a:latin typeface="微软雅黑" charset="0"/>
                <a:ea typeface="微软雅黑" charset="0"/>
              </a:rPr>
              <a:t>协作方（客户</a:t>
            </a:r>
            <a:r>
              <a:rPr lang="en-US" altLang="zh-CN" sz="1200">
                <a:latin typeface="微软雅黑" charset="0"/>
                <a:ea typeface="微软雅黑" charset="0"/>
              </a:rPr>
              <a:t>/</a:t>
            </a:r>
            <a:r>
              <a:rPr lang="zh-CN" altLang="en-US" sz="1200">
                <a:latin typeface="微软雅黑" charset="0"/>
                <a:ea typeface="微软雅黑" charset="0"/>
              </a:rPr>
              <a:t>供应商</a:t>
            </a:r>
            <a:r>
              <a:rPr lang="en-US" altLang="zh-CN" sz="1200">
                <a:latin typeface="微软雅黑" charset="0"/>
                <a:ea typeface="微软雅黑" charset="0"/>
              </a:rPr>
              <a:t>/</a:t>
            </a:r>
            <a:r>
              <a:rPr lang="zh-CN" altLang="en-US" sz="1200">
                <a:latin typeface="微软雅黑" charset="0"/>
                <a:ea typeface="微软雅黑" charset="0"/>
              </a:rPr>
              <a:t>工厂</a:t>
            </a:r>
            <a:r>
              <a:rPr lang="en-US" altLang="zh-CN" sz="1200">
                <a:latin typeface="微软雅黑" charset="0"/>
                <a:ea typeface="微软雅黑" charset="0"/>
              </a:rPr>
              <a:t>...)</a:t>
            </a:r>
            <a:endParaRPr lang="en-US" altLang="zh-CN" sz="1200">
              <a:latin typeface="微软雅黑" charset="0"/>
              <a:ea typeface="微软雅黑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>
                <a:latin typeface="微软雅黑" charset="0"/>
                <a:ea typeface="微软雅黑" charset="0"/>
              </a:rPr>
              <a:t>产品属性（型号、通用</a:t>
            </a:r>
            <a:r>
              <a:rPr lang="en-US" altLang="zh-CN" sz="1200">
                <a:latin typeface="微软雅黑" charset="0"/>
                <a:ea typeface="微软雅黑" charset="0"/>
              </a:rPr>
              <a:t>...</a:t>
            </a:r>
            <a:r>
              <a:rPr lang="zh-CN" altLang="en-US" sz="1200">
                <a:latin typeface="微软雅黑" charset="0"/>
                <a:ea typeface="微软雅黑" charset="0"/>
              </a:rPr>
              <a:t>）</a:t>
            </a:r>
            <a:r>
              <a:rPr lang="en-US" altLang="zh-CN" sz="1200">
                <a:latin typeface="微软雅黑" charset="0"/>
                <a:ea typeface="微软雅黑" charset="0"/>
              </a:rPr>
              <a:t>	</a:t>
            </a:r>
            <a:endParaRPr lang="en-US" altLang="zh-CN" sz="1200">
              <a:latin typeface="微软雅黑" charset="0"/>
              <a:ea typeface="微软雅黑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sz="1340">
                <a:latin typeface="微软雅黑" charset="0"/>
                <a:ea typeface="微软雅黑" charset="0"/>
              </a:rPr>
              <a:t>区域</a:t>
            </a:r>
            <a:endParaRPr lang="zh-CN" sz="1340">
              <a:latin typeface="微软雅黑" charset="0"/>
              <a:ea typeface="微软雅黑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sz="1340">
                <a:latin typeface="微软雅黑" charset="0"/>
                <a:ea typeface="微软雅黑" charset="0"/>
              </a:rPr>
              <a:t>组织（</a:t>
            </a:r>
            <a:r>
              <a:rPr lang="en-US" altLang="zh-CN" sz="1340">
                <a:latin typeface="微软雅黑" charset="0"/>
                <a:ea typeface="微软雅黑" charset="0"/>
              </a:rPr>
              <a:t>BG/BU/</a:t>
            </a:r>
            <a:r>
              <a:rPr lang="zh-CN" altLang="en-US" sz="1340">
                <a:latin typeface="微软雅黑" charset="0"/>
                <a:ea typeface="微软雅黑" charset="0"/>
              </a:rPr>
              <a:t>部门</a:t>
            </a:r>
            <a:r>
              <a:rPr lang="en-US" altLang="zh-CN" sz="1340">
                <a:latin typeface="微软雅黑" charset="0"/>
                <a:ea typeface="微软雅黑" charset="0"/>
              </a:rPr>
              <a:t>...</a:t>
            </a:r>
            <a:r>
              <a:rPr lang="zh-CN" altLang="en-US" sz="1340">
                <a:latin typeface="微软雅黑" charset="0"/>
                <a:ea typeface="微软雅黑" charset="0"/>
              </a:rPr>
              <a:t>）</a:t>
            </a:r>
            <a:endParaRPr lang="zh-CN" altLang="en-US" sz="1340">
              <a:latin typeface="微软雅黑" charset="0"/>
              <a:ea typeface="微软雅黑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340">
                <a:latin typeface="微软雅黑" charset="0"/>
                <a:ea typeface="微软雅黑" charset="0"/>
              </a:rPr>
              <a:t>...</a:t>
            </a:r>
            <a:endParaRPr lang="zh-CN" altLang="en-US" sz="1340">
              <a:latin typeface="微软雅黑" charset="0"/>
              <a:ea typeface="微软雅黑" charset="0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zh-CN" sz="1340">
              <a:latin typeface="微软雅黑" charset="0"/>
              <a:ea typeface="微软雅黑" charset="0"/>
            </a:endParaRPr>
          </a:p>
          <a:p>
            <a:pPr marL="628650" lvl="1" indent="-171450">
              <a:buFont typeface="Wingdings" panose="05000000000000000000" charset="0"/>
              <a:buChar char=""/>
            </a:pPr>
            <a:endParaRPr lang="zh-CN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  <p:sp>
        <p:nvSpPr>
          <p:cNvPr id="10" name="Shape 6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39750" y="1228090"/>
            <a:ext cx="4031615" cy="33337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200">
                <a:solidFill>
                  <a:srgbClr val="2A63F6"/>
                </a:solidFill>
                <a:latin typeface="微软雅黑" charset="0"/>
                <a:ea typeface="微软雅黑" charset="0"/>
              </a:rPr>
              <a:t>Q1</a:t>
            </a:r>
            <a:r>
              <a:rPr lang="zh-CN" sz="1200">
                <a:latin typeface="微软雅黑" charset="0"/>
                <a:ea typeface="微软雅黑" charset="0"/>
              </a:rPr>
              <a:t>交付</a:t>
            </a:r>
            <a:r>
              <a:rPr lang="zh-CN" sz="1200">
                <a:latin typeface="微软雅黑" charset="0"/>
                <a:ea typeface="微软雅黑" charset="0"/>
              </a:rPr>
              <a:t>达成率</a:t>
            </a:r>
            <a:endParaRPr lang="zh-CN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5467350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指标流程管理</a:t>
            </a:r>
            <a:r>
              <a:rPr lang="en-US" altLang="zh-CN" sz="2000" dirty="0"/>
              <a:t>-</a:t>
            </a:r>
            <a:r>
              <a:rPr lang="zh-CN" altLang="en-US" sz="2000" dirty="0"/>
              <a:t>整机</a:t>
            </a:r>
            <a:r>
              <a:rPr lang="en-US" altLang="zh-CN" sz="2000" dirty="0"/>
              <a:t>BG</a:t>
            </a:r>
            <a:r>
              <a:rPr lang="zh-CN" altLang="en-US" sz="2000" dirty="0"/>
              <a:t>指标管理</a:t>
            </a:r>
            <a:r>
              <a:rPr lang="zh-CN" altLang="en-US" sz="2000" dirty="0"/>
              <a:t>平台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7995" y="772160"/>
            <a:ext cx="7909560" cy="3776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4662170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指标呈现</a:t>
            </a:r>
            <a:r>
              <a:rPr lang="en-US" altLang="zh-CN" sz="2000" dirty="0"/>
              <a:t>-</a:t>
            </a:r>
            <a:r>
              <a:rPr lang="zh-CN" altLang="en-US" sz="2000" dirty="0"/>
              <a:t>驾驶舱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76500" y="915670"/>
            <a:ext cx="6272530" cy="9245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82215" y="2068195"/>
            <a:ext cx="6266815" cy="717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482215" y="3075940"/>
            <a:ext cx="6224270" cy="819785"/>
          </a:xfrm>
          <a:prstGeom prst="rect">
            <a:avLst/>
          </a:prstGeom>
        </p:spPr>
      </p:pic>
      <p:sp>
        <p:nvSpPr>
          <p:cNvPr id="9" name="Shape 6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95605" y="915670"/>
            <a:ext cx="1934845" cy="317055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面向经营</a:t>
            </a:r>
            <a:r>
              <a:rPr lang="zh-CN" altLang="en-US" sz="1000">
                <a:latin typeface="微软雅黑" charset="0"/>
                <a:ea typeface="微软雅黑" charset="0"/>
              </a:rPr>
              <a:t>高层</a:t>
            </a:r>
            <a:endParaRPr lang="zh-CN" altLang="en-US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关键核心指标（</a:t>
            </a:r>
            <a:r>
              <a:rPr lang="zh-CN" altLang="en-US" sz="1000">
                <a:latin typeface="微软雅黑" charset="0"/>
                <a:ea typeface="微软雅黑" charset="0"/>
              </a:rPr>
              <a:t>综合）</a:t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符合经分看数</a:t>
            </a:r>
            <a:r>
              <a:rPr lang="zh-CN" altLang="en-US" sz="1000">
                <a:latin typeface="微软雅黑" charset="0"/>
                <a:ea typeface="微软雅黑" charset="0"/>
              </a:rPr>
              <a:t>习惯</a:t>
            </a:r>
            <a:endParaRPr lang="zh-CN" altLang="en-US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预算与达成、差距</a:t>
            </a:r>
            <a:endParaRPr lang="zh-CN" altLang="en-US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整体趋势方向</a:t>
            </a:r>
            <a:r>
              <a:rPr lang="en-US" altLang="zh-CN" sz="1000">
                <a:latin typeface="微软雅黑" charset="0"/>
                <a:ea typeface="微软雅黑" charset="0"/>
              </a:rPr>
              <a:t>	</a:t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sz="1000">
                <a:latin typeface="微软雅黑" charset="0"/>
                <a:ea typeface="微软雅黑" charset="0"/>
              </a:rPr>
              <a:t>关键维度展开</a:t>
            </a:r>
            <a:r>
              <a:rPr lang="zh-CN" altLang="en-US" sz="1000">
                <a:latin typeface="微软雅黑" charset="0"/>
                <a:ea typeface="微软雅黑" charset="0"/>
              </a:rPr>
              <a:t>（</a:t>
            </a:r>
            <a:r>
              <a:rPr lang="zh-CN" altLang="en-US" sz="1000">
                <a:latin typeface="微软雅黑" charset="0"/>
                <a:ea typeface="微软雅黑" charset="0"/>
              </a:rPr>
              <a:t>组织</a:t>
            </a:r>
            <a:r>
              <a:rPr lang="en-US" altLang="zh-CN" sz="1000">
                <a:latin typeface="微软雅黑" charset="0"/>
                <a:ea typeface="微软雅黑" charset="0"/>
              </a:rPr>
              <a:t>/</a:t>
            </a:r>
            <a:r>
              <a:rPr lang="zh-CN" altLang="en-US" sz="1000">
                <a:latin typeface="微软雅黑" charset="0"/>
                <a:ea typeface="微软雅黑" charset="0"/>
              </a:rPr>
              <a:t>产品）</a:t>
            </a:r>
            <a:endParaRPr lang="zh-CN" altLang="en-US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二八原则（</a:t>
            </a:r>
            <a:r>
              <a:rPr lang="en-US" altLang="zh-CN" sz="1000">
                <a:latin typeface="微软雅黑" charset="0"/>
                <a:ea typeface="微软雅黑" charset="0"/>
              </a:rPr>
              <a:t>TOP</a:t>
            </a:r>
            <a:r>
              <a:rPr lang="zh-CN" altLang="en-US" sz="1000">
                <a:latin typeface="微软雅黑" charset="0"/>
                <a:ea typeface="微软雅黑" charset="0"/>
              </a:rPr>
              <a:t>数据）</a:t>
            </a:r>
            <a:endParaRPr lang="zh-CN" sz="1115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endParaRPr lang="zh-CN" sz="1000">
              <a:latin typeface="微软雅黑" charset="0"/>
              <a:ea typeface="微软雅黑" charset="0"/>
            </a:endParaRPr>
          </a:p>
          <a:p>
            <a:pPr marL="628650" lvl="1" indent="-171450">
              <a:buFont typeface="Wingdings" panose="05000000000000000000" charset="0"/>
              <a:buChar char=""/>
            </a:pPr>
            <a:endParaRPr lang="zh-CN" sz="1000">
              <a:latin typeface="微软雅黑" charset="0"/>
              <a:ea typeface="微软雅黑" charset="0"/>
            </a:endParaRPr>
          </a:p>
          <a:p>
            <a:endParaRPr lang="zh-CN" altLang="en-US" sz="100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318198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指标呈现</a:t>
            </a:r>
            <a:r>
              <a:rPr lang="en-US" altLang="zh-CN" sz="2000" dirty="0"/>
              <a:t>-</a:t>
            </a:r>
            <a:r>
              <a:rPr lang="zh-CN" altLang="en-US" sz="2000" dirty="0"/>
              <a:t>个人指标</a:t>
            </a:r>
            <a:r>
              <a:rPr lang="zh-CN" altLang="en-US" sz="2000" dirty="0"/>
              <a:t>看板</a:t>
            </a:r>
            <a:endParaRPr lang="zh-CN" altLang="en-US" sz="2000" dirty="0"/>
          </a:p>
        </p:txBody>
      </p:sp>
      <p:sp>
        <p:nvSpPr>
          <p:cNvPr id="9" name="Shape 6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5605" y="915670"/>
            <a:ext cx="1934845" cy="317055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面向</a:t>
            </a:r>
            <a:r>
              <a:rPr lang="zh-CN" altLang="en-US" sz="1000">
                <a:latin typeface="微软雅黑" charset="0"/>
                <a:ea typeface="微软雅黑" charset="0"/>
              </a:rPr>
              <a:t>管理层</a:t>
            </a:r>
            <a:endParaRPr lang="zh-CN" altLang="en-US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solidFill>
                  <a:srgbClr val="2A63F6"/>
                </a:solidFill>
                <a:latin typeface="微软雅黑" charset="0"/>
                <a:ea typeface="微软雅黑" charset="0"/>
              </a:rPr>
              <a:t>目标、实际、达成、趋势</a:t>
            </a:r>
            <a:endParaRPr lang="zh-CN" altLang="en-US" sz="1000">
              <a:solidFill>
                <a:srgbClr val="2A63F6"/>
              </a:solidFill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我的指标</a:t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我管辖团队的</a:t>
            </a:r>
            <a:r>
              <a:rPr lang="zh-CN" altLang="en-US" sz="1000">
                <a:latin typeface="微软雅黑" charset="0"/>
                <a:ea typeface="微软雅黑" charset="0"/>
              </a:rPr>
              <a:t>指标</a:t>
            </a:r>
            <a:endParaRPr lang="zh-CN" altLang="en-US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我相关方的</a:t>
            </a:r>
            <a:r>
              <a:rPr lang="zh-CN" altLang="en-US" sz="1000">
                <a:latin typeface="微软雅黑" charset="0"/>
                <a:ea typeface="微软雅黑" charset="0"/>
              </a:rPr>
              <a:t>指标</a:t>
            </a:r>
            <a:endParaRPr lang="zh-CN" altLang="en-US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团队费用</a:t>
            </a:r>
            <a:r>
              <a:rPr lang="en-US" altLang="zh-CN" sz="1000">
                <a:latin typeface="微软雅黑" charset="0"/>
                <a:ea typeface="微软雅黑" charset="0"/>
              </a:rPr>
              <a:t>	</a:t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sz="1000">
                <a:latin typeface="微软雅黑" charset="0"/>
                <a:ea typeface="微软雅黑" charset="0"/>
              </a:rPr>
              <a:t>团队人效</a:t>
            </a:r>
            <a:endParaRPr lang="zh-CN" sz="1115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endParaRPr lang="zh-CN" sz="1000">
              <a:latin typeface="微软雅黑" charset="0"/>
              <a:ea typeface="微软雅黑" charset="0"/>
            </a:endParaRPr>
          </a:p>
          <a:p>
            <a:pPr marL="628650" lvl="1" indent="-171450">
              <a:buFont typeface="Wingdings" panose="05000000000000000000" charset="0"/>
              <a:buChar char=""/>
            </a:pPr>
            <a:endParaRPr lang="zh-CN" sz="1000">
              <a:latin typeface="微软雅黑" charset="0"/>
              <a:ea typeface="微软雅黑" charset="0"/>
            </a:endParaRPr>
          </a:p>
          <a:p>
            <a:endParaRPr lang="zh-CN" altLang="en-US" sz="1000">
              <a:latin typeface="微软雅黑" charset="0"/>
              <a:ea typeface="微软雅黑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27630" y="748030"/>
            <a:ext cx="5815965" cy="13296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23820" y="2146935"/>
            <a:ext cx="5819775" cy="8750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623820" y="3082290"/>
            <a:ext cx="5815965" cy="952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627630" y="4114165"/>
            <a:ext cx="5822315" cy="946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4662170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指标呈现</a:t>
            </a:r>
            <a:r>
              <a:rPr lang="en-US" altLang="zh-CN" sz="2000" dirty="0"/>
              <a:t>-</a:t>
            </a:r>
            <a:r>
              <a:rPr lang="zh-CN" altLang="en-US" sz="2000" dirty="0"/>
              <a:t>主题</a:t>
            </a:r>
            <a:r>
              <a:rPr lang="zh-CN" altLang="en-US" sz="2000" dirty="0"/>
              <a:t>域</a:t>
            </a:r>
            <a:endParaRPr lang="zh-CN" altLang="en-US" sz="2000" dirty="0"/>
          </a:p>
        </p:txBody>
      </p:sp>
      <p:sp>
        <p:nvSpPr>
          <p:cNvPr id="3" name="Shape 6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5605" y="915670"/>
            <a:ext cx="1934845" cy="317055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面向</a:t>
            </a:r>
            <a:r>
              <a:rPr lang="en-US" altLang="zh-CN" sz="1000">
                <a:latin typeface="微软雅黑" charset="0"/>
                <a:ea typeface="微软雅黑" charset="0"/>
              </a:rPr>
              <a:t>G2/G1/</a:t>
            </a:r>
            <a:r>
              <a:rPr lang="zh-CN" altLang="en-US" sz="1000">
                <a:latin typeface="微软雅黑" charset="0"/>
                <a:ea typeface="微软雅黑" charset="0"/>
              </a:rPr>
              <a:t>相关</a:t>
            </a:r>
            <a:r>
              <a:rPr lang="zh-CN" altLang="en-US" sz="1000">
                <a:latin typeface="微软雅黑" charset="0"/>
                <a:ea typeface="微软雅黑" charset="0"/>
              </a:rPr>
              <a:t>岗位</a:t>
            </a:r>
            <a:endParaRPr lang="zh-CN" altLang="en-US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主题关键指标</a:t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相关场景</a:t>
            </a:r>
            <a:r>
              <a:rPr lang="zh-CN" altLang="en-US" sz="1000">
                <a:latin typeface="微软雅黑" charset="0"/>
                <a:ea typeface="微软雅黑" charset="0"/>
              </a:rPr>
              <a:t>维度</a:t>
            </a:r>
            <a:endParaRPr lang="zh-CN" altLang="en-US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趋势</a:t>
            </a:r>
            <a:r>
              <a:rPr lang="zh-CN" altLang="en-US" sz="1000">
                <a:latin typeface="微软雅黑" charset="0"/>
                <a:ea typeface="微软雅黑" charset="0"/>
              </a:rPr>
              <a:t>对比</a:t>
            </a:r>
            <a:endParaRPr lang="zh-CN" altLang="en-US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altLang="en-US" sz="1000">
                <a:latin typeface="微软雅黑" charset="0"/>
                <a:ea typeface="微软雅黑" charset="0"/>
              </a:rPr>
              <a:t>数据下钻分析</a:t>
            </a:r>
            <a:r>
              <a:rPr lang="en-US" altLang="zh-CN" sz="1000">
                <a:latin typeface="微软雅黑" charset="0"/>
                <a:ea typeface="微软雅黑" charset="0"/>
              </a:rPr>
              <a:t>	</a:t>
            </a:r>
            <a:endParaRPr lang="en-US" altLang="zh-CN" sz="1000">
              <a:latin typeface="微软雅黑" charset="0"/>
              <a:ea typeface="微软雅黑" charset="0"/>
            </a:endParaRPr>
          </a:p>
          <a:p>
            <a:pPr marL="171450" indent="-171450">
              <a:buFont typeface="Wingdings" panose="05000000000000000000" charset="0"/>
              <a:buChar char=""/>
            </a:pPr>
            <a:r>
              <a:rPr lang="zh-CN" sz="1000">
                <a:latin typeface="微软雅黑" charset="0"/>
                <a:ea typeface="微软雅黑" charset="0"/>
              </a:rPr>
              <a:t>异常数据展开</a:t>
            </a:r>
            <a:r>
              <a:rPr lang="zh-CN" sz="1000">
                <a:latin typeface="微软雅黑" charset="0"/>
                <a:ea typeface="微软雅黑" charset="0"/>
              </a:rPr>
              <a:t>分析</a:t>
            </a:r>
            <a:endParaRPr lang="zh-CN" sz="1000">
              <a:latin typeface="微软雅黑" charset="0"/>
              <a:ea typeface="微软雅黑" charset="0"/>
            </a:endParaRPr>
          </a:p>
          <a:p>
            <a:pPr marL="628650" lvl="1" indent="-171450">
              <a:buFont typeface="Wingdings" panose="05000000000000000000" charset="0"/>
              <a:buChar char=""/>
            </a:pPr>
            <a:endParaRPr lang="zh-CN" sz="1000">
              <a:latin typeface="微软雅黑" charset="0"/>
              <a:ea typeface="微软雅黑" charset="0"/>
            </a:endParaRPr>
          </a:p>
          <a:p>
            <a:endParaRPr lang="zh-CN" altLang="en-US" sz="1000">
              <a:latin typeface="微软雅黑" charset="0"/>
              <a:ea typeface="微软雅黑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11730" y="699770"/>
            <a:ext cx="5623560" cy="24326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11730" y="3148330"/>
            <a:ext cx="5602605" cy="1894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5775960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方向决策</a:t>
            </a:r>
            <a:r>
              <a:rPr lang="en-US" altLang="zh-CN" sz="2000" dirty="0"/>
              <a:t>/</a:t>
            </a:r>
            <a:r>
              <a:rPr lang="zh-CN" altLang="en-US" sz="2000" dirty="0"/>
              <a:t>规划性</a:t>
            </a:r>
            <a:r>
              <a:rPr lang="zh-CN" altLang="en-US" sz="2000" dirty="0"/>
              <a:t>问题</a:t>
            </a:r>
            <a:endParaRPr lang="zh-CN" altLang="en-US" sz="2000" dirty="0"/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21080" y="2139315"/>
            <a:ext cx="7230110" cy="784225"/>
          </a:xfrm>
          <a:prstGeom prst="rect">
            <a:avLst/>
          </a:prstGeom>
        </p:spPr>
        <p:txBody>
          <a:bodyPr/>
          <a:lstStyle>
            <a:lvl1pPr algn="l" defTabSz="5219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部件供应链是否还需要</a:t>
            </a:r>
            <a:r>
              <a:rPr lang="zh-CN" altLang="en-US" sz="2800" b="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重新</a:t>
            </a:r>
            <a:r>
              <a:rPr lang="zh-CN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梳理指标体系？</a:t>
            </a:r>
            <a:endParaRPr lang="zh-CN" altLang="en-US" sz="2400" b="0" dirty="0">
              <a:solidFill>
                <a:schemeClr val="tx1">
                  <a:lumMod val="85000"/>
                  <a:lumOff val="1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446849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部件</a:t>
            </a:r>
            <a:r>
              <a:rPr lang="zh-CN" altLang="en-US" sz="2000" dirty="0"/>
              <a:t>供应链岗位指标体系建设</a:t>
            </a:r>
            <a:r>
              <a:rPr lang="zh-CN" altLang="en-US" sz="2000" dirty="0"/>
              <a:t>背景</a:t>
            </a:r>
            <a:endParaRPr lang="zh-CN" altLang="en-US" sz="2000" dirty="0"/>
          </a:p>
        </p:txBody>
      </p:sp>
      <p:sp>
        <p:nvSpPr>
          <p:cNvPr id="15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16370" y="1275715"/>
            <a:ext cx="2223770" cy="1924050"/>
          </a:xfrm>
          <a:prstGeom prst="rect">
            <a:avLst/>
          </a:prstGeom>
        </p:spPr>
        <p:txBody>
          <a:bodyPr/>
          <a:lstStyle>
            <a:lvl1pPr algn="l" defTabSz="5219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j-cs"/>
              </a:defRPr>
            </a:lvl1pPr>
          </a:lstStyle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基于岗位</a:t>
            </a:r>
            <a:r>
              <a:rPr lang="en-US" altLang="zh-CN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lang="zh-CN" altLang="en-US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个人</a:t>
            </a:r>
            <a:r>
              <a:rPr lang="en-US" altLang="zh-CN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KPIs</a:t>
            </a:r>
            <a:r>
              <a:rPr lang="zh-CN" altLang="en-US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目标管理</a:t>
            </a:r>
            <a:endParaRPr lang="zh-CN" altLang="en-US" sz="1000" b="0" dirty="0">
              <a:solidFill>
                <a:schemeClr val="accent5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岗位关键指标看板</a:t>
            </a:r>
            <a:endParaRPr lang="zh-CN" altLang="en-US" sz="1000" b="0" dirty="0">
              <a:solidFill>
                <a:schemeClr val="accent5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</a:pPr>
            <a:r>
              <a:rPr lang="en-US" altLang="zh-CN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    </a:t>
            </a:r>
            <a:r>
              <a:rPr lang="zh-CN" altLang="en-US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我的</a:t>
            </a:r>
            <a:r>
              <a:rPr lang="en-US" altLang="zh-CN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我团队的</a:t>
            </a:r>
            <a:r>
              <a:rPr lang="en-US" altLang="zh-CN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我相关方的</a:t>
            </a:r>
            <a:endParaRPr lang="zh-CN" altLang="en-US" sz="1000" b="0" dirty="0">
              <a:solidFill>
                <a:schemeClr val="accent5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</a:pPr>
            <a:r>
              <a:rPr lang="zh-CN" altLang="en-US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   </a:t>
            </a:r>
            <a:r>
              <a:rPr lang="zh-CN" altLang="en-US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解决指标集中查看、跨岗位指标对比查看分析问题</a:t>
            </a:r>
            <a:endParaRPr lang="zh-CN" altLang="en-US" sz="1000" b="0" dirty="0">
              <a:solidFill>
                <a:schemeClr val="accent5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指标与绩效联动，驱动业务改善</a:t>
            </a:r>
            <a:r>
              <a:rPr lang="en-US" altLang="zh-CN" sz="1000" b="0" dirty="0">
                <a:solidFill>
                  <a:schemeClr val="accent5">
                    <a:lumMod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en-US" altLang="zh-CN" sz="1000" b="0" dirty="0">
              <a:solidFill>
                <a:schemeClr val="accent5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50000"/>
              </a:lnSpc>
              <a:buFont typeface="Wingdings" panose="05000000000000000000" charset="0"/>
            </a:pPr>
            <a:endParaRPr lang="en-US" altLang="zh-CN" sz="1000" b="0" dirty="0">
              <a:solidFill>
                <a:schemeClr val="accent5">
                  <a:lumMod val="7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7995" y="1419860"/>
            <a:ext cx="6076950" cy="2929255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67995" y="843915"/>
            <a:ext cx="2439670" cy="323850"/>
          </a:xfrm>
          <a:prstGeom prst="rect">
            <a:avLst/>
          </a:prstGeom>
        </p:spPr>
        <p:txBody>
          <a:bodyPr/>
          <a:lstStyle>
            <a:lvl1pPr algn="l" defTabSz="5219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j-cs"/>
              </a:defRPr>
            </a:lvl1pPr>
          </a:lstStyle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1200" b="0" dirty="0">
                <a:latin typeface="微软雅黑" charset="0"/>
                <a:ea typeface="微软雅黑" charset="0"/>
                <a:cs typeface="微软雅黑" charset="0"/>
              </a:rPr>
              <a:t>部件供应链</a:t>
            </a:r>
            <a:r>
              <a:rPr lang="en-US" altLang="zh-CN" sz="1200" b="0" dirty="0">
                <a:latin typeface="微软雅黑" charset="0"/>
                <a:ea typeface="微软雅黑" charset="0"/>
                <a:cs typeface="微软雅黑" charset="0"/>
              </a:rPr>
              <a:t>BI</a:t>
            </a:r>
            <a:r>
              <a:rPr lang="zh-CN" altLang="en-US" sz="1200" b="0" dirty="0">
                <a:latin typeface="微软雅黑" charset="0"/>
                <a:ea typeface="微软雅黑" charset="0"/>
                <a:cs typeface="微软雅黑" charset="0"/>
              </a:rPr>
              <a:t>报表数据</a:t>
            </a:r>
            <a:endParaRPr lang="zh-CN" altLang="en-US" sz="1200" b="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516370" y="915670"/>
            <a:ext cx="1997075" cy="323850"/>
          </a:xfrm>
          <a:prstGeom prst="rect">
            <a:avLst/>
          </a:prstGeom>
        </p:spPr>
        <p:txBody>
          <a:bodyPr/>
          <a:lstStyle>
            <a:lvl1pPr algn="l" defTabSz="5219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j-cs"/>
              </a:defRPr>
            </a:lvl1pPr>
          </a:lstStyle>
          <a:p>
            <a:pPr marL="171450" indent="-171450" algn="l">
              <a:lnSpc>
                <a:spcPct val="150000"/>
              </a:lnSpc>
              <a:buFont typeface="Wingdings" panose="05000000000000000000" charset="0"/>
              <a:buChar char=""/>
            </a:pPr>
            <a:r>
              <a:rPr lang="zh-CN" altLang="en-US" sz="1200" b="0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问题</a:t>
            </a:r>
            <a:r>
              <a:rPr lang="en-US" altLang="zh-CN" sz="1200" b="0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200" b="0" dirty="0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期望</a:t>
            </a:r>
            <a:endParaRPr lang="zh-CN" altLang="en-US" sz="1200" b="0" dirty="0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584263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部件供应链岗位指标体系建模方法</a:t>
            </a:r>
            <a:r>
              <a:rPr lang="en-US" altLang="zh-CN" sz="2000" dirty="0"/>
              <a:t>-</a:t>
            </a:r>
            <a:r>
              <a:rPr lang="zh-CN" altLang="en-US" sz="2000" dirty="0"/>
              <a:t>指标</a:t>
            </a:r>
            <a:r>
              <a:rPr lang="zh-CN" altLang="en-US" sz="2000" dirty="0"/>
              <a:t>维度</a:t>
            </a:r>
            <a:endParaRPr lang="zh-CN" altLang="en-US" sz="2000" dirty="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39750" y="826135"/>
          <a:ext cx="7113905" cy="2035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110"/>
                <a:gridCol w="1320165"/>
                <a:gridCol w="1271270"/>
                <a:gridCol w="754380"/>
                <a:gridCol w="753110"/>
                <a:gridCol w="754380"/>
                <a:gridCol w="753745"/>
                <a:gridCol w="753745"/>
              </a:tblGrid>
              <a:tr h="2908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责任人</a:t>
                      </a:r>
                      <a:endParaRPr lang="zh-CN" altLang="en-US" sz="1000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指标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工厂</a:t>
                      </a: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维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战队</a:t>
                      </a: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维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...</a:t>
                      </a: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权重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30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年目标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M1</a:t>
                      </a: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目标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908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纪敏</a:t>
                      </a:r>
                      <a:endParaRPr lang="zh-CN" altLang="en-US" sz="1000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30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D-3</a:t>
                      </a:r>
                      <a:r>
                        <a:rPr lang="zh-CN" altLang="en-US" sz="1030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计划变动率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90830">
                <a:tc rowSpan="5"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陈</a:t>
                      </a:r>
                      <a:r>
                        <a:rPr lang="zh-CN" altLang="en-US" sz="1000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微软雅黑" charset="0"/>
                          <a:ea typeface="微软雅黑" charset="0"/>
                        </a:rPr>
                        <a:t>元元</a:t>
                      </a:r>
                      <a:endParaRPr lang="zh-CN" altLang="en-US" sz="1000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D-3</a:t>
                      </a:r>
                      <a:r>
                        <a:rPr lang="zh-CN" altLang="en-US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计划变动率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ADDZ-SK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90830">
                <a:tc vMerge="1"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D-3</a:t>
                      </a:r>
                      <a:r>
                        <a:rPr lang="zh-CN" altLang="en-US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计划变动率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HEG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90830">
                <a:tc vMerge="1"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D-3</a:t>
                      </a:r>
                      <a:r>
                        <a:rPr lang="zh-CN" altLang="en-US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计划变动率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HEGCKD-SK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90830">
                <a:tc vMerge="1"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D-3</a:t>
                      </a:r>
                      <a:r>
                        <a:rPr lang="zh-CN" altLang="en-US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计划变动率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BT3</a:t>
                      </a: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90830">
                <a:tc vMerge="1"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D-3</a:t>
                      </a:r>
                      <a:r>
                        <a:rPr lang="zh-CN" altLang="en-US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计划变动率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BT8</a:t>
                      </a: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539750" y="3506470"/>
          <a:ext cx="8114665" cy="1083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605"/>
                <a:gridCol w="981710"/>
                <a:gridCol w="589280"/>
                <a:gridCol w="713105"/>
                <a:gridCol w="551180"/>
                <a:gridCol w="643255"/>
                <a:gridCol w="577850"/>
                <a:gridCol w="662305"/>
                <a:gridCol w="619760"/>
                <a:gridCol w="788035"/>
                <a:gridCol w="830580"/>
              </a:tblGrid>
              <a:tr h="2717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指标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指标</a:t>
                      </a: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维度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组织</a:t>
                      </a: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维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组织层级</a:t>
                      </a: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维度</a:t>
                      </a: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维度</a:t>
                      </a: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</a:t>
                      </a: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...</a:t>
                      </a: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维度</a:t>
                      </a: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9</a:t>
                      </a: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期间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30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目标</a:t>
                      </a:r>
                      <a:r>
                        <a:rPr lang="zh-CN" altLang="en-US" sz="1030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值</a:t>
                      </a:r>
                      <a:endParaRPr lang="zh-CN" altLang="en-US" sz="1030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sym typeface="+mn-ea"/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达成</a:t>
                      </a: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值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057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D-3</a:t>
                      </a:r>
                      <a:r>
                        <a:rPr lang="zh-CN" altLang="en-US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计划变动率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工厂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HEG</a:t>
                      </a: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D-3</a:t>
                      </a:r>
                      <a:r>
                        <a:rPr lang="zh-CN" altLang="en-US" sz="103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计划变动率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组织</a:t>
                      </a: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+</a:t>
                      </a:r>
                      <a:r>
                        <a:rPr lang="zh-CN" altLang="en-US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战队</a:t>
                      </a:r>
                      <a:endParaRPr lang="zh-CN" altLang="en-US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ln w="635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BT3</a:t>
                      </a: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b="0">
                        <a:ln w="63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 anchorCtr="0">
                    <a:lnL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L>
                    <a:lnR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R>
                    <a:lnT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T>
                    <a:lnB w="9525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Shape 6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39750" y="3075940"/>
            <a:ext cx="1934845" cy="370205"/>
          </a:xfrm>
          <a:prstGeom prst="rect">
            <a:avLst/>
          </a:prstGeom>
        </p:spPr>
        <p:txBody>
          <a:bodyPr/>
          <a:lstStyle>
            <a:lvl1pPr marL="0" indent="0" algn="l" defTabSz="521970" rtl="0" eaLnBrk="1" latinLnBrk="0" hangingPunct="1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Font typeface="Arial" panose="020B060402020209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defRPr>
            </a:lvl1pPr>
            <a:lvl2pPr marL="26098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522605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783590" indent="0" algn="l" defTabSz="521970" rtl="0" eaLnBrk="1" latinLnBrk="0" hangingPunct="1">
              <a:lnSpc>
                <a:spcPct val="150000"/>
              </a:lnSpc>
              <a:spcBef>
                <a:spcPct val="197000"/>
              </a:spcBef>
              <a:spcAft>
                <a:spcPts val="0"/>
              </a:spcAft>
              <a:buFont typeface="Arial" panose="020B0604020202090204" pitchFamily="34" charset="0"/>
              <a:buNone/>
              <a:defRPr sz="156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117538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143700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799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59610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20595" indent="-130810" algn="l" defTabSz="521970" rtl="0" eaLnBrk="1" latinLnBrk="0" hangingPunct="1">
              <a:lnSpc>
                <a:spcPct val="90000"/>
              </a:lnSpc>
              <a:spcBef>
                <a:spcPct val="197000"/>
              </a:spcBef>
              <a:buFont typeface="Arial" panose="020B0604020202090204" pitchFamily="34" charset="0"/>
              <a:buChar char="•"/>
              <a:defRPr sz="10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200">
                <a:latin typeface="微软雅黑" charset="0"/>
                <a:ea typeface="微软雅黑" charset="0"/>
              </a:rPr>
              <a:t>建模思路</a:t>
            </a:r>
            <a:endParaRPr lang="zh-CN" sz="1200">
              <a:latin typeface="微软雅黑" charset="0"/>
              <a:ea typeface="微软雅黑" charset="0"/>
            </a:endParaRPr>
          </a:p>
          <a:p>
            <a:pPr marL="457200" lvl="1"/>
            <a:endParaRPr lang="zh-CN" sz="1200">
              <a:latin typeface="微软雅黑" charset="0"/>
              <a:ea typeface="微软雅黑" charset="0"/>
            </a:endParaRPr>
          </a:p>
          <a:p>
            <a:endParaRPr lang="zh-CN" altLang="en-US" sz="120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5775960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部件供应链岗位指标体系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数仓及</a:t>
            </a:r>
            <a:r>
              <a:rPr lang="zh-CN" altLang="en-US" dirty="0">
                <a:sym typeface="+mn-ea"/>
              </a:rPr>
              <a:t>报表</a:t>
            </a:r>
            <a:endParaRPr lang="zh-CN" altLang="en-US" dirty="0">
              <a:sym typeface="+mn-ea"/>
            </a:endParaRPr>
          </a:p>
        </p:txBody>
      </p:sp>
      <p:sp>
        <p:nvSpPr>
          <p:cNvPr id="113" name="Rounded Rectangle 32"/>
          <p:cNvSpPr/>
          <p:nvPr>
            <p:custDataLst>
              <p:tags r:id="rId1"/>
            </p:custDataLst>
          </p:nvPr>
        </p:nvSpPr>
        <p:spPr>
          <a:xfrm>
            <a:off x="460375" y="2392045"/>
            <a:ext cx="1087755" cy="133667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2">
                    <a:lumMod val="25000"/>
                  </a:schemeClr>
                </a:solidFill>
                <a:sym typeface="+mn-ea"/>
              </a:rPr>
              <a:t>数仓</a:t>
            </a:r>
            <a:r>
              <a:rPr lang="zh-CN" altLang="en-US" sz="1200">
                <a:solidFill>
                  <a:schemeClr val="bg2">
                    <a:lumMod val="25000"/>
                  </a:schemeClr>
                </a:solidFill>
                <a:sym typeface="+mn-ea"/>
              </a:rPr>
              <a:t>表</a:t>
            </a:r>
            <a:endParaRPr lang="zh-CN" altLang="en-US" sz="1200">
              <a:solidFill>
                <a:schemeClr val="bg2">
                  <a:lumMod val="25000"/>
                </a:schemeClr>
              </a:solidFill>
              <a:sym typeface="+mn-ea"/>
            </a:endParaRPr>
          </a:p>
        </p:txBody>
      </p:sp>
      <p:sp>
        <p:nvSpPr>
          <p:cNvPr id="3" name="Rounded Rectangle 32"/>
          <p:cNvSpPr/>
          <p:nvPr>
            <p:custDataLst>
              <p:tags r:id="rId2"/>
            </p:custDataLst>
          </p:nvPr>
        </p:nvSpPr>
        <p:spPr>
          <a:xfrm>
            <a:off x="460375" y="3796030"/>
            <a:ext cx="1073150" cy="77406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2">
                    <a:lumMod val="25000"/>
                  </a:schemeClr>
                </a:solidFill>
                <a:sym typeface="+mn-ea"/>
              </a:rPr>
              <a:t>源数据</a:t>
            </a:r>
            <a:endParaRPr lang="zh-CN" altLang="en-US" sz="1200">
              <a:solidFill>
                <a:schemeClr val="bg2">
                  <a:lumMod val="25000"/>
                </a:schemeClr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2">
                    <a:lumMod val="25000"/>
                  </a:schemeClr>
                </a:solidFill>
                <a:sym typeface="+mn-ea"/>
              </a:rPr>
              <a:t>(ODS)</a:t>
            </a:r>
            <a:endParaRPr lang="zh-CN" altLang="en-US" sz="1200">
              <a:solidFill>
                <a:schemeClr val="bg2">
                  <a:lumMod val="25000"/>
                </a:schemeClr>
              </a:solidFill>
              <a:sym typeface="+mn-ea"/>
            </a:endParaRPr>
          </a:p>
        </p:txBody>
      </p:sp>
      <p:sp>
        <p:nvSpPr>
          <p:cNvPr id="4" name="Rounded Rectangle 32"/>
          <p:cNvSpPr/>
          <p:nvPr>
            <p:custDataLst>
              <p:tags r:id="rId3"/>
            </p:custDataLst>
          </p:nvPr>
        </p:nvSpPr>
        <p:spPr>
          <a:xfrm>
            <a:off x="468630" y="1607820"/>
            <a:ext cx="1080135" cy="68516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2">
                    <a:lumMod val="25000"/>
                  </a:schemeClr>
                </a:solidFill>
                <a:sym typeface="+mn-ea"/>
              </a:rPr>
              <a:t>BI</a:t>
            </a:r>
            <a:r>
              <a:rPr lang="zh-CN" altLang="en-US" sz="1200">
                <a:solidFill>
                  <a:schemeClr val="bg2">
                    <a:lumMod val="25000"/>
                  </a:schemeClr>
                </a:solidFill>
                <a:sym typeface="+mn-ea"/>
              </a:rPr>
              <a:t>数据集</a:t>
            </a:r>
            <a:endParaRPr lang="zh-CN" altLang="en-US" sz="1200">
              <a:solidFill>
                <a:schemeClr val="bg2">
                  <a:lumMod val="25000"/>
                </a:schemeClr>
              </a:solidFill>
              <a:sym typeface="+mn-ea"/>
            </a:endParaRPr>
          </a:p>
        </p:txBody>
      </p:sp>
      <p:sp>
        <p:nvSpPr>
          <p:cNvPr id="5" name="Rounded Rectangle 32"/>
          <p:cNvSpPr/>
          <p:nvPr>
            <p:custDataLst>
              <p:tags r:id="rId4"/>
            </p:custDataLst>
          </p:nvPr>
        </p:nvSpPr>
        <p:spPr>
          <a:xfrm>
            <a:off x="468630" y="771525"/>
            <a:ext cx="1073785" cy="77851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2">
                    <a:lumMod val="25000"/>
                  </a:schemeClr>
                </a:solidFill>
                <a:sym typeface="+mn-ea"/>
              </a:rPr>
              <a:t>BI</a:t>
            </a:r>
            <a:r>
              <a:rPr lang="zh-CN" altLang="en-US" sz="1200">
                <a:solidFill>
                  <a:schemeClr val="bg2">
                    <a:lumMod val="25000"/>
                  </a:schemeClr>
                </a:solidFill>
                <a:sym typeface="+mn-ea"/>
              </a:rPr>
              <a:t>报表</a:t>
            </a:r>
            <a:endParaRPr lang="zh-CN" altLang="en-US" sz="1200">
              <a:solidFill>
                <a:schemeClr val="bg2">
                  <a:lumMod val="25000"/>
                </a:schemeClr>
              </a:solidFill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64665" y="3877310"/>
            <a:ext cx="5576570" cy="571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已有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ODS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（来自业务系统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SCM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、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EBS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、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TMS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、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WMS...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7410450" y="3883660"/>
            <a:ext cx="1219200" cy="571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指标及目标</a:t>
            </a:r>
            <a:endParaRPr lang="zh-CN" altLang="en-US" sz="120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（</a:t>
            </a:r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来自简道云）</a:t>
            </a:r>
            <a:endParaRPr lang="zh-CN" altLang="en-US" sz="1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Rounded Rectangle 32"/>
          <p:cNvSpPr/>
          <p:nvPr>
            <p:custDataLst>
              <p:tags r:id="rId6"/>
            </p:custDataLst>
          </p:nvPr>
        </p:nvSpPr>
        <p:spPr>
          <a:xfrm>
            <a:off x="1641475" y="2387600"/>
            <a:ext cx="7065645" cy="1336675"/>
          </a:xfrm>
          <a:prstGeom prst="roundRect">
            <a:avLst>
              <a:gd name="adj" fmla="val 0"/>
            </a:avLst>
          </a:prstGeom>
          <a:noFill/>
          <a:ln>
            <a:solidFill>
              <a:schemeClr val="bg2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764665" y="3075305"/>
            <a:ext cx="5582920" cy="562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原有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BDA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、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MDA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1200">
                <a:solidFill>
                  <a:schemeClr val="bg1"/>
                </a:solidFill>
                <a:sym typeface="+mn-ea"/>
              </a:rPr>
              <a:t>9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0%+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7411720" y="3067685"/>
            <a:ext cx="1217930" cy="5626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新</a:t>
            </a:r>
            <a:r>
              <a:rPr lang="en-US" altLang="zh-CN" sz="1200">
                <a:solidFill>
                  <a:schemeClr val="bg1">
                    <a:lumMod val="95000"/>
                  </a:schemeClr>
                </a:solidFill>
              </a:rPr>
              <a:t>BI</a:t>
            </a:r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需求</a:t>
            </a:r>
            <a:endParaRPr lang="zh-CN" altLang="en-US" sz="120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altLang="zh-CN" sz="1200">
                <a:solidFill>
                  <a:schemeClr val="bg1">
                    <a:lumMod val="95000"/>
                  </a:schemeClr>
                </a:solidFill>
              </a:rPr>
              <a:t>(10%)</a:t>
            </a:r>
            <a:endParaRPr lang="en-US" altLang="zh-CN" sz="1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1764030" y="2505075"/>
            <a:ext cx="6862445" cy="428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指标目标、达成</a:t>
            </a:r>
            <a:r>
              <a:rPr lang="en-US" altLang="zh-CN" sz="1200">
                <a:solidFill>
                  <a:schemeClr val="bg1">
                    <a:lumMod val="95000"/>
                  </a:schemeClr>
                </a:solidFill>
              </a:rPr>
              <a:t>-&gt;</a:t>
            </a:r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汇总表（</a:t>
            </a:r>
            <a:r>
              <a:rPr lang="en-US" altLang="zh-CN" sz="1200">
                <a:solidFill>
                  <a:schemeClr val="bg1">
                    <a:lumMod val="95000"/>
                  </a:schemeClr>
                </a:solidFill>
              </a:rPr>
              <a:t>DMA_IND_AC)</a:t>
            </a:r>
            <a:endParaRPr lang="en-US" altLang="zh-CN" sz="1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1752600" y="1679575"/>
            <a:ext cx="4498340" cy="562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200">
                <a:solidFill>
                  <a:schemeClr val="bg1"/>
                </a:solidFill>
                <a:sym typeface="+mn-ea"/>
              </a:rPr>
              <a:t>原有各供应链各</a:t>
            </a:r>
            <a:r>
              <a:rPr lang="zh-CN" altLang="en-US" sz="1200">
                <a:solidFill>
                  <a:schemeClr val="bg1"/>
                </a:solidFill>
                <a:sym typeface="+mn-ea"/>
              </a:rPr>
              <a:t>数据集</a:t>
            </a:r>
            <a:endParaRPr lang="zh-CN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6335395" y="1680210"/>
            <a:ext cx="1012825" cy="5626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新需求</a:t>
            </a:r>
            <a:endParaRPr lang="zh-CN" altLang="en-US" sz="120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数据集</a:t>
            </a:r>
            <a:endParaRPr lang="en-US" altLang="zh-CN" sz="1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7411720" y="1681480"/>
            <a:ext cx="1217295" cy="5626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供应链</a:t>
            </a:r>
            <a:endParaRPr lang="zh-CN" altLang="en-US" sz="120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指标</a:t>
            </a:r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汇总</a:t>
            </a:r>
            <a:endParaRPr lang="zh-CN" altLang="en-US" sz="1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13"/>
            </p:custDataLst>
          </p:nvPr>
        </p:nvSpPr>
        <p:spPr>
          <a:xfrm>
            <a:off x="1746885" y="854075"/>
            <a:ext cx="4511675" cy="5626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/>
                </a:solidFill>
              </a:rPr>
              <a:t>原有各供应链各主题域报表</a:t>
            </a:r>
            <a:endParaRPr lang="zh-CN" altLang="en-US" sz="120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14"/>
            </p:custDataLst>
          </p:nvPr>
        </p:nvSpPr>
        <p:spPr>
          <a:xfrm>
            <a:off x="6335395" y="861695"/>
            <a:ext cx="1012825" cy="5626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新需求</a:t>
            </a:r>
            <a:endParaRPr lang="zh-CN" altLang="en-US" sz="120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主题</a:t>
            </a:r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报表</a:t>
            </a:r>
            <a:endParaRPr lang="zh-CN" altLang="en-US" sz="1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矩形 22"/>
          <p:cNvSpPr/>
          <p:nvPr>
            <p:custDataLst>
              <p:tags r:id="rId15"/>
            </p:custDataLst>
          </p:nvPr>
        </p:nvSpPr>
        <p:spPr>
          <a:xfrm>
            <a:off x="7417435" y="861695"/>
            <a:ext cx="1209675" cy="5626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岗位</a:t>
            </a:r>
            <a:r>
              <a:rPr lang="en-US" altLang="zh-CN" sz="1200">
                <a:solidFill>
                  <a:schemeClr val="bg1">
                    <a:lumMod val="95000"/>
                  </a:schemeClr>
                </a:solidFill>
              </a:rPr>
              <a:t>KPI</a:t>
            </a:r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看板</a:t>
            </a:r>
            <a:endParaRPr lang="zh-CN" altLang="en-US" sz="120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zh-CN" altLang="en-US" sz="1200">
                <a:solidFill>
                  <a:schemeClr val="bg1">
                    <a:lumMod val="95000"/>
                  </a:schemeClr>
                </a:solidFill>
              </a:rPr>
              <a:t>链接主题域</a:t>
            </a:r>
            <a:r>
              <a:rPr lang="en-US" altLang="zh-CN" sz="1200">
                <a:solidFill>
                  <a:schemeClr val="bg1">
                    <a:lumMod val="95000"/>
                  </a:schemeClr>
                </a:solidFill>
              </a:rPr>
              <a:t>BI</a:t>
            </a:r>
            <a:endParaRPr lang="en-US" altLang="zh-CN" sz="12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矩形 23"/>
          <p:cNvSpPr/>
          <p:nvPr>
            <p:custDataLst>
              <p:tags r:id="rId16"/>
            </p:custDataLst>
          </p:nvPr>
        </p:nvSpPr>
        <p:spPr>
          <a:xfrm>
            <a:off x="7061200" y="4688205"/>
            <a:ext cx="1572895" cy="3155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bg1">
                    <a:lumMod val="95000"/>
                  </a:schemeClr>
                </a:solidFill>
              </a:rPr>
              <a:t>基于岗位</a:t>
            </a:r>
            <a:r>
              <a:rPr lang="en-US" altLang="zh-CN" sz="1000">
                <a:solidFill>
                  <a:schemeClr val="bg1">
                    <a:lumMod val="95000"/>
                  </a:schemeClr>
                </a:solidFill>
              </a:rPr>
              <a:t>KPIs</a:t>
            </a:r>
            <a:r>
              <a:rPr lang="zh-CN" altLang="en-US" sz="1000">
                <a:solidFill>
                  <a:schemeClr val="bg1">
                    <a:lumMod val="95000"/>
                  </a:schemeClr>
                </a:solidFill>
              </a:rPr>
              <a:t>体系建设</a:t>
            </a:r>
            <a:endParaRPr lang="zh-CN" altLang="en-US" sz="10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Rounded Rectangle 32"/>
          <p:cNvSpPr/>
          <p:nvPr>
            <p:custDataLst>
              <p:tags r:id="rId17"/>
            </p:custDataLst>
          </p:nvPr>
        </p:nvSpPr>
        <p:spPr>
          <a:xfrm>
            <a:off x="1641475" y="3796030"/>
            <a:ext cx="7065645" cy="774065"/>
          </a:xfrm>
          <a:prstGeom prst="roundRect">
            <a:avLst>
              <a:gd name="adj" fmla="val 0"/>
            </a:avLst>
          </a:prstGeom>
          <a:noFill/>
          <a:ln>
            <a:solidFill>
              <a:schemeClr val="bg2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6" name="Rounded Rectangle 32"/>
          <p:cNvSpPr/>
          <p:nvPr>
            <p:custDataLst>
              <p:tags r:id="rId18"/>
            </p:custDataLst>
          </p:nvPr>
        </p:nvSpPr>
        <p:spPr>
          <a:xfrm>
            <a:off x="1641475" y="1577975"/>
            <a:ext cx="7065645" cy="763270"/>
          </a:xfrm>
          <a:prstGeom prst="roundRect">
            <a:avLst>
              <a:gd name="adj" fmla="val 0"/>
            </a:avLst>
          </a:prstGeom>
          <a:noFill/>
          <a:ln>
            <a:solidFill>
              <a:schemeClr val="bg2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" name="Rounded Rectangle 32"/>
          <p:cNvSpPr/>
          <p:nvPr>
            <p:custDataLst>
              <p:tags r:id="rId19"/>
            </p:custDataLst>
          </p:nvPr>
        </p:nvSpPr>
        <p:spPr>
          <a:xfrm>
            <a:off x="1641475" y="760095"/>
            <a:ext cx="7065645" cy="774065"/>
          </a:xfrm>
          <a:prstGeom prst="roundRect">
            <a:avLst>
              <a:gd name="adj" fmla="val 0"/>
            </a:avLst>
          </a:prstGeom>
          <a:noFill/>
          <a:ln>
            <a:solidFill>
              <a:schemeClr val="bg2">
                <a:lumMod val="9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8" name="矩形 27"/>
          <p:cNvSpPr/>
          <p:nvPr>
            <p:custDataLst>
              <p:tags r:id="rId20"/>
            </p:custDataLst>
          </p:nvPr>
        </p:nvSpPr>
        <p:spPr>
          <a:xfrm>
            <a:off x="5561965" y="4688205"/>
            <a:ext cx="1456055" cy="3155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>
                    <a:lumMod val="95000"/>
                  </a:schemeClr>
                </a:solidFill>
                <a:sym typeface="+mn-ea"/>
              </a:rPr>
              <a:t>新BI</a:t>
            </a:r>
            <a:r>
              <a:rPr lang="zh-CN" altLang="en-US" sz="1000">
                <a:solidFill>
                  <a:schemeClr val="bg1">
                    <a:lumMod val="95000"/>
                  </a:schemeClr>
                </a:solidFill>
                <a:sym typeface="+mn-ea"/>
              </a:rPr>
              <a:t>需求</a:t>
            </a:r>
            <a:endParaRPr lang="zh-CN" altLang="en-US" sz="1000">
              <a:solidFill>
                <a:schemeClr val="bg1">
                  <a:lumMod val="95000"/>
                </a:schemeClr>
              </a:solidFill>
              <a:sym typeface="+mn-ea"/>
            </a:endParaRPr>
          </a:p>
        </p:txBody>
      </p:sp>
      <p:sp>
        <p:nvSpPr>
          <p:cNvPr id="29" name="矩形 28"/>
          <p:cNvSpPr/>
          <p:nvPr>
            <p:custDataLst>
              <p:tags r:id="rId21"/>
            </p:custDataLst>
          </p:nvPr>
        </p:nvSpPr>
        <p:spPr>
          <a:xfrm>
            <a:off x="3124200" y="4691380"/>
            <a:ext cx="2395220" cy="3155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/>
                </a:solidFill>
                <a:sym typeface="+mn-ea"/>
              </a:rPr>
              <a:t>原有数据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/BI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，继续优化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运营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446849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数字化运营的思考</a:t>
            </a:r>
            <a:r>
              <a:rPr lang="en-US" altLang="zh-CN" sz="2000" dirty="0"/>
              <a:t>...</a:t>
            </a:r>
            <a:endParaRPr lang="en-US" altLang="zh-CN" sz="2000" dirty="0"/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619885" y="1923415"/>
            <a:ext cx="5457190" cy="650240"/>
          </a:xfrm>
          <a:prstGeom prst="rect">
            <a:avLst/>
          </a:prstGeom>
        </p:spPr>
        <p:txBody>
          <a:bodyPr/>
          <a:lstStyle>
            <a:lvl1pPr algn="l" defTabSz="5219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0" dirty="0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业务数字化，数字业务化</a:t>
            </a:r>
            <a:endParaRPr lang="zh-CN" altLang="en-US" sz="2400" b="0" dirty="0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95" y="267970"/>
            <a:ext cx="2731135" cy="486410"/>
          </a:xfrm>
          <a:prstGeom prst="rect">
            <a:avLst/>
          </a:prstGeom>
        </p:spPr>
        <p:txBody>
          <a:bodyPr/>
          <a:lstStyle/>
          <a:p>
            <a:r>
              <a:rPr lang="zh-CN" altLang="en-US" sz="2000" dirty="0"/>
              <a:t>指标体系</a:t>
            </a:r>
            <a:r>
              <a:rPr lang="zh-CN" altLang="en-US" sz="2000" dirty="0"/>
              <a:t>建设</a:t>
            </a:r>
            <a:endParaRPr lang="zh-CN" altLang="en-US" sz="2000" dirty="0"/>
          </a:p>
        </p:txBody>
      </p:sp>
      <p:sp>
        <p:nvSpPr>
          <p:cNvPr id="3" name="矩形 5122"/>
          <p:cNvSpPr>
            <a:spLocks noGrp="1" noChangeArrowheads="1"/>
          </p:cNvSpPr>
          <p:nvPr/>
        </p:nvSpPr>
        <p:spPr bwMode="auto">
          <a:xfrm>
            <a:off x="1835785" y="1779270"/>
            <a:ext cx="4681855" cy="104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08000" bIns="108000" anchor="t">
            <a:spAutoFit/>
          </a:bodyPr>
          <a:p>
            <a:pPr algn="ctr">
              <a:lnSpc>
                <a:spcPct val="150000"/>
              </a:lnSpc>
              <a:buFont typeface="+mj-lt"/>
            </a:pPr>
            <a:r>
              <a:rPr lang="en-US" altLang="zh-C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Q&amp;A</a:t>
            </a:r>
            <a:endParaRPr lang="en-US" altLang="zh-CN" sz="3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TABLE_ENDDRAG_ORIGIN_RECT" val="638*63"/>
  <p:tag name="TABLE_ENDDRAG_RECT" val="42*276*638*63"/>
</p:tagLst>
</file>

<file path=ppt/tags/tag318.xml><?xml version="1.0" encoding="utf-8"?>
<p:tagLst xmlns:p="http://schemas.openxmlformats.org/presentationml/2006/main">
  <p:tag name="TABLE_ENDDRAG_ORIGIN_RECT" val="560*160"/>
  <p:tag name="TABLE_ENDDRAG_RECT" val="42*65*560*160"/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HTP_课程PPT模板_V1.2（华文中宋+微软雅黑）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3712</Words>
  <Application>WPS 文字</Application>
  <PresentationFormat>全屏显示(16:9)</PresentationFormat>
  <Paragraphs>955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54" baseType="lpstr">
      <vt:lpstr>Arial</vt:lpstr>
      <vt:lpstr>宋体</vt:lpstr>
      <vt:lpstr>Wingdings</vt:lpstr>
      <vt:lpstr>黑体</vt:lpstr>
      <vt:lpstr>汉仪中黑KW</vt:lpstr>
      <vt:lpstr>微软雅黑</vt:lpstr>
      <vt:lpstr>方正兰亭黑_GBK</vt:lpstr>
      <vt:lpstr>Calibri</vt:lpstr>
      <vt:lpstr>Helvetica Neue</vt:lpstr>
      <vt:lpstr>华文中宋</vt:lpstr>
      <vt:lpstr>汉仪书宋二KW</vt:lpstr>
      <vt:lpstr>汉仪铁线黑-65简</vt:lpstr>
      <vt:lpstr>汉仪旗黑</vt:lpstr>
      <vt:lpstr>楷体</vt:lpstr>
      <vt:lpstr>Wingdings</vt:lpstr>
      <vt:lpstr>微软雅黑</vt:lpstr>
      <vt:lpstr>Helvetica</vt:lpstr>
      <vt:lpstr>Arial Bold</vt:lpstr>
      <vt:lpstr>宋体</vt:lpstr>
      <vt:lpstr>Arial Unicode MS</vt:lpstr>
      <vt:lpstr>Arial Black</vt:lpstr>
      <vt:lpstr>汉仪楷体KW</vt:lpstr>
      <vt:lpstr>Calibri Light</vt:lpstr>
      <vt:lpstr>Symbol</vt:lpstr>
      <vt:lpstr>Kingsoft Sign</vt:lpstr>
      <vt:lpstr>黑体</vt:lpstr>
      <vt:lpstr>Office 主题​​</vt:lpstr>
      <vt:lpstr>NHTP_课程PPT模板_V1.2（华文中宋+微软雅黑） </vt:lpstr>
      <vt:lpstr>PowerPoint 演示文稿</vt:lpstr>
      <vt:lpstr>目录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思路</vt:lpstr>
      <vt:lpstr>业务价值案例1</vt:lpstr>
      <vt:lpstr>业务价值案例2</vt:lpstr>
      <vt:lpstr>指标清单：关键属性说明</vt:lpstr>
      <vt:lpstr>指标维度</vt:lpstr>
      <vt:lpstr>指标流程管理-整机BG指标管理平台</vt:lpstr>
      <vt:lpstr>指标呈现-驾驶舱</vt:lpstr>
      <vt:lpstr>指标呈现-个人指标看板</vt:lpstr>
      <vt:lpstr>指标呈现-主题域</vt:lpstr>
      <vt:lpstr>方向决策/规划性问题</vt:lpstr>
      <vt:lpstr>部件供应链岗位指标体系建设背景</vt:lpstr>
      <vt:lpstr>部件供应链岗位指标体系建模方法-指标维度</vt:lpstr>
      <vt:lpstr>部件供应链岗位指标体系-数仓及报表</vt:lpstr>
      <vt:lpstr>数字化运营的思考...</vt:lpstr>
      <vt:lpstr>指标体系建设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HOPEbranding2</dc:creator>
  <cp:lastModifiedBy>马兰军</cp:lastModifiedBy>
  <cp:revision>568</cp:revision>
  <dcterms:created xsi:type="dcterms:W3CDTF">2024-01-17T03:55:59Z</dcterms:created>
  <dcterms:modified xsi:type="dcterms:W3CDTF">2024-01-17T03:55:59Z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6055F84C614B9142E435FA620C016B4A</vt:lpwstr>
  </property>
</Properties>
</file>
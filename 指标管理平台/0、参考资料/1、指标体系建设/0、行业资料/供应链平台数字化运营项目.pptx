
<file path=[Content_Types].xml><?xml version="1.0" encoding="utf-8"?>
<Types xmlns="http://schemas.openxmlformats.org/package/2006/content-types">
  <Default Extension="jpeg" ContentType="image/jpeg"/>
  <Default Extension="tiff" ContentType="image/tif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93" r:id="rId5"/>
    <p:sldId id="265" r:id="rId6"/>
    <p:sldId id="259" r:id="rId7"/>
    <p:sldId id="294" r:id="rId8"/>
    <p:sldId id="263" r:id="rId9"/>
    <p:sldId id="331" r:id="rId10"/>
    <p:sldId id="314" r:id="rId11"/>
    <p:sldId id="278" r:id="rId12"/>
    <p:sldId id="332" r:id="rId13"/>
    <p:sldId id="280" r:id="rId14"/>
    <p:sldId id="298" r:id="rId15"/>
    <p:sldId id="281" r:id="rId16"/>
    <p:sldId id="279" r:id="rId17"/>
    <p:sldId id="303" r:id="rId18"/>
    <p:sldId id="273" r:id="rId19"/>
    <p:sldId id="296" r:id="rId20"/>
    <p:sldId id="295" r:id="rId21"/>
    <p:sldId id="291" r:id="rId22"/>
    <p:sldId id="300" r:id="rId23"/>
    <p:sldId id="283" r:id="rId24"/>
    <p:sldId id="284" r:id="rId25"/>
    <p:sldId id="286" r:id="rId26"/>
    <p:sldId id="287" r:id="rId27"/>
    <p:sldId id="288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nderson , Turi (US - Seattle)" initials="" lastIdx="4" clrIdx="0"/>
  <p:cmAuthor id="1" name="Franklin, Torchy" initials="TF" lastIdx="7" clrIdx="1"/>
  <p:cmAuthor id="2" name="Jackey Yi Zhang" initials="A" lastIdx="2" clrIdx="2"/>
  <p:cmAuthor id="15" name="Author" initials="A" lastIdx="0" clrIdx="1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5792"/>
    <a:srgbClr val="FFCCCC"/>
    <a:srgbClr val="FF0000"/>
    <a:srgbClr val="5B9BD5"/>
    <a:srgbClr val="ED7D31"/>
    <a:srgbClr val="FFC000"/>
    <a:srgbClr val="FE6100"/>
    <a:srgbClr val="CBE1F1"/>
    <a:srgbClr val="E7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 varScale="1">
        <p:scale>
          <a:sx n="116" d="100"/>
          <a:sy n="116" d="100"/>
        </p:scale>
        <p:origin x="336" y="108"/>
      </p:cViewPr>
      <p:guideLst>
        <p:guide orient="horz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共</a:t>
            </a:r>
            <a:r>
              <a:rPr lang="en-US" altLang="zh-CN"/>
              <a:t>27</a:t>
            </a:r>
            <a:r>
              <a:rPr lang="zh-CN" altLang="en-US"/>
              <a:t>个指标，其中有</a:t>
            </a:r>
            <a:r>
              <a:rPr lang="en-US" altLang="zh-CN"/>
              <a:t>14</a:t>
            </a:r>
            <a:r>
              <a:rPr lang="zh-CN" altLang="en-US"/>
              <a:t>个指标既定了</a:t>
            </a:r>
            <a:r>
              <a:rPr lang="en-US" altLang="zh-CN"/>
              <a:t>19</a:t>
            </a:r>
            <a:r>
              <a:rPr lang="zh-CN" altLang="en-US"/>
              <a:t>年的目标，</a:t>
            </a:r>
            <a:r>
              <a:rPr lang="en-US" altLang="zh-CN"/>
              <a:t>12</a:t>
            </a:r>
            <a:r>
              <a:rPr lang="zh-CN" altLang="en-US"/>
              <a:t>个没有达成；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人力主题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C:\Users\yyyy\Desktop\辅助1.jpg"/>
          <p:cNvPicPr>
            <a:picLocks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/>
          <a:stretch>
            <a:fillRect/>
          </a:stretch>
        </p:blipFill>
        <p:spPr bwMode="auto">
          <a:xfrm>
            <a:off x="575725" y="807230"/>
            <a:ext cx="11040000" cy="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User\Desktop\胸牌源文件-0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001" y="159938"/>
            <a:ext cx="1173016" cy="67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1"/>
          <p:cNvSpPr>
            <a:spLocks noChangeShapeType="1"/>
          </p:cNvSpPr>
          <p:nvPr userDrawn="1"/>
        </p:nvSpPr>
        <p:spPr bwMode="auto">
          <a:xfrm>
            <a:off x="0" y="762000"/>
            <a:ext cx="12192000" cy="0"/>
          </a:xfrm>
          <a:prstGeom prst="line">
            <a:avLst/>
          </a:prstGeom>
          <a:noFill/>
          <a:ln w="28575">
            <a:solidFill>
              <a:srgbClr val="006699"/>
            </a:solidFill>
            <a:rou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itle 22"/>
          <p:cNvSpPr>
            <a:spLocks noGrp="1"/>
          </p:cNvSpPr>
          <p:nvPr>
            <p:ph type="title"/>
          </p:nvPr>
        </p:nvSpPr>
        <p:spPr>
          <a:xfrm>
            <a:off x="960000" y="176051"/>
            <a:ext cx="11232000" cy="430298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>
              <a:defRPr lang="en-US" sz="2000"/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7"/>
          <a:stretch>
            <a:fillRect/>
          </a:stretch>
        </p:blipFill>
        <p:spPr>
          <a:xfrm flipH="1">
            <a:off x="-1" y="104607"/>
            <a:ext cx="10133153" cy="6753393"/>
          </a:xfrm>
          <a:prstGeom prst="rect">
            <a:avLst/>
          </a:prstGeom>
        </p:spPr>
      </p:pic>
      <p:sp>
        <p:nvSpPr>
          <p:cNvPr id="4" name="Rectangle 17"/>
          <p:cNvSpPr/>
          <p:nvPr userDrawn="1"/>
        </p:nvSpPr>
        <p:spPr bwMode="gray">
          <a:xfrm>
            <a:off x="0" y="-27384"/>
            <a:ext cx="12192000" cy="131991"/>
          </a:xfrm>
          <a:prstGeom prst="rect">
            <a:avLst/>
          </a:prstGeom>
          <a:solidFill>
            <a:srgbClr val="569337"/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anose="05020102010507070707" pitchFamily="18" charset="2"/>
              <a:buNone/>
            </a:pPr>
            <a:endParaRPr lang="en-US" sz="1600" b="1" dirty="0">
              <a:solidFill>
                <a:prstClr val="white"/>
              </a:solidFill>
            </a:endParaRPr>
          </a:p>
        </p:txBody>
      </p:sp>
      <p:sp>
        <p:nvSpPr>
          <p:cNvPr id="5" name="Rectangle 17"/>
          <p:cNvSpPr/>
          <p:nvPr userDrawn="1"/>
        </p:nvSpPr>
        <p:spPr bwMode="gray">
          <a:xfrm>
            <a:off x="0" y="6453336"/>
            <a:ext cx="12192000" cy="3999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anose="05020102010507070707" pitchFamily="18" charset="2"/>
              <a:buNone/>
            </a:pPr>
            <a:endParaRPr lang="en-US" sz="1600" b="1" dirty="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9579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 smtClean="0"/>
              <a:t>Insert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494" y="1316831"/>
            <a:ext cx="7825695" cy="1325563"/>
          </a:xfrm>
          <a:prstGeom prst="rect">
            <a:avLst/>
          </a:prstGeom>
        </p:spPr>
        <p:txBody>
          <a:bodyPr anchor="b"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68580" tIns="34290" rIns="68580" bIns="34290"/>
          <a:lstStyle/>
          <a:p>
            <a:pPr defTabSz="914400"/>
            <a:fld id="{11FB38E0-29C9-44E1-97CC-01B9606F5A87}" type="datetime1">
              <a:rPr lang="en-GB" sz="1865" smtClean="0">
                <a:solidFill>
                  <a:srgbClr val="5C5C5C"/>
                </a:solidFill>
              </a:rPr>
            </a:fld>
            <a:endParaRPr lang="en-GB" sz="1865" dirty="0">
              <a:solidFill>
                <a:srgbClr val="5C5C5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>
              <a:solidFill>
                <a:srgbClr val="5C5C5C">
                  <a:tint val="75000"/>
                </a:srgbClr>
              </a:solidFill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0494" y="2660651"/>
            <a:ext cx="7826693" cy="351631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5"/>
              </a:buClr>
              <a:buNone/>
              <a:defRPr>
                <a:solidFill>
                  <a:schemeClr val="accent5"/>
                </a:solidFill>
              </a:defRPr>
            </a:lvl1pPr>
            <a:lvl2pPr marL="0" indent="0">
              <a:buClr>
                <a:schemeClr val="accent5"/>
              </a:buClr>
              <a:buNone/>
              <a:defRPr/>
            </a:lvl2pPr>
            <a:lvl3pPr marL="914400" indent="0">
              <a:buClr>
                <a:schemeClr val="accent5"/>
              </a:buClr>
              <a:buNone/>
              <a:defRPr/>
            </a:lvl3pPr>
            <a:lvl4pPr marL="1371600" indent="0">
              <a:buClr>
                <a:schemeClr val="accent5"/>
              </a:buClr>
              <a:buNone/>
              <a:defRPr/>
            </a:lvl4pPr>
            <a:lvl5pPr marL="1828800" indent="0">
              <a:buClr>
                <a:schemeClr val="accent5"/>
              </a:buClr>
              <a:buNone/>
              <a:defRPr/>
            </a:lvl5pPr>
          </a:lstStyle>
          <a:p>
            <a:pPr lvl="0"/>
            <a:r>
              <a:rPr lang="en-GB" dirty="0" smtClean="0"/>
              <a:t>Section Title</a:t>
            </a:r>
            <a:endParaRPr lang="en-GB" dirty="0" smtClean="0"/>
          </a:p>
          <a:p>
            <a:pPr lvl="1"/>
            <a:r>
              <a:rPr lang="en-GB" dirty="0" smtClean="0"/>
              <a:t>Body</a:t>
            </a:r>
            <a:endParaRPr lang="en-GB" dirty="0" smtClean="0"/>
          </a:p>
          <a:p>
            <a:pPr lvl="2"/>
            <a:r>
              <a:rPr lang="en-GB" dirty="0" smtClean="0"/>
              <a:t>Third level</a:t>
            </a:r>
            <a:endParaRPr lang="en-GB" dirty="0" smtClean="0"/>
          </a:p>
          <a:p>
            <a:pPr lvl="3"/>
            <a:r>
              <a:rPr lang="en-GB" dirty="0" smtClean="0"/>
              <a:t>Fourth level</a:t>
            </a:r>
            <a:endParaRPr lang="en-GB" dirty="0" smtClean="0"/>
          </a:p>
          <a:p>
            <a:pPr lvl="4"/>
            <a:r>
              <a:rPr lang="en-GB" dirty="0" smtClean="0"/>
              <a:t>Fifth level</a:t>
            </a:r>
            <a:endParaRPr lang="en-GB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5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5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png"/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tiff"/><Relationship Id="rId1" Type="http://schemas.openxmlformats.org/officeDocument/2006/relationships/image" Target="../media/image1.tif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5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C:\Users\yyyy\Desktop\辅助图形2.pn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43" t="52156" r="-2091" b="-4312"/>
          <a:stretch>
            <a:fillRect/>
          </a:stretch>
        </p:blipFill>
        <p:spPr bwMode="auto">
          <a:xfrm rot="10800000">
            <a:off x="5826291" y="4207801"/>
            <a:ext cx="6365709" cy="264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298516" y="1367730"/>
            <a:ext cx="8064896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供应链平台数字化运营项目</a:t>
            </a:r>
            <a:endParaRPr lang="en-US" altLang="zh-CN" sz="4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4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立项评审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98516" y="4299214"/>
            <a:ext cx="201622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信息中心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2019.01.02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98516" y="5400348"/>
            <a:ext cx="3839845" cy="617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335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广州视源电子科技股份有限公司</a:t>
            </a:r>
            <a:endParaRPr lang="en-US" altLang="zh-CN" sz="1335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93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Guangzhou </a:t>
            </a:r>
            <a:r>
              <a:rPr lang="en-US" altLang="zh-CN" sz="935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Shiyuan</a:t>
            </a:r>
            <a:r>
              <a:rPr lang="en-US" altLang="zh-CN" sz="93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Electronic Technology Company Limited</a:t>
            </a:r>
            <a:endParaRPr lang="zh-CN" altLang="en-US" sz="935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237" y="452669"/>
            <a:ext cx="1498912" cy="85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gray">
          <a:xfrm>
            <a:off x="-12065" y="-1270"/>
            <a:ext cx="12204700" cy="6896735"/>
          </a:xfrm>
          <a:prstGeom prst="rect">
            <a:avLst/>
          </a:prstGeom>
          <a:solidFill>
            <a:schemeClr val="bg2"/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10477" y="5043301"/>
            <a:ext cx="12202250" cy="1197904"/>
            <a:chOff x="-12382" y="5028061"/>
            <a:chExt cx="12202250" cy="1197904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-12382" y="5028061"/>
              <a:ext cx="286702" cy="40386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266700" y="5424301"/>
              <a:ext cx="335280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/>
            <p:cNvSpPr/>
            <p:nvPr/>
          </p:nvSpPr>
          <p:spPr bwMode="gray">
            <a:xfrm>
              <a:off x="601980" y="5348101"/>
              <a:ext cx="152400" cy="152400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</a:ln>
            <a:effectLst>
              <a:glow rad="228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Oval 72"/>
            <p:cNvSpPr/>
            <p:nvPr/>
          </p:nvSpPr>
          <p:spPr bwMode="gray">
            <a:xfrm>
              <a:off x="643543" y="5643207"/>
              <a:ext cx="69273" cy="69273"/>
            </a:xfrm>
            <a:prstGeom prst="ellipse">
              <a:avLst/>
            </a:prstGeom>
            <a:noFill/>
            <a:ln w="3175" algn="ctr">
              <a:solidFill>
                <a:schemeClr val="accent5"/>
              </a:solidFill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74" name="Straight Connector 73"/>
            <p:cNvCxnSpPr>
              <a:stCxn id="73" idx="6"/>
            </p:cNvCxnSpPr>
            <p:nvPr/>
          </p:nvCxnSpPr>
          <p:spPr>
            <a:xfrm>
              <a:off x="712816" y="5677844"/>
              <a:ext cx="976284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80369" y="5677843"/>
              <a:ext cx="224631" cy="293193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1901932" y="5971036"/>
              <a:ext cx="9114411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 bwMode="gray">
            <a:xfrm>
              <a:off x="10799795" y="5793956"/>
              <a:ext cx="69273" cy="69273"/>
            </a:xfrm>
            <a:prstGeom prst="ellipse">
              <a:avLst/>
            </a:prstGeom>
            <a:noFill/>
            <a:ln w="3175" algn="ctr">
              <a:solidFill>
                <a:schemeClr val="accent5"/>
              </a:solidFill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>
              <a:off x="10869068" y="5828592"/>
              <a:ext cx="1203299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12072367" y="5695365"/>
              <a:ext cx="117501" cy="133227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 bwMode="gray">
            <a:xfrm>
              <a:off x="11019200" y="5936399"/>
              <a:ext cx="69273" cy="69273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</a:ln>
            <a:effectLst>
              <a:glow rad="228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371899" y="5723878"/>
              <a:ext cx="438955" cy="21544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BAB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rPr>
                <a:t>DATA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BAB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981481" y="5570122"/>
              <a:ext cx="438955" cy="21526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BAB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rPr>
                <a:t>SCM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BAB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83" name="Oval 82"/>
            <p:cNvSpPr/>
            <p:nvPr/>
          </p:nvSpPr>
          <p:spPr bwMode="gray">
            <a:xfrm>
              <a:off x="3723976" y="5710587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5" name="Oval 84"/>
            <p:cNvSpPr/>
            <p:nvPr/>
          </p:nvSpPr>
          <p:spPr bwMode="gray">
            <a:xfrm>
              <a:off x="5142114" y="5728276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6" name="Oval 85"/>
            <p:cNvSpPr/>
            <p:nvPr/>
          </p:nvSpPr>
          <p:spPr bwMode="gray">
            <a:xfrm>
              <a:off x="5851967" y="5731651"/>
              <a:ext cx="491701" cy="494314"/>
            </a:xfrm>
            <a:prstGeom prst="ellipse">
              <a:avLst/>
            </a:prstGeom>
            <a:solidFill>
              <a:srgbClr val="000000"/>
            </a:solidFill>
            <a:ln w="12700" algn="ctr">
              <a:solidFill>
                <a:schemeClr val="tx1"/>
              </a:solidFill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7" name="Oval 86"/>
            <p:cNvSpPr/>
            <p:nvPr/>
          </p:nvSpPr>
          <p:spPr bwMode="gray">
            <a:xfrm>
              <a:off x="6558634" y="5711759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8" name="Oval 87"/>
            <p:cNvSpPr/>
            <p:nvPr/>
          </p:nvSpPr>
          <p:spPr bwMode="gray">
            <a:xfrm>
              <a:off x="7257777" y="5730536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9" name="Oval 88"/>
            <p:cNvSpPr/>
            <p:nvPr/>
          </p:nvSpPr>
          <p:spPr bwMode="gray">
            <a:xfrm>
              <a:off x="7974002" y="5712492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8031" y="578543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3" name="Picture 92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3287" y="577400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4" name="Picture 93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171" y="580067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4482" y="580067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6" name="Picture 95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8057" y="577400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7" name="Picture 96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8516" y="5800677"/>
              <a:ext cx="366205" cy="366205"/>
            </a:xfrm>
            <a:prstGeom prst="rect">
              <a:avLst/>
            </a:prstGeom>
            <a:effectLst/>
          </p:spPr>
        </p:pic>
        <p:sp>
          <p:nvSpPr>
            <p:cNvPr id="98" name="Arc 97"/>
            <p:cNvSpPr/>
            <p:nvPr/>
          </p:nvSpPr>
          <p:spPr>
            <a:xfrm rot="5400000">
              <a:off x="3724294" y="5721774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9" name="Arc 98"/>
            <p:cNvSpPr/>
            <p:nvPr/>
          </p:nvSpPr>
          <p:spPr>
            <a:xfrm rot="16200000">
              <a:off x="4435806" y="5722853"/>
              <a:ext cx="493200" cy="493200"/>
            </a:xfrm>
            <a:prstGeom prst="arc">
              <a:avLst>
                <a:gd name="adj1" fmla="val 161488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0" name="Arc 99"/>
            <p:cNvSpPr/>
            <p:nvPr/>
          </p:nvSpPr>
          <p:spPr>
            <a:xfrm rot="5400000">
              <a:off x="5140814" y="5722377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1" name="Arc 100"/>
            <p:cNvSpPr/>
            <p:nvPr/>
          </p:nvSpPr>
          <p:spPr>
            <a:xfrm rot="5400000">
              <a:off x="6557557" y="5725252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2" name="Arc 101"/>
            <p:cNvSpPr/>
            <p:nvPr/>
          </p:nvSpPr>
          <p:spPr>
            <a:xfrm rot="16200000">
              <a:off x="7260191" y="5724744"/>
              <a:ext cx="493200" cy="493200"/>
            </a:xfrm>
            <a:prstGeom prst="arc">
              <a:avLst>
                <a:gd name="adj1" fmla="val 161488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3" name="Arc 102"/>
            <p:cNvSpPr/>
            <p:nvPr/>
          </p:nvSpPr>
          <p:spPr>
            <a:xfrm rot="5400000">
              <a:off x="7974077" y="5725425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4" name="Arc 103"/>
            <p:cNvSpPr/>
            <p:nvPr/>
          </p:nvSpPr>
          <p:spPr>
            <a:xfrm rot="16200000">
              <a:off x="5851968" y="5726737"/>
              <a:ext cx="493200" cy="493200"/>
            </a:xfrm>
            <a:prstGeom prst="arc">
              <a:avLst>
                <a:gd name="adj1" fmla="val 161488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4" name="Oval 83"/>
            <p:cNvSpPr/>
            <p:nvPr/>
          </p:nvSpPr>
          <p:spPr bwMode="gray">
            <a:xfrm>
              <a:off x="4435171" y="5731444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9386" y="5789882"/>
              <a:ext cx="366205" cy="366205"/>
            </a:xfrm>
            <a:prstGeom prst="rect">
              <a:avLst/>
            </a:prstGeom>
            <a:effectLst/>
          </p:spPr>
        </p:pic>
      </p:grpSp>
      <p:sp>
        <p:nvSpPr>
          <p:cNvPr id="17" name="Rectangle 16"/>
          <p:cNvSpPr/>
          <p:nvPr/>
        </p:nvSpPr>
        <p:spPr bwMode="gray">
          <a:xfrm>
            <a:off x="6350" y="1566067"/>
            <a:ext cx="12192000" cy="30807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258446" y="2115368"/>
            <a:ext cx="9144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dirty="0">
                <a:ln>
                  <a:noFill/>
                </a:ln>
                <a:solidFill>
                  <a:srgbClr val="86BC25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rPr>
              <a:t>项目背景</a:t>
            </a:r>
            <a:endParaRPr kumimoji="0" lang="zh-CN" altLang="en-US" sz="1800" b="0" i="0" u="none" strike="noStrike" kern="1200" cap="none" spc="0" normalizeH="0" baseline="0" dirty="0">
              <a:ln>
                <a:noFill/>
              </a:ln>
              <a:solidFill>
                <a:srgbClr val="86BC25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58446" y="2681247"/>
            <a:ext cx="2458085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r>
              <a:rPr lang="zh-CN" altLang="en-US" dirty="0"/>
              <a:t>项目范围目标</a:t>
            </a:r>
            <a:r>
              <a:rPr lang="en-US" altLang="zh-CN" dirty="0"/>
              <a:t>&amp;</a:t>
            </a:r>
            <a:r>
              <a:rPr lang="zh-CN" altLang="en-US" dirty="0"/>
              <a:t>验收标准</a:t>
            </a:r>
            <a:endParaRPr lang="zh-CN" alt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5258446" y="3813005"/>
            <a:ext cx="9144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项目</a:t>
            </a:r>
            <a:r>
              <a:rPr kumimoji="0" 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管理</a:t>
            </a:r>
            <a:endParaRPr kumimoji="0" 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106" name="Group 669"/>
          <p:cNvGrpSpPr>
            <a:grpSpLocks noChangeAspect="1"/>
          </p:cNvGrpSpPr>
          <p:nvPr/>
        </p:nvGrpSpPr>
        <p:grpSpPr bwMode="auto">
          <a:xfrm>
            <a:off x="4756332" y="3825257"/>
            <a:ext cx="252494" cy="252494"/>
            <a:chOff x="1910" y="2326"/>
            <a:chExt cx="340" cy="340"/>
          </a:xfrm>
          <a:solidFill>
            <a:schemeClr val="tx1"/>
          </a:solidFill>
        </p:grpSpPr>
        <p:sp>
          <p:nvSpPr>
            <p:cNvPr id="107" name="Freeform 670"/>
            <p:cNvSpPr>
              <a:spLocks noEditPoints="1"/>
            </p:cNvSpPr>
            <p:nvPr/>
          </p:nvSpPr>
          <p:spPr bwMode="auto">
            <a:xfrm>
              <a:off x="1910" y="2326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08" name="Freeform 671"/>
            <p:cNvSpPr>
              <a:spLocks noEditPoints="1"/>
            </p:cNvSpPr>
            <p:nvPr/>
          </p:nvSpPr>
          <p:spPr bwMode="auto">
            <a:xfrm>
              <a:off x="1973" y="2390"/>
              <a:ext cx="214" cy="212"/>
            </a:xfrm>
            <a:custGeom>
              <a:avLst/>
              <a:gdLst>
                <a:gd name="T0" fmla="*/ 298 w 322"/>
                <a:gd name="T1" fmla="*/ 67 h 320"/>
                <a:gd name="T2" fmla="*/ 246 w 322"/>
                <a:gd name="T3" fmla="*/ 55 h 320"/>
                <a:gd name="T4" fmla="*/ 246 w 322"/>
                <a:gd name="T5" fmla="*/ 10 h 320"/>
                <a:gd name="T6" fmla="*/ 235 w 322"/>
                <a:gd name="T7" fmla="*/ 0 h 320"/>
                <a:gd name="T8" fmla="*/ 86 w 322"/>
                <a:gd name="T9" fmla="*/ 0 h 320"/>
                <a:gd name="T10" fmla="*/ 75 w 322"/>
                <a:gd name="T11" fmla="*/ 10 h 320"/>
                <a:gd name="T12" fmla="*/ 76 w 322"/>
                <a:gd name="T13" fmla="*/ 55 h 320"/>
                <a:gd name="T14" fmla="*/ 23 w 322"/>
                <a:gd name="T15" fmla="*/ 67 h 320"/>
                <a:gd name="T16" fmla="*/ 52 w 322"/>
                <a:gd name="T17" fmla="*/ 177 h 320"/>
                <a:gd name="T18" fmla="*/ 104 w 322"/>
                <a:gd name="T19" fmla="*/ 213 h 320"/>
                <a:gd name="T20" fmla="*/ 107 w 322"/>
                <a:gd name="T21" fmla="*/ 213 h 320"/>
                <a:gd name="T22" fmla="*/ 109 w 322"/>
                <a:gd name="T23" fmla="*/ 213 h 320"/>
                <a:gd name="T24" fmla="*/ 121 w 322"/>
                <a:gd name="T25" fmla="*/ 227 h 320"/>
                <a:gd name="T26" fmla="*/ 146 w 322"/>
                <a:gd name="T27" fmla="*/ 243 h 320"/>
                <a:gd name="T28" fmla="*/ 119 w 322"/>
                <a:gd name="T29" fmla="*/ 305 h 320"/>
                <a:gd name="T30" fmla="*/ 120 w 322"/>
                <a:gd name="T31" fmla="*/ 315 h 320"/>
                <a:gd name="T32" fmla="*/ 129 w 322"/>
                <a:gd name="T33" fmla="*/ 320 h 320"/>
                <a:gd name="T34" fmla="*/ 193 w 322"/>
                <a:gd name="T35" fmla="*/ 320 h 320"/>
                <a:gd name="T36" fmla="*/ 202 w 322"/>
                <a:gd name="T37" fmla="*/ 315 h 320"/>
                <a:gd name="T38" fmla="*/ 202 w 322"/>
                <a:gd name="T39" fmla="*/ 305 h 320"/>
                <a:gd name="T40" fmla="*/ 176 w 322"/>
                <a:gd name="T41" fmla="*/ 243 h 320"/>
                <a:gd name="T42" fmla="*/ 201 w 322"/>
                <a:gd name="T43" fmla="*/ 227 h 320"/>
                <a:gd name="T44" fmla="*/ 212 w 322"/>
                <a:gd name="T45" fmla="*/ 213 h 320"/>
                <a:gd name="T46" fmla="*/ 214 w 322"/>
                <a:gd name="T47" fmla="*/ 213 h 320"/>
                <a:gd name="T48" fmla="*/ 217 w 322"/>
                <a:gd name="T49" fmla="*/ 213 h 320"/>
                <a:gd name="T50" fmla="*/ 270 w 322"/>
                <a:gd name="T51" fmla="*/ 177 h 320"/>
                <a:gd name="T52" fmla="*/ 298 w 322"/>
                <a:gd name="T53" fmla="*/ 67 h 320"/>
                <a:gd name="T54" fmla="*/ 66 w 322"/>
                <a:gd name="T55" fmla="*/ 161 h 320"/>
                <a:gd name="T56" fmla="*/ 39 w 322"/>
                <a:gd name="T57" fmla="*/ 81 h 320"/>
                <a:gd name="T58" fmla="*/ 77 w 322"/>
                <a:gd name="T59" fmla="*/ 77 h 320"/>
                <a:gd name="T60" fmla="*/ 97 w 322"/>
                <a:gd name="T61" fmla="*/ 186 h 320"/>
                <a:gd name="T62" fmla="*/ 66 w 322"/>
                <a:gd name="T63" fmla="*/ 161 h 320"/>
                <a:gd name="T64" fmla="*/ 145 w 322"/>
                <a:gd name="T65" fmla="*/ 298 h 320"/>
                <a:gd name="T66" fmla="*/ 161 w 322"/>
                <a:gd name="T67" fmla="*/ 262 h 320"/>
                <a:gd name="T68" fmla="*/ 176 w 322"/>
                <a:gd name="T69" fmla="*/ 298 h 320"/>
                <a:gd name="T70" fmla="*/ 145 w 322"/>
                <a:gd name="T71" fmla="*/ 298 h 320"/>
                <a:gd name="T72" fmla="*/ 185 w 322"/>
                <a:gd name="T73" fmla="*/ 213 h 320"/>
                <a:gd name="T74" fmla="*/ 161 w 322"/>
                <a:gd name="T75" fmla="*/ 224 h 320"/>
                <a:gd name="T76" fmla="*/ 136 w 322"/>
                <a:gd name="T77" fmla="*/ 213 h 320"/>
                <a:gd name="T78" fmla="*/ 96 w 322"/>
                <a:gd name="T79" fmla="*/ 21 h 320"/>
                <a:gd name="T80" fmla="*/ 225 w 322"/>
                <a:gd name="T81" fmla="*/ 21 h 320"/>
                <a:gd name="T82" fmla="*/ 185 w 322"/>
                <a:gd name="T83" fmla="*/ 213 h 320"/>
                <a:gd name="T84" fmla="*/ 255 w 322"/>
                <a:gd name="T85" fmla="*/ 161 h 320"/>
                <a:gd name="T86" fmla="*/ 225 w 322"/>
                <a:gd name="T87" fmla="*/ 186 h 320"/>
                <a:gd name="T88" fmla="*/ 245 w 322"/>
                <a:gd name="T89" fmla="*/ 77 h 320"/>
                <a:gd name="T90" fmla="*/ 283 w 322"/>
                <a:gd name="T91" fmla="*/ 81 h 320"/>
                <a:gd name="T92" fmla="*/ 255 w 322"/>
                <a:gd name="T93" fmla="*/ 161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2" h="320">
                  <a:moveTo>
                    <a:pt x="298" y="67"/>
                  </a:moveTo>
                  <a:cubicBezTo>
                    <a:pt x="286" y="54"/>
                    <a:pt x="268" y="50"/>
                    <a:pt x="246" y="55"/>
                  </a:cubicBezTo>
                  <a:cubicBezTo>
                    <a:pt x="247" y="30"/>
                    <a:pt x="246" y="12"/>
                    <a:pt x="246" y="10"/>
                  </a:cubicBezTo>
                  <a:cubicBezTo>
                    <a:pt x="246" y="4"/>
                    <a:pt x="241" y="0"/>
                    <a:pt x="235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0" y="0"/>
                    <a:pt x="76" y="4"/>
                    <a:pt x="75" y="10"/>
                  </a:cubicBezTo>
                  <a:cubicBezTo>
                    <a:pt x="75" y="12"/>
                    <a:pt x="75" y="30"/>
                    <a:pt x="76" y="55"/>
                  </a:cubicBezTo>
                  <a:cubicBezTo>
                    <a:pt x="54" y="50"/>
                    <a:pt x="35" y="54"/>
                    <a:pt x="23" y="67"/>
                  </a:cubicBezTo>
                  <a:cubicBezTo>
                    <a:pt x="0" y="92"/>
                    <a:pt x="12" y="140"/>
                    <a:pt x="52" y="177"/>
                  </a:cubicBezTo>
                  <a:cubicBezTo>
                    <a:pt x="67" y="191"/>
                    <a:pt x="85" y="207"/>
                    <a:pt x="104" y="213"/>
                  </a:cubicBezTo>
                  <a:cubicBezTo>
                    <a:pt x="105" y="213"/>
                    <a:pt x="106" y="213"/>
                    <a:pt x="107" y="213"/>
                  </a:cubicBezTo>
                  <a:cubicBezTo>
                    <a:pt x="108" y="213"/>
                    <a:pt x="109" y="213"/>
                    <a:pt x="109" y="213"/>
                  </a:cubicBezTo>
                  <a:cubicBezTo>
                    <a:pt x="113" y="218"/>
                    <a:pt x="117" y="223"/>
                    <a:pt x="121" y="227"/>
                  </a:cubicBezTo>
                  <a:cubicBezTo>
                    <a:pt x="128" y="235"/>
                    <a:pt x="136" y="240"/>
                    <a:pt x="146" y="243"/>
                  </a:cubicBezTo>
                  <a:cubicBezTo>
                    <a:pt x="119" y="305"/>
                    <a:pt x="119" y="305"/>
                    <a:pt x="119" y="305"/>
                  </a:cubicBezTo>
                  <a:cubicBezTo>
                    <a:pt x="117" y="308"/>
                    <a:pt x="118" y="312"/>
                    <a:pt x="120" y="315"/>
                  </a:cubicBezTo>
                  <a:cubicBezTo>
                    <a:pt x="122" y="318"/>
                    <a:pt x="125" y="320"/>
                    <a:pt x="129" y="320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6" y="320"/>
                    <a:pt x="200" y="318"/>
                    <a:pt x="202" y="315"/>
                  </a:cubicBezTo>
                  <a:cubicBezTo>
                    <a:pt x="204" y="312"/>
                    <a:pt x="204" y="308"/>
                    <a:pt x="202" y="305"/>
                  </a:cubicBezTo>
                  <a:cubicBezTo>
                    <a:pt x="176" y="243"/>
                    <a:pt x="176" y="243"/>
                    <a:pt x="176" y="243"/>
                  </a:cubicBezTo>
                  <a:cubicBezTo>
                    <a:pt x="185" y="240"/>
                    <a:pt x="193" y="235"/>
                    <a:pt x="201" y="227"/>
                  </a:cubicBezTo>
                  <a:cubicBezTo>
                    <a:pt x="205" y="223"/>
                    <a:pt x="209" y="218"/>
                    <a:pt x="212" y="213"/>
                  </a:cubicBezTo>
                  <a:cubicBezTo>
                    <a:pt x="213" y="213"/>
                    <a:pt x="213" y="213"/>
                    <a:pt x="214" y="213"/>
                  </a:cubicBezTo>
                  <a:cubicBezTo>
                    <a:pt x="215" y="213"/>
                    <a:pt x="216" y="213"/>
                    <a:pt x="217" y="213"/>
                  </a:cubicBezTo>
                  <a:cubicBezTo>
                    <a:pt x="236" y="207"/>
                    <a:pt x="254" y="191"/>
                    <a:pt x="270" y="177"/>
                  </a:cubicBezTo>
                  <a:cubicBezTo>
                    <a:pt x="309" y="140"/>
                    <a:pt x="322" y="92"/>
                    <a:pt x="298" y="67"/>
                  </a:cubicBezTo>
                  <a:close/>
                  <a:moveTo>
                    <a:pt x="66" y="161"/>
                  </a:moveTo>
                  <a:cubicBezTo>
                    <a:pt x="37" y="134"/>
                    <a:pt x="24" y="97"/>
                    <a:pt x="39" y="81"/>
                  </a:cubicBezTo>
                  <a:cubicBezTo>
                    <a:pt x="46" y="74"/>
                    <a:pt x="60" y="72"/>
                    <a:pt x="77" y="77"/>
                  </a:cubicBezTo>
                  <a:cubicBezTo>
                    <a:pt x="79" y="112"/>
                    <a:pt x="85" y="153"/>
                    <a:pt x="97" y="186"/>
                  </a:cubicBezTo>
                  <a:cubicBezTo>
                    <a:pt x="86" y="179"/>
                    <a:pt x="76" y="170"/>
                    <a:pt x="66" y="161"/>
                  </a:cubicBezTo>
                  <a:close/>
                  <a:moveTo>
                    <a:pt x="145" y="298"/>
                  </a:moveTo>
                  <a:cubicBezTo>
                    <a:pt x="161" y="262"/>
                    <a:pt x="161" y="262"/>
                    <a:pt x="161" y="262"/>
                  </a:cubicBezTo>
                  <a:cubicBezTo>
                    <a:pt x="176" y="298"/>
                    <a:pt x="176" y="298"/>
                    <a:pt x="176" y="298"/>
                  </a:cubicBezTo>
                  <a:lnTo>
                    <a:pt x="145" y="298"/>
                  </a:lnTo>
                  <a:close/>
                  <a:moveTo>
                    <a:pt x="185" y="213"/>
                  </a:moveTo>
                  <a:cubicBezTo>
                    <a:pt x="178" y="220"/>
                    <a:pt x="170" y="224"/>
                    <a:pt x="161" y="224"/>
                  </a:cubicBezTo>
                  <a:cubicBezTo>
                    <a:pt x="151" y="224"/>
                    <a:pt x="143" y="220"/>
                    <a:pt x="136" y="213"/>
                  </a:cubicBezTo>
                  <a:cubicBezTo>
                    <a:pt x="102" y="177"/>
                    <a:pt x="96" y="70"/>
                    <a:pt x="96" y="21"/>
                  </a:cubicBezTo>
                  <a:cubicBezTo>
                    <a:pt x="225" y="21"/>
                    <a:pt x="225" y="21"/>
                    <a:pt x="225" y="21"/>
                  </a:cubicBezTo>
                  <a:cubicBezTo>
                    <a:pt x="225" y="70"/>
                    <a:pt x="220" y="177"/>
                    <a:pt x="185" y="213"/>
                  </a:cubicBezTo>
                  <a:close/>
                  <a:moveTo>
                    <a:pt x="255" y="161"/>
                  </a:moveTo>
                  <a:cubicBezTo>
                    <a:pt x="246" y="170"/>
                    <a:pt x="235" y="179"/>
                    <a:pt x="225" y="186"/>
                  </a:cubicBezTo>
                  <a:cubicBezTo>
                    <a:pt x="237" y="153"/>
                    <a:pt x="242" y="112"/>
                    <a:pt x="245" y="77"/>
                  </a:cubicBezTo>
                  <a:cubicBezTo>
                    <a:pt x="261" y="72"/>
                    <a:pt x="275" y="74"/>
                    <a:pt x="283" y="81"/>
                  </a:cubicBezTo>
                  <a:cubicBezTo>
                    <a:pt x="297" y="97"/>
                    <a:pt x="284" y="134"/>
                    <a:pt x="255" y="1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  <p:grpSp>
        <p:nvGrpSpPr>
          <p:cNvPr id="113" name="Group 541"/>
          <p:cNvGrpSpPr>
            <a:grpSpLocks noChangeAspect="1"/>
          </p:cNvGrpSpPr>
          <p:nvPr/>
        </p:nvGrpSpPr>
        <p:grpSpPr bwMode="auto">
          <a:xfrm>
            <a:off x="4762430" y="2688141"/>
            <a:ext cx="250695" cy="250695"/>
            <a:chOff x="5326" y="2494"/>
            <a:chExt cx="340" cy="340"/>
          </a:xfrm>
          <a:solidFill>
            <a:schemeClr val="tx1"/>
          </a:solidFill>
        </p:grpSpPr>
        <p:sp>
          <p:nvSpPr>
            <p:cNvPr id="114" name="Freeform 542"/>
            <p:cNvSpPr>
              <a:spLocks noEditPoints="1"/>
            </p:cNvSpPr>
            <p:nvPr/>
          </p:nvSpPr>
          <p:spPr bwMode="auto">
            <a:xfrm>
              <a:off x="5430" y="2558"/>
              <a:ext cx="132" cy="212"/>
            </a:xfrm>
            <a:custGeom>
              <a:avLst/>
              <a:gdLst>
                <a:gd name="T0" fmla="*/ 99 w 199"/>
                <a:gd name="T1" fmla="*/ 0 h 320"/>
                <a:gd name="T2" fmla="*/ 99 w 199"/>
                <a:gd name="T3" fmla="*/ 0 h 320"/>
                <a:gd name="T4" fmla="*/ 99 w 199"/>
                <a:gd name="T5" fmla="*/ 0 h 320"/>
                <a:gd name="T6" fmla="*/ 99 w 199"/>
                <a:gd name="T7" fmla="*/ 0 h 320"/>
                <a:gd name="T8" fmla="*/ 98 w 199"/>
                <a:gd name="T9" fmla="*/ 0 h 320"/>
                <a:gd name="T10" fmla="*/ 0 w 199"/>
                <a:gd name="T11" fmla="*/ 95 h 320"/>
                <a:gd name="T12" fmla="*/ 19 w 199"/>
                <a:gd name="T13" fmla="*/ 158 h 320"/>
                <a:gd name="T14" fmla="*/ 45 w 199"/>
                <a:gd name="T15" fmla="*/ 213 h 320"/>
                <a:gd name="T16" fmla="*/ 45 w 199"/>
                <a:gd name="T17" fmla="*/ 245 h 320"/>
                <a:gd name="T18" fmla="*/ 46 w 199"/>
                <a:gd name="T19" fmla="*/ 246 h 320"/>
                <a:gd name="T20" fmla="*/ 45 w 199"/>
                <a:gd name="T21" fmla="*/ 247 h 320"/>
                <a:gd name="T22" fmla="*/ 56 w 199"/>
                <a:gd name="T23" fmla="*/ 311 h 320"/>
                <a:gd name="T24" fmla="*/ 67 w 199"/>
                <a:gd name="T25" fmla="*/ 320 h 320"/>
                <a:gd name="T26" fmla="*/ 131 w 199"/>
                <a:gd name="T27" fmla="*/ 320 h 320"/>
                <a:gd name="T28" fmla="*/ 141 w 199"/>
                <a:gd name="T29" fmla="*/ 311 h 320"/>
                <a:gd name="T30" fmla="*/ 152 w 199"/>
                <a:gd name="T31" fmla="*/ 247 h 320"/>
                <a:gd name="T32" fmla="*/ 152 w 199"/>
                <a:gd name="T33" fmla="*/ 246 h 320"/>
                <a:gd name="T34" fmla="*/ 152 w 199"/>
                <a:gd name="T35" fmla="*/ 245 h 320"/>
                <a:gd name="T36" fmla="*/ 152 w 199"/>
                <a:gd name="T37" fmla="*/ 213 h 320"/>
                <a:gd name="T38" fmla="*/ 179 w 199"/>
                <a:gd name="T39" fmla="*/ 158 h 320"/>
                <a:gd name="T40" fmla="*/ 199 w 199"/>
                <a:gd name="T41" fmla="*/ 95 h 320"/>
                <a:gd name="T42" fmla="*/ 99 w 199"/>
                <a:gd name="T43" fmla="*/ 0 h 320"/>
                <a:gd name="T44" fmla="*/ 122 w 199"/>
                <a:gd name="T45" fmla="*/ 298 h 320"/>
                <a:gd name="T46" fmla="*/ 76 w 199"/>
                <a:gd name="T47" fmla="*/ 298 h 320"/>
                <a:gd name="T48" fmla="*/ 69 w 199"/>
                <a:gd name="T49" fmla="*/ 256 h 320"/>
                <a:gd name="T50" fmla="*/ 129 w 199"/>
                <a:gd name="T51" fmla="*/ 256 h 320"/>
                <a:gd name="T52" fmla="*/ 122 w 199"/>
                <a:gd name="T53" fmla="*/ 298 h 320"/>
                <a:gd name="T54" fmla="*/ 161 w 199"/>
                <a:gd name="T55" fmla="*/ 147 h 320"/>
                <a:gd name="T56" fmla="*/ 131 w 199"/>
                <a:gd name="T57" fmla="*/ 213 h 320"/>
                <a:gd name="T58" fmla="*/ 131 w 199"/>
                <a:gd name="T59" fmla="*/ 234 h 320"/>
                <a:gd name="T60" fmla="*/ 109 w 199"/>
                <a:gd name="T61" fmla="*/ 234 h 320"/>
                <a:gd name="T62" fmla="*/ 109 w 199"/>
                <a:gd name="T63" fmla="*/ 153 h 320"/>
                <a:gd name="T64" fmla="*/ 128 w 199"/>
                <a:gd name="T65" fmla="*/ 135 h 320"/>
                <a:gd name="T66" fmla="*/ 128 w 199"/>
                <a:gd name="T67" fmla="*/ 120 h 320"/>
                <a:gd name="T68" fmla="*/ 112 w 199"/>
                <a:gd name="T69" fmla="*/ 120 h 320"/>
                <a:gd name="T70" fmla="*/ 99 w 199"/>
                <a:gd name="T71" fmla="*/ 134 h 320"/>
                <a:gd name="T72" fmla="*/ 85 w 199"/>
                <a:gd name="T73" fmla="*/ 120 h 320"/>
                <a:gd name="T74" fmla="*/ 70 w 199"/>
                <a:gd name="T75" fmla="*/ 120 h 320"/>
                <a:gd name="T76" fmla="*/ 70 w 199"/>
                <a:gd name="T77" fmla="*/ 135 h 320"/>
                <a:gd name="T78" fmla="*/ 88 w 199"/>
                <a:gd name="T79" fmla="*/ 153 h 320"/>
                <a:gd name="T80" fmla="*/ 88 w 199"/>
                <a:gd name="T81" fmla="*/ 234 h 320"/>
                <a:gd name="T82" fmla="*/ 67 w 199"/>
                <a:gd name="T83" fmla="*/ 234 h 320"/>
                <a:gd name="T84" fmla="*/ 67 w 199"/>
                <a:gd name="T85" fmla="*/ 213 h 320"/>
                <a:gd name="T86" fmla="*/ 37 w 199"/>
                <a:gd name="T87" fmla="*/ 146 h 320"/>
                <a:gd name="T88" fmla="*/ 21 w 199"/>
                <a:gd name="T89" fmla="*/ 95 h 320"/>
                <a:gd name="T90" fmla="*/ 99 w 199"/>
                <a:gd name="T91" fmla="*/ 21 h 320"/>
                <a:gd name="T92" fmla="*/ 177 w 199"/>
                <a:gd name="T93" fmla="*/ 95 h 320"/>
                <a:gd name="T94" fmla="*/ 161 w 199"/>
                <a:gd name="T95" fmla="*/ 147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9" h="320">
                  <a:moveTo>
                    <a:pt x="99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8" y="0"/>
                  </a:cubicBezTo>
                  <a:cubicBezTo>
                    <a:pt x="45" y="0"/>
                    <a:pt x="0" y="44"/>
                    <a:pt x="0" y="95"/>
                  </a:cubicBezTo>
                  <a:cubicBezTo>
                    <a:pt x="0" y="129"/>
                    <a:pt x="18" y="157"/>
                    <a:pt x="19" y="158"/>
                  </a:cubicBezTo>
                  <a:cubicBezTo>
                    <a:pt x="32" y="179"/>
                    <a:pt x="45" y="206"/>
                    <a:pt x="45" y="213"/>
                  </a:cubicBezTo>
                  <a:cubicBezTo>
                    <a:pt x="45" y="245"/>
                    <a:pt x="45" y="245"/>
                    <a:pt x="45" y="245"/>
                  </a:cubicBezTo>
                  <a:cubicBezTo>
                    <a:pt x="45" y="245"/>
                    <a:pt x="45" y="246"/>
                    <a:pt x="46" y="246"/>
                  </a:cubicBezTo>
                  <a:cubicBezTo>
                    <a:pt x="46" y="246"/>
                    <a:pt x="45" y="246"/>
                    <a:pt x="45" y="247"/>
                  </a:cubicBezTo>
                  <a:cubicBezTo>
                    <a:pt x="56" y="311"/>
                    <a:pt x="56" y="311"/>
                    <a:pt x="56" y="311"/>
                  </a:cubicBezTo>
                  <a:cubicBezTo>
                    <a:pt x="57" y="316"/>
                    <a:pt x="61" y="320"/>
                    <a:pt x="67" y="320"/>
                  </a:cubicBezTo>
                  <a:cubicBezTo>
                    <a:pt x="131" y="320"/>
                    <a:pt x="131" y="320"/>
                    <a:pt x="131" y="320"/>
                  </a:cubicBezTo>
                  <a:cubicBezTo>
                    <a:pt x="136" y="320"/>
                    <a:pt x="140" y="316"/>
                    <a:pt x="141" y="311"/>
                  </a:cubicBezTo>
                  <a:cubicBezTo>
                    <a:pt x="152" y="247"/>
                    <a:pt x="152" y="247"/>
                    <a:pt x="152" y="247"/>
                  </a:cubicBezTo>
                  <a:cubicBezTo>
                    <a:pt x="152" y="246"/>
                    <a:pt x="152" y="246"/>
                    <a:pt x="152" y="246"/>
                  </a:cubicBezTo>
                  <a:cubicBezTo>
                    <a:pt x="152" y="246"/>
                    <a:pt x="152" y="245"/>
                    <a:pt x="152" y="245"/>
                  </a:cubicBezTo>
                  <a:cubicBezTo>
                    <a:pt x="152" y="213"/>
                    <a:pt x="152" y="213"/>
                    <a:pt x="152" y="213"/>
                  </a:cubicBezTo>
                  <a:cubicBezTo>
                    <a:pt x="152" y="206"/>
                    <a:pt x="166" y="179"/>
                    <a:pt x="179" y="158"/>
                  </a:cubicBezTo>
                  <a:cubicBezTo>
                    <a:pt x="180" y="157"/>
                    <a:pt x="199" y="129"/>
                    <a:pt x="199" y="95"/>
                  </a:cubicBezTo>
                  <a:cubicBezTo>
                    <a:pt x="199" y="44"/>
                    <a:pt x="153" y="0"/>
                    <a:pt x="99" y="0"/>
                  </a:cubicBezTo>
                  <a:close/>
                  <a:moveTo>
                    <a:pt x="122" y="298"/>
                  </a:moveTo>
                  <a:cubicBezTo>
                    <a:pt x="76" y="298"/>
                    <a:pt x="76" y="298"/>
                    <a:pt x="76" y="298"/>
                  </a:cubicBezTo>
                  <a:cubicBezTo>
                    <a:pt x="69" y="256"/>
                    <a:pt x="69" y="256"/>
                    <a:pt x="69" y="256"/>
                  </a:cubicBezTo>
                  <a:cubicBezTo>
                    <a:pt x="129" y="256"/>
                    <a:pt x="129" y="256"/>
                    <a:pt x="129" y="256"/>
                  </a:cubicBezTo>
                  <a:lnTo>
                    <a:pt x="122" y="298"/>
                  </a:lnTo>
                  <a:close/>
                  <a:moveTo>
                    <a:pt x="161" y="147"/>
                  </a:moveTo>
                  <a:cubicBezTo>
                    <a:pt x="154" y="158"/>
                    <a:pt x="131" y="196"/>
                    <a:pt x="131" y="213"/>
                  </a:cubicBezTo>
                  <a:cubicBezTo>
                    <a:pt x="131" y="234"/>
                    <a:pt x="131" y="234"/>
                    <a:pt x="131" y="234"/>
                  </a:cubicBezTo>
                  <a:cubicBezTo>
                    <a:pt x="109" y="234"/>
                    <a:pt x="109" y="234"/>
                    <a:pt x="109" y="234"/>
                  </a:cubicBezTo>
                  <a:cubicBezTo>
                    <a:pt x="109" y="153"/>
                    <a:pt x="109" y="153"/>
                    <a:pt x="109" y="153"/>
                  </a:cubicBezTo>
                  <a:cubicBezTo>
                    <a:pt x="128" y="135"/>
                    <a:pt x="128" y="135"/>
                    <a:pt x="128" y="135"/>
                  </a:cubicBezTo>
                  <a:cubicBezTo>
                    <a:pt x="132" y="131"/>
                    <a:pt x="132" y="124"/>
                    <a:pt x="128" y="120"/>
                  </a:cubicBezTo>
                  <a:cubicBezTo>
                    <a:pt x="123" y="116"/>
                    <a:pt x="117" y="116"/>
                    <a:pt x="112" y="120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85" y="120"/>
                    <a:pt x="85" y="120"/>
                    <a:pt x="85" y="120"/>
                  </a:cubicBezTo>
                  <a:cubicBezTo>
                    <a:pt x="81" y="116"/>
                    <a:pt x="74" y="116"/>
                    <a:pt x="70" y="120"/>
                  </a:cubicBezTo>
                  <a:cubicBezTo>
                    <a:pt x="66" y="124"/>
                    <a:pt x="66" y="131"/>
                    <a:pt x="70" y="135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234"/>
                    <a:pt x="88" y="234"/>
                    <a:pt x="88" y="234"/>
                  </a:cubicBezTo>
                  <a:cubicBezTo>
                    <a:pt x="67" y="234"/>
                    <a:pt x="67" y="234"/>
                    <a:pt x="67" y="234"/>
                  </a:cubicBezTo>
                  <a:cubicBezTo>
                    <a:pt x="67" y="213"/>
                    <a:pt x="67" y="213"/>
                    <a:pt x="67" y="213"/>
                  </a:cubicBezTo>
                  <a:cubicBezTo>
                    <a:pt x="67" y="196"/>
                    <a:pt x="44" y="158"/>
                    <a:pt x="37" y="146"/>
                  </a:cubicBezTo>
                  <a:cubicBezTo>
                    <a:pt x="37" y="146"/>
                    <a:pt x="21" y="123"/>
                    <a:pt x="21" y="95"/>
                  </a:cubicBezTo>
                  <a:cubicBezTo>
                    <a:pt x="21" y="55"/>
                    <a:pt x="57" y="21"/>
                    <a:pt x="99" y="21"/>
                  </a:cubicBezTo>
                  <a:cubicBezTo>
                    <a:pt x="141" y="21"/>
                    <a:pt x="177" y="55"/>
                    <a:pt x="177" y="95"/>
                  </a:cubicBezTo>
                  <a:cubicBezTo>
                    <a:pt x="177" y="122"/>
                    <a:pt x="161" y="146"/>
                    <a:pt x="161" y="1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15" name="Freeform 543"/>
            <p:cNvSpPr>
              <a:spLocks noEditPoints="1"/>
            </p:cNvSpPr>
            <p:nvPr/>
          </p:nvSpPr>
          <p:spPr bwMode="auto">
            <a:xfrm>
              <a:off x="5326" y="2494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  <p:grpSp>
        <p:nvGrpSpPr>
          <p:cNvPr id="116" name="Group 432"/>
          <p:cNvGrpSpPr>
            <a:grpSpLocks noChangeAspect="1"/>
          </p:cNvGrpSpPr>
          <p:nvPr/>
        </p:nvGrpSpPr>
        <p:grpSpPr bwMode="auto">
          <a:xfrm>
            <a:off x="4756308" y="2127249"/>
            <a:ext cx="252494" cy="253235"/>
            <a:chOff x="3505" y="1546"/>
            <a:chExt cx="340" cy="341"/>
          </a:xfrm>
          <a:solidFill>
            <a:schemeClr val="tx1"/>
          </a:solidFill>
        </p:grpSpPr>
        <p:sp>
          <p:nvSpPr>
            <p:cNvPr id="117" name="Freeform 433"/>
            <p:cNvSpPr>
              <a:spLocks noEditPoints="1"/>
            </p:cNvSpPr>
            <p:nvPr/>
          </p:nvSpPr>
          <p:spPr bwMode="auto">
            <a:xfrm>
              <a:off x="3569" y="1610"/>
              <a:ext cx="212" cy="213"/>
            </a:xfrm>
            <a:custGeom>
              <a:avLst/>
              <a:gdLst>
                <a:gd name="T0" fmla="*/ 309 w 320"/>
                <a:gd name="T1" fmla="*/ 149 h 320"/>
                <a:gd name="T2" fmla="*/ 287 w 320"/>
                <a:gd name="T3" fmla="*/ 149 h 320"/>
                <a:gd name="T4" fmla="*/ 170 w 320"/>
                <a:gd name="T5" fmla="*/ 32 h 320"/>
                <a:gd name="T6" fmla="*/ 170 w 320"/>
                <a:gd name="T7" fmla="*/ 10 h 320"/>
                <a:gd name="T8" fmla="*/ 160 w 320"/>
                <a:gd name="T9" fmla="*/ 0 h 320"/>
                <a:gd name="T10" fmla="*/ 149 w 320"/>
                <a:gd name="T11" fmla="*/ 10 h 320"/>
                <a:gd name="T12" fmla="*/ 149 w 320"/>
                <a:gd name="T13" fmla="*/ 32 h 320"/>
                <a:gd name="T14" fmla="*/ 32 w 320"/>
                <a:gd name="T15" fmla="*/ 149 h 320"/>
                <a:gd name="T16" fmla="*/ 10 w 320"/>
                <a:gd name="T17" fmla="*/ 149 h 320"/>
                <a:gd name="T18" fmla="*/ 0 w 320"/>
                <a:gd name="T19" fmla="*/ 160 h 320"/>
                <a:gd name="T20" fmla="*/ 10 w 320"/>
                <a:gd name="T21" fmla="*/ 170 h 320"/>
                <a:gd name="T22" fmla="*/ 32 w 320"/>
                <a:gd name="T23" fmla="*/ 170 h 320"/>
                <a:gd name="T24" fmla="*/ 149 w 320"/>
                <a:gd name="T25" fmla="*/ 287 h 320"/>
                <a:gd name="T26" fmla="*/ 149 w 320"/>
                <a:gd name="T27" fmla="*/ 309 h 320"/>
                <a:gd name="T28" fmla="*/ 160 w 320"/>
                <a:gd name="T29" fmla="*/ 320 h 320"/>
                <a:gd name="T30" fmla="*/ 170 w 320"/>
                <a:gd name="T31" fmla="*/ 309 h 320"/>
                <a:gd name="T32" fmla="*/ 170 w 320"/>
                <a:gd name="T33" fmla="*/ 287 h 320"/>
                <a:gd name="T34" fmla="*/ 287 w 320"/>
                <a:gd name="T35" fmla="*/ 170 h 320"/>
                <a:gd name="T36" fmla="*/ 309 w 320"/>
                <a:gd name="T37" fmla="*/ 170 h 320"/>
                <a:gd name="T38" fmla="*/ 320 w 320"/>
                <a:gd name="T39" fmla="*/ 160 h 320"/>
                <a:gd name="T40" fmla="*/ 309 w 320"/>
                <a:gd name="T41" fmla="*/ 149 h 320"/>
                <a:gd name="T42" fmla="*/ 266 w 320"/>
                <a:gd name="T43" fmla="*/ 149 h 320"/>
                <a:gd name="T44" fmla="*/ 233 w 320"/>
                <a:gd name="T45" fmla="*/ 149 h 320"/>
                <a:gd name="T46" fmla="*/ 170 w 320"/>
                <a:gd name="T47" fmla="*/ 86 h 320"/>
                <a:gd name="T48" fmla="*/ 170 w 320"/>
                <a:gd name="T49" fmla="*/ 54 h 320"/>
                <a:gd name="T50" fmla="*/ 266 w 320"/>
                <a:gd name="T51" fmla="*/ 149 h 320"/>
                <a:gd name="T52" fmla="*/ 149 w 320"/>
                <a:gd name="T53" fmla="*/ 149 h 320"/>
                <a:gd name="T54" fmla="*/ 107 w 320"/>
                <a:gd name="T55" fmla="*/ 149 h 320"/>
                <a:gd name="T56" fmla="*/ 149 w 320"/>
                <a:gd name="T57" fmla="*/ 107 h 320"/>
                <a:gd name="T58" fmla="*/ 149 w 320"/>
                <a:gd name="T59" fmla="*/ 149 h 320"/>
                <a:gd name="T60" fmla="*/ 149 w 320"/>
                <a:gd name="T61" fmla="*/ 170 h 320"/>
                <a:gd name="T62" fmla="*/ 149 w 320"/>
                <a:gd name="T63" fmla="*/ 212 h 320"/>
                <a:gd name="T64" fmla="*/ 107 w 320"/>
                <a:gd name="T65" fmla="*/ 170 h 320"/>
                <a:gd name="T66" fmla="*/ 149 w 320"/>
                <a:gd name="T67" fmla="*/ 170 h 320"/>
                <a:gd name="T68" fmla="*/ 170 w 320"/>
                <a:gd name="T69" fmla="*/ 170 h 320"/>
                <a:gd name="T70" fmla="*/ 212 w 320"/>
                <a:gd name="T71" fmla="*/ 170 h 320"/>
                <a:gd name="T72" fmla="*/ 170 w 320"/>
                <a:gd name="T73" fmla="*/ 212 h 320"/>
                <a:gd name="T74" fmla="*/ 170 w 320"/>
                <a:gd name="T75" fmla="*/ 170 h 320"/>
                <a:gd name="T76" fmla="*/ 170 w 320"/>
                <a:gd name="T77" fmla="*/ 149 h 320"/>
                <a:gd name="T78" fmla="*/ 170 w 320"/>
                <a:gd name="T79" fmla="*/ 107 h 320"/>
                <a:gd name="T80" fmla="*/ 212 w 320"/>
                <a:gd name="T81" fmla="*/ 149 h 320"/>
                <a:gd name="T82" fmla="*/ 170 w 320"/>
                <a:gd name="T83" fmla="*/ 149 h 320"/>
                <a:gd name="T84" fmla="*/ 149 w 320"/>
                <a:gd name="T85" fmla="*/ 54 h 320"/>
                <a:gd name="T86" fmla="*/ 149 w 320"/>
                <a:gd name="T87" fmla="*/ 86 h 320"/>
                <a:gd name="T88" fmla="*/ 86 w 320"/>
                <a:gd name="T89" fmla="*/ 149 h 320"/>
                <a:gd name="T90" fmla="*/ 54 w 320"/>
                <a:gd name="T91" fmla="*/ 149 h 320"/>
                <a:gd name="T92" fmla="*/ 149 w 320"/>
                <a:gd name="T93" fmla="*/ 54 h 320"/>
                <a:gd name="T94" fmla="*/ 54 w 320"/>
                <a:gd name="T95" fmla="*/ 170 h 320"/>
                <a:gd name="T96" fmla="*/ 86 w 320"/>
                <a:gd name="T97" fmla="*/ 170 h 320"/>
                <a:gd name="T98" fmla="*/ 149 w 320"/>
                <a:gd name="T99" fmla="*/ 233 h 320"/>
                <a:gd name="T100" fmla="*/ 149 w 320"/>
                <a:gd name="T101" fmla="*/ 266 h 320"/>
                <a:gd name="T102" fmla="*/ 54 w 320"/>
                <a:gd name="T103" fmla="*/ 170 h 320"/>
                <a:gd name="T104" fmla="*/ 170 w 320"/>
                <a:gd name="T105" fmla="*/ 266 h 320"/>
                <a:gd name="T106" fmla="*/ 170 w 320"/>
                <a:gd name="T107" fmla="*/ 233 h 320"/>
                <a:gd name="T108" fmla="*/ 233 w 320"/>
                <a:gd name="T109" fmla="*/ 170 h 320"/>
                <a:gd name="T110" fmla="*/ 266 w 320"/>
                <a:gd name="T111" fmla="*/ 170 h 320"/>
                <a:gd name="T112" fmla="*/ 170 w 320"/>
                <a:gd name="T113" fmla="*/ 26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0" h="320">
                  <a:moveTo>
                    <a:pt x="309" y="149"/>
                  </a:moveTo>
                  <a:cubicBezTo>
                    <a:pt x="287" y="149"/>
                    <a:pt x="287" y="149"/>
                    <a:pt x="287" y="149"/>
                  </a:cubicBezTo>
                  <a:cubicBezTo>
                    <a:pt x="282" y="87"/>
                    <a:pt x="232" y="37"/>
                    <a:pt x="170" y="32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4"/>
                    <a:pt x="166" y="0"/>
                    <a:pt x="160" y="0"/>
                  </a:cubicBezTo>
                  <a:cubicBezTo>
                    <a:pt x="154" y="0"/>
                    <a:pt x="149" y="4"/>
                    <a:pt x="149" y="10"/>
                  </a:cubicBezTo>
                  <a:cubicBezTo>
                    <a:pt x="149" y="32"/>
                    <a:pt x="149" y="32"/>
                    <a:pt x="149" y="32"/>
                  </a:cubicBezTo>
                  <a:cubicBezTo>
                    <a:pt x="87" y="37"/>
                    <a:pt x="37" y="87"/>
                    <a:pt x="32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4" y="149"/>
                    <a:pt x="0" y="154"/>
                    <a:pt x="0" y="160"/>
                  </a:cubicBezTo>
                  <a:cubicBezTo>
                    <a:pt x="0" y="166"/>
                    <a:pt x="4" y="170"/>
                    <a:pt x="10" y="170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7" y="232"/>
                    <a:pt x="87" y="282"/>
                    <a:pt x="149" y="287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15"/>
                    <a:pt x="154" y="320"/>
                    <a:pt x="160" y="320"/>
                  </a:cubicBezTo>
                  <a:cubicBezTo>
                    <a:pt x="166" y="320"/>
                    <a:pt x="170" y="315"/>
                    <a:pt x="170" y="309"/>
                  </a:cubicBezTo>
                  <a:cubicBezTo>
                    <a:pt x="170" y="287"/>
                    <a:pt x="170" y="287"/>
                    <a:pt x="170" y="287"/>
                  </a:cubicBezTo>
                  <a:cubicBezTo>
                    <a:pt x="232" y="282"/>
                    <a:pt x="282" y="232"/>
                    <a:pt x="287" y="170"/>
                  </a:cubicBezTo>
                  <a:cubicBezTo>
                    <a:pt x="309" y="170"/>
                    <a:pt x="309" y="170"/>
                    <a:pt x="309" y="170"/>
                  </a:cubicBezTo>
                  <a:cubicBezTo>
                    <a:pt x="315" y="170"/>
                    <a:pt x="320" y="166"/>
                    <a:pt x="320" y="160"/>
                  </a:cubicBezTo>
                  <a:cubicBezTo>
                    <a:pt x="320" y="154"/>
                    <a:pt x="315" y="149"/>
                    <a:pt x="309" y="149"/>
                  </a:cubicBezTo>
                  <a:close/>
                  <a:moveTo>
                    <a:pt x="266" y="149"/>
                  </a:moveTo>
                  <a:cubicBezTo>
                    <a:pt x="233" y="149"/>
                    <a:pt x="233" y="149"/>
                    <a:pt x="233" y="149"/>
                  </a:cubicBezTo>
                  <a:cubicBezTo>
                    <a:pt x="229" y="116"/>
                    <a:pt x="203" y="91"/>
                    <a:pt x="170" y="86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221" y="59"/>
                    <a:pt x="261" y="99"/>
                    <a:pt x="266" y="149"/>
                  </a:cubicBezTo>
                  <a:close/>
                  <a:moveTo>
                    <a:pt x="149" y="149"/>
                  </a:moveTo>
                  <a:cubicBezTo>
                    <a:pt x="107" y="149"/>
                    <a:pt x="107" y="149"/>
                    <a:pt x="107" y="149"/>
                  </a:cubicBezTo>
                  <a:cubicBezTo>
                    <a:pt x="112" y="128"/>
                    <a:pt x="128" y="112"/>
                    <a:pt x="149" y="107"/>
                  </a:cubicBezTo>
                  <a:lnTo>
                    <a:pt x="149" y="149"/>
                  </a:lnTo>
                  <a:close/>
                  <a:moveTo>
                    <a:pt x="149" y="170"/>
                  </a:moveTo>
                  <a:cubicBezTo>
                    <a:pt x="149" y="212"/>
                    <a:pt x="149" y="212"/>
                    <a:pt x="149" y="212"/>
                  </a:cubicBezTo>
                  <a:cubicBezTo>
                    <a:pt x="128" y="208"/>
                    <a:pt x="112" y="191"/>
                    <a:pt x="107" y="170"/>
                  </a:cubicBezTo>
                  <a:lnTo>
                    <a:pt x="149" y="170"/>
                  </a:lnTo>
                  <a:close/>
                  <a:moveTo>
                    <a:pt x="170" y="170"/>
                  </a:moveTo>
                  <a:cubicBezTo>
                    <a:pt x="212" y="170"/>
                    <a:pt x="212" y="170"/>
                    <a:pt x="212" y="170"/>
                  </a:cubicBezTo>
                  <a:cubicBezTo>
                    <a:pt x="208" y="191"/>
                    <a:pt x="191" y="208"/>
                    <a:pt x="170" y="212"/>
                  </a:cubicBezTo>
                  <a:lnTo>
                    <a:pt x="170" y="170"/>
                  </a:lnTo>
                  <a:close/>
                  <a:moveTo>
                    <a:pt x="170" y="149"/>
                  </a:moveTo>
                  <a:cubicBezTo>
                    <a:pt x="170" y="107"/>
                    <a:pt x="170" y="107"/>
                    <a:pt x="170" y="107"/>
                  </a:cubicBezTo>
                  <a:cubicBezTo>
                    <a:pt x="191" y="112"/>
                    <a:pt x="208" y="128"/>
                    <a:pt x="212" y="149"/>
                  </a:cubicBezTo>
                  <a:lnTo>
                    <a:pt x="170" y="149"/>
                  </a:lnTo>
                  <a:close/>
                  <a:moveTo>
                    <a:pt x="149" y="54"/>
                  </a:moveTo>
                  <a:cubicBezTo>
                    <a:pt x="149" y="86"/>
                    <a:pt x="149" y="86"/>
                    <a:pt x="149" y="86"/>
                  </a:cubicBezTo>
                  <a:cubicBezTo>
                    <a:pt x="116" y="91"/>
                    <a:pt x="91" y="116"/>
                    <a:pt x="86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9" y="99"/>
                    <a:pt x="99" y="59"/>
                    <a:pt x="149" y="54"/>
                  </a:cubicBezTo>
                  <a:close/>
                  <a:moveTo>
                    <a:pt x="54" y="170"/>
                  </a:moveTo>
                  <a:cubicBezTo>
                    <a:pt x="86" y="170"/>
                    <a:pt x="86" y="170"/>
                    <a:pt x="86" y="170"/>
                  </a:cubicBezTo>
                  <a:cubicBezTo>
                    <a:pt x="91" y="203"/>
                    <a:pt x="116" y="229"/>
                    <a:pt x="149" y="233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99" y="261"/>
                    <a:pt x="59" y="221"/>
                    <a:pt x="54" y="170"/>
                  </a:cubicBezTo>
                  <a:close/>
                  <a:moveTo>
                    <a:pt x="170" y="266"/>
                  </a:moveTo>
                  <a:cubicBezTo>
                    <a:pt x="170" y="233"/>
                    <a:pt x="170" y="233"/>
                    <a:pt x="170" y="233"/>
                  </a:cubicBezTo>
                  <a:cubicBezTo>
                    <a:pt x="203" y="229"/>
                    <a:pt x="229" y="203"/>
                    <a:pt x="233" y="170"/>
                  </a:cubicBezTo>
                  <a:cubicBezTo>
                    <a:pt x="266" y="170"/>
                    <a:pt x="266" y="170"/>
                    <a:pt x="266" y="170"/>
                  </a:cubicBezTo>
                  <a:cubicBezTo>
                    <a:pt x="261" y="221"/>
                    <a:pt x="221" y="261"/>
                    <a:pt x="170" y="266"/>
                  </a:cubicBezTo>
                  <a:close/>
                </a:path>
              </a:pathLst>
            </a:custGeom>
            <a:grpFill/>
            <a:ln>
              <a:solidFill>
                <a:srgbClr val="86BC25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18" name="Freeform 434"/>
            <p:cNvSpPr>
              <a:spLocks noEditPoints="1"/>
            </p:cNvSpPr>
            <p:nvPr/>
          </p:nvSpPr>
          <p:spPr bwMode="auto">
            <a:xfrm>
              <a:off x="3505" y="1546"/>
              <a:ext cx="340" cy="341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rgbClr val="86BC25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  <p:pic>
        <p:nvPicPr>
          <p:cNvPr id="10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5632" y="285029"/>
            <a:ext cx="1498912" cy="85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18"/>
          <p:cNvCxnSpPr/>
          <p:nvPr/>
        </p:nvCxnSpPr>
        <p:spPr>
          <a:xfrm>
            <a:off x="5258446" y="2422504"/>
            <a:ext cx="1846659" cy="0"/>
          </a:xfrm>
          <a:prstGeom prst="line">
            <a:avLst/>
          </a:prstGeom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89"/>
          <p:cNvSpPr txBox="1"/>
          <p:nvPr/>
        </p:nvSpPr>
        <p:spPr>
          <a:xfrm>
            <a:off x="5258446" y="3230616"/>
            <a:ext cx="1543685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项目计划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&amp;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成员</a:t>
            </a:r>
            <a:endParaRPr kumimoji="0" lang="zh-CN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5" name="Group 638"/>
          <p:cNvGrpSpPr>
            <a:grpSpLocks noChangeAspect="1"/>
          </p:cNvGrpSpPr>
          <p:nvPr/>
        </p:nvGrpSpPr>
        <p:grpSpPr bwMode="auto">
          <a:xfrm>
            <a:off x="4756332" y="3254933"/>
            <a:ext cx="252494" cy="252494"/>
            <a:chOff x="4300" y="2260"/>
            <a:chExt cx="340" cy="340"/>
          </a:xfrm>
          <a:solidFill>
            <a:schemeClr val="tx1"/>
          </a:solidFill>
        </p:grpSpPr>
        <p:sp>
          <p:nvSpPr>
            <p:cNvPr id="6" name="Freeform 639"/>
            <p:cNvSpPr/>
            <p:nvPr/>
          </p:nvSpPr>
          <p:spPr bwMode="auto">
            <a:xfrm>
              <a:off x="4463" y="2437"/>
              <a:ext cx="14" cy="99"/>
            </a:xfrm>
            <a:custGeom>
              <a:avLst/>
              <a:gdLst>
                <a:gd name="T0" fmla="*/ 11 w 21"/>
                <a:gd name="T1" fmla="*/ 0 h 150"/>
                <a:gd name="T2" fmla="*/ 0 w 21"/>
                <a:gd name="T3" fmla="*/ 11 h 150"/>
                <a:gd name="T4" fmla="*/ 0 w 21"/>
                <a:gd name="T5" fmla="*/ 139 h 150"/>
                <a:gd name="T6" fmla="*/ 11 w 21"/>
                <a:gd name="T7" fmla="*/ 150 h 150"/>
                <a:gd name="T8" fmla="*/ 21 w 21"/>
                <a:gd name="T9" fmla="*/ 139 h 150"/>
                <a:gd name="T10" fmla="*/ 21 w 21"/>
                <a:gd name="T11" fmla="*/ 11 h 150"/>
                <a:gd name="T12" fmla="*/ 11 w 21"/>
                <a:gd name="T1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50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45"/>
                    <a:pt x="5" y="150"/>
                    <a:pt x="11" y="150"/>
                  </a:cubicBezTo>
                  <a:cubicBezTo>
                    <a:pt x="17" y="150"/>
                    <a:pt x="21" y="145"/>
                    <a:pt x="21" y="139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7" name="Freeform 640"/>
            <p:cNvSpPr>
              <a:spLocks noEditPoints="1"/>
            </p:cNvSpPr>
            <p:nvPr/>
          </p:nvSpPr>
          <p:spPr bwMode="auto">
            <a:xfrm>
              <a:off x="4405" y="2330"/>
              <a:ext cx="132" cy="107"/>
            </a:xfrm>
            <a:custGeom>
              <a:avLst/>
              <a:gdLst>
                <a:gd name="T0" fmla="*/ 192 w 199"/>
                <a:gd name="T1" fmla="*/ 140 h 160"/>
                <a:gd name="T2" fmla="*/ 129 w 199"/>
                <a:gd name="T3" fmla="*/ 105 h 160"/>
                <a:gd name="T4" fmla="*/ 108 w 199"/>
                <a:gd name="T5" fmla="*/ 77 h 160"/>
                <a:gd name="T6" fmla="*/ 108 w 199"/>
                <a:gd name="T7" fmla="*/ 11 h 160"/>
                <a:gd name="T8" fmla="*/ 98 w 199"/>
                <a:gd name="T9" fmla="*/ 0 h 160"/>
                <a:gd name="T10" fmla="*/ 87 w 199"/>
                <a:gd name="T11" fmla="*/ 11 h 160"/>
                <a:gd name="T12" fmla="*/ 87 w 199"/>
                <a:gd name="T13" fmla="*/ 77 h 160"/>
                <a:gd name="T14" fmla="*/ 66 w 199"/>
                <a:gd name="T15" fmla="*/ 107 h 160"/>
                <a:gd name="T16" fmla="*/ 7 w 199"/>
                <a:gd name="T17" fmla="*/ 140 h 160"/>
                <a:gd name="T18" fmla="*/ 3 w 199"/>
                <a:gd name="T19" fmla="*/ 155 h 160"/>
                <a:gd name="T20" fmla="*/ 12 w 199"/>
                <a:gd name="T21" fmla="*/ 160 h 160"/>
                <a:gd name="T22" fmla="*/ 18 w 199"/>
                <a:gd name="T23" fmla="*/ 159 h 160"/>
                <a:gd name="T24" fmla="*/ 73 w 199"/>
                <a:gd name="T25" fmla="*/ 127 h 160"/>
                <a:gd name="T26" fmla="*/ 98 w 199"/>
                <a:gd name="T27" fmla="*/ 139 h 160"/>
                <a:gd name="T28" fmla="*/ 123 w 199"/>
                <a:gd name="T29" fmla="*/ 126 h 160"/>
                <a:gd name="T30" fmla="*/ 181 w 199"/>
                <a:gd name="T31" fmla="*/ 159 h 160"/>
                <a:gd name="T32" fmla="*/ 187 w 199"/>
                <a:gd name="T33" fmla="*/ 160 h 160"/>
                <a:gd name="T34" fmla="*/ 196 w 199"/>
                <a:gd name="T35" fmla="*/ 155 h 160"/>
                <a:gd name="T36" fmla="*/ 192 w 199"/>
                <a:gd name="T37" fmla="*/ 140 h 160"/>
                <a:gd name="T38" fmla="*/ 98 w 199"/>
                <a:gd name="T39" fmla="*/ 118 h 160"/>
                <a:gd name="T40" fmla="*/ 87 w 199"/>
                <a:gd name="T41" fmla="*/ 107 h 160"/>
                <a:gd name="T42" fmla="*/ 98 w 199"/>
                <a:gd name="T43" fmla="*/ 96 h 160"/>
                <a:gd name="T44" fmla="*/ 108 w 199"/>
                <a:gd name="T45" fmla="*/ 107 h 160"/>
                <a:gd name="T46" fmla="*/ 98 w 199"/>
                <a:gd name="T47" fmla="*/ 11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9" h="160">
                  <a:moveTo>
                    <a:pt x="192" y="140"/>
                  </a:moveTo>
                  <a:cubicBezTo>
                    <a:pt x="129" y="105"/>
                    <a:pt x="129" y="105"/>
                    <a:pt x="129" y="105"/>
                  </a:cubicBezTo>
                  <a:cubicBezTo>
                    <a:pt x="129" y="92"/>
                    <a:pt x="120" y="81"/>
                    <a:pt x="108" y="77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5"/>
                    <a:pt x="104" y="0"/>
                    <a:pt x="98" y="0"/>
                  </a:cubicBezTo>
                  <a:cubicBezTo>
                    <a:pt x="92" y="0"/>
                    <a:pt x="87" y="5"/>
                    <a:pt x="87" y="11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75" y="81"/>
                    <a:pt x="66" y="93"/>
                    <a:pt x="66" y="107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50"/>
                    <a:pt x="3" y="155"/>
                  </a:cubicBezTo>
                  <a:cubicBezTo>
                    <a:pt x="5" y="158"/>
                    <a:pt x="9" y="160"/>
                    <a:pt x="12" y="160"/>
                  </a:cubicBezTo>
                  <a:cubicBezTo>
                    <a:pt x="14" y="160"/>
                    <a:pt x="16" y="160"/>
                    <a:pt x="18" y="159"/>
                  </a:cubicBezTo>
                  <a:cubicBezTo>
                    <a:pt x="73" y="127"/>
                    <a:pt x="73" y="127"/>
                    <a:pt x="73" y="127"/>
                  </a:cubicBezTo>
                  <a:cubicBezTo>
                    <a:pt x="79" y="134"/>
                    <a:pt x="88" y="139"/>
                    <a:pt x="98" y="139"/>
                  </a:cubicBezTo>
                  <a:cubicBezTo>
                    <a:pt x="108" y="139"/>
                    <a:pt x="117" y="134"/>
                    <a:pt x="123" y="126"/>
                  </a:cubicBezTo>
                  <a:cubicBezTo>
                    <a:pt x="181" y="159"/>
                    <a:pt x="181" y="159"/>
                    <a:pt x="181" y="159"/>
                  </a:cubicBezTo>
                  <a:cubicBezTo>
                    <a:pt x="183" y="160"/>
                    <a:pt x="185" y="160"/>
                    <a:pt x="187" y="160"/>
                  </a:cubicBezTo>
                  <a:cubicBezTo>
                    <a:pt x="190" y="160"/>
                    <a:pt x="194" y="158"/>
                    <a:pt x="196" y="155"/>
                  </a:cubicBezTo>
                  <a:cubicBezTo>
                    <a:pt x="199" y="150"/>
                    <a:pt x="197" y="143"/>
                    <a:pt x="192" y="140"/>
                  </a:cubicBezTo>
                  <a:close/>
                  <a:moveTo>
                    <a:pt x="98" y="118"/>
                  </a:moveTo>
                  <a:cubicBezTo>
                    <a:pt x="92" y="118"/>
                    <a:pt x="87" y="113"/>
                    <a:pt x="87" y="107"/>
                  </a:cubicBezTo>
                  <a:cubicBezTo>
                    <a:pt x="87" y="101"/>
                    <a:pt x="92" y="96"/>
                    <a:pt x="98" y="96"/>
                  </a:cubicBezTo>
                  <a:cubicBezTo>
                    <a:pt x="104" y="96"/>
                    <a:pt x="108" y="101"/>
                    <a:pt x="108" y="107"/>
                  </a:cubicBezTo>
                  <a:cubicBezTo>
                    <a:pt x="108" y="113"/>
                    <a:pt x="104" y="118"/>
                    <a:pt x="98" y="1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8" name="Freeform 641"/>
            <p:cNvSpPr>
              <a:spLocks noEditPoints="1"/>
            </p:cNvSpPr>
            <p:nvPr/>
          </p:nvSpPr>
          <p:spPr bwMode="auto">
            <a:xfrm>
              <a:off x="4300" y="2260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/>
      </p:transition>
    </mc:Choice>
    <mc:Fallback>
      <p:transition spd="slow">
        <p:spli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02285" y="23304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8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项目背景</a:t>
            </a:r>
            <a:endParaRPr lang="zh-CN" sz="28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285" y="1900555"/>
            <a:ext cx="6206490" cy="30575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7022465" y="1784350"/>
            <a:ext cx="41173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公司体量不断增大，主营业务收入</a:t>
            </a:r>
            <a:r>
              <a:rPr lang="en-US" altLang="zh-CN" b="1">
                <a:solidFill>
                  <a:srgbClr val="005792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亿；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26960" y="2336165"/>
            <a:ext cx="33934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1600">
                <a:latin typeface="微软雅黑" panose="020B0503020204020204" charset="-122"/>
                <a:ea typeface="微软雅黑" panose="020B0503020204020204" charset="-122"/>
              </a:rPr>
              <a:t>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2019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zh-CN" sz="1600">
                <a:latin typeface="微软雅黑" panose="020B0503020204020204" charset="-122"/>
                <a:ea typeface="微软雅黑" panose="020B0503020204020204" charset="-122"/>
              </a:rPr>
              <a:t>人均效率同比下降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57.7%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26960" y="3427730"/>
            <a:ext cx="1859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质量</a:t>
            </a:r>
            <a:r>
              <a:rPr lang="zh-CN" sz="1600">
                <a:latin typeface="微软雅黑" panose="020B0503020204020204" charset="-122"/>
                <a:ea typeface="微软雅黑" panose="020B0503020204020204" charset="-122"/>
              </a:rPr>
              <a:t>问题层出不穷</a:t>
            </a:r>
            <a:endParaRPr lang="zh-CN" sz="16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426960" y="4377690"/>
            <a:ext cx="4246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面对上述种种问题，我们却少有体系化的思路</a:t>
            </a:r>
            <a:endParaRPr 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来分析，完善的指标体系和绩效体系运营，</a:t>
            </a:r>
            <a:endParaRPr lang="zh-CN" sz="1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准确及时的数据支撑</a:t>
            </a:r>
            <a:endParaRPr lang="zh-CN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26960" y="2887980"/>
            <a:ext cx="24047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86%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的指标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未达目标</a:t>
            </a:r>
            <a:endParaRPr lang="zh-CN" altLang="en-US"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26960" y="3877945"/>
            <a:ext cx="843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…………</a:t>
            </a:r>
            <a:endParaRPr lang="en-US" altLang="zh-CN" sz="16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51855" y="2132965"/>
            <a:ext cx="648335" cy="21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3" grpId="0"/>
      <p:bldP spid="1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2285" y="23304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8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项目背景</a:t>
            </a:r>
            <a:endParaRPr lang="zh-CN" altLang="en-US" sz="28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Pentagon 3"/>
          <p:cNvSpPr/>
          <p:nvPr/>
        </p:nvSpPr>
        <p:spPr>
          <a:xfrm>
            <a:off x="1774190" y="1779270"/>
            <a:ext cx="2164080" cy="471600"/>
          </a:xfrm>
          <a:prstGeom prst="homePlate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分析灵活性不足</a:t>
            </a:r>
            <a:endParaRPr lang="en-US" b="1" kern="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57675" y="1882775"/>
            <a:ext cx="6810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kern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分析需通过“系统</a:t>
            </a:r>
            <a:r>
              <a:rPr lang="en-US" altLang="zh-CN" kern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zh-CN" altLang="en-US" kern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手工”的方式处理，报表制作繁、烦、凡；</a:t>
            </a:r>
            <a:endParaRPr lang="zh-CN" altLang="en-US"/>
          </a:p>
        </p:txBody>
      </p:sp>
      <p:sp>
        <p:nvSpPr>
          <p:cNvPr id="29" name="Pentagon 3"/>
          <p:cNvSpPr/>
          <p:nvPr/>
        </p:nvSpPr>
        <p:spPr>
          <a:xfrm>
            <a:off x="1774190" y="2503805"/>
            <a:ext cx="2164080" cy="471600"/>
          </a:xfrm>
          <a:prstGeom prst="homePlate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分析意识不足</a:t>
            </a:r>
            <a:endParaRPr lang="en-US" b="1" kern="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Pentagon 4"/>
          <p:cNvSpPr/>
          <p:nvPr/>
        </p:nvSpPr>
        <p:spPr>
          <a:xfrm>
            <a:off x="1774190" y="3235325"/>
            <a:ext cx="2164080" cy="471600"/>
          </a:xfrm>
          <a:prstGeom prst="homePlate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指标关联性差</a:t>
            </a:r>
            <a:endParaRPr lang="en-US" b="1" kern="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Pentagon 6"/>
          <p:cNvSpPr/>
          <p:nvPr/>
        </p:nvSpPr>
        <p:spPr>
          <a:xfrm>
            <a:off x="1774190" y="3966210"/>
            <a:ext cx="2164080" cy="471170"/>
          </a:xfrm>
          <a:prstGeom prst="homePlate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分析体系缺失</a:t>
            </a:r>
            <a:endParaRPr lang="en-US" b="1" kern="0" dirty="0" smtClea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281805" y="3286760"/>
            <a:ext cx="6869430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目前以大量零散报表为主，缺少</a:t>
            </a:r>
            <a:r>
              <a:rPr lang="zh-CN" altLang="en-US" kern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完整的，有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关联性的指标体系；</a:t>
            </a:r>
            <a:endParaRPr lang="zh-CN" altLang="en-US" kern="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      (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结果指标与过程指标的关系， 指标之间的相关关系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281805" y="4069080"/>
            <a:ext cx="66408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未建立面向管理层的综合的分析内容，缺少完整的分析体系；</a:t>
            </a: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281805" y="2555240"/>
            <a:ext cx="4812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以事后总结为主，分析用户以中高层为主；</a:t>
            </a:r>
            <a:endParaRPr lang="zh-CN" altLang="en-US"/>
          </a:p>
        </p:txBody>
      </p:sp>
      <p:sp>
        <p:nvSpPr>
          <p:cNvPr id="40" name="Rectangle 15"/>
          <p:cNvSpPr/>
          <p:nvPr/>
        </p:nvSpPr>
        <p:spPr>
          <a:xfrm>
            <a:off x="1270903" y="4876638"/>
            <a:ext cx="2667832" cy="952915"/>
          </a:xfrm>
          <a:prstGeom prst="rect">
            <a:avLst/>
          </a:prstGeom>
          <a:solidFill>
            <a:srgbClr val="FF0000">
              <a:alpha val="20000"/>
            </a:srgbClr>
          </a:solidFill>
          <a:ln w="63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t"/>
          <a:p>
            <a:pPr marL="47625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BI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建设缺少</a:t>
            </a:r>
            <a:r>
              <a:rPr lang="zh-CN" altLang="en-US" b="1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支撑，数据准确性和稳定性得不到保障；</a:t>
            </a:r>
            <a:endParaRPr lang="en-US" altLang="zh-CN" kern="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7005" indent="-11938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kern="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Oval 16"/>
          <p:cNvSpPr/>
          <p:nvPr/>
        </p:nvSpPr>
        <p:spPr>
          <a:xfrm>
            <a:off x="1103575" y="4682099"/>
            <a:ext cx="356616" cy="359867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prstClr val="white"/>
                </a:solidFill>
                <a:latin typeface="Arial" panose="020B0604020202020204"/>
                <a:ea typeface="+mn-ea"/>
              </a:rPr>
              <a:t>1</a:t>
            </a:r>
            <a:endParaRPr lang="en-US" sz="1600" b="1" kern="0" dirty="0" smtClean="0">
              <a:solidFill>
                <a:prstClr val="white"/>
              </a:solidFill>
              <a:latin typeface="Arial" panose="020B0604020202020204"/>
              <a:ea typeface="+mn-ea"/>
            </a:endParaRPr>
          </a:p>
        </p:txBody>
      </p:sp>
      <p:sp>
        <p:nvSpPr>
          <p:cNvPr id="43" name="Rectangle 15"/>
          <p:cNvSpPr/>
          <p:nvPr/>
        </p:nvSpPr>
        <p:spPr>
          <a:xfrm>
            <a:off x="8373110" y="4876800"/>
            <a:ext cx="2910840" cy="953135"/>
          </a:xfrm>
          <a:prstGeom prst="rect">
            <a:avLst/>
          </a:prstGeom>
          <a:solidFill>
            <a:srgbClr val="FF0000">
              <a:alpha val="20000"/>
            </a:srgbClr>
          </a:solidFill>
          <a:ln w="63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t"/>
          <a:p>
            <a:pPr marL="47625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业务部门缺少</a:t>
            </a:r>
            <a:r>
              <a:rPr lang="zh-CN" b="1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组织</a:t>
            </a:r>
            <a:r>
              <a:rPr lang="zh-CN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支撑，没有形成价值交付的运营模式和分析改善的氛围</a:t>
            </a:r>
            <a:endParaRPr lang="en-US" altLang="zh-CN" kern="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67005" indent="-11938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kern="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Oval 16"/>
          <p:cNvSpPr/>
          <p:nvPr/>
        </p:nvSpPr>
        <p:spPr>
          <a:xfrm>
            <a:off x="8206050" y="4682099"/>
            <a:ext cx="356616" cy="359867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prstClr val="white"/>
                </a:solidFill>
                <a:latin typeface="Arial" panose="020B0604020202020204"/>
                <a:ea typeface="+mn-ea"/>
              </a:rPr>
              <a:t>3</a:t>
            </a:r>
            <a:endParaRPr lang="en-US" sz="1600" b="1" kern="0" dirty="0" smtClean="0">
              <a:solidFill>
                <a:prstClr val="white"/>
              </a:solidFill>
              <a:latin typeface="Arial" panose="020B0604020202020204"/>
              <a:ea typeface="+mn-ea"/>
            </a:endParaRPr>
          </a:p>
        </p:txBody>
      </p:sp>
      <p:sp>
        <p:nvSpPr>
          <p:cNvPr id="45" name="Rectangle 17"/>
          <p:cNvSpPr/>
          <p:nvPr/>
        </p:nvSpPr>
        <p:spPr>
          <a:xfrm>
            <a:off x="4762603" y="4876940"/>
            <a:ext cx="2667832" cy="952915"/>
          </a:xfrm>
          <a:prstGeom prst="rect">
            <a:avLst/>
          </a:prstGeom>
          <a:solidFill>
            <a:srgbClr val="FFCCCC"/>
          </a:solidFill>
          <a:ln w="63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t"/>
          <a:p>
            <a:pPr marL="47625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业务过程的</a:t>
            </a:r>
            <a:r>
              <a:rPr lang="zh-CN" altLang="en-US" b="1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风险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预警不足，无法及时发现问题并改进</a:t>
            </a:r>
            <a:endParaRPr lang="en-US" kern="0" dirty="0" smtClean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Oval 18"/>
          <p:cNvSpPr/>
          <p:nvPr/>
        </p:nvSpPr>
        <p:spPr>
          <a:xfrm>
            <a:off x="4655600" y="4697006"/>
            <a:ext cx="356616" cy="359867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prstClr val="white"/>
                </a:solidFill>
                <a:latin typeface="Arial" panose="020B0604020202020204"/>
                <a:ea typeface="+mn-ea"/>
              </a:rPr>
              <a:t>2</a:t>
            </a:r>
            <a:endParaRPr lang="en-US" sz="1600" b="1" kern="0" dirty="0" smtClean="0">
              <a:solidFill>
                <a:prstClr val="white"/>
              </a:solidFill>
              <a:latin typeface="Arial" panose="020B0604020202020204"/>
              <a:ea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15645" y="991235"/>
            <a:ext cx="42951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目前管理分析和BI决策支持现状</a:t>
            </a:r>
            <a:r>
              <a:rPr lang="zh-CN" altLang="en-US" sz="20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20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gray">
          <a:xfrm>
            <a:off x="-12065" y="-1270"/>
            <a:ext cx="12204700" cy="6896735"/>
          </a:xfrm>
          <a:prstGeom prst="rect">
            <a:avLst/>
          </a:prstGeom>
          <a:solidFill>
            <a:schemeClr val="bg2"/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10477" y="5043301"/>
            <a:ext cx="12202250" cy="1197904"/>
            <a:chOff x="-12382" y="5028061"/>
            <a:chExt cx="12202250" cy="1197904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-12382" y="5028061"/>
              <a:ext cx="286702" cy="40386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266700" y="5424301"/>
              <a:ext cx="335280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/>
            <p:cNvSpPr/>
            <p:nvPr/>
          </p:nvSpPr>
          <p:spPr bwMode="gray">
            <a:xfrm>
              <a:off x="601980" y="5348101"/>
              <a:ext cx="152400" cy="152400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</a:ln>
            <a:effectLst>
              <a:glow rad="228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Oval 72"/>
            <p:cNvSpPr/>
            <p:nvPr/>
          </p:nvSpPr>
          <p:spPr bwMode="gray">
            <a:xfrm>
              <a:off x="643543" y="5643207"/>
              <a:ext cx="69273" cy="69273"/>
            </a:xfrm>
            <a:prstGeom prst="ellipse">
              <a:avLst/>
            </a:prstGeom>
            <a:noFill/>
            <a:ln w="3175" algn="ctr">
              <a:solidFill>
                <a:schemeClr val="accent5"/>
              </a:solidFill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74" name="Straight Connector 73"/>
            <p:cNvCxnSpPr>
              <a:stCxn id="73" idx="6"/>
            </p:cNvCxnSpPr>
            <p:nvPr/>
          </p:nvCxnSpPr>
          <p:spPr>
            <a:xfrm>
              <a:off x="712816" y="5677844"/>
              <a:ext cx="976284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80369" y="5677843"/>
              <a:ext cx="224631" cy="293193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1901932" y="5971036"/>
              <a:ext cx="9114411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 bwMode="gray">
            <a:xfrm>
              <a:off x="10799795" y="5793956"/>
              <a:ext cx="69273" cy="69273"/>
            </a:xfrm>
            <a:prstGeom prst="ellipse">
              <a:avLst/>
            </a:prstGeom>
            <a:noFill/>
            <a:ln w="3175" algn="ctr">
              <a:solidFill>
                <a:schemeClr val="accent5"/>
              </a:solidFill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>
              <a:off x="10869068" y="5828592"/>
              <a:ext cx="1203299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12072367" y="5695365"/>
              <a:ext cx="117501" cy="133227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 bwMode="gray">
            <a:xfrm>
              <a:off x="11019200" y="5936399"/>
              <a:ext cx="69273" cy="69273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</a:ln>
            <a:effectLst>
              <a:glow rad="228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371899" y="5723878"/>
              <a:ext cx="438955" cy="21544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BAB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rPr>
                <a:t>DATA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BAB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981481" y="5570122"/>
              <a:ext cx="438955" cy="21526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BAB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rPr>
                <a:t>SCM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BAB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83" name="Oval 82"/>
            <p:cNvSpPr/>
            <p:nvPr/>
          </p:nvSpPr>
          <p:spPr bwMode="gray">
            <a:xfrm>
              <a:off x="3723976" y="5710587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5" name="Oval 84"/>
            <p:cNvSpPr/>
            <p:nvPr/>
          </p:nvSpPr>
          <p:spPr bwMode="gray">
            <a:xfrm>
              <a:off x="5142114" y="5728276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6" name="Oval 85"/>
            <p:cNvSpPr/>
            <p:nvPr/>
          </p:nvSpPr>
          <p:spPr bwMode="gray">
            <a:xfrm>
              <a:off x="5851967" y="5731651"/>
              <a:ext cx="491701" cy="494314"/>
            </a:xfrm>
            <a:prstGeom prst="ellipse">
              <a:avLst/>
            </a:prstGeom>
            <a:solidFill>
              <a:srgbClr val="000000"/>
            </a:solidFill>
            <a:ln w="12700" algn="ctr">
              <a:solidFill>
                <a:schemeClr val="tx1"/>
              </a:solidFill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7" name="Oval 86"/>
            <p:cNvSpPr/>
            <p:nvPr/>
          </p:nvSpPr>
          <p:spPr bwMode="gray">
            <a:xfrm>
              <a:off x="6558634" y="5711759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8" name="Oval 87"/>
            <p:cNvSpPr/>
            <p:nvPr/>
          </p:nvSpPr>
          <p:spPr bwMode="gray">
            <a:xfrm>
              <a:off x="7257777" y="5730536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9" name="Oval 88"/>
            <p:cNvSpPr/>
            <p:nvPr/>
          </p:nvSpPr>
          <p:spPr bwMode="gray">
            <a:xfrm>
              <a:off x="7974002" y="5712492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8031" y="578543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3" name="Picture 92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3287" y="577400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4" name="Picture 93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171" y="580067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4482" y="580067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6" name="Picture 95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8057" y="577400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7" name="Picture 96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8516" y="5800677"/>
              <a:ext cx="366205" cy="366205"/>
            </a:xfrm>
            <a:prstGeom prst="rect">
              <a:avLst/>
            </a:prstGeom>
            <a:effectLst/>
          </p:spPr>
        </p:pic>
        <p:sp>
          <p:nvSpPr>
            <p:cNvPr id="98" name="Arc 97"/>
            <p:cNvSpPr/>
            <p:nvPr/>
          </p:nvSpPr>
          <p:spPr>
            <a:xfrm rot="5400000">
              <a:off x="3724294" y="5721774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9" name="Arc 98"/>
            <p:cNvSpPr/>
            <p:nvPr/>
          </p:nvSpPr>
          <p:spPr>
            <a:xfrm rot="16200000">
              <a:off x="4435806" y="5722853"/>
              <a:ext cx="493200" cy="493200"/>
            </a:xfrm>
            <a:prstGeom prst="arc">
              <a:avLst>
                <a:gd name="adj1" fmla="val 161488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0" name="Arc 99"/>
            <p:cNvSpPr/>
            <p:nvPr/>
          </p:nvSpPr>
          <p:spPr>
            <a:xfrm rot="5400000">
              <a:off x="5140814" y="5722377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1" name="Arc 100"/>
            <p:cNvSpPr/>
            <p:nvPr/>
          </p:nvSpPr>
          <p:spPr>
            <a:xfrm rot="5400000">
              <a:off x="6557557" y="5725252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2" name="Arc 101"/>
            <p:cNvSpPr/>
            <p:nvPr/>
          </p:nvSpPr>
          <p:spPr>
            <a:xfrm rot="16200000">
              <a:off x="7260191" y="5724744"/>
              <a:ext cx="493200" cy="493200"/>
            </a:xfrm>
            <a:prstGeom prst="arc">
              <a:avLst>
                <a:gd name="adj1" fmla="val 161488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3" name="Arc 102"/>
            <p:cNvSpPr/>
            <p:nvPr/>
          </p:nvSpPr>
          <p:spPr>
            <a:xfrm rot="5400000">
              <a:off x="7974077" y="5725425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4" name="Arc 103"/>
            <p:cNvSpPr/>
            <p:nvPr/>
          </p:nvSpPr>
          <p:spPr>
            <a:xfrm rot="16200000">
              <a:off x="5851968" y="5726737"/>
              <a:ext cx="493200" cy="493200"/>
            </a:xfrm>
            <a:prstGeom prst="arc">
              <a:avLst>
                <a:gd name="adj1" fmla="val 161488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4" name="Oval 83"/>
            <p:cNvSpPr/>
            <p:nvPr/>
          </p:nvSpPr>
          <p:spPr bwMode="gray">
            <a:xfrm>
              <a:off x="4435171" y="5731444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9386" y="5789882"/>
              <a:ext cx="366205" cy="366205"/>
            </a:xfrm>
            <a:prstGeom prst="rect">
              <a:avLst/>
            </a:prstGeom>
            <a:effectLst/>
          </p:spPr>
        </p:pic>
      </p:grpSp>
      <p:sp>
        <p:nvSpPr>
          <p:cNvPr id="17" name="Rectangle 16"/>
          <p:cNvSpPr/>
          <p:nvPr/>
        </p:nvSpPr>
        <p:spPr bwMode="gray">
          <a:xfrm>
            <a:off x="-10160" y="1565432"/>
            <a:ext cx="12192000" cy="30807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258446" y="2115368"/>
            <a:ext cx="9144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rPr>
              <a:t>项目背景</a:t>
            </a:r>
            <a:endParaRPr kumimoji="0" lang="zh-CN" altLang="en-US" sz="18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58446" y="2655847"/>
            <a:ext cx="248031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r>
              <a:rPr lang="zh-CN" altLang="en-US" b="1" dirty="0">
                <a:solidFill>
                  <a:srgbClr val="86BC25"/>
                </a:solidFill>
                <a:latin typeface="Segoe UI" panose="020B0502040204020203"/>
                <a:ea typeface="微软雅黑" panose="020B0503020204020204" charset="-122"/>
              </a:rPr>
              <a:t>项目范围目标&amp;验收标准</a:t>
            </a:r>
            <a:endParaRPr lang="zh-CN" altLang="en-US" b="1" dirty="0">
              <a:solidFill>
                <a:srgbClr val="86BC25"/>
              </a:solidFill>
              <a:latin typeface="Segoe UI" panose="020B0502040204020203"/>
              <a:ea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258446" y="3813005"/>
            <a:ext cx="9144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项目管理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106" name="Group 669"/>
          <p:cNvGrpSpPr>
            <a:grpSpLocks noChangeAspect="1"/>
          </p:cNvGrpSpPr>
          <p:nvPr/>
        </p:nvGrpSpPr>
        <p:grpSpPr bwMode="auto">
          <a:xfrm>
            <a:off x="4756332" y="3825257"/>
            <a:ext cx="252494" cy="252494"/>
            <a:chOff x="1910" y="2326"/>
            <a:chExt cx="340" cy="340"/>
          </a:xfrm>
          <a:solidFill>
            <a:schemeClr val="tx1"/>
          </a:solidFill>
        </p:grpSpPr>
        <p:sp>
          <p:nvSpPr>
            <p:cNvPr id="107" name="Freeform 670"/>
            <p:cNvSpPr>
              <a:spLocks noEditPoints="1"/>
            </p:cNvSpPr>
            <p:nvPr/>
          </p:nvSpPr>
          <p:spPr bwMode="auto">
            <a:xfrm>
              <a:off x="1910" y="2326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08" name="Freeform 671"/>
            <p:cNvSpPr>
              <a:spLocks noEditPoints="1"/>
            </p:cNvSpPr>
            <p:nvPr/>
          </p:nvSpPr>
          <p:spPr bwMode="auto">
            <a:xfrm>
              <a:off x="1973" y="2390"/>
              <a:ext cx="214" cy="212"/>
            </a:xfrm>
            <a:custGeom>
              <a:avLst/>
              <a:gdLst>
                <a:gd name="T0" fmla="*/ 298 w 322"/>
                <a:gd name="T1" fmla="*/ 67 h 320"/>
                <a:gd name="T2" fmla="*/ 246 w 322"/>
                <a:gd name="T3" fmla="*/ 55 h 320"/>
                <a:gd name="T4" fmla="*/ 246 w 322"/>
                <a:gd name="T5" fmla="*/ 10 h 320"/>
                <a:gd name="T6" fmla="*/ 235 w 322"/>
                <a:gd name="T7" fmla="*/ 0 h 320"/>
                <a:gd name="T8" fmla="*/ 86 w 322"/>
                <a:gd name="T9" fmla="*/ 0 h 320"/>
                <a:gd name="T10" fmla="*/ 75 w 322"/>
                <a:gd name="T11" fmla="*/ 10 h 320"/>
                <a:gd name="T12" fmla="*/ 76 w 322"/>
                <a:gd name="T13" fmla="*/ 55 h 320"/>
                <a:gd name="T14" fmla="*/ 23 w 322"/>
                <a:gd name="T15" fmla="*/ 67 h 320"/>
                <a:gd name="T16" fmla="*/ 52 w 322"/>
                <a:gd name="T17" fmla="*/ 177 h 320"/>
                <a:gd name="T18" fmla="*/ 104 w 322"/>
                <a:gd name="T19" fmla="*/ 213 h 320"/>
                <a:gd name="T20" fmla="*/ 107 w 322"/>
                <a:gd name="T21" fmla="*/ 213 h 320"/>
                <a:gd name="T22" fmla="*/ 109 w 322"/>
                <a:gd name="T23" fmla="*/ 213 h 320"/>
                <a:gd name="T24" fmla="*/ 121 w 322"/>
                <a:gd name="T25" fmla="*/ 227 h 320"/>
                <a:gd name="T26" fmla="*/ 146 w 322"/>
                <a:gd name="T27" fmla="*/ 243 h 320"/>
                <a:gd name="T28" fmla="*/ 119 w 322"/>
                <a:gd name="T29" fmla="*/ 305 h 320"/>
                <a:gd name="T30" fmla="*/ 120 w 322"/>
                <a:gd name="T31" fmla="*/ 315 h 320"/>
                <a:gd name="T32" fmla="*/ 129 w 322"/>
                <a:gd name="T33" fmla="*/ 320 h 320"/>
                <a:gd name="T34" fmla="*/ 193 w 322"/>
                <a:gd name="T35" fmla="*/ 320 h 320"/>
                <a:gd name="T36" fmla="*/ 202 w 322"/>
                <a:gd name="T37" fmla="*/ 315 h 320"/>
                <a:gd name="T38" fmla="*/ 202 w 322"/>
                <a:gd name="T39" fmla="*/ 305 h 320"/>
                <a:gd name="T40" fmla="*/ 176 w 322"/>
                <a:gd name="T41" fmla="*/ 243 h 320"/>
                <a:gd name="T42" fmla="*/ 201 w 322"/>
                <a:gd name="T43" fmla="*/ 227 h 320"/>
                <a:gd name="T44" fmla="*/ 212 w 322"/>
                <a:gd name="T45" fmla="*/ 213 h 320"/>
                <a:gd name="T46" fmla="*/ 214 w 322"/>
                <a:gd name="T47" fmla="*/ 213 h 320"/>
                <a:gd name="T48" fmla="*/ 217 w 322"/>
                <a:gd name="T49" fmla="*/ 213 h 320"/>
                <a:gd name="T50" fmla="*/ 270 w 322"/>
                <a:gd name="T51" fmla="*/ 177 h 320"/>
                <a:gd name="T52" fmla="*/ 298 w 322"/>
                <a:gd name="T53" fmla="*/ 67 h 320"/>
                <a:gd name="T54" fmla="*/ 66 w 322"/>
                <a:gd name="T55" fmla="*/ 161 h 320"/>
                <a:gd name="T56" fmla="*/ 39 w 322"/>
                <a:gd name="T57" fmla="*/ 81 h 320"/>
                <a:gd name="T58" fmla="*/ 77 w 322"/>
                <a:gd name="T59" fmla="*/ 77 h 320"/>
                <a:gd name="T60" fmla="*/ 97 w 322"/>
                <a:gd name="T61" fmla="*/ 186 h 320"/>
                <a:gd name="T62" fmla="*/ 66 w 322"/>
                <a:gd name="T63" fmla="*/ 161 h 320"/>
                <a:gd name="T64" fmla="*/ 145 w 322"/>
                <a:gd name="T65" fmla="*/ 298 h 320"/>
                <a:gd name="T66" fmla="*/ 161 w 322"/>
                <a:gd name="T67" fmla="*/ 262 h 320"/>
                <a:gd name="T68" fmla="*/ 176 w 322"/>
                <a:gd name="T69" fmla="*/ 298 h 320"/>
                <a:gd name="T70" fmla="*/ 145 w 322"/>
                <a:gd name="T71" fmla="*/ 298 h 320"/>
                <a:gd name="T72" fmla="*/ 185 w 322"/>
                <a:gd name="T73" fmla="*/ 213 h 320"/>
                <a:gd name="T74" fmla="*/ 161 w 322"/>
                <a:gd name="T75" fmla="*/ 224 h 320"/>
                <a:gd name="T76" fmla="*/ 136 w 322"/>
                <a:gd name="T77" fmla="*/ 213 h 320"/>
                <a:gd name="T78" fmla="*/ 96 w 322"/>
                <a:gd name="T79" fmla="*/ 21 h 320"/>
                <a:gd name="T80" fmla="*/ 225 w 322"/>
                <a:gd name="T81" fmla="*/ 21 h 320"/>
                <a:gd name="T82" fmla="*/ 185 w 322"/>
                <a:gd name="T83" fmla="*/ 213 h 320"/>
                <a:gd name="T84" fmla="*/ 255 w 322"/>
                <a:gd name="T85" fmla="*/ 161 h 320"/>
                <a:gd name="T86" fmla="*/ 225 w 322"/>
                <a:gd name="T87" fmla="*/ 186 h 320"/>
                <a:gd name="T88" fmla="*/ 245 w 322"/>
                <a:gd name="T89" fmla="*/ 77 h 320"/>
                <a:gd name="T90" fmla="*/ 283 w 322"/>
                <a:gd name="T91" fmla="*/ 81 h 320"/>
                <a:gd name="T92" fmla="*/ 255 w 322"/>
                <a:gd name="T93" fmla="*/ 161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2" h="320">
                  <a:moveTo>
                    <a:pt x="298" y="67"/>
                  </a:moveTo>
                  <a:cubicBezTo>
                    <a:pt x="286" y="54"/>
                    <a:pt x="268" y="50"/>
                    <a:pt x="246" y="55"/>
                  </a:cubicBezTo>
                  <a:cubicBezTo>
                    <a:pt x="247" y="30"/>
                    <a:pt x="246" y="12"/>
                    <a:pt x="246" y="10"/>
                  </a:cubicBezTo>
                  <a:cubicBezTo>
                    <a:pt x="246" y="4"/>
                    <a:pt x="241" y="0"/>
                    <a:pt x="235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0" y="0"/>
                    <a:pt x="76" y="4"/>
                    <a:pt x="75" y="10"/>
                  </a:cubicBezTo>
                  <a:cubicBezTo>
                    <a:pt x="75" y="12"/>
                    <a:pt x="75" y="30"/>
                    <a:pt x="76" y="55"/>
                  </a:cubicBezTo>
                  <a:cubicBezTo>
                    <a:pt x="54" y="50"/>
                    <a:pt x="35" y="54"/>
                    <a:pt x="23" y="67"/>
                  </a:cubicBezTo>
                  <a:cubicBezTo>
                    <a:pt x="0" y="92"/>
                    <a:pt x="12" y="140"/>
                    <a:pt x="52" y="177"/>
                  </a:cubicBezTo>
                  <a:cubicBezTo>
                    <a:pt x="67" y="191"/>
                    <a:pt x="85" y="207"/>
                    <a:pt x="104" y="213"/>
                  </a:cubicBezTo>
                  <a:cubicBezTo>
                    <a:pt x="105" y="213"/>
                    <a:pt x="106" y="213"/>
                    <a:pt x="107" y="213"/>
                  </a:cubicBezTo>
                  <a:cubicBezTo>
                    <a:pt x="108" y="213"/>
                    <a:pt x="109" y="213"/>
                    <a:pt x="109" y="213"/>
                  </a:cubicBezTo>
                  <a:cubicBezTo>
                    <a:pt x="113" y="218"/>
                    <a:pt x="117" y="223"/>
                    <a:pt x="121" y="227"/>
                  </a:cubicBezTo>
                  <a:cubicBezTo>
                    <a:pt x="128" y="235"/>
                    <a:pt x="136" y="240"/>
                    <a:pt x="146" y="243"/>
                  </a:cubicBezTo>
                  <a:cubicBezTo>
                    <a:pt x="119" y="305"/>
                    <a:pt x="119" y="305"/>
                    <a:pt x="119" y="305"/>
                  </a:cubicBezTo>
                  <a:cubicBezTo>
                    <a:pt x="117" y="308"/>
                    <a:pt x="118" y="312"/>
                    <a:pt x="120" y="315"/>
                  </a:cubicBezTo>
                  <a:cubicBezTo>
                    <a:pt x="122" y="318"/>
                    <a:pt x="125" y="320"/>
                    <a:pt x="129" y="320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6" y="320"/>
                    <a:pt x="200" y="318"/>
                    <a:pt x="202" y="315"/>
                  </a:cubicBezTo>
                  <a:cubicBezTo>
                    <a:pt x="204" y="312"/>
                    <a:pt x="204" y="308"/>
                    <a:pt x="202" y="305"/>
                  </a:cubicBezTo>
                  <a:cubicBezTo>
                    <a:pt x="176" y="243"/>
                    <a:pt x="176" y="243"/>
                    <a:pt x="176" y="243"/>
                  </a:cubicBezTo>
                  <a:cubicBezTo>
                    <a:pt x="185" y="240"/>
                    <a:pt x="193" y="235"/>
                    <a:pt x="201" y="227"/>
                  </a:cubicBezTo>
                  <a:cubicBezTo>
                    <a:pt x="205" y="223"/>
                    <a:pt x="209" y="218"/>
                    <a:pt x="212" y="213"/>
                  </a:cubicBezTo>
                  <a:cubicBezTo>
                    <a:pt x="213" y="213"/>
                    <a:pt x="213" y="213"/>
                    <a:pt x="214" y="213"/>
                  </a:cubicBezTo>
                  <a:cubicBezTo>
                    <a:pt x="215" y="213"/>
                    <a:pt x="216" y="213"/>
                    <a:pt x="217" y="213"/>
                  </a:cubicBezTo>
                  <a:cubicBezTo>
                    <a:pt x="236" y="207"/>
                    <a:pt x="254" y="191"/>
                    <a:pt x="270" y="177"/>
                  </a:cubicBezTo>
                  <a:cubicBezTo>
                    <a:pt x="309" y="140"/>
                    <a:pt x="322" y="92"/>
                    <a:pt x="298" y="67"/>
                  </a:cubicBezTo>
                  <a:close/>
                  <a:moveTo>
                    <a:pt x="66" y="161"/>
                  </a:moveTo>
                  <a:cubicBezTo>
                    <a:pt x="37" y="134"/>
                    <a:pt x="24" y="97"/>
                    <a:pt x="39" y="81"/>
                  </a:cubicBezTo>
                  <a:cubicBezTo>
                    <a:pt x="46" y="74"/>
                    <a:pt x="60" y="72"/>
                    <a:pt x="77" y="77"/>
                  </a:cubicBezTo>
                  <a:cubicBezTo>
                    <a:pt x="79" y="112"/>
                    <a:pt x="85" y="153"/>
                    <a:pt x="97" y="186"/>
                  </a:cubicBezTo>
                  <a:cubicBezTo>
                    <a:pt x="86" y="179"/>
                    <a:pt x="76" y="170"/>
                    <a:pt x="66" y="161"/>
                  </a:cubicBezTo>
                  <a:close/>
                  <a:moveTo>
                    <a:pt x="145" y="298"/>
                  </a:moveTo>
                  <a:cubicBezTo>
                    <a:pt x="161" y="262"/>
                    <a:pt x="161" y="262"/>
                    <a:pt x="161" y="262"/>
                  </a:cubicBezTo>
                  <a:cubicBezTo>
                    <a:pt x="176" y="298"/>
                    <a:pt x="176" y="298"/>
                    <a:pt x="176" y="298"/>
                  </a:cubicBezTo>
                  <a:lnTo>
                    <a:pt x="145" y="298"/>
                  </a:lnTo>
                  <a:close/>
                  <a:moveTo>
                    <a:pt x="185" y="213"/>
                  </a:moveTo>
                  <a:cubicBezTo>
                    <a:pt x="178" y="220"/>
                    <a:pt x="170" y="224"/>
                    <a:pt x="161" y="224"/>
                  </a:cubicBezTo>
                  <a:cubicBezTo>
                    <a:pt x="151" y="224"/>
                    <a:pt x="143" y="220"/>
                    <a:pt x="136" y="213"/>
                  </a:cubicBezTo>
                  <a:cubicBezTo>
                    <a:pt x="102" y="177"/>
                    <a:pt x="96" y="70"/>
                    <a:pt x="96" y="21"/>
                  </a:cubicBezTo>
                  <a:cubicBezTo>
                    <a:pt x="225" y="21"/>
                    <a:pt x="225" y="21"/>
                    <a:pt x="225" y="21"/>
                  </a:cubicBezTo>
                  <a:cubicBezTo>
                    <a:pt x="225" y="70"/>
                    <a:pt x="220" y="177"/>
                    <a:pt x="185" y="213"/>
                  </a:cubicBezTo>
                  <a:close/>
                  <a:moveTo>
                    <a:pt x="255" y="161"/>
                  </a:moveTo>
                  <a:cubicBezTo>
                    <a:pt x="246" y="170"/>
                    <a:pt x="235" y="179"/>
                    <a:pt x="225" y="186"/>
                  </a:cubicBezTo>
                  <a:cubicBezTo>
                    <a:pt x="237" y="153"/>
                    <a:pt x="242" y="112"/>
                    <a:pt x="245" y="77"/>
                  </a:cubicBezTo>
                  <a:cubicBezTo>
                    <a:pt x="261" y="72"/>
                    <a:pt x="275" y="74"/>
                    <a:pt x="283" y="81"/>
                  </a:cubicBezTo>
                  <a:cubicBezTo>
                    <a:pt x="297" y="97"/>
                    <a:pt x="284" y="134"/>
                    <a:pt x="255" y="1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  <p:pic>
        <p:nvPicPr>
          <p:cNvPr id="10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5632" y="285029"/>
            <a:ext cx="1498912" cy="85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18"/>
          <p:cNvCxnSpPr/>
          <p:nvPr/>
        </p:nvCxnSpPr>
        <p:spPr>
          <a:xfrm>
            <a:off x="5258435" y="3016885"/>
            <a:ext cx="2741930" cy="0"/>
          </a:xfrm>
          <a:prstGeom prst="line">
            <a:avLst/>
          </a:prstGeom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89"/>
          <p:cNvSpPr txBox="1"/>
          <p:nvPr/>
        </p:nvSpPr>
        <p:spPr>
          <a:xfrm>
            <a:off x="5258446" y="3230616"/>
            <a:ext cx="1543685" cy="630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lang="zh-CN" altLang="en-US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项目计划</a:t>
            </a:r>
            <a:r>
              <a:rPr lang="en-US" altLang="zh-CN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&amp;</a:t>
            </a:r>
            <a:r>
              <a:rPr lang="zh-CN" altLang="en-US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成员</a:t>
            </a:r>
            <a:endParaRPr kumimoji="0" lang="zh-CN" altLang="en-US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5" name="Group 638"/>
          <p:cNvGrpSpPr>
            <a:grpSpLocks noChangeAspect="1"/>
          </p:cNvGrpSpPr>
          <p:nvPr/>
        </p:nvGrpSpPr>
        <p:grpSpPr bwMode="auto">
          <a:xfrm>
            <a:off x="4756332" y="3254933"/>
            <a:ext cx="252494" cy="252494"/>
            <a:chOff x="4300" y="2260"/>
            <a:chExt cx="340" cy="340"/>
          </a:xfrm>
          <a:solidFill>
            <a:schemeClr val="tx1"/>
          </a:solidFill>
        </p:grpSpPr>
        <p:sp>
          <p:nvSpPr>
            <p:cNvPr id="6" name="Freeform 639"/>
            <p:cNvSpPr/>
            <p:nvPr/>
          </p:nvSpPr>
          <p:spPr bwMode="auto">
            <a:xfrm>
              <a:off x="4463" y="2437"/>
              <a:ext cx="14" cy="99"/>
            </a:xfrm>
            <a:custGeom>
              <a:avLst/>
              <a:gdLst>
                <a:gd name="T0" fmla="*/ 11 w 21"/>
                <a:gd name="T1" fmla="*/ 0 h 150"/>
                <a:gd name="T2" fmla="*/ 0 w 21"/>
                <a:gd name="T3" fmla="*/ 11 h 150"/>
                <a:gd name="T4" fmla="*/ 0 w 21"/>
                <a:gd name="T5" fmla="*/ 139 h 150"/>
                <a:gd name="T6" fmla="*/ 11 w 21"/>
                <a:gd name="T7" fmla="*/ 150 h 150"/>
                <a:gd name="T8" fmla="*/ 21 w 21"/>
                <a:gd name="T9" fmla="*/ 139 h 150"/>
                <a:gd name="T10" fmla="*/ 21 w 21"/>
                <a:gd name="T11" fmla="*/ 11 h 150"/>
                <a:gd name="T12" fmla="*/ 11 w 21"/>
                <a:gd name="T1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50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45"/>
                    <a:pt x="5" y="150"/>
                    <a:pt x="11" y="150"/>
                  </a:cubicBezTo>
                  <a:cubicBezTo>
                    <a:pt x="17" y="150"/>
                    <a:pt x="21" y="145"/>
                    <a:pt x="21" y="139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7" name="Freeform 640"/>
            <p:cNvSpPr>
              <a:spLocks noEditPoints="1"/>
            </p:cNvSpPr>
            <p:nvPr/>
          </p:nvSpPr>
          <p:spPr bwMode="auto">
            <a:xfrm>
              <a:off x="4405" y="2330"/>
              <a:ext cx="132" cy="107"/>
            </a:xfrm>
            <a:custGeom>
              <a:avLst/>
              <a:gdLst>
                <a:gd name="T0" fmla="*/ 192 w 199"/>
                <a:gd name="T1" fmla="*/ 140 h 160"/>
                <a:gd name="T2" fmla="*/ 129 w 199"/>
                <a:gd name="T3" fmla="*/ 105 h 160"/>
                <a:gd name="T4" fmla="*/ 108 w 199"/>
                <a:gd name="T5" fmla="*/ 77 h 160"/>
                <a:gd name="T6" fmla="*/ 108 w 199"/>
                <a:gd name="T7" fmla="*/ 11 h 160"/>
                <a:gd name="T8" fmla="*/ 98 w 199"/>
                <a:gd name="T9" fmla="*/ 0 h 160"/>
                <a:gd name="T10" fmla="*/ 87 w 199"/>
                <a:gd name="T11" fmla="*/ 11 h 160"/>
                <a:gd name="T12" fmla="*/ 87 w 199"/>
                <a:gd name="T13" fmla="*/ 77 h 160"/>
                <a:gd name="T14" fmla="*/ 66 w 199"/>
                <a:gd name="T15" fmla="*/ 107 h 160"/>
                <a:gd name="T16" fmla="*/ 7 w 199"/>
                <a:gd name="T17" fmla="*/ 140 h 160"/>
                <a:gd name="T18" fmla="*/ 3 w 199"/>
                <a:gd name="T19" fmla="*/ 155 h 160"/>
                <a:gd name="T20" fmla="*/ 12 w 199"/>
                <a:gd name="T21" fmla="*/ 160 h 160"/>
                <a:gd name="T22" fmla="*/ 18 w 199"/>
                <a:gd name="T23" fmla="*/ 159 h 160"/>
                <a:gd name="T24" fmla="*/ 73 w 199"/>
                <a:gd name="T25" fmla="*/ 127 h 160"/>
                <a:gd name="T26" fmla="*/ 98 w 199"/>
                <a:gd name="T27" fmla="*/ 139 h 160"/>
                <a:gd name="T28" fmla="*/ 123 w 199"/>
                <a:gd name="T29" fmla="*/ 126 h 160"/>
                <a:gd name="T30" fmla="*/ 181 w 199"/>
                <a:gd name="T31" fmla="*/ 159 h 160"/>
                <a:gd name="T32" fmla="*/ 187 w 199"/>
                <a:gd name="T33" fmla="*/ 160 h 160"/>
                <a:gd name="T34" fmla="*/ 196 w 199"/>
                <a:gd name="T35" fmla="*/ 155 h 160"/>
                <a:gd name="T36" fmla="*/ 192 w 199"/>
                <a:gd name="T37" fmla="*/ 140 h 160"/>
                <a:gd name="T38" fmla="*/ 98 w 199"/>
                <a:gd name="T39" fmla="*/ 118 h 160"/>
                <a:gd name="T40" fmla="*/ 87 w 199"/>
                <a:gd name="T41" fmla="*/ 107 h 160"/>
                <a:gd name="T42" fmla="*/ 98 w 199"/>
                <a:gd name="T43" fmla="*/ 96 h 160"/>
                <a:gd name="T44" fmla="*/ 108 w 199"/>
                <a:gd name="T45" fmla="*/ 107 h 160"/>
                <a:gd name="T46" fmla="*/ 98 w 199"/>
                <a:gd name="T47" fmla="*/ 11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9" h="160">
                  <a:moveTo>
                    <a:pt x="192" y="140"/>
                  </a:moveTo>
                  <a:cubicBezTo>
                    <a:pt x="129" y="105"/>
                    <a:pt x="129" y="105"/>
                    <a:pt x="129" y="105"/>
                  </a:cubicBezTo>
                  <a:cubicBezTo>
                    <a:pt x="129" y="92"/>
                    <a:pt x="120" y="81"/>
                    <a:pt x="108" y="77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5"/>
                    <a:pt x="104" y="0"/>
                    <a:pt x="98" y="0"/>
                  </a:cubicBezTo>
                  <a:cubicBezTo>
                    <a:pt x="92" y="0"/>
                    <a:pt x="87" y="5"/>
                    <a:pt x="87" y="11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75" y="81"/>
                    <a:pt x="66" y="93"/>
                    <a:pt x="66" y="107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50"/>
                    <a:pt x="3" y="155"/>
                  </a:cubicBezTo>
                  <a:cubicBezTo>
                    <a:pt x="5" y="158"/>
                    <a:pt x="9" y="160"/>
                    <a:pt x="12" y="160"/>
                  </a:cubicBezTo>
                  <a:cubicBezTo>
                    <a:pt x="14" y="160"/>
                    <a:pt x="16" y="160"/>
                    <a:pt x="18" y="159"/>
                  </a:cubicBezTo>
                  <a:cubicBezTo>
                    <a:pt x="73" y="127"/>
                    <a:pt x="73" y="127"/>
                    <a:pt x="73" y="127"/>
                  </a:cubicBezTo>
                  <a:cubicBezTo>
                    <a:pt x="79" y="134"/>
                    <a:pt x="88" y="139"/>
                    <a:pt x="98" y="139"/>
                  </a:cubicBezTo>
                  <a:cubicBezTo>
                    <a:pt x="108" y="139"/>
                    <a:pt x="117" y="134"/>
                    <a:pt x="123" y="126"/>
                  </a:cubicBezTo>
                  <a:cubicBezTo>
                    <a:pt x="181" y="159"/>
                    <a:pt x="181" y="159"/>
                    <a:pt x="181" y="159"/>
                  </a:cubicBezTo>
                  <a:cubicBezTo>
                    <a:pt x="183" y="160"/>
                    <a:pt x="185" y="160"/>
                    <a:pt x="187" y="160"/>
                  </a:cubicBezTo>
                  <a:cubicBezTo>
                    <a:pt x="190" y="160"/>
                    <a:pt x="194" y="158"/>
                    <a:pt x="196" y="155"/>
                  </a:cubicBezTo>
                  <a:cubicBezTo>
                    <a:pt x="199" y="150"/>
                    <a:pt x="197" y="143"/>
                    <a:pt x="192" y="140"/>
                  </a:cubicBezTo>
                  <a:close/>
                  <a:moveTo>
                    <a:pt x="98" y="118"/>
                  </a:moveTo>
                  <a:cubicBezTo>
                    <a:pt x="92" y="118"/>
                    <a:pt x="87" y="113"/>
                    <a:pt x="87" y="107"/>
                  </a:cubicBezTo>
                  <a:cubicBezTo>
                    <a:pt x="87" y="101"/>
                    <a:pt x="92" y="96"/>
                    <a:pt x="98" y="96"/>
                  </a:cubicBezTo>
                  <a:cubicBezTo>
                    <a:pt x="104" y="96"/>
                    <a:pt x="108" y="101"/>
                    <a:pt x="108" y="107"/>
                  </a:cubicBezTo>
                  <a:cubicBezTo>
                    <a:pt x="108" y="113"/>
                    <a:pt x="104" y="118"/>
                    <a:pt x="98" y="1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8" name="Freeform 641"/>
            <p:cNvSpPr>
              <a:spLocks noEditPoints="1"/>
            </p:cNvSpPr>
            <p:nvPr/>
          </p:nvSpPr>
          <p:spPr bwMode="auto">
            <a:xfrm>
              <a:off x="4300" y="2260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  <p:grpSp>
        <p:nvGrpSpPr>
          <p:cNvPr id="9" name="Group 541"/>
          <p:cNvGrpSpPr>
            <a:grpSpLocks noChangeAspect="1"/>
          </p:cNvGrpSpPr>
          <p:nvPr/>
        </p:nvGrpSpPr>
        <p:grpSpPr bwMode="auto">
          <a:xfrm>
            <a:off x="4756080" y="2681156"/>
            <a:ext cx="250695" cy="250695"/>
            <a:chOff x="5326" y="2494"/>
            <a:chExt cx="340" cy="340"/>
          </a:xfrm>
          <a:solidFill>
            <a:srgbClr val="86BC25"/>
          </a:solidFill>
        </p:grpSpPr>
        <p:sp>
          <p:nvSpPr>
            <p:cNvPr id="11" name="Freeform 542"/>
            <p:cNvSpPr>
              <a:spLocks noEditPoints="1"/>
            </p:cNvSpPr>
            <p:nvPr/>
          </p:nvSpPr>
          <p:spPr bwMode="auto">
            <a:xfrm>
              <a:off x="5430" y="2558"/>
              <a:ext cx="132" cy="212"/>
            </a:xfrm>
            <a:custGeom>
              <a:avLst/>
              <a:gdLst>
                <a:gd name="T0" fmla="*/ 99 w 199"/>
                <a:gd name="T1" fmla="*/ 0 h 320"/>
                <a:gd name="T2" fmla="*/ 99 w 199"/>
                <a:gd name="T3" fmla="*/ 0 h 320"/>
                <a:gd name="T4" fmla="*/ 99 w 199"/>
                <a:gd name="T5" fmla="*/ 0 h 320"/>
                <a:gd name="T6" fmla="*/ 99 w 199"/>
                <a:gd name="T7" fmla="*/ 0 h 320"/>
                <a:gd name="T8" fmla="*/ 98 w 199"/>
                <a:gd name="T9" fmla="*/ 0 h 320"/>
                <a:gd name="T10" fmla="*/ 0 w 199"/>
                <a:gd name="T11" fmla="*/ 95 h 320"/>
                <a:gd name="T12" fmla="*/ 19 w 199"/>
                <a:gd name="T13" fmla="*/ 158 h 320"/>
                <a:gd name="T14" fmla="*/ 45 w 199"/>
                <a:gd name="T15" fmla="*/ 213 h 320"/>
                <a:gd name="T16" fmla="*/ 45 w 199"/>
                <a:gd name="T17" fmla="*/ 245 h 320"/>
                <a:gd name="T18" fmla="*/ 46 w 199"/>
                <a:gd name="T19" fmla="*/ 246 h 320"/>
                <a:gd name="T20" fmla="*/ 45 w 199"/>
                <a:gd name="T21" fmla="*/ 247 h 320"/>
                <a:gd name="T22" fmla="*/ 56 w 199"/>
                <a:gd name="T23" fmla="*/ 311 h 320"/>
                <a:gd name="T24" fmla="*/ 67 w 199"/>
                <a:gd name="T25" fmla="*/ 320 h 320"/>
                <a:gd name="T26" fmla="*/ 131 w 199"/>
                <a:gd name="T27" fmla="*/ 320 h 320"/>
                <a:gd name="T28" fmla="*/ 141 w 199"/>
                <a:gd name="T29" fmla="*/ 311 h 320"/>
                <a:gd name="T30" fmla="*/ 152 w 199"/>
                <a:gd name="T31" fmla="*/ 247 h 320"/>
                <a:gd name="T32" fmla="*/ 152 w 199"/>
                <a:gd name="T33" fmla="*/ 246 h 320"/>
                <a:gd name="T34" fmla="*/ 152 w 199"/>
                <a:gd name="T35" fmla="*/ 245 h 320"/>
                <a:gd name="T36" fmla="*/ 152 w 199"/>
                <a:gd name="T37" fmla="*/ 213 h 320"/>
                <a:gd name="T38" fmla="*/ 179 w 199"/>
                <a:gd name="T39" fmla="*/ 158 h 320"/>
                <a:gd name="T40" fmla="*/ 199 w 199"/>
                <a:gd name="T41" fmla="*/ 95 h 320"/>
                <a:gd name="T42" fmla="*/ 99 w 199"/>
                <a:gd name="T43" fmla="*/ 0 h 320"/>
                <a:gd name="T44" fmla="*/ 122 w 199"/>
                <a:gd name="T45" fmla="*/ 298 h 320"/>
                <a:gd name="T46" fmla="*/ 76 w 199"/>
                <a:gd name="T47" fmla="*/ 298 h 320"/>
                <a:gd name="T48" fmla="*/ 69 w 199"/>
                <a:gd name="T49" fmla="*/ 256 h 320"/>
                <a:gd name="T50" fmla="*/ 129 w 199"/>
                <a:gd name="T51" fmla="*/ 256 h 320"/>
                <a:gd name="T52" fmla="*/ 122 w 199"/>
                <a:gd name="T53" fmla="*/ 298 h 320"/>
                <a:gd name="T54" fmla="*/ 161 w 199"/>
                <a:gd name="T55" fmla="*/ 147 h 320"/>
                <a:gd name="T56" fmla="*/ 131 w 199"/>
                <a:gd name="T57" fmla="*/ 213 h 320"/>
                <a:gd name="T58" fmla="*/ 131 w 199"/>
                <a:gd name="T59" fmla="*/ 234 h 320"/>
                <a:gd name="T60" fmla="*/ 109 w 199"/>
                <a:gd name="T61" fmla="*/ 234 h 320"/>
                <a:gd name="T62" fmla="*/ 109 w 199"/>
                <a:gd name="T63" fmla="*/ 153 h 320"/>
                <a:gd name="T64" fmla="*/ 128 w 199"/>
                <a:gd name="T65" fmla="*/ 135 h 320"/>
                <a:gd name="T66" fmla="*/ 128 w 199"/>
                <a:gd name="T67" fmla="*/ 120 h 320"/>
                <a:gd name="T68" fmla="*/ 112 w 199"/>
                <a:gd name="T69" fmla="*/ 120 h 320"/>
                <a:gd name="T70" fmla="*/ 99 w 199"/>
                <a:gd name="T71" fmla="*/ 134 h 320"/>
                <a:gd name="T72" fmla="*/ 85 w 199"/>
                <a:gd name="T73" fmla="*/ 120 h 320"/>
                <a:gd name="T74" fmla="*/ 70 w 199"/>
                <a:gd name="T75" fmla="*/ 120 h 320"/>
                <a:gd name="T76" fmla="*/ 70 w 199"/>
                <a:gd name="T77" fmla="*/ 135 h 320"/>
                <a:gd name="T78" fmla="*/ 88 w 199"/>
                <a:gd name="T79" fmla="*/ 153 h 320"/>
                <a:gd name="T80" fmla="*/ 88 w 199"/>
                <a:gd name="T81" fmla="*/ 234 h 320"/>
                <a:gd name="T82" fmla="*/ 67 w 199"/>
                <a:gd name="T83" fmla="*/ 234 h 320"/>
                <a:gd name="T84" fmla="*/ 67 w 199"/>
                <a:gd name="T85" fmla="*/ 213 h 320"/>
                <a:gd name="T86" fmla="*/ 37 w 199"/>
                <a:gd name="T87" fmla="*/ 146 h 320"/>
                <a:gd name="T88" fmla="*/ 21 w 199"/>
                <a:gd name="T89" fmla="*/ 95 h 320"/>
                <a:gd name="T90" fmla="*/ 99 w 199"/>
                <a:gd name="T91" fmla="*/ 21 h 320"/>
                <a:gd name="T92" fmla="*/ 177 w 199"/>
                <a:gd name="T93" fmla="*/ 95 h 320"/>
                <a:gd name="T94" fmla="*/ 161 w 199"/>
                <a:gd name="T95" fmla="*/ 147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9" h="320">
                  <a:moveTo>
                    <a:pt x="99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8" y="0"/>
                  </a:cubicBezTo>
                  <a:cubicBezTo>
                    <a:pt x="45" y="0"/>
                    <a:pt x="0" y="44"/>
                    <a:pt x="0" y="95"/>
                  </a:cubicBezTo>
                  <a:cubicBezTo>
                    <a:pt x="0" y="129"/>
                    <a:pt x="18" y="157"/>
                    <a:pt x="19" y="158"/>
                  </a:cubicBezTo>
                  <a:cubicBezTo>
                    <a:pt x="32" y="179"/>
                    <a:pt x="45" y="206"/>
                    <a:pt x="45" y="213"/>
                  </a:cubicBezTo>
                  <a:cubicBezTo>
                    <a:pt x="45" y="245"/>
                    <a:pt x="45" y="245"/>
                    <a:pt x="45" y="245"/>
                  </a:cubicBezTo>
                  <a:cubicBezTo>
                    <a:pt x="45" y="245"/>
                    <a:pt x="45" y="246"/>
                    <a:pt x="46" y="246"/>
                  </a:cubicBezTo>
                  <a:cubicBezTo>
                    <a:pt x="46" y="246"/>
                    <a:pt x="45" y="246"/>
                    <a:pt x="45" y="247"/>
                  </a:cubicBezTo>
                  <a:cubicBezTo>
                    <a:pt x="56" y="311"/>
                    <a:pt x="56" y="311"/>
                    <a:pt x="56" y="311"/>
                  </a:cubicBezTo>
                  <a:cubicBezTo>
                    <a:pt x="57" y="316"/>
                    <a:pt x="61" y="320"/>
                    <a:pt x="67" y="320"/>
                  </a:cubicBezTo>
                  <a:cubicBezTo>
                    <a:pt x="131" y="320"/>
                    <a:pt x="131" y="320"/>
                    <a:pt x="131" y="320"/>
                  </a:cubicBezTo>
                  <a:cubicBezTo>
                    <a:pt x="136" y="320"/>
                    <a:pt x="140" y="316"/>
                    <a:pt x="141" y="311"/>
                  </a:cubicBezTo>
                  <a:cubicBezTo>
                    <a:pt x="152" y="247"/>
                    <a:pt x="152" y="247"/>
                    <a:pt x="152" y="247"/>
                  </a:cubicBezTo>
                  <a:cubicBezTo>
                    <a:pt x="152" y="246"/>
                    <a:pt x="152" y="246"/>
                    <a:pt x="152" y="246"/>
                  </a:cubicBezTo>
                  <a:cubicBezTo>
                    <a:pt x="152" y="246"/>
                    <a:pt x="152" y="245"/>
                    <a:pt x="152" y="245"/>
                  </a:cubicBezTo>
                  <a:cubicBezTo>
                    <a:pt x="152" y="213"/>
                    <a:pt x="152" y="213"/>
                    <a:pt x="152" y="213"/>
                  </a:cubicBezTo>
                  <a:cubicBezTo>
                    <a:pt x="152" y="206"/>
                    <a:pt x="166" y="179"/>
                    <a:pt x="179" y="158"/>
                  </a:cubicBezTo>
                  <a:cubicBezTo>
                    <a:pt x="180" y="157"/>
                    <a:pt x="199" y="129"/>
                    <a:pt x="199" y="95"/>
                  </a:cubicBezTo>
                  <a:cubicBezTo>
                    <a:pt x="199" y="44"/>
                    <a:pt x="153" y="0"/>
                    <a:pt x="99" y="0"/>
                  </a:cubicBezTo>
                  <a:close/>
                  <a:moveTo>
                    <a:pt x="122" y="298"/>
                  </a:moveTo>
                  <a:cubicBezTo>
                    <a:pt x="76" y="298"/>
                    <a:pt x="76" y="298"/>
                    <a:pt x="76" y="298"/>
                  </a:cubicBezTo>
                  <a:cubicBezTo>
                    <a:pt x="69" y="256"/>
                    <a:pt x="69" y="256"/>
                    <a:pt x="69" y="256"/>
                  </a:cubicBezTo>
                  <a:cubicBezTo>
                    <a:pt x="129" y="256"/>
                    <a:pt x="129" y="256"/>
                    <a:pt x="129" y="256"/>
                  </a:cubicBezTo>
                  <a:lnTo>
                    <a:pt x="122" y="298"/>
                  </a:lnTo>
                  <a:close/>
                  <a:moveTo>
                    <a:pt x="161" y="147"/>
                  </a:moveTo>
                  <a:cubicBezTo>
                    <a:pt x="154" y="158"/>
                    <a:pt x="131" y="196"/>
                    <a:pt x="131" y="213"/>
                  </a:cubicBezTo>
                  <a:cubicBezTo>
                    <a:pt x="131" y="234"/>
                    <a:pt x="131" y="234"/>
                    <a:pt x="131" y="234"/>
                  </a:cubicBezTo>
                  <a:cubicBezTo>
                    <a:pt x="109" y="234"/>
                    <a:pt x="109" y="234"/>
                    <a:pt x="109" y="234"/>
                  </a:cubicBezTo>
                  <a:cubicBezTo>
                    <a:pt x="109" y="153"/>
                    <a:pt x="109" y="153"/>
                    <a:pt x="109" y="153"/>
                  </a:cubicBezTo>
                  <a:cubicBezTo>
                    <a:pt x="128" y="135"/>
                    <a:pt x="128" y="135"/>
                    <a:pt x="128" y="135"/>
                  </a:cubicBezTo>
                  <a:cubicBezTo>
                    <a:pt x="132" y="131"/>
                    <a:pt x="132" y="124"/>
                    <a:pt x="128" y="120"/>
                  </a:cubicBezTo>
                  <a:cubicBezTo>
                    <a:pt x="123" y="116"/>
                    <a:pt x="117" y="116"/>
                    <a:pt x="112" y="120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85" y="120"/>
                    <a:pt x="85" y="120"/>
                    <a:pt x="85" y="120"/>
                  </a:cubicBezTo>
                  <a:cubicBezTo>
                    <a:pt x="81" y="116"/>
                    <a:pt x="74" y="116"/>
                    <a:pt x="70" y="120"/>
                  </a:cubicBezTo>
                  <a:cubicBezTo>
                    <a:pt x="66" y="124"/>
                    <a:pt x="66" y="131"/>
                    <a:pt x="70" y="135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234"/>
                    <a:pt x="88" y="234"/>
                    <a:pt x="88" y="234"/>
                  </a:cubicBezTo>
                  <a:cubicBezTo>
                    <a:pt x="67" y="234"/>
                    <a:pt x="67" y="234"/>
                    <a:pt x="67" y="234"/>
                  </a:cubicBezTo>
                  <a:cubicBezTo>
                    <a:pt x="67" y="213"/>
                    <a:pt x="67" y="213"/>
                    <a:pt x="67" y="213"/>
                  </a:cubicBezTo>
                  <a:cubicBezTo>
                    <a:pt x="67" y="196"/>
                    <a:pt x="44" y="158"/>
                    <a:pt x="37" y="146"/>
                  </a:cubicBezTo>
                  <a:cubicBezTo>
                    <a:pt x="37" y="146"/>
                    <a:pt x="21" y="123"/>
                    <a:pt x="21" y="95"/>
                  </a:cubicBezTo>
                  <a:cubicBezTo>
                    <a:pt x="21" y="55"/>
                    <a:pt x="57" y="21"/>
                    <a:pt x="99" y="21"/>
                  </a:cubicBezTo>
                  <a:cubicBezTo>
                    <a:pt x="141" y="21"/>
                    <a:pt x="177" y="55"/>
                    <a:pt x="177" y="95"/>
                  </a:cubicBezTo>
                  <a:cubicBezTo>
                    <a:pt x="177" y="122"/>
                    <a:pt x="161" y="146"/>
                    <a:pt x="161" y="147"/>
                  </a:cubicBezTo>
                  <a:close/>
                </a:path>
              </a:pathLst>
            </a:custGeom>
            <a:grpFill/>
            <a:ln>
              <a:solidFill>
                <a:srgbClr val="86BC25"/>
              </a:solidFill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2" name="Freeform 543"/>
            <p:cNvSpPr>
              <a:spLocks noEditPoints="1"/>
            </p:cNvSpPr>
            <p:nvPr/>
          </p:nvSpPr>
          <p:spPr bwMode="auto">
            <a:xfrm>
              <a:off x="5326" y="2494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rgbClr val="86BC25"/>
              </a:solidFill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  <p:grpSp>
        <p:nvGrpSpPr>
          <p:cNvPr id="13" name="Group 432"/>
          <p:cNvGrpSpPr>
            <a:grpSpLocks noChangeAspect="1"/>
          </p:cNvGrpSpPr>
          <p:nvPr/>
        </p:nvGrpSpPr>
        <p:grpSpPr bwMode="auto">
          <a:xfrm>
            <a:off x="4762658" y="2127249"/>
            <a:ext cx="252494" cy="253235"/>
            <a:chOff x="3505" y="1546"/>
            <a:chExt cx="340" cy="341"/>
          </a:xfrm>
          <a:solidFill>
            <a:schemeClr val="tx1"/>
          </a:solidFill>
        </p:grpSpPr>
        <p:sp>
          <p:nvSpPr>
            <p:cNvPr id="14" name="Freeform 433"/>
            <p:cNvSpPr>
              <a:spLocks noEditPoints="1"/>
            </p:cNvSpPr>
            <p:nvPr/>
          </p:nvSpPr>
          <p:spPr bwMode="auto">
            <a:xfrm>
              <a:off x="3569" y="1610"/>
              <a:ext cx="212" cy="213"/>
            </a:xfrm>
            <a:custGeom>
              <a:avLst/>
              <a:gdLst>
                <a:gd name="T0" fmla="*/ 309 w 320"/>
                <a:gd name="T1" fmla="*/ 149 h 320"/>
                <a:gd name="T2" fmla="*/ 287 w 320"/>
                <a:gd name="T3" fmla="*/ 149 h 320"/>
                <a:gd name="T4" fmla="*/ 170 w 320"/>
                <a:gd name="T5" fmla="*/ 32 h 320"/>
                <a:gd name="T6" fmla="*/ 170 w 320"/>
                <a:gd name="T7" fmla="*/ 10 h 320"/>
                <a:gd name="T8" fmla="*/ 160 w 320"/>
                <a:gd name="T9" fmla="*/ 0 h 320"/>
                <a:gd name="T10" fmla="*/ 149 w 320"/>
                <a:gd name="T11" fmla="*/ 10 h 320"/>
                <a:gd name="T12" fmla="*/ 149 w 320"/>
                <a:gd name="T13" fmla="*/ 32 h 320"/>
                <a:gd name="T14" fmla="*/ 32 w 320"/>
                <a:gd name="T15" fmla="*/ 149 h 320"/>
                <a:gd name="T16" fmla="*/ 10 w 320"/>
                <a:gd name="T17" fmla="*/ 149 h 320"/>
                <a:gd name="T18" fmla="*/ 0 w 320"/>
                <a:gd name="T19" fmla="*/ 160 h 320"/>
                <a:gd name="T20" fmla="*/ 10 w 320"/>
                <a:gd name="T21" fmla="*/ 170 h 320"/>
                <a:gd name="T22" fmla="*/ 32 w 320"/>
                <a:gd name="T23" fmla="*/ 170 h 320"/>
                <a:gd name="T24" fmla="*/ 149 w 320"/>
                <a:gd name="T25" fmla="*/ 287 h 320"/>
                <a:gd name="T26" fmla="*/ 149 w 320"/>
                <a:gd name="T27" fmla="*/ 309 h 320"/>
                <a:gd name="T28" fmla="*/ 160 w 320"/>
                <a:gd name="T29" fmla="*/ 320 h 320"/>
                <a:gd name="T30" fmla="*/ 170 w 320"/>
                <a:gd name="T31" fmla="*/ 309 h 320"/>
                <a:gd name="T32" fmla="*/ 170 w 320"/>
                <a:gd name="T33" fmla="*/ 287 h 320"/>
                <a:gd name="T34" fmla="*/ 287 w 320"/>
                <a:gd name="T35" fmla="*/ 170 h 320"/>
                <a:gd name="T36" fmla="*/ 309 w 320"/>
                <a:gd name="T37" fmla="*/ 170 h 320"/>
                <a:gd name="T38" fmla="*/ 320 w 320"/>
                <a:gd name="T39" fmla="*/ 160 h 320"/>
                <a:gd name="T40" fmla="*/ 309 w 320"/>
                <a:gd name="T41" fmla="*/ 149 h 320"/>
                <a:gd name="T42" fmla="*/ 266 w 320"/>
                <a:gd name="T43" fmla="*/ 149 h 320"/>
                <a:gd name="T44" fmla="*/ 233 w 320"/>
                <a:gd name="T45" fmla="*/ 149 h 320"/>
                <a:gd name="T46" fmla="*/ 170 w 320"/>
                <a:gd name="T47" fmla="*/ 86 h 320"/>
                <a:gd name="T48" fmla="*/ 170 w 320"/>
                <a:gd name="T49" fmla="*/ 54 h 320"/>
                <a:gd name="T50" fmla="*/ 266 w 320"/>
                <a:gd name="T51" fmla="*/ 149 h 320"/>
                <a:gd name="T52" fmla="*/ 149 w 320"/>
                <a:gd name="T53" fmla="*/ 149 h 320"/>
                <a:gd name="T54" fmla="*/ 107 w 320"/>
                <a:gd name="T55" fmla="*/ 149 h 320"/>
                <a:gd name="T56" fmla="*/ 149 w 320"/>
                <a:gd name="T57" fmla="*/ 107 h 320"/>
                <a:gd name="T58" fmla="*/ 149 w 320"/>
                <a:gd name="T59" fmla="*/ 149 h 320"/>
                <a:gd name="T60" fmla="*/ 149 w 320"/>
                <a:gd name="T61" fmla="*/ 170 h 320"/>
                <a:gd name="T62" fmla="*/ 149 w 320"/>
                <a:gd name="T63" fmla="*/ 212 h 320"/>
                <a:gd name="T64" fmla="*/ 107 w 320"/>
                <a:gd name="T65" fmla="*/ 170 h 320"/>
                <a:gd name="T66" fmla="*/ 149 w 320"/>
                <a:gd name="T67" fmla="*/ 170 h 320"/>
                <a:gd name="T68" fmla="*/ 170 w 320"/>
                <a:gd name="T69" fmla="*/ 170 h 320"/>
                <a:gd name="T70" fmla="*/ 212 w 320"/>
                <a:gd name="T71" fmla="*/ 170 h 320"/>
                <a:gd name="T72" fmla="*/ 170 w 320"/>
                <a:gd name="T73" fmla="*/ 212 h 320"/>
                <a:gd name="T74" fmla="*/ 170 w 320"/>
                <a:gd name="T75" fmla="*/ 170 h 320"/>
                <a:gd name="T76" fmla="*/ 170 w 320"/>
                <a:gd name="T77" fmla="*/ 149 h 320"/>
                <a:gd name="T78" fmla="*/ 170 w 320"/>
                <a:gd name="T79" fmla="*/ 107 h 320"/>
                <a:gd name="T80" fmla="*/ 212 w 320"/>
                <a:gd name="T81" fmla="*/ 149 h 320"/>
                <a:gd name="T82" fmla="*/ 170 w 320"/>
                <a:gd name="T83" fmla="*/ 149 h 320"/>
                <a:gd name="T84" fmla="*/ 149 w 320"/>
                <a:gd name="T85" fmla="*/ 54 h 320"/>
                <a:gd name="T86" fmla="*/ 149 w 320"/>
                <a:gd name="T87" fmla="*/ 86 h 320"/>
                <a:gd name="T88" fmla="*/ 86 w 320"/>
                <a:gd name="T89" fmla="*/ 149 h 320"/>
                <a:gd name="T90" fmla="*/ 54 w 320"/>
                <a:gd name="T91" fmla="*/ 149 h 320"/>
                <a:gd name="T92" fmla="*/ 149 w 320"/>
                <a:gd name="T93" fmla="*/ 54 h 320"/>
                <a:gd name="T94" fmla="*/ 54 w 320"/>
                <a:gd name="T95" fmla="*/ 170 h 320"/>
                <a:gd name="T96" fmla="*/ 86 w 320"/>
                <a:gd name="T97" fmla="*/ 170 h 320"/>
                <a:gd name="T98" fmla="*/ 149 w 320"/>
                <a:gd name="T99" fmla="*/ 233 h 320"/>
                <a:gd name="T100" fmla="*/ 149 w 320"/>
                <a:gd name="T101" fmla="*/ 266 h 320"/>
                <a:gd name="T102" fmla="*/ 54 w 320"/>
                <a:gd name="T103" fmla="*/ 170 h 320"/>
                <a:gd name="T104" fmla="*/ 170 w 320"/>
                <a:gd name="T105" fmla="*/ 266 h 320"/>
                <a:gd name="T106" fmla="*/ 170 w 320"/>
                <a:gd name="T107" fmla="*/ 233 h 320"/>
                <a:gd name="T108" fmla="*/ 233 w 320"/>
                <a:gd name="T109" fmla="*/ 170 h 320"/>
                <a:gd name="T110" fmla="*/ 266 w 320"/>
                <a:gd name="T111" fmla="*/ 170 h 320"/>
                <a:gd name="T112" fmla="*/ 170 w 320"/>
                <a:gd name="T113" fmla="*/ 26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0" h="320">
                  <a:moveTo>
                    <a:pt x="309" y="149"/>
                  </a:moveTo>
                  <a:cubicBezTo>
                    <a:pt x="287" y="149"/>
                    <a:pt x="287" y="149"/>
                    <a:pt x="287" y="149"/>
                  </a:cubicBezTo>
                  <a:cubicBezTo>
                    <a:pt x="282" y="87"/>
                    <a:pt x="232" y="37"/>
                    <a:pt x="170" y="32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4"/>
                    <a:pt x="166" y="0"/>
                    <a:pt x="160" y="0"/>
                  </a:cubicBezTo>
                  <a:cubicBezTo>
                    <a:pt x="154" y="0"/>
                    <a:pt x="149" y="4"/>
                    <a:pt x="149" y="10"/>
                  </a:cubicBezTo>
                  <a:cubicBezTo>
                    <a:pt x="149" y="32"/>
                    <a:pt x="149" y="32"/>
                    <a:pt x="149" y="32"/>
                  </a:cubicBezTo>
                  <a:cubicBezTo>
                    <a:pt x="87" y="37"/>
                    <a:pt x="37" y="87"/>
                    <a:pt x="32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4" y="149"/>
                    <a:pt x="0" y="154"/>
                    <a:pt x="0" y="160"/>
                  </a:cubicBezTo>
                  <a:cubicBezTo>
                    <a:pt x="0" y="166"/>
                    <a:pt x="4" y="170"/>
                    <a:pt x="10" y="170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7" y="232"/>
                    <a:pt x="87" y="282"/>
                    <a:pt x="149" y="287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15"/>
                    <a:pt x="154" y="320"/>
                    <a:pt x="160" y="320"/>
                  </a:cubicBezTo>
                  <a:cubicBezTo>
                    <a:pt x="166" y="320"/>
                    <a:pt x="170" y="315"/>
                    <a:pt x="170" y="309"/>
                  </a:cubicBezTo>
                  <a:cubicBezTo>
                    <a:pt x="170" y="287"/>
                    <a:pt x="170" y="287"/>
                    <a:pt x="170" y="287"/>
                  </a:cubicBezTo>
                  <a:cubicBezTo>
                    <a:pt x="232" y="282"/>
                    <a:pt x="282" y="232"/>
                    <a:pt x="287" y="170"/>
                  </a:cubicBezTo>
                  <a:cubicBezTo>
                    <a:pt x="309" y="170"/>
                    <a:pt x="309" y="170"/>
                    <a:pt x="309" y="170"/>
                  </a:cubicBezTo>
                  <a:cubicBezTo>
                    <a:pt x="315" y="170"/>
                    <a:pt x="320" y="166"/>
                    <a:pt x="320" y="160"/>
                  </a:cubicBezTo>
                  <a:cubicBezTo>
                    <a:pt x="320" y="154"/>
                    <a:pt x="315" y="149"/>
                    <a:pt x="309" y="149"/>
                  </a:cubicBezTo>
                  <a:close/>
                  <a:moveTo>
                    <a:pt x="266" y="149"/>
                  </a:moveTo>
                  <a:cubicBezTo>
                    <a:pt x="233" y="149"/>
                    <a:pt x="233" y="149"/>
                    <a:pt x="233" y="149"/>
                  </a:cubicBezTo>
                  <a:cubicBezTo>
                    <a:pt x="229" y="116"/>
                    <a:pt x="203" y="91"/>
                    <a:pt x="170" y="86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221" y="59"/>
                    <a:pt x="261" y="99"/>
                    <a:pt x="266" y="149"/>
                  </a:cubicBezTo>
                  <a:close/>
                  <a:moveTo>
                    <a:pt x="149" y="149"/>
                  </a:moveTo>
                  <a:cubicBezTo>
                    <a:pt x="107" y="149"/>
                    <a:pt x="107" y="149"/>
                    <a:pt x="107" y="149"/>
                  </a:cubicBezTo>
                  <a:cubicBezTo>
                    <a:pt x="112" y="128"/>
                    <a:pt x="128" y="112"/>
                    <a:pt x="149" y="107"/>
                  </a:cubicBezTo>
                  <a:lnTo>
                    <a:pt x="149" y="149"/>
                  </a:lnTo>
                  <a:close/>
                  <a:moveTo>
                    <a:pt x="149" y="170"/>
                  </a:moveTo>
                  <a:cubicBezTo>
                    <a:pt x="149" y="212"/>
                    <a:pt x="149" y="212"/>
                    <a:pt x="149" y="212"/>
                  </a:cubicBezTo>
                  <a:cubicBezTo>
                    <a:pt x="128" y="208"/>
                    <a:pt x="112" y="191"/>
                    <a:pt x="107" y="170"/>
                  </a:cubicBezTo>
                  <a:lnTo>
                    <a:pt x="149" y="170"/>
                  </a:lnTo>
                  <a:close/>
                  <a:moveTo>
                    <a:pt x="170" y="170"/>
                  </a:moveTo>
                  <a:cubicBezTo>
                    <a:pt x="212" y="170"/>
                    <a:pt x="212" y="170"/>
                    <a:pt x="212" y="170"/>
                  </a:cubicBezTo>
                  <a:cubicBezTo>
                    <a:pt x="208" y="191"/>
                    <a:pt x="191" y="208"/>
                    <a:pt x="170" y="212"/>
                  </a:cubicBezTo>
                  <a:lnTo>
                    <a:pt x="170" y="170"/>
                  </a:lnTo>
                  <a:close/>
                  <a:moveTo>
                    <a:pt x="170" y="149"/>
                  </a:moveTo>
                  <a:cubicBezTo>
                    <a:pt x="170" y="107"/>
                    <a:pt x="170" y="107"/>
                    <a:pt x="170" y="107"/>
                  </a:cubicBezTo>
                  <a:cubicBezTo>
                    <a:pt x="191" y="112"/>
                    <a:pt x="208" y="128"/>
                    <a:pt x="212" y="149"/>
                  </a:cubicBezTo>
                  <a:lnTo>
                    <a:pt x="170" y="149"/>
                  </a:lnTo>
                  <a:close/>
                  <a:moveTo>
                    <a:pt x="149" y="54"/>
                  </a:moveTo>
                  <a:cubicBezTo>
                    <a:pt x="149" y="86"/>
                    <a:pt x="149" y="86"/>
                    <a:pt x="149" y="86"/>
                  </a:cubicBezTo>
                  <a:cubicBezTo>
                    <a:pt x="116" y="91"/>
                    <a:pt x="91" y="116"/>
                    <a:pt x="86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9" y="99"/>
                    <a:pt x="99" y="59"/>
                    <a:pt x="149" y="54"/>
                  </a:cubicBezTo>
                  <a:close/>
                  <a:moveTo>
                    <a:pt x="54" y="170"/>
                  </a:moveTo>
                  <a:cubicBezTo>
                    <a:pt x="86" y="170"/>
                    <a:pt x="86" y="170"/>
                    <a:pt x="86" y="170"/>
                  </a:cubicBezTo>
                  <a:cubicBezTo>
                    <a:pt x="91" y="203"/>
                    <a:pt x="116" y="229"/>
                    <a:pt x="149" y="233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99" y="261"/>
                    <a:pt x="59" y="221"/>
                    <a:pt x="54" y="170"/>
                  </a:cubicBezTo>
                  <a:close/>
                  <a:moveTo>
                    <a:pt x="170" y="266"/>
                  </a:moveTo>
                  <a:cubicBezTo>
                    <a:pt x="170" y="233"/>
                    <a:pt x="170" y="233"/>
                    <a:pt x="170" y="233"/>
                  </a:cubicBezTo>
                  <a:cubicBezTo>
                    <a:pt x="203" y="229"/>
                    <a:pt x="229" y="203"/>
                    <a:pt x="233" y="170"/>
                  </a:cubicBezTo>
                  <a:cubicBezTo>
                    <a:pt x="266" y="170"/>
                    <a:pt x="266" y="170"/>
                    <a:pt x="266" y="170"/>
                  </a:cubicBezTo>
                  <a:cubicBezTo>
                    <a:pt x="261" y="221"/>
                    <a:pt x="221" y="261"/>
                    <a:pt x="170" y="2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5" name="Freeform 434"/>
            <p:cNvSpPr>
              <a:spLocks noEditPoints="1"/>
            </p:cNvSpPr>
            <p:nvPr/>
          </p:nvSpPr>
          <p:spPr bwMode="auto">
            <a:xfrm>
              <a:off x="3505" y="1546"/>
              <a:ext cx="340" cy="341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/>
      </p:transition>
    </mc:Choice>
    <mc:Fallback>
      <p:transition spd="slow">
        <p:spli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2" name="组合 71"/>
          <p:cNvGrpSpPr/>
          <p:nvPr/>
        </p:nvGrpSpPr>
        <p:grpSpPr>
          <a:xfrm>
            <a:off x="1358134" y="2209800"/>
            <a:ext cx="4188915" cy="2968980"/>
            <a:chOff x="154485" y="2212975"/>
            <a:chExt cx="4465638" cy="3238500"/>
          </a:xfrm>
        </p:grpSpPr>
        <p:sp>
          <p:nvSpPr>
            <p:cNvPr id="8" name="Rectangle 47"/>
            <p:cNvSpPr/>
            <p:nvPr/>
          </p:nvSpPr>
          <p:spPr bwMode="auto">
            <a:xfrm>
              <a:off x="640260" y="2212975"/>
              <a:ext cx="3548063" cy="2743200"/>
            </a:xfrm>
            <a:prstGeom prst="rect">
              <a:avLst/>
            </a:prstGeom>
            <a:solidFill>
              <a:srgbClr val="C6EFFF">
                <a:alpha val="70000"/>
              </a:srgbClr>
            </a:solidFill>
            <a:ln w="19050"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46800" bIns="46800" anchor="t" anchorCtr="0"/>
            <a:lstStyle/>
            <a:p>
              <a:pPr algn="ctr" eaLnBrk="0" hangingPunct="0">
                <a:spcAft>
                  <a:spcPts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None/>
                <a:defRPr/>
              </a:pPr>
              <a:endParaRPr lang="en-US" sz="16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1006020" y="2638864"/>
              <a:ext cx="2743200" cy="548640"/>
            </a:xfrm>
            <a:prstGeom prst="rect">
              <a:avLst/>
            </a:prstGeom>
            <a:solidFill>
              <a:srgbClr val="92D400"/>
            </a:solidFill>
            <a:ln w="6350" algn="ctr">
              <a:noFill/>
              <a:miter lim="800000"/>
            </a:ln>
            <a:effectLst/>
          </p:spPr>
          <p:txBody>
            <a:bodyPr wrap="none" lIns="0" rIns="0" rtlCol="0" anchor="ctr"/>
            <a:lstStyle>
              <a:defPPr>
                <a:defRPr lang="zh-CN"/>
              </a:defPPr>
              <a:lvl1pPr algn="ctr">
                <a:lnSpc>
                  <a:spcPct val="90000"/>
                </a:lnSpc>
                <a:spcBef>
                  <a:spcPct val="50000"/>
                </a:spcBef>
                <a:defRPr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chemeClr val="tx2"/>
                  </a:solidFill>
                </a:rPr>
                <a:t>业务价值</a:t>
              </a:r>
              <a:endParaRPr lang="en-US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006020" y="3379762"/>
              <a:ext cx="2743200" cy="548640"/>
            </a:xfrm>
            <a:prstGeom prst="rect">
              <a:avLst/>
            </a:prstGeom>
            <a:solidFill>
              <a:srgbClr val="00B0F0"/>
            </a:solidFill>
            <a:ln w="6350" algn="ctr">
              <a:noFill/>
              <a:miter lim="800000"/>
            </a:ln>
            <a:effectLst/>
          </p:spPr>
          <p:txBody>
            <a:bodyPr wrap="none" lIns="0" rIns="0" rtlCol="0" anchor="ctr">
              <a:noAutofit/>
            </a:bodyPr>
            <a:lstStyle>
              <a:defPPr>
                <a:defRPr lang="zh-CN"/>
              </a:defPPr>
              <a:lvl1pPr algn="ctr">
                <a:lnSpc>
                  <a:spcPct val="90000"/>
                </a:lnSpc>
                <a:spcBef>
                  <a:spcPct val="50000"/>
                </a:spcBef>
                <a:defRPr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lvl="0" algn="ctr">
                <a:buClrTx/>
                <a:buSzTx/>
                <a:buFontTx/>
              </a:pPr>
              <a:r>
                <a:rPr lang="zh-CN" altLang="en-US" dirty="0" smtClean="0">
                  <a:solidFill>
                    <a:schemeClr val="tx2"/>
                  </a:solidFill>
                  <a:sym typeface="+mn-ea"/>
                </a:rPr>
                <a:t>数据架构</a:t>
              </a:r>
              <a:endParaRPr lang="zh-CN" altLang="en-US" dirty="0" smtClean="0">
                <a:solidFill>
                  <a:schemeClr val="tx2"/>
                </a:solidFill>
                <a:sym typeface="+mn-ea"/>
              </a:endParaRPr>
            </a:p>
          </p:txBody>
        </p:sp>
        <p:sp>
          <p:nvSpPr>
            <p:cNvPr id="11" name="Rectangle 50"/>
            <p:cNvSpPr/>
            <p:nvPr/>
          </p:nvSpPr>
          <p:spPr bwMode="auto">
            <a:xfrm>
              <a:off x="154485" y="4902200"/>
              <a:ext cx="4465638" cy="549275"/>
            </a:xfrm>
            <a:prstGeom prst="rect">
              <a:avLst/>
            </a:prstGeom>
            <a:solidFill>
              <a:srgbClr val="C6EFFF"/>
            </a:solidFill>
            <a:ln>
              <a:noFill/>
              <a:headEnd type="none" w="med" len="med"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46800" bIns="46800" anchor="ctr"/>
            <a:lstStyle/>
            <a:p>
              <a:pPr algn="ctr" eaLnBrk="0" hangingPunct="0"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endParaRPr 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40223" y="4998057"/>
              <a:ext cx="4135437" cy="367794"/>
            </a:xfrm>
            <a:prstGeom prst="rect">
              <a:avLst/>
            </a:prstGeom>
            <a:solidFill>
              <a:srgbClr val="92D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1" dirty="0" smtClean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以价值为导向的运营体系</a:t>
              </a:r>
              <a:endParaRPr lang="en-US" altLang="en-US" sz="16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1006020" y="4120660"/>
              <a:ext cx="2743200" cy="548640"/>
            </a:xfrm>
            <a:prstGeom prst="rect">
              <a:avLst/>
            </a:prstGeom>
            <a:solidFill>
              <a:srgbClr val="00B0F0"/>
            </a:solidFill>
            <a:ln w="6350" algn="ctr">
              <a:noFill/>
              <a:miter lim="800000"/>
            </a:ln>
            <a:effectLst/>
          </p:spPr>
          <p:txBody>
            <a:bodyPr wrap="none" lIns="0" rIns="0" rtlCol="0" anchor="ctr"/>
            <a:lstStyle>
              <a:defPPr>
                <a:defRPr lang="zh-CN"/>
              </a:defPPr>
              <a:lvl1pPr algn="ctr">
                <a:lnSpc>
                  <a:spcPct val="90000"/>
                </a:lnSpc>
                <a:spcBef>
                  <a:spcPct val="50000"/>
                </a:spcBef>
                <a:defRPr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dirty="0" smtClean="0">
                  <a:solidFill>
                    <a:schemeClr val="tx2"/>
                  </a:solidFill>
                </a:rPr>
                <a:t>逻辑技术</a:t>
              </a:r>
              <a:r>
                <a:rPr lang="zh-CN" altLang="en-US" dirty="0">
                  <a:solidFill>
                    <a:schemeClr val="tx2"/>
                  </a:solidFill>
                </a:rPr>
                <a:t>架构</a:t>
              </a:r>
              <a:endParaRPr lang="en-US" altLang="en-US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404610" y="1517650"/>
            <a:ext cx="4876800" cy="816610"/>
            <a:chOff x="5150939" y="2650246"/>
            <a:chExt cx="4384711" cy="1097280"/>
          </a:xfrm>
          <a:solidFill>
            <a:srgbClr val="72C7E7"/>
          </a:solidFill>
        </p:grpSpPr>
        <p:sp>
          <p:nvSpPr>
            <p:cNvPr id="7" name="TextBox 18"/>
            <p:cNvSpPr txBox="1"/>
            <p:nvPr/>
          </p:nvSpPr>
          <p:spPr bwMode="auto">
            <a:xfrm>
              <a:off x="5150939" y="2650246"/>
              <a:ext cx="4384711" cy="1097280"/>
            </a:xfrm>
            <a:prstGeom prst="rect">
              <a:avLst/>
            </a:prstGeom>
            <a:solidFill>
              <a:srgbClr val="92D400">
                <a:alpha val="70000"/>
              </a:srgbClr>
            </a:solidFill>
            <a:ln w="6350" algn="ctr">
              <a:noFill/>
              <a:miter lim="800000"/>
            </a:ln>
            <a:effectLst/>
          </p:spPr>
          <p:txBody>
            <a:bodyPr vert="horz" wrap="none" lIns="0" rIns="0" rtlCol="0" anchor="t" anchorCtr="0"/>
            <a:lstStyle>
              <a:defPPr>
                <a:defRPr lang="zh-CN"/>
              </a:defPPr>
              <a:lvl1pPr algn="ctr">
                <a:lnSpc>
                  <a:spcPct val="90000"/>
                </a:lnSpc>
                <a:spcBef>
                  <a:spcPct val="50000"/>
                </a:spcBef>
                <a:defRPr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  <a:lvl2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dirty="0">
                  <a:solidFill>
                    <a:srgbClr val="002776"/>
                  </a:solidFill>
                </a:rPr>
                <a:t>全面的价值体系</a:t>
              </a:r>
              <a:endParaRPr lang="zh-CN" altLang="en-US" sz="1400" dirty="0">
                <a:solidFill>
                  <a:srgbClr val="002776"/>
                </a:solidFill>
              </a:endParaRPr>
            </a:p>
          </p:txBody>
        </p:sp>
        <p:sp>
          <p:nvSpPr>
            <p:cNvPr id="14" name="Rounded Rectangle 47"/>
            <p:cNvSpPr/>
            <p:nvPr/>
          </p:nvSpPr>
          <p:spPr bwMode="auto">
            <a:xfrm>
              <a:off x="6462356" y="3238991"/>
              <a:ext cx="822704" cy="389935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指标体系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Rounded Rectangle 48"/>
            <p:cNvSpPr/>
            <p:nvPr/>
          </p:nvSpPr>
          <p:spPr bwMode="auto">
            <a:xfrm>
              <a:off x="5266837" y="3238991"/>
              <a:ext cx="1082476" cy="389935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管理分析体系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Rounded Rectangle 47"/>
            <p:cNvSpPr/>
            <p:nvPr/>
          </p:nvSpPr>
          <p:spPr bwMode="auto">
            <a:xfrm>
              <a:off x="8464313" y="3239328"/>
              <a:ext cx="977705" cy="389852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管理驾驶舱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Rounded Rectangle 47"/>
            <p:cNvSpPr/>
            <p:nvPr/>
          </p:nvSpPr>
          <p:spPr bwMode="auto">
            <a:xfrm>
              <a:off x="7467756" y="3238989"/>
              <a:ext cx="883793" cy="389935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管理报表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404610" y="2706370"/>
            <a:ext cx="4876800" cy="816610"/>
            <a:chOff x="5150939" y="2650246"/>
            <a:chExt cx="4384711" cy="1097280"/>
          </a:xfrm>
          <a:solidFill>
            <a:srgbClr val="72C7E7"/>
          </a:solidFill>
        </p:grpSpPr>
        <p:sp>
          <p:nvSpPr>
            <p:cNvPr id="20" name="TextBox 18"/>
            <p:cNvSpPr txBox="1"/>
            <p:nvPr/>
          </p:nvSpPr>
          <p:spPr bwMode="auto">
            <a:xfrm>
              <a:off x="5150939" y="2650246"/>
              <a:ext cx="4384711" cy="1097280"/>
            </a:xfrm>
            <a:prstGeom prst="rect">
              <a:avLst/>
            </a:prstGeom>
            <a:solidFill>
              <a:srgbClr val="00B0F0">
                <a:alpha val="70000"/>
              </a:srgbClr>
            </a:solidFill>
            <a:ln w="6350" algn="ctr">
              <a:noFill/>
              <a:miter lim="800000"/>
            </a:ln>
            <a:effectLst/>
          </p:spPr>
          <p:txBody>
            <a:bodyPr vert="horz" wrap="none" lIns="0" rIns="0" rtlCol="0" anchor="t" anchorCtr="0"/>
            <a:lstStyle>
              <a:defPPr>
                <a:defRPr lang="zh-CN"/>
              </a:defPPr>
              <a:lvl1pPr algn="ctr">
                <a:lnSpc>
                  <a:spcPct val="90000"/>
                </a:lnSpc>
                <a:spcBef>
                  <a:spcPct val="50000"/>
                </a:spcBef>
                <a:defRPr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  <a:lvl2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dirty="0">
                  <a:solidFill>
                    <a:srgbClr val="002776"/>
                  </a:solidFill>
                </a:rPr>
                <a:t>高质量的数据</a:t>
              </a:r>
              <a:endParaRPr lang="zh-CN" altLang="en-US" sz="1400" dirty="0">
                <a:solidFill>
                  <a:srgbClr val="002776"/>
                </a:solidFill>
              </a:endParaRPr>
            </a:p>
          </p:txBody>
        </p:sp>
        <p:sp>
          <p:nvSpPr>
            <p:cNvPr id="21" name="Rounded Rectangle 47"/>
            <p:cNvSpPr/>
            <p:nvPr/>
          </p:nvSpPr>
          <p:spPr bwMode="auto">
            <a:xfrm>
              <a:off x="6462356" y="3238989"/>
              <a:ext cx="892357" cy="390789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数据集成 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Rounded Rectangle 48"/>
            <p:cNvSpPr/>
            <p:nvPr/>
          </p:nvSpPr>
          <p:spPr bwMode="auto">
            <a:xfrm>
              <a:off x="5266837" y="3238991"/>
              <a:ext cx="1082476" cy="389935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数据架构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Rounded Rectangle 47"/>
            <p:cNvSpPr/>
            <p:nvPr/>
          </p:nvSpPr>
          <p:spPr bwMode="auto">
            <a:xfrm>
              <a:off x="7467476" y="3239328"/>
              <a:ext cx="977705" cy="389852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数据模型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Rounded Rectangle 47"/>
            <p:cNvSpPr/>
            <p:nvPr/>
          </p:nvSpPr>
          <p:spPr bwMode="auto">
            <a:xfrm>
              <a:off x="8619253" y="3239328"/>
              <a:ext cx="822960" cy="389852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数据安全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404610" y="3907790"/>
            <a:ext cx="4876800" cy="816610"/>
            <a:chOff x="5150939" y="2650246"/>
            <a:chExt cx="4384711" cy="1097280"/>
          </a:xfrm>
          <a:solidFill>
            <a:srgbClr val="72C7E7"/>
          </a:solidFill>
        </p:grpSpPr>
        <p:sp>
          <p:nvSpPr>
            <p:cNvPr id="26" name="TextBox 18"/>
            <p:cNvSpPr txBox="1"/>
            <p:nvPr/>
          </p:nvSpPr>
          <p:spPr bwMode="auto">
            <a:xfrm>
              <a:off x="5150939" y="2650246"/>
              <a:ext cx="4384711" cy="1097280"/>
            </a:xfrm>
            <a:prstGeom prst="rect">
              <a:avLst/>
            </a:prstGeom>
            <a:solidFill>
              <a:srgbClr val="00B0F0">
                <a:alpha val="70000"/>
              </a:srgbClr>
            </a:solidFill>
            <a:ln w="6350" algn="ctr">
              <a:noFill/>
              <a:miter lim="800000"/>
            </a:ln>
            <a:effectLst/>
          </p:spPr>
          <p:txBody>
            <a:bodyPr vert="horz" wrap="none" lIns="0" rIns="0" rtlCol="0" anchor="t" anchorCtr="0"/>
            <a:lstStyle>
              <a:defPPr>
                <a:defRPr lang="zh-CN"/>
              </a:defPPr>
              <a:lvl1pPr algn="ctr">
                <a:lnSpc>
                  <a:spcPct val="90000"/>
                </a:lnSpc>
                <a:spcBef>
                  <a:spcPct val="50000"/>
                </a:spcBef>
                <a:defRPr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  <a:lvl2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dirty="0">
                  <a:solidFill>
                    <a:srgbClr val="002776"/>
                  </a:solidFill>
                </a:rPr>
                <a:t>充足的系统支撑</a:t>
              </a:r>
              <a:endParaRPr lang="zh-CN" altLang="en-US" sz="1400" dirty="0">
                <a:solidFill>
                  <a:srgbClr val="002776"/>
                </a:solidFill>
              </a:endParaRPr>
            </a:p>
          </p:txBody>
        </p:sp>
        <p:sp>
          <p:nvSpPr>
            <p:cNvPr id="31" name="Rounded Rectangle 47"/>
            <p:cNvSpPr/>
            <p:nvPr/>
          </p:nvSpPr>
          <p:spPr bwMode="auto">
            <a:xfrm>
              <a:off x="6462356" y="3238989"/>
              <a:ext cx="892357" cy="390789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PC</a:t>
              </a: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平台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Rounded Rectangle 48"/>
            <p:cNvSpPr/>
            <p:nvPr/>
          </p:nvSpPr>
          <p:spPr bwMode="auto">
            <a:xfrm>
              <a:off x="5266837" y="3238991"/>
              <a:ext cx="1082476" cy="389935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技术架构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Rounded Rectangle 47"/>
            <p:cNvSpPr/>
            <p:nvPr/>
          </p:nvSpPr>
          <p:spPr bwMode="auto">
            <a:xfrm>
              <a:off x="7467476" y="3239328"/>
              <a:ext cx="977705" cy="389852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移动应用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Rounded Rectangle 47"/>
            <p:cNvSpPr/>
            <p:nvPr/>
          </p:nvSpPr>
          <p:spPr bwMode="auto">
            <a:xfrm>
              <a:off x="8619253" y="3239328"/>
              <a:ext cx="822960" cy="389852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填报平台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404610" y="5100320"/>
            <a:ext cx="4876800" cy="816610"/>
            <a:chOff x="5150939" y="2650246"/>
            <a:chExt cx="4384711" cy="1097280"/>
          </a:xfrm>
          <a:solidFill>
            <a:srgbClr val="72C7E7"/>
          </a:solidFill>
        </p:grpSpPr>
        <p:sp>
          <p:nvSpPr>
            <p:cNvPr id="36" name="TextBox 18"/>
            <p:cNvSpPr txBox="1"/>
            <p:nvPr/>
          </p:nvSpPr>
          <p:spPr bwMode="auto">
            <a:xfrm>
              <a:off x="5150939" y="2650246"/>
              <a:ext cx="4384711" cy="1097280"/>
            </a:xfrm>
            <a:prstGeom prst="rect">
              <a:avLst/>
            </a:prstGeom>
            <a:solidFill>
              <a:srgbClr val="92D400">
                <a:alpha val="70000"/>
              </a:srgbClr>
            </a:solidFill>
            <a:ln w="6350" algn="ctr">
              <a:noFill/>
              <a:miter lim="800000"/>
            </a:ln>
            <a:effectLst/>
          </p:spPr>
          <p:txBody>
            <a:bodyPr vert="horz" wrap="none" lIns="0" rIns="0" rtlCol="0" anchor="t" anchorCtr="0"/>
            <a:lstStyle>
              <a:defPPr>
                <a:defRPr lang="zh-CN"/>
              </a:defPPr>
              <a:lvl1pPr algn="ctr">
                <a:lnSpc>
                  <a:spcPct val="90000"/>
                </a:lnSpc>
                <a:spcBef>
                  <a:spcPct val="50000"/>
                </a:spcBef>
                <a:defRPr sz="16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  <a:lvl2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dirty="0">
                  <a:solidFill>
                    <a:srgbClr val="002776"/>
                  </a:solidFill>
                </a:rPr>
                <a:t>价值导向的运营体系</a:t>
              </a:r>
              <a:endParaRPr lang="zh-CN" altLang="en-US" sz="1400" dirty="0">
                <a:solidFill>
                  <a:srgbClr val="002776"/>
                </a:solidFill>
              </a:endParaRPr>
            </a:p>
          </p:txBody>
        </p:sp>
        <p:sp>
          <p:nvSpPr>
            <p:cNvPr id="37" name="Rounded Rectangle 47"/>
            <p:cNvSpPr/>
            <p:nvPr/>
          </p:nvSpPr>
          <p:spPr bwMode="auto">
            <a:xfrm>
              <a:off x="6462356" y="3238991"/>
              <a:ext cx="822704" cy="389935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角色职责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Rounded Rectangle 48"/>
            <p:cNvSpPr/>
            <p:nvPr/>
          </p:nvSpPr>
          <p:spPr bwMode="auto">
            <a:xfrm>
              <a:off x="5266837" y="3238991"/>
              <a:ext cx="1082476" cy="389935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团队架构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Rounded Rectangle 47"/>
            <p:cNvSpPr/>
            <p:nvPr/>
          </p:nvSpPr>
          <p:spPr bwMode="auto">
            <a:xfrm>
              <a:off x="7467476" y="3239328"/>
              <a:ext cx="977705" cy="389852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规范标准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Rounded Rectangle 47"/>
            <p:cNvSpPr/>
            <p:nvPr/>
          </p:nvSpPr>
          <p:spPr bwMode="auto">
            <a:xfrm>
              <a:off x="8619253" y="3239328"/>
              <a:ext cx="822960" cy="389852"/>
            </a:xfrm>
            <a:prstGeom prst="roundRect">
              <a:avLst/>
            </a:prstGeom>
            <a:solidFill>
              <a:srgbClr val="FFFFFF">
                <a:lumMod val="95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765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1400" b="1" dirty="0">
                  <a:solidFill>
                    <a:srgbClr val="002776"/>
                  </a:solidFill>
                  <a:latin typeface="微软雅黑" panose="020B0503020204020204" charset="-122"/>
                  <a:ea typeface="微软雅黑" panose="020B0503020204020204" charset="-122"/>
                </a:rPr>
                <a:t>考核评价</a:t>
              </a:r>
              <a:endParaRPr lang="zh-CN" altLang="en-US" sz="1400" b="1" dirty="0">
                <a:solidFill>
                  <a:srgbClr val="00277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28" name="图片 227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20640000">
            <a:off x="6433185" y="1802765"/>
            <a:ext cx="257810" cy="24574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20640000">
            <a:off x="7766050" y="1802765"/>
            <a:ext cx="257810" cy="2457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2285" y="23304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项目范围</a:t>
            </a:r>
            <a:endParaRPr lang="zh-CN" altLang="en-US" sz="28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05125" y="1503045"/>
            <a:ext cx="113347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DSS BG</a:t>
            </a:r>
            <a:endParaRPr lang="en-US" altLang="zh-CN" sz="20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供应链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69"/>
          <p:cNvSpPr/>
          <p:nvPr/>
        </p:nvSpPr>
        <p:spPr>
          <a:xfrm>
            <a:off x="316230" y="1624330"/>
            <a:ext cx="3727450" cy="4311015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solidFill>
              <a:srgbClr val="FFFFFF">
                <a:lumMod val="75000"/>
              </a:srgbClr>
            </a:solidFill>
            <a:prstDash val="dash"/>
          </a:ln>
        </p:spPr>
        <p:style>
          <a:lnRef idx="2">
            <a:srgbClr val="00A1DE">
              <a:shade val="50000"/>
            </a:srgbClr>
          </a:lnRef>
          <a:fillRef idx="1">
            <a:srgbClr val="00A1DE"/>
          </a:fillRef>
          <a:effectRef idx="0">
            <a:srgbClr val="00A1DE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180" y="1767840"/>
            <a:ext cx="3246120" cy="3946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1020" y="257810"/>
            <a:ext cx="37503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项目目标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zh-CN" altLang="en-US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全面的价值体系</a:t>
            </a:r>
            <a:endParaRPr lang="zh-CN" altLang="en-US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960" y="2021840"/>
            <a:ext cx="2195195" cy="93027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</p:pic>
      <p:sp>
        <p:nvSpPr>
          <p:cNvPr id="18" name="AutoShape 3"/>
          <p:cNvSpPr>
            <a:spLocks noChangeArrowheads="1"/>
          </p:cNvSpPr>
          <p:nvPr/>
        </p:nvSpPr>
        <p:spPr bwMode="gray">
          <a:xfrm>
            <a:off x="4242435" y="1084580"/>
            <a:ext cx="4250690" cy="539750"/>
          </a:xfrm>
          <a:prstGeom prst="chevron">
            <a:avLst>
              <a:gd name="adj" fmla="val 2036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3"/>
            </a:solidFill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梳理指标体系和分析思路</a:t>
            </a:r>
            <a:endParaRPr kumimoji="0" lang="zh-CN" altLang="en-US" sz="2000" b="1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/>
        </p:nvSpPr>
        <p:spPr bwMode="gray">
          <a:xfrm>
            <a:off x="316230" y="1084580"/>
            <a:ext cx="3926205" cy="539750"/>
          </a:xfrm>
          <a:prstGeom prst="chevron">
            <a:avLst>
              <a:gd name="adj" fmla="val 24558"/>
            </a:avLst>
          </a:prstGeom>
          <a:solidFill>
            <a:srgbClr val="2D6823"/>
          </a:solidFill>
          <a:ln>
            <a:noFill/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全面梳理业务价值和分析框架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AutoShape 3"/>
          <p:cNvSpPr>
            <a:spLocks noChangeArrowheads="1"/>
          </p:cNvSpPr>
          <p:nvPr/>
        </p:nvSpPr>
        <p:spPr bwMode="gray">
          <a:xfrm>
            <a:off x="8460105" y="1084580"/>
            <a:ext cx="3505200" cy="539750"/>
          </a:xfrm>
          <a:prstGeom prst="chevron">
            <a:avLst>
              <a:gd name="adj" fmla="val 22464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管理报表整合和驾驶舱设计</a:t>
            </a:r>
            <a:endParaRPr kumimoji="0" lang="zh-CN" altLang="en-US" sz="2000" b="1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6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030" y="257810"/>
            <a:ext cx="1102995" cy="63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9"/>
          <p:cNvSpPr/>
          <p:nvPr/>
        </p:nvSpPr>
        <p:spPr>
          <a:xfrm>
            <a:off x="4283710" y="1624330"/>
            <a:ext cx="4012565" cy="4311015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solidFill>
              <a:srgbClr val="FFFFFF">
                <a:lumMod val="75000"/>
              </a:srgbClr>
            </a:solidFill>
            <a:prstDash val="dash"/>
          </a:ln>
        </p:spPr>
        <p:style>
          <a:lnRef idx="2">
            <a:srgbClr val="00A1DE">
              <a:shade val="50000"/>
            </a:srgbClr>
          </a:lnRef>
          <a:fillRef idx="1">
            <a:srgbClr val="00A1DE"/>
          </a:fillRef>
          <a:effectRef idx="0">
            <a:srgbClr val="00A1DE"/>
          </a:effectRef>
          <a:fontRef idx="minor">
            <a:srgbClr val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9" name="Rectangle 69"/>
          <p:cNvSpPr/>
          <p:nvPr/>
        </p:nvSpPr>
        <p:spPr>
          <a:xfrm>
            <a:off x="8493125" y="1623695"/>
            <a:ext cx="3472180" cy="4311015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solidFill>
              <a:srgbClr val="FFFFFF">
                <a:lumMod val="75000"/>
              </a:srgbClr>
            </a:solidFill>
            <a:prstDash val="dash"/>
          </a:ln>
        </p:spPr>
        <p:style>
          <a:lnRef idx="2">
            <a:srgbClr val="00A1DE">
              <a:shade val="50000"/>
            </a:srgbClr>
          </a:lnRef>
          <a:fillRef idx="1">
            <a:srgbClr val="00A1DE"/>
          </a:fillRef>
          <a:effectRef idx="0">
            <a:srgbClr val="00A1DE"/>
          </a:effectRef>
          <a:fontRef idx="minor">
            <a:srgbClr val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6910" y="3244850"/>
            <a:ext cx="2983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梳理供应链整体核心价值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1040" y="3855720"/>
            <a:ext cx="25120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梳理各中心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   各职能部门核心价值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6595" y="4668520"/>
            <a:ext cx="2526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使以上价值深入人心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1040" y="5176520"/>
            <a:ext cx="22974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搭建分析主题框架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20235" y="1760220"/>
            <a:ext cx="3739515" cy="3946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598535" y="1806575"/>
            <a:ext cx="3260090" cy="3899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920" y="2021205"/>
            <a:ext cx="1922145" cy="93091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469765" y="3244850"/>
            <a:ext cx="3154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自上而下全面梳理指标体系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469765" y="3855720"/>
            <a:ext cx="367982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统一指标口径及相关业务术语，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沉淀至知识体系中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469765" y="4668520"/>
            <a:ext cx="3611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固化各分析主题标准化分析思路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6070" y="2021205"/>
            <a:ext cx="2033270" cy="93027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675370" y="3143250"/>
            <a:ext cx="29832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结合指标体系、分析思路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凝聚有价值管理报表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675370" y="3839210"/>
            <a:ext cx="3154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设计供应链层面，各中心，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各部门管理驾驶舱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674735" y="4668520"/>
            <a:ext cx="2697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设计各分析主题仪表盘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469765" y="517652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将以上推广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675370" y="5176520"/>
            <a:ext cx="1840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营造分析氛围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69"/>
          <p:cNvSpPr/>
          <p:nvPr/>
        </p:nvSpPr>
        <p:spPr>
          <a:xfrm>
            <a:off x="316230" y="1624330"/>
            <a:ext cx="3727450" cy="499618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solidFill>
              <a:srgbClr val="FFFFFF">
                <a:lumMod val="75000"/>
              </a:srgbClr>
            </a:solidFill>
            <a:prstDash val="dash"/>
          </a:ln>
        </p:spPr>
        <p:style>
          <a:lnRef idx="2">
            <a:srgbClr val="00A1DE">
              <a:shade val="50000"/>
            </a:srgbClr>
          </a:lnRef>
          <a:fillRef idx="1">
            <a:srgbClr val="00A1DE"/>
          </a:fillRef>
          <a:effectRef idx="0">
            <a:srgbClr val="00A1DE"/>
          </a:effectRef>
          <a:fontRef idx="minor">
            <a:srgbClr val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1020" y="1806575"/>
            <a:ext cx="3246120" cy="4542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1020" y="257810"/>
            <a:ext cx="37503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项目目标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zh-CN" altLang="en-US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全面的价值体系</a:t>
            </a:r>
            <a:endParaRPr lang="zh-CN" altLang="en-US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960" y="2021840"/>
            <a:ext cx="2195195" cy="93027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</p:pic>
      <p:sp>
        <p:nvSpPr>
          <p:cNvPr id="18" name="AutoShape 3"/>
          <p:cNvSpPr>
            <a:spLocks noChangeArrowheads="1"/>
          </p:cNvSpPr>
          <p:nvPr/>
        </p:nvSpPr>
        <p:spPr bwMode="gray">
          <a:xfrm>
            <a:off x="4242435" y="1084580"/>
            <a:ext cx="4250690" cy="539750"/>
          </a:xfrm>
          <a:prstGeom prst="chevron">
            <a:avLst>
              <a:gd name="adj" fmla="val 20368"/>
            </a:avLst>
          </a:prstGeom>
          <a:solidFill>
            <a:schemeClr val="bg2">
              <a:lumMod val="75000"/>
            </a:schemeClr>
          </a:solidFill>
          <a:ln>
            <a:solidFill>
              <a:schemeClr val="accent3"/>
            </a:solidFill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梳理指标体系和分析思路</a:t>
            </a:r>
            <a:endParaRPr kumimoji="0" lang="zh-CN" altLang="en-US" sz="2000" b="1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/>
        </p:nvSpPr>
        <p:spPr bwMode="gray">
          <a:xfrm>
            <a:off x="316230" y="1084580"/>
            <a:ext cx="3926205" cy="539750"/>
          </a:xfrm>
          <a:prstGeom prst="chevron">
            <a:avLst>
              <a:gd name="adj" fmla="val 24558"/>
            </a:avLst>
          </a:prstGeom>
          <a:solidFill>
            <a:srgbClr val="2D6823"/>
          </a:solidFill>
          <a:ln>
            <a:noFill/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全面梳理业务价值和分析框架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AutoShape 3"/>
          <p:cNvSpPr>
            <a:spLocks noChangeArrowheads="1"/>
          </p:cNvSpPr>
          <p:nvPr/>
        </p:nvSpPr>
        <p:spPr bwMode="gray">
          <a:xfrm>
            <a:off x="8460105" y="1084580"/>
            <a:ext cx="3505200" cy="539750"/>
          </a:xfrm>
          <a:prstGeom prst="chevron">
            <a:avLst>
              <a:gd name="adj" fmla="val 22464"/>
            </a:avLst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管理报表整合和驾驶舱设计</a:t>
            </a:r>
            <a:endParaRPr kumimoji="0" lang="zh-CN" altLang="en-US" sz="2000" b="1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6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030" y="257810"/>
            <a:ext cx="1102995" cy="63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676910" y="3388360"/>
            <a:ext cx="2983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梳理供应链整体核心价值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1040" y="4067175"/>
            <a:ext cx="25120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梳理各中心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    各职能部门核心价值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1040" y="5022850"/>
            <a:ext cx="2526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使以上价值深入人心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1040" y="5737860"/>
            <a:ext cx="22974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搭建分析主题框架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4733925" y="2422525"/>
            <a:ext cx="6654800" cy="3310890"/>
            <a:chOff x="7081" y="3506"/>
            <a:chExt cx="10480" cy="521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8" y="3506"/>
              <a:ext cx="10383" cy="5214"/>
            </a:xfrm>
            <a:prstGeom prst="rect">
              <a:avLst/>
            </a:prstGeom>
          </p:spPr>
        </p:pic>
        <p:sp>
          <p:nvSpPr>
            <p:cNvPr id="28" name="矩形 27"/>
            <p:cNvSpPr/>
            <p:nvPr/>
          </p:nvSpPr>
          <p:spPr>
            <a:xfrm rot="19560000">
              <a:off x="7081" y="3633"/>
              <a:ext cx="1474" cy="56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latin typeface="微软雅黑 Light" panose="020B0502040204020203" charset="-122"/>
                  <a:ea typeface="微软雅黑 Light" panose="020B0502040204020203" charset="-122"/>
                </a:rPr>
                <a:t>示例</a:t>
              </a:r>
              <a:endParaRPr lang="zh-CN" altLang="en-US" b="1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1020" y="257810"/>
            <a:ext cx="37503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项目目标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zh-CN" altLang="en-US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全面的价值体系</a:t>
            </a:r>
            <a:endParaRPr lang="zh-CN" altLang="en-US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8" name="AutoShape 3"/>
          <p:cNvSpPr>
            <a:spLocks noChangeArrowheads="1"/>
          </p:cNvSpPr>
          <p:nvPr/>
        </p:nvSpPr>
        <p:spPr bwMode="gray">
          <a:xfrm>
            <a:off x="4242435" y="1084580"/>
            <a:ext cx="4250690" cy="539750"/>
          </a:xfrm>
          <a:prstGeom prst="chevron">
            <a:avLst>
              <a:gd name="adj" fmla="val 2036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3"/>
            </a:solidFill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梳理指标体系和分析思路</a:t>
            </a:r>
            <a:endParaRPr kumimoji="0" lang="zh-CN" altLang="en-US" sz="2000" b="1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/>
        </p:nvSpPr>
        <p:spPr bwMode="gray">
          <a:xfrm>
            <a:off x="316230" y="1084580"/>
            <a:ext cx="3926205" cy="539750"/>
          </a:xfrm>
          <a:prstGeom prst="chevron">
            <a:avLst>
              <a:gd name="adj" fmla="val 24558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全面梳理业务价值和分析框架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AutoShape 3"/>
          <p:cNvSpPr>
            <a:spLocks noChangeArrowheads="1"/>
          </p:cNvSpPr>
          <p:nvPr/>
        </p:nvSpPr>
        <p:spPr bwMode="gray">
          <a:xfrm>
            <a:off x="8460105" y="1084580"/>
            <a:ext cx="3505200" cy="539750"/>
          </a:xfrm>
          <a:prstGeom prst="chevron">
            <a:avLst>
              <a:gd name="adj" fmla="val 22464"/>
            </a:avLst>
          </a:prstGeom>
          <a:solidFill>
            <a:schemeClr val="bg2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管理报表整合和驾驶舱设计</a:t>
            </a:r>
            <a:endParaRPr kumimoji="0" lang="zh-CN" altLang="en-US" sz="2000" b="1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6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030" y="257810"/>
            <a:ext cx="1102995" cy="63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9"/>
          <p:cNvSpPr/>
          <p:nvPr/>
        </p:nvSpPr>
        <p:spPr>
          <a:xfrm>
            <a:off x="302895" y="1857375"/>
            <a:ext cx="4012565" cy="474726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solidFill>
              <a:srgbClr val="FFFFFF">
                <a:lumMod val="75000"/>
              </a:srgbClr>
            </a:solidFill>
            <a:prstDash val="dash"/>
          </a:ln>
        </p:spPr>
        <p:style>
          <a:lnRef idx="2">
            <a:srgbClr val="00A1DE">
              <a:shade val="50000"/>
            </a:srgbClr>
          </a:lnRef>
          <a:fillRef idx="1">
            <a:srgbClr val="00A1DE"/>
          </a:fillRef>
          <a:effectRef idx="0">
            <a:srgbClr val="00A1DE"/>
          </a:effectRef>
          <a:fontRef idx="minor">
            <a:srgbClr val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9420" y="2021205"/>
            <a:ext cx="3739515" cy="44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62505"/>
            <a:ext cx="1922145" cy="93091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26415" y="3371215"/>
            <a:ext cx="3611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自上而下全面梳理指标体系，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指标拆解到三级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（落实责任人，可执行）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26415" y="4330700"/>
            <a:ext cx="367982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统一指标口径及相关业务术语，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沉淀至知识体系中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09905" y="5283200"/>
            <a:ext cx="3669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固化各分析主题标准化分析思路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6415" y="591375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将以上推广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004435" y="1855470"/>
            <a:ext cx="6070600" cy="1696085"/>
            <a:chOff x="8053" y="2922"/>
            <a:chExt cx="9560" cy="267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7" y="2925"/>
              <a:ext cx="9036" cy="2668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 rot="19560000">
              <a:off x="8053" y="2922"/>
              <a:ext cx="1474" cy="56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latin typeface="微软雅黑 Light" panose="020B0502040204020203" charset="-122"/>
                  <a:ea typeface="微软雅黑 Light" panose="020B0502040204020203" charset="-122"/>
                </a:rPr>
                <a:t>示例</a:t>
              </a:r>
              <a:endParaRPr lang="zh-CN" altLang="en-US" b="1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l="150" t="-180" r="-150" b="9977"/>
          <a:stretch>
            <a:fillRect/>
          </a:stretch>
        </p:blipFill>
        <p:spPr>
          <a:xfrm>
            <a:off x="5337175" y="3851910"/>
            <a:ext cx="5636895" cy="28194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 rot="19560000">
            <a:off x="5071110" y="3782695"/>
            <a:ext cx="935990" cy="3600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 Light" panose="020B0502040204020203" charset="-122"/>
                <a:ea typeface="微软雅黑 Light" panose="020B0502040204020203" charset="-122"/>
              </a:rPr>
              <a:t>示例</a:t>
            </a:r>
            <a:endParaRPr lang="zh-CN" altLang="en-US" b="1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1020" y="257810"/>
            <a:ext cx="37503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项目目标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zh-CN" altLang="en-US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全面的价值体系</a:t>
            </a:r>
            <a:endParaRPr lang="zh-CN" altLang="en-US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8" name="AutoShape 3"/>
          <p:cNvSpPr>
            <a:spLocks noChangeArrowheads="1"/>
          </p:cNvSpPr>
          <p:nvPr/>
        </p:nvSpPr>
        <p:spPr bwMode="gray">
          <a:xfrm>
            <a:off x="4242435" y="1084580"/>
            <a:ext cx="4250690" cy="539750"/>
          </a:xfrm>
          <a:prstGeom prst="chevron">
            <a:avLst>
              <a:gd name="adj" fmla="val 20368"/>
            </a:avLst>
          </a:prstGeom>
          <a:solidFill>
            <a:schemeClr val="bg2">
              <a:lumMod val="75000"/>
            </a:schemeClr>
          </a:solidFill>
          <a:ln>
            <a:solidFill>
              <a:schemeClr val="accent3"/>
            </a:solidFill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梳理指标体系和分析思路</a:t>
            </a:r>
            <a:endParaRPr kumimoji="0" lang="zh-CN" altLang="en-US" sz="2000" b="1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AutoShape 3"/>
          <p:cNvSpPr>
            <a:spLocks noChangeArrowheads="1"/>
          </p:cNvSpPr>
          <p:nvPr/>
        </p:nvSpPr>
        <p:spPr bwMode="gray">
          <a:xfrm>
            <a:off x="316230" y="1084580"/>
            <a:ext cx="3926205" cy="539750"/>
          </a:xfrm>
          <a:prstGeom prst="chevron">
            <a:avLst>
              <a:gd name="adj" fmla="val 24558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全面梳理业务价值和分析框架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AutoShape 3"/>
          <p:cNvSpPr>
            <a:spLocks noChangeArrowheads="1"/>
          </p:cNvSpPr>
          <p:nvPr/>
        </p:nvSpPr>
        <p:spPr bwMode="gray">
          <a:xfrm>
            <a:off x="8460105" y="1084580"/>
            <a:ext cx="3505200" cy="539750"/>
          </a:xfrm>
          <a:prstGeom prst="chevron">
            <a:avLst>
              <a:gd name="adj" fmla="val 22464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lIns="91440" tIns="0" rIns="0" bIns="0" anchor="ctr" anchorCtr="0"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管理报表整合和驾驶舱设计</a:t>
            </a:r>
            <a:endParaRPr kumimoji="0" lang="zh-CN" altLang="en-US" sz="2000" b="1" i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6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030" y="257810"/>
            <a:ext cx="1102995" cy="63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9"/>
          <p:cNvSpPr/>
          <p:nvPr/>
        </p:nvSpPr>
        <p:spPr>
          <a:xfrm>
            <a:off x="436245" y="1731010"/>
            <a:ext cx="3579495" cy="501396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solidFill>
              <a:srgbClr val="FFFFFF">
                <a:lumMod val="75000"/>
              </a:srgbClr>
            </a:solidFill>
            <a:prstDash val="dash"/>
          </a:ln>
        </p:spPr>
        <p:style>
          <a:lnRef idx="2">
            <a:srgbClr val="00A1DE">
              <a:shade val="50000"/>
            </a:srgbClr>
          </a:lnRef>
          <a:fillRef idx="1">
            <a:srgbClr val="00A1DE"/>
          </a:fillRef>
          <a:effectRef idx="0">
            <a:srgbClr val="00A1DE"/>
          </a:effectRef>
          <a:fontRef idx="minor">
            <a:srgbClr val="FFFFFF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87375" y="1881505"/>
            <a:ext cx="3260090" cy="4785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85" y="2191385"/>
            <a:ext cx="2033270" cy="93027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25805" y="3384550"/>
            <a:ext cx="29832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结合指标体系、分析思路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凝聚有价值管理报表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5805" y="4318000"/>
            <a:ext cx="3154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设计供应链层面，各中心，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各部门管理驾驶舱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5805" y="5247640"/>
            <a:ext cx="2697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设计各分析主题仪表盘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25805" y="5962015"/>
            <a:ext cx="1840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营造分析氛围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03299" y="2448645"/>
            <a:ext cx="6690052" cy="3167569"/>
            <a:chOff x="7532" y="3852"/>
            <a:chExt cx="9453" cy="4487"/>
          </a:xfrm>
        </p:grpSpPr>
        <p:pic>
          <p:nvPicPr>
            <p:cNvPr id="3" name="Picture 1"/>
            <p:cNvPicPr>
              <a:picLocks noChangeAspect="1"/>
            </p:cNvPicPr>
            <p:nvPr/>
          </p:nvPicPr>
          <p:blipFill>
            <a:blip r:embed="rId3"/>
            <a:srcRect t="6452"/>
            <a:stretch>
              <a:fillRect/>
            </a:stretch>
          </p:blipFill>
          <p:spPr>
            <a:xfrm>
              <a:off x="8007" y="3969"/>
              <a:ext cx="8978" cy="4370"/>
            </a:xfrm>
            <a:prstGeom prst="rect">
              <a:avLst/>
            </a:prstGeom>
          </p:spPr>
        </p:pic>
        <p:sp>
          <p:nvSpPr>
            <p:cNvPr id="28" name="矩形 27"/>
            <p:cNvSpPr/>
            <p:nvPr/>
          </p:nvSpPr>
          <p:spPr>
            <a:xfrm rot="19560000">
              <a:off x="7532" y="3852"/>
              <a:ext cx="1474" cy="56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latin typeface="微软雅黑 Light" panose="020B0502040204020203" charset="-122"/>
                  <a:ea typeface="微软雅黑 Light" panose="020B0502040204020203" charset="-122"/>
                </a:rPr>
                <a:t>示例</a:t>
              </a:r>
              <a:endParaRPr lang="zh-CN" altLang="en-US" b="1"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1020" y="257810"/>
            <a:ext cx="29883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项目目标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zh-CN" altLang="en-US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数据架构</a:t>
            </a:r>
            <a:endParaRPr lang="zh-CN" altLang="en-US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13" name="Straight Connector 4"/>
          <p:cNvCxnSpPr/>
          <p:nvPr/>
        </p:nvCxnSpPr>
        <p:spPr>
          <a:xfrm>
            <a:off x="385938" y="2084236"/>
            <a:ext cx="114705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16520" y="3265190"/>
            <a:ext cx="652699" cy="5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txBody>
          <a:bodyPr vert="horz" wrap="square" lIns="121904" tIns="60952" rIns="121904" bIns="60952" rtlCol="0">
            <a:noAutofit/>
          </a:bodyPr>
          <a:p>
            <a:pPr lvl="0" algn="ctr" defTabSz="685800" eaLnBrk="1" fontAlgn="auto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资产</a:t>
            </a:r>
            <a:endParaRPr lang="zh-CN" altLang="en-US" sz="1600" b="1" dirty="0">
              <a:solidFill>
                <a:schemeClr val="tx1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defTabSz="685800" eaLnBrk="1" fontAlgn="auto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</a:t>
            </a:r>
            <a:endParaRPr lang="zh-CN" altLang="en-US" sz="1600" b="1" dirty="0">
              <a:solidFill>
                <a:schemeClr val="tx1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59061" y="6228158"/>
            <a:ext cx="10875784" cy="546879"/>
          </a:xfrm>
          <a:prstGeom prst="rect">
            <a:avLst/>
          </a:prstGeom>
          <a:noFill/>
          <a:ln w="635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endParaRPr lang="zh-CN" altLang="en-US" sz="2400">
              <a:sym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574518" y="6076623"/>
            <a:ext cx="1549209" cy="26074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21904" tIns="60952" rIns="121904" bIns="60952" rtlCol="0">
            <a:noAutofit/>
          </a:bodyPr>
          <a:p>
            <a:pPr lvl="0" algn="ctr" defTabSz="685800" eaLnBrk="1" fontAlgn="auto" hangingPunct="1"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200" dirty="0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源象平台</a:t>
            </a:r>
            <a:endParaRPr lang="zh-CN" altLang="en-US" sz="1200" dirty="0">
              <a:solidFill>
                <a:schemeClr val="accent4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152924" y="6380539"/>
            <a:ext cx="1616934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离线开发平台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6872297" y="6380539"/>
            <a:ext cx="1440002" cy="32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数据服务平台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6520" y="1186034"/>
            <a:ext cx="652699" cy="62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txBody>
          <a:bodyPr vert="horz" wrap="square" lIns="121904" tIns="60952" rIns="121904" bIns="60952" rtlCol="0">
            <a:noAutofit/>
          </a:bodyPr>
          <a:p>
            <a:pPr lvl="0" algn="l" defTabSz="685800" eaLnBrk="1" fontAlgn="auto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前台应用</a:t>
            </a:r>
            <a:endParaRPr lang="zh-CN" altLang="en-US" sz="1600" b="1" dirty="0">
              <a:solidFill>
                <a:schemeClr val="tx1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6520" y="6107946"/>
            <a:ext cx="652699" cy="49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txBody>
          <a:bodyPr vert="horz" wrap="square" lIns="121904" tIns="60952" rIns="121904" bIns="60952" rtlCol="0">
            <a:noAutofit/>
          </a:bodyPr>
          <a:p>
            <a:pPr lvl="0" algn="ctr" defTabSz="685800" eaLnBrk="1" fontAlgn="auto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</a:t>
            </a:r>
            <a:endParaRPr lang="zh-CN" altLang="en-US" sz="1600" b="1" dirty="0">
              <a:solidFill>
                <a:schemeClr val="tx1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defTabSz="685800" eaLnBrk="1" fontAlgn="auto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支撑</a:t>
            </a:r>
            <a:endParaRPr lang="zh-CN" altLang="en-US" sz="1600" b="1" dirty="0">
              <a:solidFill>
                <a:schemeClr val="tx1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1" name="Straight Connector 4"/>
          <p:cNvCxnSpPr/>
          <p:nvPr/>
        </p:nvCxnSpPr>
        <p:spPr>
          <a:xfrm>
            <a:off x="385938" y="6063925"/>
            <a:ext cx="1146837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959061" y="2168046"/>
            <a:ext cx="1487816" cy="3031539"/>
            <a:chOff x="1132" y="2369"/>
            <a:chExt cx="1732" cy="3581"/>
          </a:xfrm>
        </p:grpSpPr>
        <p:sp>
          <p:nvSpPr>
            <p:cNvPr id="41" name="矩形 40"/>
            <p:cNvSpPr/>
            <p:nvPr/>
          </p:nvSpPr>
          <p:spPr>
            <a:xfrm>
              <a:off x="1132" y="2529"/>
              <a:ext cx="1732" cy="3421"/>
            </a:xfrm>
            <a:prstGeom prst="rect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 sz="2400">
                <a:sym typeface="+mn-ea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317" y="2369"/>
              <a:ext cx="1399" cy="36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121904" tIns="60952" rIns="121904" bIns="60952" rtlCol="0">
              <a:noAutofit/>
            </a:bodyPr>
            <a:p>
              <a:pPr lvl="0" algn="ctr" defTabSz="685800" eaLnBrk="1" fontAlgn="auto" hangingPunct="1">
                <a:spcBef>
                  <a:spcPts val="3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数据管理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1194" y="2728"/>
              <a:ext cx="1587" cy="4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48254" rIns="0" bIns="48254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数据标准管理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1194" y="3257"/>
              <a:ext cx="1587" cy="453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48254" rIns="0" bIns="48254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数据模型管理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1194" y="4343"/>
              <a:ext cx="1587" cy="4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48254" rIns="0" bIns="48254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数据质量管理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1194" y="3795"/>
              <a:ext cx="1587" cy="45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48254" rIns="0" bIns="48254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元数据管理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43825" y="2100321"/>
            <a:ext cx="7073873" cy="3099264"/>
            <a:chOff x="1132" y="2289"/>
            <a:chExt cx="1732" cy="3661"/>
          </a:xfrm>
        </p:grpSpPr>
        <p:sp>
          <p:nvSpPr>
            <p:cNvPr id="17" name="矩形 16"/>
            <p:cNvSpPr/>
            <p:nvPr/>
          </p:nvSpPr>
          <p:spPr>
            <a:xfrm>
              <a:off x="1132" y="2529"/>
              <a:ext cx="1732" cy="3421"/>
            </a:xfrm>
            <a:prstGeom prst="rect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 sz="2400">
                <a:sym typeface="+mn-ea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781" y="2289"/>
              <a:ext cx="392" cy="36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121904" tIns="60952" rIns="121904" bIns="60952" rtlCol="0">
              <a:noAutofit/>
            </a:bodyPr>
            <a:p>
              <a:pPr lvl="0" algn="ctr" defTabSz="685800" eaLnBrk="1" fontAlgn="auto" hangingPunct="1">
                <a:spcBef>
                  <a:spcPts val="3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数据资产建设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9757788" y="2168046"/>
            <a:ext cx="1439156" cy="3031539"/>
            <a:chOff x="1132" y="2369"/>
            <a:chExt cx="1645" cy="3581"/>
          </a:xfrm>
        </p:grpSpPr>
        <p:sp>
          <p:nvSpPr>
            <p:cNvPr id="78" name="矩形 77"/>
            <p:cNvSpPr/>
            <p:nvPr/>
          </p:nvSpPr>
          <p:spPr>
            <a:xfrm>
              <a:off x="1132" y="2529"/>
              <a:ext cx="1645" cy="3421"/>
            </a:xfrm>
            <a:prstGeom prst="rect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 sz="2400">
                <a:sym typeface="+mn-ea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1317" y="2369"/>
              <a:ext cx="1399" cy="36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121904" tIns="60952" rIns="121904" bIns="60952" rtlCol="0">
              <a:noAutofit/>
            </a:bodyPr>
            <a:p>
              <a:pPr lvl="0" algn="ctr" defTabSz="685800" eaLnBrk="1" fontAlgn="auto" hangingPunct="1">
                <a:spcBef>
                  <a:spcPts val="3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基础支撑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1230" y="2688"/>
              <a:ext cx="1418" cy="4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48254" rIns="0" bIns="48254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运维部署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1230" y="3207"/>
              <a:ext cx="1418" cy="45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48254" rIns="0" bIns="48254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平台监控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1230" y="4298"/>
              <a:ext cx="1418" cy="45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48254" rIns="0" bIns="48254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日志管理</a:t>
              </a:r>
              <a:endPara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1245" y="3735"/>
              <a:ext cx="1418" cy="453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48254" rIns="0" bIns="48254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安全审计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67526" y="954134"/>
            <a:ext cx="3520005" cy="1029361"/>
            <a:chOff x="1132" y="2041"/>
            <a:chExt cx="1732" cy="3909"/>
          </a:xfrm>
        </p:grpSpPr>
        <p:sp>
          <p:nvSpPr>
            <p:cNvPr id="4" name="矩形 3"/>
            <p:cNvSpPr/>
            <p:nvPr/>
          </p:nvSpPr>
          <p:spPr>
            <a:xfrm>
              <a:off x="1132" y="2529"/>
              <a:ext cx="1732" cy="3421"/>
            </a:xfrm>
            <a:prstGeom prst="rect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 sz="2400">
                <a:sym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691" y="2041"/>
              <a:ext cx="597" cy="6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121904" tIns="60952" rIns="121904" bIns="60952" rtlCol="0">
              <a:noAutofit/>
            </a:bodyPr>
            <a:p>
              <a:pPr lvl="0" algn="ctr" defTabSz="685800" eaLnBrk="1" fontAlgn="auto" hangingPunct="1">
                <a:spcBef>
                  <a:spcPts val="3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数据资产门户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1122447" y="1219896"/>
            <a:ext cx="1559367" cy="316614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API集市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15466" y="1219896"/>
            <a:ext cx="1456933" cy="316614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tIns="48254" rIns="0" bIns="48254"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标签集市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22447" y="1609315"/>
            <a:ext cx="1559367" cy="316614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数据地图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915466" y="1609315"/>
            <a:ext cx="1456933" cy="316614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4608590" y="941494"/>
            <a:ext cx="3529318" cy="1042001"/>
            <a:chOff x="1132" y="1993"/>
            <a:chExt cx="1732" cy="3957"/>
          </a:xfrm>
        </p:grpSpPr>
        <p:sp>
          <p:nvSpPr>
            <p:cNvPr id="31" name="矩形 30"/>
            <p:cNvSpPr/>
            <p:nvPr/>
          </p:nvSpPr>
          <p:spPr>
            <a:xfrm>
              <a:off x="1132" y="2529"/>
              <a:ext cx="1732" cy="3421"/>
            </a:xfrm>
            <a:prstGeom prst="rect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 sz="2400"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691" y="1993"/>
              <a:ext cx="597" cy="6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121904" tIns="60952" rIns="121904" bIns="60952" rtlCol="0">
              <a:noAutofit/>
            </a:bodyPr>
            <a:p>
              <a:pPr lvl="0" algn="ctr" defTabSz="685800" eaLnBrk="1" fontAlgn="auto" hangingPunct="1">
                <a:spcBef>
                  <a:spcPts val="3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BI</a:t>
              </a: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门户产品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40" name="矩形 39"/>
          <p:cNvSpPr/>
          <p:nvPr/>
        </p:nvSpPr>
        <p:spPr>
          <a:xfrm>
            <a:off x="4763511" y="1219896"/>
            <a:ext cx="1559367" cy="31661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PC BI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6530" y="1219896"/>
            <a:ext cx="1456933" cy="31661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大屏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763511" y="1609315"/>
            <a:ext cx="1559367" cy="31661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Mobile BI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556530" y="1609315"/>
            <a:ext cx="1456933" cy="316614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282670" y="966774"/>
            <a:ext cx="3520005" cy="1016721"/>
            <a:chOff x="1132" y="2089"/>
            <a:chExt cx="1732" cy="3861"/>
          </a:xfrm>
        </p:grpSpPr>
        <p:sp>
          <p:nvSpPr>
            <p:cNvPr id="50" name="矩形 49"/>
            <p:cNvSpPr/>
            <p:nvPr/>
          </p:nvSpPr>
          <p:spPr>
            <a:xfrm>
              <a:off x="1132" y="2529"/>
              <a:ext cx="1732" cy="3421"/>
            </a:xfrm>
            <a:prstGeom prst="rect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 sz="2400">
                <a:sym typeface="+mn-ea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1589" y="2089"/>
              <a:ext cx="779" cy="637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121904" tIns="60952" rIns="121904" bIns="60952" rtlCol="0">
              <a:noAutofit/>
            </a:bodyPr>
            <a:p>
              <a:pPr lvl="0" algn="ctr" defTabSz="685800" eaLnBrk="1" fontAlgn="auto" hangingPunct="1">
                <a:spcBef>
                  <a:spcPts val="3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数据应用产品门户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57" name="矩形 56"/>
          <p:cNvSpPr/>
          <p:nvPr/>
        </p:nvSpPr>
        <p:spPr>
          <a:xfrm>
            <a:off x="8437591" y="1219896"/>
            <a:ext cx="1559367" cy="31661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数据填报产品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0230610" y="1219896"/>
            <a:ext cx="1456933" cy="316614"/>
          </a:xfrm>
          <a:prstGeom prst="rect">
            <a:avLst/>
          </a:prstGeom>
          <a:solidFill>
            <a:srgbClr val="FE610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指标预测</a:t>
            </a:r>
            <a:endParaRPr lang="zh-CN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437591" y="1609315"/>
            <a:ext cx="1559367" cy="316614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标签画像产品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0230610" y="1609315"/>
            <a:ext cx="1456933" cy="316614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0276324" y="6380539"/>
            <a:ext cx="1440002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资源管理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3090704" y="6380539"/>
            <a:ext cx="1691431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实时流平台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5014940" y="6380539"/>
            <a:ext cx="1591537" cy="32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算法平台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573041" y="6380539"/>
            <a:ext cx="1440002" cy="32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模型管理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961601" y="5458633"/>
            <a:ext cx="10875784" cy="546879"/>
          </a:xfrm>
          <a:prstGeom prst="rect">
            <a:avLst/>
          </a:prstGeom>
          <a:noFill/>
          <a:ln w="635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endParaRPr lang="zh-CN" altLang="en-US" sz="2400">
              <a:sym typeface="+mn-e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585523" y="5298633"/>
            <a:ext cx="1549209" cy="26074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21904" tIns="60952" rIns="121904" bIns="60952" rtlCol="0">
            <a:noAutofit/>
          </a:bodyPr>
          <a:p>
            <a:pPr lvl="0" algn="ctr" defTabSz="685800" eaLnBrk="1" fontAlgn="auto" hangingPunct="1"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200" dirty="0">
                <a:solidFill>
                  <a:schemeClr val="accent4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数据接入</a:t>
            </a:r>
            <a:endParaRPr lang="zh-CN" altLang="en-US" sz="1200" dirty="0">
              <a:solidFill>
                <a:schemeClr val="accent4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155463" y="5611014"/>
            <a:ext cx="1616934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CRM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3090704" y="5611014"/>
            <a:ext cx="1691431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EBS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319060" y="5338421"/>
            <a:ext cx="652699" cy="49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txBody>
          <a:bodyPr vert="horz" wrap="square" lIns="121904" tIns="60952" rIns="121904" bIns="60952" rtlCol="0">
            <a:noAutofit/>
          </a:bodyPr>
          <a:p>
            <a:pPr lvl="0" algn="ctr" defTabSz="685800" eaLnBrk="1" fontAlgn="auto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数据集成</a:t>
            </a:r>
            <a:endParaRPr lang="zh-CN" altLang="en-US" sz="1600" b="1" dirty="0">
              <a:solidFill>
                <a:schemeClr val="tx1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9" name="Straight Connector 4"/>
          <p:cNvCxnSpPr/>
          <p:nvPr/>
        </p:nvCxnSpPr>
        <p:spPr>
          <a:xfrm>
            <a:off x="388478" y="5294400"/>
            <a:ext cx="1146837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10278864" y="5611014"/>
            <a:ext cx="1440002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5014940" y="5611014"/>
            <a:ext cx="1591537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QMS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6872297" y="5611014"/>
            <a:ext cx="1440002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MES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575581" y="5611014"/>
            <a:ext cx="1440002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EDM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012712" y="4294610"/>
            <a:ext cx="1362886" cy="38349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数据安全管理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11204156" y="3404873"/>
            <a:ext cx="652699" cy="5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txBody>
          <a:bodyPr vert="horz" wrap="square" lIns="121904" tIns="60952" rIns="121904" bIns="60952" rtlCol="0">
            <a:noAutofit/>
          </a:bodyPr>
          <a:p>
            <a:pPr lvl="0" algn="ctr" defTabSz="685800" eaLnBrk="1" fontAlgn="auto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</a:t>
            </a:r>
            <a:endParaRPr lang="zh-CN" altLang="en-US" sz="1600" b="1" dirty="0">
              <a:solidFill>
                <a:schemeClr val="tx1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defTabSz="685800" eaLnBrk="1" fontAlgn="auto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</a:t>
            </a:r>
            <a:endParaRPr lang="zh-CN" altLang="en-US" sz="1600" b="1" dirty="0">
              <a:solidFill>
                <a:schemeClr val="tx1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2769857" y="4229425"/>
            <a:ext cx="6648899" cy="879578"/>
            <a:chOff x="1132" y="2045"/>
            <a:chExt cx="1732" cy="3905"/>
          </a:xfrm>
        </p:grpSpPr>
        <p:sp>
          <p:nvSpPr>
            <p:cNvPr id="122" name="矩形 121"/>
            <p:cNvSpPr/>
            <p:nvPr/>
          </p:nvSpPr>
          <p:spPr>
            <a:xfrm>
              <a:off x="1132" y="2529"/>
              <a:ext cx="1732" cy="3421"/>
            </a:xfrm>
            <a:prstGeom prst="rect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 sz="2400">
                <a:sym typeface="+mn-ea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1802" y="2045"/>
              <a:ext cx="328" cy="703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121904" tIns="60952" rIns="121904" bIns="60952" rtlCol="0">
              <a:noAutofit/>
            </a:bodyPr>
            <a:p>
              <a:pPr lvl="0" algn="ctr" defTabSz="685800" eaLnBrk="1" fontAlgn="auto" hangingPunct="1">
                <a:spcBef>
                  <a:spcPts val="3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原始数据层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29" name="矩形 128"/>
          <p:cNvSpPr/>
          <p:nvPr/>
        </p:nvSpPr>
        <p:spPr>
          <a:xfrm>
            <a:off x="4211553" y="4621383"/>
            <a:ext cx="1219050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5578751" y="4621383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供应链产品数据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6932403" y="4621383"/>
            <a:ext cx="1219050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8281823" y="4621383"/>
            <a:ext cx="1034499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2769857" y="3214396"/>
            <a:ext cx="6648899" cy="1015028"/>
            <a:chOff x="1132" y="2045"/>
            <a:chExt cx="1732" cy="3905"/>
          </a:xfrm>
        </p:grpSpPr>
        <p:sp>
          <p:nvSpPr>
            <p:cNvPr id="134" name="矩形 133"/>
            <p:cNvSpPr/>
            <p:nvPr/>
          </p:nvSpPr>
          <p:spPr>
            <a:xfrm>
              <a:off x="1132" y="2529"/>
              <a:ext cx="1732" cy="3421"/>
            </a:xfrm>
            <a:prstGeom prst="rect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 sz="2400">
                <a:sym typeface="+mn-ea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1802" y="2045"/>
              <a:ext cx="328" cy="703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121904" tIns="60952" rIns="121904" bIns="60952" rtlCol="0">
              <a:noAutofit/>
            </a:bodyPr>
            <a:p>
              <a:pPr lvl="0" algn="ctr" defTabSz="685800" eaLnBrk="1" fontAlgn="auto" hangingPunct="1">
                <a:spcBef>
                  <a:spcPts val="3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数据资产层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36" name="矩形 135"/>
          <p:cNvSpPr/>
          <p:nvPr/>
        </p:nvSpPr>
        <p:spPr>
          <a:xfrm>
            <a:off x="2856207" y="3462439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公共维数据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4211553" y="3462439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主数据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5574941" y="3462439"/>
            <a:ext cx="1219050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6932403" y="3462439"/>
            <a:ext cx="1219050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8281823" y="3462439"/>
            <a:ext cx="1034499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物料主题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2769857" y="2336512"/>
            <a:ext cx="6648899" cy="879578"/>
            <a:chOff x="1132" y="2045"/>
            <a:chExt cx="1732" cy="3905"/>
          </a:xfrm>
        </p:grpSpPr>
        <p:sp>
          <p:nvSpPr>
            <p:cNvPr id="142" name="矩形 141"/>
            <p:cNvSpPr/>
            <p:nvPr/>
          </p:nvSpPr>
          <p:spPr>
            <a:xfrm>
              <a:off x="1132" y="2529"/>
              <a:ext cx="1732" cy="3421"/>
            </a:xfrm>
            <a:prstGeom prst="rect">
              <a:avLst/>
            </a:prstGeom>
            <a:noFill/>
            <a:ln w="635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70C0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 sz="2400">
                <a:sym typeface="+mn-ea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1802" y="2045"/>
              <a:ext cx="328" cy="703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121904" tIns="60952" rIns="121904" bIns="60952" rtlCol="0">
              <a:noAutofit/>
            </a:bodyPr>
            <a:p>
              <a:pPr lvl="0" algn="ctr" defTabSz="685800" eaLnBrk="1" fontAlgn="auto" hangingPunct="1">
                <a:spcBef>
                  <a:spcPts val="3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数据应用层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44" name="矩形 143"/>
          <p:cNvSpPr/>
          <p:nvPr/>
        </p:nvSpPr>
        <p:spPr>
          <a:xfrm>
            <a:off x="2856207" y="2728470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整体分析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211553" y="2728470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采购分析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5578751" y="2728470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交付分析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6932403" y="2728470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制造分析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8281823" y="2728470"/>
            <a:ext cx="1034499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2856207" y="3860323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策采主题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4211553" y="3860323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交付主题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5578751" y="3860323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制造主题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6932403" y="3860323"/>
            <a:ext cx="1219050" cy="32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物流主题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8281823" y="3860323"/>
            <a:ext cx="1034499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9857070" y="4270906"/>
            <a:ext cx="1240562" cy="383493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预警管理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1022024" y="4773764"/>
            <a:ext cx="1362886" cy="383493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主数据管理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9843525" y="4748367"/>
            <a:ext cx="1240562" cy="38349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调度管理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33540" y="462915"/>
            <a:ext cx="1567180" cy="31686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本期应用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&amp;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建设目标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717881" y="463051"/>
            <a:ext cx="753440" cy="316614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tIns="48254" rIns="0" bIns="48254"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未来考虑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58293" y="459878"/>
            <a:ext cx="796615" cy="32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规划中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585460" y="3462655"/>
            <a:ext cx="55753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30240" y="3507105"/>
            <a:ext cx="792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人力主题</a:t>
            </a:r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929755" y="3462655"/>
            <a:ext cx="55753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124065" y="3494405"/>
            <a:ext cx="792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财务主题</a:t>
            </a:r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6929755" y="4621530"/>
            <a:ext cx="55753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93255" y="4654550"/>
            <a:ext cx="10972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公共产品数据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06240" y="4621530"/>
            <a:ext cx="55753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244340" y="4653280"/>
            <a:ext cx="10972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财务产品数据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877418" y="4621383"/>
            <a:ext cx="1219050" cy="3200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872105" y="4621530"/>
            <a:ext cx="55753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910205" y="4640580"/>
            <a:ext cx="10972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营销产品数据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55700" y="5610860"/>
            <a:ext cx="55753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573135" y="5610860"/>
            <a:ext cx="55753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278745" y="5610860"/>
            <a:ext cx="557530" cy="3200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437245" y="459740"/>
            <a:ext cx="1180465" cy="316865"/>
          </a:xfrm>
          <a:prstGeom prst="rect">
            <a:avLst/>
          </a:prstGeom>
          <a:solidFill>
            <a:srgbClr val="FE610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lIns="0" tIns="48254" rIns="0" bIns="48254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挑战目标</a:t>
            </a:r>
            <a:endParaRPr lang="zh-CN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1020" y="257810"/>
            <a:ext cx="273875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项目目标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en-US" altLang="zh-CN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BI</a:t>
            </a:r>
            <a:r>
              <a:rPr lang="zh-CN" altLang="en-US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呈现</a:t>
            </a:r>
            <a:endParaRPr lang="zh-CN" altLang="en-US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12" name="Group 3"/>
          <p:cNvGrpSpPr/>
          <p:nvPr/>
        </p:nvGrpSpPr>
        <p:grpSpPr bwMode="auto">
          <a:xfrm>
            <a:off x="1307465" y="2517140"/>
            <a:ext cx="2606675" cy="3512820"/>
            <a:chOff x="1690" y="765"/>
            <a:chExt cx="1081" cy="1352"/>
          </a:xfrm>
        </p:grpSpPr>
        <p:sp>
          <p:nvSpPr>
            <p:cNvPr id="13" name="Freeform 91"/>
            <p:cNvSpPr/>
            <p:nvPr/>
          </p:nvSpPr>
          <p:spPr bwMode="gray">
            <a:xfrm>
              <a:off x="1690" y="1687"/>
              <a:ext cx="1081" cy="430"/>
            </a:xfrm>
            <a:custGeom>
              <a:avLst/>
              <a:gdLst>
                <a:gd name="T0" fmla="*/ 0 w 1633"/>
                <a:gd name="T1" fmla="*/ 429 h 429"/>
                <a:gd name="T2" fmla="*/ 1080 w 1633"/>
                <a:gd name="T3" fmla="*/ 429 h 429"/>
                <a:gd name="T4" fmla="*/ 917 w 1633"/>
                <a:gd name="T5" fmla="*/ 0 h 429"/>
                <a:gd name="T6" fmla="*/ 161 w 1633"/>
                <a:gd name="T7" fmla="*/ 0 h 429"/>
                <a:gd name="T8" fmla="*/ 0 w 1633"/>
                <a:gd name="T9" fmla="*/ 429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3"/>
                <a:gd name="T16" fmla="*/ 0 h 429"/>
                <a:gd name="T17" fmla="*/ 1633 w 1633"/>
                <a:gd name="T18" fmla="*/ 429 h 4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3" h="429">
                  <a:moveTo>
                    <a:pt x="0" y="428"/>
                  </a:moveTo>
                  <a:lnTo>
                    <a:pt x="1632" y="428"/>
                  </a:lnTo>
                  <a:lnTo>
                    <a:pt x="1385" y="0"/>
                  </a:lnTo>
                  <a:lnTo>
                    <a:pt x="243" y="0"/>
                  </a:lnTo>
                  <a:lnTo>
                    <a:pt x="0" y="428"/>
                  </a:lnTo>
                </a:path>
              </a:pathLst>
            </a:custGeom>
            <a:solidFill>
              <a:srgbClr val="FFFFFF">
                <a:lumMod val="50000"/>
              </a:srgbClr>
            </a:solidFill>
            <a:ln w="12700" cap="rnd">
              <a:solidFill>
                <a:srgbClr val="FFFFFF"/>
              </a:solidFill>
              <a:round/>
            </a:ln>
          </p:spPr>
          <p:txBody>
            <a:bodyPr wrap="square" lIns="36000" tIns="36000" rIns="36000" bIns="36000">
              <a:noAutofit/>
            </a:bodyPr>
            <a:p>
              <a:pPr algn="ctr" fontAlgn="base">
                <a:spcBef>
                  <a:spcPct val="20000"/>
                </a:spcBef>
                <a:spcAft>
                  <a:spcPct val="0"/>
                </a:spcAft>
                <a:defRPr/>
              </a:pPr>
              <a:endParaRPr lang="en-US" altLang="zh-CN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fontAlgn="base">
                <a:spcBef>
                  <a:spcPct val="20000"/>
                </a:spcBef>
                <a:spcAft>
                  <a:spcPct val="0"/>
                </a:spcAft>
                <a:defRPr/>
              </a:pPr>
              <a:endPara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fontAlgn="base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zh-CN" altLang="en-US" sz="1200" b="1" kern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执行层</a:t>
              </a:r>
              <a:endPara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4" name="Freeform 5"/>
            <p:cNvSpPr/>
            <p:nvPr/>
          </p:nvSpPr>
          <p:spPr bwMode="gray">
            <a:xfrm>
              <a:off x="1865" y="1226"/>
              <a:ext cx="731" cy="447"/>
            </a:xfrm>
            <a:custGeom>
              <a:avLst/>
              <a:gdLst>
                <a:gd name="T0" fmla="*/ 0 w 1062"/>
                <a:gd name="T1" fmla="*/ 442 h 438"/>
                <a:gd name="T2" fmla="*/ 135 w 1062"/>
                <a:gd name="T3" fmla="*/ 442 h 438"/>
                <a:gd name="T4" fmla="*/ 103 w 1062"/>
                <a:gd name="T5" fmla="*/ 0 h 438"/>
                <a:gd name="T6" fmla="*/ 32 w 1062"/>
                <a:gd name="T7" fmla="*/ 0 h 438"/>
                <a:gd name="T8" fmla="*/ 0 w 1062"/>
                <a:gd name="T9" fmla="*/ 442 h 4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2"/>
                <a:gd name="T16" fmla="*/ 0 h 438"/>
                <a:gd name="T17" fmla="*/ 1062 w 1062"/>
                <a:gd name="T18" fmla="*/ 438 h 4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2" h="438">
                  <a:moveTo>
                    <a:pt x="0" y="437"/>
                  </a:moveTo>
                  <a:lnTo>
                    <a:pt x="1061" y="437"/>
                  </a:lnTo>
                  <a:lnTo>
                    <a:pt x="815" y="0"/>
                  </a:lnTo>
                  <a:lnTo>
                    <a:pt x="247" y="0"/>
                  </a:lnTo>
                  <a:lnTo>
                    <a:pt x="0" y="437"/>
                  </a:lnTo>
                </a:path>
              </a:pathLst>
            </a:custGeom>
            <a:solidFill>
              <a:srgbClr val="00B0F0"/>
            </a:solidFill>
            <a:ln w="12700" cap="rnd">
              <a:solidFill>
                <a:srgbClr val="FFFFFF"/>
              </a:solidFill>
              <a:round/>
            </a:ln>
          </p:spPr>
          <p:txBody>
            <a:bodyPr wrap="square" lIns="36000" tIns="36000" rIns="36000" bIns="36000">
              <a:noAutofit/>
            </a:bodyPr>
            <a:p>
              <a:pPr algn="ctr">
                <a:spcBef>
                  <a:spcPct val="20000"/>
                </a:spcBef>
                <a:defRPr/>
              </a:pPr>
              <a:endParaRPr lang="en-US" altLang="zh-CN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>
                <a:spcBef>
                  <a:spcPct val="20000"/>
                </a:spcBef>
                <a:defRPr/>
              </a:pPr>
              <a:endParaRPr lang="en-US" altLang="zh-CN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>
                <a:spcBef>
                  <a:spcPct val="20000"/>
                </a:spcBef>
                <a:defRPr/>
              </a:pPr>
              <a:r>
                <a:rPr lang="zh-CN" altLang="en-US" sz="1200" b="1" kern="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管理层</a:t>
              </a:r>
              <a:endParaRPr lang="zh-CN" altLang="en-US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5" name="Freeform 6"/>
            <p:cNvSpPr/>
            <p:nvPr/>
          </p:nvSpPr>
          <p:spPr bwMode="gray">
            <a:xfrm>
              <a:off x="2051" y="765"/>
              <a:ext cx="355" cy="452"/>
            </a:xfrm>
            <a:custGeom>
              <a:avLst/>
              <a:gdLst>
                <a:gd name="T0" fmla="*/ 0 w 494"/>
                <a:gd name="T1" fmla="*/ 439 h 435"/>
                <a:gd name="T2" fmla="*/ 63 w 494"/>
                <a:gd name="T3" fmla="*/ 439 h 435"/>
                <a:gd name="T4" fmla="*/ 32 w 494"/>
                <a:gd name="T5" fmla="*/ 0 h 435"/>
                <a:gd name="T6" fmla="*/ 0 w 494"/>
                <a:gd name="T7" fmla="*/ 439 h 4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4"/>
                <a:gd name="T13" fmla="*/ 0 h 435"/>
                <a:gd name="T14" fmla="*/ 494 w 494"/>
                <a:gd name="T15" fmla="*/ 435 h 4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4" h="435">
                  <a:moveTo>
                    <a:pt x="0" y="434"/>
                  </a:moveTo>
                  <a:lnTo>
                    <a:pt x="493" y="434"/>
                  </a:lnTo>
                  <a:lnTo>
                    <a:pt x="247" y="0"/>
                  </a:lnTo>
                  <a:lnTo>
                    <a:pt x="0" y="434"/>
                  </a:lnTo>
                </a:path>
              </a:pathLst>
            </a:custGeom>
            <a:solidFill>
              <a:srgbClr val="0C50A9"/>
            </a:solidFill>
            <a:ln w="12700" cap="rnd">
              <a:solidFill>
                <a:srgbClr val="FFFFFF"/>
              </a:solidFill>
              <a:round/>
            </a:ln>
          </p:spPr>
          <p:txBody>
            <a:bodyPr wrap="square" lIns="36000" tIns="0" rIns="36000" bIns="0">
              <a:noAutofit/>
            </a:bodyPr>
            <a:p>
              <a:pPr algn="ctr" fontAlgn="base">
                <a:spcBef>
                  <a:spcPct val="20000"/>
                </a:spcBef>
                <a:spcAft>
                  <a:spcPct val="0"/>
                </a:spcAft>
                <a:defRPr/>
              </a:pPr>
              <a:endParaRPr lang="en-US" altLang="zh-CN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fontAlgn="base">
                <a:spcBef>
                  <a:spcPct val="20000"/>
                </a:spcBef>
                <a:spcAft>
                  <a:spcPct val="0"/>
                </a:spcAft>
                <a:defRPr/>
              </a:pPr>
              <a:endParaRPr lang="en-US" altLang="zh-CN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fontAlgn="base">
                <a:spcBef>
                  <a:spcPct val="20000"/>
                </a:spcBef>
                <a:spcAft>
                  <a:spcPct val="0"/>
                </a:spcAft>
                <a:defRPr/>
              </a:pPr>
              <a:endParaRPr lang="en-US" altLang="zh-CN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algn="ctr" fontAlgn="base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zh-CN" altLang="en-US" sz="1200" b="1" kern="0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决策层</a:t>
              </a:r>
              <a:endParaRPr lang="zh-CN" altLang="en-US" sz="1200" b="1" kern="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6" name="Line 45"/>
          <p:cNvSpPr>
            <a:spLocks noChangeShapeType="1"/>
          </p:cNvSpPr>
          <p:nvPr/>
        </p:nvSpPr>
        <p:spPr bwMode="invGray">
          <a:xfrm flipV="1">
            <a:off x="3492500" y="3667125"/>
            <a:ext cx="7734300" cy="23495"/>
          </a:xfrm>
          <a:prstGeom prst="line">
            <a:avLst/>
          </a:prstGeom>
          <a:noFill/>
          <a:ln w="9525">
            <a:solidFill>
              <a:srgbClr val="00277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0" tIns="0" rIns="0" bIns="0"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sz="1100" b="1" kern="0">
              <a:solidFill>
                <a:srgbClr val="002776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Line 45"/>
          <p:cNvSpPr>
            <a:spLocks noChangeShapeType="1"/>
          </p:cNvSpPr>
          <p:nvPr/>
        </p:nvSpPr>
        <p:spPr bwMode="invGray">
          <a:xfrm flipV="1">
            <a:off x="3747135" y="4912995"/>
            <a:ext cx="7480300" cy="635"/>
          </a:xfrm>
          <a:prstGeom prst="line">
            <a:avLst/>
          </a:prstGeom>
          <a:noFill/>
          <a:ln w="9525">
            <a:solidFill>
              <a:srgbClr val="00277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0" tIns="0" rIns="0" bIns="0">
            <a:noAutofit/>
          </a:bodyPr>
          <a:p>
            <a:pPr lvl="0" algn="ctr" fontAlgn="base">
              <a:spcBef>
                <a:spcPct val="20000"/>
              </a:spcBef>
              <a:buClrTx/>
              <a:buSzTx/>
              <a:buFontTx/>
              <a:defRPr/>
            </a:pPr>
            <a:endParaRPr lang="en-US" sz="1100" b="1" kern="0">
              <a:solidFill>
                <a:srgbClr val="002776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397099" y="2754434"/>
            <a:ext cx="1169065" cy="3260746"/>
            <a:chOff x="38089" y="2306975"/>
            <a:chExt cx="1169065" cy="3496487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22621" y="2322813"/>
              <a:ext cx="0" cy="3456431"/>
            </a:xfrm>
            <a:prstGeom prst="line">
              <a:avLst/>
            </a:prstGeom>
            <a:ln>
              <a:prstDash val="sysDot"/>
              <a:headEnd type="none" w="med" len="med"/>
              <a:tailEnd type="triangle" w="med" len="lg"/>
            </a:ln>
          </p:spPr>
          <p:style>
            <a:lnRef idx="1">
              <a:srgbClr val="00A1DE"/>
            </a:lnRef>
            <a:fillRef idx="0">
              <a:srgbClr val="00A1DE"/>
            </a:fillRef>
            <a:effectRef idx="0">
              <a:srgbClr val="00A1DE"/>
            </a:effectRef>
            <a:fontRef idx="minor">
              <a:srgbClr val="000000"/>
            </a:fontRef>
          </p:style>
        </p:cxn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78074" y="3478585"/>
              <a:ext cx="1089094" cy="496123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none" lIns="91434" tIns="45717" rIns="91434" bIns="45717">
              <a:spAutoFit/>
            </a:bodyPr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kern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聚焦镜</a:t>
              </a:r>
              <a:endParaRPr lang="zh-CN" altLang="en-US" sz="16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249065" y="4268354"/>
              <a:ext cx="759812" cy="417664"/>
            </a:xfrm>
            <a:prstGeom prst="ellipse">
              <a:avLst/>
            </a:prstGeom>
            <a:solidFill>
              <a:srgbClr val="00B0F0">
                <a:alpha val="70000"/>
              </a:srgbClr>
            </a:solidFill>
            <a:ln>
              <a:solidFill>
                <a:srgbClr val="00B0F0"/>
              </a:solidFill>
            </a:ln>
          </p:spPr>
          <p:txBody>
            <a:bodyPr wrap="none" lIns="91434" tIns="45717" rIns="91434" bIns="45717">
              <a:spAutoFit/>
            </a:bodyPr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kern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透视镜</a:t>
              </a:r>
              <a:endPara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38089" y="2456584"/>
              <a:ext cx="1169065" cy="620944"/>
            </a:xfrm>
            <a:prstGeom prst="ellipse">
              <a:avLst/>
            </a:prstGeom>
            <a:solidFill>
              <a:srgbClr val="0C50A9"/>
            </a:solidFill>
            <a:ln>
              <a:solidFill>
                <a:srgbClr val="0C50A9"/>
              </a:solidFill>
            </a:ln>
          </p:spPr>
          <p:txBody>
            <a:bodyPr wrap="none" lIns="91434" tIns="45717" rIns="91434" bIns="45717" anchor="ctr">
              <a:noAutofit/>
            </a:bodyPr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 kern="0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广角镜</a:t>
              </a:r>
              <a:endParaRPr lang="zh-CN" altLang="en-US" b="1" kern="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26" name="直接连接符 25"/>
            <p:cNvCxnSpPr>
              <a:stCxn id="25" idx="2"/>
              <a:endCxn id="30" idx="2"/>
            </p:cNvCxnSpPr>
            <p:nvPr/>
          </p:nvCxnSpPr>
          <p:spPr>
            <a:xfrm>
              <a:off x="38089" y="2767057"/>
              <a:ext cx="365760" cy="252004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rgbClr val="00A1DE"/>
            </a:lnRef>
            <a:fillRef idx="0">
              <a:srgbClr val="00A1DE"/>
            </a:fillRef>
            <a:effectRef idx="0">
              <a:srgbClr val="00A1DE"/>
            </a:effectRef>
            <a:fontRef idx="minor">
              <a:srgbClr val="000000"/>
            </a:fontRef>
          </p:style>
        </p:cxnSp>
        <p:cxnSp>
          <p:nvCxnSpPr>
            <p:cNvPr id="27" name="直接连接符 26"/>
            <p:cNvCxnSpPr>
              <a:stCxn id="25" idx="6"/>
              <a:endCxn id="30" idx="6"/>
            </p:cNvCxnSpPr>
            <p:nvPr/>
          </p:nvCxnSpPr>
          <p:spPr>
            <a:xfrm flipH="1">
              <a:off x="841394" y="2767057"/>
              <a:ext cx="365760" cy="252004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rgbClr val="00A1DE"/>
            </a:lnRef>
            <a:fillRef idx="0">
              <a:srgbClr val="00A1DE"/>
            </a:fillRef>
            <a:effectRef idx="0">
              <a:srgbClr val="00A1DE"/>
            </a:effectRef>
            <a:fontRef idx="minor">
              <a:srgbClr val="000000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59222" y="2306975"/>
              <a:ext cx="326799" cy="0"/>
            </a:xfrm>
            <a:prstGeom prst="line">
              <a:avLst/>
            </a:prstGeom>
          </p:spPr>
          <p:style>
            <a:lnRef idx="1">
              <a:srgbClr val="00A1DE"/>
            </a:lnRef>
            <a:fillRef idx="0">
              <a:srgbClr val="00A1DE"/>
            </a:fillRef>
            <a:effectRef idx="0">
              <a:srgbClr val="00A1DE"/>
            </a:effectRef>
            <a:fontRef idx="minor">
              <a:srgbClr val="000000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459222" y="5803462"/>
              <a:ext cx="326799" cy="0"/>
            </a:xfrm>
            <a:prstGeom prst="line">
              <a:avLst/>
            </a:prstGeom>
          </p:spPr>
          <p:style>
            <a:lnRef idx="1">
              <a:srgbClr val="00A1DE"/>
            </a:lnRef>
            <a:fillRef idx="0">
              <a:srgbClr val="00A1DE"/>
            </a:fillRef>
            <a:effectRef idx="0">
              <a:srgbClr val="00A1DE"/>
            </a:effectRef>
            <a:fontRef idx="minor">
              <a:srgbClr val="000000"/>
            </a:fontRef>
          </p:style>
        </p:cxn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403829" y="5046618"/>
              <a:ext cx="437585" cy="480182"/>
            </a:xfrm>
            <a:prstGeom prst="ellipse">
              <a:avLst/>
            </a:prstGeom>
            <a:solidFill>
              <a:srgbClr val="FFFFFF">
                <a:lumMod val="65000"/>
              </a:srgbClr>
            </a:solidFill>
            <a:ln>
              <a:solidFill>
                <a:srgbClr val="000000">
                  <a:lumMod val="50000"/>
                  <a:lumOff val="50000"/>
                </a:srgbClr>
              </a:solidFill>
            </a:ln>
          </p:spPr>
          <p:txBody>
            <a:bodyPr wrap="square" lIns="0" tIns="0" rIns="0" bIns="0">
              <a:noAutofit/>
            </a:bodyPr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kern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显微镜</a:t>
              </a:r>
              <a:endPara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Oval 34"/>
          <p:cNvSpPr>
            <a:spLocks noChangeArrowheads="1"/>
          </p:cNvSpPr>
          <p:nvPr/>
        </p:nvSpPr>
        <p:spPr bwMode="auto">
          <a:xfrm>
            <a:off x="511337" y="5230387"/>
            <a:ext cx="635206" cy="396875"/>
          </a:xfrm>
          <a:prstGeom prst="ellipse">
            <a:avLst/>
          </a:prstGeom>
          <a:noFill/>
          <a:ln>
            <a:noFill/>
          </a:ln>
          <a:effectLst/>
        </p:spPr>
        <p:txBody>
          <a:bodyPr wrap="none" lIns="0" tIns="0" rIns="0" bIns="0" anchor="ctr"/>
          <a:p>
            <a:pPr algn="ctr">
              <a:defRPr/>
            </a:pPr>
            <a:r>
              <a:rPr lang="zh-CN" altLang="en-US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看方向，找办法</a:t>
            </a:r>
            <a:endParaRPr lang="zh-CN" altLang="en-US" sz="1200" b="1" kern="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2" name="Oval 34"/>
          <p:cNvSpPr>
            <a:spLocks noChangeArrowheads="1"/>
          </p:cNvSpPr>
          <p:nvPr/>
        </p:nvSpPr>
        <p:spPr bwMode="auto">
          <a:xfrm>
            <a:off x="1235502" y="2969582"/>
            <a:ext cx="873125" cy="317500"/>
          </a:xfrm>
          <a:prstGeom prst="ellipse">
            <a:avLst/>
          </a:prstGeom>
          <a:noFill/>
          <a:ln>
            <a:noFill/>
          </a:ln>
          <a:effectLst/>
        </p:spPr>
        <p:txBody>
          <a:bodyPr wrap="none" lIns="0" tIns="0" rIns="0" bIns="0" anchor="ctr"/>
          <a:p>
            <a:pPr algn="ctr">
              <a:defRPr/>
            </a:pPr>
            <a:r>
              <a:rPr lang="zh-CN" altLang="en-US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看行业，找目标</a:t>
            </a:r>
            <a:endParaRPr lang="zh-CN" altLang="en-US" sz="1200" b="1" kern="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Oval 34"/>
          <p:cNvSpPr>
            <a:spLocks noChangeArrowheads="1"/>
          </p:cNvSpPr>
          <p:nvPr/>
        </p:nvSpPr>
        <p:spPr bwMode="auto">
          <a:xfrm>
            <a:off x="765202" y="4136692"/>
            <a:ext cx="891404" cy="317500"/>
          </a:xfrm>
          <a:prstGeom prst="ellipse">
            <a:avLst/>
          </a:prstGeom>
          <a:noFill/>
          <a:ln>
            <a:noFill/>
          </a:ln>
          <a:effectLst/>
        </p:spPr>
        <p:txBody>
          <a:bodyPr wrap="none" lIns="0" tIns="0" rIns="0" bIns="0" anchor="ctr"/>
          <a:p>
            <a:pPr algn="ctr">
              <a:defRPr/>
            </a:pPr>
            <a:r>
              <a:rPr lang="zh-CN" altLang="en-US" sz="12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看目标，找方向</a:t>
            </a:r>
            <a:endParaRPr lang="zh-CN" altLang="en-US" sz="1200" b="1" kern="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17760000">
            <a:off x="1127760" y="3510915"/>
            <a:ext cx="722630" cy="4108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17760000">
            <a:off x="706755" y="4648835"/>
            <a:ext cx="722630" cy="4108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61535" y="1925955"/>
            <a:ext cx="640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视角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758430" y="1925955"/>
            <a:ext cx="8731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BI</a:t>
            </a:r>
            <a:r>
              <a:rPr lang="zh-CN" altLang="en-US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</a:t>
            </a:r>
            <a:endParaRPr lang="zh-CN" altLang="en-US" b="1" kern="0" dirty="0">
              <a:solidFill>
                <a:srgbClr val="0C50A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Rectangle 48"/>
          <p:cNvSpPr/>
          <p:nvPr/>
        </p:nvSpPr>
        <p:spPr>
          <a:xfrm>
            <a:off x="6333652" y="2729890"/>
            <a:ext cx="1945399" cy="797560"/>
          </a:xfrm>
          <a:prstGeom prst="rect">
            <a:avLst/>
          </a:prstGeom>
        </p:spPr>
        <p:txBody>
          <a:bodyPr wrap="square" lIns="91434" tIns="45717" rIns="91434" bIns="45717">
            <a:spAutoFit/>
          </a:bodyPr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</a:rPr>
              <a:t>管理驾驶舱</a:t>
            </a:r>
            <a:endParaRPr lang="zh-CN" altLang="en-US" sz="12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10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高度汇总的指标</a:t>
            </a:r>
            <a:endParaRPr lang="en-US" altLang="zh-CN" sz="12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侧重于整体、宏观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体现核心价值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49"/>
          <p:cNvSpPr/>
          <p:nvPr/>
        </p:nvSpPr>
        <p:spPr>
          <a:xfrm>
            <a:off x="6333653" y="3731943"/>
            <a:ext cx="2009128" cy="1167130"/>
          </a:xfrm>
          <a:prstGeom prst="rect">
            <a:avLst/>
          </a:prstGeom>
        </p:spPr>
        <p:txBody>
          <a:bodyPr wrap="square" lIns="91434" tIns="45717" rIns="91434" bIns="45717">
            <a:spAutoFit/>
          </a:bodyPr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</a:rPr>
              <a:t>中心驾驶舱</a:t>
            </a:r>
            <a:r>
              <a:rPr lang="en-US" altLang="zh-CN" sz="12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</a:rPr>
              <a:t>主题分析</a:t>
            </a:r>
            <a:endParaRPr lang="zh-CN" altLang="en-US" sz="12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10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中度汇总</a:t>
            </a:r>
            <a:r>
              <a:rPr lang="en-US" altLang="zh-CN" sz="10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00" b="1" kern="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对比指标</a:t>
            </a:r>
            <a:endParaRPr lang="en-US" altLang="zh-CN" sz="12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结构与决策层相似，拆解更细致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从业务管理角度设计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指标值可直接反应问题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49"/>
          <p:cNvSpPr/>
          <p:nvPr/>
        </p:nvSpPr>
        <p:spPr>
          <a:xfrm>
            <a:off x="6333653" y="5088303"/>
            <a:ext cx="2009128" cy="982345"/>
          </a:xfrm>
          <a:prstGeom prst="rect">
            <a:avLst/>
          </a:prstGeom>
        </p:spPr>
        <p:txBody>
          <a:bodyPr wrap="square" lIns="91434" tIns="45717" rIns="91434" bIns="45717">
            <a:spAutoFit/>
          </a:bodyPr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</a:rPr>
              <a:t>主题分析</a:t>
            </a:r>
            <a:r>
              <a:rPr lang="en-US" altLang="zh-CN" sz="12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</a:rPr>
              <a:t>专项分析</a:t>
            </a:r>
            <a:endParaRPr lang="zh-CN" altLang="en-US" sz="12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kern="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1000" b="1" kern="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基层监控明细</a:t>
            </a:r>
            <a:r>
              <a:rPr lang="zh-CN" altLang="en-US" sz="1000" b="1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指标</a:t>
            </a:r>
            <a:endParaRPr lang="en-US" altLang="zh-CN" sz="10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根据管理层指标拆解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侧重实际业务操作指标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侧重业务执行结果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89" name="图片 2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296" y="2673930"/>
            <a:ext cx="1414672" cy="798742"/>
          </a:xfrm>
          <a:prstGeom prst="rect">
            <a:avLst/>
          </a:prstGeom>
          <a:solidFill>
            <a:schemeClr val="accent2"/>
          </a:solidFill>
          <a:ln w="8001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293" name="图片 29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580" y="3818890"/>
            <a:ext cx="1268730" cy="951865"/>
          </a:xfrm>
          <a:prstGeom prst="rect">
            <a:avLst/>
          </a:prstGeom>
          <a:solidFill>
            <a:schemeClr val="accent2"/>
          </a:solidFill>
          <a:ln w="8001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17" y="5199447"/>
            <a:ext cx="1343249" cy="816217"/>
          </a:xfrm>
          <a:prstGeom prst="rect">
            <a:avLst/>
          </a:prstGeom>
          <a:solidFill>
            <a:schemeClr val="accent2"/>
          </a:solidFill>
          <a:ln w="8001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44" name="文本框 43"/>
          <p:cNvSpPr txBox="1"/>
          <p:nvPr/>
        </p:nvSpPr>
        <p:spPr>
          <a:xfrm>
            <a:off x="10391775" y="2673985"/>
            <a:ext cx="716280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大屏</a:t>
            </a:r>
            <a:endParaRPr lang="zh-CN" altLang="en-US" sz="1400" b="1" kern="0" dirty="0">
              <a:solidFill>
                <a:srgbClr val="0C50A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4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PC</a:t>
            </a:r>
            <a:endParaRPr lang="en-US" altLang="zh-CN" sz="1400" b="1" kern="0" dirty="0">
              <a:solidFill>
                <a:srgbClr val="0C50A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</a:t>
            </a:r>
            <a:endParaRPr lang="zh-CN" altLang="en-US" sz="1400" b="1" kern="0" dirty="0">
              <a:solidFill>
                <a:srgbClr val="0C50A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402570" y="4033520"/>
            <a:ext cx="8242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4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PC</a:t>
            </a:r>
            <a:endParaRPr lang="en-US" altLang="zh-CN" sz="1400" b="1" kern="0" dirty="0">
              <a:solidFill>
                <a:srgbClr val="0C50A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</a:t>
            </a:r>
            <a:endParaRPr lang="zh-CN" altLang="en-US" sz="1400" b="1" kern="0" dirty="0">
              <a:solidFill>
                <a:srgbClr val="0C50A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402570" y="5426075"/>
            <a:ext cx="70548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1400" b="1" kern="0" dirty="0">
                <a:solidFill>
                  <a:srgbClr val="0C50A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PC</a:t>
            </a:r>
            <a:endParaRPr lang="zh-CN" altLang="en-US" sz="1400" b="1" kern="0" dirty="0">
              <a:solidFill>
                <a:srgbClr val="0C50A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Rounded Rectangle 36"/>
          <p:cNvSpPr/>
          <p:nvPr/>
        </p:nvSpPr>
        <p:spPr bwMode="auto">
          <a:xfrm>
            <a:off x="3492500" y="1338580"/>
            <a:ext cx="7734935" cy="396240"/>
          </a:xfrm>
          <a:prstGeom prst="roundRect">
            <a:avLst>
              <a:gd name="adj" fmla="val 4606"/>
            </a:avLst>
          </a:prstGeom>
          <a:solidFill>
            <a:srgbClr val="72C7E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/>
          <a:p>
            <a:pPr algn="ctr"/>
            <a:r>
              <a:rPr lang="zh-CN" altLang="en-US" sz="2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管理提效</a:t>
            </a:r>
            <a:r>
              <a:rPr lang="zh-CN" altLang="en-US" sz="22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、透明管控、高效决策</a:t>
            </a:r>
            <a:endParaRPr lang="en-US" sz="22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1020" y="257810"/>
            <a:ext cx="34963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项目支撑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zh-CN" altLang="en-US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逻辑技术架构</a:t>
            </a:r>
            <a:endParaRPr lang="zh-CN" altLang="en-US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6" name="组合 1"/>
          <p:cNvGrpSpPr/>
          <p:nvPr/>
        </p:nvGrpSpPr>
        <p:grpSpPr>
          <a:xfrm>
            <a:off x="333467" y="1024595"/>
            <a:ext cx="10255885" cy="5685791"/>
            <a:chOff x="693723" y="675527"/>
            <a:chExt cx="7692863" cy="4264870"/>
          </a:xfrm>
        </p:grpSpPr>
        <p:sp>
          <p:nvSpPr>
            <p:cNvPr id="14" name="圆角矩形 13"/>
            <p:cNvSpPr/>
            <p:nvPr/>
          </p:nvSpPr>
          <p:spPr bwMode="auto">
            <a:xfrm>
              <a:off x="3907379" y="4458849"/>
              <a:ext cx="2327245" cy="44058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617762" y="4395500"/>
              <a:ext cx="6768824" cy="54489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93723" y="4395500"/>
              <a:ext cx="864024" cy="5387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zh-CN" altLang="en-US" sz="2000" b="1" dirty="0" smtClean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数据源</a:t>
              </a:r>
              <a:endParaRPr kumimoji="1" lang="zh-CN" altLang="en-US" sz="2000" b="1" dirty="0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617762" y="3409541"/>
              <a:ext cx="6768824" cy="4582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 sz="2135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617762" y="3930623"/>
              <a:ext cx="6768824" cy="40676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93723" y="3930146"/>
              <a:ext cx="864024" cy="4072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zh-CN" altLang="en-US" sz="2000" b="1" dirty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存储层</a:t>
              </a:r>
              <a:endParaRPr kumimoji="1" lang="zh-CN" altLang="en-US" sz="20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93723" y="3417638"/>
              <a:ext cx="864024" cy="45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zh-CN" altLang="en-US" sz="2000" b="1" dirty="0" smtClean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权限认证</a:t>
              </a:r>
              <a:endParaRPr kumimoji="1" lang="zh-CN" altLang="en-US" sz="2000" b="1" dirty="0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617762" y="1638623"/>
              <a:ext cx="6768824" cy="12431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610142" y="675527"/>
              <a:ext cx="6765528" cy="5040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693723" y="1638623"/>
              <a:ext cx="864024" cy="12431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zh-CN" altLang="en-US" sz="2135" b="1" dirty="0" smtClean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开发</a:t>
              </a:r>
              <a:endParaRPr kumimoji="1" lang="en-US" altLang="zh-CN" sz="2135" b="1" dirty="0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/>
              </a:pPr>
              <a:r>
                <a:rPr kumimoji="1" lang="zh-CN" altLang="en-US" sz="2135" b="1" dirty="0" smtClean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中心</a:t>
              </a:r>
              <a:endParaRPr kumimoji="1" lang="en-US" altLang="zh-CN" sz="2135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120" y="6128370"/>
            <a:ext cx="546170" cy="54617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030" y="6155055"/>
            <a:ext cx="492760" cy="492760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1689735" y="4855210"/>
            <a:ext cx="1403350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Kerberos</a:t>
            </a: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认证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97860" y="4855210"/>
            <a:ext cx="969645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Sentry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702935" y="4855210"/>
            <a:ext cx="1854200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数据库</a:t>
            </a: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、表、列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719695" y="4855210"/>
            <a:ext cx="1641475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权限审批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560830" y="4021455"/>
            <a:ext cx="9023985" cy="62103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2135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33375" y="4021455"/>
            <a:ext cx="1151890" cy="62103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zh-CN" altLang="en-US" sz="2000" b="1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基础服务组件</a:t>
            </a:r>
            <a:endParaRPr kumimoji="1" lang="zh-CN" altLang="en-US" sz="2000" b="1" dirty="0" smtClean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730555" y="4230651"/>
            <a:ext cx="1092954" cy="3615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租户隔离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902240" y="4230651"/>
            <a:ext cx="1399367" cy="3615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集群管理CDH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380338" y="4230651"/>
            <a:ext cx="1464553" cy="3615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任务调度Yarn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923620" y="4230651"/>
            <a:ext cx="1092912" cy="3615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任务监控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7095490" y="4230370"/>
            <a:ext cx="1119505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实时流处理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8279130" y="4230370"/>
            <a:ext cx="1102360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离线处理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2" name="圆角矩形 81"/>
          <p:cNvSpPr/>
          <p:nvPr/>
        </p:nvSpPr>
        <p:spPr bwMode="auto">
          <a:xfrm>
            <a:off x="1718310" y="2399665"/>
            <a:ext cx="1480185" cy="1476375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文本框 2"/>
          <p:cNvSpPr txBox="1">
            <a:spLocks noChangeArrowheads="1"/>
          </p:cNvSpPr>
          <p:nvPr/>
        </p:nvSpPr>
        <p:spPr bwMode="auto">
          <a:xfrm>
            <a:off x="1899285" y="2389505"/>
            <a:ext cx="1148080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1pPr>
            <a:lvl2pPr marL="742950" indent="-28575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2pPr>
            <a:lvl3pPr marL="11430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3pPr>
            <a:lvl4pPr marL="16002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4pPr>
            <a:lvl5pPr marL="20574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9pPr>
          </a:lstStyle>
          <a:p>
            <a:pPr algn="ctr"/>
            <a:r>
              <a:rPr lang="zh-CN" altLang="en-US" sz="1600" dirty="0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离线处理</a:t>
            </a:r>
            <a:endParaRPr lang="zh-CN" altLang="en-US" sz="1600" dirty="0" smtClean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888837" y="1120610"/>
            <a:ext cx="1748997" cy="480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</a:t>
            </a: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4043332" y="1123785"/>
            <a:ext cx="1829421" cy="480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标签</a:t>
            </a: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1961328" y="2703035"/>
            <a:ext cx="1036285" cy="31466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MR/Hive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961764" y="3514223"/>
            <a:ext cx="1036285" cy="31466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DataX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961359" y="3121006"/>
            <a:ext cx="1036285" cy="31466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577380" y="1123785"/>
            <a:ext cx="1818416" cy="4800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算法应用</a:t>
            </a:r>
            <a:endParaRPr kumimoji="1" lang="zh-CN" altLang="en-US" sz="1465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5430520"/>
            <a:ext cx="401955" cy="401955"/>
          </a:xfrm>
          <a:prstGeom prst="rect">
            <a:avLst/>
          </a:prstGeom>
        </p:spPr>
      </p:pic>
      <p:sp>
        <p:nvSpPr>
          <p:cNvPr id="100" name="矩形 99"/>
          <p:cNvSpPr/>
          <p:nvPr/>
        </p:nvSpPr>
        <p:spPr>
          <a:xfrm>
            <a:off x="9562642" y="4855299"/>
            <a:ext cx="959155" cy="3615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角色</a:t>
            </a: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9" name="图片 1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525" y="5442585"/>
            <a:ext cx="401955" cy="401955"/>
          </a:xfrm>
          <a:prstGeom prst="rect">
            <a:avLst/>
          </a:prstGeom>
        </p:spPr>
      </p:pic>
      <p:sp>
        <p:nvSpPr>
          <p:cNvPr id="110" name="矩形 109"/>
          <p:cNvSpPr/>
          <p:nvPr/>
        </p:nvSpPr>
        <p:spPr>
          <a:xfrm>
            <a:off x="2185035" y="6118860"/>
            <a:ext cx="2310765" cy="5556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结构化数据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:CRM/EBS……</a:t>
            </a:r>
            <a:endParaRPr kumimoji="1" lang="en-US" altLang="zh-CN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5207635" y="6118860"/>
            <a:ext cx="2051050" cy="5556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半结构化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非结构化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tr-TR" altLang="zh-CN" sz="16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binlog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tr-TR" altLang="zh-CN" sz="16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cdc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</a:t>
            </a:r>
            <a:endParaRPr kumimoji="1" lang="zh-CN" altLang="en-US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017510" y="6123305"/>
            <a:ext cx="2426970" cy="5556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埋点行为数据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:TV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设备埋点数据</a:t>
            </a:r>
            <a:endParaRPr kumimoji="1" lang="zh-CN" altLang="en-US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2332990" y="5454650"/>
            <a:ext cx="3489325" cy="3778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HDFS + Kafka + 文件</a:t>
            </a:r>
            <a:endParaRPr lang="zh-CN" altLang="en-US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6703695" y="5454650"/>
            <a:ext cx="3740785" cy="37782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RDBMS (Postgresql+Oracle+mysql)</a:t>
            </a:r>
            <a:endParaRPr lang="zh-CN" altLang="en-US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4289425" y="4855210"/>
            <a:ext cx="1214755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单点登录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9460230" y="4230370"/>
            <a:ext cx="1102360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消息队列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7" name="圆角矩形 116"/>
          <p:cNvSpPr/>
          <p:nvPr/>
        </p:nvSpPr>
        <p:spPr bwMode="auto">
          <a:xfrm>
            <a:off x="3533140" y="2399665"/>
            <a:ext cx="1480185" cy="1476375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文本框 2"/>
          <p:cNvSpPr txBox="1">
            <a:spLocks noChangeArrowheads="1"/>
          </p:cNvSpPr>
          <p:nvPr/>
        </p:nvSpPr>
        <p:spPr bwMode="auto">
          <a:xfrm>
            <a:off x="3714115" y="2389505"/>
            <a:ext cx="1148080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1pPr>
            <a:lvl2pPr marL="742950" indent="-28575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2pPr>
            <a:lvl3pPr marL="11430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3pPr>
            <a:lvl4pPr marL="16002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4pPr>
            <a:lvl5pPr marL="20574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9pPr>
          </a:lstStyle>
          <a:p>
            <a:pPr algn="ctr"/>
            <a:r>
              <a:rPr lang="zh-CN" altLang="en-US" sz="1600" dirty="0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实时处理</a:t>
            </a:r>
            <a:endParaRPr lang="zh-CN" altLang="en-US" sz="1600" dirty="0" smtClean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3684905" y="2703195"/>
            <a:ext cx="1174750" cy="3149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Flink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3686175" y="3514090"/>
            <a:ext cx="1174115" cy="3149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实时同步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3685540" y="3051175"/>
            <a:ext cx="1174750" cy="4171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 Streaming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圆角矩形 122"/>
          <p:cNvSpPr/>
          <p:nvPr/>
        </p:nvSpPr>
        <p:spPr bwMode="auto">
          <a:xfrm>
            <a:off x="5346700" y="2399665"/>
            <a:ext cx="1480185" cy="1476375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文本框 2"/>
          <p:cNvSpPr txBox="1">
            <a:spLocks noChangeArrowheads="1"/>
          </p:cNvSpPr>
          <p:nvPr/>
        </p:nvSpPr>
        <p:spPr bwMode="auto">
          <a:xfrm>
            <a:off x="5527675" y="2389505"/>
            <a:ext cx="1148080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1pPr>
            <a:lvl2pPr marL="742950" indent="-28575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2pPr>
            <a:lvl3pPr marL="11430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3pPr>
            <a:lvl4pPr marL="16002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4pPr>
            <a:lvl5pPr marL="20574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查询建模</a:t>
            </a:r>
            <a:endParaRPr lang="zh-CN" altLang="en-US" sz="1600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5528945" y="2703195"/>
            <a:ext cx="1146175" cy="3149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Impala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5528310" y="3514090"/>
            <a:ext cx="1147445" cy="3149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Clickhouse</a:t>
            </a:r>
            <a:endParaRPr kumimoji="1" lang="zh-CN" altLang="en-US" sz="1465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5528945" y="3121025"/>
            <a:ext cx="1146175" cy="3149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Kylin</a:t>
            </a:r>
            <a:endParaRPr kumimoji="1" lang="en-US" altLang="zh-CN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圆角矩形 131"/>
          <p:cNvSpPr/>
          <p:nvPr/>
        </p:nvSpPr>
        <p:spPr bwMode="auto">
          <a:xfrm>
            <a:off x="7144385" y="2399665"/>
            <a:ext cx="1480185" cy="1476375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文本框 2"/>
          <p:cNvSpPr txBox="1">
            <a:spLocks noChangeArrowheads="1"/>
          </p:cNvSpPr>
          <p:nvPr/>
        </p:nvSpPr>
        <p:spPr bwMode="auto">
          <a:xfrm>
            <a:off x="7325360" y="2389505"/>
            <a:ext cx="1148080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1pPr>
            <a:lvl2pPr marL="742950" indent="-28575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2pPr>
            <a:lvl3pPr marL="11430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3pPr>
            <a:lvl4pPr marL="16002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4pPr>
            <a:lvl5pPr marL="20574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算法开发</a:t>
            </a:r>
            <a:endParaRPr lang="zh-CN" altLang="en-US" sz="1600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7259320" y="2703195"/>
            <a:ext cx="1213485" cy="3149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Spark MLib</a:t>
            </a:r>
            <a:endParaRPr kumimoji="1" lang="zh-CN" altLang="en-US" sz="1465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7258050" y="3514090"/>
            <a:ext cx="1215390" cy="3149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XGBoost</a:t>
            </a:r>
            <a:endParaRPr kumimoji="1" lang="zh-CN" altLang="en-US" sz="1465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7259320" y="3121025"/>
            <a:ext cx="1213485" cy="3149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TensorFlow</a:t>
            </a:r>
            <a:endParaRPr kumimoji="1" lang="zh-CN" altLang="en-US" sz="1465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141460" y="3514090"/>
            <a:ext cx="1147445" cy="3149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监控管理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圆角矩形 139"/>
          <p:cNvSpPr/>
          <p:nvPr/>
        </p:nvSpPr>
        <p:spPr bwMode="auto">
          <a:xfrm>
            <a:off x="8966835" y="2399665"/>
            <a:ext cx="1480185" cy="1476375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文本框 2"/>
          <p:cNvSpPr txBox="1">
            <a:spLocks noChangeArrowheads="1"/>
          </p:cNvSpPr>
          <p:nvPr/>
        </p:nvSpPr>
        <p:spPr bwMode="auto">
          <a:xfrm>
            <a:off x="9147810" y="2389505"/>
            <a:ext cx="1148080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1pPr>
            <a:lvl2pPr marL="742950" indent="-28575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2pPr>
            <a:lvl3pPr marL="11430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3pPr>
            <a:lvl4pPr marL="16002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4pPr>
            <a:lvl5pPr marL="2057400" indent="-228600"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运维监控</a:t>
            </a:r>
            <a:endParaRPr lang="zh-CN" altLang="en-US" sz="1600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9149080" y="2703195"/>
            <a:ext cx="1146175" cy="3149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发布管理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9149080" y="3121025"/>
            <a:ext cx="1146175" cy="3149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sz="146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调度中心</a:t>
            </a:r>
            <a:endParaRPr kumimoji="1" lang="zh-CN" altLang="en-US" sz="146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333375" y="1024890"/>
            <a:ext cx="1151890" cy="6781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kumimoji="1" lang="zh-CN" sz="2135" b="1" dirty="0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应用层</a:t>
            </a:r>
            <a:endParaRPr kumimoji="1" lang="zh-CN" sz="2135" b="1" dirty="0" smtClean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333375" y="1751330"/>
            <a:ext cx="1151890" cy="4940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kumimoji="1" lang="zh-CN" sz="2135" b="1" dirty="0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服务层</a:t>
            </a:r>
            <a:endParaRPr kumimoji="1" lang="zh-CN" sz="2135" b="1" dirty="0" smtClean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1563370" y="1736725"/>
            <a:ext cx="9019540" cy="5359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kumimoji="1"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服务管理</a:t>
            </a:r>
            <a:endParaRPr kumimoji="1"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6293137" y="1120610"/>
            <a:ext cx="1829421" cy="480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OLAP</a:t>
            </a: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10669270" y="1024890"/>
            <a:ext cx="1276985" cy="5685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10668635" y="1123950"/>
            <a:ext cx="1221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基础支撑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10756900" y="1824355"/>
            <a:ext cx="1102360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10756900" y="2437765"/>
            <a:ext cx="1102360" cy="3613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审计</a:t>
            </a:r>
            <a:endParaRPr kumimoji="1" lang="zh-CN" altLang="en-US" sz="1465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10756900" y="3051175"/>
            <a:ext cx="1102360" cy="3613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日志</a:t>
            </a:r>
            <a:endParaRPr kumimoji="1" lang="zh-CN" altLang="en-US" sz="1465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10756900" y="3664585"/>
            <a:ext cx="1102360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血缘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10756900" y="4891405"/>
            <a:ext cx="1102360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运维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10756265" y="6118860"/>
            <a:ext cx="1102360" cy="3613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集成</a:t>
            </a:r>
            <a:endParaRPr kumimoji="1" lang="zh-CN" altLang="en-US" sz="1465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10756900" y="4277995"/>
            <a:ext cx="1102360" cy="3613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预警</a:t>
            </a:r>
            <a:endParaRPr kumimoji="1" lang="zh-CN" altLang="en-US" sz="1465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10756900" y="5504815"/>
            <a:ext cx="1102360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资源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10756900" y="6118225"/>
            <a:ext cx="1102360" cy="3613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465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集成</a:t>
            </a:r>
            <a:endParaRPr kumimoji="1" lang="zh-CN" altLang="en-US" sz="1465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63" name="图片 1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555" y="6089000"/>
            <a:ext cx="546170" cy="546170"/>
          </a:xfrm>
          <a:prstGeom prst="rect">
            <a:avLst/>
          </a:prstGeom>
        </p:spPr>
      </p:pic>
      <p:sp>
        <p:nvSpPr>
          <p:cNvPr id="164" name="矩形 163"/>
          <p:cNvSpPr/>
          <p:nvPr/>
        </p:nvSpPr>
        <p:spPr>
          <a:xfrm>
            <a:off x="8680605" y="541791"/>
            <a:ext cx="882118" cy="31661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tIns="48254" rIns="0" bIns="48254" rtlCol="0" anchor="ctr"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使用中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9633936" y="546236"/>
            <a:ext cx="753440" cy="316614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0" tIns="48254" rIns="0" bIns="48254"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规划中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5" name="矩形 84"/>
          <p:cNvSpPr/>
          <p:nvPr/>
        </p:nvSpPr>
        <p:spPr>
          <a:xfrm>
            <a:off x="7122795" y="5368925"/>
            <a:ext cx="1264285" cy="751205"/>
          </a:xfrm>
          <a:prstGeom prst="rect">
            <a:avLst/>
          </a:prstGeom>
          <a:blipFill rotWithShape="1">
            <a:blip r:embed="rId1">
              <a:alphaModFix amt="6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1020" y="257810"/>
            <a:ext cx="29883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项目目标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zh-CN" altLang="en-US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运营体系</a:t>
            </a:r>
            <a:endParaRPr lang="zh-CN" altLang="en-US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721725" y="5306695"/>
            <a:ext cx="1741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5792"/>
                </a:solidFill>
                <a:latin typeface="微软雅黑" panose="020B0503020204020204" charset="-122"/>
                <a:ea typeface="微软雅黑" panose="020B0503020204020204" charset="-122"/>
              </a:rPr>
              <a:t>定义角色职责</a:t>
            </a:r>
            <a:endParaRPr lang="zh-CN" altLang="en-US">
              <a:solidFill>
                <a:srgbClr val="00579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35695" y="5751830"/>
            <a:ext cx="1598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5792"/>
                </a:solidFill>
                <a:latin typeface="微软雅黑" panose="020B0503020204020204" charset="-122"/>
                <a:ea typeface="微软雅黑" panose="020B0503020204020204" charset="-122"/>
              </a:rPr>
              <a:t>制定规范标准</a:t>
            </a:r>
            <a:endParaRPr lang="zh-CN" altLang="en-US">
              <a:solidFill>
                <a:srgbClr val="00579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750300" y="6213475"/>
            <a:ext cx="158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5792"/>
                </a:solidFill>
                <a:latin typeface="微软雅黑" panose="020B0503020204020204" charset="-122"/>
                <a:ea typeface="微软雅黑" panose="020B0503020204020204" charset="-122"/>
              </a:rPr>
              <a:t>建立考核体系</a:t>
            </a:r>
            <a:endParaRPr lang="zh-CN" altLang="en-US">
              <a:solidFill>
                <a:srgbClr val="00579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 rot="0">
            <a:off x="7106920" y="1262380"/>
            <a:ext cx="3616325" cy="3347085"/>
            <a:chOff x="1455" y="3022"/>
            <a:chExt cx="5695" cy="5271"/>
          </a:xfrm>
        </p:grpSpPr>
        <p:sp>
          <p:nvSpPr>
            <p:cNvPr id="38" name="椭圆 37"/>
            <p:cNvSpPr/>
            <p:nvPr/>
          </p:nvSpPr>
          <p:spPr>
            <a:xfrm>
              <a:off x="2182" y="3823"/>
              <a:ext cx="4127" cy="412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3229" y="4710"/>
              <a:ext cx="2017" cy="2062"/>
            </a:xfrm>
            <a:prstGeom prst="ellipse">
              <a:avLst/>
            </a:prstGeom>
            <a:blipFill rotWithShape="1">
              <a:blip r:embed="rId2">
                <a:alphaModFix amt="6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3808" y="5310"/>
              <a:ext cx="860" cy="8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2168" y="6910"/>
              <a:ext cx="860" cy="8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5418" y="6910"/>
              <a:ext cx="860" cy="8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3808" y="3505"/>
              <a:ext cx="860" cy="8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07" y="6659"/>
              <a:ext cx="216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综合管理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改善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800" y="3022"/>
              <a:ext cx="874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400">
                  <a:latin typeface="微软雅黑" panose="020B0503020204020204" charset="-122"/>
                  <a:ea typeface="微软雅黑" panose="020B0503020204020204" charset="-122"/>
                </a:rPr>
                <a:t>CPO</a:t>
              </a:r>
              <a:endParaRPr lang="en-US" altLang="zh-CN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4121" y="4325"/>
              <a:ext cx="2" cy="985"/>
            </a:xfrm>
            <a:prstGeom prst="straightConnector1">
              <a:avLst/>
            </a:prstGeom>
            <a:ln w="12700">
              <a:solidFill>
                <a:srgbClr val="5B9BD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H="1" flipV="1">
              <a:off x="4380" y="4345"/>
              <a:ext cx="2" cy="986"/>
            </a:xfrm>
            <a:prstGeom prst="straightConnector1">
              <a:avLst/>
            </a:prstGeom>
            <a:ln w="12700">
              <a:solidFill>
                <a:srgbClr val="5B9BD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/>
            <p:cNvGrpSpPr/>
            <p:nvPr/>
          </p:nvGrpSpPr>
          <p:grpSpPr>
            <a:xfrm rot="2460000">
              <a:off x="3195" y="5929"/>
              <a:ext cx="262" cy="1241"/>
              <a:chOff x="2947" y="5865"/>
              <a:chExt cx="262" cy="1001"/>
            </a:xfrm>
          </p:grpSpPr>
          <p:cxnSp>
            <p:nvCxnSpPr>
              <p:cNvPr id="19" name="直接箭头连接符 18"/>
              <p:cNvCxnSpPr/>
              <p:nvPr/>
            </p:nvCxnSpPr>
            <p:spPr>
              <a:xfrm>
                <a:off x="2947" y="5881"/>
                <a:ext cx="2" cy="985"/>
              </a:xfrm>
              <a:prstGeom prst="straightConnector1">
                <a:avLst/>
              </a:prstGeom>
              <a:ln w="12700">
                <a:solidFill>
                  <a:srgbClr val="5B9BD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 flipH="1" flipV="1">
                <a:off x="3207" y="5865"/>
                <a:ext cx="2" cy="986"/>
              </a:xfrm>
              <a:prstGeom prst="straightConnector1">
                <a:avLst/>
              </a:prstGeom>
              <a:ln w="12700">
                <a:solidFill>
                  <a:srgbClr val="5B9BD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/>
            <p:cNvGrpSpPr/>
            <p:nvPr/>
          </p:nvGrpSpPr>
          <p:grpSpPr>
            <a:xfrm rot="19020000">
              <a:off x="4923" y="5901"/>
              <a:ext cx="292" cy="1240"/>
              <a:chOff x="2914" y="5910"/>
              <a:chExt cx="292" cy="1000"/>
            </a:xfrm>
          </p:grpSpPr>
          <p:cxnSp>
            <p:nvCxnSpPr>
              <p:cNvPr id="23" name="直接箭头连接符 22"/>
              <p:cNvCxnSpPr/>
              <p:nvPr/>
            </p:nvCxnSpPr>
            <p:spPr>
              <a:xfrm>
                <a:off x="2914" y="5910"/>
                <a:ext cx="2" cy="985"/>
              </a:xfrm>
              <a:prstGeom prst="straightConnector1">
                <a:avLst/>
              </a:prstGeom>
              <a:ln w="12700">
                <a:solidFill>
                  <a:srgbClr val="5B9BD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 flipH="1" flipV="1">
                <a:off x="3204" y="5924"/>
                <a:ext cx="2" cy="986"/>
              </a:xfrm>
              <a:prstGeom prst="straightConnector1">
                <a:avLst/>
              </a:prstGeom>
              <a:ln w="12700">
                <a:solidFill>
                  <a:srgbClr val="5B9BD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文本框 24"/>
            <p:cNvSpPr txBox="1"/>
            <p:nvPr/>
          </p:nvSpPr>
          <p:spPr>
            <a:xfrm>
              <a:off x="4982" y="7810"/>
              <a:ext cx="216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业务部门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455" y="7810"/>
              <a:ext cx="216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anose="020B0503020204020204" charset="-122"/>
                  <a:ea typeface="微软雅黑" panose="020B0503020204020204" charset="-122"/>
                </a:rPr>
                <a:t>信息中心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流程图: 摘录 39"/>
            <p:cNvSpPr/>
            <p:nvPr/>
          </p:nvSpPr>
          <p:spPr>
            <a:xfrm rot="3900000">
              <a:off x="3641" y="3799"/>
              <a:ext cx="187" cy="149"/>
            </a:xfrm>
            <a:prstGeom prst="flowChartExtra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流程图: 摘录 40"/>
            <p:cNvSpPr/>
            <p:nvPr/>
          </p:nvSpPr>
          <p:spPr>
            <a:xfrm rot="16560000">
              <a:off x="4655" y="3798"/>
              <a:ext cx="187" cy="149"/>
            </a:xfrm>
            <a:prstGeom prst="flowChartExtra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流程图: 摘录 41"/>
            <p:cNvSpPr/>
            <p:nvPr/>
          </p:nvSpPr>
          <p:spPr>
            <a:xfrm rot="8640000">
              <a:off x="2327" y="6776"/>
              <a:ext cx="187" cy="149"/>
            </a:xfrm>
            <a:prstGeom prst="flowChartExtra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流程图: 摘录 42"/>
            <p:cNvSpPr/>
            <p:nvPr/>
          </p:nvSpPr>
          <p:spPr>
            <a:xfrm rot="18120000">
              <a:off x="2960" y="7491"/>
              <a:ext cx="187" cy="149"/>
            </a:xfrm>
            <a:prstGeom prst="flowChartExtra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流程图: 摘录 43"/>
            <p:cNvSpPr/>
            <p:nvPr/>
          </p:nvSpPr>
          <p:spPr>
            <a:xfrm rot="3480000">
              <a:off x="5310" y="7525"/>
              <a:ext cx="187" cy="149"/>
            </a:xfrm>
            <a:prstGeom prst="flowChartExtra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流程图: 摘录 44"/>
            <p:cNvSpPr/>
            <p:nvPr/>
          </p:nvSpPr>
          <p:spPr>
            <a:xfrm rot="12540000">
              <a:off x="5972" y="6808"/>
              <a:ext cx="187" cy="149"/>
            </a:xfrm>
            <a:prstGeom prst="flowChartExtra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000000">
                    <a:alpha val="100000"/>
                  </a:srgbClr>
                </a:clrFrom>
                <a:clrTo>
                  <a:srgbClr val="000000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957" y="3583"/>
              <a:ext cx="624" cy="580"/>
            </a:xfrm>
            <a:prstGeom prst="rect">
              <a:avLst/>
            </a:prstGeom>
          </p:spPr>
        </p:pic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>
                    <a:alpha val="100000"/>
                  </a:srgbClr>
                </a:clrFrom>
                <a:clrTo>
                  <a:srgbClr val="000000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954" y="5458"/>
              <a:ext cx="567" cy="567"/>
            </a:xfrm>
            <a:prstGeom prst="rect">
              <a:avLst/>
            </a:pr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000000">
                    <a:alpha val="100000"/>
                  </a:srgbClr>
                </a:clrFrom>
                <a:clrTo>
                  <a:srgbClr val="000000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15" y="7061"/>
              <a:ext cx="567" cy="567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000000">
                    <a:alpha val="100000"/>
                  </a:srgbClr>
                </a:clrFrom>
                <a:clrTo>
                  <a:srgbClr val="000000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16" y="7005"/>
              <a:ext cx="680" cy="680"/>
            </a:xfrm>
            <a:prstGeom prst="rect">
              <a:avLst/>
            </a:prstGeom>
          </p:spPr>
        </p:pic>
      </p:grpSp>
      <p:sp>
        <p:nvSpPr>
          <p:cNvPr id="50" name="文本框 49"/>
          <p:cNvSpPr txBox="1"/>
          <p:nvPr/>
        </p:nvSpPr>
        <p:spPr>
          <a:xfrm>
            <a:off x="8735695" y="4861560"/>
            <a:ext cx="1579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5792"/>
                </a:solidFill>
                <a:latin typeface="微软雅黑" panose="020B0503020204020204" charset="-122"/>
                <a:ea typeface="微软雅黑" panose="020B0503020204020204" charset="-122"/>
              </a:rPr>
              <a:t>搭建团队架构</a:t>
            </a:r>
            <a:endParaRPr lang="zh-CN" altLang="en-US">
              <a:solidFill>
                <a:srgbClr val="00579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397635" y="1508760"/>
            <a:ext cx="3127968" cy="3127968"/>
            <a:chOff x="1456" y="2813"/>
            <a:chExt cx="5275" cy="5275"/>
          </a:xfrm>
        </p:grpSpPr>
        <p:sp>
          <p:nvSpPr>
            <p:cNvPr id="56" name="椭圆 55"/>
            <p:cNvSpPr/>
            <p:nvPr/>
          </p:nvSpPr>
          <p:spPr>
            <a:xfrm>
              <a:off x="1456" y="2813"/>
              <a:ext cx="5275" cy="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2156" y="3513"/>
              <a:ext cx="3875" cy="3875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饼形 59"/>
            <p:cNvSpPr/>
            <p:nvPr/>
          </p:nvSpPr>
          <p:spPr>
            <a:xfrm rot="16020000">
              <a:off x="2528" y="3795"/>
              <a:ext cx="3773" cy="3228"/>
            </a:xfrm>
            <a:prstGeom prst="pie">
              <a:avLst>
                <a:gd name="adj1" fmla="val 21549200"/>
                <a:gd name="adj2" fmla="val 5514000"/>
              </a:avLst>
            </a:prstGeom>
            <a:solidFill>
              <a:srgbClr val="ED7D3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2790" y="4161"/>
              <a:ext cx="2607" cy="2607"/>
            </a:xfrm>
            <a:prstGeom prst="ellipse">
              <a:avLst/>
            </a:prstGeom>
            <a:solidFill>
              <a:srgbClr val="ED7D3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 rot="780000">
              <a:off x="4277" y="4203"/>
              <a:ext cx="1028" cy="598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 rot="4200000">
              <a:off x="4700" y="4712"/>
              <a:ext cx="861" cy="598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饼形 63"/>
            <p:cNvSpPr/>
            <p:nvPr/>
          </p:nvSpPr>
          <p:spPr>
            <a:xfrm>
              <a:off x="3171" y="4431"/>
              <a:ext cx="1846" cy="1919"/>
            </a:xfrm>
            <a:prstGeom prst="pie">
              <a:avLst>
                <a:gd name="adj1" fmla="val 0"/>
                <a:gd name="adj2" fmla="val 10698758"/>
              </a:avLst>
            </a:prstGeom>
            <a:solidFill>
              <a:srgbClr val="ED7D31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286" y="5518"/>
              <a:ext cx="1731" cy="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信息中心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2995" y="4676"/>
              <a:ext cx="2838" cy="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管理分析卓越中心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385" y="6749"/>
              <a:ext cx="1747" cy="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分析社区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3286" y="7528"/>
              <a:ext cx="1845" cy="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分析消费者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2411730" y="894080"/>
            <a:ext cx="1097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运营模型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324850" y="894080"/>
            <a:ext cx="1097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运营架构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082040" y="4923155"/>
            <a:ext cx="45866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信息中心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：IT 职能提供管理分析的基础架构和应用程序；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082040" y="5229860"/>
            <a:ext cx="44945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卓越中心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通过战略、治理、支持、培训和洞察力交付的方式，促进洞察力作为核心能力在全公司广泛宣传；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082040" y="5751830"/>
            <a:ext cx="44945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分析社区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提供特定于服务线的管理分析；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82040" y="6058535"/>
            <a:ext cx="44945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使用管理分析来决策公司内部管理和战略；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L 形 77"/>
          <p:cNvSpPr/>
          <p:nvPr/>
        </p:nvSpPr>
        <p:spPr>
          <a:xfrm rot="13380000">
            <a:off x="5733415" y="2461260"/>
            <a:ext cx="951865" cy="984885"/>
          </a:xfrm>
          <a:prstGeom prst="corner">
            <a:avLst>
              <a:gd name="adj1" fmla="val 17678"/>
              <a:gd name="adj2" fmla="val 17545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L 形 78"/>
          <p:cNvSpPr/>
          <p:nvPr/>
        </p:nvSpPr>
        <p:spPr>
          <a:xfrm rot="13380000">
            <a:off x="5165725" y="2461260"/>
            <a:ext cx="951865" cy="984885"/>
          </a:xfrm>
          <a:prstGeom prst="corner">
            <a:avLst>
              <a:gd name="adj1" fmla="val 17678"/>
              <a:gd name="adj2" fmla="val 17545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7505065" y="5501640"/>
            <a:ext cx="158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005792"/>
                </a:solidFill>
                <a:latin typeface="微软雅黑" panose="020B0503020204020204" charset="-122"/>
                <a:ea typeface="微软雅黑" panose="020B0503020204020204" charset="-122"/>
              </a:rPr>
              <a:t>TO DO</a:t>
            </a:r>
            <a:endParaRPr lang="en-US" altLang="zh-CN" b="1">
              <a:solidFill>
                <a:srgbClr val="00579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左大括号 81"/>
          <p:cNvSpPr/>
          <p:nvPr/>
        </p:nvSpPr>
        <p:spPr>
          <a:xfrm>
            <a:off x="8586470" y="4965700"/>
            <a:ext cx="75565" cy="1440180"/>
          </a:xfrm>
          <a:prstGeom prst="leftBrace">
            <a:avLst/>
          </a:prstGeom>
          <a:solidFill>
            <a:schemeClr val="lt1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1020" y="257810"/>
            <a:ext cx="29883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项目目标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zh-CN" altLang="en-US" sz="20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运营体系</a:t>
            </a:r>
            <a:endParaRPr lang="zh-CN" altLang="en-US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405" y="1714500"/>
            <a:ext cx="10838180" cy="3428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5780" y="257810"/>
            <a:ext cx="33947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项目验收标准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</a:t>
            </a:r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业务</a:t>
            </a:r>
            <a:endParaRPr lang="zh-CN" altLang="en-US" sz="28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62305" y="732790"/>
          <a:ext cx="10866755" cy="585089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6585"/>
                <a:gridCol w="3963035"/>
                <a:gridCol w="3515995"/>
                <a:gridCol w="2771140"/>
              </a:tblGrid>
              <a:tr h="5029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价值</a:t>
                      </a: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验收标准</a:t>
                      </a: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交付件</a:t>
                      </a: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业务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自上而下梳理价值体系，构建体系化的全局指标体系（</a:t>
                      </a: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落实责任人，可执行</a:t>
                      </a: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），提升供应链管控能力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管理框架、指标体系、管理报表清单经供应链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G1.1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以上一致确认并发布；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《管理分析框架》 《指标体系图》《指标体系文档》 《业务术语》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《管理报表清单》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业务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业务清晰地知道自己的价值，关键绩效量化计算，绩效评价依赖指标体系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各岗位可量化绩效指标方案经相关方确认发布；</a:t>
                      </a:r>
                      <a:endParaRPr lang="en-US" altLang="zh-CN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《指标体系与岗位绩效承接关系》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业务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跨系统、跨平台的数据整合、处理，满足全价值链的端到端的分析，剖析企业经营状况，为目标制定、运营监控、总结汇报、管理改善提供及时有效的数据支撑；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《指标体系》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IT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系统可支撑的指标全覆盖，指标结果可追溯分析；数据测试准确率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100%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；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ClrTx/>
                        <a:buSzTx/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《数据仓库数据资产清单》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</a:tr>
              <a:tr h="702310">
                <a:tc>
                  <a:txBody>
                    <a:bodyPr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业务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覆盖高层到执行层的BI系统的建设；</a:t>
                      </a: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高管驾驶舱、中心驾驶舱、主题分析页面、专题分析页面建设完成；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月分析频率报表：月活用户数占比大于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80%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；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周分析频率报表：周活用户数占比大于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80%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；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BI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系统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《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BI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使用手册》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业务</a:t>
                      </a:r>
                      <a:endParaRPr lang="en-US" altLang="zh-CN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BE1F1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释放手工报表制作工作量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BE1F1"/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《管理报表清单》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100%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系统计算，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BI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呈现并支持导出；不需要执行层再二次处理；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sz="1200" kern="1200" dirty="0">
                          <a:solidFill>
                            <a:srgbClr val="00579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（具体减少工时在各模块启动时调研）</a:t>
                      </a:r>
                      <a:endParaRPr lang="zh-CN" sz="1200" kern="1200" dirty="0">
                        <a:solidFill>
                          <a:srgbClr val="00579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BE1F1"/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BI系统</a:t>
                      </a:r>
                      <a:endParaRPr lang="zh-CN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BE1F1"/>
                    </a:solidFill>
                  </a:tcPr>
                </a:tc>
              </a:tr>
              <a:tr h="99441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业务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2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数据分析、管理改善氛围的形成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2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综合改善部门分析思维形成，每个领域输出一份数据报告，并通过数据分析挖掘</a:t>
                      </a: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3~5</a:t>
                      </a: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个管理改善点；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2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《数据分析报告》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20000"/>
                      </a:srgbClr>
                    </a:solidFill>
                  </a:tcPr>
                </a:tc>
              </a:tr>
              <a:tr h="5422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业务</a:t>
                      </a:r>
                      <a:endParaRPr lang="en-US" altLang="zh-CN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2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数据主动触达用户，主动预警风险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2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2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预警邮件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短信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5780" y="257810"/>
            <a:ext cx="302514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项目验收标准 </a:t>
            </a:r>
            <a:r>
              <a:rPr lang="en-US" altLang="zh-CN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- IT</a:t>
            </a:r>
            <a:endParaRPr lang="en-US" altLang="zh-CN" sz="28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52805" y="898525"/>
          <a:ext cx="10486390" cy="5822315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891540"/>
                <a:gridCol w="4370705"/>
                <a:gridCol w="5224145"/>
              </a:tblGrid>
              <a:tr h="5029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价值</a:t>
                      </a: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验收标准</a:t>
                      </a: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IT</a:t>
                      </a:r>
                      <a:endParaRPr lang="en-US" altLang="zh-CN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BI</a:t>
                      </a: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系统数据准确，稳定性保障；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各模块数据校验报告，业务运行一个月内无数据问题，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BI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服务无宕机情况出现；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连续</a:t>
                      </a: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30</a:t>
                      </a: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天以上</a:t>
                      </a: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ETL</a:t>
                      </a: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没有问题出现；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ea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页面操作反映时间不超过</a:t>
                      </a: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5</a:t>
                      </a: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秒；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页面加载时间不超过</a:t>
                      </a:r>
                      <a:r>
                        <a:rPr lang="en-US" altLang="zh-CN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r>
                        <a:rPr lang="zh-CN" altLang="en-US" sz="12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秒；</a:t>
                      </a:r>
                      <a:endParaRPr lang="zh-CN" altLang="en-US" sz="12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IT</a:t>
                      </a:r>
                      <a:endParaRPr lang="en-US" altLang="zh-CN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BI</a:t>
                      </a: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项目开展方法总结，沉淀至知识体系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各环节交付物、开展方法等总结并输出标准规范文档；</a:t>
                      </a:r>
                      <a:endParaRPr lang="zh-CN" altLang="en-US" sz="12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2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IT</a:t>
                      </a:r>
                      <a:endParaRPr lang="en-US" altLang="zh-CN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数据开发规范制定，数据仓库体系化模型建设，提升开发效率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数据开发满足规范应用，积累</a:t>
                      </a:r>
                      <a:r>
                        <a:rPr lang="en-US" altLang="zh-CN" sz="12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50</a:t>
                      </a:r>
                      <a:r>
                        <a:rPr lang="zh-CN" altLang="en-US" sz="12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个以上数据资产，</a:t>
                      </a:r>
                      <a:endParaRPr lang="zh-CN" altLang="en-US" sz="12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未来供应链数据需求开发周期缩短；快速满足用户数据分析需求；</a:t>
                      </a:r>
                      <a:endParaRPr lang="zh-CN" altLang="en-US" sz="12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2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</a:tr>
              <a:tr h="4533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IT</a:t>
                      </a:r>
                      <a:endParaRPr lang="en-US" altLang="zh-CN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BI运营规范建立，保障数据安全</a:t>
                      </a:r>
                      <a:endParaRPr lang="zh-CN" altLang="en-US" sz="12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制定并执行BI运营规范标准，输出数据安全方案；</a:t>
                      </a:r>
                      <a:endParaRPr lang="zh-CN" altLang="en-US" sz="12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</a:tr>
              <a:tr h="35306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IT</a:t>
                      </a:r>
                      <a:endParaRPr lang="zh-CN" altLang="en-US" sz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BE1F1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数据团队算法预测能力初步构建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BE1F1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在过程中对库存周转天数等指标进行动态预测；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BE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gray">
          <a:xfrm>
            <a:off x="-12065" y="-1270"/>
            <a:ext cx="12204700" cy="6896735"/>
          </a:xfrm>
          <a:prstGeom prst="rect">
            <a:avLst/>
          </a:prstGeom>
          <a:solidFill>
            <a:schemeClr val="bg2"/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10477" y="5043301"/>
            <a:ext cx="12202250" cy="1197904"/>
            <a:chOff x="-12382" y="5028061"/>
            <a:chExt cx="12202250" cy="1197904"/>
          </a:xfrm>
        </p:grpSpPr>
        <p:cxnSp>
          <p:nvCxnSpPr>
            <p:cNvPr id="70" name="Straight Connector 69"/>
            <p:cNvCxnSpPr/>
            <p:nvPr/>
          </p:nvCxnSpPr>
          <p:spPr>
            <a:xfrm>
              <a:off x="-12382" y="5028061"/>
              <a:ext cx="286702" cy="40386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266700" y="5424301"/>
              <a:ext cx="335280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/>
            <p:cNvSpPr/>
            <p:nvPr/>
          </p:nvSpPr>
          <p:spPr bwMode="gray">
            <a:xfrm>
              <a:off x="601980" y="5348101"/>
              <a:ext cx="152400" cy="152400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</a:ln>
            <a:effectLst>
              <a:glow rad="228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Oval 72"/>
            <p:cNvSpPr/>
            <p:nvPr/>
          </p:nvSpPr>
          <p:spPr bwMode="gray">
            <a:xfrm>
              <a:off x="643543" y="5643207"/>
              <a:ext cx="69273" cy="69273"/>
            </a:xfrm>
            <a:prstGeom prst="ellipse">
              <a:avLst/>
            </a:prstGeom>
            <a:noFill/>
            <a:ln w="3175" algn="ctr">
              <a:solidFill>
                <a:schemeClr val="accent5"/>
              </a:solidFill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74" name="Straight Connector 73"/>
            <p:cNvCxnSpPr>
              <a:stCxn id="73" idx="6"/>
            </p:cNvCxnSpPr>
            <p:nvPr/>
          </p:nvCxnSpPr>
          <p:spPr>
            <a:xfrm>
              <a:off x="712816" y="5677844"/>
              <a:ext cx="976284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680369" y="5677843"/>
              <a:ext cx="224631" cy="293193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1901932" y="5971036"/>
              <a:ext cx="9114411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 bwMode="gray">
            <a:xfrm>
              <a:off x="10799795" y="5793956"/>
              <a:ext cx="69273" cy="69273"/>
            </a:xfrm>
            <a:prstGeom prst="ellipse">
              <a:avLst/>
            </a:prstGeom>
            <a:noFill/>
            <a:ln w="3175" algn="ctr">
              <a:solidFill>
                <a:schemeClr val="accent5"/>
              </a:solidFill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78" name="Straight Connector 77"/>
            <p:cNvCxnSpPr/>
            <p:nvPr/>
          </p:nvCxnSpPr>
          <p:spPr>
            <a:xfrm>
              <a:off x="10869068" y="5828592"/>
              <a:ext cx="1203299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12072367" y="5695365"/>
              <a:ext cx="117501" cy="133227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 bwMode="gray">
            <a:xfrm>
              <a:off x="11019200" y="5936399"/>
              <a:ext cx="69273" cy="69273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</a:ln>
            <a:effectLst>
              <a:glow rad="228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371899" y="5723878"/>
              <a:ext cx="438955" cy="21544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BAB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rPr>
                <a:t>DATA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BAB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981481" y="5570122"/>
              <a:ext cx="438955" cy="21526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BAB"/>
                  </a:solidFill>
                  <a:effectLst/>
                  <a:uLnTx/>
                  <a:uFillTx/>
                  <a:latin typeface="微软雅黑 Light" panose="020B0502040204020203" charset="-122"/>
                  <a:ea typeface="微软雅黑 Light" panose="020B0502040204020203" charset="-122"/>
                  <a:cs typeface="+mn-cs"/>
                </a:rPr>
                <a:t>SCM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BAB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83" name="Oval 82"/>
            <p:cNvSpPr/>
            <p:nvPr/>
          </p:nvSpPr>
          <p:spPr bwMode="gray">
            <a:xfrm>
              <a:off x="3723976" y="5710587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5" name="Oval 84"/>
            <p:cNvSpPr/>
            <p:nvPr/>
          </p:nvSpPr>
          <p:spPr bwMode="gray">
            <a:xfrm>
              <a:off x="5142114" y="5728276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6" name="Oval 85"/>
            <p:cNvSpPr/>
            <p:nvPr/>
          </p:nvSpPr>
          <p:spPr bwMode="gray">
            <a:xfrm>
              <a:off x="5851967" y="5731651"/>
              <a:ext cx="491701" cy="494314"/>
            </a:xfrm>
            <a:prstGeom prst="ellipse">
              <a:avLst/>
            </a:prstGeom>
            <a:solidFill>
              <a:srgbClr val="000000"/>
            </a:solidFill>
            <a:ln w="12700" algn="ctr">
              <a:solidFill>
                <a:schemeClr val="tx1"/>
              </a:solidFill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7" name="Oval 86"/>
            <p:cNvSpPr/>
            <p:nvPr/>
          </p:nvSpPr>
          <p:spPr bwMode="gray">
            <a:xfrm>
              <a:off x="6558634" y="5711759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8" name="Oval 87"/>
            <p:cNvSpPr/>
            <p:nvPr/>
          </p:nvSpPr>
          <p:spPr bwMode="gray">
            <a:xfrm>
              <a:off x="7257777" y="5730536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9" name="Oval 88"/>
            <p:cNvSpPr/>
            <p:nvPr/>
          </p:nvSpPr>
          <p:spPr bwMode="gray">
            <a:xfrm>
              <a:off x="7974002" y="5712492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8031" y="578543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3" name="Picture 92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3287" y="577400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4" name="Picture 93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171" y="580067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4482" y="580067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6" name="Picture 95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8057" y="5774007"/>
              <a:ext cx="366205" cy="366205"/>
            </a:xfrm>
            <a:prstGeom prst="rect">
              <a:avLst/>
            </a:prstGeom>
            <a:effectLst/>
          </p:spPr>
        </p:pic>
        <p:pic>
          <p:nvPicPr>
            <p:cNvPr id="97" name="Picture 96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8516" y="5800677"/>
              <a:ext cx="366205" cy="366205"/>
            </a:xfrm>
            <a:prstGeom prst="rect">
              <a:avLst/>
            </a:prstGeom>
            <a:effectLst/>
          </p:spPr>
        </p:pic>
        <p:sp>
          <p:nvSpPr>
            <p:cNvPr id="98" name="Arc 97"/>
            <p:cNvSpPr/>
            <p:nvPr/>
          </p:nvSpPr>
          <p:spPr>
            <a:xfrm rot="5400000">
              <a:off x="3724294" y="5721774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9" name="Arc 98"/>
            <p:cNvSpPr/>
            <p:nvPr/>
          </p:nvSpPr>
          <p:spPr>
            <a:xfrm rot="16200000">
              <a:off x="4435806" y="5722853"/>
              <a:ext cx="493200" cy="493200"/>
            </a:xfrm>
            <a:prstGeom prst="arc">
              <a:avLst>
                <a:gd name="adj1" fmla="val 161488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0" name="Arc 99"/>
            <p:cNvSpPr/>
            <p:nvPr/>
          </p:nvSpPr>
          <p:spPr>
            <a:xfrm rot="5400000">
              <a:off x="5140814" y="5722377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1" name="Arc 100"/>
            <p:cNvSpPr/>
            <p:nvPr/>
          </p:nvSpPr>
          <p:spPr>
            <a:xfrm rot="5400000">
              <a:off x="6557557" y="5725252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2" name="Arc 101"/>
            <p:cNvSpPr/>
            <p:nvPr/>
          </p:nvSpPr>
          <p:spPr>
            <a:xfrm rot="16200000">
              <a:off x="7260191" y="5724744"/>
              <a:ext cx="493200" cy="493200"/>
            </a:xfrm>
            <a:prstGeom prst="arc">
              <a:avLst>
                <a:gd name="adj1" fmla="val 161488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3" name="Arc 102"/>
            <p:cNvSpPr/>
            <p:nvPr/>
          </p:nvSpPr>
          <p:spPr>
            <a:xfrm rot="5400000">
              <a:off x="7974077" y="5725425"/>
              <a:ext cx="493200" cy="493200"/>
            </a:xfrm>
            <a:prstGeom prst="arc">
              <a:avLst>
                <a:gd name="adj1" fmla="val 162000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4" name="Arc 103"/>
            <p:cNvSpPr/>
            <p:nvPr/>
          </p:nvSpPr>
          <p:spPr>
            <a:xfrm rot="16200000">
              <a:off x="5851968" y="5726737"/>
              <a:ext cx="493200" cy="493200"/>
            </a:xfrm>
            <a:prstGeom prst="arc">
              <a:avLst>
                <a:gd name="adj1" fmla="val 16148800"/>
                <a:gd name="adj2" fmla="val 5409497"/>
              </a:avLst>
            </a:prstGeom>
            <a:ln w="12700">
              <a:solidFill>
                <a:srgbClr val="0097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4" name="Oval 83"/>
            <p:cNvSpPr/>
            <p:nvPr/>
          </p:nvSpPr>
          <p:spPr bwMode="gray">
            <a:xfrm>
              <a:off x="4435171" y="5731444"/>
              <a:ext cx="494314" cy="494314"/>
            </a:xfrm>
            <a:prstGeom prst="ellipse">
              <a:avLst/>
            </a:prstGeom>
            <a:solidFill>
              <a:srgbClr val="000000"/>
            </a:solidFill>
            <a:ln w="1270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endPara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9386" y="5789882"/>
              <a:ext cx="366205" cy="366205"/>
            </a:xfrm>
            <a:prstGeom prst="rect">
              <a:avLst/>
            </a:prstGeom>
            <a:effectLst/>
          </p:spPr>
        </p:pic>
      </p:grpSp>
      <p:sp>
        <p:nvSpPr>
          <p:cNvPr id="17" name="Rectangle 16"/>
          <p:cNvSpPr/>
          <p:nvPr/>
        </p:nvSpPr>
        <p:spPr bwMode="gray">
          <a:xfrm>
            <a:off x="5080" y="1566067"/>
            <a:ext cx="12192000" cy="30807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258446" y="2115368"/>
            <a:ext cx="9144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+mn-cs"/>
              </a:rPr>
              <a:t>项目背景</a:t>
            </a:r>
            <a:endParaRPr kumimoji="0" lang="zh-CN" altLang="en-US" sz="1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58446" y="2681247"/>
            <a:ext cx="2458085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 algn="l">
              <a:buSzTx/>
              <a:defRPr/>
            </a:pPr>
            <a:r>
              <a:rPr lang="zh-CN" altLang="en-US" noProof="0" dirty="0" smtClean="0"/>
              <a:t>项目范围目标&amp;验收标准</a:t>
            </a:r>
            <a:endParaRPr lang="zh-CN" altLang="en-US" noProof="0" dirty="0" smtClean="0"/>
          </a:p>
        </p:txBody>
      </p:sp>
      <p:sp>
        <p:nvSpPr>
          <p:cNvPr id="105" name="TextBox 104"/>
          <p:cNvSpPr txBox="1"/>
          <p:nvPr/>
        </p:nvSpPr>
        <p:spPr>
          <a:xfrm>
            <a:off x="5258446" y="3813005"/>
            <a:ext cx="9144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项目管理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106" name="Group 669"/>
          <p:cNvGrpSpPr>
            <a:grpSpLocks noChangeAspect="1"/>
          </p:cNvGrpSpPr>
          <p:nvPr/>
        </p:nvGrpSpPr>
        <p:grpSpPr bwMode="auto">
          <a:xfrm>
            <a:off x="4756332" y="3825257"/>
            <a:ext cx="252494" cy="252494"/>
            <a:chOff x="1910" y="2326"/>
            <a:chExt cx="340" cy="340"/>
          </a:xfrm>
          <a:solidFill>
            <a:schemeClr val="tx1"/>
          </a:solidFill>
        </p:grpSpPr>
        <p:sp>
          <p:nvSpPr>
            <p:cNvPr id="107" name="Freeform 670"/>
            <p:cNvSpPr>
              <a:spLocks noEditPoints="1"/>
            </p:cNvSpPr>
            <p:nvPr/>
          </p:nvSpPr>
          <p:spPr bwMode="auto">
            <a:xfrm>
              <a:off x="1910" y="2326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08" name="Freeform 671"/>
            <p:cNvSpPr>
              <a:spLocks noEditPoints="1"/>
            </p:cNvSpPr>
            <p:nvPr/>
          </p:nvSpPr>
          <p:spPr bwMode="auto">
            <a:xfrm>
              <a:off x="1973" y="2390"/>
              <a:ext cx="214" cy="212"/>
            </a:xfrm>
            <a:custGeom>
              <a:avLst/>
              <a:gdLst>
                <a:gd name="T0" fmla="*/ 298 w 322"/>
                <a:gd name="T1" fmla="*/ 67 h 320"/>
                <a:gd name="T2" fmla="*/ 246 w 322"/>
                <a:gd name="T3" fmla="*/ 55 h 320"/>
                <a:gd name="T4" fmla="*/ 246 w 322"/>
                <a:gd name="T5" fmla="*/ 10 h 320"/>
                <a:gd name="T6" fmla="*/ 235 w 322"/>
                <a:gd name="T7" fmla="*/ 0 h 320"/>
                <a:gd name="T8" fmla="*/ 86 w 322"/>
                <a:gd name="T9" fmla="*/ 0 h 320"/>
                <a:gd name="T10" fmla="*/ 75 w 322"/>
                <a:gd name="T11" fmla="*/ 10 h 320"/>
                <a:gd name="T12" fmla="*/ 76 w 322"/>
                <a:gd name="T13" fmla="*/ 55 h 320"/>
                <a:gd name="T14" fmla="*/ 23 w 322"/>
                <a:gd name="T15" fmla="*/ 67 h 320"/>
                <a:gd name="T16" fmla="*/ 52 w 322"/>
                <a:gd name="T17" fmla="*/ 177 h 320"/>
                <a:gd name="T18" fmla="*/ 104 w 322"/>
                <a:gd name="T19" fmla="*/ 213 h 320"/>
                <a:gd name="T20" fmla="*/ 107 w 322"/>
                <a:gd name="T21" fmla="*/ 213 h 320"/>
                <a:gd name="T22" fmla="*/ 109 w 322"/>
                <a:gd name="T23" fmla="*/ 213 h 320"/>
                <a:gd name="T24" fmla="*/ 121 w 322"/>
                <a:gd name="T25" fmla="*/ 227 h 320"/>
                <a:gd name="T26" fmla="*/ 146 w 322"/>
                <a:gd name="T27" fmla="*/ 243 h 320"/>
                <a:gd name="T28" fmla="*/ 119 w 322"/>
                <a:gd name="T29" fmla="*/ 305 h 320"/>
                <a:gd name="T30" fmla="*/ 120 w 322"/>
                <a:gd name="T31" fmla="*/ 315 h 320"/>
                <a:gd name="T32" fmla="*/ 129 w 322"/>
                <a:gd name="T33" fmla="*/ 320 h 320"/>
                <a:gd name="T34" fmla="*/ 193 w 322"/>
                <a:gd name="T35" fmla="*/ 320 h 320"/>
                <a:gd name="T36" fmla="*/ 202 w 322"/>
                <a:gd name="T37" fmla="*/ 315 h 320"/>
                <a:gd name="T38" fmla="*/ 202 w 322"/>
                <a:gd name="T39" fmla="*/ 305 h 320"/>
                <a:gd name="T40" fmla="*/ 176 w 322"/>
                <a:gd name="T41" fmla="*/ 243 h 320"/>
                <a:gd name="T42" fmla="*/ 201 w 322"/>
                <a:gd name="T43" fmla="*/ 227 h 320"/>
                <a:gd name="T44" fmla="*/ 212 w 322"/>
                <a:gd name="T45" fmla="*/ 213 h 320"/>
                <a:gd name="T46" fmla="*/ 214 w 322"/>
                <a:gd name="T47" fmla="*/ 213 h 320"/>
                <a:gd name="T48" fmla="*/ 217 w 322"/>
                <a:gd name="T49" fmla="*/ 213 h 320"/>
                <a:gd name="T50" fmla="*/ 270 w 322"/>
                <a:gd name="T51" fmla="*/ 177 h 320"/>
                <a:gd name="T52" fmla="*/ 298 w 322"/>
                <a:gd name="T53" fmla="*/ 67 h 320"/>
                <a:gd name="T54" fmla="*/ 66 w 322"/>
                <a:gd name="T55" fmla="*/ 161 h 320"/>
                <a:gd name="T56" fmla="*/ 39 w 322"/>
                <a:gd name="T57" fmla="*/ 81 h 320"/>
                <a:gd name="T58" fmla="*/ 77 w 322"/>
                <a:gd name="T59" fmla="*/ 77 h 320"/>
                <a:gd name="T60" fmla="*/ 97 w 322"/>
                <a:gd name="T61" fmla="*/ 186 h 320"/>
                <a:gd name="T62" fmla="*/ 66 w 322"/>
                <a:gd name="T63" fmla="*/ 161 h 320"/>
                <a:gd name="T64" fmla="*/ 145 w 322"/>
                <a:gd name="T65" fmla="*/ 298 h 320"/>
                <a:gd name="T66" fmla="*/ 161 w 322"/>
                <a:gd name="T67" fmla="*/ 262 h 320"/>
                <a:gd name="T68" fmla="*/ 176 w 322"/>
                <a:gd name="T69" fmla="*/ 298 h 320"/>
                <a:gd name="T70" fmla="*/ 145 w 322"/>
                <a:gd name="T71" fmla="*/ 298 h 320"/>
                <a:gd name="T72" fmla="*/ 185 w 322"/>
                <a:gd name="T73" fmla="*/ 213 h 320"/>
                <a:gd name="T74" fmla="*/ 161 w 322"/>
                <a:gd name="T75" fmla="*/ 224 h 320"/>
                <a:gd name="T76" fmla="*/ 136 w 322"/>
                <a:gd name="T77" fmla="*/ 213 h 320"/>
                <a:gd name="T78" fmla="*/ 96 w 322"/>
                <a:gd name="T79" fmla="*/ 21 h 320"/>
                <a:gd name="T80" fmla="*/ 225 w 322"/>
                <a:gd name="T81" fmla="*/ 21 h 320"/>
                <a:gd name="T82" fmla="*/ 185 w 322"/>
                <a:gd name="T83" fmla="*/ 213 h 320"/>
                <a:gd name="T84" fmla="*/ 255 w 322"/>
                <a:gd name="T85" fmla="*/ 161 h 320"/>
                <a:gd name="T86" fmla="*/ 225 w 322"/>
                <a:gd name="T87" fmla="*/ 186 h 320"/>
                <a:gd name="T88" fmla="*/ 245 w 322"/>
                <a:gd name="T89" fmla="*/ 77 h 320"/>
                <a:gd name="T90" fmla="*/ 283 w 322"/>
                <a:gd name="T91" fmla="*/ 81 h 320"/>
                <a:gd name="T92" fmla="*/ 255 w 322"/>
                <a:gd name="T93" fmla="*/ 161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2" h="320">
                  <a:moveTo>
                    <a:pt x="298" y="67"/>
                  </a:moveTo>
                  <a:cubicBezTo>
                    <a:pt x="286" y="54"/>
                    <a:pt x="268" y="50"/>
                    <a:pt x="246" y="55"/>
                  </a:cubicBezTo>
                  <a:cubicBezTo>
                    <a:pt x="247" y="30"/>
                    <a:pt x="246" y="12"/>
                    <a:pt x="246" y="10"/>
                  </a:cubicBezTo>
                  <a:cubicBezTo>
                    <a:pt x="246" y="4"/>
                    <a:pt x="241" y="0"/>
                    <a:pt x="235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0" y="0"/>
                    <a:pt x="76" y="4"/>
                    <a:pt x="75" y="10"/>
                  </a:cubicBezTo>
                  <a:cubicBezTo>
                    <a:pt x="75" y="12"/>
                    <a:pt x="75" y="30"/>
                    <a:pt x="76" y="55"/>
                  </a:cubicBezTo>
                  <a:cubicBezTo>
                    <a:pt x="54" y="50"/>
                    <a:pt x="35" y="54"/>
                    <a:pt x="23" y="67"/>
                  </a:cubicBezTo>
                  <a:cubicBezTo>
                    <a:pt x="0" y="92"/>
                    <a:pt x="12" y="140"/>
                    <a:pt x="52" y="177"/>
                  </a:cubicBezTo>
                  <a:cubicBezTo>
                    <a:pt x="67" y="191"/>
                    <a:pt x="85" y="207"/>
                    <a:pt x="104" y="213"/>
                  </a:cubicBezTo>
                  <a:cubicBezTo>
                    <a:pt x="105" y="213"/>
                    <a:pt x="106" y="213"/>
                    <a:pt x="107" y="213"/>
                  </a:cubicBezTo>
                  <a:cubicBezTo>
                    <a:pt x="108" y="213"/>
                    <a:pt x="109" y="213"/>
                    <a:pt x="109" y="213"/>
                  </a:cubicBezTo>
                  <a:cubicBezTo>
                    <a:pt x="113" y="218"/>
                    <a:pt x="117" y="223"/>
                    <a:pt x="121" y="227"/>
                  </a:cubicBezTo>
                  <a:cubicBezTo>
                    <a:pt x="128" y="235"/>
                    <a:pt x="136" y="240"/>
                    <a:pt x="146" y="243"/>
                  </a:cubicBezTo>
                  <a:cubicBezTo>
                    <a:pt x="119" y="305"/>
                    <a:pt x="119" y="305"/>
                    <a:pt x="119" y="305"/>
                  </a:cubicBezTo>
                  <a:cubicBezTo>
                    <a:pt x="117" y="308"/>
                    <a:pt x="118" y="312"/>
                    <a:pt x="120" y="315"/>
                  </a:cubicBezTo>
                  <a:cubicBezTo>
                    <a:pt x="122" y="318"/>
                    <a:pt x="125" y="320"/>
                    <a:pt x="129" y="320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6" y="320"/>
                    <a:pt x="200" y="318"/>
                    <a:pt x="202" y="315"/>
                  </a:cubicBezTo>
                  <a:cubicBezTo>
                    <a:pt x="204" y="312"/>
                    <a:pt x="204" y="308"/>
                    <a:pt x="202" y="305"/>
                  </a:cubicBezTo>
                  <a:cubicBezTo>
                    <a:pt x="176" y="243"/>
                    <a:pt x="176" y="243"/>
                    <a:pt x="176" y="243"/>
                  </a:cubicBezTo>
                  <a:cubicBezTo>
                    <a:pt x="185" y="240"/>
                    <a:pt x="193" y="235"/>
                    <a:pt x="201" y="227"/>
                  </a:cubicBezTo>
                  <a:cubicBezTo>
                    <a:pt x="205" y="223"/>
                    <a:pt x="209" y="218"/>
                    <a:pt x="212" y="213"/>
                  </a:cubicBezTo>
                  <a:cubicBezTo>
                    <a:pt x="213" y="213"/>
                    <a:pt x="213" y="213"/>
                    <a:pt x="214" y="213"/>
                  </a:cubicBezTo>
                  <a:cubicBezTo>
                    <a:pt x="215" y="213"/>
                    <a:pt x="216" y="213"/>
                    <a:pt x="217" y="213"/>
                  </a:cubicBezTo>
                  <a:cubicBezTo>
                    <a:pt x="236" y="207"/>
                    <a:pt x="254" y="191"/>
                    <a:pt x="270" y="177"/>
                  </a:cubicBezTo>
                  <a:cubicBezTo>
                    <a:pt x="309" y="140"/>
                    <a:pt x="322" y="92"/>
                    <a:pt x="298" y="67"/>
                  </a:cubicBezTo>
                  <a:close/>
                  <a:moveTo>
                    <a:pt x="66" y="161"/>
                  </a:moveTo>
                  <a:cubicBezTo>
                    <a:pt x="37" y="134"/>
                    <a:pt x="24" y="97"/>
                    <a:pt x="39" y="81"/>
                  </a:cubicBezTo>
                  <a:cubicBezTo>
                    <a:pt x="46" y="74"/>
                    <a:pt x="60" y="72"/>
                    <a:pt x="77" y="77"/>
                  </a:cubicBezTo>
                  <a:cubicBezTo>
                    <a:pt x="79" y="112"/>
                    <a:pt x="85" y="153"/>
                    <a:pt x="97" y="186"/>
                  </a:cubicBezTo>
                  <a:cubicBezTo>
                    <a:pt x="86" y="179"/>
                    <a:pt x="76" y="170"/>
                    <a:pt x="66" y="161"/>
                  </a:cubicBezTo>
                  <a:close/>
                  <a:moveTo>
                    <a:pt x="145" y="298"/>
                  </a:moveTo>
                  <a:cubicBezTo>
                    <a:pt x="161" y="262"/>
                    <a:pt x="161" y="262"/>
                    <a:pt x="161" y="262"/>
                  </a:cubicBezTo>
                  <a:cubicBezTo>
                    <a:pt x="176" y="298"/>
                    <a:pt x="176" y="298"/>
                    <a:pt x="176" y="298"/>
                  </a:cubicBezTo>
                  <a:lnTo>
                    <a:pt x="145" y="298"/>
                  </a:lnTo>
                  <a:close/>
                  <a:moveTo>
                    <a:pt x="185" y="213"/>
                  </a:moveTo>
                  <a:cubicBezTo>
                    <a:pt x="178" y="220"/>
                    <a:pt x="170" y="224"/>
                    <a:pt x="161" y="224"/>
                  </a:cubicBezTo>
                  <a:cubicBezTo>
                    <a:pt x="151" y="224"/>
                    <a:pt x="143" y="220"/>
                    <a:pt x="136" y="213"/>
                  </a:cubicBezTo>
                  <a:cubicBezTo>
                    <a:pt x="102" y="177"/>
                    <a:pt x="96" y="70"/>
                    <a:pt x="96" y="21"/>
                  </a:cubicBezTo>
                  <a:cubicBezTo>
                    <a:pt x="225" y="21"/>
                    <a:pt x="225" y="21"/>
                    <a:pt x="225" y="21"/>
                  </a:cubicBezTo>
                  <a:cubicBezTo>
                    <a:pt x="225" y="70"/>
                    <a:pt x="220" y="177"/>
                    <a:pt x="185" y="213"/>
                  </a:cubicBezTo>
                  <a:close/>
                  <a:moveTo>
                    <a:pt x="255" y="161"/>
                  </a:moveTo>
                  <a:cubicBezTo>
                    <a:pt x="246" y="170"/>
                    <a:pt x="235" y="179"/>
                    <a:pt x="225" y="186"/>
                  </a:cubicBezTo>
                  <a:cubicBezTo>
                    <a:pt x="237" y="153"/>
                    <a:pt x="242" y="112"/>
                    <a:pt x="245" y="77"/>
                  </a:cubicBezTo>
                  <a:cubicBezTo>
                    <a:pt x="261" y="72"/>
                    <a:pt x="275" y="74"/>
                    <a:pt x="283" y="81"/>
                  </a:cubicBezTo>
                  <a:cubicBezTo>
                    <a:pt x="297" y="97"/>
                    <a:pt x="284" y="134"/>
                    <a:pt x="255" y="1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  <p:pic>
        <p:nvPicPr>
          <p:cNvPr id="10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5632" y="285029"/>
            <a:ext cx="1498912" cy="85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18"/>
          <p:cNvCxnSpPr/>
          <p:nvPr/>
        </p:nvCxnSpPr>
        <p:spPr>
          <a:xfrm>
            <a:off x="5233670" y="3546475"/>
            <a:ext cx="2741930" cy="0"/>
          </a:xfrm>
          <a:prstGeom prst="line">
            <a:avLst/>
          </a:prstGeom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89"/>
          <p:cNvSpPr txBox="1"/>
          <p:nvPr/>
        </p:nvSpPr>
        <p:spPr>
          <a:xfrm>
            <a:off x="5258446" y="3230616"/>
            <a:ext cx="1565910" cy="630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lang="zh-CN" altLang="en-US" b="1" dirty="0">
                <a:ln>
                  <a:noFill/>
                </a:ln>
                <a:solidFill>
                  <a:srgbClr val="86BC25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sym typeface="+mn-ea"/>
              </a:rPr>
              <a:t>项目计划&amp;成员</a:t>
            </a:r>
            <a:endParaRPr kumimoji="0" lang="zh-CN" altLang="en-US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13" name="Group 432"/>
          <p:cNvGrpSpPr>
            <a:grpSpLocks noChangeAspect="1"/>
          </p:cNvGrpSpPr>
          <p:nvPr/>
        </p:nvGrpSpPr>
        <p:grpSpPr bwMode="auto">
          <a:xfrm>
            <a:off x="4762658" y="2127249"/>
            <a:ext cx="252494" cy="253235"/>
            <a:chOff x="3505" y="1546"/>
            <a:chExt cx="340" cy="341"/>
          </a:xfrm>
          <a:solidFill>
            <a:schemeClr val="tx1"/>
          </a:solidFill>
        </p:grpSpPr>
        <p:sp>
          <p:nvSpPr>
            <p:cNvPr id="14" name="Freeform 433"/>
            <p:cNvSpPr>
              <a:spLocks noEditPoints="1"/>
            </p:cNvSpPr>
            <p:nvPr/>
          </p:nvSpPr>
          <p:spPr bwMode="auto">
            <a:xfrm>
              <a:off x="3569" y="1610"/>
              <a:ext cx="212" cy="213"/>
            </a:xfrm>
            <a:custGeom>
              <a:avLst/>
              <a:gdLst>
                <a:gd name="T0" fmla="*/ 309 w 320"/>
                <a:gd name="T1" fmla="*/ 149 h 320"/>
                <a:gd name="T2" fmla="*/ 287 w 320"/>
                <a:gd name="T3" fmla="*/ 149 h 320"/>
                <a:gd name="T4" fmla="*/ 170 w 320"/>
                <a:gd name="T5" fmla="*/ 32 h 320"/>
                <a:gd name="T6" fmla="*/ 170 w 320"/>
                <a:gd name="T7" fmla="*/ 10 h 320"/>
                <a:gd name="T8" fmla="*/ 160 w 320"/>
                <a:gd name="T9" fmla="*/ 0 h 320"/>
                <a:gd name="T10" fmla="*/ 149 w 320"/>
                <a:gd name="T11" fmla="*/ 10 h 320"/>
                <a:gd name="T12" fmla="*/ 149 w 320"/>
                <a:gd name="T13" fmla="*/ 32 h 320"/>
                <a:gd name="T14" fmla="*/ 32 w 320"/>
                <a:gd name="T15" fmla="*/ 149 h 320"/>
                <a:gd name="T16" fmla="*/ 10 w 320"/>
                <a:gd name="T17" fmla="*/ 149 h 320"/>
                <a:gd name="T18" fmla="*/ 0 w 320"/>
                <a:gd name="T19" fmla="*/ 160 h 320"/>
                <a:gd name="T20" fmla="*/ 10 w 320"/>
                <a:gd name="T21" fmla="*/ 170 h 320"/>
                <a:gd name="T22" fmla="*/ 32 w 320"/>
                <a:gd name="T23" fmla="*/ 170 h 320"/>
                <a:gd name="T24" fmla="*/ 149 w 320"/>
                <a:gd name="T25" fmla="*/ 287 h 320"/>
                <a:gd name="T26" fmla="*/ 149 w 320"/>
                <a:gd name="T27" fmla="*/ 309 h 320"/>
                <a:gd name="T28" fmla="*/ 160 w 320"/>
                <a:gd name="T29" fmla="*/ 320 h 320"/>
                <a:gd name="T30" fmla="*/ 170 w 320"/>
                <a:gd name="T31" fmla="*/ 309 h 320"/>
                <a:gd name="T32" fmla="*/ 170 w 320"/>
                <a:gd name="T33" fmla="*/ 287 h 320"/>
                <a:gd name="T34" fmla="*/ 287 w 320"/>
                <a:gd name="T35" fmla="*/ 170 h 320"/>
                <a:gd name="T36" fmla="*/ 309 w 320"/>
                <a:gd name="T37" fmla="*/ 170 h 320"/>
                <a:gd name="T38" fmla="*/ 320 w 320"/>
                <a:gd name="T39" fmla="*/ 160 h 320"/>
                <a:gd name="T40" fmla="*/ 309 w 320"/>
                <a:gd name="T41" fmla="*/ 149 h 320"/>
                <a:gd name="T42" fmla="*/ 266 w 320"/>
                <a:gd name="T43" fmla="*/ 149 h 320"/>
                <a:gd name="T44" fmla="*/ 233 w 320"/>
                <a:gd name="T45" fmla="*/ 149 h 320"/>
                <a:gd name="T46" fmla="*/ 170 w 320"/>
                <a:gd name="T47" fmla="*/ 86 h 320"/>
                <a:gd name="T48" fmla="*/ 170 w 320"/>
                <a:gd name="T49" fmla="*/ 54 h 320"/>
                <a:gd name="T50" fmla="*/ 266 w 320"/>
                <a:gd name="T51" fmla="*/ 149 h 320"/>
                <a:gd name="T52" fmla="*/ 149 w 320"/>
                <a:gd name="T53" fmla="*/ 149 h 320"/>
                <a:gd name="T54" fmla="*/ 107 w 320"/>
                <a:gd name="T55" fmla="*/ 149 h 320"/>
                <a:gd name="T56" fmla="*/ 149 w 320"/>
                <a:gd name="T57" fmla="*/ 107 h 320"/>
                <a:gd name="T58" fmla="*/ 149 w 320"/>
                <a:gd name="T59" fmla="*/ 149 h 320"/>
                <a:gd name="T60" fmla="*/ 149 w 320"/>
                <a:gd name="T61" fmla="*/ 170 h 320"/>
                <a:gd name="T62" fmla="*/ 149 w 320"/>
                <a:gd name="T63" fmla="*/ 212 h 320"/>
                <a:gd name="T64" fmla="*/ 107 w 320"/>
                <a:gd name="T65" fmla="*/ 170 h 320"/>
                <a:gd name="T66" fmla="*/ 149 w 320"/>
                <a:gd name="T67" fmla="*/ 170 h 320"/>
                <a:gd name="T68" fmla="*/ 170 w 320"/>
                <a:gd name="T69" fmla="*/ 170 h 320"/>
                <a:gd name="T70" fmla="*/ 212 w 320"/>
                <a:gd name="T71" fmla="*/ 170 h 320"/>
                <a:gd name="T72" fmla="*/ 170 w 320"/>
                <a:gd name="T73" fmla="*/ 212 h 320"/>
                <a:gd name="T74" fmla="*/ 170 w 320"/>
                <a:gd name="T75" fmla="*/ 170 h 320"/>
                <a:gd name="T76" fmla="*/ 170 w 320"/>
                <a:gd name="T77" fmla="*/ 149 h 320"/>
                <a:gd name="T78" fmla="*/ 170 w 320"/>
                <a:gd name="T79" fmla="*/ 107 h 320"/>
                <a:gd name="T80" fmla="*/ 212 w 320"/>
                <a:gd name="T81" fmla="*/ 149 h 320"/>
                <a:gd name="T82" fmla="*/ 170 w 320"/>
                <a:gd name="T83" fmla="*/ 149 h 320"/>
                <a:gd name="T84" fmla="*/ 149 w 320"/>
                <a:gd name="T85" fmla="*/ 54 h 320"/>
                <a:gd name="T86" fmla="*/ 149 w 320"/>
                <a:gd name="T87" fmla="*/ 86 h 320"/>
                <a:gd name="T88" fmla="*/ 86 w 320"/>
                <a:gd name="T89" fmla="*/ 149 h 320"/>
                <a:gd name="T90" fmla="*/ 54 w 320"/>
                <a:gd name="T91" fmla="*/ 149 h 320"/>
                <a:gd name="T92" fmla="*/ 149 w 320"/>
                <a:gd name="T93" fmla="*/ 54 h 320"/>
                <a:gd name="T94" fmla="*/ 54 w 320"/>
                <a:gd name="T95" fmla="*/ 170 h 320"/>
                <a:gd name="T96" fmla="*/ 86 w 320"/>
                <a:gd name="T97" fmla="*/ 170 h 320"/>
                <a:gd name="T98" fmla="*/ 149 w 320"/>
                <a:gd name="T99" fmla="*/ 233 h 320"/>
                <a:gd name="T100" fmla="*/ 149 w 320"/>
                <a:gd name="T101" fmla="*/ 266 h 320"/>
                <a:gd name="T102" fmla="*/ 54 w 320"/>
                <a:gd name="T103" fmla="*/ 170 h 320"/>
                <a:gd name="T104" fmla="*/ 170 w 320"/>
                <a:gd name="T105" fmla="*/ 266 h 320"/>
                <a:gd name="T106" fmla="*/ 170 w 320"/>
                <a:gd name="T107" fmla="*/ 233 h 320"/>
                <a:gd name="T108" fmla="*/ 233 w 320"/>
                <a:gd name="T109" fmla="*/ 170 h 320"/>
                <a:gd name="T110" fmla="*/ 266 w 320"/>
                <a:gd name="T111" fmla="*/ 170 h 320"/>
                <a:gd name="T112" fmla="*/ 170 w 320"/>
                <a:gd name="T113" fmla="*/ 26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0" h="320">
                  <a:moveTo>
                    <a:pt x="309" y="149"/>
                  </a:moveTo>
                  <a:cubicBezTo>
                    <a:pt x="287" y="149"/>
                    <a:pt x="287" y="149"/>
                    <a:pt x="287" y="149"/>
                  </a:cubicBezTo>
                  <a:cubicBezTo>
                    <a:pt x="282" y="87"/>
                    <a:pt x="232" y="37"/>
                    <a:pt x="170" y="32"/>
                  </a:cubicBezTo>
                  <a:cubicBezTo>
                    <a:pt x="170" y="10"/>
                    <a:pt x="170" y="10"/>
                    <a:pt x="170" y="10"/>
                  </a:cubicBezTo>
                  <a:cubicBezTo>
                    <a:pt x="170" y="4"/>
                    <a:pt x="166" y="0"/>
                    <a:pt x="160" y="0"/>
                  </a:cubicBezTo>
                  <a:cubicBezTo>
                    <a:pt x="154" y="0"/>
                    <a:pt x="149" y="4"/>
                    <a:pt x="149" y="10"/>
                  </a:cubicBezTo>
                  <a:cubicBezTo>
                    <a:pt x="149" y="32"/>
                    <a:pt x="149" y="32"/>
                    <a:pt x="149" y="32"/>
                  </a:cubicBezTo>
                  <a:cubicBezTo>
                    <a:pt x="87" y="37"/>
                    <a:pt x="37" y="87"/>
                    <a:pt x="32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4" y="149"/>
                    <a:pt x="0" y="154"/>
                    <a:pt x="0" y="160"/>
                  </a:cubicBezTo>
                  <a:cubicBezTo>
                    <a:pt x="0" y="166"/>
                    <a:pt x="4" y="170"/>
                    <a:pt x="10" y="170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7" y="232"/>
                    <a:pt x="87" y="282"/>
                    <a:pt x="149" y="287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15"/>
                    <a:pt x="154" y="320"/>
                    <a:pt x="160" y="320"/>
                  </a:cubicBezTo>
                  <a:cubicBezTo>
                    <a:pt x="166" y="320"/>
                    <a:pt x="170" y="315"/>
                    <a:pt x="170" y="309"/>
                  </a:cubicBezTo>
                  <a:cubicBezTo>
                    <a:pt x="170" y="287"/>
                    <a:pt x="170" y="287"/>
                    <a:pt x="170" y="287"/>
                  </a:cubicBezTo>
                  <a:cubicBezTo>
                    <a:pt x="232" y="282"/>
                    <a:pt x="282" y="232"/>
                    <a:pt x="287" y="170"/>
                  </a:cubicBezTo>
                  <a:cubicBezTo>
                    <a:pt x="309" y="170"/>
                    <a:pt x="309" y="170"/>
                    <a:pt x="309" y="170"/>
                  </a:cubicBezTo>
                  <a:cubicBezTo>
                    <a:pt x="315" y="170"/>
                    <a:pt x="320" y="166"/>
                    <a:pt x="320" y="160"/>
                  </a:cubicBezTo>
                  <a:cubicBezTo>
                    <a:pt x="320" y="154"/>
                    <a:pt x="315" y="149"/>
                    <a:pt x="309" y="149"/>
                  </a:cubicBezTo>
                  <a:close/>
                  <a:moveTo>
                    <a:pt x="266" y="149"/>
                  </a:moveTo>
                  <a:cubicBezTo>
                    <a:pt x="233" y="149"/>
                    <a:pt x="233" y="149"/>
                    <a:pt x="233" y="149"/>
                  </a:cubicBezTo>
                  <a:cubicBezTo>
                    <a:pt x="229" y="116"/>
                    <a:pt x="203" y="91"/>
                    <a:pt x="170" y="86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221" y="59"/>
                    <a:pt x="261" y="99"/>
                    <a:pt x="266" y="149"/>
                  </a:cubicBezTo>
                  <a:close/>
                  <a:moveTo>
                    <a:pt x="149" y="149"/>
                  </a:moveTo>
                  <a:cubicBezTo>
                    <a:pt x="107" y="149"/>
                    <a:pt x="107" y="149"/>
                    <a:pt x="107" y="149"/>
                  </a:cubicBezTo>
                  <a:cubicBezTo>
                    <a:pt x="112" y="128"/>
                    <a:pt x="128" y="112"/>
                    <a:pt x="149" y="107"/>
                  </a:cubicBezTo>
                  <a:lnTo>
                    <a:pt x="149" y="149"/>
                  </a:lnTo>
                  <a:close/>
                  <a:moveTo>
                    <a:pt x="149" y="170"/>
                  </a:moveTo>
                  <a:cubicBezTo>
                    <a:pt x="149" y="212"/>
                    <a:pt x="149" y="212"/>
                    <a:pt x="149" y="212"/>
                  </a:cubicBezTo>
                  <a:cubicBezTo>
                    <a:pt x="128" y="208"/>
                    <a:pt x="112" y="191"/>
                    <a:pt x="107" y="170"/>
                  </a:cubicBezTo>
                  <a:lnTo>
                    <a:pt x="149" y="170"/>
                  </a:lnTo>
                  <a:close/>
                  <a:moveTo>
                    <a:pt x="170" y="170"/>
                  </a:moveTo>
                  <a:cubicBezTo>
                    <a:pt x="212" y="170"/>
                    <a:pt x="212" y="170"/>
                    <a:pt x="212" y="170"/>
                  </a:cubicBezTo>
                  <a:cubicBezTo>
                    <a:pt x="208" y="191"/>
                    <a:pt x="191" y="208"/>
                    <a:pt x="170" y="212"/>
                  </a:cubicBezTo>
                  <a:lnTo>
                    <a:pt x="170" y="170"/>
                  </a:lnTo>
                  <a:close/>
                  <a:moveTo>
                    <a:pt x="170" y="149"/>
                  </a:moveTo>
                  <a:cubicBezTo>
                    <a:pt x="170" y="107"/>
                    <a:pt x="170" y="107"/>
                    <a:pt x="170" y="107"/>
                  </a:cubicBezTo>
                  <a:cubicBezTo>
                    <a:pt x="191" y="112"/>
                    <a:pt x="208" y="128"/>
                    <a:pt x="212" y="149"/>
                  </a:cubicBezTo>
                  <a:lnTo>
                    <a:pt x="170" y="149"/>
                  </a:lnTo>
                  <a:close/>
                  <a:moveTo>
                    <a:pt x="149" y="54"/>
                  </a:moveTo>
                  <a:cubicBezTo>
                    <a:pt x="149" y="86"/>
                    <a:pt x="149" y="86"/>
                    <a:pt x="149" y="86"/>
                  </a:cubicBezTo>
                  <a:cubicBezTo>
                    <a:pt x="116" y="91"/>
                    <a:pt x="91" y="116"/>
                    <a:pt x="86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9" y="99"/>
                    <a:pt x="99" y="59"/>
                    <a:pt x="149" y="54"/>
                  </a:cubicBezTo>
                  <a:close/>
                  <a:moveTo>
                    <a:pt x="54" y="170"/>
                  </a:moveTo>
                  <a:cubicBezTo>
                    <a:pt x="86" y="170"/>
                    <a:pt x="86" y="170"/>
                    <a:pt x="86" y="170"/>
                  </a:cubicBezTo>
                  <a:cubicBezTo>
                    <a:pt x="91" y="203"/>
                    <a:pt x="116" y="229"/>
                    <a:pt x="149" y="233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99" y="261"/>
                    <a:pt x="59" y="221"/>
                    <a:pt x="54" y="170"/>
                  </a:cubicBezTo>
                  <a:close/>
                  <a:moveTo>
                    <a:pt x="170" y="266"/>
                  </a:moveTo>
                  <a:cubicBezTo>
                    <a:pt x="170" y="233"/>
                    <a:pt x="170" y="233"/>
                    <a:pt x="170" y="233"/>
                  </a:cubicBezTo>
                  <a:cubicBezTo>
                    <a:pt x="203" y="229"/>
                    <a:pt x="229" y="203"/>
                    <a:pt x="233" y="170"/>
                  </a:cubicBezTo>
                  <a:cubicBezTo>
                    <a:pt x="266" y="170"/>
                    <a:pt x="266" y="170"/>
                    <a:pt x="266" y="170"/>
                  </a:cubicBezTo>
                  <a:cubicBezTo>
                    <a:pt x="261" y="221"/>
                    <a:pt x="221" y="261"/>
                    <a:pt x="170" y="2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5" name="Freeform 434"/>
            <p:cNvSpPr>
              <a:spLocks noEditPoints="1"/>
            </p:cNvSpPr>
            <p:nvPr/>
          </p:nvSpPr>
          <p:spPr bwMode="auto">
            <a:xfrm>
              <a:off x="3505" y="1546"/>
              <a:ext cx="340" cy="341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  <p:grpSp>
        <p:nvGrpSpPr>
          <p:cNvPr id="109" name="Group 638"/>
          <p:cNvGrpSpPr>
            <a:grpSpLocks noChangeAspect="1"/>
          </p:cNvGrpSpPr>
          <p:nvPr/>
        </p:nvGrpSpPr>
        <p:grpSpPr bwMode="auto">
          <a:xfrm>
            <a:off x="4756332" y="3241598"/>
            <a:ext cx="252494" cy="252494"/>
            <a:chOff x="4300" y="2260"/>
            <a:chExt cx="340" cy="340"/>
          </a:xfrm>
          <a:solidFill>
            <a:srgbClr val="86BC25"/>
          </a:solidFill>
        </p:grpSpPr>
        <p:sp>
          <p:nvSpPr>
            <p:cNvPr id="110" name="Freeform 639"/>
            <p:cNvSpPr/>
            <p:nvPr/>
          </p:nvSpPr>
          <p:spPr bwMode="auto">
            <a:xfrm>
              <a:off x="4463" y="2437"/>
              <a:ext cx="14" cy="99"/>
            </a:xfrm>
            <a:custGeom>
              <a:avLst/>
              <a:gdLst>
                <a:gd name="T0" fmla="*/ 11 w 21"/>
                <a:gd name="T1" fmla="*/ 0 h 150"/>
                <a:gd name="T2" fmla="*/ 0 w 21"/>
                <a:gd name="T3" fmla="*/ 11 h 150"/>
                <a:gd name="T4" fmla="*/ 0 w 21"/>
                <a:gd name="T5" fmla="*/ 139 h 150"/>
                <a:gd name="T6" fmla="*/ 11 w 21"/>
                <a:gd name="T7" fmla="*/ 150 h 150"/>
                <a:gd name="T8" fmla="*/ 21 w 21"/>
                <a:gd name="T9" fmla="*/ 139 h 150"/>
                <a:gd name="T10" fmla="*/ 21 w 21"/>
                <a:gd name="T11" fmla="*/ 11 h 150"/>
                <a:gd name="T12" fmla="*/ 11 w 21"/>
                <a:gd name="T1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50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45"/>
                    <a:pt x="5" y="150"/>
                    <a:pt x="11" y="150"/>
                  </a:cubicBezTo>
                  <a:cubicBezTo>
                    <a:pt x="17" y="150"/>
                    <a:pt x="21" y="145"/>
                    <a:pt x="21" y="139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grpFill/>
            <a:ln>
              <a:solidFill>
                <a:srgbClr val="86BC25"/>
              </a:solidFill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11" name="Freeform 640"/>
            <p:cNvSpPr>
              <a:spLocks noEditPoints="1"/>
            </p:cNvSpPr>
            <p:nvPr/>
          </p:nvSpPr>
          <p:spPr bwMode="auto">
            <a:xfrm>
              <a:off x="4405" y="2330"/>
              <a:ext cx="132" cy="107"/>
            </a:xfrm>
            <a:custGeom>
              <a:avLst/>
              <a:gdLst>
                <a:gd name="T0" fmla="*/ 192 w 199"/>
                <a:gd name="T1" fmla="*/ 140 h 160"/>
                <a:gd name="T2" fmla="*/ 129 w 199"/>
                <a:gd name="T3" fmla="*/ 105 h 160"/>
                <a:gd name="T4" fmla="*/ 108 w 199"/>
                <a:gd name="T5" fmla="*/ 77 h 160"/>
                <a:gd name="T6" fmla="*/ 108 w 199"/>
                <a:gd name="T7" fmla="*/ 11 h 160"/>
                <a:gd name="T8" fmla="*/ 98 w 199"/>
                <a:gd name="T9" fmla="*/ 0 h 160"/>
                <a:gd name="T10" fmla="*/ 87 w 199"/>
                <a:gd name="T11" fmla="*/ 11 h 160"/>
                <a:gd name="T12" fmla="*/ 87 w 199"/>
                <a:gd name="T13" fmla="*/ 77 h 160"/>
                <a:gd name="T14" fmla="*/ 66 w 199"/>
                <a:gd name="T15" fmla="*/ 107 h 160"/>
                <a:gd name="T16" fmla="*/ 7 w 199"/>
                <a:gd name="T17" fmla="*/ 140 h 160"/>
                <a:gd name="T18" fmla="*/ 3 w 199"/>
                <a:gd name="T19" fmla="*/ 155 h 160"/>
                <a:gd name="T20" fmla="*/ 12 w 199"/>
                <a:gd name="T21" fmla="*/ 160 h 160"/>
                <a:gd name="T22" fmla="*/ 18 w 199"/>
                <a:gd name="T23" fmla="*/ 159 h 160"/>
                <a:gd name="T24" fmla="*/ 73 w 199"/>
                <a:gd name="T25" fmla="*/ 127 h 160"/>
                <a:gd name="T26" fmla="*/ 98 w 199"/>
                <a:gd name="T27" fmla="*/ 139 h 160"/>
                <a:gd name="T28" fmla="*/ 123 w 199"/>
                <a:gd name="T29" fmla="*/ 126 h 160"/>
                <a:gd name="T30" fmla="*/ 181 w 199"/>
                <a:gd name="T31" fmla="*/ 159 h 160"/>
                <a:gd name="T32" fmla="*/ 187 w 199"/>
                <a:gd name="T33" fmla="*/ 160 h 160"/>
                <a:gd name="T34" fmla="*/ 196 w 199"/>
                <a:gd name="T35" fmla="*/ 155 h 160"/>
                <a:gd name="T36" fmla="*/ 192 w 199"/>
                <a:gd name="T37" fmla="*/ 140 h 160"/>
                <a:gd name="T38" fmla="*/ 98 w 199"/>
                <a:gd name="T39" fmla="*/ 118 h 160"/>
                <a:gd name="T40" fmla="*/ 87 w 199"/>
                <a:gd name="T41" fmla="*/ 107 h 160"/>
                <a:gd name="T42" fmla="*/ 98 w 199"/>
                <a:gd name="T43" fmla="*/ 96 h 160"/>
                <a:gd name="T44" fmla="*/ 108 w 199"/>
                <a:gd name="T45" fmla="*/ 107 h 160"/>
                <a:gd name="T46" fmla="*/ 98 w 199"/>
                <a:gd name="T47" fmla="*/ 11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9" h="160">
                  <a:moveTo>
                    <a:pt x="192" y="140"/>
                  </a:moveTo>
                  <a:cubicBezTo>
                    <a:pt x="129" y="105"/>
                    <a:pt x="129" y="105"/>
                    <a:pt x="129" y="105"/>
                  </a:cubicBezTo>
                  <a:cubicBezTo>
                    <a:pt x="129" y="92"/>
                    <a:pt x="120" y="81"/>
                    <a:pt x="108" y="77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5"/>
                    <a:pt x="104" y="0"/>
                    <a:pt x="98" y="0"/>
                  </a:cubicBezTo>
                  <a:cubicBezTo>
                    <a:pt x="92" y="0"/>
                    <a:pt x="87" y="5"/>
                    <a:pt x="87" y="11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75" y="81"/>
                    <a:pt x="66" y="93"/>
                    <a:pt x="66" y="107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50"/>
                    <a:pt x="3" y="155"/>
                  </a:cubicBezTo>
                  <a:cubicBezTo>
                    <a:pt x="5" y="158"/>
                    <a:pt x="9" y="160"/>
                    <a:pt x="12" y="160"/>
                  </a:cubicBezTo>
                  <a:cubicBezTo>
                    <a:pt x="14" y="160"/>
                    <a:pt x="16" y="160"/>
                    <a:pt x="18" y="159"/>
                  </a:cubicBezTo>
                  <a:cubicBezTo>
                    <a:pt x="73" y="127"/>
                    <a:pt x="73" y="127"/>
                    <a:pt x="73" y="127"/>
                  </a:cubicBezTo>
                  <a:cubicBezTo>
                    <a:pt x="79" y="134"/>
                    <a:pt x="88" y="139"/>
                    <a:pt x="98" y="139"/>
                  </a:cubicBezTo>
                  <a:cubicBezTo>
                    <a:pt x="108" y="139"/>
                    <a:pt x="117" y="134"/>
                    <a:pt x="123" y="126"/>
                  </a:cubicBezTo>
                  <a:cubicBezTo>
                    <a:pt x="181" y="159"/>
                    <a:pt x="181" y="159"/>
                    <a:pt x="181" y="159"/>
                  </a:cubicBezTo>
                  <a:cubicBezTo>
                    <a:pt x="183" y="160"/>
                    <a:pt x="185" y="160"/>
                    <a:pt x="187" y="160"/>
                  </a:cubicBezTo>
                  <a:cubicBezTo>
                    <a:pt x="190" y="160"/>
                    <a:pt x="194" y="158"/>
                    <a:pt x="196" y="155"/>
                  </a:cubicBezTo>
                  <a:cubicBezTo>
                    <a:pt x="199" y="150"/>
                    <a:pt x="197" y="143"/>
                    <a:pt x="192" y="140"/>
                  </a:cubicBezTo>
                  <a:close/>
                  <a:moveTo>
                    <a:pt x="98" y="118"/>
                  </a:moveTo>
                  <a:cubicBezTo>
                    <a:pt x="92" y="118"/>
                    <a:pt x="87" y="113"/>
                    <a:pt x="87" y="107"/>
                  </a:cubicBezTo>
                  <a:cubicBezTo>
                    <a:pt x="87" y="101"/>
                    <a:pt x="92" y="96"/>
                    <a:pt x="98" y="96"/>
                  </a:cubicBezTo>
                  <a:cubicBezTo>
                    <a:pt x="104" y="96"/>
                    <a:pt x="108" y="101"/>
                    <a:pt x="108" y="107"/>
                  </a:cubicBezTo>
                  <a:cubicBezTo>
                    <a:pt x="108" y="113"/>
                    <a:pt x="104" y="118"/>
                    <a:pt x="98" y="118"/>
                  </a:cubicBezTo>
                  <a:close/>
                </a:path>
              </a:pathLst>
            </a:custGeom>
            <a:grpFill/>
            <a:ln>
              <a:solidFill>
                <a:srgbClr val="86BC25"/>
              </a:solidFill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12" name="Freeform 641"/>
            <p:cNvSpPr>
              <a:spLocks noEditPoints="1"/>
            </p:cNvSpPr>
            <p:nvPr/>
          </p:nvSpPr>
          <p:spPr bwMode="auto">
            <a:xfrm>
              <a:off x="4300" y="2260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solidFill>
                <a:srgbClr val="86BC25"/>
              </a:solidFill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  <p:grpSp>
        <p:nvGrpSpPr>
          <p:cNvPr id="113" name="Group 541"/>
          <p:cNvGrpSpPr>
            <a:grpSpLocks noChangeAspect="1"/>
          </p:cNvGrpSpPr>
          <p:nvPr/>
        </p:nvGrpSpPr>
        <p:grpSpPr bwMode="auto">
          <a:xfrm>
            <a:off x="4756080" y="2707191"/>
            <a:ext cx="250695" cy="250695"/>
            <a:chOff x="5326" y="2494"/>
            <a:chExt cx="340" cy="340"/>
          </a:xfrm>
          <a:solidFill>
            <a:schemeClr val="tx1"/>
          </a:solidFill>
        </p:grpSpPr>
        <p:sp>
          <p:nvSpPr>
            <p:cNvPr id="114" name="Freeform 542"/>
            <p:cNvSpPr>
              <a:spLocks noEditPoints="1"/>
            </p:cNvSpPr>
            <p:nvPr/>
          </p:nvSpPr>
          <p:spPr bwMode="auto">
            <a:xfrm>
              <a:off x="5430" y="2558"/>
              <a:ext cx="132" cy="212"/>
            </a:xfrm>
            <a:custGeom>
              <a:avLst/>
              <a:gdLst>
                <a:gd name="T0" fmla="*/ 99 w 199"/>
                <a:gd name="T1" fmla="*/ 0 h 320"/>
                <a:gd name="T2" fmla="*/ 99 w 199"/>
                <a:gd name="T3" fmla="*/ 0 h 320"/>
                <a:gd name="T4" fmla="*/ 99 w 199"/>
                <a:gd name="T5" fmla="*/ 0 h 320"/>
                <a:gd name="T6" fmla="*/ 99 w 199"/>
                <a:gd name="T7" fmla="*/ 0 h 320"/>
                <a:gd name="T8" fmla="*/ 98 w 199"/>
                <a:gd name="T9" fmla="*/ 0 h 320"/>
                <a:gd name="T10" fmla="*/ 0 w 199"/>
                <a:gd name="T11" fmla="*/ 95 h 320"/>
                <a:gd name="T12" fmla="*/ 19 w 199"/>
                <a:gd name="T13" fmla="*/ 158 h 320"/>
                <a:gd name="T14" fmla="*/ 45 w 199"/>
                <a:gd name="T15" fmla="*/ 213 h 320"/>
                <a:gd name="T16" fmla="*/ 45 w 199"/>
                <a:gd name="T17" fmla="*/ 245 h 320"/>
                <a:gd name="T18" fmla="*/ 46 w 199"/>
                <a:gd name="T19" fmla="*/ 246 h 320"/>
                <a:gd name="T20" fmla="*/ 45 w 199"/>
                <a:gd name="T21" fmla="*/ 247 h 320"/>
                <a:gd name="T22" fmla="*/ 56 w 199"/>
                <a:gd name="T23" fmla="*/ 311 h 320"/>
                <a:gd name="T24" fmla="*/ 67 w 199"/>
                <a:gd name="T25" fmla="*/ 320 h 320"/>
                <a:gd name="T26" fmla="*/ 131 w 199"/>
                <a:gd name="T27" fmla="*/ 320 h 320"/>
                <a:gd name="T28" fmla="*/ 141 w 199"/>
                <a:gd name="T29" fmla="*/ 311 h 320"/>
                <a:gd name="T30" fmla="*/ 152 w 199"/>
                <a:gd name="T31" fmla="*/ 247 h 320"/>
                <a:gd name="T32" fmla="*/ 152 w 199"/>
                <a:gd name="T33" fmla="*/ 246 h 320"/>
                <a:gd name="T34" fmla="*/ 152 w 199"/>
                <a:gd name="T35" fmla="*/ 245 h 320"/>
                <a:gd name="T36" fmla="*/ 152 w 199"/>
                <a:gd name="T37" fmla="*/ 213 h 320"/>
                <a:gd name="T38" fmla="*/ 179 w 199"/>
                <a:gd name="T39" fmla="*/ 158 h 320"/>
                <a:gd name="T40" fmla="*/ 199 w 199"/>
                <a:gd name="T41" fmla="*/ 95 h 320"/>
                <a:gd name="T42" fmla="*/ 99 w 199"/>
                <a:gd name="T43" fmla="*/ 0 h 320"/>
                <a:gd name="T44" fmla="*/ 122 w 199"/>
                <a:gd name="T45" fmla="*/ 298 h 320"/>
                <a:gd name="T46" fmla="*/ 76 w 199"/>
                <a:gd name="T47" fmla="*/ 298 h 320"/>
                <a:gd name="T48" fmla="*/ 69 w 199"/>
                <a:gd name="T49" fmla="*/ 256 h 320"/>
                <a:gd name="T50" fmla="*/ 129 w 199"/>
                <a:gd name="T51" fmla="*/ 256 h 320"/>
                <a:gd name="T52" fmla="*/ 122 w 199"/>
                <a:gd name="T53" fmla="*/ 298 h 320"/>
                <a:gd name="T54" fmla="*/ 161 w 199"/>
                <a:gd name="T55" fmla="*/ 147 h 320"/>
                <a:gd name="T56" fmla="*/ 131 w 199"/>
                <a:gd name="T57" fmla="*/ 213 h 320"/>
                <a:gd name="T58" fmla="*/ 131 w 199"/>
                <a:gd name="T59" fmla="*/ 234 h 320"/>
                <a:gd name="T60" fmla="*/ 109 w 199"/>
                <a:gd name="T61" fmla="*/ 234 h 320"/>
                <a:gd name="T62" fmla="*/ 109 w 199"/>
                <a:gd name="T63" fmla="*/ 153 h 320"/>
                <a:gd name="T64" fmla="*/ 128 w 199"/>
                <a:gd name="T65" fmla="*/ 135 h 320"/>
                <a:gd name="T66" fmla="*/ 128 w 199"/>
                <a:gd name="T67" fmla="*/ 120 h 320"/>
                <a:gd name="T68" fmla="*/ 112 w 199"/>
                <a:gd name="T69" fmla="*/ 120 h 320"/>
                <a:gd name="T70" fmla="*/ 99 w 199"/>
                <a:gd name="T71" fmla="*/ 134 h 320"/>
                <a:gd name="T72" fmla="*/ 85 w 199"/>
                <a:gd name="T73" fmla="*/ 120 h 320"/>
                <a:gd name="T74" fmla="*/ 70 w 199"/>
                <a:gd name="T75" fmla="*/ 120 h 320"/>
                <a:gd name="T76" fmla="*/ 70 w 199"/>
                <a:gd name="T77" fmla="*/ 135 h 320"/>
                <a:gd name="T78" fmla="*/ 88 w 199"/>
                <a:gd name="T79" fmla="*/ 153 h 320"/>
                <a:gd name="T80" fmla="*/ 88 w 199"/>
                <a:gd name="T81" fmla="*/ 234 h 320"/>
                <a:gd name="T82" fmla="*/ 67 w 199"/>
                <a:gd name="T83" fmla="*/ 234 h 320"/>
                <a:gd name="T84" fmla="*/ 67 w 199"/>
                <a:gd name="T85" fmla="*/ 213 h 320"/>
                <a:gd name="T86" fmla="*/ 37 w 199"/>
                <a:gd name="T87" fmla="*/ 146 h 320"/>
                <a:gd name="T88" fmla="*/ 21 w 199"/>
                <a:gd name="T89" fmla="*/ 95 h 320"/>
                <a:gd name="T90" fmla="*/ 99 w 199"/>
                <a:gd name="T91" fmla="*/ 21 h 320"/>
                <a:gd name="T92" fmla="*/ 177 w 199"/>
                <a:gd name="T93" fmla="*/ 95 h 320"/>
                <a:gd name="T94" fmla="*/ 161 w 199"/>
                <a:gd name="T95" fmla="*/ 147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9" h="320">
                  <a:moveTo>
                    <a:pt x="99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9" y="0"/>
                    <a:pt x="99" y="0"/>
                    <a:pt x="98" y="0"/>
                  </a:cubicBezTo>
                  <a:cubicBezTo>
                    <a:pt x="45" y="0"/>
                    <a:pt x="0" y="44"/>
                    <a:pt x="0" y="95"/>
                  </a:cubicBezTo>
                  <a:cubicBezTo>
                    <a:pt x="0" y="129"/>
                    <a:pt x="18" y="157"/>
                    <a:pt x="19" y="158"/>
                  </a:cubicBezTo>
                  <a:cubicBezTo>
                    <a:pt x="32" y="179"/>
                    <a:pt x="45" y="206"/>
                    <a:pt x="45" y="213"/>
                  </a:cubicBezTo>
                  <a:cubicBezTo>
                    <a:pt x="45" y="245"/>
                    <a:pt x="45" y="245"/>
                    <a:pt x="45" y="245"/>
                  </a:cubicBezTo>
                  <a:cubicBezTo>
                    <a:pt x="45" y="245"/>
                    <a:pt x="45" y="246"/>
                    <a:pt x="46" y="246"/>
                  </a:cubicBezTo>
                  <a:cubicBezTo>
                    <a:pt x="46" y="246"/>
                    <a:pt x="45" y="246"/>
                    <a:pt x="45" y="247"/>
                  </a:cubicBezTo>
                  <a:cubicBezTo>
                    <a:pt x="56" y="311"/>
                    <a:pt x="56" y="311"/>
                    <a:pt x="56" y="311"/>
                  </a:cubicBezTo>
                  <a:cubicBezTo>
                    <a:pt x="57" y="316"/>
                    <a:pt x="61" y="320"/>
                    <a:pt x="67" y="320"/>
                  </a:cubicBezTo>
                  <a:cubicBezTo>
                    <a:pt x="131" y="320"/>
                    <a:pt x="131" y="320"/>
                    <a:pt x="131" y="320"/>
                  </a:cubicBezTo>
                  <a:cubicBezTo>
                    <a:pt x="136" y="320"/>
                    <a:pt x="140" y="316"/>
                    <a:pt x="141" y="311"/>
                  </a:cubicBezTo>
                  <a:cubicBezTo>
                    <a:pt x="152" y="247"/>
                    <a:pt x="152" y="247"/>
                    <a:pt x="152" y="247"/>
                  </a:cubicBezTo>
                  <a:cubicBezTo>
                    <a:pt x="152" y="246"/>
                    <a:pt x="152" y="246"/>
                    <a:pt x="152" y="246"/>
                  </a:cubicBezTo>
                  <a:cubicBezTo>
                    <a:pt x="152" y="246"/>
                    <a:pt x="152" y="245"/>
                    <a:pt x="152" y="245"/>
                  </a:cubicBezTo>
                  <a:cubicBezTo>
                    <a:pt x="152" y="213"/>
                    <a:pt x="152" y="213"/>
                    <a:pt x="152" y="213"/>
                  </a:cubicBezTo>
                  <a:cubicBezTo>
                    <a:pt x="152" y="206"/>
                    <a:pt x="166" y="179"/>
                    <a:pt x="179" y="158"/>
                  </a:cubicBezTo>
                  <a:cubicBezTo>
                    <a:pt x="180" y="157"/>
                    <a:pt x="199" y="129"/>
                    <a:pt x="199" y="95"/>
                  </a:cubicBezTo>
                  <a:cubicBezTo>
                    <a:pt x="199" y="44"/>
                    <a:pt x="153" y="0"/>
                    <a:pt x="99" y="0"/>
                  </a:cubicBezTo>
                  <a:close/>
                  <a:moveTo>
                    <a:pt x="122" y="298"/>
                  </a:moveTo>
                  <a:cubicBezTo>
                    <a:pt x="76" y="298"/>
                    <a:pt x="76" y="298"/>
                    <a:pt x="76" y="298"/>
                  </a:cubicBezTo>
                  <a:cubicBezTo>
                    <a:pt x="69" y="256"/>
                    <a:pt x="69" y="256"/>
                    <a:pt x="69" y="256"/>
                  </a:cubicBezTo>
                  <a:cubicBezTo>
                    <a:pt x="129" y="256"/>
                    <a:pt x="129" y="256"/>
                    <a:pt x="129" y="256"/>
                  </a:cubicBezTo>
                  <a:lnTo>
                    <a:pt x="122" y="298"/>
                  </a:lnTo>
                  <a:close/>
                  <a:moveTo>
                    <a:pt x="161" y="147"/>
                  </a:moveTo>
                  <a:cubicBezTo>
                    <a:pt x="154" y="158"/>
                    <a:pt x="131" y="196"/>
                    <a:pt x="131" y="213"/>
                  </a:cubicBezTo>
                  <a:cubicBezTo>
                    <a:pt x="131" y="234"/>
                    <a:pt x="131" y="234"/>
                    <a:pt x="131" y="234"/>
                  </a:cubicBezTo>
                  <a:cubicBezTo>
                    <a:pt x="109" y="234"/>
                    <a:pt x="109" y="234"/>
                    <a:pt x="109" y="234"/>
                  </a:cubicBezTo>
                  <a:cubicBezTo>
                    <a:pt x="109" y="153"/>
                    <a:pt x="109" y="153"/>
                    <a:pt x="109" y="153"/>
                  </a:cubicBezTo>
                  <a:cubicBezTo>
                    <a:pt x="128" y="135"/>
                    <a:pt x="128" y="135"/>
                    <a:pt x="128" y="135"/>
                  </a:cubicBezTo>
                  <a:cubicBezTo>
                    <a:pt x="132" y="131"/>
                    <a:pt x="132" y="124"/>
                    <a:pt x="128" y="120"/>
                  </a:cubicBezTo>
                  <a:cubicBezTo>
                    <a:pt x="123" y="116"/>
                    <a:pt x="117" y="116"/>
                    <a:pt x="112" y="120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85" y="120"/>
                    <a:pt x="85" y="120"/>
                    <a:pt x="85" y="120"/>
                  </a:cubicBezTo>
                  <a:cubicBezTo>
                    <a:pt x="81" y="116"/>
                    <a:pt x="74" y="116"/>
                    <a:pt x="70" y="120"/>
                  </a:cubicBezTo>
                  <a:cubicBezTo>
                    <a:pt x="66" y="124"/>
                    <a:pt x="66" y="131"/>
                    <a:pt x="70" y="135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234"/>
                    <a:pt x="88" y="234"/>
                    <a:pt x="88" y="234"/>
                  </a:cubicBezTo>
                  <a:cubicBezTo>
                    <a:pt x="67" y="234"/>
                    <a:pt x="67" y="234"/>
                    <a:pt x="67" y="234"/>
                  </a:cubicBezTo>
                  <a:cubicBezTo>
                    <a:pt x="67" y="213"/>
                    <a:pt x="67" y="213"/>
                    <a:pt x="67" y="213"/>
                  </a:cubicBezTo>
                  <a:cubicBezTo>
                    <a:pt x="67" y="196"/>
                    <a:pt x="44" y="158"/>
                    <a:pt x="37" y="146"/>
                  </a:cubicBezTo>
                  <a:cubicBezTo>
                    <a:pt x="37" y="146"/>
                    <a:pt x="21" y="123"/>
                    <a:pt x="21" y="95"/>
                  </a:cubicBezTo>
                  <a:cubicBezTo>
                    <a:pt x="21" y="55"/>
                    <a:pt x="57" y="21"/>
                    <a:pt x="99" y="21"/>
                  </a:cubicBezTo>
                  <a:cubicBezTo>
                    <a:pt x="141" y="21"/>
                    <a:pt x="177" y="55"/>
                    <a:pt x="177" y="95"/>
                  </a:cubicBezTo>
                  <a:cubicBezTo>
                    <a:pt x="177" y="122"/>
                    <a:pt x="161" y="146"/>
                    <a:pt x="161" y="1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115" name="Freeform 543"/>
            <p:cNvSpPr>
              <a:spLocks noEditPoints="1"/>
            </p:cNvSpPr>
            <p:nvPr/>
          </p:nvSpPr>
          <p:spPr bwMode="auto">
            <a:xfrm>
              <a:off x="5326" y="2494"/>
              <a:ext cx="340" cy="340"/>
            </a:xfrm>
            <a:custGeom>
              <a:avLst/>
              <a:gdLst>
                <a:gd name="T0" fmla="*/ 256 w 512"/>
                <a:gd name="T1" fmla="*/ 21 h 512"/>
                <a:gd name="T2" fmla="*/ 490 w 512"/>
                <a:gd name="T3" fmla="*/ 256 h 512"/>
                <a:gd name="T4" fmla="*/ 256 w 512"/>
                <a:gd name="T5" fmla="*/ 490 h 512"/>
                <a:gd name="T6" fmla="*/ 21 w 512"/>
                <a:gd name="T7" fmla="*/ 256 h 512"/>
                <a:gd name="T8" fmla="*/ 256 w 512"/>
                <a:gd name="T9" fmla="*/ 21 h 512"/>
                <a:gd name="T10" fmla="*/ 256 w 512"/>
                <a:gd name="T11" fmla="*/ 0 h 512"/>
                <a:gd name="T12" fmla="*/ 0 w 512"/>
                <a:gd name="T13" fmla="*/ 256 h 512"/>
                <a:gd name="T14" fmla="*/ 256 w 512"/>
                <a:gd name="T15" fmla="*/ 512 h 512"/>
                <a:gd name="T16" fmla="*/ 512 w 512"/>
                <a:gd name="T17" fmla="*/ 256 h 512"/>
                <a:gd name="T18" fmla="*/ 256 w 512"/>
                <a:gd name="T1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21"/>
                  </a:moveTo>
                  <a:cubicBezTo>
                    <a:pt x="385" y="21"/>
                    <a:pt x="490" y="126"/>
                    <a:pt x="490" y="256"/>
                  </a:cubicBezTo>
                  <a:cubicBezTo>
                    <a:pt x="490" y="385"/>
                    <a:pt x="385" y="490"/>
                    <a:pt x="256" y="490"/>
                  </a:cubicBezTo>
                  <a:cubicBezTo>
                    <a:pt x="126" y="490"/>
                    <a:pt x="21" y="385"/>
                    <a:pt x="21" y="256"/>
                  </a:cubicBezTo>
                  <a:cubicBezTo>
                    <a:pt x="21" y="126"/>
                    <a:pt x="126" y="21"/>
                    <a:pt x="256" y="21"/>
                  </a:cubicBezTo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/>
                <a:ea typeface="华文细黑" panose="02010600040101010101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/>
      </p:transition>
    </mc:Choice>
    <mc:Fallback>
      <p:transition spd="slow">
        <p:spli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5780" y="257810"/>
            <a:ext cx="1605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项目角色</a:t>
            </a:r>
            <a:endParaRPr lang="zh-CN" altLang="en-US" sz="28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70" name="Group 1"/>
          <p:cNvGrpSpPr/>
          <p:nvPr/>
        </p:nvGrpSpPr>
        <p:grpSpPr bwMode="auto">
          <a:xfrm>
            <a:off x="4827692" y="886500"/>
            <a:ext cx="2535585" cy="834000"/>
            <a:chOff x="3341823" y="692696"/>
            <a:chExt cx="2255419" cy="834000"/>
          </a:xfrm>
        </p:grpSpPr>
        <p:sp>
          <p:nvSpPr>
            <p:cNvPr id="71" name="Rectangle 3"/>
            <p:cNvSpPr>
              <a:spLocks noChangeArrowheads="1"/>
            </p:cNvSpPr>
            <p:nvPr/>
          </p:nvSpPr>
          <p:spPr bwMode="auto">
            <a:xfrm>
              <a:off x="3341823" y="911819"/>
              <a:ext cx="2255419" cy="614877"/>
            </a:xfrm>
            <a:prstGeom prst="rect">
              <a:avLst/>
            </a:prstGeom>
            <a:ln w="3175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负责整体把控，关键事项决议</a:t>
              </a:r>
              <a:endParaRPr lang="zh-CN" altLang="en-US" sz="14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2" name="Rectangle 3"/>
            <p:cNvSpPr>
              <a:spLocks noChangeArrowheads="1"/>
            </p:cNvSpPr>
            <p:nvPr/>
          </p:nvSpPr>
          <p:spPr bwMode="auto">
            <a:xfrm>
              <a:off x="3341823" y="692696"/>
              <a:ext cx="2255419" cy="239713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rPr>
                <a:t>项目决策委员会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endParaRPr>
            </a:p>
          </p:txBody>
        </p:sp>
      </p:grpSp>
      <p:grpSp>
        <p:nvGrpSpPr>
          <p:cNvPr id="73" name="Group 6"/>
          <p:cNvGrpSpPr/>
          <p:nvPr/>
        </p:nvGrpSpPr>
        <p:grpSpPr bwMode="auto">
          <a:xfrm>
            <a:off x="4827563" y="1956529"/>
            <a:ext cx="2534920" cy="847725"/>
            <a:chOff x="3197705" y="844550"/>
            <a:chExt cx="2534450" cy="847725"/>
          </a:xfrm>
        </p:grpSpPr>
        <p:sp>
          <p:nvSpPr>
            <p:cNvPr id="74" name="Rectangle 7"/>
            <p:cNvSpPr>
              <a:spLocks noChangeArrowheads="1"/>
            </p:cNvSpPr>
            <p:nvPr/>
          </p:nvSpPr>
          <p:spPr bwMode="auto">
            <a:xfrm>
              <a:off x="3197705" y="1085850"/>
              <a:ext cx="2534450" cy="606425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负责项目范围和重点内容管控；</a:t>
              </a:r>
              <a:endParaRPr lang="zh-CN" altLang="en-US" sz="1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5" name="Rectangle 3"/>
            <p:cNvSpPr>
              <a:spLocks noChangeArrowheads="1"/>
            </p:cNvSpPr>
            <p:nvPr/>
          </p:nvSpPr>
          <p:spPr bwMode="auto">
            <a:xfrm>
              <a:off x="3198975" y="844550"/>
              <a:ext cx="2532546" cy="240030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rgbClr val="56933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rPr>
                <a:t>项目总监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endParaRPr>
            </a:p>
          </p:txBody>
        </p:sp>
      </p:grpSp>
      <p:cxnSp>
        <p:nvCxnSpPr>
          <p:cNvPr id="76" name="直接连接符 57"/>
          <p:cNvCxnSpPr>
            <a:cxnSpLocks noChangeShapeType="1"/>
          </p:cNvCxnSpPr>
          <p:nvPr/>
        </p:nvCxnSpPr>
        <p:spPr bwMode="auto">
          <a:xfrm>
            <a:off x="6096310" y="1720500"/>
            <a:ext cx="3387" cy="236220"/>
          </a:xfrm>
          <a:prstGeom prst="line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77" name="直接连接符 57"/>
          <p:cNvCxnSpPr>
            <a:cxnSpLocks noChangeShapeType="1"/>
          </p:cNvCxnSpPr>
          <p:nvPr/>
        </p:nvCxnSpPr>
        <p:spPr bwMode="auto">
          <a:xfrm>
            <a:off x="6099598" y="2804160"/>
            <a:ext cx="0" cy="241300"/>
          </a:xfrm>
          <a:prstGeom prst="line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grpSp>
        <p:nvGrpSpPr>
          <p:cNvPr id="78" name="Group 16"/>
          <p:cNvGrpSpPr/>
          <p:nvPr/>
        </p:nvGrpSpPr>
        <p:grpSpPr bwMode="auto">
          <a:xfrm>
            <a:off x="7915844" y="1956558"/>
            <a:ext cx="3659505" cy="1696720"/>
            <a:chOff x="3364812" y="858563"/>
            <a:chExt cx="2760200" cy="1337244"/>
          </a:xfrm>
        </p:grpSpPr>
        <p:sp>
          <p:nvSpPr>
            <p:cNvPr id="79" name="Rectangle 17"/>
            <p:cNvSpPr>
              <a:spLocks noChangeArrowheads="1"/>
            </p:cNvSpPr>
            <p:nvPr/>
          </p:nvSpPr>
          <p:spPr bwMode="auto">
            <a:xfrm>
              <a:off x="3364812" y="1103291"/>
              <a:ext cx="2760200" cy="1092516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tIns="45714" rIns="0" bIns="45714" anchor="ctr"/>
            <a:p>
              <a:pPr indent="0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buFont typeface="Arial" panose="020B0604020202020204" pitchFamily="34" charset="0"/>
                <a:buNone/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明确重点内容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，参与方案设计，把关指标体系设计，确认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需求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方案（参与评审），保障后续运营。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0" name="Rectangle 3"/>
            <p:cNvSpPr>
              <a:spLocks noChangeArrowheads="1"/>
            </p:cNvSpPr>
            <p:nvPr/>
          </p:nvSpPr>
          <p:spPr bwMode="auto">
            <a:xfrm>
              <a:off x="3365291" y="858563"/>
              <a:ext cx="2759721" cy="239723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rgbClr val="56933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zh-CN" altLang="en-US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评审组</a:t>
              </a:r>
              <a:endPara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6" name="Group 6"/>
          <p:cNvGrpSpPr/>
          <p:nvPr/>
        </p:nvGrpSpPr>
        <p:grpSpPr bwMode="auto">
          <a:xfrm>
            <a:off x="4827563" y="3052328"/>
            <a:ext cx="2536190" cy="831850"/>
            <a:chOff x="3197705" y="860425"/>
            <a:chExt cx="2535720" cy="831850"/>
          </a:xfrm>
        </p:grpSpPr>
        <p:sp>
          <p:nvSpPr>
            <p:cNvPr id="87" name="Rectangle 7"/>
            <p:cNvSpPr>
              <a:spLocks noChangeArrowheads="1"/>
            </p:cNvSpPr>
            <p:nvPr/>
          </p:nvSpPr>
          <p:spPr bwMode="auto">
            <a:xfrm>
              <a:off x="3197705" y="1085850"/>
              <a:ext cx="2535720" cy="606425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负责项目人员调配和具体现场执行，保证项目顺利进行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;</a:t>
              </a:r>
              <a:endPara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8" name="Rectangle 3"/>
            <p:cNvSpPr>
              <a:spLocks noChangeArrowheads="1"/>
            </p:cNvSpPr>
            <p:nvPr/>
          </p:nvSpPr>
          <p:spPr bwMode="auto">
            <a:xfrm>
              <a:off x="3198975" y="860425"/>
              <a:ext cx="2533815" cy="224790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rgbClr val="56933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rPr>
                <a:t>项目经理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endParaRPr>
            </a:p>
          </p:txBody>
        </p:sp>
      </p:grpSp>
      <p:sp>
        <p:nvSpPr>
          <p:cNvPr id="136" name="Rectangle 29"/>
          <p:cNvSpPr>
            <a:spLocks noChangeArrowheads="1"/>
          </p:cNvSpPr>
          <p:nvPr/>
        </p:nvSpPr>
        <p:spPr bwMode="auto">
          <a:xfrm>
            <a:off x="1633855" y="4358005"/>
            <a:ext cx="9202420" cy="474980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 eaLnBrk="1" hangingPunct="1">
              <a:lnSpc>
                <a:spcPct val="120000"/>
              </a:lnSpc>
              <a:buClr>
                <a:schemeClr val="accent2"/>
              </a:buClr>
              <a:buSzPct val="50000"/>
              <a:defRPr/>
            </a:pPr>
            <a:r>
              <a:rPr lang="zh-CN" altLang="en-US" sz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明确重点内容</a:t>
            </a: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，参与方案设计，把关指标体系设计，确认</a:t>
            </a:r>
            <a:r>
              <a:rPr lang="zh-CN" altLang="en-US" sz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需求</a:t>
            </a: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方案，提供测试培训支持，保障后续运营；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Rectangle 3"/>
          <p:cNvSpPr>
            <a:spLocks noChangeArrowheads="1"/>
          </p:cNvSpPr>
          <p:nvPr/>
        </p:nvSpPr>
        <p:spPr bwMode="auto">
          <a:xfrm>
            <a:off x="1633855" y="4043045"/>
            <a:ext cx="1047115" cy="314960"/>
          </a:xfrm>
          <a:prstGeom prst="rect">
            <a:avLst/>
          </a:prstGeom>
          <a:solidFill>
            <a:srgbClr val="569337"/>
          </a:solidFill>
          <a:ln w="3175">
            <a:solidFill>
              <a:srgbClr val="569337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0286" tIns="25142" rIns="50286" bIns="25142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寻源中心</a:t>
            </a:r>
            <a:endParaRPr lang="zh-CN" altLang="en-US" sz="1335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楷体" panose="02010600040101010101" charset="-122"/>
            </a:endParaRPr>
          </a:p>
        </p:txBody>
      </p:sp>
      <p:sp>
        <p:nvSpPr>
          <p:cNvPr id="160" name="TextBox 79"/>
          <p:cNvSpPr txBox="1">
            <a:spLocks noChangeArrowheads="1"/>
          </p:cNvSpPr>
          <p:nvPr/>
        </p:nvSpPr>
        <p:spPr bwMode="auto">
          <a:xfrm>
            <a:off x="304995" y="4495651"/>
            <a:ext cx="79248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</a:rPr>
              <a:t>责任人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TextBox 79"/>
          <p:cNvSpPr txBox="1">
            <a:spLocks noChangeArrowheads="1"/>
          </p:cNvSpPr>
          <p:nvPr/>
        </p:nvSpPr>
        <p:spPr bwMode="auto">
          <a:xfrm>
            <a:off x="204030" y="5023336"/>
            <a:ext cx="99568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</a:rPr>
              <a:t>关键用户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Rectangle 3"/>
          <p:cNvSpPr>
            <a:spLocks noChangeArrowheads="1"/>
          </p:cNvSpPr>
          <p:nvPr/>
        </p:nvSpPr>
        <p:spPr bwMode="auto">
          <a:xfrm>
            <a:off x="2858135" y="4043045"/>
            <a:ext cx="1214120" cy="314960"/>
          </a:xfrm>
          <a:prstGeom prst="rect">
            <a:avLst/>
          </a:prstGeom>
          <a:solidFill>
            <a:srgbClr val="569337"/>
          </a:solidFill>
          <a:ln w="3175">
            <a:solidFill>
              <a:srgbClr val="569337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0286" tIns="25142" rIns="50286" bIns="25142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器件认证中心</a:t>
            </a:r>
            <a:endParaRPr lang="zh-CN" altLang="en-US" sz="1335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楷体" panose="02010600040101010101" charset="-122"/>
            </a:endParaRPr>
          </a:p>
        </p:txBody>
      </p:sp>
      <p:sp>
        <p:nvSpPr>
          <p:cNvPr id="175" name="Rectangle 3"/>
          <p:cNvSpPr>
            <a:spLocks noChangeArrowheads="1"/>
          </p:cNvSpPr>
          <p:nvPr/>
        </p:nvSpPr>
        <p:spPr bwMode="auto">
          <a:xfrm>
            <a:off x="4280535" y="4043045"/>
            <a:ext cx="1214120" cy="314960"/>
          </a:xfrm>
          <a:prstGeom prst="rect">
            <a:avLst/>
          </a:prstGeom>
          <a:solidFill>
            <a:srgbClr val="569337"/>
          </a:solidFill>
          <a:ln w="3175">
            <a:solidFill>
              <a:srgbClr val="569337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0286" tIns="25142" rIns="50286" bIns="25142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配额证中心</a:t>
            </a:r>
            <a:endParaRPr lang="zh-CN" altLang="en-US" sz="1335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楷体" panose="02010600040101010101" charset="-122"/>
            </a:endParaRPr>
          </a:p>
        </p:txBody>
      </p:sp>
      <p:sp>
        <p:nvSpPr>
          <p:cNvPr id="180" name="Rectangle 3"/>
          <p:cNvSpPr>
            <a:spLocks noChangeArrowheads="1"/>
          </p:cNvSpPr>
          <p:nvPr/>
        </p:nvSpPr>
        <p:spPr bwMode="auto">
          <a:xfrm>
            <a:off x="5718175" y="4043045"/>
            <a:ext cx="1055370" cy="314960"/>
          </a:xfrm>
          <a:prstGeom prst="rect">
            <a:avLst/>
          </a:prstGeom>
          <a:solidFill>
            <a:srgbClr val="569337"/>
          </a:solidFill>
          <a:ln w="3175">
            <a:solidFill>
              <a:srgbClr val="569337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0286" tIns="25142" rIns="50286" bIns="25142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计划中心</a:t>
            </a:r>
            <a:endParaRPr lang="zh-CN" altLang="en-US" sz="1335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楷体" panose="02010600040101010101" charset="-122"/>
            </a:endParaRPr>
          </a:p>
        </p:txBody>
      </p:sp>
      <p:sp>
        <p:nvSpPr>
          <p:cNvPr id="187" name="Rectangle 3"/>
          <p:cNvSpPr>
            <a:spLocks noChangeArrowheads="1"/>
          </p:cNvSpPr>
          <p:nvPr/>
        </p:nvSpPr>
        <p:spPr bwMode="auto">
          <a:xfrm>
            <a:off x="6944995" y="4043045"/>
            <a:ext cx="1214120" cy="314960"/>
          </a:xfrm>
          <a:prstGeom prst="rect">
            <a:avLst/>
          </a:prstGeom>
          <a:solidFill>
            <a:srgbClr val="569337"/>
          </a:solidFill>
          <a:ln w="3175">
            <a:solidFill>
              <a:srgbClr val="569337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0286" tIns="25142" rIns="50286" bIns="25142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执行采购中心</a:t>
            </a:r>
            <a:endParaRPr lang="zh-CN" altLang="en-US" sz="1335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楷体" panose="02010600040101010101" charset="-122"/>
            </a:endParaRPr>
          </a:p>
        </p:txBody>
      </p:sp>
      <p:sp>
        <p:nvSpPr>
          <p:cNvPr id="202" name="Rectangle 3"/>
          <p:cNvSpPr>
            <a:spLocks noChangeArrowheads="1"/>
          </p:cNvSpPr>
          <p:nvPr/>
        </p:nvSpPr>
        <p:spPr bwMode="auto">
          <a:xfrm>
            <a:off x="8413115" y="4043045"/>
            <a:ext cx="1214120" cy="314960"/>
          </a:xfrm>
          <a:prstGeom prst="rect">
            <a:avLst/>
          </a:prstGeom>
          <a:solidFill>
            <a:srgbClr val="569337"/>
          </a:solidFill>
          <a:ln w="3175">
            <a:solidFill>
              <a:srgbClr val="569337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0286" tIns="25142" rIns="50286" bIns="25142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物流关务中心</a:t>
            </a:r>
            <a:endParaRPr lang="zh-CN" altLang="en-US" sz="1335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楷体" panose="02010600040101010101" charset="-122"/>
            </a:endParaRPr>
          </a:p>
        </p:txBody>
      </p:sp>
      <p:sp>
        <p:nvSpPr>
          <p:cNvPr id="207" name="Rectangle 3"/>
          <p:cNvSpPr>
            <a:spLocks noChangeArrowheads="1"/>
          </p:cNvSpPr>
          <p:nvPr/>
        </p:nvSpPr>
        <p:spPr bwMode="auto">
          <a:xfrm>
            <a:off x="9881235" y="4043045"/>
            <a:ext cx="954405" cy="314960"/>
          </a:xfrm>
          <a:prstGeom prst="rect">
            <a:avLst/>
          </a:prstGeom>
          <a:solidFill>
            <a:srgbClr val="569337"/>
          </a:solidFill>
          <a:ln w="3175">
            <a:solidFill>
              <a:srgbClr val="569337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0286" tIns="25142" rIns="50286" bIns="25142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制造中心</a:t>
            </a:r>
            <a:endParaRPr lang="zh-CN" altLang="en-US" sz="1335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华文楷体" panose="02010600040101010101" charset="-122"/>
            </a:endParaRPr>
          </a:p>
        </p:txBody>
      </p:sp>
      <p:sp>
        <p:nvSpPr>
          <p:cNvPr id="210" name="TextBox 79"/>
          <p:cNvSpPr txBox="1">
            <a:spLocks noChangeArrowheads="1"/>
          </p:cNvSpPr>
          <p:nvPr/>
        </p:nvSpPr>
        <p:spPr bwMode="auto">
          <a:xfrm>
            <a:off x="204030" y="5672941"/>
            <a:ext cx="99568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</a:rPr>
              <a:t>综合管理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1" name="Group 16"/>
          <p:cNvGrpSpPr/>
          <p:nvPr/>
        </p:nvGrpSpPr>
        <p:grpSpPr bwMode="auto">
          <a:xfrm>
            <a:off x="620964" y="1978148"/>
            <a:ext cx="3659505" cy="1517016"/>
            <a:chOff x="3364812" y="858563"/>
            <a:chExt cx="2760200" cy="1195613"/>
          </a:xfrm>
        </p:grpSpPr>
        <p:sp>
          <p:nvSpPr>
            <p:cNvPr id="212" name="Rectangle 17"/>
            <p:cNvSpPr>
              <a:spLocks noChangeArrowheads="1"/>
            </p:cNvSpPr>
            <p:nvPr/>
          </p:nvSpPr>
          <p:spPr bwMode="auto">
            <a:xfrm>
              <a:off x="3364812" y="1103291"/>
              <a:ext cx="2760200" cy="950885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tIns="45714" rIns="0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负责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BI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方案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的调研、需求总结、方案设计、环境搭建、人员培训、开发标准、系统开发、内部测试、和上线运维；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3" name="Rectangle 3"/>
            <p:cNvSpPr>
              <a:spLocks noChangeArrowheads="1"/>
            </p:cNvSpPr>
            <p:nvPr/>
          </p:nvSpPr>
          <p:spPr bwMode="auto">
            <a:xfrm>
              <a:off x="3365291" y="858563"/>
              <a:ext cx="2759721" cy="239723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rgbClr val="56933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en-US" altLang="zh-CN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IT</a:t>
              </a:r>
              <a:r>
                <a:rPr lang="zh-CN" altLang="en-US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组</a:t>
              </a:r>
              <a:endPara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19" name="TextBox 79"/>
          <p:cNvSpPr txBox="1">
            <a:spLocks noChangeArrowheads="1"/>
          </p:cNvSpPr>
          <p:nvPr/>
        </p:nvSpPr>
        <p:spPr bwMode="auto">
          <a:xfrm>
            <a:off x="407230" y="6231106"/>
            <a:ext cx="58928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财务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9"/>
          <p:cNvSpPr>
            <a:spLocks noChangeArrowheads="1"/>
          </p:cNvSpPr>
          <p:nvPr/>
        </p:nvSpPr>
        <p:spPr bwMode="auto">
          <a:xfrm>
            <a:off x="1633220" y="4954270"/>
            <a:ext cx="9202420" cy="474980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协助</a:t>
            </a:r>
            <a:r>
              <a:rPr lang="en-US" altLang="zh-CN" sz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</a:t>
            </a:r>
            <a:r>
              <a:rPr lang="zh-CN" altLang="en-US" sz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调研，协助报表</a:t>
            </a: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梳理，</a:t>
            </a:r>
            <a:r>
              <a:rPr lang="zh-CN" altLang="en-US" sz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参与</a:t>
            </a: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方案设计，指标体系讨论，提供指标取数逻辑，负责用户测试和用户培训；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29"/>
          <p:cNvSpPr>
            <a:spLocks noChangeArrowheads="1"/>
          </p:cNvSpPr>
          <p:nvPr/>
        </p:nvSpPr>
        <p:spPr bwMode="auto">
          <a:xfrm>
            <a:off x="1633220" y="5535295"/>
            <a:ext cx="9202420" cy="474980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重点参与项目，参与</a:t>
            </a:r>
            <a:r>
              <a:rPr lang="en-US" altLang="zh-CN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BI</a:t>
            </a: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调研，协助报表梳理，参与方案设计，指标体系确认，组织测试和用户培训；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29"/>
          <p:cNvSpPr>
            <a:spLocks noChangeArrowheads="1"/>
          </p:cNvSpPr>
          <p:nvPr/>
        </p:nvSpPr>
        <p:spPr bwMode="auto">
          <a:xfrm>
            <a:off x="1633220" y="6162675"/>
            <a:ext cx="9202420" cy="474980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0000"/>
              <a:defRPr/>
            </a:pP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协助报表梳理，参与指标体系讨论，以财务视角评审业务方案，提供测试协助；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615" y="330200"/>
            <a:ext cx="1102995" cy="63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21665" y="330200"/>
            <a:ext cx="1605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项目成员</a:t>
            </a:r>
            <a:endParaRPr lang="zh-CN" altLang="en-US" sz="28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70" name="Group 1"/>
          <p:cNvGrpSpPr/>
          <p:nvPr/>
        </p:nvGrpSpPr>
        <p:grpSpPr bwMode="auto">
          <a:xfrm>
            <a:off x="4828327" y="678220"/>
            <a:ext cx="2535585" cy="834000"/>
            <a:chOff x="3341823" y="692696"/>
            <a:chExt cx="2255419" cy="834000"/>
          </a:xfrm>
        </p:grpSpPr>
        <p:sp>
          <p:nvSpPr>
            <p:cNvPr id="71" name="Rectangle 3"/>
            <p:cNvSpPr>
              <a:spLocks noChangeArrowheads="1"/>
            </p:cNvSpPr>
            <p:nvPr/>
          </p:nvSpPr>
          <p:spPr bwMode="auto">
            <a:xfrm>
              <a:off x="3341823" y="911819"/>
              <a:ext cx="2255419" cy="614877"/>
            </a:xfrm>
            <a:prstGeom prst="rect">
              <a:avLst/>
            </a:prstGeom>
            <a:ln w="3175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何丽梅、于伟、刘树华、张长春、周莉莉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Rectangle 3"/>
            <p:cNvSpPr>
              <a:spLocks noChangeArrowheads="1"/>
            </p:cNvSpPr>
            <p:nvPr/>
          </p:nvSpPr>
          <p:spPr bwMode="auto">
            <a:xfrm>
              <a:off x="3341823" y="692696"/>
              <a:ext cx="2255419" cy="239713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rPr>
                <a:t>项目决策委员会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endParaRPr>
            </a:p>
          </p:txBody>
        </p:sp>
      </p:grpSp>
      <p:grpSp>
        <p:nvGrpSpPr>
          <p:cNvPr id="73" name="Group 6"/>
          <p:cNvGrpSpPr/>
          <p:nvPr/>
        </p:nvGrpSpPr>
        <p:grpSpPr bwMode="auto">
          <a:xfrm>
            <a:off x="4972343" y="1748249"/>
            <a:ext cx="2255837" cy="847513"/>
            <a:chOff x="3341823" y="844550"/>
            <a:chExt cx="2255419" cy="847513"/>
          </a:xfrm>
        </p:grpSpPr>
        <p:sp>
          <p:nvSpPr>
            <p:cNvPr id="74" name="Rectangle 7"/>
            <p:cNvSpPr>
              <a:spLocks noChangeArrowheads="1"/>
            </p:cNvSpPr>
            <p:nvPr/>
          </p:nvSpPr>
          <p:spPr bwMode="auto">
            <a:xfrm>
              <a:off x="3341823" y="1085850"/>
              <a:ext cx="2255102" cy="606213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供应链：</a:t>
              </a: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张琴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IT:   </a:t>
              </a: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马兰军</a:t>
              </a:r>
              <a:endPara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5" name="Rectangle 3"/>
            <p:cNvSpPr>
              <a:spLocks noChangeArrowheads="1"/>
            </p:cNvSpPr>
            <p:nvPr/>
          </p:nvSpPr>
          <p:spPr bwMode="auto">
            <a:xfrm>
              <a:off x="3341823" y="844550"/>
              <a:ext cx="2255419" cy="239713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rgbClr val="56933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rPr>
                <a:t>项目总监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endParaRPr>
            </a:p>
          </p:txBody>
        </p:sp>
      </p:grpSp>
      <p:cxnSp>
        <p:nvCxnSpPr>
          <p:cNvPr id="76" name="直接连接符 57"/>
          <p:cNvCxnSpPr>
            <a:cxnSpLocks noChangeShapeType="1"/>
          </p:cNvCxnSpPr>
          <p:nvPr/>
        </p:nvCxnSpPr>
        <p:spPr bwMode="auto">
          <a:xfrm>
            <a:off x="6096945" y="1512220"/>
            <a:ext cx="3387" cy="236220"/>
          </a:xfrm>
          <a:prstGeom prst="line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77" name="直接连接符 57"/>
          <p:cNvCxnSpPr>
            <a:cxnSpLocks noChangeShapeType="1"/>
          </p:cNvCxnSpPr>
          <p:nvPr/>
        </p:nvCxnSpPr>
        <p:spPr bwMode="auto">
          <a:xfrm>
            <a:off x="6100233" y="2595880"/>
            <a:ext cx="0" cy="241300"/>
          </a:xfrm>
          <a:prstGeom prst="line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grpSp>
        <p:nvGrpSpPr>
          <p:cNvPr id="78" name="Group 16"/>
          <p:cNvGrpSpPr/>
          <p:nvPr/>
        </p:nvGrpSpPr>
        <p:grpSpPr bwMode="auto">
          <a:xfrm>
            <a:off x="7916479" y="1748278"/>
            <a:ext cx="3659505" cy="1696720"/>
            <a:chOff x="3364812" y="858563"/>
            <a:chExt cx="2760200" cy="1337244"/>
          </a:xfrm>
        </p:grpSpPr>
        <p:sp>
          <p:nvSpPr>
            <p:cNvPr id="79" name="Rectangle 17"/>
            <p:cNvSpPr>
              <a:spLocks noChangeArrowheads="1"/>
            </p:cNvSpPr>
            <p:nvPr/>
          </p:nvSpPr>
          <p:spPr bwMode="auto">
            <a:xfrm>
              <a:off x="3364812" y="1103291"/>
              <a:ext cx="2760200" cy="1092516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tIns="45714" rIns="0" bIns="45714" anchor="ctr"/>
            <a:p>
              <a:pPr indent="0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buFont typeface="Arial" panose="020B0604020202020204" pitchFamily="34" charset="0"/>
                <a:buNone/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周莉莉（采购平台）  张长春（制造平台）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buFont typeface="Arial" panose="020B0604020202020204" pitchFamily="34" charset="0"/>
                <a:buNone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操亮亮（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策采中心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  江云（部件制造中心）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buFont typeface="Arial" panose="020B0604020202020204" pitchFamily="34" charset="0"/>
                <a:buNone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刘梅凤（交付中心）  皮厚斌（整机制造中心）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buFont typeface="Arial" panose="020B0604020202020204" pitchFamily="34" charset="0"/>
                <a:buNone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徐慧（综合管理改善）曹苗（财务）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0" name="Rectangle 3"/>
            <p:cNvSpPr>
              <a:spLocks noChangeArrowheads="1"/>
            </p:cNvSpPr>
            <p:nvPr/>
          </p:nvSpPr>
          <p:spPr bwMode="auto">
            <a:xfrm>
              <a:off x="3365291" y="858563"/>
              <a:ext cx="2759721" cy="239723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rgbClr val="56933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zh-CN" altLang="en-US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评审组</a:t>
              </a:r>
              <a:endPara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6" name="Group 6"/>
          <p:cNvGrpSpPr/>
          <p:nvPr/>
        </p:nvGrpSpPr>
        <p:grpSpPr bwMode="auto">
          <a:xfrm>
            <a:off x="4972343" y="2837063"/>
            <a:ext cx="2255837" cy="847513"/>
            <a:chOff x="3341823" y="844550"/>
            <a:chExt cx="2255419" cy="847513"/>
          </a:xfrm>
        </p:grpSpPr>
        <p:sp>
          <p:nvSpPr>
            <p:cNvPr id="87" name="Rectangle 7"/>
            <p:cNvSpPr>
              <a:spLocks noChangeArrowheads="1"/>
            </p:cNvSpPr>
            <p:nvPr/>
          </p:nvSpPr>
          <p:spPr bwMode="auto">
            <a:xfrm>
              <a:off x="3341823" y="1085850"/>
              <a:ext cx="2255102" cy="606213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业务项目经理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: </a:t>
              </a: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吴婷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IT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项目经理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: </a:t>
              </a: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马赠杰</a:t>
              </a:r>
              <a:endPara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8" name="Rectangle 3"/>
            <p:cNvSpPr>
              <a:spLocks noChangeArrowheads="1"/>
            </p:cNvSpPr>
            <p:nvPr/>
          </p:nvSpPr>
          <p:spPr bwMode="auto">
            <a:xfrm>
              <a:off x="3341823" y="844550"/>
              <a:ext cx="2255419" cy="239713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rgbClr val="56933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rPr>
                <a:t>项目经理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2409190" y="3834765"/>
            <a:ext cx="1047115" cy="1964690"/>
            <a:chOff x="1913" y="6391"/>
            <a:chExt cx="1649" cy="3094"/>
          </a:xfrm>
        </p:grpSpPr>
        <p:grpSp>
          <p:nvGrpSpPr>
            <p:cNvPr id="135" name="Group 28"/>
            <p:cNvGrpSpPr/>
            <p:nvPr/>
          </p:nvGrpSpPr>
          <p:grpSpPr bwMode="auto">
            <a:xfrm>
              <a:off x="1913" y="6391"/>
              <a:ext cx="1649" cy="1244"/>
              <a:chOff x="3341823" y="844550"/>
              <a:chExt cx="2255786" cy="601250"/>
            </a:xfrm>
          </p:grpSpPr>
          <p:sp>
            <p:nvSpPr>
              <p:cNvPr id="136" name="Rectangle 29"/>
              <p:cNvSpPr>
                <a:spLocks noChangeArrowheads="1"/>
              </p:cNvSpPr>
              <p:nvPr/>
            </p:nvSpPr>
            <p:spPr bwMode="auto">
              <a:xfrm>
                <a:off x="3341823" y="1084277"/>
                <a:ext cx="2255786" cy="361523"/>
              </a:xfrm>
              <a:prstGeom prst="rect">
                <a:avLst/>
              </a:prstGeom>
              <a:ln w="3175">
                <a:solidFill>
                  <a:srgbClr val="569337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91429" tIns="45714" rIns="91429" bIns="45714" anchor="ctr"/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江晓莉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7" name="Rectangle 3"/>
              <p:cNvSpPr>
                <a:spLocks noChangeArrowheads="1"/>
              </p:cNvSpPr>
              <p:nvPr/>
            </p:nvSpPr>
            <p:spPr bwMode="auto">
              <a:xfrm>
                <a:off x="3341823" y="844550"/>
                <a:ext cx="2255419" cy="239712"/>
              </a:xfrm>
              <a:prstGeom prst="rect">
                <a:avLst/>
              </a:prstGeom>
              <a:solidFill>
                <a:srgbClr val="569337"/>
              </a:solidFill>
              <a:ln w="3175">
                <a:solidFill>
                  <a:srgbClr val="569337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0286" tIns="25142" rIns="50286" bIns="25142" anchor="ctr"/>
              <a:p>
                <a:pPr algn="ctr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华文楷体" panose="02010600040101010101" charset="-122"/>
                  </a:rPr>
                  <a:t>寻源中心</a:t>
                </a:r>
                <a:endParaRPr lang="zh-CN" altLang="en-US" sz="1335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endParaRPr>
              </a:p>
            </p:txBody>
          </p:sp>
        </p:grpSp>
        <p:sp>
          <p:nvSpPr>
            <p:cNvPr id="159" name="Rectangle 29"/>
            <p:cNvSpPr>
              <a:spLocks noChangeArrowheads="1"/>
            </p:cNvSpPr>
            <p:nvPr/>
          </p:nvSpPr>
          <p:spPr bwMode="auto">
            <a:xfrm>
              <a:off x="1913" y="7635"/>
              <a:ext cx="1649" cy="1850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邓锦永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吴炳煌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0" name="TextBox 79"/>
          <p:cNvSpPr txBox="1">
            <a:spLocks noChangeArrowheads="1"/>
          </p:cNvSpPr>
          <p:nvPr/>
        </p:nvSpPr>
        <p:spPr bwMode="auto">
          <a:xfrm>
            <a:off x="205300" y="4218791"/>
            <a:ext cx="79248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</a:rPr>
              <a:t>责任人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TextBox 79"/>
          <p:cNvSpPr txBox="1">
            <a:spLocks noChangeArrowheads="1"/>
          </p:cNvSpPr>
          <p:nvPr/>
        </p:nvSpPr>
        <p:spPr bwMode="auto">
          <a:xfrm>
            <a:off x="204665" y="4708376"/>
            <a:ext cx="99568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</a:rPr>
              <a:t>关键用户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3633470" y="3834765"/>
            <a:ext cx="1214221" cy="1964690"/>
            <a:chOff x="1913" y="6391"/>
            <a:chExt cx="1649" cy="3094"/>
          </a:xfrm>
        </p:grpSpPr>
        <p:grpSp>
          <p:nvGrpSpPr>
            <p:cNvPr id="168" name="Group 28"/>
            <p:cNvGrpSpPr/>
            <p:nvPr/>
          </p:nvGrpSpPr>
          <p:grpSpPr bwMode="auto">
            <a:xfrm>
              <a:off x="1913" y="6391"/>
              <a:ext cx="1649" cy="1244"/>
              <a:chOff x="3341823" y="844550"/>
              <a:chExt cx="2255786" cy="601250"/>
            </a:xfrm>
          </p:grpSpPr>
          <p:sp>
            <p:nvSpPr>
              <p:cNvPr id="169" name="Rectangle 29"/>
              <p:cNvSpPr>
                <a:spLocks noChangeArrowheads="1"/>
              </p:cNvSpPr>
              <p:nvPr/>
            </p:nvSpPr>
            <p:spPr bwMode="auto">
              <a:xfrm>
                <a:off x="3341823" y="1084277"/>
                <a:ext cx="2255786" cy="361523"/>
              </a:xfrm>
              <a:prstGeom prst="rect">
                <a:avLst/>
              </a:prstGeom>
              <a:ln w="3175">
                <a:solidFill>
                  <a:srgbClr val="569337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91429" tIns="45714" rIns="91429" bIns="45714" anchor="ctr"/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许镒洪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0" name="Rectangle 3"/>
              <p:cNvSpPr>
                <a:spLocks noChangeArrowheads="1"/>
              </p:cNvSpPr>
              <p:nvPr/>
            </p:nvSpPr>
            <p:spPr bwMode="auto">
              <a:xfrm>
                <a:off x="3341823" y="844550"/>
                <a:ext cx="2255419" cy="239712"/>
              </a:xfrm>
              <a:prstGeom prst="rect">
                <a:avLst/>
              </a:prstGeom>
              <a:solidFill>
                <a:srgbClr val="569337"/>
              </a:solidFill>
              <a:ln w="3175">
                <a:solidFill>
                  <a:srgbClr val="569337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0286" tIns="25142" rIns="50286" bIns="25142" anchor="ctr"/>
              <a:p>
                <a:pPr algn="ctr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华文楷体" panose="02010600040101010101" charset="-122"/>
                  </a:rPr>
                  <a:t>器件认证中心</a:t>
                </a:r>
                <a:endParaRPr lang="zh-CN" altLang="en-US" sz="1335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endParaRPr>
              </a:p>
            </p:txBody>
          </p:sp>
        </p:grpSp>
        <p:sp>
          <p:nvSpPr>
            <p:cNvPr id="171" name="Rectangle 29"/>
            <p:cNvSpPr>
              <a:spLocks noChangeArrowheads="1"/>
            </p:cNvSpPr>
            <p:nvPr/>
          </p:nvSpPr>
          <p:spPr bwMode="auto">
            <a:xfrm>
              <a:off x="1913" y="7635"/>
              <a:ext cx="1649" cy="1850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张恩朝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魏春林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蔡生刚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2" name="组合 171"/>
          <p:cNvGrpSpPr/>
          <p:nvPr/>
        </p:nvGrpSpPr>
        <p:grpSpPr>
          <a:xfrm>
            <a:off x="5055870" y="3834765"/>
            <a:ext cx="1214221" cy="1964690"/>
            <a:chOff x="1913" y="6391"/>
            <a:chExt cx="1649" cy="3094"/>
          </a:xfrm>
        </p:grpSpPr>
        <p:grpSp>
          <p:nvGrpSpPr>
            <p:cNvPr id="173" name="Group 28"/>
            <p:cNvGrpSpPr/>
            <p:nvPr/>
          </p:nvGrpSpPr>
          <p:grpSpPr bwMode="auto">
            <a:xfrm>
              <a:off x="1913" y="6391"/>
              <a:ext cx="1649" cy="1244"/>
              <a:chOff x="3341823" y="844550"/>
              <a:chExt cx="2255786" cy="601250"/>
            </a:xfrm>
          </p:grpSpPr>
          <p:sp>
            <p:nvSpPr>
              <p:cNvPr id="174" name="Rectangle 29"/>
              <p:cNvSpPr>
                <a:spLocks noChangeArrowheads="1"/>
              </p:cNvSpPr>
              <p:nvPr/>
            </p:nvSpPr>
            <p:spPr bwMode="auto">
              <a:xfrm>
                <a:off x="3341823" y="1084277"/>
                <a:ext cx="2255786" cy="361523"/>
              </a:xfrm>
              <a:prstGeom prst="rect">
                <a:avLst/>
              </a:prstGeom>
              <a:ln w="3175">
                <a:solidFill>
                  <a:srgbClr val="569337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91429" tIns="45714" rIns="91429" bIns="45714" anchor="ctr"/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张丽香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陈小超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5" name="Rectangle 3"/>
              <p:cNvSpPr>
                <a:spLocks noChangeArrowheads="1"/>
              </p:cNvSpPr>
              <p:nvPr/>
            </p:nvSpPr>
            <p:spPr bwMode="auto">
              <a:xfrm>
                <a:off x="3341823" y="844550"/>
                <a:ext cx="2255419" cy="239712"/>
              </a:xfrm>
              <a:prstGeom prst="rect">
                <a:avLst/>
              </a:prstGeom>
              <a:solidFill>
                <a:srgbClr val="569337"/>
              </a:solidFill>
              <a:ln w="3175">
                <a:solidFill>
                  <a:srgbClr val="569337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0286" tIns="25142" rIns="50286" bIns="25142" anchor="ctr"/>
              <a:p>
                <a:pPr algn="ctr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华文楷体" panose="02010600040101010101" charset="-122"/>
                  </a:rPr>
                  <a:t>配额证中心</a:t>
                </a:r>
                <a:endParaRPr lang="zh-CN" altLang="en-US" sz="1335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endParaRPr>
              </a:p>
            </p:txBody>
          </p:sp>
        </p:grpSp>
        <p:sp>
          <p:nvSpPr>
            <p:cNvPr id="176" name="Rectangle 29"/>
            <p:cNvSpPr>
              <a:spLocks noChangeArrowheads="1"/>
            </p:cNvSpPr>
            <p:nvPr/>
          </p:nvSpPr>
          <p:spPr bwMode="auto">
            <a:xfrm>
              <a:off x="1913" y="7635"/>
              <a:ext cx="1649" cy="1850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李娟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张丽香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 rot="0">
            <a:off x="6493510" y="3834765"/>
            <a:ext cx="1059815" cy="1964690"/>
            <a:chOff x="1913" y="6391"/>
            <a:chExt cx="1439" cy="3094"/>
          </a:xfrm>
        </p:grpSpPr>
        <p:grpSp>
          <p:nvGrpSpPr>
            <p:cNvPr id="178" name="Group 28"/>
            <p:cNvGrpSpPr/>
            <p:nvPr/>
          </p:nvGrpSpPr>
          <p:grpSpPr bwMode="auto">
            <a:xfrm>
              <a:off x="1913" y="6391"/>
              <a:ext cx="1439" cy="1244"/>
              <a:chOff x="3341823" y="844550"/>
              <a:chExt cx="1968929" cy="601250"/>
            </a:xfrm>
          </p:grpSpPr>
          <p:sp>
            <p:nvSpPr>
              <p:cNvPr id="179" name="Rectangle 29"/>
              <p:cNvSpPr>
                <a:spLocks noChangeArrowheads="1"/>
              </p:cNvSpPr>
              <p:nvPr/>
            </p:nvSpPr>
            <p:spPr bwMode="auto">
              <a:xfrm>
                <a:off x="3341823" y="1084277"/>
                <a:ext cx="1968929" cy="361523"/>
              </a:xfrm>
              <a:prstGeom prst="rect">
                <a:avLst/>
              </a:prstGeom>
              <a:ln w="3175">
                <a:solidFill>
                  <a:srgbClr val="569337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91429" tIns="45714" rIns="91429" bIns="45714" anchor="ctr"/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冯勇波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0" name="Rectangle 3"/>
              <p:cNvSpPr>
                <a:spLocks noChangeArrowheads="1"/>
              </p:cNvSpPr>
              <p:nvPr/>
            </p:nvSpPr>
            <p:spPr bwMode="auto">
              <a:xfrm>
                <a:off x="3341823" y="844550"/>
                <a:ext cx="1960671" cy="239727"/>
              </a:xfrm>
              <a:prstGeom prst="rect">
                <a:avLst/>
              </a:prstGeom>
              <a:solidFill>
                <a:srgbClr val="569337"/>
              </a:solidFill>
              <a:ln w="3175">
                <a:solidFill>
                  <a:srgbClr val="569337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0286" tIns="25142" rIns="50286" bIns="25142" anchor="ctr"/>
              <a:p>
                <a:pPr algn="ctr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华文楷体" panose="02010600040101010101" charset="-122"/>
                  </a:rPr>
                  <a:t>计划中心</a:t>
                </a:r>
                <a:endParaRPr lang="zh-CN" altLang="en-US" sz="1335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endParaRPr>
              </a:p>
            </p:txBody>
          </p:sp>
        </p:grpSp>
        <p:sp>
          <p:nvSpPr>
            <p:cNvPr id="181" name="Rectangle 29"/>
            <p:cNvSpPr>
              <a:spLocks noChangeArrowheads="1"/>
            </p:cNvSpPr>
            <p:nvPr/>
          </p:nvSpPr>
          <p:spPr bwMode="auto">
            <a:xfrm>
              <a:off x="1913" y="7635"/>
              <a:ext cx="1439" cy="1850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陈云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孙小京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计婷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彭智添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罗晓霓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84" name="组合 183"/>
          <p:cNvGrpSpPr/>
          <p:nvPr/>
        </p:nvGrpSpPr>
        <p:grpSpPr>
          <a:xfrm>
            <a:off x="7720330" y="3834765"/>
            <a:ext cx="1214221" cy="1964690"/>
            <a:chOff x="1913" y="6391"/>
            <a:chExt cx="1649" cy="3094"/>
          </a:xfrm>
        </p:grpSpPr>
        <p:grpSp>
          <p:nvGrpSpPr>
            <p:cNvPr id="185" name="Group 28"/>
            <p:cNvGrpSpPr/>
            <p:nvPr/>
          </p:nvGrpSpPr>
          <p:grpSpPr bwMode="auto">
            <a:xfrm>
              <a:off x="1913" y="6391"/>
              <a:ext cx="1649" cy="1244"/>
              <a:chOff x="3341823" y="844550"/>
              <a:chExt cx="2255786" cy="601250"/>
            </a:xfrm>
          </p:grpSpPr>
          <p:sp>
            <p:nvSpPr>
              <p:cNvPr id="186" name="Rectangle 29"/>
              <p:cNvSpPr>
                <a:spLocks noChangeArrowheads="1"/>
              </p:cNvSpPr>
              <p:nvPr/>
            </p:nvSpPr>
            <p:spPr bwMode="auto">
              <a:xfrm>
                <a:off x="3341823" y="1084277"/>
                <a:ext cx="2255786" cy="361523"/>
              </a:xfrm>
              <a:prstGeom prst="rect">
                <a:avLst/>
              </a:prstGeom>
              <a:ln w="3175">
                <a:solidFill>
                  <a:srgbClr val="569337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91429" tIns="45714" rIns="91429" bIns="45714" anchor="ctr"/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刘碧林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张海明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7" name="Rectangle 3"/>
              <p:cNvSpPr>
                <a:spLocks noChangeArrowheads="1"/>
              </p:cNvSpPr>
              <p:nvPr/>
            </p:nvSpPr>
            <p:spPr bwMode="auto">
              <a:xfrm>
                <a:off x="3341823" y="844550"/>
                <a:ext cx="2255419" cy="239712"/>
              </a:xfrm>
              <a:prstGeom prst="rect">
                <a:avLst/>
              </a:prstGeom>
              <a:solidFill>
                <a:srgbClr val="569337"/>
              </a:solidFill>
              <a:ln w="3175">
                <a:solidFill>
                  <a:srgbClr val="569337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0286" tIns="25142" rIns="50286" bIns="25142" anchor="ctr"/>
              <a:p>
                <a:pPr algn="ctr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华文楷体" panose="02010600040101010101" charset="-122"/>
                  </a:rPr>
                  <a:t>执行采购中心</a:t>
                </a:r>
                <a:endParaRPr lang="zh-CN" altLang="en-US" sz="1335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endParaRPr>
              </a:p>
            </p:txBody>
          </p:sp>
        </p:grpSp>
        <p:sp>
          <p:nvSpPr>
            <p:cNvPr id="188" name="Rectangle 29"/>
            <p:cNvSpPr>
              <a:spLocks noChangeArrowheads="1"/>
            </p:cNvSpPr>
            <p:nvPr/>
          </p:nvSpPr>
          <p:spPr bwMode="auto">
            <a:xfrm>
              <a:off x="1913" y="7635"/>
              <a:ext cx="1649" cy="1850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张蕾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张姗姗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刘国玲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王恒兰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熊有亮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9" name="组合 198"/>
          <p:cNvGrpSpPr/>
          <p:nvPr/>
        </p:nvGrpSpPr>
        <p:grpSpPr>
          <a:xfrm>
            <a:off x="9188450" y="3834765"/>
            <a:ext cx="1214221" cy="1964690"/>
            <a:chOff x="1913" y="6391"/>
            <a:chExt cx="1649" cy="3094"/>
          </a:xfrm>
        </p:grpSpPr>
        <p:grpSp>
          <p:nvGrpSpPr>
            <p:cNvPr id="200" name="Group 28"/>
            <p:cNvGrpSpPr/>
            <p:nvPr/>
          </p:nvGrpSpPr>
          <p:grpSpPr bwMode="auto">
            <a:xfrm>
              <a:off x="1913" y="6391"/>
              <a:ext cx="1649" cy="1244"/>
              <a:chOff x="3341823" y="844550"/>
              <a:chExt cx="2255786" cy="601250"/>
            </a:xfrm>
          </p:grpSpPr>
          <p:sp>
            <p:nvSpPr>
              <p:cNvPr id="201" name="Rectangle 29"/>
              <p:cNvSpPr>
                <a:spLocks noChangeArrowheads="1"/>
              </p:cNvSpPr>
              <p:nvPr/>
            </p:nvSpPr>
            <p:spPr bwMode="auto">
              <a:xfrm>
                <a:off x="3341823" y="1084277"/>
                <a:ext cx="2255786" cy="361523"/>
              </a:xfrm>
              <a:prstGeom prst="rect">
                <a:avLst/>
              </a:prstGeom>
              <a:ln w="3175">
                <a:solidFill>
                  <a:srgbClr val="569337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91429" tIns="45714" rIns="91429" bIns="45714" anchor="ctr"/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江翊维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2" name="Rectangle 3"/>
              <p:cNvSpPr>
                <a:spLocks noChangeArrowheads="1"/>
              </p:cNvSpPr>
              <p:nvPr/>
            </p:nvSpPr>
            <p:spPr bwMode="auto">
              <a:xfrm>
                <a:off x="3341823" y="844550"/>
                <a:ext cx="2255419" cy="239712"/>
              </a:xfrm>
              <a:prstGeom prst="rect">
                <a:avLst/>
              </a:prstGeom>
              <a:solidFill>
                <a:srgbClr val="569337"/>
              </a:solidFill>
              <a:ln w="3175">
                <a:solidFill>
                  <a:srgbClr val="569337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0286" tIns="25142" rIns="50286" bIns="25142" anchor="ctr"/>
              <a:p>
                <a:pPr algn="ctr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华文楷体" panose="02010600040101010101" charset="-122"/>
                  </a:rPr>
                  <a:t>物流关务中心</a:t>
                </a:r>
                <a:endParaRPr lang="zh-CN" altLang="en-US" sz="1335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endParaRPr>
              </a:p>
            </p:txBody>
          </p:sp>
        </p:grpSp>
        <p:sp>
          <p:nvSpPr>
            <p:cNvPr id="203" name="Rectangle 29"/>
            <p:cNvSpPr>
              <a:spLocks noChangeArrowheads="1"/>
            </p:cNvSpPr>
            <p:nvPr/>
          </p:nvSpPr>
          <p:spPr bwMode="auto">
            <a:xfrm>
              <a:off x="1913" y="7635"/>
              <a:ext cx="1649" cy="1850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刘君娟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张怀建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10656570" y="3834765"/>
            <a:ext cx="955040" cy="1965325"/>
            <a:chOff x="1913" y="6391"/>
            <a:chExt cx="1297" cy="3095"/>
          </a:xfrm>
        </p:grpSpPr>
        <p:grpSp>
          <p:nvGrpSpPr>
            <p:cNvPr id="205" name="Group 28"/>
            <p:cNvGrpSpPr/>
            <p:nvPr/>
          </p:nvGrpSpPr>
          <p:grpSpPr bwMode="auto">
            <a:xfrm>
              <a:off x="1913" y="6391"/>
              <a:ext cx="1297" cy="1244"/>
              <a:chOff x="3341823" y="844550"/>
              <a:chExt cx="1774278" cy="601250"/>
            </a:xfrm>
          </p:grpSpPr>
          <p:sp>
            <p:nvSpPr>
              <p:cNvPr id="206" name="Rectangle 29"/>
              <p:cNvSpPr>
                <a:spLocks noChangeArrowheads="1"/>
              </p:cNvSpPr>
              <p:nvPr/>
            </p:nvSpPr>
            <p:spPr bwMode="auto">
              <a:xfrm>
                <a:off x="3341823" y="1084277"/>
                <a:ext cx="1774278" cy="361523"/>
              </a:xfrm>
              <a:prstGeom prst="rect">
                <a:avLst/>
              </a:prstGeom>
              <a:ln w="3175">
                <a:solidFill>
                  <a:srgbClr val="569337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91429" tIns="45714" rIns="91429" bIns="45714" anchor="ctr"/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en-US" altLang="zh-CN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江云         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皮厚斌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7" name="Rectangle 3"/>
              <p:cNvSpPr>
                <a:spLocks noChangeArrowheads="1"/>
              </p:cNvSpPr>
              <p:nvPr/>
            </p:nvSpPr>
            <p:spPr bwMode="auto">
              <a:xfrm>
                <a:off x="3341823" y="844550"/>
                <a:ext cx="1773099" cy="239727"/>
              </a:xfrm>
              <a:prstGeom prst="rect">
                <a:avLst/>
              </a:prstGeom>
              <a:solidFill>
                <a:srgbClr val="569337"/>
              </a:solidFill>
              <a:ln w="3175">
                <a:solidFill>
                  <a:srgbClr val="569337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0286" tIns="25142" rIns="50286" bIns="25142" anchor="ctr"/>
              <a:p>
                <a:pPr algn="ctr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华文楷体" panose="02010600040101010101" charset="-122"/>
                  </a:rPr>
                  <a:t>制造中心</a:t>
                </a:r>
                <a:endParaRPr lang="zh-CN" altLang="en-US" sz="1335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endParaRPr>
              </a:p>
            </p:txBody>
          </p:sp>
        </p:grpSp>
        <p:sp>
          <p:nvSpPr>
            <p:cNvPr id="208" name="Rectangle 29"/>
            <p:cNvSpPr>
              <a:spLocks noChangeArrowheads="1"/>
            </p:cNvSpPr>
            <p:nvPr/>
          </p:nvSpPr>
          <p:spPr bwMode="auto">
            <a:xfrm>
              <a:off x="1913" y="7635"/>
              <a:ext cx="1297" cy="1851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李科霞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张伟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陈元元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罗金山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陈星宇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10" name="TextBox 79"/>
          <p:cNvSpPr txBox="1">
            <a:spLocks noChangeArrowheads="1"/>
          </p:cNvSpPr>
          <p:nvPr/>
        </p:nvSpPr>
        <p:spPr bwMode="auto">
          <a:xfrm>
            <a:off x="205300" y="5923131"/>
            <a:ext cx="99568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</a:rPr>
              <a:t>综合管理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1" name="Group 16"/>
          <p:cNvGrpSpPr/>
          <p:nvPr/>
        </p:nvGrpSpPr>
        <p:grpSpPr bwMode="auto">
          <a:xfrm>
            <a:off x="659699" y="1500628"/>
            <a:ext cx="3659505" cy="1897380"/>
            <a:chOff x="3364812" y="858563"/>
            <a:chExt cx="2760200" cy="1495391"/>
          </a:xfrm>
        </p:grpSpPr>
        <p:sp>
          <p:nvSpPr>
            <p:cNvPr id="212" name="Rectangle 17"/>
            <p:cNvSpPr>
              <a:spLocks noChangeArrowheads="1"/>
            </p:cNvSpPr>
            <p:nvPr/>
          </p:nvSpPr>
          <p:spPr bwMode="auto">
            <a:xfrm>
              <a:off x="3364812" y="1103291"/>
              <a:ext cx="2760200" cy="1250663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tIns="45714" rIns="0" bIns="45714" anchor="ctr"/>
            <a:p>
              <a:pPr indent="0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buFont typeface="Arial" panose="020B0604020202020204" pitchFamily="34" charset="0"/>
                <a:buNone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数据分析师： 马赠杰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buFont typeface="Arial" panose="020B0604020202020204" pitchFamily="34" charset="0"/>
                <a:buNone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数据开发工程师：江伟（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50%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），董文轩，张梓培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buFont typeface="Arial" panose="020B0604020202020204" pitchFamily="34" charset="0"/>
                <a:buNone/>
                <a:defRPr/>
              </a:pP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业务系统支持：苏联章（统筹）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buFont typeface="Arial" panose="020B0604020202020204" pitchFamily="34" charset="0"/>
                <a:buNone/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IT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评审团：周开琪、马兰军、朱林生、林实东、熊婉琰、刘雪寒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3" name="Rectangle 3"/>
            <p:cNvSpPr>
              <a:spLocks noChangeArrowheads="1"/>
            </p:cNvSpPr>
            <p:nvPr/>
          </p:nvSpPr>
          <p:spPr bwMode="auto">
            <a:xfrm>
              <a:off x="3365291" y="858563"/>
              <a:ext cx="2759721" cy="239723"/>
            </a:xfrm>
            <a:prstGeom prst="rect">
              <a:avLst/>
            </a:prstGeom>
            <a:solidFill>
              <a:srgbClr val="569337"/>
            </a:solidFill>
            <a:ln w="3175">
              <a:solidFill>
                <a:srgbClr val="56933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286" tIns="25142" rIns="50286" bIns="25142" anchor="ctr"/>
            <a:p>
              <a:pPr algn="ctr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0000"/>
                <a:defRPr/>
              </a:pPr>
              <a:r>
                <a:rPr lang="en-US" altLang="zh-CN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IT</a:t>
              </a:r>
              <a:r>
                <a:rPr lang="zh-CN" altLang="en-US" sz="14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组</a:t>
              </a:r>
              <a:endParaRPr lang="zh-CN" altLang="en-US" sz="1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19" name="TextBox 79"/>
          <p:cNvSpPr txBox="1">
            <a:spLocks noChangeArrowheads="1"/>
          </p:cNvSpPr>
          <p:nvPr/>
        </p:nvSpPr>
        <p:spPr bwMode="auto">
          <a:xfrm>
            <a:off x="156723" y="6373346"/>
            <a:ext cx="109156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财务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人力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Rectangle 29"/>
          <p:cNvSpPr>
            <a:spLocks noChangeArrowheads="1"/>
          </p:cNvSpPr>
          <p:nvPr/>
        </p:nvSpPr>
        <p:spPr bwMode="auto">
          <a:xfrm>
            <a:off x="1235710" y="5914390"/>
            <a:ext cx="5021580" cy="346075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 eaLnBrk="1" hangingPunct="1">
              <a:lnSpc>
                <a:spcPct val="120000"/>
              </a:lnSpc>
              <a:buClr>
                <a:schemeClr val="accent2"/>
              </a:buClr>
              <a:buSzPct val="50000"/>
              <a:defRPr/>
            </a:pP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吴婷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1247775" y="3834765"/>
            <a:ext cx="1047115" cy="1964690"/>
            <a:chOff x="1913" y="6391"/>
            <a:chExt cx="1649" cy="3094"/>
          </a:xfrm>
        </p:grpSpPr>
        <p:grpSp>
          <p:nvGrpSpPr>
            <p:cNvPr id="222" name="Group 28"/>
            <p:cNvGrpSpPr/>
            <p:nvPr/>
          </p:nvGrpSpPr>
          <p:grpSpPr bwMode="auto">
            <a:xfrm>
              <a:off x="1913" y="6391"/>
              <a:ext cx="1649" cy="1244"/>
              <a:chOff x="3341823" y="844550"/>
              <a:chExt cx="2255786" cy="601250"/>
            </a:xfrm>
          </p:grpSpPr>
          <p:sp>
            <p:nvSpPr>
              <p:cNvPr id="223" name="Rectangle 29"/>
              <p:cNvSpPr>
                <a:spLocks noChangeArrowheads="1"/>
              </p:cNvSpPr>
              <p:nvPr/>
            </p:nvSpPr>
            <p:spPr bwMode="auto">
              <a:xfrm>
                <a:off x="3341823" y="1084277"/>
                <a:ext cx="2255786" cy="361523"/>
              </a:xfrm>
              <a:prstGeom prst="rect">
                <a:avLst/>
              </a:prstGeom>
              <a:ln w="3175">
                <a:solidFill>
                  <a:srgbClr val="569337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91429" tIns="45714" rIns="91429" bIns="45714" anchor="ctr"/>
              <a:p>
                <a:pPr algn="ctr" eaLnBrk="1" hangingPunct="1">
                  <a:lnSpc>
                    <a:spcPct val="120000"/>
                  </a:lnSpc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dirty="0" smtClean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操亮亮</a:t>
                </a:r>
                <a:endPara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24" name="Rectangle 3"/>
              <p:cNvSpPr>
                <a:spLocks noChangeArrowheads="1"/>
              </p:cNvSpPr>
              <p:nvPr/>
            </p:nvSpPr>
            <p:spPr bwMode="auto">
              <a:xfrm>
                <a:off x="3341823" y="844550"/>
                <a:ext cx="2255419" cy="239712"/>
              </a:xfrm>
              <a:prstGeom prst="rect">
                <a:avLst/>
              </a:prstGeom>
              <a:solidFill>
                <a:srgbClr val="569337"/>
              </a:solidFill>
              <a:ln w="3175">
                <a:solidFill>
                  <a:srgbClr val="569337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0286" tIns="25142" rIns="50286" bIns="25142" anchor="ctr"/>
              <a:p>
                <a:pPr algn="ctr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0000"/>
                  <a:defRPr/>
                </a:pPr>
                <a:r>
                  <a:rPr lang="zh-CN" altLang="en-US" sz="1335" b="1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华文楷体" panose="02010600040101010101" charset="-122"/>
                  </a:rPr>
                  <a:t>资质管理</a:t>
                </a:r>
                <a:endParaRPr lang="zh-CN" altLang="en-US" sz="1335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华文楷体" panose="02010600040101010101" charset="-122"/>
                </a:endParaRPr>
              </a:p>
            </p:txBody>
          </p:sp>
        </p:grpSp>
        <p:sp>
          <p:nvSpPr>
            <p:cNvPr id="225" name="Rectangle 29"/>
            <p:cNvSpPr>
              <a:spLocks noChangeArrowheads="1"/>
            </p:cNvSpPr>
            <p:nvPr/>
          </p:nvSpPr>
          <p:spPr bwMode="auto">
            <a:xfrm>
              <a:off x="1913" y="7635"/>
              <a:ext cx="1649" cy="1850"/>
            </a:xfrm>
            <a:prstGeom prst="rect">
              <a:avLst/>
            </a:prstGeom>
            <a:ln w="3175">
              <a:solidFill>
                <a:srgbClr val="569337"/>
              </a:solidFill>
              <a:headEnd type="none" w="sm" len="sm"/>
              <a:tailEnd type="none" w="sm" len="sm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29" tIns="45714" rIns="91429" bIns="45714" anchor="ctr"/>
            <a:p>
              <a:pPr algn="ctr" eaLnBrk="1" hangingPunct="1">
                <a:lnSpc>
                  <a:spcPct val="120000"/>
                </a:lnSpc>
                <a:buClr>
                  <a:schemeClr val="accent2"/>
                </a:buClr>
                <a:buSzPct val="50000"/>
                <a:defRPr/>
              </a:pPr>
              <a:r>
                <a:rPr lang="zh-CN" altLang="en-US" sz="1335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佘克蕾</a:t>
              </a:r>
              <a:endPara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31" name="Rectangle 29"/>
          <p:cNvSpPr>
            <a:spLocks noChangeArrowheads="1"/>
          </p:cNvSpPr>
          <p:nvPr/>
        </p:nvSpPr>
        <p:spPr bwMode="auto">
          <a:xfrm>
            <a:off x="1235710" y="6373495"/>
            <a:ext cx="10363200" cy="346075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 eaLnBrk="1" hangingPunct="1">
              <a:lnSpc>
                <a:spcPct val="120000"/>
              </a:lnSpc>
              <a:buClr>
                <a:schemeClr val="accent2"/>
              </a:buClr>
              <a:buSzPct val="50000"/>
              <a:defRPr/>
            </a:pP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曹苗</a:t>
            </a:r>
            <a:r>
              <a:rPr lang="en-US" altLang="zh-CN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叶秋颖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2" descr="C:\Users\User\Desktop\胸牌源文件-03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615" y="330200"/>
            <a:ext cx="1102995" cy="63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9"/>
          <p:cNvSpPr>
            <a:spLocks noChangeArrowheads="1"/>
          </p:cNvSpPr>
          <p:nvPr/>
        </p:nvSpPr>
        <p:spPr bwMode="auto">
          <a:xfrm>
            <a:off x="6492875" y="5923280"/>
            <a:ext cx="1056005" cy="346075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 eaLnBrk="1" hangingPunct="1">
              <a:lnSpc>
                <a:spcPct val="120000"/>
              </a:lnSpc>
              <a:buClr>
                <a:schemeClr val="accent2"/>
              </a:buClr>
              <a:buSzPct val="50000"/>
              <a:defRPr/>
            </a:pP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程方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9188450" y="5914390"/>
            <a:ext cx="1214120" cy="346075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 eaLnBrk="1" hangingPunct="1">
              <a:lnSpc>
                <a:spcPct val="120000"/>
              </a:lnSpc>
              <a:buClr>
                <a:schemeClr val="accent2"/>
              </a:buClr>
              <a:buSzPct val="50000"/>
              <a:defRPr/>
            </a:pP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程方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7720330" y="5923280"/>
            <a:ext cx="1214120" cy="346075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 eaLnBrk="1" hangingPunct="1">
              <a:lnSpc>
                <a:spcPct val="120000"/>
              </a:lnSpc>
              <a:buClr>
                <a:schemeClr val="accent2"/>
              </a:buClr>
              <a:buSzPct val="50000"/>
              <a:defRPr/>
            </a:pP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徐慧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10643870" y="5914390"/>
            <a:ext cx="955040" cy="346075"/>
          </a:xfrm>
          <a:prstGeom prst="rect">
            <a:avLst/>
          </a:prstGeom>
          <a:ln w="3175">
            <a:solidFill>
              <a:srgbClr val="569337"/>
            </a:solidFill>
            <a:headEnd type="none" w="sm" len="sm"/>
            <a:tailEnd type="none" w="sm" len="sm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29" tIns="45714" rIns="91429" bIns="45714" anchor="ctr"/>
          <a:p>
            <a:pPr algn="ctr" eaLnBrk="1" hangingPunct="1">
              <a:lnSpc>
                <a:spcPct val="120000"/>
              </a:lnSpc>
              <a:buClr>
                <a:schemeClr val="accent2"/>
              </a:buClr>
              <a:buSzPct val="50000"/>
              <a:defRPr/>
            </a:pPr>
            <a:r>
              <a:rPr lang="zh-CN" altLang="en-US" sz="1335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陈艳春</a:t>
            </a:r>
            <a:endParaRPr lang="zh-CN" altLang="en-US" sz="1335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5780" y="257810"/>
            <a:ext cx="1605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项目计划</a:t>
            </a:r>
            <a:endParaRPr lang="zh-CN" altLang="en-US" sz="28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220" y="5948045"/>
            <a:ext cx="1704975" cy="809625"/>
          </a:xfrm>
          <a:prstGeom prst="rect">
            <a:avLst/>
          </a:prstGeom>
        </p:spPr>
      </p:pic>
      <p:cxnSp>
        <p:nvCxnSpPr>
          <p:cNvPr id="62" name="直接连接符 61"/>
          <p:cNvCxnSpPr/>
          <p:nvPr/>
        </p:nvCxnSpPr>
        <p:spPr>
          <a:xfrm>
            <a:off x="4466590" y="1818005"/>
            <a:ext cx="0" cy="238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6362700" y="1798320"/>
            <a:ext cx="0" cy="238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8728075" y="1798320"/>
            <a:ext cx="0" cy="238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855325" y="1820545"/>
            <a:ext cx="0" cy="238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2039600" y="1804670"/>
            <a:ext cx="0" cy="238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4072255" y="1565910"/>
            <a:ext cx="7937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2020.1.6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5965825" y="1565910"/>
            <a:ext cx="66865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    2.29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255000" y="1565910"/>
            <a:ext cx="62420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     5.9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0396220" y="1565910"/>
            <a:ext cx="66865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    6.30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1530330" y="1565910"/>
            <a:ext cx="7137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     7.31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966970" y="1290320"/>
            <a:ext cx="7924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第一阶段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235190" y="1290320"/>
            <a:ext cx="7924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382760" y="1290320"/>
            <a:ext cx="7924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第三阶段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1064875" y="1290320"/>
            <a:ext cx="7924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结项阶段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3580130" y="1841500"/>
            <a:ext cx="0" cy="2381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3041015" y="1565910"/>
            <a:ext cx="9728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2019.12.16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674110" y="1290320"/>
            <a:ext cx="7924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启动阶段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2795"/>
            <a:ext cx="12181205" cy="3876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505" y="853440"/>
            <a:ext cx="11895455" cy="60267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5780" y="257810"/>
            <a:ext cx="1605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项目预算</a:t>
            </a:r>
            <a:endParaRPr lang="zh-CN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533265" y="6534785"/>
            <a:ext cx="2602230" cy="288290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5780" y="257810"/>
            <a:ext cx="2672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工作及沟通方式</a:t>
            </a:r>
            <a:endParaRPr lang="zh-CN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5780" y="1179830"/>
            <a:ext cx="1106424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 Black" panose="020B0A04020102020204" charset="0"/>
              <a:buAutoNum type="arabicPeriod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办公场所：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在原有办公地点办公，必要时再集中办公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;(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每周有一天集中办公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AutoNum type="arabicPeriod" startAt="2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单周周报、双周例会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每周周报时间：周一上午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双周例会时间：周五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17:30~18:10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例会内容为：上周工作进度、本周工作计划、业务推广进度、功能使用情况、风险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58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参与人员：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IT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项目管理团队、业务核心代表、业务负责人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600" dirty="0"/>
          </a:p>
          <a:p>
            <a:pPr marL="34290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600" dirty="0"/>
          </a:p>
        </p:txBody>
      </p:sp>
      <p:sp>
        <p:nvSpPr>
          <p:cNvPr id="3" name="文本框 2"/>
          <p:cNvSpPr txBox="1"/>
          <p:nvPr/>
        </p:nvSpPr>
        <p:spPr>
          <a:xfrm>
            <a:off x="525780" y="4768215"/>
            <a:ext cx="70751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Arial Black" panose="020B0A04020102020204" charset="0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业务方案发布及系统上线：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 Black" panose="020B0A04020102020204" charset="0"/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业务方案评审通过后发布邮件通知相关方；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 Black" panose="020B0A04020102020204" charset="0"/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系统上线后邮件通知相关方；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25780" y="257810"/>
            <a:ext cx="1605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项目风险</a:t>
            </a:r>
            <a:endParaRPr lang="zh-CN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52805" y="1113790"/>
          <a:ext cx="10486390" cy="4064635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978535"/>
                <a:gridCol w="4674235"/>
                <a:gridCol w="4833620"/>
              </a:tblGrid>
              <a:tr h="5029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</a:t>
                      </a: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风险点</a:t>
                      </a: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对策</a:t>
                      </a:r>
                      <a:endParaRPr lang="zh-CN" altLang="en-US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00A7DA"/>
                    </a:solidFill>
                  </a:tcPr>
                </a:tc>
              </a:tr>
              <a:tr h="466725">
                <a:tc>
                  <a:txBody>
                    <a:bodyPr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lang="en-US" altLang="zh-CN" sz="14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与</a:t>
                      </a:r>
                      <a:r>
                        <a:rPr lang="en-US" altLang="zh-CN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ISC</a:t>
                      </a:r>
                      <a:r>
                        <a:rPr lang="zh-CN" altLang="en-US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变革项目并行，项目过程中各部门职责、各部分需求有一定变更风险；</a:t>
                      </a:r>
                      <a:endParaRPr lang="zh-CN" altLang="en-US" sz="14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密切关注</a:t>
                      </a:r>
                      <a:r>
                        <a:rPr lang="en-US" altLang="zh-CN" sz="14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ISC</a:t>
                      </a:r>
                      <a:r>
                        <a:rPr lang="zh-CN" altLang="en-US" sz="1400" kern="12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变革项目进度，数据模型更加通用以快速应变；</a:t>
                      </a:r>
                      <a:endParaRPr lang="zh-CN" altLang="en-US" sz="1400" kern="12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</a:tr>
              <a:tr h="4559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lang="en-US" altLang="zh-CN" sz="14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部分指标目前的系统数据还无法支持统计或数据质量差；</a:t>
                      </a:r>
                      <a:endParaRPr lang="zh-CN" altLang="en-US" sz="14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评估后若暂不支持开发，在指标体系中标注后移除本期开发范围，落实人员负责跟进业务系统建设，待改造完成后再做补充；</a:t>
                      </a:r>
                      <a:endParaRPr lang="zh-CN" altLang="en-US" sz="14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lang="en-US" altLang="zh-CN" sz="14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开发资源较紧张，且本次项目对开发要求的标准高；</a:t>
                      </a:r>
                      <a:endParaRPr lang="zh-CN" altLang="en-US" sz="14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项目计划制定需详细可执行，成员严格按照计划目标执行；</a:t>
                      </a:r>
                      <a:endParaRPr lang="zh-CN" altLang="en-US" sz="14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A7DA">
                        <a:tint val="40000"/>
                      </a:srgbClr>
                    </a:solidFill>
                  </a:tcPr>
                </a:tc>
              </a:tr>
              <a:tr h="45339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lang="en-US" altLang="zh-CN" sz="14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业务分析主动性不强，</a:t>
                      </a:r>
                      <a:r>
                        <a:rPr lang="en-US" altLang="zh-CN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BI</a:t>
                      </a:r>
                      <a:r>
                        <a:rPr lang="zh-CN" altLang="en-US" sz="140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使用率不高</a:t>
                      </a:r>
                      <a:endParaRPr lang="zh-CN" altLang="en-US" sz="140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1.高层推动分析意识形成；</a:t>
                      </a:r>
                      <a:endParaRPr lang="zh-CN" altLang="en-US" sz="14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2.</a:t>
                      </a:r>
                      <a:r>
                        <a:rPr lang="zh-CN" altLang="en-US" sz="14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价值体系挂钩绩效体系，推动用户关注自己负责指标；</a:t>
                      </a:r>
                      <a:endParaRPr lang="zh-CN" altLang="en-US" sz="14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3.</a:t>
                      </a:r>
                      <a:r>
                        <a:rPr lang="zh-CN" altLang="en-US" sz="14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上线后</a:t>
                      </a:r>
                      <a:r>
                        <a:rPr lang="en-US" altLang="zh-CN" sz="14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BI</a:t>
                      </a:r>
                      <a:r>
                        <a:rPr lang="zh-CN" altLang="en-US" sz="1400" dirty="0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团队持续运营优化，倾听用户需求；</a:t>
                      </a:r>
                      <a:endParaRPr lang="zh-CN" altLang="en-US" sz="1400" dirty="0">
                        <a:solidFill>
                          <a:sysClr val="windowText" lastClr="000000">
                            <a:lumMod val="65000"/>
                            <a:lumOff val="35000"/>
                          </a:sys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7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25780" y="257810"/>
            <a:ext cx="16052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800" b="1" noProof="0" dirty="0" smtClean="0">
                <a:latin typeface="微软雅黑" panose="020B0503020204020204" charset="-122"/>
                <a:ea typeface="微软雅黑" panose="020B0503020204020204" charset="-122"/>
                <a:cs typeface="+mn-ea"/>
              </a:rPr>
              <a:t>项目文档</a:t>
            </a:r>
            <a:endParaRPr lang="zh-CN" sz="2000" b="1" noProof="0" dirty="0" smtClean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0"/>
          </p:nvPr>
        </p:nvSpPr>
        <p:spPr>
          <a:xfrm>
            <a:off x="615950" y="1358900"/>
            <a:ext cx="8504555" cy="2077085"/>
          </a:xfrm>
        </p:spPr>
        <p:txBody>
          <a:bodyPr>
            <a:normAutofit/>
          </a:bodyPr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700" dirty="0">
                <a:latin typeface="微软雅黑" panose="020B0503020204020204" charset="-122"/>
                <a:ea typeface="微软雅黑" panose="020B0503020204020204" charset="-122"/>
              </a:rPr>
              <a:t>项目过程文档存储在坚果云对应目录下；</a:t>
            </a:r>
            <a:endParaRPr lang="zh-CN" altLang="en-US" sz="17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17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700" dirty="0">
                <a:latin typeface="微软雅黑" panose="020B0503020204020204" charset="-122"/>
                <a:ea typeface="微软雅黑" panose="020B0503020204020204" charset="-122"/>
              </a:rPr>
              <a:t>结果文档存储在</a:t>
            </a:r>
            <a:r>
              <a:rPr lang="en-US" altLang="zh-CN" sz="1700" dirty="0">
                <a:latin typeface="微软雅黑" panose="020B0503020204020204" charset="-122"/>
                <a:ea typeface="微软雅黑" panose="020B0503020204020204" charset="-122"/>
              </a:rPr>
              <a:t>KB</a:t>
            </a:r>
            <a:r>
              <a:rPr lang="zh-CN" altLang="en-US" sz="1700" dirty="0">
                <a:latin typeface="微软雅黑" panose="020B0503020204020204" charset="-122"/>
                <a:ea typeface="微软雅黑" panose="020B0503020204020204" charset="-122"/>
              </a:rPr>
              <a:t>对应目录下；</a:t>
            </a:r>
            <a:endParaRPr lang="zh-CN" altLang="en-US" sz="17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17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7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知识文档承载工具待定；</a:t>
            </a:r>
            <a:endParaRPr lang="zh-CN" altLang="en-US" sz="17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7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7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7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endParaRPr lang="en-US" altLang="zh-CN" sz="17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1" indent="0">
              <a:buNone/>
            </a:pP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8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4809</Words>
  <Application>WPS 演示</Application>
  <PresentationFormat>宽屏</PresentationFormat>
  <Paragraphs>1023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Wingdings 2</vt:lpstr>
      <vt:lpstr>Segoe UI</vt:lpstr>
      <vt:lpstr>微软雅黑 Light</vt:lpstr>
      <vt:lpstr>华文细黑</vt:lpstr>
      <vt:lpstr>Arial</vt:lpstr>
      <vt:lpstr>Wingdings</vt:lpstr>
      <vt:lpstr>Arial Unicode MS</vt:lpstr>
      <vt:lpstr>Calibri Light</vt:lpstr>
      <vt:lpstr>Calibri</vt:lpstr>
      <vt:lpstr>华文楷体</vt:lpstr>
      <vt:lpstr>Arial Black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user</cp:lastModifiedBy>
  <cp:revision>83</cp:revision>
  <dcterms:created xsi:type="dcterms:W3CDTF">2019-12-20T02:14:00Z</dcterms:created>
  <dcterms:modified xsi:type="dcterms:W3CDTF">2020-01-03T01:08:07Z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2052-10.8.2.6948</vt:lpwstr>
  </property>
</Properties>
</file>
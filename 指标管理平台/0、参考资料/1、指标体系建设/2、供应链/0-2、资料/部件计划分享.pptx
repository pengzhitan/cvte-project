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1363" r:id="rId3"/>
    <p:sldId id="256" r:id="rId5"/>
    <p:sldId id="1273" r:id="rId6"/>
    <p:sldId id="1139" r:id="rId7"/>
    <p:sldId id="1214" r:id="rId8"/>
    <p:sldId id="1215" r:id="rId9"/>
    <p:sldId id="1272" r:id="rId10"/>
    <p:sldId id="1217" r:id="rId11"/>
    <p:sldId id="1222" r:id="rId12"/>
    <p:sldId id="1049" r:id="rId13"/>
    <p:sldId id="1219" r:id="rId14"/>
    <p:sldId id="1140" r:id="rId15"/>
    <p:sldId id="1221" r:id="rId16"/>
    <p:sldId id="1274" r:id="rId17"/>
    <p:sldId id="1168" r:id="rId18"/>
    <p:sldId id="1275" r:id="rId19"/>
    <p:sldId id="1169" r:id="rId20"/>
    <p:sldId id="1170" r:id="rId21"/>
    <p:sldId id="1171" r:id="rId22"/>
    <p:sldId id="1172" r:id="rId23"/>
    <p:sldId id="1173" r:id="rId24"/>
    <p:sldId id="1276" r:id="rId25"/>
    <p:sldId id="1277" r:id="rId26"/>
    <p:sldId id="1278" r:id="rId27"/>
    <p:sldId id="1280" r:id="rId28"/>
    <p:sldId id="1279" r:id="rId29"/>
    <p:sldId id="289" r:id="rId30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269BC02-4848-A649-8DFB-D83F1023BE9D}">
          <p14:sldIdLst>
            <p14:sldId id="1363"/>
            <p14:sldId id="256"/>
            <p14:sldId id="1273"/>
            <p14:sldId id="1139"/>
            <p14:sldId id="1214"/>
            <p14:sldId id="1215"/>
            <p14:sldId id="1272"/>
            <p14:sldId id="1217"/>
            <p14:sldId id="1222"/>
            <p14:sldId id="1049"/>
            <p14:sldId id="1219"/>
            <p14:sldId id="1140"/>
            <p14:sldId id="1221"/>
            <p14:sldId id="1274"/>
            <p14:sldId id="1168"/>
            <p14:sldId id="1275"/>
            <p14:sldId id="1169"/>
            <p14:sldId id="1170"/>
            <p14:sldId id="1171"/>
            <p14:sldId id="1172"/>
            <p14:sldId id="1173"/>
            <p14:sldId id="1276"/>
            <p14:sldId id="1277"/>
            <p14:sldId id="1278"/>
            <p14:sldId id="1280"/>
            <p14:sldId id="1279"/>
          </p14:sldIdLst>
        </p14:section>
        <p14:section name="无标题的节" id="{DB6ECE38-FC12-F14E-A203-DB3223792F39}">
          <p14:sldIdLst>
            <p14:sldId id="289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3128243880" initials="3" lastIdx="1" clrIdx="0"/>
  <p:cmAuthor id="0" name="Henderson , Turi (US - Seattle)" initials="" lastIdx="4" clrIdx="0"/>
  <p:cmAuthor id="15" name="Author" initials="A" lastIdx="0" clrIdx="14"/>
  <p:cmAuthor id="2" name="Jackey Yi Zhang" initials="A" lastIdx="2" clrIdx="2"/>
  <p:cmAuthor id="3" name="xuyihong" initials="x" lastIdx="1" clrIdx="2"/>
  <p:cmAuthor id="4" name="梁" initials="梁" lastIdx="6" clrIdx="3"/>
  <p:cmAuthor id="5" name="张" initials="张" lastIdx="2" clrIdx="4"/>
  <p:cmAuthor id="6" name="蒙" initials="蒙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FF"/>
    <a:srgbClr val="4276AA"/>
    <a:srgbClr val="FF3300"/>
    <a:srgbClr val="FFFFFF"/>
    <a:srgbClr val="FF6666"/>
    <a:srgbClr val="65BFBD"/>
    <a:srgbClr val="F22E00"/>
    <a:srgbClr val="FF8000"/>
    <a:srgbClr val="008040"/>
    <a:srgbClr val="800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9" autoAdjust="0"/>
    <p:restoredTop sz="86322" autoAdjust="0"/>
  </p:normalViewPr>
  <p:slideViewPr>
    <p:cSldViewPr snapToGrid="0">
      <p:cViewPr varScale="1">
        <p:scale>
          <a:sx n="82" d="100"/>
          <a:sy n="82" d="100"/>
        </p:scale>
        <p:origin x="55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904" y="-84"/>
      </p:cViewPr>
      <p:guideLst>
        <p:guide orient="horz" pos="3580"/>
        <p:guide pos="21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A641A-56C4-4192-80B4-39DDDA386BD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096C6-F09D-4D3C-9B73-43A959695B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3096C6-F09D-4D3C-9B73-43A959695B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3096C6-F09D-4D3C-9B73-43A959695B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3096C6-F09D-4D3C-9B73-43A959695B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3096C6-F09D-4D3C-9B73-43A959695B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3096C6-F09D-4D3C-9B73-43A959695B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3096C6-F09D-4D3C-9B73-43A959695B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3096C6-F09D-4D3C-9B73-43A959695B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3096C6-F09D-4D3C-9B73-43A959695B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90204" pitchFamily="34" charset="0"/>
                <a:ea typeface="PMingLiU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90204" pitchFamily="34" charset="0"/>
                <a:ea typeface="PMingLiU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9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9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90204" pitchFamily="34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90204" pitchFamily="34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90204" pitchFamily="34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90204" pitchFamily="34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90204" pitchFamily="34" charset="0"/>
                <a:ea typeface="PMingLiU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505A577-E7FA-459C-9DBA-5D0795C14FB8}" type="slidenum">
              <a:rPr lang="en-US" altLang="zh-TW">
                <a:ea typeface="華康簡黑(P)"/>
              </a:rPr>
            </a:fld>
            <a:endParaRPr lang="en-US" altLang="zh-TW">
              <a:ea typeface="華康簡黑(P)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3096C6-F09D-4D3C-9B73-43A959695B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基于物料及产能供应计算出建议承诺</a:t>
            </a:r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3096C6-F09D-4D3C-9B73-43A959695B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3096C6-F09D-4D3C-9B73-43A959695B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3096C6-F09D-4D3C-9B73-43A959695B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1130" y="1571133"/>
            <a:ext cx="3468590" cy="892636"/>
          </a:xfrm>
        </p:spPr>
        <p:txBody>
          <a:bodyPr anchor="b">
            <a:normAutofit/>
          </a:bodyPr>
          <a:lstStyle>
            <a:lvl1pPr algn="ctr">
              <a:defRPr sz="5000" b="1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课程名称</a:t>
            </a:r>
            <a:endParaRPr lang="en-US" dirty="0"/>
          </a:p>
        </p:txBody>
      </p:sp>
      <p:pic>
        <p:nvPicPr>
          <p:cNvPr id="7" name="Picture 3" descr="C:\Users\yyyy\Desktop\辅助图形2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43" t="52156" r="-2091" b="-4312"/>
          <a:stretch>
            <a:fillRect/>
          </a:stretch>
        </p:blipFill>
        <p:spPr bwMode="auto">
          <a:xfrm rot="10800000">
            <a:off x="4369719" y="3155854"/>
            <a:ext cx="4774282" cy="198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1878590" y="2717249"/>
            <a:ext cx="1506130" cy="328647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 baseline="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讲师姓名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1878590" y="3130630"/>
            <a:ext cx="1506130" cy="239254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2013.0</a:t>
            </a:r>
            <a:r>
              <a:rPr lang="en-US" altLang="zh-CN" dirty="0"/>
              <a:t>7</a:t>
            </a:r>
            <a:r>
              <a:rPr lang="en-US" dirty="0"/>
              <a:t>.01</a:t>
            </a:r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307653" y="646387"/>
            <a:ext cx="1234322" cy="549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6" y="662072"/>
            <a:ext cx="8280000" cy="33387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428937" y="2147891"/>
            <a:ext cx="8266498" cy="847724"/>
          </a:xfrm>
        </p:spPr>
        <p:txBody>
          <a:bodyPr>
            <a:normAutofit/>
          </a:bodyPr>
          <a:lstStyle>
            <a:lvl1pPr marL="0" indent="0" algn="ctr">
              <a:buNone/>
              <a:defRPr sz="4800" b="0" i="0" u="none">
                <a:solidFill>
                  <a:schemeClr val="tx1">
                    <a:lumMod val="50000"/>
                  </a:schemeClr>
                </a:solidFill>
                <a:effectLst/>
                <a:latin typeface="+mn-ea"/>
                <a:ea typeface="+mn-ea"/>
              </a:defRPr>
            </a:lvl1pPr>
          </a:lstStyle>
          <a:p>
            <a:pPr lvl="0"/>
            <a:r>
              <a:rPr lang="zh-CN" altLang="en-US" sz="4800" b="1" dirty="0"/>
              <a:t>章节标题</a:t>
            </a:r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801049" y="211767"/>
            <a:ext cx="907889" cy="40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6" y="662072"/>
            <a:ext cx="8280000" cy="33387"/>
          </a:xfrm>
          <a:prstGeom prst="rect">
            <a:avLst/>
          </a:prstGeom>
        </p:spPr>
      </p:pic>
      <p:sp>
        <p:nvSpPr>
          <p:cNvPr id="10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428939" y="149504"/>
            <a:ext cx="5252955" cy="5270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标题，</a:t>
            </a:r>
            <a:r>
              <a:rPr lang="en-US" altLang="zh-CN" dirty="0"/>
              <a:t>32</a:t>
            </a:r>
            <a:r>
              <a:rPr lang="zh-CN" altLang="en-US" dirty="0"/>
              <a:t>号，微软雅黑粗体</a:t>
            </a:r>
            <a:endParaRPr lang="zh-CN" altLang="en-US" dirty="0"/>
          </a:p>
        </p:txBody>
      </p:sp>
      <p:sp>
        <p:nvSpPr>
          <p:cNvPr id="11" name="内容占位符 15"/>
          <p:cNvSpPr>
            <a:spLocks noGrp="1"/>
          </p:cNvSpPr>
          <p:nvPr>
            <p:ph sz="quarter" idx="10" hasCustomPrompt="1"/>
          </p:nvPr>
        </p:nvSpPr>
        <p:spPr>
          <a:xfrm>
            <a:off x="428936" y="1009650"/>
            <a:ext cx="8263712" cy="3695700"/>
          </a:xfrm>
        </p:spPr>
        <p:txBody>
          <a:bodyPr/>
          <a:lstStyle>
            <a:lvl1pPr>
              <a:lnSpc>
                <a:spcPct val="125000"/>
              </a:lnSpc>
              <a:defRPr sz="28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25000"/>
              </a:lnSpc>
              <a:defRPr sz="24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25000"/>
              </a:lnSpc>
              <a:defRPr sz="20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028700" indent="0">
              <a:lnSpc>
                <a:spcPct val="125000"/>
              </a:lnSpc>
              <a:buNone/>
              <a:defRPr sz="1800"/>
            </a:lvl4pPr>
            <a:lvl5pPr marL="1371600" indent="0">
              <a:lnSpc>
                <a:spcPct val="125000"/>
              </a:lnSpc>
              <a:buNone/>
              <a:defRPr sz="1600"/>
            </a:lvl5pPr>
          </a:lstStyle>
          <a:p>
            <a:pPr lvl="0"/>
            <a:r>
              <a:rPr lang="zh-CN" altLang="en-US" dirty="0"/>
              <a:t>华文中宋，</a:t>
            </a:r>
            <a:r>
              <a:rPr lang="en-US" altLang="zh-CN" dirty="0"/>
              <a:t>28</a:t>
            </a:r>
            <a:r>
              <a:rPr lang="zh-CN" altLang="en-US" dirty="0"/>
              <a:t>号，行距</a:t>
            </a:r>
            <a:r>
              <a:rPr lang="en-US" altLang="zh-CN" dirty="0"/>
              <a:t>1.25</a:t>
            </a:r>
            <a:endParaRPr lang="en-US" altLang="zh-CN" dirty="0"/>
          </a:p>
          <a:p>
            <a:pPr lvl="0"/>
            <a:r>
              <a:rPr lang="zh-CN" altLang="en-US" dirty="0"/>
              <a:t>正文第一级，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zh-CN" altLang="en-US" dirty="0"/>
              <a:t>正文第二级，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  <a:p>
            <a:pPr lvl="2"/>
            <a:r>
              <a:rPr lang="zh-CN" altLang="en-US" dirty="0"/>
              <a:t>正文第三级，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801049" y="211767"/>
            <a:ext cx="907889" cy="40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6" y="662072"/>
            <a:ext cx="8280000" cy="33387"/>
          </a:xfrm>
          <a:prstGeom prst="rect">
            <a:avLst/>
          </a:prstGeom>
        </p:spPr>
      </p:pic>
      <p:sp>
        <p:nvSpPr>
          <p:cNvPr id="9" name="内容占位符 15"/>
          <p:cNvSpPr>
            <a:spLocks noGrp="1"/>
          </p:cNvSpPr>
          <p:nvPr>
            <p:ph sz="quarter" idx="10" hasCustomPrompt="1"/>
          </p:nvPr>
        </p:nvSpPr>
        <p:spPr>
          <a:xfrm>
            <a:off x="428936" y="1009650"/>
            <a:ext cx="4086309" cy="3695700"/>
          </a:xfrm>
        </p:spPr>
        <p:txBody>
          <a:bodyPr/>
          <a:lstStyle>
            <a:lvl1pPr>
              <a:lnSpc>
                <a:spcPct val="125000"/>
              </a:lnSpc>
              <a:defRPr sz="28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25000"/>
              </a:lnSpc>
              <a:defRPr sz="24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25000"/>
              </a:lnSpc>
              <a:defRPr sz="20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028700" indent="0">
              <a:lnSpc>
                <a:spcPct val="125000"/>
              </a:lnSpc>
              <a:buNone/>
              <a:defRPr sz="1800"/>
            </a:lvl4pPr>
            <a:lvl5pPr marL="1371600" indent="0">
              <a:lnSpc>
                <a:spcPct val="125000"/>
              </a:lnSpc>
              <a:buNone/>
              <a:defRPr sz="1600"/>
            </a:lvl5pPr>
          </a:lstStyle>
          <a:p>
            <a:pPr lvl="0"/>
            <a:r>
              <a:rPr lang="zh-CN" altLang="en-US" dirty="0"/>
              <a:t>华文中宋，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行距</a:t>
            </a:r>
            <a:r>
              <a:rPr lang="en-US" altLang="zh-CN" dirty="0"/>
              <a:t>1.25</a:t>
            </a:r>
            <a:endParaRPr lang="en-US" altLang="zh-CN" dirty="0"/>
          </a:p>
          <a:p>
            <a:pPr lvl="0"/>
            <a:r>
              <a:rPr lang="zh-CN" altLang="en-US" dirty="0"/>
              <a:t>正文第一级，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zh-CN" altLang="en-US" dirty="0"/>
              <a:t>正文第二级，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  <a:p>
            <a:pPr lvl="2"/>
            <a:r>
              <a:rPr lang="zh-CN" altLang="en-US" dirty="0"/>
              <a:t>正文第三级，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0" name="内容占位符 15"/>
          <p:cNvSpPr>
            <a:spLocks noGrp="1"/>
          </p:cNvSpPr>
          <p:nvPr>
            <p:ph sz="quarter" idx="14" hasCustomPrompt="1"/>
          </p:nvPr>
        </p:nvSpPr>
        <p:spPr>
          <a:xfrm>
            <a:off x="4609127" y="1009650"/>
            <a:ext cx="4086309" cy="3695700"/>
          </a:xfrm>
        </p:spPr>
        <p:txBody>
          <a:bodyPr/>
          <a:lstStyle>
            <a:lvl1pPr>
              <a:lnSpc>
                <a:spcPct val="125000"/>
              </a:lnSpc>
              <a:defRPr sz="28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25000"/>
              </a:lnSpc>
              <a:defRPr sz="24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25000"/>
              </a:lnSpc>
              <a:defRPr sz="20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028700" indent="0">
              <a:lnSpc>
                <a:spcPct val="125000"/>
              </a:lnSpc>
              <a:buNone/>
              <a:defRPr sz="1800"/>
            </a:lvl4pPr>
            <a:lvl5pPr marL="1371600" indent="0">
              <a:lnSpc>
                <a:spcPct val="125000"/>
              </a:lnSpc>
              <a:buNone/>
              <a:defRPr sz="1600"/>
            </a:lvl5pPr>
          </a:lstStyle>
          <a:p>
            <a:pPr lvl="0"/>
            <a:r>
              <a:rPr lang="zh-CN" altLang="en-US" dirty="0"/>
              <a:t>华文中宋，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行距</a:t>
            </a:r>
            <a:r>
              <a:rPr lang="en-US" altLang="zh-CN" dirty="0"/>
              <a:t>1.25</a:t>
            </a:r>
            <a:endParaRPr lang="en-US" altLang="zh-CN" dirty="0"/>
          </a:p>
          <a:p>
            <a:pPr lvl="0"/>
            <a:r>
              <a:rPr lang="zh-CN" altLang="en-US" dirty="0"/>
              <a:t>正文第一级，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zh-CN" altLang="en-US" dirty="0"/>
              <a:t>正文第二级，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  <a:p>
            <a:pPr lvl="2"/>
            <a:r>
              <a:rPr lang="zh-CN" altLang="en-US" dirty="0"/>
              <a:t>正文第三级，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7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428939" y="149504"/>
            <a:ext cx="5252955" cy="5270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标题，</a:t>
            </a:r>
            <a:r>
              <a:rPr lang="en-US" altLang="zh-CN" dirty="0"/>
              <a:t>32</a:t>
            </a:r>
            <a:r>
              <a:rPr lang="zh-CN" altLang="en-US" dirty="0"/>
              <a:t>号，微软雅黑粗体</a:t>
            </a:r>
            <a:endParaRPr lang="zh-CN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801049" y="211767"/>
            <a:ext cx="907889" cy="40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和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1" hasCustomPrompt="1"/>
          </p:nvPr>
        </p:nvSpPr>
        <p:spPr>
          <a:xfrm>
            <a:off x="3493642" y="1009653"/>
            <a:ext cx="5201794" cy="3695699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28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点击图标添加图片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6" y="662072"/>
            <a:ext cx="8280000" cy="33387"/>
          </a:xfrm>
          <a:prstGeom prst="rect">
            <a:avLst/>
          </a:prstGeom>
        </p:spPr>
      </p:pic>
      <p:sp>
        <p:nvSpPr>
          <p:cNvPr id="15" name="内容占位符 15"/>
          <p:cNvSpPr>
            <a:spLocks noGrp="1"/>
          </p:cNvSpPr>
          <p:nvPr>
            <p:ph sz="quarter" idx="10" hasCustomPrompt="1"/>
          </p:nvPr>
        </p:nvSpPr>
        <p:spPr>
          <a:xfrm>
            <a:off x="428937" y="1009650"/>
            <a:ext cx="2990538" cy="3695700"/>
          </a:xfrm>
        </p:spPr>
        <p:txBody>
          <a:bodyPr/>
          <a:lstStyle>
            <a:lvl1pPr>
              <a:lnSpc>
                <a:spcPct val="125000"/>
              </a:lnSpc>
              <a:defRPr sz="28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25000"/>
              </a:lnSpc>
              <a:defRPr sz="24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25000"/>
              </a:lnSpc>
              <a:defRPr sz="20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028700" indent="0">
              <a:lnSpc>
                <a:spcPct val="125000"/>
              </a:lnSpc>
              <a:buNone/>
              <a:defRPr sz="1800"/>
            </a:lvl4pPr>
            <a:lvl5pPr marL="1371600" indent="0">
              <a:lnSpc>
                <a:spcPct val="125000"/>
              </a:lnSpc>
              <a:buNone/>
              <a:defRPr sz="1600"/>
            </a:lvl5pPr>
          </a:lstStyle>
          <a:p>
            <a:pPr lvl="0"/>
            <a:r>
              <a:rPr lang="zh-CN" altLang="en-US" dirty="0"/>
              <a:t>华文中宋</a:t>
            </a:r>
            <a:endParaRPr lang="en-US" altLang="zh-CN" dirty="0"/>
          </a:p>
          <a:p>
            <a:pPr lvl="0"/>
            <a:r>
              <a:rPr lang="zh-CN" altLang="en-US" dirty="0"/>
              <a:t>行距</a:t>
            </a:r>
            <a:r>
              <a:rPr lang="en-US" altLang="zh-CN" dirty="0"/>
              <a:t>1.25</a:t>
            </a:r>
            <a:endParaRPr lang="en-US" altLang="zh-CN" dirty="0"/>
          </a:p>
          <a:p>
            <a:pPr lvl="0"/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第一级，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zh-CN" altLang="en-US" dirty="0"/>
              <a:t>第二级，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  <a:p>
            <a:pPr lvl="2"/>
            <a:r>
              <a:rPr lang="zh-CN" altLang="en-US" dirty="0"/>
              <a:t>第三级，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7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428939" y="149504"/>
            <a:ext cx="5252955" cy="5270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标题，</a:t>
            </a:r>
            <a:r>
              <a:rPr lang="en-US" altLang="zh-CN" dirty="0"/>
              <a:t>32</a:t>
            </a:r>
            <a:r>
              <a:rPr lang="zh-CN" altLang="en-US" dirty="0"/>
              <a:t>号，微软雅黑粗体</a:t>
            </a:r>
            <a:endParaRPr lang="zh-CN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801049" y="211767"/>
            <a:ext cx="907889" cy="40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6" y="662072"/>
            <a:ext cx="8280000" cy="33387"/>
          </a:xfrm>
          <a:prstGeom prst="rect">
            <a:avLst/>
          </a:prstGeom>
        </p:spPr>
      </p:pic>
      <p:sp>
        <p:nvSpPr>
          <p:cNvPr id="5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428939" y="149504"/>
            <a:ext cx="5252955" cy="5270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标题，</a:t>
            </a:r>
            <a:r>
              <a:rPr lang="en-US" altLang="zh-CN" dirty="0"/>
              <a:t>32</a:t>
            </a:r>
            <a:r>
              <a:rPr lang="zh-CN" altLang="en-US" dirty="0"/>
              <a:t>号，微软雅黑粗体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801049" y="211767"/>
            <a:ext cx="907889" cy="40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yyyy\Desktop\辅助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000" y="2598443"/>
            <a:ext cx="1368000" cy="3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3695700" y="2886076"/>
            <a:ext cx="1752600" cy="399459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讲师姓名</a:t>
            </a:r>
            <a:endParaRPr lang="en-US" altLang="zh-CN" dirty="0"/>
          </a:p>
        </p:txBody>
      </p:sp>
      <p:sp>
        <p:nvSpPr>
          <p:cNvPr id="11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3695700" y="3285536"/>
            <a:ext cx="1752600" cy="335848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dirty="0"/>
              <a:t>2013.07.01</a:t>
            </a:r>
            <a:endParaRPr lang="en-US" altLang="zh-CN" dirty="0"/>
          </a:p>
        </p:txBody>
      </p:sp>
      <p:pic>
        <p:nvPicPr>
          <p:cNvPr id="6" name="Picture 2" descr="C:\Users\user\Desktop\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014" y="1745093"/>
            <a:ext cx="1609976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63-FBB7-4837-95DB-348E6D288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63-FBB7-4837-95DB-348E6D288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Users\yyyy\Desktop\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038" y="372904"/>
            <a:ext cx="647700" cy="25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C:\Users\yyyy\Desktop\辅助1.jp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/>
          <a:stretch>
            <a:fillRect/>
          </a:stretch>
        </p:blipFill>
        <p:spPr bwMode="auto">
          <a:xfrm>
            <a:off x="428625" y="734378"/>
            <a:ext cx="8280400" cy="1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77534" y="211665"/>
            <a:ext cx="6641664" cy="5384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一级标题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5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21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6726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6"/>
            <a:ext cx="30861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6726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FEC63-FBB7-4837-95DB-348E6D2883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6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tags" Target="../tags/tag3.xml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1" Type="http://schemas.openxmlformats.org/officeDocument/2006/relationships/notesSlide" Target="../notesSlides/notesSlide5.xml"/><Relationship Id="rId50" Type="http://schemas.openxmlformats.org/officeDocument/2006/relationships/slideLayout" Target="../slideLayouts/slideLayout6.xml"/><Relationship Id="rId5" Type="http://schemas.openxmlformats.org/officeDocument/2006/relationships/tags" Target="../tags/tag28.xml"/><Relationship Id="rId49" Type="http://schemas.openxmlformats.org/officeDocument/2006/relationships/tags" Target="../tags/tag72.xml"/><Relationship Id="rId48" Type="http://schemas.openxmlformats.org/officeDocument/2006/relationships/tags" Target="../tags/tag71.xml"/><Relationship Id="rId47" Type="http://schemas.openxmlformats.org/officeDocument/2006/relationships/tags" Target="../tags/tag70.xml"/><Relationship Id="rId46" Type="http://schemas.openxmlformats.org/officeDocument/2006/relationships/tags" Target="../tags/tag69.xml"/><Relationship Id="rId45" Type="http://schemas.openxmlformats.org/officeDocument/2006/relationships/tags" Target="../tags/tag68.xml"/><Relationship Id="rId44" Type="http://schemas.openxmlformats.org/officeDocument/2006/relationships/tags" Target="../tags/tag67.xml"/><Relationship Id="rId43" Type="http://schemas.openxmlformats.org/officeDocument/2006/relationships/tags" Target="../tags/tag66.xml"/><Relationship Id="rId42" Type="http://schemas.openxmlformats.org/officeDocument/2006/relationships/tags" Target="../tags/tag65.xml"/><Relationship Id="rId41" Type="http://schemas.openxmlformats.org/officeDocument/2006/relationships/tags" Target="../tags/tag64.xml"/><Relationship Id="rId40" Type="http://schemas.openxmlformats.org/officeDocument/2006/relationships/tags" Target="../tags/tag63.xml"/><Relationship Id="rId4" Type="http://schemas.openxmlformats.org/officeDocument/2006/relationships/tags" Target="../tags/tag27.xml"/><Relationship Id="rId39" Type="http://schemas.openxmlformats.org/officeDocument/2006/relationships/tags" Target="../tags/tag62.xml"/><Relationship Id="rId38" Type="http://schemas.openxmlformats.org/officeDocument/2006/relationships/tags" Target="../tags/tag61.xml"/><Relationship Id="rId37" Type="http://schemas.openxmlformats.org/officeDocument/2006/relationships/tags" Target="../tags/tag60.xml"/><Relationship Id="rId36" Type="http://schemas.openxmlformats.org/officeDocument/2006/relationships/tags" Target="../tags/tag59.xml"/><Relationship Id="rId35" Type="http://schemas.openxmlformats.org/officeDocument/2006/relationships/tags" Target="../tags/tag58.xml"/><Relationship Id="rId34" Type="http://schemas.openxmlformats.org/officeDocument/2006/relationships/tags" Target="../tags/tag57.xml"/><Relationship Id="rId33" Type="http://schemas.openxmlformats.org/officeDocument/2006/relationships/tags" Target="../tags/tag56.xml"/><Relationship Id="rId32" Type="http://schemas.openxmlformats.org/officeDocument/2006/relationships/tags" Target="../tags/tag55.xml"/><Relationship Id="rId31" Type="http://schemas.openxmlformats.org/officeDocument/2006/relationships/tags" Target="../tags/tag54.xml"/><Relationship Id="rId30" Type="http://schemas.openxmlformats.org/officeDocument/2006/relationships/tags" Target="../tags/tag53.xml"/><Relationship Id="rId3" Type="http://schemas.openxmlformats.org/officeDocument/2006/relationships/tags" Target="../tags/tag26.xml"/><Relationship Id="rId29" Type="http://schemas.openxmlformats.org/officeDocument/2006/relationships/tags" Target="../tags/tag52.xml"/><Relationship Id="rId28" Type="http://schemas.openxmlformats.org/officeDocument/2006/relationships/tags" Target="../tags/tag51.xml"/><Relationship Id="rId27" Type="http://schemas.openxmlformats.org/officeDocument/2006/relationships/tags" Target="../tags/tag50.xml"/><Relationship Id="rId26" Type="http://schemas.openxmlformats.org/officeDocument/2006/relationships/tags" Target="../tags/tag49.xml"/><Relationship Id="rId25" Type="http://schemas.openxmlformats.org/officeDocument/2006/relationships/tags" Target="../tags/tag4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tags" Target="../tags/tag7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tags" Target="../tags/tag7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tags" Target="../tags/tag7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tags" Target="../tags/tag7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tags" Target="../tags/tag78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6" Type="http://schemas.openxmlformats.org/officeDocument/2006/relationships/notesSlide" Target="../notesSlides/notesSlide18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tags" Target="../tags/tag8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image" Target="../media/image20.png"/><Relationship Id="rId2" Type="http://schemas.openxmlformats.org/officeDocument/2006/relationships/tags" Target="../tags/tag96.xml"/><Relationship Id="rId19" Type="http://schemas.openxmlformats.org/officeDocument/2006/relationships/notesSlide" Target="../notesSlides/notesSlide19.x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tags" Target="../tags/tag9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9" Type="http://schemas.openxmlformats.org/officeDocument/2006/relationships/notesSlide" Target="../notesSlides/notesSlide20.xml"/><Relationship Id="rId48" Type="http://schemas.openxmlformats.org/officeDocument/2006/relationships/slideLayout" Target="../slideLayouts/slideLayout3.xml"/><Relationship Id="rId47" Type="http://schemas.openxmlformats.org/officeDocument/2006/relationships/tags" Target="../tags/tag157.xml"/><Relationship Id="rId46" Type="http://schemas.openxmlformats.org/officeDocument/2006/relationships/tags" Target="../tags/tag156.xml"/><Relationship Id="rId45" Type="http://schemas.openxmlformats.org/officeDocument/2006/relationships/tags" Target="../tags/tag155.xml"/><Relationship Id="rId44" Type="http://schemas.openxmlformats.org/officeDocument/2006/relationships/tags" Target="../tags/tag154.xml"/><Relationship Id="rId43" Type="http://schemas.openxmlformats.org/officeDocument/2006/relationships/tags" Target="../tags/tag153.xml"/><Relationship Id="rId42" Type="http://schemas.openxmlformats.org/officeDocument/2006/relationships/tags" Target="../tags/tag152.xml"/><Relationship Id="rId41" Type="http://schemas.openxmlformats.org/officeDocument/2006/relationships/tags" Target="../tags/tag151.xml"/><Relationship Id="rId40" Type="http://schemas.openxmlformats.org/officeDocument/2006/relationships/tags" Target="../tags/tag150.xml"/><Relationship Id="rId4" Type="http://schemas.openxmlformats.org/officeDocument/2006/relationships/tags" Target="../tags/tag114.xml"/><Relationship Id="rId39" Type="http://schemas.openxmlformats.org/officeDocument/2006/relationships/tags" Target="../tags/tag149.xml"/><Relationship Id="rId38" Type="http://schemas.openxmlformats.org/officeDocument/2006/relationships/tags" Target="../tags/tag148.xml"/><Relationship Id="rId37" Type="http://schemas.openxmlformats.org/officeDocument/2006/relationships/tags" Target="../tags/tag147.xml"/><Relationship Id="rId36" Type="http://schemas.openxmlformats.org/officeDocument/2006/relationships/tags" Target="../tags/tag146.xml"/><Relationship Id="rId35" Type="http://schemas.openxmlformats.org/officeDocument/2006/relationships/tags" Target="../tags/tag145.xml"/><Relationship Id="rId34" Type="http://schemas.openxmlformats.org/officeDocument/2006/relationships/tags" Target="../tags/tag144.xml"/><Relationship Id="rId33" Type="http://schemas.openxmlformats.org/officeDocument/2006/relationships/tags" Target="../tags/tag143.xml"/><Relationship Id="rId32" Type="http://schemas.openxmlformats.org/officeDocument/2006/relationships/tags" Target="../tags/tag142.xml"/><Relationship Id="rId31" Type="http://schemas.openxmlformats.org/officeDocument/2006/relationships/tags" Target="../tags/tag141.xml"/><Relationship Id="rId30" Type="http://schemas.openxmlformats.org/officeDocument/2006/relationships/tags" Target="../tags/tag140.xml"/><Relationship Id="rId3" Type="http://schemas.openxmlformats.org/officeDocument/2006/relationships/tags" Target="../tags/tag113.xml"/><Relationship Id="rId29" Type="http://schemas.openxmlformats.org/officeDocument/2006/relationships/tags" Target="../tags/tag139.xml"/><Relationship Id="rId28" Type="http://schemas.openxmlformats.org/officeDocument/2006/relationships/tags" Target="../tags/tag138.xml"/><Relationship Id="rId27" Type="http://schemas.openxmlformats.org/officeDocument/2006/relationships/tags" Target="../tags/tag137.xml"/><Relationship Id="rId26" Type="http://schemas.openxmlformats.org/officeDocument/2006/relationships/tags" Target="../tags/tag136.xml"/><Relationship Id="rId25" Type="http://schemas.openxmlformats.org/officeDocument/2006/relationships/tags" Target="../tags/tag135.xml"/><Relationship Id="rId24" Type="http://schemas.openxmlformats.org/officeDocument/2006/relationships/tags" Target="../tags/tag134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2.xml"/><Relationship Id="rId19" Type="http://schemas.openxmlformats.org/officeDocument/2006/relationships/tags" Target="../tags/tag129.xml"/><Relationship Id="rId18" Type="http://schemas.openxmlformats.org/officeDocument/2006/relationships/tags" Target="../tags/tag128.xml"/><Relationship Id="rId17" Type="http://schemas.openxmlformats.org/officeDocument/2006/relationships/tags" Target="../tags/tag127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tags" Target="../tags/tag11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tags" Target="../tags/tag158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tags" Target="../tags/tag159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1" Type="http://schemas.openxmlformats.org/officeDocument/2006/relationships/tags" Target="../tags/tag160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5.png"/><Relationship Id="rId3" Type="http://schemas.openxmlformats.org/officeDocument/2006/relationships/tags" Target="../tags/tag162.xml"/><Relationship Id="rId2" Type="http://schemas.openxmlformats.org/officeDocument/2006/relationships/image" Target="../media/image24.png"/><Relationship Id="rId1" Type="http://schemas.openxmlformats.org/officeDocument/2006/relationships/tags" Target="../tags/tag16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sz="quarter" idx="12"/>
          </p:nvPr>
        </p:nvSpPr>
        <p:spPr/>
        <p:txBody>
          <a:bodyPr/>
          <a:p>
            <a:r>
              <a:rPr lang="zh-CN" altLang="en-US"/>
              <a:t>扫码</a:t>
            </a:r>
            <a:r>
              <a:rPr lang="zh-CN" altLang="en-US"/>
              <a:t>签到</a:t>
            </a:r>
            <a:endParaRPr lang="zh-CN" altLang="en-US"/>
          </a:p>
        </p:txBody>
      </p:sp>
      <p:pic>
        <p:nvPicPr>
          <p:cNvPr id="3" name="图片 2" descr="企业微信截图_8265e4ee-b0c7-4a30-8226-7ae05ae77af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0" y="135255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0942" y="1309512"/>
            <a:ext cx="7998106" cy="1298521"/>
          </a:xfrm>
        </p:spPr>
        <p:txBody>
          <a:bodyPr>
            <a:no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部件计划分享</a:t>
            </a:r>
            <a:b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平衡的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快落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21983" y="3629025"/>
            <a:ext cx="25952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李超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2024.01.17</a:t>
            </a:r>
            <a:endParaRPr lang="en-US" altLang="zh-CN">
              <a:solidFill>
                <a:schemeClr val="tx1">
                  <a:lumMod val="50000"/>
                  <a:lumOff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28936" y="922238"/>
            <a:ext cx="8263712" cy="3695700"/>
          </a:xfrm>
        </p:spPr>
        <p:txBody>
          <a:bodyPr>
            <a:normAutofit/>
          </a:bodyPr>
          <a:lstStyle/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计划组织架构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+mn-ea"/>
              <a:ea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系统总体框架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计划整体流程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+mn-ea"/>
                <a:ea typeface="+mn-ea"/>
              </a:rPr>
              <a:t>重点模块速看</a:t>
            </a:r>
            <a:endParaRPr lang="zh-CN" altLang="en-US" sz="2400" dirty="0">
              <a:latin typeface="+mn-ea"/>
              <a:ea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+mn-ea"/>
                <a:ea typeface="+mn-ea"/>
              </a:rPr>
              <a:t>实操作业</a:t>
            </a:r>
            <a:endParaRPr lang="en-US" altLang="zh-CN" sz="2400" dirty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文本占位符 161"/>
          <p:cNvSpPr>
            <a:spLocks noGrp="1"/>
          </p:cNvSpPr>
          <p:nvPr>
            <p:ph type="body" sz="quarter" idx="12"/>
          </p:nvPr>
        </p:nvSpPr>
        <p:spPr>
          <a:xfrm>
            <a:off x="428625" y="149225"/>
            <a:ext cx="5755640" cy="527050"/>
          </a:xfrm>
        </p:spPr>
        <p:txBody>
          <a:bodyPr/>
          <a:lstStyle/>
          <a:p>
            <a:r>
              <a:rPr lang="zh-CN" altLang="en-US" dirty="0"/>
              <a:t>计划组织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101" name="Oval 59"/>
          <p:cNvSpPr/>
          <p:nvPr>
            <p:custDataLst>
              <p:tags r:id="rId1"/>
            </p:custDataLst>
          </p:nvPr>
        </p:nvSpPr>
        <p:spPr>
          <a:xfrm>
            <a:off x="2553398" y="863178"/>
            <a:ext cx="1002177" cy="1002177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2" name="Oval 60"/>
          <p:cNvSpPr/>
          <p:nvPr>
            <p:custDataLst>
              <p:tags r:id="rId2"/>
            </p:custDataLst>
          </p:nvPr>
        </p:nvSpPr>
        <p:spPr>
          <a:xfrm>
            <a:off x="486407" y="2181041"/>
            <a:ext cx="1002177" cy="1002177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4" name="Oval 62"/>
          <p:cNvSpPr/>
          <p:nvPr>
            <p:custDataLst>
              <p:tags r:id="rId3"/>
            </p:custDataLst>
          </p:nvPr>
        </p:nvSpPr>
        <p:spPr>
          <a:xfrm>
            <a:off x="484545" y="3498904"/>
            <a:ext cx="1002177" cy="1002177"/>
          </a:xfrm>
          <a:prstGeom prst="ellipse">
            <a:avLst/>
          </a:prstGeom>
          <a:solidFill>
            <a:schemeClr val="accent5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5" name="Oval 63"/>
          <p:cNvSpPr/>
          <p:nvPr>
            <p:custDataLst>
              <p:tags r:id="rId4"/>
            </p:custDataLst>
          </p:nvPr>
        </p:nvSpPr>
        <p:spPr>
          <a:xfrm>
            <a:off x="4687228" y="2181041"/>
            <a:ext cx="1002177" cy="1002177"/>
          </a:xfrm>
          <a:prstGeom prst="ellipse">
            <a:avLst/>
          </a:prstGeom>
          <a:solidFill>
            <a:schemeClr val="accent3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6" name="Oval 64"/>
          <p:cNvSpPr/>
          <p:nvPr>
            <p:custDataLst>
              <p:tags r:id="rId5"/>
            </p:custDataLst>
          </p:nvPr>
        </p:nvSpPr>
        <p:spPr>
          <a:xfrm>
            <a:off x="4686303" y="3498904"/>
            <a:ext cx="1002177" cy="1002177"/>
          </a:xfrm>
          <a:prstGeom prst="ellipse">
            <a:avLst/>
          </a:prstGeom>
          <a:solidFill>
            <a:schemeClr val="accent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7" name="TextBox 65"/>
          <p:cNvSpPr txBox="1"/>
          <p:nvPr>
            <p:custDataLst>
              <p:tags r:id="rId6"/>
            </p:custDataLst>
          </p:nvPr>
        </p:nvSpPr>
        <p:spPr>
          <a:xfrm>
            <a:off x="2567151" y="1162603"/>
            <a:ext cx="996950" cy="33591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6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计划</a:t>
            </a:r>
            <a:r>
              <a:rPr lang="zh-CN" altLang="en-US" sz="16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中心</a:t>
            </a:r>
            <a:endParaRPr lang="zh-CN" altLang="en-US" sz="16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08" name="TextBox 66"/>
          <p:cNvSpPr txBox="1"/>
          <p:nvPr>
            <p:custDataLst>
              <p:tags r:id="rId7"/>
            </p:custDataLst>
          </p:nvPr>
        </p:nvSpPr>
        <p:spPr>
          <a:xfrm>
            <a:off x="4651425" y="2499391"/>
            <a:ext cx="1073785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物料计划部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09" name="TextBox 67"/>
          <p:cNvSpPr txBox="1"/>
          <p:nvPr>
            <p:custDataLst>
              <p:tags r:id="rId8"/>
            </p:custDataLst>
          </p:nvPr>
        </p:nvSpPr>
        <p:spPr>
          <a:xfrm>
            <a:off x="428324" y="2521671"/>
            <a:ext cx="1073785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交付管理部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10" name="TextBox 68"/>
          <p:cNvSpPr txBox="1"/>
          <p:nvPr>
            <p:custDataLst>
              <p:tags r:id="rId9"/>
            </p:custDataLst>
          </p:nvPr>
        </p:nvSpPr>
        <p:spPr>
          <a:xfrm>
            <a:off x="1917814" y="3836179"/>
            <a:ext cx="895350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输入标题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11" name="TextBox 69"/>
          <p:cNvSpPr txBox="1"/>
          <p:nvPr>
            <p:custDataLst>
              <p:tags r:id="rId10"/>
            </p:custDataLst>
          </p:nvPr>
        </p:nvSpPr>
        <p:spPr>
          <a:xfrm>
            <a:off x="4662290" y="3836179"/>
            <a:ext cx="1073785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物料计划</a:t>
            </a:r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员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12" name="TextBox 70"/>
          <p:cNvSpPr txBox="1"/>
          <p:nvPr>
            <p:custDataLst>
              <p:tags r:id="rId11"/>
            </p:custDataLst>
          </p:nvPr>
        </p:nvSpPr>
        <p:spPr>
          <a:xfrm>
            <a:off x="493313" y="3836179"/>
            <a:ext cx="895350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交付</a:t>
            </a:r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经理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cxnSp>
        <p:nvCxnSpPr>
          <p:cNvPr id="113" name="肘形连接符 112"/>
          <p:cNvCxnSpPr>
            <a:stCxn id="101" idx="4"/>
            <a:endCxn id="102" idx="0"/>
          </p:cNvCxnSpPr>
          <p:nvPr/>
        </p:nvCxnSpPr>
        <p:spPr>
          <a:xfrm rot="5400000">
            <a:off x="1862455" y="989330"/>
            <a:ext cx="316230" cy="2066925"/>
          </a:xfrm>
          <a:prstGeom prst="bentConnector3">
            <a:avLst>
              <a:gd name="adj1" fmla="val 49900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肘形连接符 113"/>
          <p:cNvCxnSpPr>
            <a:stCxn id="101" idx="4"/>
            <a:endCxn id="105" idx="0"/>
          </p:cNvCxnSpPr>
          <p:nvPr>
            <p:custDataLst>
              <p:tags r:id="rId12"/>
            </p:custDataLst>
          </p:nvPr>
        </p:nvCxnSpPr>
        <p:spPr>
          <a:xfrm rot="5400000" flipV="1">
            <a:off x="3963035" y="956310"/>
            <a:ext cx="316230" cy="2133600"/>
          </a:xfrm>
          <a:prstGeom prst="bentConnector3">
            <a:avLst>
              <a:gd name="adj1" fmla="val 50000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5" name="肘形连接符 114"/>
          <p:cNvCxnSpPr>
            <a:stCxn id="102" idx="4"/>
            <a:endCxn id="104" idx="0"/>
          </p:cNvCxnSpPr>
          <p:nvPr>
            <p:custDataLst>
              <p:tags r:id="rId13"/>
            </p:custDataLst>
          </p:nvPr>
        </p:nvCxnSpPr>
        <p:spPr>
          <a:xfrm rot="5400000">
            <a:off x="828675" y="3340100"/>
            <a:ext cx="315595" cy="190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肘形连接符 115"/>
          <p:cNvCxnSpPr>
            <a:stCxn id="105" idx="4"/>
            <a:endCxn id="106" idx="0"/>
          </p:cNvCxnSpPr>
          <p:nvPr>
            <p:custDataLst>
              <p:tags r:id="rId14"/>
            </p:custDataLst>
          </p:nvPr>
        </p:nvCxnSpPr>
        <p:spPr>
          <a:xfrm rot="5400000">
            <a:off x="5029835" y="3340735"/>
            <a:ext cx="315595" cy="63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7" name="Oval 59"/>
          <p:cNvSpPr/>
          <p:nvPr>
            <p:custDataLst>
              <p:tags r:id="rId15"/>
            </p:custDataLst>
          </p:nvPr>
        </p:nvSpPr>
        <p:spPr>
          <a:xfrm>
            <a:off x="7087298" y="863813"/>
            <a:ext cx="1002177" cy="1002177"/>
          </a:xfrm>
          <a:prstGeom prst="ellipse">
            <a:avLst/>
          </a:prstGeom>
          <a:solidFill>
            <a:schemeClr val="accent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8" name="TextBox 65"/>
          <p:cNvSpPr txBox="1"/>
          <p:nvPr>
            <p:custDataLst>
              <p:tags r:id="rId16"/>
            </p:custDataLst>
          </p:nvPr>
        </p:nvSpPr>
        <p:spPr>
          <a:xfrm>
            <a:off x="7050886" y="1162603"/>
            <a:ext cx="996950" cy="33591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6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制造</a:t>
            </a:r>
            <a:r>
              <a:rPr lang="zh-CN" altLang="en-US" sz="16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中心</a:t>
            </a:r>
            <a:endParaRPr lang="zh-CN" altLang="en-US" sz="16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25" name="Oval 63"/>
          <p:cNvSpPr/>
          <p:nvPr>
            <p:custDataLst>
              <p:tags r:id="rId17"/>
            </p:custDataLst>
          </p:nvPr>
        </p:nvSpPr>
        <p:spPr>
          <a:xfrm>
            <a:off x="7086893" y="2181041"/>
            <a:ext cx="1002177" cy="100217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6" name="Oval 64"/>
          <p:cNvSpPr/>
          <p:nvPr>
            <p:custDataLst>
              <p:tags r:id="rId18"/>
            </p:custDataLst>
          </p:nvPr>
        </p:nvSpPr>
        <p:spPr>
          <a:xfrm>
            <a:off x="7085968" y="3498904"/>
            <a:ext cx="1002177" cy="100217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7" name="TextBox 66"/>
          <p:cNvSpPr txBox="1"/>
          <p:nvPr>
            <p:custDataLst>
              <p:tags r:id="rId19"/>
            </p:custDataLst>
          </p:nvPr>
        </p:nvSpPr>
        <p:spPr>
          <a:xfrm>
            <a:off x="7051090" y="2499391"/>
            <a:ext cx="1073785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生产</a:t>
            </a:r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管理部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28" name="TextBox 69"/>
          <p:cNvSpPr txBox="1"/>
          <p:nvPr>
            <p:custDataLst>
              <p:tags r:id="rId20"/>
            </p:custDataLst>
          </p:nvPr>
        </p:nvSpPr>
        <p:spPr>
          <a:xfrm>
            <a:off x="7151173" y="3836179"/>
            <a:ext cx="895350" cy="520700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生产管理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工程师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cxnSp>
        <p:nvCxnSpPr>
          <p:cNvPr id="129" name="肘形连接符 128"/>
          <p:cNvCxnSpPr>
            <a:stCxn id="125" idx="4"/>
            <a:endCxn id="126" idx="0"/>
          </p:cNvCxnSpPr>
          <p:nvPr>
            <p:custDataLst>
              <p:tags r:id="rId21"/>
            </p:custDataLst>
          </p:nvPr>
        </p:nvCxnSpPr>
        <p:spPr>
          <a:xfrm rot="5400000">
            <a:off x="7429500" y="3340735"/>
            <a:ext cx="315595" cy="63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0" name="肘形连接符 129"/>
          <p:cNvCxnSpPr>
            <a:stCxn id="117" idx="4"/>
            <a:endCxn id="125" idx="0"/>
          </p:cNvCxnSpPr>
          <p:nvPr>
            <p:custDataLst>
              <p:tags r:id="rId22"/>
            </p:custDataLst>
          </p:nvPr>
        </p:nvCxnSpPr>
        <p:spPr>
          <a:xfrm rot="5400000">
            <a:off x="7430135" y="2023110"/>
            <a:ext cx="315595" cy="63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780415" y="929005"/>
            <a:ext cx="1123315" cy="58356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accent4">
                    <a:lumMod val="75000"/>
                  </a:schemeClr>
                </a:solidFill>
              </a:rPr>
              <a:t>你以为的</a:t>
            </a:r>
            <a:endParaRPr lang="zh-CN" altLang="en-US" sz="1600" b="1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accent4">
                    <a:lumMod val="75000"/>
                  </a:schemeClr>
                </a:solidFill>
              </a:rPr>
              <a:t>计划人员</a:t>
            </a:r>
            <a:endParaRPr lang="zh-CN" altLang="en-US" sz="1600" b="1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文本占位符 161"/>
          <p:cNvSpPr>
            <a:spLocks noGrp="1"/>
          </p:cNvSpPr>
          <p:nvPr>
            <p:ph type="body" sz="quarter" idx="12"/>
          </p:nvPr>
        </p:nvSpPr>
        <p:spPr>
          <a:xfrm>
            <a:off x="428625" y="149225"/>
            <a:ext cx="5755640" cy="527050"/>
          </a:xfrm>
        </p:spPr>
        <p:txBody>
          <a:bodyPr/>
          <a:lstStyle/>
          <a:p>
            <a:r>
              <a:rPr lang="zh-CN" altLang="en-US" dirty="0"/>
              <a:t>计划组织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101" name="Oval 59"/>
          <p:cNvSpPr/>
          <p:nvPr>
            <p:custDataLst>
              <p:tags r:id="rId1"/>
            </p:custDataLst>
          </p:nvPr>
        </p:nvSpPr>
        <p:spPr>
          <a:xfrm>
            <a:off x="4856543" y="900643"/>
            <a:ext cx="1002177" cy="1002177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2" name="Oval 60"/>
          <p:cNvSpPr/>
          <p:nvPr>
            <p:custDataLst>
              <p:tags r:id="rId2"/>
            </p:custDataLst>
          </p:nvPr>
        </p:nvSpPr>
        <p:spPr>
          <a:xfrm>
            <a:off x="4116702" y="2218506"/>
            <a:ext cx="1002177" cy="1002177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4" name="Oval 62"/>
          <p:cNvSpPr/>
          <p:nvPr>
            <p:custDataLst>
              <p:tags r:id="rId3"/>
            </p:custDataLst>
          </p:nvPr>
        </p:nvSpPr>
        <p:spPr>
          <a:xfrm>
            <a:off x="4114840" y="3536369"/>
            <a:ext cx="1002177" cy="1002177"/>
          </a:xfrm>
          <a:prstGeom prst="ellipse">
            <a:avLst/>
          </a:prstGeom>
          <a:solidFill>
            <a:schemeClr val="accent5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5" name="Oval 63"/>
          <p:cNvSpPr/>
          <p:nvPr>
            <p:custDataLst>
              <p:tags r:id="rId4"/>
            </p:custDataLst>
          </p:nvPr>
        </p:nvSpPr>
        <p:spPr>
          <a:xfrm>
            <a:off x="5578768" y="2218506"/>
            <a:ext cx="1002177" cy="1002177"/>
          </a:xfrm>
          <a:prstGeom prst="ellipse">
            <a:avLst/>
          </a:prstGeom>
          <a:solidFill>
            <a:schemeClr val="accent3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6" name="Oval 64"/>
          <p:cNvSpPr/>
          <p:nvPr>
            <p:custDataLst>
              <p:tags r:id="rId5"/>
            </p:custDataLst>
          </p:nvPr>
        </p:nvSpPr>
        <p:spPr>
          <a:xfrm>
            <a:off x="5577843" y="3536369"/>
            <a:ext cx="1002177" cy="1002177"/>
          </a:xfrm>
          <a:prstGeom prst="ellipse">
            <a:avLst/>
          </a:prstGeom>
          <a:solidFill>
            <a:schemeClr val="accent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7" name="TextBox 65"/>
          <p:cNvSpPr txBox="1"/>
          <p:nvPr>
            <p:custDataLst>
              <p:tags r:id="rId6"/>
            </p:custDataLst>
          </p:nvPr>
        </p:nvSpPr>
        <p:spPr>
          <a:xfrm>
            <a:off x="4870296" y="1200068"/>
            <a:ext cx="996950" cy="33591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6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计划</a:t>
            </a:r>
            <a:r>
              <a:rPr lang="zh-CN" altLang="en-US" sz="16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中心</a:t>
            </a:r>
            <a:endParaRPr lang="zh-CN" altLang="en-US" sz="16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08" name="TextBox 66"/>
          <p:cNvSpPr txBox="1"/>
          <p:nvPr>
            <p:custDataLst>
              <p:tags r:id="rId7"/>
            </p:custDataLst>
          </p:nvPr>
        </p:nvSpPr>
        <p:spPr>
          <a:xfrm>
            <a:off x="5542965" y="2536856"/>
            <a:ext cx="1073785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物料计划部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09" name="TextBox 67"/>
          <p:cNvSpPr txBox="1"/>
          <p:nvPr>
            <p:custDataLst>
              <p:tags r:id="rId8"/>
            </p:custDataLst>
          </p:nvPr>
        </p:nvSpPr>
        <p:spPr>
          <a:xfrm>
            <a:off x="4058619" y="2559136"/>
            <a:ext cx="1073785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交付管理部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10" name="TextBox 68"/>
          <p:cNvSpPr txBox="1"/>
          <p:nvPr>
            <p:custDataLst>
              <p:tags r:id="rId9"/>
            </p:custDataLst>
          </p:nvPr>
        </p:nvSpPr>
        <p:spPr>
          <a:xfrm>
            <a:off x="4220959" y="3873644"/>
            <a:ext cx="895350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交付</a:t>
            </a:r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经理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11" name="TextBox 69"/>
          <p:cNvSpPr txBox="1"/>
          <p:nvPr>
            <p:custDataLst>
              <p:tags r:id="rId10"/>
            </p:custDataLst>
          </p:nvPr>
        </p:nvSpPr>
        <p:spPr>
          <a:xfrm>
            <a:off x="5553830" y="3873644"/>
            <a:ext cx="1073785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物料计划</a:t>
            </a:r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员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cxnSp>
        <p:nvCxnSpPr>
          <p:cNvPr id="113" name="肘形连接符 112"/>
          <p:cNvCxnSpPr>
            <a:stCxn id="101" idx="4"/>
            <a:endCxn id="102" idx="0"/>
          </p:cNvCxnSpPr>
          <p:nvPr/>
        </p:nvCxnSpPr>
        <p:spPr>
          <a:xfrm rot="5400000">
            <a:off x="4829493" y="1690688"/>
            <a:ext cx="316230" cy="739775"/>
          </a:xfrm>
          <a:prstGeom prst="bentConnector3">
            <a:avLst>
              <a:gd name="adj1" fmla="val 49900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肘形连接符 113"/>
          <p:cNvCxnSpPr>
            <a:stCxn id="101" idx="4"/>
            <a:endCxn id="105" idx="0"/>
          </p:cNvCxnSpPr>
          <p:nvPr>
            <p:custDataLst>
              <p:tags r:id="rId11"/>
            </p:custDataLst>
          </p:nvPr>
        </p:nvCxnSpPr>
        <p:spPr>
          <a:xfrm rot="5400000" flipV="1">
            <a:off x="5560378" y="1699578"/>
            <a:ext cx="316230" cy="721995"/>
          </a:xfrm>
          <a:prstGeom prst="bentConnector3">
            <a:avLst>
              <a:gd name="adj1" fmla="val 49900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5" name="肘形连接符 114"/>
          <p:cNvCxnSpPr>
            <a:stCxn id="102" idx="4"/>
            <a:endCxn id="104" idx="0"/>
          </p:cNvCxnSpPr>
          <p:nvPr>
            <p:custDataLst>
              <p:tags r:id="rId12"/>
            </p:custDataLst>
          </p:nvPr>
        </p:nvCxnSpPr>
        <p:spPr>
          <a:xfrm rot="5400000">
            <a:off x="4458970" y="3377565"/>
            <a:ext cx="315595" cy="190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肘形连接符 115"/>
          <p:cNvCxnSpPr>
            <a:stCxn id="105" idx="4"/>
            <a:endCxn id="106" idx="0"/>
          </p:cNvCxnSpPr>
          <p:nvPr>
            <p:custDataLst>
              <p:tags r:id="rId13"/>
            </p:custDataLst>
          </p:nvPr>
        </p:nvCxnSpPr>
        <p:spPr>
          <a:xfrm rot="5400000">
            <a:off x="5921375" y="3378200"/>
            <a:ext cx="315595" cy="63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7" name="Oval 59"/>
          <p:cNvSpPr/>
          <p:nvPr>
            <p:custDataLst>
              <p:tags r:id="rId14"/>
            </p:custDataLst>
          </p:nvPr>
        </p:nvSpPr>
        <p:spPr>
          <a:xfrm>
            <a:off x="6773608" y="863813"/>
            <a:ext cx="1002177" cy="1002177"/>
          </a:xfrm>
          <a:prstGeom prst="ellipse">
            <a:avLst/>
          </a:prstGeom>
          <a:solidFill>
            <a:schemeClr val="accent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8" name="TextBox 65"/>
          <p:cNvSpPr txBox="1"/>
          <p:nvPr>
            <p:custDataLst>
              <p:tags r:id="rId15"/>
            </p:custDataLst>
          </p:nvPr>
        </p:nvSpPr>
        <p:spPr>
          <a:xfrm>
            <a:off x="6737196" y="1162603"/>
            <a:ext cx="996950" cy="33591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6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制造</a:t>
            </a:r>
            <a:r>
              <a:rPr lang="zh-CN" altLang="en-US" sz="16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中心</a:t>
            </a:r>
            <a:endParaRPr lang="zh-CN" altLang="en-US" sz="16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25" name="Oval 63"/>
          <p:cNvSpPr/>
          <p:nvPr>
            <p:custDataLst>
              <p:tags r:id="rId16"/>
            </p:custDataLst>
          </p:nvPr>
        </p:nvSpPr>
        <p:spPr>
          <a:xfrm>
            <a:off x="6773203" y="2181041"/>
            <a:ext cx="1002177" cy="100217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6" name="Oval 64"/>
          <p:cNvSpPr/>
          <p:nvPr>
            <p:custDataLst>
              <p:tags r:id="rId17"/>
            </p:custDataLst>
          </p:nvPr>
        </p:nvSpPr>
        <p:spPr>
          <a:xfrm>
            <a:off x="6772278" y="3498904"/>
            <a:ext cx="1002177" cy="100217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7" name="TextBox 66"/>
          <p:cNvSpPr txBox="1"/>
          <p:nvPr>
            <p:custDataLst>
              <p:tags r:id="rId18"/>
            </p:custDataLst>
          </p:nvPr>
        </p:nvSpPr>
        <p:spPr>
          <a:xfrm>
            <a:off x="6737400" y="2499391"/>
            <a:ext cx="1073785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生产</a:t>
            </a:r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管理部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28" name="TextBox 69"/>
          <p:cNvSpPr txBox="1"/>
          <p:nvPr>
            <p:custDataLst>
              <p:tags r:id="rId19"/>
            </p:custDataLst>
          </p:nvPr>
        </p:nvSpPr>
        <p:spPr>
          <a:xfrm>
            <a:off x="6837483" y="3836179"/>
            <a:ext cx="895350" cy="520700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生产管理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工程师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cxnSp>
        <p:nvCxnSpPr>
          <p:cNvPr id="129" name="肘形连接符 128"/>
          <p:cNvCxnSpPr>
            <a:stCxn id="125" idx="4"/>
            <a:endCxn id="126" idx="0"/>
          </p:cNvCxnSpPr>
          <p:nvPr>
            <p:custDataLst>
              <p:tags r:id="rId20"/>
            </p:custDataLst>
          </p:nvPr>
        </p:nvCxnSpPr>
        <p:spPr>
          <a:xfrm rot="5400000">
            <a:off x="7115810" y="3340735"/>
            <a:ext cx="315595" cy="63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0" name="肘形连接符 129"/>
          <p:cNvCxnSpPr>
            <a:stCxn id="117" idx="4"/>
            <a:endCxn id="125" idx="0"/>
          </p:cNvCxnSpPr>
          <p:nvPr>
            <p:custDataLst>
              <p:tags r:id="rId21"/>
            </p:custDataLst>
          </p:nvPr>
        </p:nvCxnSpPr>
        <p:spPr>
          <a:xfrm rot="5400000">
            <a:off x="7116445" y="2023110"/>
            <a:ext cx="315595" cy="63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259080" y="863600"/>
            <a:ext cx="1123315" cy="58356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accent4">
                    <a:lumMod val="75000"/>
                  </a:schemeClr>
                </a:solidFill>
              </a:rPr>
              <a:t>实际的</a:t>
            </a:r>
            <a:endParaRPr lang="zh-CN" altLang="en-US" sz="1600" b="1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accent4">
                    <a:lumMod val="75000"/>
                  </a:schemeClr>
                </a:solidFill>
              </a:rPr>
              <a:t>计划人员</a:t>
            </a:r>
            <a:endParaRPr lang="zh-CN" altLang="en-US" sz="16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Oval 59"/>
          <p:cNvSpPr/>
          <p:nvPr>
            <p:custDataLst>
              <p:tags r:id="rId22"/>
            </p:custDataLst>
          </p:nvPr>
        </p:nvSpPr>
        <p:spPr>
          <a:xfrm>
            <a:off x="1453578" y="906993"/>
            <a:ext cx="1002177" cy="1002177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Oval 60"/>
          <p:cNvSpPr/>
          <p:nvPr>
            <p:custDataLst>
              <p:tags r:id="rId23"/>
            </p:custDataLst>
          </p:nvPr>
        </p:nvSpPr>
        <p:spPr>
          <a:xfrm>
            <a:off x="1449702" y="2224856"/>
            <a:ext cx="1002177" cy="100217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Oval 62"/>
          <p:cNvSpPr/>
          <p:nvPr>
            <p:custDataLst>
              <p:tags r:id="rId24"/>
            </p:custDataLst>
          </p:nvPr>
        </p:nvSpPr>
        <p:spPr>
          <a:xfrm>
            <a:off x="1447840" y="3542719"/>
            <a:ext cx="1002177" cy="1002177"/>
          </a:xfrm>
          <a:prstGeom prst="ellipse">
            <a:avLst/>
          </a:prstGeom>
          <a:solidFill>
            <a:schemeClr val="accent5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Oval 63"/>
          <p:cNvSpPr/>
          <p:nvPr>
            <p:custDataLst>
              <p:tags r:id="rId25"/>
            </p:custDataLst>
          </p:nvPr>
        </p:nvSpPr>
        <p:spPr>
          <a:xfrm>
            <a:off x="2911768" y="2224856"/>
            <a:ext cx="1002177" cy="1002177"/>
          </a:xfrm>
          <a:prstGeom prst="ellipse">
            <a:avLst/>
          </a:prstGeom>
          <a:solidFill>
            <a:schemeClr val="accent3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Oval 64"/>
          <p:cNvSpPr/>
          <p:nvPr>
            <p:custDataLst>
              <p:tags r:id="rId26"/>
            </p:custDataLst>
          </p:nvPr>
        </p:nvSpPr>
        <p:spPr>
          <a:xfrm>
            <a:off x="2910843" y="3542719"/>
            <a:ext cx="1002177" cy="1002177"/>
          </a:xfrm>
          <a:prstGeom prst="ellipse">
            <a:avLst/>
          </a:prstGeom>
          <a:solidFill>
            <a:schemeClr val="accent6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TextBox 65"/>
          <p:cNvSpPr txBox="1"/>
          <p:nvPr>
            <p:custDataLst>
              <p:tags r:id="rId27"/>
            </p:custDataLst>
          </p:nvPr>
        </p:nvSpPr>
        <p:spPr>
          <a:xfrm>
            <a:off x="1491461" y="1206418"/>
            <a:ext cx="996950" cy="33591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6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营销</a:t>
            </a:r>
            <a:r>
              <a:rPr lang="zh-CN" altLang="en-US" sz="16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中心</a:t>
            </a:r>
            <a:endParaRPr lang="zh-CN" altLang="en-US" sz="16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8" name="TextBox 66"/>
          <p:cNvSpPr txBox="1"/>
          <p:nvPr>
            <p:custDataLst>
              <p:tags r:id="rId28"/>
            </p:custDataLst>
          </p:nvPr>
        </p:nvSpPr>
        <p:spPr>
          <a:xfrm>
            <a:off x="2875965" y="2543206"/>
            <a:ext cx="1073785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综合管理</a:t>
            </a:r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部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9" name="TextBox 67"/>
          <p:cNvSpPr txBox="1"/>
          <p:nvPr>
            <p:custDataLst>
              <p:tags r:id="rId29"/>
            </p:custDataLst>
          </p:nvPr>
        </p:nvSpPr>
        <p:spPr>
          <a:xfrm>
            <a:off x="1570054" y="2565486"/>
            <a:ext cx="716915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各</a:t>
            </a:r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战队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0" name="TextBox 68"/>
          <p:cNvSpPr txBox="1"/>
          <p:nvPr>
            <p:custDataLst>
              <p:tags r:id="rId30"/>
            </p:custDataLst>
          </p:nvPr>
        </p:nvSpPr>
        <p:spPr>
          <a:xfrm>
            <a:off x="1732394" y="3879994"/>
            <a:ext cx="538480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销售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1" name="TextBox 69"/>
          <p:cNvSpPr txBox="1"/>
          <p:nvPr>
            <p:custDataLst>
              <p:tags r:id="rId31"/>
            </p:custDataLst>
          </p:nvPr>
        </p:nvSpPr>
        <p:spPr>
          <a:xfrm>
            <a:off x="3154483" y="3879994"/>
            <a:ext cx="538480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销管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cxnSp>
        <p:nvCxnSpPr>
          <p:cNvPr id="12" name="肘形连接符 11"/>
          <p:cNvCxnSpPr>
            <a:stCxn id="2" idx="4"/>
            <a:endCxn id="3" idx="0"/>
          </p:cNvCxnSpPr>
          <p:nvPr>
            <p:custDataLst>
              <p:tags r:id="rId32"/>
            </p:custDataLst>
          </p:nvPr>
        </p:nvCxnSpPr>
        <p:spPr>
          <a:xfrm rot="5400000">
            <a:off x="1794510" y="2065020"/>
            <a:ext cx="316230" cy="3810"/>
          </a:xfrm>
          <a:prstGeom prst="bentConnector3">
            <a:avLst>
              <a:gd name="adj1" fmla="val 50000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stCxn id="2" idx="4"/>
            <a:endCxn id="5" idx="0"/>
          </p:cNvCxnSpPr>
          <p:nvPr>
            <p:custDataLst>
              <p:tags r:id="rId33"/>
            </p:custDataLst>
          </p:nvPr>
        </p:nvCxnSpPr>
        <p:spPr>
          <a:xfrm rot="5400000" flipV="1">
            <a:off x="2525395" y="1337945"/>
            <a:ext cx="316230" cy="1457960"/>
          </a:xfrm>
          <a:prstGeom prst="bentConnector3">
            <a:avLst>
              <a:gd name="adj1" fmla="val 50000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3" idx="4"/>
            <a:endCxn id="4" idx="0"/>
          </p:cNvCxnSpPr>
          <p:nvPr>
            <p:custDataLst>
              <p:tags r:id="rId34"/>
            </p:custDataLst>
          </p:nvPr>
        </p:nvCxnSpPr>
        <p:spPr>
          <a:xfrm rot="5400000">
            <a:off x="1791970" y="3383915"/>
            <a:ext cx="315595" cy="190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stCxn id="5" idx="4"/>
            <a:endCxn id="6" idx="0"/>
          </p:cNvCxnSpPr>
          <p:nvPr>
            <p:custDataLst>
              <p:tags r:id="rId35"/>
            </p:custDataLst>
          </p:nvPr>
        </p:nvCxnSpPr>
        <p:spPr>
          <a:xfrm rot="5400000">
            <a:off x="3254375" y="3384550"/>
            <a:ext cx="315595" cy="63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Oval 60"/>
          <p:cNvSpPr/>
          <p:nvPr>
            <p:custDataLst>
              <p:tags r:id="rId36"/>
            </p:custDataLst>
          </p:nvPr>
        </p:nvSpPr>
        <p:spPr>
          <a:xfrm>
            <a:off x="165097" y="2224856"/>
            <a:ext cx="1002177" cy="100217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7" name="Oval 62"/>
          <p:cNvSpPr/>
          <p:nvPr>
            <p:custDataLst>
              <p:tags r:id="rId37"/>
            </p:custDataLst>
          </p:nvPr>
        </p:nvSpPr>
        <p:spPr>
          <a:xfrm>
            <a:off x="163235" y="3542719"/>
            <a:ext cx="1002177" cy="1002177"/>
          </a:xfrm>
          <a:prstGeom prst="ellipse">
            <a:avLst/>
          </a:prstGeom>
          <a:solidFill>
            <a:schemeClr val="accent5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8" name="TextBox 67"/>
          <p:cNvSpPr txBox="1"/>
          <p:nvPr>
            <p:custDataLst>
              <p:tags r:id="rId38"/>
            </p:custDataLst>
          </p:nvPr>
        </p:nvSpPr>
        <p:spPr>
          <a:xfrm>
            <a:off x="285449" y="2565486"/>
            <a:ext cx="716915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各</a:t>
            </a:r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战队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19" name="TextBox 68"/>
          <p:cNvSpPr txBox="1"/>
          <p:nvPr>
            <p:custDataLst>
              <p:tags r:id="rId39"/>
            </p:custDataLst>
          </p:nvPr>
        </p:nvSpPr>
        <p:spPr>
          <a:xfrm>
            <a:off x="269354" y="3879994"/>
            <a:ext cx="895350" cy="520700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客户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产品</a:t>
            </a:r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经理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cxnSp>
        <p:nvCxnSpPr>
          <p:cNvPr id="20" name="肘形连接符 19"/>
          <p:cNvCxnSpPr>
            <a:stCxn id="16" idx="4"/>
            <a:endCxn id="17" idx="0"/>
          </p:cNvCxnSpPr>
          <p:nvPr>
            <p:custDataLst>
              <p:tags r:id="rId40"/>
            </p:custDataLst>
          </p:nvPr>
        </p:nvCxnSpPr>
        <p:spPr>
          <a:xfrm rot="5400000">
            <a:off x="507365" y="3383915"/>
            <a:ext cx="315595" cy="190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2" idx="4"/>
            <a:endCxn id="16" idx="0"/>
          </p:cNvCxnSpPr>
          <p:nvPr>
            <p:custDataLst>
              <p:tags r:id="rId41"/>
            </p:custDataLst>
          </p:nvPr>
        </p:nvCxnSpPr>
        <p:spPr>
          <a:xfrm rot="5400000">
            <a:off x="1152208" y="1422718"/>
            <a:ext cx="316230" cy="1288415"/>
          </a:xfrm>
          <a:prstGeom prst="bentConnector3">
            <a:avLst>
              <a:gd name="adj1" fmla="val 49900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Oval 59"/>
          <p:cNvSpPr/>
          <p:nvPr>
            <p:custDataLst>
              <p:tags r:id="rId42"/>
            </p:custDataLst>
          </p:nvPr>
        </p:nvSpPr>
        <p:spPr>
          <a:xfrm>
            <a:off x="7997888" y="882863"/>
            <a:ext cx="1002177" cy="1002177"/>
          </a:xfrm>
          <a:prstGeom prst="ellipse">
            <a:avLst/>
          </a:prstGeom>
          <a:solidFill>
            <a:schemeClr val="accent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3" name="TextBox 65"/>
          <p:cNvSpPr txBox="1"/>
          <p:nvPr>
            <p:custDataLst>
              <p:tags r:id="rId43"/>
            </p:custDataLst>
          </p:nvPr>
        </p:nvSpPr>
        <p:spPr>
          <a:xfrm>
            <a:off x="7961476" y="1181653"/>
            <a:ext cx="996950" cy="33591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6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执</a:t>
            </a:r>
            <a:r>
              <a:rPr lang="zh-CN" altLang="en-US" sz="16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采中心</a:t>
            </a:r>
            <a:endParaRPr lang="zh-CN" altLang="en-US" sz="16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24" name="Oval 63"/>
          <p:cNvSpPr/>
          <p:nvPr>
            <p:custDataLst>
              <p:tags r:id="rId44"/>
            </p:custDataLst>
          </p:nvPr>
        </p:nvSpPr>
        <p:spPr>
          <a:xfrm>
            <a:off x="7997483" y="2200091"/>
            <a:ext cx="1002177" cy="100217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5" name="Oval 64"/>
          <p:cNvSpPr/>
          <p:nvPr>
            <p:custDataLst>
              <p:tags r:id="rId45"/>
            </p:custDataLst>
          </p:nvPr>
        </p:nvSpPr>
        <p:spPr>
          <a:xfrm>
            <a:off x="7996558" y="3517954"/>
            <a:ext cx="1002177" cy="100217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6" name="TextBox 66"/>
          <p:cNvSpPr txBox="1"/>
          <p:nvPr>
            <p:custDataLst>
              <p:tags r:id="rId46"/>
            </p:custDataLst>
          </p:nvPr>
        </p:nvSpPr>
        <p:spPr>
          <a:xfrm>
            <a:off x="7961680" y="2518441"/>
            <a:ext cx="1073785" cy="305435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各执采</a:t>
            </a:r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部门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sp>
        <p:nvSpPr>
          <p:cNvPr id="27" name="TextBox 69"/>
          <p:cNvSpPr txBox="1"/>
          <p:nvPr>
            <p:custDataLst>
              <p:tags r:id="rId47"/>
            </p:custDataLst>
          </p:nvPr>
        </p:nvSpPr>
        <p:spPr>
          <a:xfrm>
            <a:off x="8150981" y="3855229"/>
            <a:ext cx="716915" cy="520700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采购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  <a:p>
            <a:pPr algn="ctr" defTabSz="914400"/>
            <a:r>
              <a:rPr lang="zh-CN" altLang="en-US" sz="1400" b="1" dirty="0">
                <a:solidFill>
                  <a:prstClr val="white"/>
                </a:solidFill>
                <a:latin typeface="思源黑体 CN Light"/>
                <a:ea typeface="思源黑体 CN Light"/>
              </a:rPr>
              <a:t>工程师</a:t>
            </a:r>
            <a:endParaRPr lang="zh-CN" altLang="en-US" sz="1400" b="1" dirty="0">
              <a:solidFill>
                <a:prstClr val="white"/>
              </a:solidFill>
              <a:latin typeface="思源黑体 CN Light"/>
              <a:ea typeface="思源黑体 CN Light"/>
            </a:endParaRPr>
          </a:p>
        </p:txBody>
      </p:sp>
      <p:cxnSp>
        <p:nvCxnSpPr>
          <p:cNvPr id="28" name="肘形连接符 27"/>
          <p:cNvCxnSpPr>
            <a:stCxn id="24" idx="4"/>
            <a:endCxn id="25" idx="0"/>
          </p:cNvCxnSpPr>
          <p:nvPr>
            <p:custDataLst>
              <p:tags r:id="rId48"/>
            </p:custDataLst>
          </p:nvPr>
        </p:nvCxnSpPr>
        <p:spPr>
          <a:xfrm rot="5400000">
            <a:off x="8340090" y="3359785"/>
            <a:ext cx="315595" cy="63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2" idx="4"/>
            <a:endCxn id="24" idx="0"/>
          </p:cNvCxnSpPr>
          <p:nvPr>
            <p:custDataLst>
              <p:tags r:id="rId49"/>
            </p:custDataLst>
          </p:nvPr>
        </p:nvCxnSpPr>
        <p:spPr>
          <a:xfrm rot="5400000">
            <a:off x="8340725" y="2042160"/>
            <a:ext cx="315595" cy="635"/>
          </a:xfrm>
          <a:prstGeom prst="bentConnector3">
            <a:avLst>
              <a:gd name="adj1" fmla="val 50101"/>
            </a:avLst>
          </a:prstGeom>
          <a:ln w="34925" cap="flat" cmpd="sng">
            <a:solidFill>
              <a:schemeClr val="accent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文本占位符 161"/>
          <p:cNvSpPr>
            <a:spLocks noGrp="1"/>
          </p:cNvSpPr>
          <p:nvPr>
            <p:ph type="body" sz="quarter" idx="12"/>
          </p:nvPr>
        </p:nvSpPr>
        <p:spPr>
          <a:xfrm>
            <a:off x="428625" y="149225"/>
            <a:ext cx="5755640" cy="527050"/>
          </a:xfrm>
        </p:spPr>
        <p:txBody>
          <a:bodyPr/>
          <a:lstStyle/>
          <a:p>
            <a:r>
              <a:rPr lang="zh-CN" altLang="en-US" dirty="0"/>
              <a:t>计划组织架构</a:t>
            </a:r>
            <a:endParaRPr lang="zh-CN" altLang="en-US" dirty="0"/>
          </a:p>
        </p:txBody>
      </p:sp>
      <p:graphicFrame>
        <p:nvGraphicFramePr>
          <p:cNvPr id="120" name="表格 119"/>
          <p:cNvGraphicFramePr/>
          <p:nvPr>
            <p:custDataLst>
              <p:tags r:id="rId1"/>
            </p:custDataLst>
          </p:nvPr>
        </p:nvGraphicFramePr>
        <p:xfrm>
          <a:off x="428625" y="753745"/>
          <a:ext cx="815403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885"/>
                <a:gridCol w="2340610"/>
                <a:gridCol w="4701540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岗位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主要负责内容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大致事项</a:t>
                      </a: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客户产品经理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新品</a:t>
                      </a:r>
                      <a:r>
                        <a:rPr lang="en-US" altLang="zh-CN" sz="1200"/>
                        <a:t>/</a:t>
                      </a:r>
                      <a:r>
                        <a:rPr lang="zh-CN" altLang="en-US" sz="1200"/>
                        <a:t>产品退市联动计划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Wingdings" panose="05000000000000000000" charset="0"/>
                        <a:buChar char="ü"/>
                      </a:pPr>
                      <a:r>
                        <a:rPr lang="zh-CN" altLang="en-US" sz="1200"/>
                        <a:t>新</a:t>
                      </a:r>
                      <a:r>
                        <a:rPr lang="en-US" altLang="zh-CN" sz="1200"/>
                        <a:t>/</a:t>
                      </a:r>
                      <a:r>
                        <a:rPr lang="zh-CN" altLang="en-US" sz="1200"/>
                        <a:t>旧品重点节点资源拉通联动计划</a:t>
                      </a:r>
                      <a:endParaRPr lang="zh-CN" altLang="en-US" sz="1200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销售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预测管理计划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Wingdings" panose="05000000000000000000" charset="0"/>
                        <a:buChar char="ü"/>
                      </a:pPr>
                      <a:r>
                        <a:rPr lang="zh-CN" altLang="en-US" sz="1200"/>
                        <a:t>预测收集及变更</a:t>
                      </a:r>
                      <a:endParaRPr lang="zh-CN" altLang="en-US" sz="1200"/>
                    </a:p>
                    <a:p>
                      <a:pPr marL="285750" indent="-285750">
                        <a:buFont typeface="Wingdings" panose="05000000000000000000" charset="0"/>
                        <a:buChar char="ü"/>
                      </a:pPr>
                      <a:r>
                        <a:rPr lang="zh-CN" altLang="en-US" sz="1200"/>
                        <a:t>年度</a:t>
                      </a:r>
                      <a:r>
                        <a:rPr lang="en-US" altLang="zh-CN" sz="1200"/>
                        <a:t>BP</a:t>
                      </a:r>
                      <a:r>
                        <a:rPr lang="zh-CN" altLang="en-US" sz="1200"/>
                        <a:t>及更新</a:t>
                      </a:r>
                      <a:endParaRPr lang="zh-CN" altLang="en-US" sz="1200"/>
                    </a:p>
                    <a:p>
                      <a:pPr marL="285750" indent="-285750">
                        <a:buFont typeface="Wingdings" panose="05000000000000000000" charset="0"/>
                        <a:buChar char="ü"/>
                      </a:pPr>
                      <a:r>
                        <a:rPr lang="zh-CN" altLang="en-US" sz="1200"/>
                        <a:t>交付异常协同跟进</a:t>
                      </a:r>
                      <a:endParaRPr lang="zh-CN" altLang="en-US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销管</a:t>
                      </a:r>
                      <a:endParaRPr lang="zh-CN" altLang="en-US" sz="1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订单执行管理</a:t>
                      </a:r>
                      <a:endParaRPr lang="zh-CN" altLang="en-US" sz="1200"/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备料计划管理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Wingdings" panose="05000000000000000000" charset="0"/>
                        <a:buChar char="ü"/>
                      </a:pPr>
                      <a:r>
                        <a:rPr lang="zh-CN" sz="1200"/>
                        <a:t>订单全流程管理及跟进</a:t>
                      </a:r>
                      <a:endParaRPr lang="zh-CN" sz="1200"/>
                    </a:p>
                    <a:p>
                      <a:pPr marL="285750" indent="-285750">
                        <a:buFont typeface="Wingdings" panose="05000000000000000000" charset="0"/>
                        <a:buChar char="ü"/>
                      </a:pPr>
                      <a:r>
                        <a:rPr lang="zh-CN" sz="1200"/>
                        <a:t>管理客户需求及时提交备料计划</a:t>
                      </a:r>
                      <a:endParaRPr lang="zh-CN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交付经理</a:t>
                      </a:r>
                      <a:endParaRPr lang="zh-CN" altLang="en-US" sz="1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预测管理</a:t>
                      </a:r>
                      <a:endParaRPr lang="zh-CN" altLang="en-US" sz="1200"/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产销协同</a:t>
                      </a:r>
                      <a:r>
                        <a:rPr lang="en-US" altLang="zh-CN" sz="1200"/>
                        <a:t>S&amp;OP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Wingdings" panose="05000000000000000000" charset="0"/>
                        <a:buChar char="ü"/>
                      </a:pPr>
                      <a:r>
                        <a:rPr lang="zh-CN" altLang="en-US" sz="1200" kern="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年度</a:t>
                      </a:r>
                      <a:r>
                        <a:rPr lang="en-US" altLang="zh-CN" sz="1200" kern="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BP</a:t>
                      </a:r>
                      <a:r>
                        <a:rPr lang="zh-CN" altLang="en-US" sz="1200" kern="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计划分析</a:t>
                      </a:r>
                      <a:endParaRPr lang="zh-CN" altLang="en-US" sz="1200" kern="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285750" indent="-285750">
                        <a:buFont typeface="Wingdings" panose="05000000000000000000" charset="0"/>
                        <a:buChar char="ü"/>
                      </a:pPr>
                      <a:r>
                        <a:rPr lang="zh-CN" altLang="en-US" sz="1200" kern="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预测分析及反馈</a:t>
                      </a:r>
                      <a:endParaRPr lang="zh-CN" altLang="en-US" sz="1200" kern="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生产管理工程师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产能</a:t>
                      </a:r>
                      <a:r>
                        <a:rPr lang="zh-CN" altLang="en-US" sz="1200"/>
                        <a:t>规划</a:t>
                      </a:r>
                      <a:endParaRPr lang="zh-CN" altLang="en-US" sz="1200"/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订单</a:t>
                      </a:r>
                      <a:r>
                        <a:rPr lang="zh-CN" altLang="en-US" sz="1200"/>
                        <a:t>承诺</a:t>
                      </a:r>
                      <a:endParaRPr lang="zh-CN" altLang="en-US" sz="1200"/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工厂</a:t>
                      </a:r>
                      <a:r>
                        <a:rPr lang="zh-CN" altLang="en-US" sz="1200"/>
                        <a:t>分配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Wingdings" panose="05000000000000000000" charset="0"/>
                        <a:buChar char=""/>
                      </a:pPr>
                      <a:r>
                        <a:rPr lang="zh-CN" altLang="en-US" sz="1200">
                          <a:sym typeface="+mn-ea"/>
                        </a:rPr>
                        <a:t>产能规划</a:t>
                      </a:r>
                      <a:endParaRPr lang="zh-CN" altLang="en-US" sz="1200"/>
                    </a:p>
                    <a:p>
                      <a:pPr marL="285750" indent="-285750">
                        <a:buFont typeface="Wingdings" panose="05000000000000000000" charset="0"/>
                        <a:buChar char=""/>
                      </a:pPr>
                      <a:r>
                        <a:rPr lang="zh-CN" altLang="en-US" sz="1200">
                          <a:sym typeface="+mn-ea"/>
                        </a:rPr>
                        <a:t>订单承诺</a:t>
                      </a:r>
                      <a:endParaRPr lang="zh-CN" altLang="en-US" sz="1200"/>
                    </a:p>
                    <a:p>
                      <a:pPr marL="285750" indent="-285750">
                        <a:buFont typeface="Wingdings" panose="05000000000000000000" charset="0"/>
                        <a:buChar char=""/>
                      </a:pPr>
                      <a:r>
                        <a:rPr lang="zh-CN" altLang="en-US" sz="1200">
                          <a:sym typeface="+mn-ea"/>
                        </a:rPr>
                        <a:t>工厂分配</a:t>
                      </a:r>
                      <a:endParaRPr lang="zh-CN" altLang="en-US" sz="1200" kern="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物料计划员</a:t>
                      </a:r>
                      <a:endParaRPr lang="zh-CN" altLang="en-US" sz="12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>
                          <a:sym typeface="+mn-ea"/>
                        </a:rPr>
                        <a:t>呆滞追溯</a:t>
                      </a:r>
                      <a:endParaRPr lang="zh-CN" altLang="en-US" sz="1200"/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>
                          <a:sym typeface="+mn-ea"/>
                        </a:rPr>
                        <a:t>提前核料</a:t>
                      </a:r>
                      <a:endParaRPr lang="zh-CN" altLang="en-US" sz="1200"/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>
                          <a:sym typeface="+mn-ea"/>
                        </a:rPr>
                        <a:t>物料预测分析</a:t>
                      </a:r>
                      <a:endParaRPr lang="zh-CN" altLang="en-US" sz="1200"/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>
                          <a:sym typeface="+mn-ea"/>
                        </a:rPr>
                        <a:t>工厂物料管理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Wingdings" panose="05000000000000000000" charset="0"/>
                        <a:buChar char=""/>
                      </a:pPr>
                      <a:r>
                        <a:rPr lang="zh-CN" altLang="en-US" sz="1200">
                          <a:sym typeface="+mn-ea"/>
                        </a:rPr>
                        <a:t>呆滞追溯</a:t>
                      </a:r>
                      <a:endParaRPr lang="zh-CN" altLang="en-US" sz="1200"/>
                    </a:p>
                    <a:p>
                      <a:pPr marL="285750" indent="-285750">
                        <a:buFont typeface="Wingdings" panose="05000000000000000000" charset="0"/>
                        <a:buChar char=""/>
                      </a:pPr>
                      <a:r>
                        <a:rPr lang="zh-CN" altLang="en-US" sz="1200">
                          <a:sym typeface="+mn-ea"/>
                        </a:rPr>
                        <a:t>提前核料</a:t>
                      </a:r>
                      <a:endParaRPr lang="zh-CN" altLang="en-US" sz="1200"/>
                    </a:p>
                    <a:p>
                      <a:pPr marL="285750" indent="-285750">
                        <a:buFont typeface="Wingdings" panose="05000000000000000000" charset="0"/>
                        <a:buChar char=""/>
                      </a:pPr>
                      <a:r>
                        <a:rPr lang="zh-CN" altLang="en-US" sz="1200">
                          <a:sym typeface="+mn-ea"/>
                        </a:rPr>
                        <a:t>物料预测分析</a:t>
                      </a:r>
                      <a:endParaRPr lang="zh-CN" altLang="en-US" sz="1200"/>
                    </a:p>
                    <a:p>
                      <a:pPr marL="285750" indent="-285750">
                        <a:buFont typeface="Wingdings" panose="05000000000000000000" charset="0"/>
                        <a:buChar char=""/>
                      </a:pPr>
                      <a:r>
                        <a:rPr lang="zh-CN" altLang="en-US" sz="1200">
                          <a:sym typeface="+mn-ea"/>
                        </a:rPr>
                        <a:t>工厂物料管理</a:t>
                      </a:r>
                      <a:endParaRPr lang="zh-CN" altLang="en-US" sz="1200" kern="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采购工程师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物料投料</a:t>
                      </a:r>
                      <a:r>
                        <a:rPr lang="zh-CN" altLang="en-US" sz="1200"/>
                        <a:t>选料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供应商提货预测</a:t>
                      </a:r>
                      <a:r>
                        <a:rPr lang="zh-CN" altLang="en-US" sz="1200"/>
                        <a:t>计划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交货</a:t>
                      </a:r>
                      <a:r>
                        <a:rPr lang="zh-CN" altLang="en-US" sz="1200"/>
                        <a:t>计划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齐套</a:t>
                      </a:r>
                      <a:r>
                        <a:rPr lang="zh-CN" altLang="en-US" sz="1200"/>
                        <a:t>计划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 marL="171450" indent="-171450">
                        <a:buFont typeface="Wingdings" panose="05000000000000000000" charset="0"/>
                        <a:buChar char=""/>
                      </a:pPr>
                      <a:r>
                        <a:rPr lang="zh-CN" altLang="en-US" sz="1200">
                          <a:sym typeface="+mn-ea"/>
                        </a:rPr>
                        <a:t>物料投料选料</a:t>
                      </a:r>
                      <a:endParaRPr lang="zh-CN" altLang="en-US" sz="1200"/>
                    </a:p>
                    <a:p>
                      <a:pPr marL="171450" indent="-171450">
                        <a:buFont typeface="Wingdings" panose="05000000000000000000" charset="0"/>
                        <a:buChar char=""/>
                      </a:pPr>
                      <a:r>
                        <a:rPr lang="zh-CN" altLang="en-US" sz="1200">
                          <a:sym typeface="+mn-ea"/>
                        </a:rPr>
                        <a:t>供应商提货预测计划</a:t>
                      </a:r>
                      <a:endParaRPr lang="zh-CN" altLang="en-US" sz="1200"/>
                    </a:p>
                    <a:p>
                      <a:pPr marL="171450" indent="-171450">
                        <a:buFont typeface="Wingdings" panose="05000000000000000000" charset="0"/>
                        <a:buChar char=""/>
                      </a:pPr>
                      <a:r>
                        <a:rPr lang="zh-CN" altLang="en-US" sz="1200">
                          <a:sym typeface="+mn-ea"/>
                        </a:rPr>
                        <a:t>交货计划</a:t>
                      </a:r>
                      <a:endParaRPr lang="zh-CN" altLang="en-US" sz="1200"/>
                    </a:p>
                    <a:p>
                      <a:pPr marL="171450" indent="-171450">
                        <a:buFont typeface="Wingdings" panose="05000000000000000000" charset="0"/>
                        <a:buChar char=""/>
                      </a:pPr>
                      <a:r>
                        <a:rPr lang="zh-CN" altLang="en-US" sz="1200">
                          <a:sym typeface="+mn-ea"/>
                        </a:rPr>
                        <a:t>齐套计划</a:t>
                      </a:r>
                      <a:endParaRPr lang="zh-CN" altLang="en-US" sz="1200" kern="0" dirty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28936" y="922238"/>
            <a:ext cx="8263712" cy="3695700"/>
          </a:xfrm>
        </p:spPr>
        <p:txBody>
          <a:bodyPr>
            <a:normAutofit/>
          </a:bodyPr>
          <a:lstStyle/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计划组织架构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系统总体框架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+mn-ea"/>
              <a:ea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计划整体流程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+mn-ea"/>
                <a:ea typeface="+mn-ea"/>
                <a:sym typeface="+mn-ea"/>
              </a:rPr>
              <a:t>重点模块速看</a:t>
            </a:r>
            <a:endParaRPr lang="zh-CN" altLang="en-US" sz="2400" dirty="0">
              <a:latin typeface="+mn-ea"/>
              <a:ea typeface="+mn-ea"/>
              <a:sym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+mn-ea"/>
                <a:ea typeface="+mn-ea"/>
                <a:sym typeface="+mn-ea"/>
              </a:rPr>
              <a:t>实操作业</a:t>
            </a:r>
            <a:endParaRPr lang="en-US" altLang="zh-CN" sz="2400" dirty="0">
              <a:latin typeface="+mn-ea"/>
              <a:ea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dirty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系统总体框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50670" y="751205"/>
            <a:ext cx="5848350" cy="40335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50670" y="4784725"/>
            <a:ext cx="5596255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https://kb.cvte.com/pages/viewpage.action?pageId=57771171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28936" y="922238"/>
            <a:ext cx="8263712" cy="3695700"/>
          </a:xfrm>
        </p:spPr>
        <p:txBody>
          <a:bodyPr>
            <a:normAutofit/>
          </a:bodyPr>
          <a:lstStyle/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计划组织架构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系统总体框架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计划整体流程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+mn-ea"/>
              <a:ea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+mn-ea"/>
                <a:ea typeface="+mn-ea"/>
                <a:sym typeface="+mn-ea"/>
              </a:rPr>
              <a:t>重点模块速看</a:t>
            </a:r>
            <a:endParaRPr lang="zh-CN" altLang="en-US" sz="2400" dirty="0">
              <a:latin typeface="+mn-ea"/>
              <a:ea typeface="+mn-ea"/>
              <a:sym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+mn-ea"/>
                <a:ea typeface="+mn-ea"/>
                <a:sym typeface="+mn-ea"/>
              </a:rPr>
              <a:t>实操作业</a:t>
            </a:r>
            <a:endParaRPr lang="en-US" altLang="zh-CN" sz="2400" dirty="0">
              <a:latin typeface="+mn-ea"/>
              <a:ea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dirty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专业名词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解释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0020" y="791845"/>
            <a:ext cx="8867775" cy="4453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APS ： （Advanced Planning and Scheduling） 业界标准定义：高级计划与排程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MDS:      (Master Demand Scheduling) 主需求计划  模块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 定位：实现产销关系中的预测与订单之间的关系管理，为供应链提供准确的需求，具体功能包括如：预测冲减、预测匹配、预测对比、需求汇总 等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MPS： （Master Production Scheduling）主生产计划  模块 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 定位：根据客户的净需求，匹配现有的库存、在制等，为具体的生产部门制定主生产计划，一般以关键/瓶颈工序的能力评估为依据。具体功能包括如：主生产计划、生产任务下达、计划备货/料平台等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MRP ：（Material Requirement Planning）物料需求计划  模块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定位：根据客户需求及生产需求，展开物料清单（一般也包括替代料），匹配已有库存、在途信息，最终生成物料需求计划、供应商交货计划等。具体功能包括如：物料需求计划、供应商物料交货计划、核料计算、物料齐套模拟计算、物料齐套检查 等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PPS：  （Production Planning Scheduling） 生产计划排程  模块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 定位：根据企业的生产需求，产品生产路线，工时产能等数据，生成产线、工序的排程，具体功能包括：主计划预排、工厂产线工序排程、手动排程导入及调整 等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OCP：（Organization Coordination Plan）组织协同计划 模块    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定位： 大型集团型企业子公司组织之间的 物料、生产协同计划。具体功能包括：组织协同计算、协同建议计算、协同需求工作台 等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PTO:      (Promise To Order) 订单承诺 模块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 定位：根据客户的需求，结合企业的物料、生产资源的模型，计算预计的完成时间，并完成对客户的承诺。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ATP：available to promise可用量承诺，根据可用库存量进行给客户的订单承诺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89792" y="1293267"/>
            <a:ext cx="137909" cy="375561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lIns="73907" tIns="36961" rIns="73907" bIns="36961" rtlCol="0" anchor="ctr"/>
          <a:lstStyle/>
          <a:p>
            <a:pPr algn="ctr" defTabSz="911860">
              <a:defRPr/>
            </a:pPr>
            <a:endParaRPr lang="zh-CN" altLang="en-US" sz="1125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6740" y="4545633"/>
            <a:ext cx="508000" cy="379599"/>
          </a:xfrm>
          <a:prstGeom prst="rect">
            <a:avLst/>
          </a:prstGeom>
          <a:solidFill>
            <a:srgbClr val="92D400"/>
          </a:solidFill>
          <a:ln>
            <a:noFill/>
          </a:ln>
          <a:effectLst/>
        </p:spPr>
      </p:pic>
      <p:sp>
        <p:nvSpPr>
          <p:cNvPr id="6" name="箭头: V 形 59"/>
          <p:cNvSpPr/>
          <p:nvPr/>
        </p:nvSpPr>
        <p:spPr bwMode="auto">
          <a:xfrm>
            <a:off x="4500863" y="4435973"/>
            <a:ext cx="2107643" cy="600067"/>
          </a:xfrm>
          <a:prstGeom prst="chevron">
            <a:avLst>
              <a:gd name="adj" fmla="val 21916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lIns="76196" tIns="38098" rIns="76196" bIns="38098" rtlCol="0" anchor="ctr" anchorCtr="0">
            <a:noAutofit/>
          </a:bodyPr>
          <a:lstStyle/>
          <a:p>
            <a:pPr algn="ctr"/>
            <a:endParaRPr kumimoji="1" lang="zh-CN" altLang="en-US" sz="1125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箭头: V 形 15"/>
          <p:cNvSpPr/>
          <p:nvPr/>
        </p:nvSpPr>
        <p:spPr bwMode="auto">
          <a:xfrm>
            <a:off x="4500863" y="3439803"/>
            <a:ext cx="2107643" cy="600067"/>
          </a:xfrm>
          <a:prstGeom prst="chevron">
            <a:avLst>
              <a:gd name="adj" fmla="val 21916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lIns="76196" tIns="38098" rIns="76196" bIns="38098" rtlCol="0" anchor="ctr" anchorCtr="0">
            <a:noAutofit/>
          </a:bodyPr>
          <a:lstStyle/>
          <a:p>
            <a:pPr algn="ctr"/>
            <a:endParaRPr kumimoji="1" lang="zh-CN" altLang="en-US" sz="1125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19" y="3568361"/>
            <a:ext cx="420688" cy="328499"/>
          </a:xfrm>
          <a:prstGeom prst="rect">
            <a:avLst/>
          </a:prstGeom>
          <a:solidFill>
            <a:srgbClr val="92D400"/>
          </a:solidFill>
          <a:ln>
            <a:noFill/>
          </a:ln>
          <a:effectLst/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553" y="2552008"/>
            <a:ext cx="468313" cy="343099"/>
          </a:xfrm>
          <a:prstGeom prst="rect">
            <a:avLst/>
          </a:prstGeom>
          <a:solidFill>
            <a:srgbClr val="92D400"/>
          </a:solidFill>
          <a:ln>
            <a:noFill/>
          </a:ln>
          <a:effectLst/>
        </p:spPr>
      </p:pic>
      <p:pic>
        <p:nvPicPr>
          <p:cNvPr id="11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74" y="1508048"/>
            <a:ext cx="452438" cy="386899"/>
          </a:xfrm>
          <a:prstGeom prst="rect">
            <a:avLst/>
          </a:prstGeom>
          <a:solidFill>
            <a:srgbClr val="92D400"/>
          </a:solidFill>
          <a:ln>
            <a:noFill/>
          </a:ln>
          <a:effectLst/>
        </p:spPr>
      </p:pic>
      <p:sp>
        <p:nvSpPr>
          <p:cNvPr id="12" name="圆角矩形 11"/>
          <p:cNvSpPr/>
          <p:nvPr/>
        </p:nvSpPr>
        <p:spPr bwMode="auto">
          <a:xfrm>
            <a:off x="1861060" y="1412825"/>
            <a:ext cx="2160240" cy="60006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algn="ctr">
              <a:defRPr/>
            </a:pPr>
            <a:r>
              <a:rPr lang="zh-CN" altLang="en-US" sz="1335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需求计划</a:t>
            </a:r>
            <a:r>
              <a:rPr lang="en-US" altLang="zh-CN" sz="1335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-MDS</a:t>
            </a:r>
            <a:endParaRPr lang="en-US" altLang="zh-CN" sz="1335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 bwMode="auto">
          <a:xfrm>
            <a:off x="1861060" y="2419068"/>
            <a:ext cx="2160240" cy="60006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algn="ctr">
              <a:defRPr/>
            </a:pPr>
            <a:r>
              <a:rPr lang="zh-CN" altLang="en-US" sz="1335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生产计划</a:t>
            </a:r>
            <a:r>
              <a:rPr lang="en-US" altLang="zh-CN" sz="1335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-MPS</a:t>
            </a:r>
            <a:endParaRPr lang="en-US" altLang="zh-CN" sz="1335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 bwMode="auto">
          <a:xfrm>
            <a:off x="1861060" y="3439803"/>
            <a:ext cx="2160240" cy="60006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algn="ctr">
              <a:defRPr/>
            </a:pPr>
            <a:r>
              <a:rPr lang="zh-CN" altLang="en-US" sz="1335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物料计划</a:t>
            </a:r>
            <a:r>
              <a:rPr lang="en-US" altLang="zh-CN" sz="1335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-MRP</a:t>
            </a:r>
            <a:endParaRPr lang="en-US" altLang="zh-CN" sz="1335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1861060" y="4446127"/>
            <a:ext cx="2160240" cy="60006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/>
          <a:lstStyle/>
          <a:p>
            <a:pPr algn="ctr">
              <a:defRPr/>
            </a:pPr>
            <a:r>
              <a:rPr lang="zh-CN" altLang="en-US" sz="1335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送货计划</a:t>
            </a:r>
            <a:r>
              <a:rPr lang="en-US" altLang="zh-CN" sz="1335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-SCP</a:t>
            </a:r>
            <a:endParaRPr lang="en-US" altLang="zh-CN" sz="1335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 bwMode="auto">
          <a:xfrm>
            <a:off x="1860440" y="872579"/>
            <a:ext cx="960438" cy="4206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1125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</a:t>
            </a:r>
            <a:endParaRPr lang="zh-CN" altLang="en-US" sz="1125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 bwMode="auto">
          <a:xfrm>
            <a:off x="3060325" y="872579"/>
            <a:ext cx="960438" cy="4206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5400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1125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</a:t>
            </a:r>
            <a:endParaRPr lang="zh-CN" altLang="en-US" sz="1125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下箭头 10"/>
          <p:cNvSpPr>
            <a:spLocks noChangeArrowheads="1"/>
          </p:cNvSpPr>
          <p:nvPr/>
        </p:nvSpPr>
        <p:spPr bwMode="auto">
          <a:xfrm>
            <a:off x="2325552" y="2027070"/>
            <a:ext cx="599281" cy="35983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CC"/>
          </a:solidFill>
          <a:ln w="9525" algn="ctr">
            <a:solidFill>
              <a:srgbClr val="FFFFFF">
                <a:lumMod val="65000"/>
              </a:srgbClr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125" kern="0">
              <a:solidFill>
                <a:srgbClr val="2338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下箭头 15"/>
          <p:cNvSpPr>
            <a:spLocks noChangeArrowheads="1"/>
          </p:cNvSpPr>
          <p:nvPr/>
        </p:nvSpPr>
        <p:spPr bwMode="auto">
          <a:xfrm>
            <a:off x="2602596" y="3042801"/>
            <a:ext cx="599281" cy="35983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CC"/>
          </a:solidFill>
          <a:ln w="9525" algn="ctr">
            <a:solidFill>
              <a:srgbClr val="FFFFFF">
                <a:lumMod val="65000"/>
              </a:srgbClr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125" kern="0">
              <a:solidFill>
                <a:srgbClr val="2338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下箭头 16"/>
          <p:cNvSpPr>
            <a:spLocks noChangeArrowheads="1"/>
          </p:cNvSpPr>
          <p:nvPr/>
        </p:nvSpPr>
        <p:spPr bwMode="auto">
          <a:xfrm>
            <a:off x="2602596" y="4061553"/>
            <a:ext cx="599282" cy="36115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CC"/>
          </a:solidFill>
          <a:ln w="9525" algn="ctr">
            <a:solidFill>
              <a:srgbClr val="FFFFFF">
                <a:lumMod val="65000"/>
              </a:srgbClr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125" kern="0">
              <a:solidFill>
                <a:srgbClr val="2338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下箭头 20"/>
          <p:cNvSpPr>
            <a:spLocks noChangeArrowheads="1"/>
          </p:cNvSpPr>
          <p:nvPr/>
        </p:nvSpPr>
        <p:spPr bwMode="auto">
          <a:xfrm rot="10800000">
            <a:off x="2949968" y="2027070"/>
            <a:ext cx="599281" cy="35983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CC"/>
          </a:solidFill>
          <a:ln w="9525" algn="ctr">
            <a:solidFill>
              <a:srgbClr val="FFFFFF">
                <a:lumMod val="65000"/>
              </a:srgbClr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125" kern="0">
              <a:solidFill>
                <a:srgbClr val="2338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标题 3"/>
          <p:cNvSpPr>
            <a:spLocks noGrp="1"/>
          </p:cNvSpPr>
          <p:nvPr/>
        </p:nvSpPr>
        <p:spPr>
          <a:xfrm>
            <a:off x="107315" y="51435"/>
            <a:ext cx="7860030" cy="747395"/>
          </a:xfrm>
        </p:spPr>
        <p:txBody>
          <a:bodyPr anchor="t">
            <a:noAutofit/>
          </a:bodyPr>
          <a:lstStyle>
            <a:lvl1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2100" b="1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 pitchFamily="34" charset="0"/>
              </a:defRPr>
            </a:lvl1pPr>
            <a:lvl2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13716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6pPr>
            <a:lvl7pPr marL="18288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7pPr>
            <a:lvl8pPr marL="22860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8pPr>
            <a:lvl9pPr marL="27432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sym typeface="+mn-ea"/>
              </a:rPr>
              <a:t>计划管理体系：建立需求计划、生产计划、物料计划、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sym typeface="+mn-ea"/>
              </a:rPr>
              <a:t>协同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sym typeface="+mn-ea"/>
              </a:rPr>
              <a:t>计划四个层级为一体的计划管理体系</a:t>
            </a:r>
            <a:endParaRPr lang="en-US" altLang="zh-CN" dirty="0">
              <a:solidFill>
                <a:schemeClr val="bg2">
                  <a:lumMod val="25000"/>
                </a:schemeClr>
              </a:solidFill>
              <a:sym typeface="+mn-ea"/>
            </a:endParaRPr>
          </a:p>
        </p:txBody>
      </p:sp>
      <p:sp>
        <p:nvSpPr>
          <p:cNvPr id="23" name="矩形 36"/>
          <p:cNvSpPr>
            <a:spLocks noChangeArrowheads="1"/>
          </p:cNvSpPr>
          <p:nvPr/>
        </p:nvSpPr>
        <p:spPr bwMode="auto">
          <a:xfrm>
            <a:off x="4779767" y="3544699"/>
            <a:ext cx="685516" cy="38232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物料计划</a:t>
            </a:r>
            <a:endParaRPr lang="zh-CN" altLang="en-US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37"/>
          <p:cNvSpPr>
            <a:spLocks noChangeArrowheads="1"/>
          </p:cNvSpPr>
          <p:nvPr/>
        </p:nvSpPr>
        <p:spPr bwMode="auto">
          <a:xfrm>
            <a:off x="5707598" y="3771120"/>
            <a:ext cx="685515" cy="240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采购订单</a:t>
            </a:r>
            <a:endParaRPr lang="zh-CN" altLang="en-US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37"/>
          <p:cNvSpPr>
            <a:spLocks noChangeArrowheads="1"/>
          </p:cNvSpPr>
          <p:nvPr/>
        </p:nvSpPr>
        <p:spPr bwMode="auto">
          <a:xfrm>
            <a:off x="5704402" y="3479774"/>
            <a:ext cx="688711" cy="240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采购预测</a:t>
            </a:r>
            <a:endParaRPr lang="zh-CN" altLang="en-US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连接符: 肘形 48"/>
          <p:cNvCxnSpPr>
            <a:stCxn id="23" idx="3"/>
            <a:endCxn id="25" idx="1"/>
          </p:cNvCxnSpPr>
          <p:nvPr/>
        </p:nvCxnSpPr>
        <p:spPr bwMode="auto">
          <a:xfrm flipV="1">
            <a:off x="5465445" y="3599815"/>
            <a:ext cx="238760" cy="13589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连接符: 肘形 49"/>
          <p:cNvCxnSpPr>
            <a:stCxn id="23" idx="3"/>
            <a:endCxn id="24" idx="1"/>
          </p:cNvCxnSpPr>
          <p:nvPr/>
        </p:nvCxnSpPr>
        <p:spPr bwMode="auto">
          <a:xfrm>
            <a:off x="5465445" y="3735705"/>
            <a:ext cx="241935" cy="155575"/>
          </a:xfrm>
          <a:prstGeom prst="bentConnector3">
            <a:avLst>
              <a:gd name="adj1" fmla="val 50131"/>
            </a:avLst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矩形 36"/>
          <p:cNvSpPr>
            <a:spLocks noChangeArrowheads="1"/>
          </p:cNvSpPr>
          <p:nvPr/>
        </p:nvSpPr>
        <p:spPr bwMode="auto">
          <a:xfrm>
            <a:off x="4725652" y="4551544"/>
            <a:ext cx="688713" cy="38232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送货计划</a:t>
            </a:r>
            <a:endParaRPr lang="zh-CN" altLang="en-US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37"/>
          <p:cNvSpPr>
            <a:spLocks noChangeArrowheads="1"/>
          </p:cNvSpPr>
          <p:nvPr/>
        </p:nvSpPr>
        <p:spPr bwMode="auto">
          <a:xfrm>
            <a:off x="5653483" y="4551544"/>
            <a:ext cx="685515" cy="38232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送货通知</a:t>
            </a:r>
            <a:endParaRPr lang="zh-CN" altLang="en-US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连接符: 肘形 593"/>
          <p:cNvCxnSpPr>
            <a:stCxn id="28" idx="3"/>
            <a:endCxn id="29" idx="1"/>
          </p:cNvCxnSpPr>
          <p:nvPr/>
        </p:nvCxnSpPr>
        <p:spPr bwMode="auto">
          <a:xfrm>
            <a:off x="5414364" y="4742706"/>
            <a:ext cx="238760" cy="0"/>
          </a:xfrm>
          <a:prstGeom prst="straightConnector1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TextBox 18"/>
          <p:cNvSpPr txBox="1"/>
          <p:nvPr/>
        </p:nvSpPr>
        <p:spPr>
          <a:xfrm>
            <a:off x="4650835" y="1036259"/>
            <a:ext cx="1875421" cy="279400"/>
          </a:xfrm>
          <a:prstGeom prst="rect">
            <a:avLst/>
          </a:prstGeom>
          <a:noFill/>
        </p:spPr>
        <p:txBody>
          <a:bodyPr wrap="square" lIns="73907" tIns="36961" rIns="73907" bIns="36961" rtlCol="0">
            <a:spAutoFit/>
          </a:bodyPr>
          <a:lstStyle/>
          <a:p>
            <a:pPr algn="ctr"/>
            <a:r>
              <a:rPr lang="zh-CN" altLang="en-US" sz="1335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业务范畴</a:t>
            </a:r>
            <a:endParaRPr lang="zh-CN" altLang="en-US" sz="1335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箭头: V 形 60"/>
          <p:cNvSpPr/>
          <p:nvPr/>
        </p:nvSpPr>
        <p:spPr bwMode="auto">
          <a:xfrm>
            <a:off x="4500863" y="2418979"/>
            <a:ext cx="2107643" cy="600067"/>
          </a:xfrm>
          <a:prstGeom prst="chevron">
            <a:avLst>
              <a:gd name="adj" fmla="val 21916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lIns="76196" tIns="38098" rIns="76196" bIns="38098" rtlCol="0" anchor="ctr" anchorCtr="0">
            <a:noAutofit/>
          </a:bodyPr>
          <a:lstStyle/>
          <a:p>
            <a:pPr algn="ctr"/>
            <a:endParaRPr kumimoji="1" lang="zh-CN" altLang="en-US" sz="1125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6"/>
          <p:cNvSpPr>
            <a:spLocks noChangeArrowheads="1"/>
          </p:cNvSpPr>
          <p:nvPr/>
        </p:nvSpPr>
        <p:spPr bwMode="auto">
          <a:xfrm>
            <a:off x="4779767" y="2532924"/>
            <a:ext cx="688713" cy="38232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计划单</a:t>
            </a:r>
            <a:endParaRPr lang="zh-CN" altLang="en-US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7"/>
          <p:cNvSpPr>
            <a:spLocks noChangeArrowheads="1"/>
          </p:cNvSpPr>
          <p:nvPr/>
        </p:nvSpPr>
        <p:spPr bwMode="auto">
          <a:xfrm>
            <a:off x="5707598" y="2532924"/>
            <a:ext cx="685515" cy="38232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生产工单</a:t>
            </a:r>
            <a:endParaRPr lang="zh-CN" altLang="en-US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连接符: 肘形 593"/>
          <p:cNvCxnSpPr>
            <a:stCxn id="33" idx="3"/>
            <a:endCxn id="34" idx="1"/>
          </p:cNvCxnSpPr>
          <p:nvPr/>
        </p:nvCxnSpPr>
        <p:spPr bwMode="auto">
          <a:xfrm>
            <a:off x="5468479" y="2724086"/>
            <a:ext cx="238760" cy="0"/>
          </a:xfrm>
          <a:prstGeom prst="straightConnector1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箭头: V 形 61"/>
          <p:cNvSpPr/>
          <p:nvPr/>
        </p:nvSpPr>
        <p:spPr bwMode="auto">
          <a:xfrm>
            <a:off x="4500863" y="1412967"/>
            <a:ext cx="2107643" cy="600067"/>
          </a:xfrm>
          <a:prstGeom prst="chevron">
            <a:avLst>
              <a:gd name="adj" fmla="val 21916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lIns="76196" tIns="38098" rIns="76196" bIns="38098" rtlCol="0" anchor="ctr" anchorCtr="0">
            <a:noAutofit/>
          </a:bodyPr>
          <a:lstStyle/>
          <a:p>
            <a:pPr algn="ctr"/>
            <a:endParaRPr kumimoji="1" lang="zh-CN" altLang="en-US" sz="1125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4782964" y="1449835"/>
            <a:ext cx="685515" cy="240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销售预测</a:t>
            </a:r>
            <a:endParaRPr lang="zh-CN" altLang="en-US" sz="1165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4779768" y="1740620"/>
            <a:ext cx="685515" cy="240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预订单</a:t>
            </a:r>
            <a:endParaRPr lang="zh-CN" altLang="en-US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6"/>
          <p:cNvSpPr>
            <a:spLocks noChangeArrowheads="1"/>
          </p:cNvSpPr>
          <p:nvPr/>
        </p:nvSpPr>
        <p:spPr bwMode="auto">
          <a:xfrm>
            <a:off x="5707598" y="1449835"/>
            <a:ext cx="685515" cy="240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需求提报</a:t>
            </a:r>
            <a:endParaRPr lang="zh-CN" altLang="en-US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7"/>
          <p:cNvSpPr>
            <a:spLocks noChangeArrowheads="1"/>
          </p:cNvSpPr>
          <p:nvPr/>
        </p:nvSpPr>
        <p:spPr bwMode="auto">
          <a:xfrm>
            <a:off x="5707598" y="1740620"/>
            <a:ext cx="685515" cy="240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销售订单</a:t>
            </a:r>
            <a:endParaRPr lang="zh-CN" altLang="en-US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下箭头 40"/>
          <p:cNvSpPr>
            <a:spLocks noChangeArrowheads="1"/>
          </p:cNvSpPr>
          <p:nvPr/>
        </p:nvSpPr>
        <p:spPr bwMode="auto">
          <a:xfrm rot="10800000">
            <a:off x="3201852" y="3042541"/>
            <a:ext cx="599281" cy="35983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CC"/>
          </a:solidFill>
          <a:ln w="9525" algn="ctr">
            <a:solidFill>
              <a:srgbClr val="FFFFFF">
                <a:lumMod val="65000"/>
              </a:srgbClr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>
              <a:defRPr/>
            </a:pPr>
            <a:endParaRPr lang="zh-CN" altLang="en-US" sz="1125" kern="0">
              <a:solidFill>
                <a:srgbClr val="2338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下箭头 41"/>
          <p:cNvSpPr>
            <a:spLocks noChangeArrowheads="1"/>
          </p:cNvSpPr>
          <p:nvPr/>
        </p:nvSpPr>
        <p:spPr bwMode="auto">
          <a:xfrm rot="10800000">
            <a:off x="3201776" y="4011613"/>
            <a:ext cx="599017" cy="41698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CC"/>
          </a:solidFill>
          <a:ln w="9525" algn="ctr">
            <a:solidFill>
              <a:srgbClr val="FFFFFF">
                <a:lumMod val="65000"/>
              </a:srgbClr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>
              <a:defRPr/>
            </a:pPr>
            <a:endParaRPr lang="zh-CN" altLang="en-US" sz="1125" kern="0">
              <a:solidFill>
                <a:srgbClr val="2338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箭头连接符 43"/>
          <p:cNvCxnSpPr>
            <a:stCxn id="16" idx="3"/>
            <a:endCxn id="17" idx="1"/>
          </p:cNvCxnSpPr>
          <p:nvPr/>
        </p:nvCxnSpPr>
        <p:spPr>
          <a:xfrm>
            <a:off x="2821305" y="1083310"/>
            <a:ext cx="238760" cy="0"/>
          </a:xfrm>
          <a:prstGeom prst="straightConnector1">
            <a:avLst/>
          </a:prstGeom>
          <a:ln>
            <a:solidFill>
              <a:schemeClr val="accent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" grpId="0" bldLvl="0" animBg="1"/>
      <p:bldP spid="6" grpId="0" bldLvl="0" animBg="1"/>
      <p:bldP spid="7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3" grpId="0" bldLvl="0" animBg="1"/>
      <p:bldP spid="24" grpId="0" bldLvl="0" animBg="1"/>
      <p:bldP spid="25" grpId="0" bldLvl="0" animBg="1"/>
      <p:bldP spid="28" grpId="0" bldLvl="0" animBg="1"/>
      <p:bldP spid="29" grpId="0" bldLvl="0" animBg="1"/>
      <p:bldP spid="31" grpId="0"/>
      <p:bldP spid="32" grpId="0" bldLvl="0" animBg="1"/>
      <p:bldP spid="33" grpId="0" bldLvl="0" animBg="1"/>
      <p:bldP spid="34" grpId="0" bldLvl="0" animBg="1"/>
      <p:bldP spid="36" grpId="0" bldLvl="0" animBg="1"/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4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预测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计划整体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流程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7685" y="728345"/>
            <a:ext cx="8089265" cy="43694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订单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计划整体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流程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52575" y="708660"/>
            <a:ext cx="6245225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28936" y="922238"/>
            <a:ext cx="8263712" cy="3695700"/>
          </a:xfrm>
        </p:spPr>
        <p:txBody>
          <a:bodyPr>
            <a:normAutofit/>
          </a:bodyPr>
          <a:lstStyle/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计划组织架构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系统总体框架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计划整体流程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  <a:sym typeface="+mn-ea"/>
              </a:rPr>
              <a:t>重点模块速看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+mn-ea"/>
              <a:ea typeface="+mn-ea"/>
              <a:sym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实操作业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订单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承诺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5250" y="939800"/>
            <a:ext cx="8886190" cy="2435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4970" y="4162425"/>
            <a:ext cx="8434070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基于计划给出的承诺发运日期计算出承诺要求齐套作为后端</a:t>
            </a:r>
            <a:r>
              <a:rPr lang="en-US" altLang="zh-CN"/>
              <a:t>mps/mrp</a:t>
            </a:r>
            <a:r>
              <a:rPr lang="zh-CN" altLang="en-US"/>
              <a:t>的齐套</a:t>
            </a:r>
            <a:r>
              <a:rPr lang="zh-CN" altLang="en-US"/>
              <a:t>日期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订单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承诺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8625" y="813435"/>
            <a:ext cx="8451215" cy="41236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p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预测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冲减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7" name="内容占位符 2"/>
          <p:cNvSpPr txBox="1"/>
          <p:nvPr>
            <p:custDataLst>
              <p:tags r:id="rId1"/>
            </p:custDataLst>
          </p:nvPr>
        </p:nvSpPr>
        <p:spPr>
          <a:xfrm>
            <a:off x="467360" y="1275715"/>
            <a:ext cx="8437880" cy="5175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zh-CN" altLang="en-US" sz="16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基于原始预测，使用已计划的销售订单减少相应的预测数量，以得到当前预测</a:t>
            </a:r>
            <a:endParaRPr lang="zh-CN" altLang="en-US" sz="16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  <a:defRPr/>
            </a:pPr>
            <a:endParaRPr lang="zh-CN" altLang="en-US" sz="16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75740" y="2068195"/>
            <a:ext cx="5202555" cy="177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预测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冲减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27685" y="1345565"/>
            <a:ext cx="8180705" cy="553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预测汇总的需求计划被用作供应计划的输入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冲减本质是，预计将来的需求，以便可以在适当的时间采购和生产适当的数量，满足客户的需求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将预测需求、销售订单、商品库存（包装）、产品库存（非包装）进行相互的冲销，形成净需求</a:t>
            </a:r>
            <a:endParaRPr lang="zh-CN" altLang="en-US" sz="100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355725" y="2713990"/>
            <a:ext cx="1181100" cy="1400810"/>
            <a:chOff x="2512" y="4239"/>
            <a:chExt cx="1860" cy="2206"/>
          </a:xfrm>
        </p:grpSpPr>
        <p:grpSp>
          <p:nvGrpSpPr>
            <p:cNvPr id="32" name="组合 31"/>
            <p:cNvGrpSpPr/>
            <p:nvPr/>
          </p:nvGrpSpPr>
          <p:grpSpPr>
            <a:xfrm>
              <a:off x="2512" y="4846"/>
              <a:ext cx="1860" cy="1599"/>
              <a:chOff x="1507" y="5377"/>
              <a:chExt cx="1860" cy="1599"/>
            </a:xfrm>
          </p:grpSpPr>
          <p:sp>
            <p:nvSpPr>
              <p:cNvPr id="13" name="圆角矩形 12"/>
              <p:cNvSpPr/>
              <p:nvPr>
                <p:custDataLst>
                  <p:tags r:id="rId2"/>
                </p:custDataLst>
              </p:nvPr>
            </p:nvSpPr>
            <p:spPr>
              <a:xfrm>
                <a:off x="1507" y="5377"/>
                <a:ext cx="1860" cy="1577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727" y="5583"/>
                <a:ext cx="1640" cy="13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产品代码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需求时间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数量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是否要冲减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</p:grpSp>
        <p:sp>
          <p:nvSpPr>
            <p:cNvPr id="9" name="圆角矩形 8"/>
            <p:cNvSpPr/>
            <p:nvPr>
              <p:custDataLst>
                <p:tags r:id="rId4"/>
              </p:custDataLst>
            </p:nvPr>
          </p:nvSpPr>
          <p:spPr>
            <a:xfrm>
              <a:off x="2732" y="4239"/>
              <a:ext cx="1456" cy="64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0">
              <a:srgbClr val="FFFFFF"/>
            </a:lnRef>
            <a:fillRef idx="1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预测组成</a:t>
              </a: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244850" y="2733040"/>
            <a:ext cx="1181100" cy="1381760"/>
            <a:chOff x="5487" y="4269"/>
            <a:chExt cx="1860" cy="2176"/>
          </a:xfrm>
        </p:grpSpPr>
        <p:grpSp>
          <p:nvGrpSpPr>
            <p:cNvPr id="40" name="组合 39"/>
            <p:cNvGrpSpPr/>
            <p:nvPr/>
          </p:nvGrpSpPr>
          <p:grpSpPr>
            <a:xfrm>
              <a:off x="5487" y="4868"/>
              <a:ext cx="1860" cy="1577"/>
              <a:chOff x="4482" y="4739"/>
              <a:chExt cx="1860" cy="1577"/>
            </a:xfrm>
          </p:grpSpPr>
          <p:sp>
            <p:nvSpPr>
              <p:cNvPr id="33" name="文本框 3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763" y="5019"/>
                <a:ext cx="1451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标准产品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计划产品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选项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35" name="圆角矩形 34"/>
              <p:cNvSpPr/>
              <p:nvPr>
                <p:custDataLst>
                  <p:tags r:id="rId6"/>
                </p:custDataLst>
              </p:nvPr>
            </p:nvSpPr>
            <p:spPr>
              <a:xfrm>
                <a:off x="4482" y="4739"/>
                <a:ext cx="1860" cy="1577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0" name="圆角矩形 9"/>
            <p:cNvSpPr/>
            <p:nvPr>
              <p:custDataLst>
                <p:tags r:id="rId7"/>
              </p:custDataLst>
            </p:nvPr>
          </p:nvSpPr>
          <p:spPr>
            <a:xfrm>
              <a:off x="5676" y="4269"/>
              <a:ext cx="1456" cy="61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0">
              <a:srgbClr val="FFFFFF"/>
            </a:lnRef>
            <a:fillRef idx="1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产品组成</a:t>
              </a: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932045" y="2733040"/>
            <a:ext cx="1205865" cy="1381760"/>
            <a:chOff x="8327" y="4269"/>
            <a:chExt cx="1899" cy="2176"/>
          </a:xfrm>
        </p:grpSpPr>
        <p:grpSp>
          <p:nvGrpSpPr>
            <p:cNvPr id="41" name="组合 40"/>
            <p:cNvGrpSpPr/>
            <p:nvPr/>
          </p:nvGrpSpPr>
          <p:grpSpPr>
            <a:xfrm>
              <a:off x="8327" y="4868"/>
              <a:ext cx="1899" cy="1577"/>
              <a:chOff x="7322" y="4739"/>
              <a:chExt cx="1899" cy="1577"/>
            </a:xfrm>
          </p:grpSpPr>
          <p:sp>
            <p:nvSpPr>
              <p:cNvPr id="37" name="圆角矩形 36"/>
              <p:cNvSpPr/>
              <p:nvPr>
                <p:custDataLst>
                  <p:tags r:id="rId8"/>
                </p:custDataLst>
              </p:nvPr>
            </p:nvSpPr>
            <p:spPr>
              <a:xfrm>
                <a:off x="7322" y="4739"/>
                <a:ext cx="1860" cy="1577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431" y="4794"/>
                <a:ext cx="1790" cy="1401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周别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月度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录入频率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需求更新方式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</p:grpSp>
        <p:sp>
          <p:nvSpPr>
            <p:cNvPr id="38" name="圆角矩形 37"/>
            <p:cNvSpPr/>
            <p:nvPr>
              <p:custDataLst>
                <p:tags r:id="rId10"/>
              </p:custDataLst>
            </p:nvPr>
          </p:nvSpPr>
          <p:spPr>
            <a:xfrm>
              <a:off x="8462" y="4269"/>
              <a:ext cx="1456" cy="61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0">
              <a:srgbClr val="FFFFFF"/>
            </a:lnRef>
            <a:fillRef idx="1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时间相关</a:t>
              </a: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2625090" y="974090"/>
            <a:ext cx="32118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4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预测冲减</a:t>
            </a:r>
            <a:r>
              <a:rPr lang="en-US" altLang="zh-CN" sz="14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冲销</a:t>
            </a:r>
            <a:endParaRPr lang="zh-CN" altLang="en-US" sz="1400" b="1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503035" y="2712085"/>
            <a:ext cx="1181100" cy="1381760"/>
            <a:chOff x="8327" y="4269"/>
            <a:chExt cx="1860" cy="2176"/>
          </a:xfrm>
        </p:grpSpPr>
        <p:grpSp>
          <p:nvGrpSpPr>
            <p:cNvPr id="15" name="组合 14"/>
            <p:cNvGrpSpPr/>
            <p:nvPr/>
          </p:nvGrpSpPr>
          <p:grpSpPr>
            <a:xfrm>
              <a:off x="8327" y="4868"/>
              <a:ext cx="1860" cy="1577"/>
              <a:chOff x="7322" y="4739"/>
              <a:chExt cx="1860" cy="1577"/>
            </a:xfrm>
          </p:grpSpPr>
          <p:sp>
            <p:nvSpPr>
              <p:cNvPr id="17" name="圆角矩形 16"/>
              <p:cNvSpPr/>
              <p:nvPr>
                <p:custDataLst>
                  <p:tags r:id="rId12"/>
                </p:custDataLst>
              </p:nvPr>
            </p:nvSpPr>
            <p:spPr>
              <a:xfrm>
                <a:off x="7322" y="4739"/>
                <a:ext cx="1860" cy="1577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720" y="4956"/>
                <a:ext cx="1291" cy="1112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订单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r>
                  <a:rPr lang="zh-CN" altLang="en-US" sz="12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预测</a:t>
                </a:r>
                <a:endParaRPr lang="zh-CN" altLang="en-US" sz="12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r>
                  <a:rPr lang="zh-CN" altLang="en-US" sz="120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库存</a:t>
                </a:r>
                <a:endParaRPr lang="zh-CN" altLang="en-US" sz="12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</p:grpSp>
        <p:sp>
          <p:nvSpPr>
            <p:cNvPr id="19" name="圆角矩形 18"/>
            <p:cNvSpPr/>
            <p:nvPr>
              <p:custDataLst>
                <p:tags r:id="rId14"/>
              </p:custDataLst>
            </p:nvPr>
          </p:nvSpPr>
          <p:spPr>
            <a:xfrm>
              <a:off x="8462" y="4269"/>
              <a:ext cx="1456" cy="61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0">
              <a:srgbClr val="FFFFFF"/>
            </a:lnRef>
            <a:fillRef idx="1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冲减对象</a:t>
              </a: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en-US" altLang="zh-CN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MDS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管理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3491865" y="1635760"/>
            <a:ext cx="4032250" cy="3456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59840" y="2860040"/>
            <a:ext cx="857250" cy="9525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259840" y="3768725"/>
            <a:ext cx="10693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汇总需求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2700020" y="3075940"/>
            <a:ext cx="10782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 b="1"/>
              <a:t>=</a:t>
            </a:r>
            <a:endParaRPr lang="en-US" altLang="zh-CN" sz="7200" b="1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636010" y="2067560"/>
            <a:ext cx="857250" cy="9525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3707765" y="3020060"/>
            <a:ext cx="10693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净预测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003800" y="2095500"/>
            <a:ext cx="857250" cy="9525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5075555" y="3048000"/>
            <a:ext cx="10693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净预测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00470" y="2037080"/>
            <a:ext cx="857250" cy="9525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6372225" y="2989580"/>
            <a:ext cx="10693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净预测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636010" y="3724275"/>
            <a:ext cx="857250" cy="9525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3"/>
            </p:custDataLst>
          </p:nvPr>
        </p:nvSpPr>
        <p:spPr>
          <a:xfrm>
            <a:off x="3564255" y="4676775"/>
            <a:ext cx="10693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销售订单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003800" y="3724275"/>
            <a:ext cx="857250" cy="9525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15"/>
            </p:custDataLst>
          </p:nvPr>
        </p:nvSpPr>
        <p:spPr>
          <a:xfrm>
            <a:off x="4932045" y="4676775"/>
            <a:ext cx="10902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研发需求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00470" y="3724275"/>
            <a:ext cx="857250" cy="9525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6228715" y="4676775"/>
            <a:ext cx="10902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售后需求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MPS</a:t>
            </a:r>
            <a:r>
              <a:rPr kumimoji="1" lang="en-US" altLang="zh-CN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/MRP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计划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流程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23557" name="Rectangle 4"/>
          <p:cNvSpPr/>
          <p:nvPr>
            <p:custDataLst>
              <p:tags r:id="rId1"/>
            </p:custDataLst>
          </p:nvPr>
        </p:nvSpPr>
        <p:spPr>
          <a:xfrm>
            <a:off x="1287066" y="2169319"/>
            <a:ext cx="757238" cy="25273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69056" tIns="34528" rIns="69056" bIns="34528">
            <a:spAutoFit/>
          </a:bodyPr>
          <a:p>
            <a:pPr>
              <a:buNone/>
            </a:pPr>
            <a:r>
              <a:rPr lang="zh-CN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预    测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>
        <p:nvSpPr>
          <p:cNvPr id="23558" name="Rectangle 5"/>
          <p:cNvSpPr/>
          <p:nvPr>
            <p:custDataLst>
              <p:tags r:id="rId2"/>
            </p:custDataLst>
          </p:nvPr>
        </p:nvSpPr>
        <p:spPr>
          <a:xfrm>
            <a:off x="1287066" y="2740819"/>
            <a:ext cx="746760" cy="25273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69056" tIns="34528" rIns="69056" bIns="34528">
            <a:spAutoFit/>
          </a:bodyPr>
          <a:p>
            <a:pPr>
              <a:buNone/>
            </a:pP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销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售</a:t>
            </a: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订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单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>
        <p:nvSpPr>
          <p:cNvPr id="23559" name="Rectangle 6"/>
          <p:cNvSpPr/>
          <p:nvPr>
            <p:custDataLst>
              <p:tags r:id="rId3"/>
            </p:custDataLst>
          </p:nvPr>
        </p:nvSpPr>
        <p:spPr>
          <a:xfrm>
            <a:off x="1287066" y="3455194"/>
            <a:ext cx="746760" cy="43751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69056" tIns="34528" rIns="69056" bIns="34528">
            <a:spAutoFit/>
          </a:bodyPr>
          <a:p>
            <a:pPr>
              <a:buNone/>
            </a:pP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其他</a:t>
            </a: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系统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  <a:p>
            <a:pPr>
              <a:buNone/>
            </a:pPr>
            <a:r>
              <a:rPr lang="zh-CN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外部定单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60" name="AutoShape 7"/>
          <p:cNvSpPr/>
          <p:nvPr>
            <p:custDataLst>
              <p:tags r:id="rId4"/>
            </p:custDataLst>
          </p:nvPr>
        </p:nvSpPr>
        <p:spPr>
          <a:xfrm>
            <a:off x="2428875" y="1719263"/>
            <a:ext cx="776288" cy="461963"/>
          </a:xfrm>
          <a:prstGeom prst="roundRect">
            <a:avLst>
              <a:gd name="adj" fmla="val 12495"/>
            </a:avLst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需求</a:t>
            </a: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报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表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  <a:p>
            <a:pPr algn="ctr">
              <a:buNone/>
            </a:pPr>
            <a:r>
              <a:rPr lang="en-US" altLang="zh-TW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&amp;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查詢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61" name="AutoShape 8"/>
          <p:cNvSpPr/>
          <p:nvPr>
            <p:custDataLst>
              <p:tags r:id="rId5"/>
            </p:custDataLst>
          </p:nvPr>
        </p:nvSpPr>
        <p:spPr>
          <a:xfrm>
            <a:off x="3657600" y="2690813"/>
            <a:ext cx="790575" cy="433388"/>
          </a:xfrm>
          <a:prstGeom prst="roundRect">
            <a:avLst>
              <a:gd name="adj" fmla="val 12495"/>
            </a:avLst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需求</a:t>
            </a:r>
            <a:r>
              <a:rPr lang="zh-CN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装载</a:t>
            </a:r>
            <a:endParaRPr lang="en-US" altLang="zh-TW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62" name="AutoShape 9"/>
          <p:cNvSpPr/>
          <p:nvPr>
            <p:custDataLst>
              <p:tags r:id="rId6"/>
            </p:custDataLst>
          </p:nvPr>
        </p:nvSpPr>
        <p:spPr>
          <a:xfrm>
            <a:off x="2414588" y="2690813"/>
            <a:ext cx="790575" cy="519113"/>
          </a:xfrm>
          <a:prstGeom prst="roundRect">
            <a:avLst>
              <a:gd name="adj" fmla="val 12495"/>
            </a:avLst>
          </a:prstGeom>
          <a:ln w="127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主需求排程</a:t>
            </a:r>
            <a:endParaRPr lang="zh-TW" altLang="zh-CN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  <a:p>
            <a:pPr algn="ctr">
              <a:buNone/>
            </a:pP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（</a:t>
            </a:r>
            <a:r>
              <a:rPr lang="en-US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MDS)</a:t>
            </a:r>
            <a:endParaRPr lang="en-US" altLang="zh-TW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63" name="AutoShape 10"/>
          <p:cNvSpPr/>
          <p:nvPr>
            <p:custDataLst>
              <p:tags r:id="rId7"/>
            </p:custDataLst>
          </p:nvPr>
        </p:nvSpPr>
        <p:spPr>
          <a:xfrm>
            <a:off x="2400300" y="4105275"/>
            <a:ext cx="804863" cy="461963"/>
          </a:xfrm>
          <a:prstGeom prst="roundRect">
            <a:avLst>
              <a:gd name="adj" fmla="val 12495"/>
            </a:avLst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需求排程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  <a:p>
            <a:pPr algn="ctr">
              <a:buNone/>
            </a:pP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更新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64" name="AutoShape 11"/>
          <p:cNvSpPr/>
          <p:nvPr>
            <p:custDataLst>
              <p:tags r:id="rId8"/>
            </p:custDataLst>
          </p:nvPr>
        </p:nvSpPr>
        <p:spPr>
          <a:xfrm>
            <a:off x="6672263" y="3519488"/>
            <a:ext cx="790575" cy="476250"/>
          </a:xfrm>
          <a:prstGeom prst="roundRect">
            <a:avLst>
              <a:gd name="adj" fmla="val 12495"/>
            </a:avLst>
          </a:prstGeom>
          <a:ln w="12700" cap="flat" cmpd="sng">
            <a:solidFill>
              <a:srgbClr val="063DE8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en-US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CRP</a:t>
            </a:r>
            <a:endParaRPr lang="en-US" altLang="zh-CN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  <a:p>
            <a:pPr algn="ctr">
              <a:buNone/>
            </a:pPr>
            <a:r>
              <a:rPr lang="zh-CN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细产能平衡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>
        <p:nvSpPr>
          <p:cNvPr id="23565" name="AutoShape 12"/>
          <p:cNvSpPr/>
          <p:nvPr>
            <p:custDataLst>
              <p:tags r:id="rId9"/>
            </p:custDataLst>
          </p:nvPr>
        </p:nvSpPr>
        <p:spPr>
          <a:xfrm>
            <a:off x="6715125" y="2690813"/>
            <a:ext cx="790575" cy="433388"/>
          </a:xfrm>
          <a:prstGeom prst="roundRect">
            <a:avLst>
              <a:gd name="adj" fmla="val 12495"/>
            </a:avLst>
          </a:prstGeom>
          <a:noFill/>
          <a:ln w="127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物料需求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  <a:p>
            <a:pPr algn="ctr">
              <a:buNone/>
            </a:pPr>
            <a:r>
              <a:rPr lang="zh-CN" altLang="zh-TW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计划</a:t>
            </a:r>
            <a:r>
              <a:rPr lang="en-US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(MRP)</a:t>
            </a:r>
            <a:endParaRPr lang="en-US" altLang="zh-TW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66" name="AutoShape 13"/>
          <p:cNvSpPr/>
          <p:nvPr>
            <p:custDataLst>
              <p:tags r:id="rId10"/>
            </p:custDataLst>
          </p:nvPr>
        </p:nvSpPr>
        <p:spPr>
          <a:xfrm>
            <a:off x="5072063" y="3533775"/>
            <a:ext cx="862013" cy="461963"/>
          </a:xfrm>
          <a:prstGeom prst="roundRect">
            <a:avLst>
              <a:gd name="adj" fmla="val 12495"/>
            </a:avLst>
          </a:prstGeom>
          <a:ln w="12700" cap="flat" cmpd="sng">
            <a:solidFill>
              <a:srgbClr val="063DE8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en-US" altLang="zh-TW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RCCP</a:t>
            </a:r>
            <a:endParaRPr lang="en-US" altLang="zh-CN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  <a:p>
            <a:pPr algn="ctr">
              <a:buNone/>
            </a:pPr>
            <a:r>
              <a:rPr lang="zh-CN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粗能力平衡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67" name="AutoShape 14"/>
          <p:cNvSpPr/>
          <p:nvPr>
            <p:custDataLst>
              <p:tags r:id="rId11"/>
            </p:custDataLst>
          </p:nvPr>
        </p:nvSpPr>
        <p:spPr>
          <a:xfrm>
            <a:off x="5114925" y="2662238"/>
            <a:ext cx="790575" cy="495300"/>
          </a:xfrm>
          <a:prstGeom prst="roundRect">
            <a:avLst>
              <a:gd name="adj" fmla="val 12495"/>
            </a:avLst>
          </a:prstGeom>
          <a:ln w="127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主生產排程</a:t>
            </a:r>
            <a:endParaRPr lang="zh-TW" altLang="zh-CN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  <a:p>
            <a:pPr algn="ctr">
              <a:buNone/>
            </a:pP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M</a:t>
            </a:r>
            <a:r>
              <a:rPr lang="en-US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PS)</a:t>
            </a:r>
            <a:endParaRPr lang="en-US" altLang="zh-TW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68" name="AutoShape 15"/>
          <p:cNvSpPr/>
          <p:nvPr>
            <p:custDataLst>
              <p:tags r:id="rId12"/>
            </p:custDataLst>
          </p:nvPr>
        </p:nvSpPr>
        <p:spPr>
          <a:xfrm>
            <a:off x="7115175" y="4433888"/>
            <a:ext cx="790575" cy="361950"/>
          </a:xfrm>
          <a:prstGeom prst="roundRect">
            <a:avLst>
              <a:gd name="adj" fmla="val 12495"/>
            </a:avLst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车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间</a:t>
            </a: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指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令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69" name="AutoShape 16"/>
          <p:cNvSpPr/>
          <p:nvPr>
            <p:custDataLst>
              <p:tags r:id="rId13"/>
            </p:custDataLst>
          </p:nvPr>
        </p:nvSpPr>
        <p:spPr>
          <a:xfrm>
            <a:off x="6172200" y="4448175"/>
            <a:ext cx="790575" cy="361950"/>
          </a:xfrm>
          <a:prstGeom prst="roundRect">
            <a:avLst>
              <a:gd name="adj" fmla="val 12495"/>
            </a:avLst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采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购</a:t>
            </a: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指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令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70" name="AutoShape 17"/>
          <p:cNvSpPr/>
          <p:nvPr>
            <p:custDataLst>
              <p:tags r:id="rId14"/>
            </p:custDataLst>
          </p:nvPr>
        </p:nvSpPr>
        <p:spPr>
          <a:xfrm>
            <a:off x="5657850" y="1119188"/>
            <a:ext cx="790575" cy="233363"/>
          </a:xfrm>
          <a:prstGeom prst="roundRect">
            <a:avLst>
              <a:gd name="adj" fmla="val 12495"/>
            </a:avLst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en-US" altLang="zh-TW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BOM</a:t>
            </a:r>
            <a:endParaRPr lang="en-US" altLang="zh-TW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71" name="AutoShape 18"/>
          <p:cNvSpPr/>
          <p:nvPr>
            <p:custDataLst>
              <p:tags r:id="rId15"/>
            </p:custDataLst>
          </p:nvPr>
        </p:nvSpPr>
        <p:spPr>
          <a:xfrm>
            <a:off x="5329238" y="1519238"/>
            <a:ext cx="1104900" cy="247650"/>
          </a:xfrm>
          <a:prstGeom prst="roundRect">
            <a:avLst>
              <a:gd name="adj" fmla="val 12495"/>
            </a:avLst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车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间</a:t>
            </a: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在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制</a:t>
            </a: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品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信息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72" name="AutoShape 19"/>
          <p:cNvSpPr/>
          <p:nvPr>
            <p:custDataLst>
              <p:tags r:id="rId16"/>
            </p:custDataLst>
          </p:nvPr>
        </p:nvSpPr>
        <p:spPr>
          <a:xfrm>
            <a:off x="5562600" y="1847850"/>
            <a:ext cx="890588" cy="261938"/>
          </a:xfrm>
          <a:prstGeom prst="roundRect">
            <a:avLst>
              <a:gd name="adj" fmla="val 12495"/>
            </a:avLst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采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购</a:t>
            </a: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信息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 useBgFill="1">
        <p:nvSpPr>
          <p:cNvPr id="23573" name="AutoShape 20"/>
          <p:cNvSpPr/>
          <p:nvPr>
            <p:custDataLst>
              <p:tags r:id="rId17"/>
            </p:custDataLst>
          </p:nvPr>
        </p:nvSpPr>
        <p:spPr>
          <a:xfrm>
            <a:off x="5586413" y="2176463"/>
            <a:ext cx="862013" cy="276225"/>
          </a:xfrm>
          <a:prstGeom prst="roundRect">
            <a:avLst>
              <a:gd name="adj" fmla="val 12495"/>
            </a:avLst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库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存信息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>
        <p:nvSpPr>
          <p:cNvPr id="23574" name="Line 21"/>
          <p:cNvSpPr/>
          <p:nvPr>
            <p:custDataLst>
              <p:tags r:id="rId18"/>
            </p:custDataLst>
          </p:nvPr>
        </p:nvSpPr>
        <p:spPr>
          <a:xfrm>
            <a:off x="6467475" y="1243013"/>
            <a:ext cx="314325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75" name="Line 22"/>
          <p:cNvSpPr/>
          <p:nvPr>
            <p:custDataLst>
              <p:tags r:id="rId19"/>
            </p:custDataLst>
          </p:nvPr>
        </p:nvSpPr>
        <p:spPr>
          <a:xfrm>
            <a:off x="6781800" y="1243013"/>
            <a:ext cx="0" cy="1042988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76" name="Line 23"/>
          <p:cNvSpPr/>
          <p:nvPr>
            <p:custDataLst>
              <p:tags r:id="rId20"/>
            </p:custDataLst>
          </p:nvPr>
        </p:nvSpPr>
        <p:spPr>
          <a:xfrm>
            <a:off x="6453188" y="2286000"/>
            <a:ext cx="328613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77" name="Line 24"/>
          <p:cNvSpPr/>
          <p:nvPr>
            <p:custDataLst>
              <p:tags r:id="rId21"/>
            </p:custDataLst>
          </p:nvPr>
        </p:nvSpPr>
        <p:spPr>
          <a:xfrm>
            <a:off x="6467475" y="1643063"/>
            <a:ext cx="314325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78" name="Line 25"/>
          <p:cNvSpPr/>
          <p:nvPr>
            <p:custDataLst>
              <p:tags r:id="rId22"/>
            </p:custDataLst>
          </p:nvPr>
        </p:nvSpPr>
        <p:spPr>
          <a:xfrm>
            <a:off x="6467475" y="1971675"/>
            <a:ext cx="314325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79" name="Line 26"/>
          <p:cNvSpPr/>
          <p:nvPr>
            <p:custDataLst>
              <p:tags r:id="rId23"/>
            </p:custDataLst>
          </p:nvPr>
        </p:nvSpPr>
        <p:spPr>
          <a:xfrm>
            <a:off x="6796088" y="1828800"/>
            <a:ext cx="257175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80" name="Line 27"/>
          <p:cNvSpPr/>
          <p:nvPr>
            <p:custDataLst>
              <p:tags r:id="rId24"/>
            </p:custDataLst>
          </p:nvPr>
        </p:nvSpPr>
        <p:spPr>
          <a:xfrm>
            <a:off x="7053263" y="1828800"/>
            <a:ext cx="14288" cy="85725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3581" name="Line 28"/>
          <p:cNvSpPr/>
          <p:nvPr>
            <p:custDataLst>
              <p:tags r:id="rId25"/>
            </p:custDataLst>
          </p:nvPr>
        </p:nvSpPr>
        <p:spPr>
          <a:xfrm>
            <a:off x="2038350" y="2971800"/>
            <a:ext cx="40005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3582" name="Line 29"/>
          <p:cNvSpPr/>
          <p:nvPr>
            <p:custDataLst>
              <p:tags r:id="rId26"/>
            </p:custDataLst>
          </p:nvPr>
        </p:nvSpPr>
        <p:spPr>
          <a:xfrm>
            <a:off x="3224213" y="2957513"/>
            <a:ext cx="414338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3583" name="Line 30"/>
          <p:cNvSpPr/>
          <p:nvPr>
            <p:custDataLst>
              <p:tags r:id="rId27"/>
            </p:custDataLst>
          </p:nvPr>
        </p:nvSpPr>
        <p:spPr>
          <a:xfrm>
            <a:off x="4467225" y="2957513"/>
            <a:ext cx="628650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3584" name="Line 31"/>
          <p:cNvSpPr/>
          <p:nvPr>
            <p:custDataLst>
              <p:tags r:id="rId28"/>
            </p:custDataLst>
          </p:nvPr>
        </p:nvSpPr>
        <p:spPr>
          <a:xfrm>
            <a:off x="5924550" y="2943225"/>
            <a:ext cx="771525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stealth" w="med" len="lg"/>
            <a:tailEnd type="stealth" w="med" len="lg"/>
          </a:ln>
        </p:spPr>
      </p:sp>
      <p:sp>
        <p:nvSpPr>
          <p:cNvPr id="23585" name="Line 32"/>
          <p:cNvSpPr/>
          <p:nvPr>
            <p:custDataLst>
              <p:tags r:id="rId29"/>
            </p:custDataLst>
          </p:nvPr>
        </p:nvSpPr>
        <p:spPr>
          <a:xfrm>
            <a:off x="5953125" y="3757613"/>
            <a:ext cx="242888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86" name="Line 33"/>
          <p:cNvSpPr/>
          <p:nvPr>
            <p:custDataLst>
              <p:tags r:id="rId30"/>
            </p:custDataLst>
          </p:nvPr>
        </p:nvSpPr>
        <p:spPr>
          <a:xfrm flipV="1">
            <a:off x="6196013" y="2943225"/>
            <a:ext cx="0" cy="814388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3587" name="Line 34"/>
          <p:cNvSpPr/>
          <p:nvPr>
            <p:custDataLst>
              <p:tags r:id="rId31"/>
            </p:custDataLst>
          </p:nvPr>
        </p:nvSpPr>
        <p:spPr>
          <a:xfrm>
            <a:off x="2795588" y="3200400"/>
            <a:ext cx="0" cy="885825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stealth" w="med" len="lg"/>
            <a:tailEnd type="stealth" w="med" len="lg"/>
          </a:ln>
        </p:spPr>
      </p:sp>
      <p:sp>
        <p:nvSpPr>
          <p:cNvPr id="23588" name="Line 35"/>
          <p:cNvSpPr/>
          <p:nvPr>
            <p:custDataLst>
              <p:tags r:id="rId32"/>
            </p:custDataLst>
          </p:nvPr>
        </p:nvSpPr>
        <p:spPr>
          <a:xfrm>
            <a:off x="2781300" y="2185988"/>
            <a:ext cx="0" cy="500063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3589" name="Line 36"/>
          <p:cNvSpPr/>
          <p:nvPr>
            <p:custDataLst>
              <p:tags r:id="rId33"/>
            </p:custDataLst>
          </p:nvPr>
        </p:nvSpPr>
        <p:spPr>
          <a:xfrm>
            <a:off x="6796088" y="4129088"/>
            <a:ext cx="0" cy="314325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3590" name="Line 37"/>
          <p:cNvSpPr/>
          <p:nvPr>
            <p:custDataLst>
              <p:tags r:id="rId34"/>
            </p:custDataLst>
          </p:nvPr>
        </p:nvSpPr>
        <p:spPr>
          <a:xfrm>
            <a:off x="7353300" y="4114800"/>
            <a:ext cx="0" cy="314325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3591" name="Line 38"/>
          <p:cNvSpPr/>
          <p:nvPr>
            <p:custDataLst>
              <p:tags r:id="rId35"/>
            </p:custDataLst>
          </p:nvPr>
        </p:nvSpPr>
        <p:spPr>
          <a:xfrm>
            <a:off x="7067550" y="3143250"/>
            <a:ext cx="0" cy="34290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3592" name="Line 39"/>
          <p:cNvSpPr/>
          <p:nvPr>
            <p:custDataLst>
              <p:tags r:id="rId36"/>
            </p:custDataLst>
          </p:nvPr>
        </p:nvSpPr>
        <p:spPr>
          <a:xfrm>
            <a:off x="2038350" y="2286000"/>
            <a:ext cx="185738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93" name="Line 40"/>
          <p:cNvSpPr/>
          <p:nvPr>
            <p:custDataLst>
              <p:tags r:id="rId37"/>
            </p:custDataLst>
          </p:nvPr>
        </p:nvSpPr>
        <p:spPr>
          <a:xfrm>
            <a:off x="2224088" y="2286000"/>
            <a:ext cx="0" cy="137160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94" name="Line 41"/>
          <p:cNvSpPr/>
          <p:nvPr>
            <p:custDataLst>
              <p:tags r:id="rId38"/>
            </p:custDataLst>
          </p:nvPr>
        </p:nvSpPr>
        <p:spPr>
          <a:xfrm flipH="1">
            <a:off x="2038350" y="3657600"/>
            <a:ext cx="185738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95" name="Line 42"/>
          <p:cNvSpPr/>
          <p:nvPr>
            <p:custDataLst>
              <p:tags r:id="rId39"/>
            </p:custDataLst>
          </p:nvPr>
        </p:nvSpPr>
        <p:spPr>
          <a:xfrm>
            <a:off x="5510213" y="3152775"/>
            <a:ext cx="0" cy="390525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96" name="Line 43"/>
          <p:cNvSpPr/>
          <p:nvPr>
            <p:custDataLst>
              <p:tags r:id="rId40"/>
            </p:custDataLst>
          </p:nvPr>
        </p:nvSpPr>
        <p:spPr>
          <a:xfrm>
            <a:off x="6796088" y="4114800"/>
            <a:ext cx="957263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97" name="Line 44"/>
          <p:cNvSpPr/>
          <p:nvPr>
            <p:custDataLst>
              <p:tags r:id="rId41"/>
            </p:custDataLst>
          </p:nvPr>
        </p:nvSpPr>
        <p:spPr>
          <a:xfrm>
            <a:off x="7481888" y="2914650"/>
            <a:ext cx="257175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98" name="Line 45"/>
          <p:cNvSpPr/>
          <p:nvPr>
            <p:custDataLst>
              <p:tags r:id="rId42"/>
            </p:custDataLst>
          </p:nvPr>
        </p:nvSpPr>
        <p:spPr>
          <a:xfrm>
            <a:off x="7753350" y="2914650"/>
            <a:ext cx="0" cy="120015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99" name="Line 92"/>
          <p:cNvSpPr/>
          <p:nvPr>
            <p:custDataLst>
              <p:tags r:id="rId43"/>
            </p:custDataLst>
          </p:nvPr>
        </p:nvSpPr>
        <p:spPr>
          <a:xfrm>
            <a:off x="4558904" y="1114425"/>
            <a:ext cx="0" cy="3543300"/>
          </a:xfrm>
          <a:prstGeom prst="line">
            <a:avLst/>
          </a:prstGeom>
          <a:ln w="38100" cap="flat" cmpd="dbl">
            <a:solidFill>
              <a:schemeClr val="tx1"/>
            </a:solidFill>
            <a:prstDash val="sysDot"/>
            <a:headEnd type="none" w="sm" len="sm"/>
            <a:tailEnd type="none" w="sm" len="sm"/>
          </a:ln>
        </p:spPr>
      </p:sp>
      <p:sp useBgFill="1">
        <p:nvSpPr>
          <p:cNvPr id="23600" name="AutoShape 93"/>
          <p:cNvSpPr/>
          <p:nvPr>
            <p:custDataLst>
              <p:tags r:id="rId44"/>
            </p:custDataLst>
          </p:nvPr>
        </p:nvSpPr>
        <p:spPr>
          <a:xfrm>
            <a:off x="4743450" y="4291013"/>
            <a:ext cx="790575" cy="361950"/>
          </a:xfrm>
          <a:prstGeom prst="roundRect">
            <a:avLst>
              <a:gd name="adj" fmla="val 12495"/>
            </a:avLst>
          </a:prstGeom>
          <a:ln w="12700" cap="flat" cmpd="sng">
            <a:solidFill>
              <a:srgbClr val="000000"/>
            </a:solidFill>
            <a:prstDash val="dashDot"/>
            <a:headEnd type="none" w="med" len="med"/>
            <a:tailEnd type="none" w="med" len="med"/>
          </a:ln>
        </p:spPr>
        <p:txBody>
          <a:bodyPr wrap="none" lIns="69056" tIns="34528" rIns="69056" bIns="34528" anchor="ctr" anchorCtr="0"/>
          <a:p>
            <a:pPr algn="ctr">
              <a:buNone/>
            </a:pP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车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间</a:t>
            </a:r>
            <a:r>
              <a:rPr lang="zh-TW" altLang="zh-CN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指</a:t>
            </a:r>
            <a:r>
              <a:rPr lang="zh-TW" altLang="en-US" sz="1200" dirty="0">
                <a:solidFill>
                  <a:srgbClr val="000000"/>
                </a:solidFill>
                <a:latin typeface="文新字海-中楷"/>
                <a:ea typeface="文新字海-中楷"/>
              </a:rPr>
              <a:t>令</a:t>
            </a:r>
            <a:endParaRPr lang="zh-TW" altLang="en-US" sz="1200" dirty="0">
              <a:solidFill>
                <a:srgbClr val="000000"/>
              </a:solidFill>
              <a:latin typeface="文新字海-中楷"/>
              <a:ea typeface="文新字海-中楷"/>
            </a:endParaRPr>
          </a:p>
        </p:txBody>
      </p:sp>
      <p:sp>
        <p:nvSpPr>
          <p:cNvPr id="23601" name="Line 94"/>
          <p:cNvSpPr/>
          <p:nvPr>
            <p:custDataLst>
              <p:tags r:id="rId45"/>
            </p:custDataLst>
          </p:nvPr>
        </p:nvSpPr>
        <p:spPr>
          <a:xfrm>
            <a:off x="4981575" y="3248025"/>
            <a:ext cx="0" cy="1038225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Dot"/>
            <a:headEnd type="none" w="sm" len="sm"/>
            <a:tailEnd type="stealth" w="med" len="lg"/>
          </a:ln>
        </p:spPr>
      </p:sp>
      <p:sp>
        <p:nvSpPr>
          <p:cNvPr id="23602" name="Line 95"/>
          <p:cNvSpPr/>
          <p:nvPr>
            <p:custDataLst>
              <p:tags r:id="rId46"/>
            </p:custDataLst>
          </p:nvPr>
        </p:nvSpPr>
        <p:spPr>
          <a:xfrm>
            <a:off x="4981575" y="3257550"/>
            <a:ext cx="533400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dashDot"/>
            <a:miter/>
            <a:headEnd type="none" w="med" len="med"/>
            <a:tailEnd type="none" w="med" len="med"/>
          </a:ln>
        </p:spPr>
      </p:sp>
      <p:sp>
        <p:nvSpPr>
          <p:cNvPr id="23603" name="Line 96"/>
          <p:cNvSpPr/>
          <p:nvPr>
            <p:custDataLst>
              <p:tags r:id="rId47"/>
            </p:custDataLst>
          </p:nvPr>
        </p:nvSpPr>
        <p:spPr>
          <a:xfrm>
            <a:off x="5381625" y="1771650"/>
            <a:ext cx="0" cy="885825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lg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CVTE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部件</a:t>
            </a:r>
            <a:r>
              <a:rPr kumimoji="1" lang="en-US" altLang="zh-CN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MPS</a:t>
            </a:r>
            <a:endParaRPr kumimoji="1" lang="en-US" altLang="zh-CN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09420" y="734695"/>
            <a:ext cx="5689600" cy="42557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CVTE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部件</a:t>
            </a:r>
            <a:r>
              <a:rPr kumimoji="1" lang="en-US" altLang="zh-CN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MPS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计算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3260" y="742950"/>
            <a:ext cx="8217535" cy="43046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MRP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基本运算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逻辑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7065" y="895350"/>
            <a:ext cx="8155305" cy="38144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C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厂</a:t>
            </a:r>
            <a:r>
              <a:rPr kumimoji="1" lang="en-US" altLang="zh-CN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MRP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整体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逻辑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10785" y="765175"/>
            <a:ext cx="3858895" cy="4378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0020" y="819150"/>
            <a:ext cx="4919345" cy="42710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28936" y="922238"/>
            <a:ext cx="8263712" cy="3695700"/>
          </a:xfrm>
        </p:spPr>
        <p:txBody>
          <a:bodyPr>
            <a:normAutofit/>
          </a:bodyPr>
          <a:lstStyle/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计划组织架构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系统总体框架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计划整体流程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重点模块速看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  <a:p>
            <a:pPr marL="457200" indent="-457200" algn="l">
              <a:buClrTx/>
              <a:buSzTx/>
              <a:buFont typeface="+mj-lt"/>
              <a:buAutoNum type="arabicPeriod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+mn-ea"/>
                <a:ea typeface="+mn-ea"/>
              </a:rPr>
              <a:t>实操作业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+mn-ea"/>
              <a:ea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dirty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428939" y="149504"/>
            <a:ext cx="6970081" cy="527037"/>
          </a:xfrm>
        </p:spPr>
        <p:txBody>
          <a:bodyPr/>
          <a:lstStyle/>
          <a:p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实操</a:t>
            </a:r>
            <a:r>
              <a:rPr kumimoji="1" lang="zh-CN" altLang="en-US" spc="3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作业</a:t>
            </a:r>
            <a:endParaRPr kumimoji="1" lang="zh-CN" altLang="en-US" spc="3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28650" y="1044469"/>
            <a:ext cx="7886700" cy="3626115"/>
          </a:xfrm>
          <a:prstGeom prst="rect">
            <a:avLst/>
          </a:prstGeom>
        </p:spPr>
        <p:txBody>
          <a:bodyPr vert="horz" lIns="71323" tIns="35662" rIns="71323" bIns="35662" rtlCol="0">
            <a:normAutofit/>
          </a:bodyPr>
          <a:lstStyle>
            <a:lvl1pPr marL="178435" indent="-178435" algn="l" defTabSz="713105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90204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670" indent="-178435" algn="l" defTabSz="713105" rtl="0" eaLnBrk="1" latinLnBrk="0" hangingPunct="1">
              <a:lnSpc>
                <a:spcPct val="90000"/>
              </a:lnSpc>
              <a:spcBef>
                <a:spcPts val="390"/>
              </a:spcBef>
              <a:buFont typeface="Arial" panose="020B0604020202090204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1540" indent="-178435" algn="l" defTabSz="713105" rtl="0" eaLnBrk="1" latinLnBrk="0" hangingPunct="1">
              <a:lnSpc>
                <a:spcPct val="90000"/>
              </a:lnSpc>
              <a:spcBef>
                <a:spcPts val="390"/>
              </a:spcBef>
              <a:buFont typeface="Arial" panose="020B060402020209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8410" indent="-178435" algn="l" defTabSz="713105" rtl="0" eaLnBrk="1" latinLnBrk="0" hangingPunct="1">
              <a:lnSpc>
                <a:spcPct val="90000"/>
              </a:lnSpc>
              <a:spcBef>
                <a:spcPts val="390"/>
              </a:spcBef>
              <a:buFont typeface="Arial" panose="020B0604020202090204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645" indent="-178435" algn="l" defTabSz="713105" rtl="0" eaLnBrk="1" latinLnBrk="0" hangingPunct="1">
              <a:lnSpc>
                <a:spcPct val="90000"/>
              </a:lnSpc>
              <a:spcBef>
                <a:spcPts val="390"/>
              </a:spcBef>
              <a:buFont typeface="Arial" panose="020B0604020202090204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1515" indent="-178435" algn="l" defTabSz="713105" rtl="0" eaLnBrk="1" latinLnBrk="0" hangingPunct="1">
              <a:lnSpc>
                <a:spcPct val="90000"/>
              </a:lnSpc>
              <a:spcBef>
                <a:spcPts val="390"/>
              </a:spcBef>
              <a:buFont typeface="Arial" panose="020B0604020202090204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17750" indent="-178435" algn="l" defTabSz="713105" rtl="0" eaLnBrk="1" latinLnBrk="0" hangingPunct="1">
              <a:lnSpc>
                <a:spcPct val="90000"/>
              </a:lnSpc>
              <a:spcBef>
                <a:spcPts val="390"/>
              </a:spcBef>
              <a:buFont typeface="Arial" panose="020B0604020202090204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4620" indent="-178435" algn="l" defTabSz="713105" rtl="0" eaLnBrk="1" latinLnBrk="0" hangingPunct="1">
              <a:lnSpc>
                <a:spcPct val="90000"/>
              </a:lnSpc>
              <a:spcBef>
                <a:spcPts val="390"/>
              </a:spcBef>
              <a:buFont typeface="Arial" panose="020B0604020202090204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1490" indent="-178435" algn="l" defTabSz="713105" rtl="0" eaLnBrk="1" latinLnBrk="0" hangingPunct="1">
              <a:lnSpc>
                <a:spcPct val="90000"/>
              </a:lnSpc>
              <a:spcBef>
                <a:spcPts val="390"/>
              </a:spcBef>
              <a:buFont typeface="Arial" panose="020B0604020202090204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latin typeface="微软雅黑" charset="0"/>
                <a:ea typeface="微软雅黑" charset="0"/>
              </a:rPr>
              <a:t>1.</a:t>
            </a:r>
            <a:r>
              <a:rPr lang="zh-CN" altLang="en-US">
                <a:latin typeface="微软雅黑" charset="0"/>
                <a:ea typeface="微软雅黑" charset="0"/>
              </a:rPr>
              <a:t>订单</a:t>
            </a:r>
            <a:r>
              <a:rPr lang="zh-CN" altLang="en-US">
                <a:latin typeface="微软雅黑" charset="0"/>
                <a:ea typeface="微软雅黑" charset="0"/>
              </a:rPr>
              <a:t>承诺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>
                <a:latin typeface="微软雅黑" charset="0"/>
                <a:ea typeface="微软雅黑" charset="0"/>
              </a:rPr>
              <a:t>2.</a:t>
            </a:r>
            <a:r>
              <a:rPr lang="zh-CN" altLang="en-US">
                <a:latin typeface="微软雅黑" charset="0"/>
                <a:ea typeface="微软雅黑" charset="0"/>
              </a:rPr>
              <a:t>工单</a:t>
            </a:r>
            <a:r>
              <a:rPr lang="zh-CN" altLang="en-US">
                <a:latin typeface="微软雅黑" charset="0"/>
                <a:ea typeface="微软雅黑" charset="0"/>
              </a:rPr>
              <a:t>开立</a:t>
            </a:r>
            <a:endParaRPr lang="zh-CN" altLang="en-US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>
                <a:latin typeface="微软雅黑" charset="0"/>
                <a:ea typeface="微软雅黑" charset="0"/>
              </a:rPr>
              <a:t>3.</a:t>
            </a:r>
            <a:r>
              <a:rPr>
                <a:latin typeface="微软雅黑" charset="0"/>
                <a:ea typeface="微软雅黑" charset="0"/>
              </a:rPr>
              <a:t>MRP常见运维问题及解决方法</a:t>
            </a:r>
            <a:endParaRPr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zh-CN" altLang="en-US" sz="1400">
                <a:solidFill>
                  <a:schemeClr val="accent1"/>
                </a:solidFill>
                <a:latin typeface="微软雅黑" charset="0"/>
                <a:ea typeface="微软雅黑" charset="0"/>
              </a:rPr>
              <a:t>链接：</a:t>
            </a:r>
            <a:r>
              <a:rPr sz="1400">
                <a:solidFill>
                  <a:schemeClr val="accent1"/>
                </a:solidFill>
                <a:latin typeface="微软雅黑" charset="0"/>
                <a:ea typeface="微软雅黑" charset="0"/>
              </a:rPr>
              <a:t>https://apsuat.gz.cvte.cn/home</a:t>
            </a:r>
            <a:r>
              <a:rPr lang="zh-CN" sz="1400">
                <a:solidFill>
                  <a:schemeClr val="accent1"/>
                </a:solidFill>
                <a:latin typeface="微软雅黑" charset="0"/>
                <a:ea typeface="微软雅黑" charset="0"/>
              </a:rPr>
              <a:t>（域账号</a:t>
            </a:r>
            <a:r>
              <a:rPr lang="en-US" altLang="zh-CN" sz="1400">
                <a:solidFill>
                  <a:schemeClr val="accent1"/>
                </a:solidFill>
                <a:latin typeface="微软雅黑" charset="0"/>
                <a:ea typeface="微软雅黑" charset="0"/>
              </a:rPr>
              <a:t>/</a:t>
            </a:r>
            <a:r>
              <a:rPr lang="zh-CN" altLang="en-US" sz="1400">
                <a:solidFill>
                  <a:schemeClr val="accent1"/>
                </a:solidFill>
                <a:latin typeface="微软雅黑" charset="0"/>
                <a:ea typeface="微软雅黑" charset="0"/>
              </a:rPr>
              <a:t>密码</a:t>
            </a:r>
            <a:r>
              <a:rPr lang="en-US" altLang="zh-CN" sz="1400">
                <a:solidFill>
                  <a:schemeClr val="accent1"/>
                </a:solidFill>
                <a:latin typeface="微软雅黑" charset="0"/>
                <a:ea typeface="微软雅黑" charset="0"/>
              </a:rPr>
              <a:t>:1</a:t>
            </a:r>
            <a:r>
              <a:rPr lang="zh-CN" altLang="en-US" sz="1400">
                <a:solidFill>
                  <a:schemeClr val="accent1"/>
                </a:solidFill>
                <a:latin typeface="微软雅黑" charset="0"/>
                <a:ea typeface="微软雅黑" charset="0"/>
              </a:rPr>
              <a:t>）</a:t>
            </a:r>
            <a:endParaRPr sz="1400">
              <a:solidFill>
                <a:schemeClr val="accent1"/>
              </a:solidFill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endParaRPr lang="zh-CN" altLang="en-US" sz="1400">
              <a:solidFill>
                <a:schemeClr val="accent1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UNIT_TABLE_BEAUTIFY" val="smartTable{f6fb55da-53f3-4f06-a0e4-65cf427836d3}"/>
  <p:tag name="KSO_WM_BEAUTIFY_FLAG" val=""/>
  <p:tag name="TABLE_ENDDRAG_ORIGIN_RECT" val="549*333"/>
  <p:tag name="TABLE_ENDDRAG_RECT" val="33*57*549*333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NHTP_课程PPT模板_V1.2（华文中宋+微软雅黑） ">
  <a:themeElements>
    <a:clrScheme name="自定义 1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4276AA"/>
      </a:accent1>
      <a:accent2>
        <a:srgbClr val="1689A0"/>
      </a:accent2>
      <a:accent3>
        <a:srgbClr val="3FA692"/>
      </a:accent3>
      <a:accent4>
        <a:srgbClr val="5167A4"/>
      </a:accent4>
      <a:accent5>
        <a:srgbClr val="5E5CA2"/>
      </a:accent5>
      <a:accent6>
        <a:srgbClr val="768395"/>
      </a:accent6>
      <a:hlink>
        <a:srgbClr val="4276AA"/>
      </a:hlink>
      <a:folHlink>
        <a:srgbClr val="BFBFBF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">
    <a:dk1>
      <a:srgbClr val="000000"/>
    </a:dk1>
    <a:lt1>
      <a:srgbClr val="FFFFFF"/>
    </a:lt1>
    <a:dk2>
      <a:srgbClr val="768395"/>
    </a:dk2>
    <a:lt2>
      <a:srgbClr val="F0F0F0"/>
    </a:lt2>
    <a:accent1>
      <a:srgbClr val="4276AA"/>
    </a:accent1>
    <a:accent2>
      <a:srgbClr val="1689A0"/>
    </a:accent2>
    <a:accent3>
      <a:srgbClr val="3FA692"/>
    </a:accent3>
    <a:accent4>
      <a:srgbClr val="5167A4"/>
    </a:accent4>
    <a:accent5>
      <a:srgbClr val="5E5CA2"/>
    </a:accent5>
    <a:accent6>
      <a:srgbClr val="768395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1">
    <a:dk1>
      <a:srgbClr val="000000"/>
    </a:dk1>
    <a:lt1>
      <a:srgbClr val="FFFFFF"/>
    </a:lt1>
    <a:dk2>
      <a:srgbClr val="768395"/>
    </a:dk2>
    <a:lt2>
      <a:srgbClr val="F0F0F0"/>
    </a:lt2>
    <a:accent1>
      <a:srgbClr val="4276AA"/>
    </a:accent1>
    <a:accent2>
      <a:srgbClr val="1689A0"/>
    </a:accent2>
    <a:accent3>
      <a:srgbClr val="3FA692"/>
    </a:accent3>
    <a:accent4>
      <a:srgbClr val="5167A4"/>
    </a:accent4>
    <a:accent5>
      <a:srgbClr val="5E5CA2"/>
    </a:accent5>
    <a:accent6>
      <a:srgbClr val="768395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自定义 1">
    <a:dk1>
      <a:srgbClr val="000000"/>
    </a:dk1>
    <a:lt1>
      <a:srgbClr val="FFFFFF"/>
    </a:lt1>
    <a:dk2>
      <a:srgbClr val="768395"/>
    </a:dk2>
    <a:lt2>
      <a:srgbClr val="F0F0F0"/>
    </a:lt2>
    <a:accent1>
      <a:srgbClr val="4276AA"/>
    </a:accent1>
    <a:accent2>
      <a:srgbClr val="1689A0"/>
    </a:accent2>
    <a:accent3>
      <a:srgbClr val="3FA692"/>
    </a:accent3>
    <a:accent4>
      <a:srgbClr val="5167A4"/>
    </a:accent4>
    <a:accent5>
      <a:srgbClr val="5E5CA2"/>
    </a:accent5>
    <a:accent6>
      <a:srgbClr val="768395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自定义 1">
    <a:dk1>
      <a:srgbClr val="000000"/>
    </a:dk1>
    <a:lt1>
      <a:srgbClr val="FFFFFF"/>
    </a:lt1>
    <a:dk2>
      <a:srgbClr val="768395"/>
    </a:dk2>
    <a:lt2>
      <a:srgbClr val="F0F0F0"/>
    </a:lt2>
    <a:accent1>
      <a:srgbClr val="4276AA"/>
    </a:accent1>
    <a:accent2>
      <a:srgbClr val="1689A0"/>
    </a:accent2>
    <a:accent3>
      <a:srgbClr val="3FA692"/>
    </a:accent3>
    <a:accent4>
      <a:srgbClr val="5167A4"/>
    </a:accent4>
    <a:accent5>
      <a:srgbClr val="5E5CA2"/>
    </a:accent5>
    <a:accent6>
      <a:srgbClr val="768395"/>
    </a:accent6>
    <a:hlink>
      <a:srgbClr val="4276AA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自定义 1">
    <a:dk1>
      <a:srgbClr val="000000"/>
    </a:dk1>
    <a:lt1>
      <a:srgbClr val="FFFFFF"/>
    </a:lt1>
    <a:dk2>
      <a:srgbClr val="768395"/>
    </a:dk2>
    <a:lt2>
      <a:srgbClr val="F0F0F0"/>
    </a:lt2>
    <a:accent1>
      <a:srgbClr val="4276AA"/>
    </a:accent1>
    <a:accent2>
      <a:srgbClr val="1689A0"/>
    </a:accent2>
    <a:accent3>
      <a:srgbClr val="3FA692"/>
    </a:accent3>
    <a:accent4>
      <a:srgbClr val="5167A4"/>
    </a:accent4>
    <a:accent5>
      <a:srgbClr val="5E5CA2"/>
    </a:accent5>
    <a:accent6>
      <a:srgbClr val="768395"/>
    </a:accent6>
    <a:hlink>
      <a:srgbClr val="4276AA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自定义 1">
    <a:dk1>
      <a:srgbClr val="000000"/>
    </a:dk1>
    <a:lt1>
      <a:srgbClr val="FFFFFF"/>
    </a:lt1>
    <a:dk2>
      <a:srgbClr val="768395"/>
    </a:dk2>
    <a:lt2>
      <a:srgbClr val="F0F0F0"/>
    </a:lt2>
    <a:accent1>
      <a:srgbClr val="4276AA"/>
    </a:accent1>
    <a:accent2>
      <a:srgbClr val="1689A0"/>
    </a:accent2>
    <a:accent3>
      <a:srgbClr val="3FA692"/>
    </a:accent3>
    <a:accent4>
      <a:srgbClr val="5167A4"/>
    </a:accent4>
    <a:accent5>
      <a:srgbClr val="5E5CA2"/>
    </a:accent5>
    <a:accent6>
      <a:srgbClr val="768395"/>
    </a:accent6>
    <a:hlink>
      <a:srgbClr val="4276AA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自定义 1">
    <a:dk1>
      <a:srgbClr val="000000"/>
    </a:dk1>
    <a:lt1>
      <a:srgbClr val="FFFFFF"/>
    </a:lt1>
    <a:dk2>
      <a:srgbClr val="768395"/>
    </a:dk2>
    <a:lt2>
      <a:srgbClr val="F0F0F0"/>
    </a:lt2>
    <a:accent1>
      <a:srgbClr val="4276AA"/>
    </a:accent1>
    <a:accent2>
      <a:srgbClr val="1689A0"/>
    </a:accent2>
    <a:accent3>
      <a:srgbClr val="3FA692"/>
    </a:accent3>
    <a:accent4>
      <a:srgbClr val="5167A4"/>
    </a:accent4>
    <a:accent5>
      <a:srgbClr val="5E5CA2"/>
    </a:accent5>
    <a:accent6>
      <a:srgbClr val="768395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NHTP_课程PPT模板_V1.2（华文中宋+微软雅黑） </Template>
  <TotalTime>0</TotalTime>
  <Words>2164</Words>
  <Application>WPS 演示</Application>
  <PresentationFormat>全屏显示(16:9)</PresentationFormat>
  <Paragraphs>387</Paragraphs>
  <Slides>27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51" baseType="lpstr">
      <vt:lpstr>Arial</vt:lpstr>
      <vt:lpstr>宋体</vt:lpstr>
      <vt:lpstr>Wingdings</vt:lpstr>
      <vt:lpstr>华文中宋</vt:lpstr>
      <vt:lpstr>汉仪书宋二KW</vt:lpstr>
      <vt:lpstr>微软雅黑</vt:lpstr>
      <vt:lpstr>汉仪旗黑</vt:lpstr>
      <vt:lpstr>微软雅黑</vt:lpstr>
      <vt:lpstr>思源黑体 CN Light</vt:lpstr>
      <vt:lpstr>汉仪中黑KW</vt:lpstr>
      <vt:lpstr>Wingdings</vt:lpstr>
      <vt:lpstr>Calibri</vt:lpstr>
      <vt:lpstr>宋体</vt:lpstr>
      <vt:lpstr>Arial Unicode MS</vt:lpstr>
      <vt:lpstr>Arial Black</vt:lpstr>
      <vt:lpstr>Helvetica Neue</vt:lpstr>
      <vt:lpstr>Calibri</vt:lpstr>
      <vt:lpstr>PMingLiU</vt:lpstr>
      <vt:lpstr>宋体-繁</vt:lpstr>
      <vt:lpstr>華康簡黑(P)</vt:lpstr>
      <vt:lpstr>文新字海-中楷</vt:lpstr>
      <vt:lpstr>Arial</vt:lpstr>
      <vt:lpstr>汉仪楷体简</vt:lpstr>
      <vt:lpstr>NHTP_课程PPT模板_V1.2（华文中宋+微软雅黑） </vt:lpstr>
      <vt:lpstr>PowerPoint 演示文稿</vt:lpstr>
      <vt:lpstr>计划分享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李超</cp:lastModifiedBy>
  <cp:revision>2629</cp:revision>
  <cp:lastPrinted>2024-01-17T08:29:57Z</cp:lastPrinted>
  <dcterms:created xsi:type="dcterms:W3CDTF">2024-01-17T08:29:57Z</dcterms:created>
  <dcterms:modified xsi:type="dcterms:W3CDTF">2024-01-17T08:29:57Z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9C433232F7A0AA4E58E2886545E443E5_43</vt:lpwstr>
  </property>
</Properties>
</file>
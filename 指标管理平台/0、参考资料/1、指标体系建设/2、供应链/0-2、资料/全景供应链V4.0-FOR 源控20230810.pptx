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dp" ContentType="image/vnd.ms-photo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9" r:id="rId3"/>
    <p:sldMasterId id="2147483684" r:id="rId4"/>
    <p:sldMasterId id="2147483697" r:id="rId5"/>
    <p:sldMasterId id="2147483707" r:id="rId6"/>
  </p:sldMasterIdLst>
  <p:notesMasterIdLst>
    <p:notesMasterId r:id="rId9"/>
  </p:notesMasterIdLst>
  <p:sldIdLst>
    <p:sldId id="282" r:id="rId7"/>
    <p:sldId id="329" r:id="rId8"/>
    <p:sldId id="330" r:id="rId10"/>
    <p:sldId id="331" r:id="rId11"/>
    <p:sldId id="332" r:id="rId12"/>
    <p:sldId id="284" r:id="rId13"/>
    <p:sldId id="307" r:id="rId14"/>
    <p:sldId id="309" r:id="rId15"/>
    <p:sldId id="311" r:id="rId16"/>
    <p:sldId id="312" r:id="rId17"/>
    <p:sldId id="313" r:id="rId18"/>
    <p:sldId id="318" r:id="rId19"/>
    <p:sldId id="343" r:id="rId20"/>
    <p:sldId id="344" r:id="rId21"/>
    <p:sldId id="314" r:id="rId22"/>
    <p:sldId id="315" r:id="rId23"/>
    <p:sldId id="336" r:id="rId24"/>
    <p:sldId id="337" r:id="rId25"/>
    <p:sldId id="338" r:id="rId26"/>
    <p:sldId id="339" r:id="rId27"/>
    <p:sldId id="340" r:id="rId28"/>
    <p:sldId id="341" r:id="rId29"/>
    <p:sldId id="342" r:id="rId30"/>
    <p:sldId id="305" r:id="rId31"/>
    <p:sldId id="286" r:id="rId32"/>
    <p:sldId id="294" r:id="rId33"/>
  </p:sldIdLst>
  <p:sldSz cx="35121850" cy="1975612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mbo Von" initials="RV" lastIdx="1" clrIdx="0"/>
  <p:cmAuthor id="0" name="Microsoft Office 用户" initials="Office" lastIdx="2" clrIdx="0"/>
  <p:cmAuthor id="7" name="蒙" initials="蒙" lastIdx="2" clrIdx="6"/>
  <p:cmAuthor id="8" name="梁" initials="梁" lastIdx="9" clrIdx="7"/>
  <p:cmAuthor id="15" name="Author" initials="A" lastIdx="0" clrIdx="14"/>
  <p:cmAuthor id="2" name="ting" initials="t" lastIdx="1" clrIdx="1"/>
  <p:cmAuthor id="3" name="fafa" initials="f" lastIdx="2" clrIdx="1"/>
  <p:cmAuthor id="4" name="王习习" initials="王" lastIdx="2" clrIdx="0"/>
  <p:cmAuthor id="11" name="IT00003884" initials="I" lastIdx="34" clrIdx="10"/>
  <p:cmAuthor id="5" name="曹" initials="曹" lastIdx="12" clrIdx="4"/>
  <p:cmAuthor id="12" name="JIALI" initials="JIALI" lastIdx="6" clrIdx="11"/>
  <p:cmAuthor id="6" name="张" initials="张" lastIdx="2" clrIdx="5"/>
  <p:cmAuthor id="9" name="李 思齐" initials="李" lastIdx="1" clrIdx="4"/>
  <p:cmAuthor id="10" name="liangdaqi" initials="l" lastIdx="1" clrIdx="9"/>
  <p:cmAuthor id="13" name="wenqichuang" initials="w" lastIdx="1" clrIdx="12"/>
  <p:cmAuthor id="75" name="作者" initials="A" lastIdx="0" clrIdx="24"/>
  <p:cmAuthor id="16" name="未知用户1" initials="未知用户1" lastIdx="2" clrIdx="3"/>
  <p:cmAuthor id="2000" name="葛帅_QbuqNBfy" initials="authorId_410614512" lastIdx="0" clrIdx="0"/>
  <p:cmAuthor id="18" name="huyafa" initials="h" lastIdx="1" clrIdx="1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AEA"/>
    <a:srgbClr val="F2F2F3"/>
    <a:srgbClr val="CEE1F9"/>
    <a:srgbClr val="F1F4FF"/>
    <a:srgbClr val="DE07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9"/>
    <p:restoredTop sz="88267" autoAdjust="0"/>
  </p:normalViewPr>
  <p:slideViewPr>
    <p:cSldViewPr showGuides="1">
      <p:cViewPr varScale="1">
        <p:scale>
          <a:sx n="29" d="100"/>
          <a:sy n="29" d="100"/>
        </p:scale>
        <p:origin x="364" y="100"/>
      </p:cViewPr>
      <p:guideLst>
        <p:guide orient="horz" pos="6223"/>
        <p:guide pos="1106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7" Type="http://schemas.openxmlformats.org/officeDocument/2006/relationships/commentAuthors" Target="commentAuthors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0" Type="http://schemas.openxmlformats.org/officeDocument/2006/relationships/slide" Target="slides/slide13.xml"/><Relationship Id="rId2" Type="http://schemas.openxmlformats.org/officeDocument/2006/relationships/theme" Target="theme/theme1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39FD962-82F4-42E6-8E1E-1E0CDE616084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81ED585D-63A6-4642-B6BE-FE69867F9E5E}">
      <dgm:prSet phldrT="[文本]"/>
      <dgm:spPr/>
      <dgm:t>
        <a:bodyPr/>
        <a:lstStyle/>
        <a:p>
          <a:r>
            <a:rPr lang="zh-CN" altLang="en-US"/>
            <a:t>采购与供应管理</a:t>
          </a:r>
        </a:p>
      </dgm:t>
    </dgm:pt>
    <dgm:pt modelId="{9638AFFD-FCF8-4574-9CD2-6DCE2E5CDB3B}" cxnId="{CA13B081-9D19-4DB1-81C2-D0808E061E8F}" type="parTrans">
      <dgm:prSet/>
      <dgm:spPr/>
      <dgm:t>
        <a:bodyPr/>
        <a:lstStyle/>
        <a:p>
          <a:endParaRPr lang="zh-CN" altLang="en-US"/>
        </a:p>
      </dgm:t>
    </dgm:pt>
    <dgm:pt modelId="{8FA08614-99F5-4523-A329-3E9B8EFC0B25}" cxnId="{CA13B081-9D19-4DB1-81C2-D0808E061E8F}" type="sibTrans">
      <dgm:prSet/>
      <dgm:spPr/>
      <dgm:t>
        <a:bodyPr/>
        <a:lstStyle/>
        <a:p>
          <a:endParaRPr lang="zh-CN" altLang="en-US"/>
        </a:p>
      </dgm:t>
    </dgm:pt>
    <dgm:pt modelId="{BBCDCF13-FBC3-4001-9D70-A48D0C802C11}">
      <dgm:prSet phldrT="[文本]"/>
      <dgm:spPr/>
      <dgm:t>
        <a:bodyPr/>
        <a:lstStyle/>
        <a:p>
          <a:r>
            <a:rPr lang="zh-CN" altLang="en-US"/>
            <a:t>供应市场分析</a:t>
          </a:r>
        </a:p>
      </dgm:t>
    </dgm:pt>
    <dgm:pt modelId="{92F578EC-032D-473F-9D42-1448DAFA2287}" cxnId="{17B75F8A-8F87-4326-8D81-FA771BEEE13C}" type="parTrans">
      <dgm:prSet/>
      <dgm:spPr/>
      <dgm:t>
        <a:bodyPr/>
        <a:lstStyle/>
        <a:p>
          <a:endParaRPr lang="zh-CN" altLang="en-US"/>
        </a:p>
      </dgm:t>
    </dgm:pt>
    <dgm:pt modelId="{E8261AEE-928C-4D08-BC5B-6E103D9CB369}" cxnId="{17B75F8A-8F87-4326-8D81-FA771BEEE13C}" type="sibTrans">
      <dgm:prSet/>
      <dgm:spPr/>
      <dgm:t>
        <a:bodyPr/>
        <a:lstStyle/>
        <a:p>
          <a:endParaRPr lang="zh-CN" altLang="en-US"/>
        </a:p>
      </dgm:t>
    </dgm:pt>
    <dgm:pt modelId="{7CD82B36-701F-4DDC-8849-1EAD05B3A059}">
      <dgm:prSet phldrT="[文本]"/>
      <dgm:spPr/>
      <dgm:t>
        <a:bodyPr/>
        <a:lstStyle/>
        <a:p>
          <a:r>
            <a:rPr lang="zh-CN" altLang="en-US"/>
            <a:t>计划与库存管理</a:t>
          </a:r>
        </a:p>
      </dgm:t>
    </dgm:pt>
    <dgm:pt modelId="{68B7956F-A93E-4B30-BD8A-4887840E7546}" cxnId="{44B4489F-5062-4FDA-B984-A5814296F3A3}" type="parTrans">
      <dgm:prSet/>
      <dgm:spPr/>
      <dgm:t>
        <a:bodyPr/>
        <a:lstStyle/>
        <a:p>
          <a:endParaRPr lang="zh-CN" altLang="en-US"/>
        </a:p>
      </dgm:t>
    </dgm:pt>
    <dgm:pt modelId="{683ED7F4-993A-4051-A421-C935D99552DD}" cxnId="{44B4489F-5062-4FDA-B984-A5814296F3A3}" type="sibTrans">
      <dgm:prSet/>
      <dgm:spPr/>
      <dgm:t>
        <a:bodyPr/>
        <a:lstStyle/>
        <a:p>
          <a:endParaRPr lang="zh-CN" altLang="en-US"/>
        </a:p>
      </dgm:t>
    </dgm:pt>
    <dgm:pt modelId="{4F6AC1A9-8C41-432B-9809-F8A1E5AF758C}">
      <dgm:prSet phldrT="[文本]"/>
      <dgm:spPr/>
      <dgm:t>
        <a:bodyPr/>
        <a:lstStyle/>
        <a:p>
          <a:r>
            <a:rPr lang="zh-CN" altLang="en-US"/>
            <a:t>预测</a:t>
          </a:r>
        </a:p>
      </dgm:t>
    </dgm:pt>
    <dgm:pt modelId="{82BF7625-EDBF-4513-8FE8-879061E5F743}" cxnId="{2A037A7D-7ACC-430C-81F7-02B07D5C576A}" type="parTrans">
      <dgm:prSet/>
      <dgm:spPr/>
      <dgm:t>
        <a:bodyPr/>
        <a:lstStyle/>
        <a:p>
          <a:endParaRPr lang="zh-CN" altLang="en-US"/>
        </a:p>
      </dgm:t>
    </dgm:pt>
    <dgm:pt modelId="{2C4A8B3B-A8C9-4A43-B680-5021A0B9F460}" cxnId="{2A037A7D-7ACC-430C-81F7-02B07D5C576A}" type="sibTrans">
      <dgm:prSet/>
      <dgm:spPr/>
      <dgm:t>
        <a:bodyPr/>
        <a:lstStyle/>
        <a:p>
          <a:endParaRPr lang="zh-CN" altLang="en-US"/>
        </a:p>
      </dgm:t>
    </dgm:pt>
    <dgm:pt modelId="{E953AAD5-A346-4177-9E42-A94F4D6B0743}">
      <dgm:prSet phldrT="[文本]"/>
      <dgm:spPr/>
      <dgm:t>
        <a:bodyPr/>
        <a:lstStyle/>
        <a:p>
          <a:r>
            <a:rPr lang="zh-CN" altLang="en-US"/>
            <a:t>主计划</a:t>
          </a:r>
        </a:p>
      </dgm:t>
    </dgm:pt>
    <dgm:pt modelId="{32C34BC1-D843-41CF-8F85-E532EB4CE896}" cxnId="{6ECA80EF-238B-4075-BC3E-3237E78582A3}" type="parTrans">
      <dgm:prSet/>
      <dgm:spPr/>
      <dgm:t>
        <a:bodyPr/>
        <a:lstStyle/>
        <a:p>
          <a:endParaRPr lang="zh-CN" altLang="en-US"/>
        </a:p>
      </dgm:t>
    </dgm:pt>
    <dgm:pt modelId="{377AA523-89DC-4F01-96F6-5C54625613F7}" cxnId="{6ECA80EF-238B-4075-BC3E-3237E78582A3}" type="sibTrans">
      <dgm:prSet/>
      <dgm:spPr/>
      <dgm:t>
        <a:bodyPr/>
        <a:lstStyle/>
        <a:p>
          <a:endParaRPr lang="zh-CN" altLang="en-US"/>
        </a:p>
      </dgm:t>
    </dgm:pt>
    <dgm:pt modelId="{F596EB07-0C27-4ED0-B978-3B6821B9B358}">
      <dgm:prSet phldrT="[文本]"/>
      <dgm:spPr/>
      <dgm:t>
        <a:bodyPr/>
        <a:lstStyle/>
        <a:p>
          <a:r>
            <a:rPr lang="zh-CN" altLang="en-US"/>
            <a:t>物流与国际贸易</a:t>
          </a:r>
        </a:p>
      </dgm:t>
    </dgm:pt>
    <dgm:pt modelId="{C867B29A-3DC7-449F-B1B6-47C96FD39585}" cxnId="{DDD307B1-E0BD-4E3D-AE9C-39C6D07D540B}" type="parTrans">
      <dgm:prSet/>
      <dgm:spPr/>
      <dgm:t>
        <a:bodyPr/>
        <a:lstStyle/>
        <a:p>
          <a:endParaRPr lang="zh-CN" altLang="en-US"/>
        </a:p>
      </dgm:t>
    </dgm:pt>
    <dgm:pt modelId="{509638EF-3CEF-40D8-97FF-38D45AC2B7FE}" cxnId="{DDD307B1-E0BD-4E3D-AE9C-39C6D07D540B}" type="sibTrans">
      <dgm:prSet/>
      <dgm:spPr/>
      <dgm:t>
        <a:bodyPr/>
        <a:lstStyle/>
        <a:p>
          <a:endParaRPr lang="zh-CN" altLang="en-US"/>
        </a:p>
      </dgm:t>
    </dgm:pt>
    <dgm:pt modelId="{A726D654-DABB-4E92-A8C3-D14FEE8E3FA6}">
      <dgm:prSet phldrT="[文本]"/>
      <dgm:spPr/>
      <dgm:t>
        <a:bodyPr/>
        <a:lstStyle/>
        <a:p>
          <a:r>
            <a:rPr lang="zh-CN" altLang="en-US"/>
            <a:t>物流设施布局</a:t>
          </a:r>
        </a:p>
      </dgm:t>
    </dgm:pt>
    <dgm:pt modelId="{AFE69138-5DC9-4B02-B642-0CCF0C5E659A}" cxnId="{B0026125-0E62-436D-B6FA-7312347FEE3E}" type="parTrans">
      <dgm:prSet/>
      <dgm:spPr/>
      <dgm:t>
        <a:bodyPr/>
        <a:lstStyle/>
        <a:p>
          <a:endParaRPr lang="zh-CN" altLang="en-US"/>
        </a:p>
      </dgm:t>
    </dgm:pt>
    <dgm:pt modelId="{9CF387EB-0F35-4376-9F93-F5F6D45466D2}" cxnId="{B0026125-0E62-436D-B6FA-7312347FEE3E}" type="sibTrans">
      <dgm:prSet/>
      <dgm:spPr/>
      <dgm:t>
        <a:bodyPr/>
        <a:lstStyle/>
        <a:p>
          <a:endParaRPr lang="zh-CN" altLang="en-US"/>
        </a:p>
      </dgm:t>
    </dgm:pt>
    <dgm:pt modelId="{5B63756A-5BC7-4CCB-97FE-045F860DCA98}">
      <dgm:prSet phldrT="[文本]"/>
      <dgm:spPr/>
      <dgm:t>
        <a:bodyPr/>
        <a:lstStyle/>
        <a:p>
          <a:r>
            <a:rPr lang="zh-CN" altLang="en-US"/>
            <a:t>最佳路线选择</a:t>
          </a:r>
        </a:p>
      </dgm:t>
    </dgm:pt>
    <dgm:pt modelId="{BDA3A1EB-5AE3-4064-9FCF-43045D65C0CE}" cxnId="{78929666-EB15-451F-ABFF-B8127A1577C1}" type="parTrans">
      <dgm:prSet/>
      <dgm:spPr/>
      <dgm:t>
        <a:bodyPr/>
        <a:lstStyle/>
        <a:p>
          <a:endParaRPr lang="zh-CN" altLang="en-US"/>
        </a:p>
      </dgm:t>
    </dgm:pt>
    <dgm:pt modelId="{CD9BBBE6-E1F1-4EF9-9F10-B2E4FC8D4CE4}" cxnId="{78929666-EB15-451F-ABFF-B8127A1577C1}" type="sibTrans">
      <dgm:prSet/>
      <dgm:spPr/>
      <dgm:t>
        <a:bodyPr/>
        <a:lstStyle/>
        <a:p>
          <a:endParaRPr lang="zh-CN" altLang="en-US"/>
        </a:p>
      </dgm:t>
    </dgm:pt>
    <dgm:pt modelId="{CB6C379C-5624-4883-A669-36B0276479E3}">
      <dgm:prSet phldrT="[文本]"/>
      <dgm:spPr/>
      <dgm:t>
        <a:bodyPr/>
        <a:lstStyle/>
        <a:p>
          <a:r>
            <a:rPr lang="zh-CN" altLang="en-US"/>
            <a:t>支出分析</a:t>
          </a:r>
        </a:p>
      </dgm:t>
    </dgm:pt>
    <dgm:pt modelId="{253F15EE-73F1-410B-8556-34EC03CDA6A1}" cxnId="{923AA4D2-ADC4-4FFF-85A4-8330E0EB9DE0}" type="parTrans">
      <dgm:prSet/>
      <dgm:spPr/>
      <dgm:t>
        <a:bodyPr/>
        <a:lstStyle/>
        <a:p>
          <a:endParaRPr lang="zh-CN" altLang="en-US"/>
        </a:p>
      </dgm:t>
    </dgm:pt>
    <dgm:pt modelId="{3C14D5FB-A376-4FC0-B6D4-4A146B5CE6C8}" cxnId="{923AA4D2-ADC4-4FFF-85A4-8330E0EB9DE0}" type="sibTrans">
      <dgm:prSet/>
      <dgm:spPr/>
      <dgm:t>
        <a:bodyPr/>
        <a:lstStyle/>
        <a:p>
          <a:endParaRPr lang="zh-CN" altLang="en-US"/>
        </a:p>
      </dgm:t>
    </dgm:pt>
    <dgm:pt modelId="{75393438-544C-4B48-BDF5-80E855B2E1AA}">
      <dgm:prSet phldrT="[文本]"/>
      <dgm:spPr/>
      <dgm:t>
        <a:bodyPr/>
        <a:lstStyle/>
        <a:p>
          <a:r>
            <a:rPr lang="zh-CN" altLang="en-US"/>
            <a:t>制定供应战略</a:t>
          </a:r>
        </a:p>
      </dgm:t>
    </dgm:pt>
    <dgm:pt modelId="{951648E8-F1AE-419F-80DB-96BAD3EDF467}" cxnId="{D374B93F-236A-4ED8-A13E-2A89F423D5C5}" type="parTrans">
      <dgm:prSet/>
      <dgm:spPr/>
      <dgm:t>
        <a:bodyPr/>
        <a:lstStyle/>
        <a:p>
          <a:endParaRPr lang="zh-CN" altLang="en-US"/>
        </a:p>
      </dgm:t>
    </dgm:pt>
    <dgm:pt modelId="{B379AD41-2FF7-4DE9-B20D-2178F70BDAFE}" cxnId="{D374B93F-236A-4ED8-A13E-2A89F423D5C5}" type="sibTrans">
      <dgm:prSet/>
      <dgm:spPr/>
      <dgm:t>
        <a:bodyPr/>
        <a:lstStyle/>
        <a:p>
          <a:endParaRPr lang="zh-CN" altLang="en-US"/>
        </a:p>
      </dgm:t>
    </dgm:pt>
    <dgm:pt modelId="{AE652964-3F29-45B9-9B71-8C17F32F8676}">
      <dgm:prSet phldrT="[文本]"/>
      <dgm:spPr/>
      <dgm:t>
        <a:bodyPr/>
        <a:lstStyle/>
        <a:p>
          <a:r>
            <a:rPr lang="zh-CN" altLang="en-US"/>
            <a:t>评估和选择供应商</a:t>
          </a:r>
        </a:p>
      </dgm:t>
    </dgm:pt>
    <dgm:pt modelId="{610FE3FA-E8E6-4503-8DEC-4F0161F97101}" cxnId="{96EE319C-5C23-4FD2-BEE8-39406B9AED23}" type="parTrans">
      <dgm:prSet/>
      <dgm:spPr/>
      <dgm:t>
        <a:bodyPr/>
        <a:lstStyle/>
        <a:p>
          <a:endParaRPr lang="zh-CN" altLang="en-US"/>
        </a:p>
      </dgm:t>
    </dgm:pt>
    <dgm:pt modelId="{A14EE708-63F6-45D2-9CC8-9561805785B5}" cxnId="{96EE319C-5C23-4FD2-BEE8-39406B9AED23}" type="sibTrans">
      <dgm:prSet/>
      <dgm:spPr/>
      <dgm:t>
        <a:bodyPr/>
        <a:lstStyle/>
        <a:p>
          <a:endParaRPr lang="zh-CN" altLang="en-US"/>
        </a:p>
      </dgm:t>
    </dgm:pt>
    <dgm:pt modelId="{EEF7AC9B-30A1-4781-A2AB-9A9D12951BCF}">
      <dgm:prSet phldrT="[文本]"/>
      <dgm:spPr/>
      <dgm:t>
        <a:bodyPr/>
        <a:lstStyle/>
        <a:p>
          <a:r>
            <a:rPr lang="zh-CN" altLang="en-US"/>
            <a:t>获取与选择报价</a:t>
          </a:r>
        </a:p>
      </dgm:t>
    </dgm:pt>
    <dgm:pt modelId="{EA61FA3D-32B9-41F7-93D5-BC2EEE1C1E43}" cxnId="{5A27D0FE-9D2D-4DD2-8216-9262459DFE68}" type="parTrans">
      <dgm:prSet/>
      <dgm:spPr/>
      <dgm:t>
        <a:bodyPr/>
        <a:lstStyle/>
        <a:p>
          <a:endParaRPr lang="zh-CN" altLang="en-US"/>
        </a:p>
      </dgm:t>
    </dgm:pt>
    <dgm:pt modelId="{9213901D-5A21-4268-BA42-44F8A3B901BB}" cxnId="{5A27D0FE-9D2D-4DD2-8216-9262459DFE68}" type="sibTrans">
      <dgm:prSet/>
      <dgm:spPr/>
      <dgm:t>
        <a:bodyPr/>
        <a:lstStyle/>
        <a:p>
          <a:endParaRPr lang="zh-CN" altLang="en-US"/>
        </a:p>
      </dgm:t>
    </dgm:pt>
    <dgm:pt modelId="{9ADBA269-63A0-4A27-92D8-7B178E3D722B}">
      <dgm:prSet phldrT="[文本]"/>
      <dgm:spPr/>
      <dgm:t>
        <a:bodyPr/>
        <a:lstStyle/>
        <a:p>
          <a:r>
            <a:rPr lang="zh-CN" altLang="en-US"/>
            <a:t>商务谈判</a:t>
          </a:r>
        </a:p>
      </dgm:t>
    </dgm:pt>
    <dgm:pt modelId="{7CD9332C-E97D-4998-9713-6E3CF1B60EAD}" cxnId="{2FBEDCA1-289A-4C4D-967A-BB70D4ABA743}" type="parTrans">
      <dgm:prSet/>
      <dgm:spPr/>
      <dgm:t>
        <a:bodyPr/>
        <a:lstStyle/>
        <a:p>
          <a:endParaRPr lang="zh-CN" altLang="en-US"/>
        </a:p>
      </dgm:t>
    </dgm:pt>
    <dgm:pt modelId="{C48980ED-D18F-4593-B10D-B0CC54AC13FD}" cxnId="{2FBEDCA1-289A-4C4D-967A-BB70D4ABA743}" type="sibTrans">
      <dgm:prSet/>
      <dgm:spPr/>
      <dgm:t>
        <a:bodyPr/>
        <a:lstStyle/>
        <a:p>
          <a:endParaRPr lang="zh-CN" altLang="en-US"/>
        </a:p>
      </dgm:t>
    </dgm:pt>
    <dgm:pt modelId="{31E9B540-10C9-41B1-A218-6560AD23774F}">
      <dgm:prSet phldrT="[文本]"/>
      <dgm:spPr/>
      <dgm:t>
        <a:bodyPr/>
        <a:lstStyle/>
        <a:p>
          <a:r>
            <a:rPr lang="zh-CN" altLang="en-US"/>
            <a:t>供应商关系管理</a:t>
          </a:r>
        </a:p>
      </dgm:t>
    </dgm:pt>
    <dgm:pt modelId="{A64E691E-BB3F-45F8-83F9-DF05A180DD35}" cxnId="{445E1E86-8BD4-4F22-82C2-0D1A5588E072}" type="parTrans">
      <dgm:prSet/>
      <dgm:spPr/>
      <dgm:t>
        <a:bodyPr/>
        <a:lstStyle/>
        <a:p>
          <a:endParaRPr lang="zh-CN" altLang="en-US"/>
        </a:p>
      </dgm:t>
    </dgm:pt>
    <dgm:pt modelId="{D12BB13F-F6B6-4C16-972A-5ED2DF41D0D8}" cxnId="{445E1E86-8BD4-4F22-82C2-0D1A5588E072}" type="sibTrans">
      <dgm:prSet/>
      <dgm:spPr/>
      <dgm:t>
        <a:bodyPr/>
        <a:lstStyle/>
        <a:p>
          <a:endParaRPr lang="zh-CN" altLang="en-US"/>
        </a:p>
      </dgm:t>
    </dgm:pt>
    <dgm:pt modelId="{70B2BB4F-1AD0-4EC0-BD4E-61642E9BD51B}">
      <dgm:prSet phldrT="[文本]"/>
      <dgm:spPr/>
      <dgm:t>
        <a:bodyPr/>
        <a:lstStyle/>
        <a:p>
          <a:r>
            <a:rPr lang="zh-CN" altLang="en-US"/>
            <a:t>库存管理</a:t>
          </a:r>
        </a:p>
      </dgm:t>
    </dgm:pt>
    <dgm:pt modelId="{35300309-4729-4D2D-A560-9421F4DB6493}" cxnId="{35821EC5-FD34-45BB-B73D-64FC30083378}" type="parTrans">
      <dgm:prSet/>
      <dgm:spPr/>
      <dgm:t>
        <a:bodyPr/>
        <a:lstStyle/>
        <a:p>
          <a:endParaRPr lang="zh-CN" altLang="en-US"/>
        </a:p>
      </dgm:t>
    </dgm:pt>
    <dgm:pt modelId="{2BBC8DA1-F310-49AD-BF86-B199CB66F5AF}" cxnId="{35821EC5-FD34-45BB-B73D-64FC30083378}" type="sibTrans">
      <dgm:prSet/>
      <dgm:spPr/>
      <dgm:t>
        <a:bodyPr/>
        <a:lstStyle/>
        <a:p>
          <a:endParaRPr lang="zh-CN" altLang="en-US"/>
        </a:p>
      </dgm:t>
    </dgm:pt>
    <dgm:pt modelId="{3F003339-3B11-4A8E-B030-9D2A894E768E}">
      <dgm:prSet phldrT="[文本]"/>
      <dgm:spPr/>
      <dgm:t>
        <a:bodyPr/>
        <a:lstStyle/>
        <a:p>
          <a:r>
            <a:rPr lang="zh-CN" altLang="en-US"/>
            <a:t>物流的基本功能</a:t>
          </a:r>
        </a:p>
      </dgm:t>
    </dgm:pt>
    <dgm:pt modelId="{72C1CB08-5394-4393-A20F-60CFDD7C1EBA}" cxnId="{BCE8E787-D914-4A00-B3B5-F4CE2DF5F826}" type="parTrans">
      <dgm:prSet/>
      <dgm:spPr/>
      <dgm:t>
        <a:bodyPr/>
        <a:lstStyle/>
        <a:p>
          <a:endParaRPr lang="zh-CN" altLang="en-US"/>
        </a:p>
      </dgm:t>
    </dgm:pt>
    <dgm:pt modelId="{C316EE5E-6D79-4583-BCC1-CD0037790873}" cxnId="{BCE8E787-D914-4A00-B3B5-F4CE2DF5F826}" type="sibTrans">
      <dgm:prSet/>
      <dgm:spPr/>
      <dgm:t>
        <a:bodyPr/>
        <a:lstStyle/>
        <a:p>
          <a:endParaRPr lang="zh-CN" altLang="en-US"/>
        </a:p>
      </dgm:t>
    </dgm:pt>
    <dgm:pt modelId="{9C834579-6507-4045-B87D-86926187D1AC}">
      <dgm:prSet phldrT="[文本]"/>
      <dgm:spPr/>
      <dgm:t>
        <a:bodyPr/>
        <a:lstStyle/>
        <a:p>
          <a:r>
            <a:rPr lang="zh-CN" altLang="en-US"/>
            <a:t>国际运输与贸易法则</a:t>
          </a:r>
        </a:p>
      </dgm:t>
    </dgm:pt>
    <dgm:pt modelId="{DCFDB657-570A-4E6C-833D-387357158EFB}" cxnId="{6559D6A7-2BCD-4A03-ABDC-86E9F270C551}" type="parTrans">
      <dgm:prSet/>
      <dgm:spPr/>
      <dgm:t>
        <a:bodyPr/>
        <a:lstStyle/>
        <a:p>
          <a:endParaRPr lang="zh-CN" altLang="en-US"/>
        </a:p>
      </dgm:t>
    </dgm:pt>
    <dgm:pt modelId="{1E4BA4CB-7E99-4F6D-935D-211C0321A916}" cxnId="{6559D6A7-2BCD-4A03-ABDC-86E9F270C551}" type="sibTrans">
      <dgm:prSet/>
      <dgm:spPr/>
      <dgm:t>
        <a:bodyPr/>
        <a:lstStyle/>
        <a:p>
          <a:endParaRPr lang="zh-CN" altLang="en-US"/>
        </a:p>
      </dgm:t>
    </dgm:pt>
    <dgm:pt modelId="{3D084C56-0066-419A-AA9D-4651F4C4DFFE}" type="pres">
      <dgm:prSet presAssocID="{939FD962-82F4-42E6-8E1E-1E0CDE616084}" presName="Name0" presStyleCnt="0">
        <dgm:presLayoutVars>
          <dgm:dir/>
          <dgm:animLvl val="lvl"/>
          <dgm:resizeHandles val="exact"/>
        </dgm:presLayoutVars>
      </dgm:prSet>
      <dgm:spPr/>
    </dgm:pt>
    <dgm:pt modelId="{EFA89106-5390-469F-9795-AD797DB4293B}" type="pres">
      <dgm:prSet presAssocID="{81ED585D-63A6-4642-B6BE-FE69867F9E5E}" presName="composite" presStyleCnt="0"/>
      <dgm:spPr/>
    </dgm:pt>
    <dgm:pt modelId="{2274AF5C-E21C-403A-824F-8CE849CA16FE}" type="pres">
      <dgm:prSet presAssocID="{81ED585D-63A6-4642-B6BE-FE69867F9E5E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3D0BD6CF-1514-40E8-9F55-E4A7186E9521}" type="pres">
      <dgm:prSet presAssocID="{81ED585D-63A6-4642-B6BE-FE69867F9E5E}" presName="desTx" presStyleLbl="alignAccFollowNode1" presStyleIdx="0" presStyleCnt="3">
        <dgm:presLayoutVars>
          <dgm:bulletEnabled val="1"/>
        </dgm:presLayoutVars>
      </dgm:prSet>
      <dgm:spPr/>
    </dgm:pt>
    <dgm:pt modelId="{7F820AA0-E485-4E66-8C10-DABD7071CE39}" type="pres">
      <dgm:prSet presAssocID="{8FA08614-99F5-4523-A329-3E9B8EFC0B25}" presName="space" presStyleCnt="0"/>
      <dgm:spPr/>
    </dgm:pt>
    <dgm:pt modelId="{35410064-D1ED-4D4E-994E-4CE92CC94F4C}" type="pres">
      <dgm:prSet presAssocID="{7CD82B36-701F-4DDC-8849-1EAD05B3A059}" presName="composite" presStyleCnt="0"/>
      <dgm:spPr/>
    </dgm:pt>
    <dgm:pt modelId="{125DC1E8-8E0B-4CD6-A008-C9B3E84AD1CB}" type="pres">
      <dgm:prSet presAssocID="{7CD82B36-701F-4DDC-8849-1EAD05B3A059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B1925DAC-F68B-4FCC-9E4A-28D8DA54DE2B}" type="pres">
      <dgm:prSet presAssocID="{7CD82B36-701F-4DDC-8849-1EAD05B3A059}" presName="desTx" presStyleLbl="alignAccFollowNode1" presStyleIdx="1" presStyleCnt="3">
        <dgm:presLayoutVars>
          <dgm:bulletEnabled val="1"/>
        </dgm:presLayoutVars>
      </dgm:prSet>
      <dgm:spPr/>
    </dgm:pt>
    <dgm:pt modelId="{E50EFA87-C626-4FD4-B28E-F750BAF29D7B}" type="pres">
      <dgm:prSet presAssocID="{683ED7F4-993A-4051-A421-C935D99552DD}" presName="space" presStyleCnt="0"/>
      <dgm:spPr/>
    </dgm:pt>
    <dgm:pt modelId="{A91D448A-AE06-4233-9805-3B2E7A1433A6}" type="pres">
      <dgm:prSet presAssocID="{F596EB07-0C27-4ED0-B978-3B6821B9B358}" presName="composite" presStyleCnt="0"/>
      <dgm:spPr/>
    </dgm:pt>
    <dgm:pt modelId="{6673BF38-F2DA-4772-B559-AAE8B0F7E653}" type="pres">
      <dgm:prSet presAssocID="{F596EB07-0C27-4ED0-B978-3B6821B9B358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ABC6F869-E248-489D-87B6-A77B69FA8101}" type="pres">
      <dgm:prSet presAssocID="{F596EB07-0C27-4ED0-B978-3B6821B9B358}" presName="desTx" presStyleLbl="alignAccFollowNode1" presStyleIdx="2" presStyleCnt="3" custLinFactNeighborX="1978" custLinFactNeighborY="988">
        <dgm:presLayoutVars>
          <dgm:bulletEnabled val="1"/>
        </dgm:presLayoutVars>
      </dgm:prSet>
      <dgm:spPr/>
    </dgm:pt>
  </dgm:ptLst>
  <dgm:cxnLst>
    <dgm:cxn modelId="{27070B00-DC1B-4A31-8559-3902072326A0}" type="presOf" srcId="{75393438-544C-4B48-BDF5-80E855B2E1AA}" destId="{3D0BD6CF-1514-40E8-9F55-E4A7186E9521}" srcOrd="0" destOrd="2" presId="urn:microsoft.com/office/officeart/2005/8/layout/hList1"/>
    <dgm:cxn modelId="{4236C322-F567-4710-914A-03A762E7B7A6}" type="presOf" srcId="{3F003339-3B11-4A8E-B030-9D2A894E768E}" destId="{ABC6F869-E248-489D-87B6-A77B69FA8101}" srcOrd="0" destOrd="0" presId="urn:microsoft.com/office/officeart/2005/8/layout/hList1"/>
    <dgm:cxn modelId="{B0026125-0E62-436D-B6FA-7312347FEE3E}" srcId="{F596EB07-0C27-4ED0-B978-3B6821B9B358}" destId="{A726D654-DABB-4E92-A8C3-D14FEE8E3FA6}" srcOrd="1" destOrd="0" parTransId="{AFE69138-5DC9-4B02-B642-0CCF0C5E659A}" sibTransId="{9CF387EB-0F35-4376-9F93-F5F6D45466D2}"/>
    <dgm:cxn modelId="{D55AB13D-DF85-430F-BE57-0B6C89BC9513}" type="presOf" srcId="{81ED585D-63A6-4642-B6BE-FE69867F9E5E}" destId="{2274AF5C-E21C-403A-824F-8CE849CA16FE}" srcOrd="0" destOrd="0" presId="urn:microsoft.com/office/officeart/2005/8/layout/hList1"/>
    <dgm:cxn modelId="{D374B93F-236A-4ED8-A13E-2A89F423D5C5}" srcId="{81ED585D-63A6-4642-B6BE-FE69867F9E5E}" destId="{75393438-544C-4B48-BDF5-80E855B2E1AA}" srcOrd="2" destOrd="0" parTransId="{951648E8-F1AE-419F-80DB-96BAD3EDF467}" sibTransId="{B379AD41-2FF7-4DE9-B20D-2178F70BDAFE}"/>
    <dgm:cxn modelId="{03BB3F5B-0E97-4D69-9D9D-460776937F58}" type="presOf" srcId="{CB6C379C-5624-4883-A669-36B0276479E3}" destId="{3D0BD6CF-1514-40E8-9F55-E4A7186E9521}" srcOrd="0" destOrd="1" presId="urn:microsoft.com/office/officeart/2005/8/layout/hList1"/>
    <dgm:cxn modelId="{813D4D41-8EE3-4A59-9E03-C2B2F70F3044}" type="presOf" srcId="{70B2BB4F-1AD0-4EC0-BD4E-61642E9BD51B}" destId="{B1925DAC-F68B-4FCC-9E4A-28D8DA54DE2B}" srcOrd="0" destOrd="2" presId="urn:microsoft.com/office/officeart/2005/8/layout/hList1"/>
    <dgm:cxn modelId="{6817DF43-BB6C-4F53-BCA8-C4E0D8A5B094}" type="presOf" srcId="{A726D654-DABB-4E92-A8C3-D14FEE8E3FA6}" destId="{ABC6F869-E248-489D-87B6-A77B69FA8101}" srcOrd="0" destOrd="1" presId="urn:microsoft.com/office/officeart/2005/8/layout/hList1"/>
    <dgm:cxn modelId="{78929666-EB15-451F-ABFF-B8127A1577C1}" srcId="{F596EB07-0C27-4ED0-B978-3B6821B9B358}" destId="{5B63756A-5BC7-4CCB-97FE-045F860DCA98}" srcOrd="2" destOrd="0" parTransId="{BDA3A1EB-5AE3-4064-9FCF-43045D65C0CE}" sibTransId="{CD9BBBE6-E1F1-4EF9-9F10-B2E4FC8D4CE4}"/>
    <dgm:cxn modelId="{430B3447-B4B9-4547-BE2E-11F23E177A49}" type="presOf" srcId="{9ADBA269-63A0-4A27-92D8-7B178E3D722B}" destId="{3D0BD6CF-1514-40E8-9F55-E4A7186E9521}" srcOrd="0" destOrd="5" presId="urn:microsoft.com/office/officeart/2005/8/layout/hList1"/>
    <dgm:cxn modelId="{7B612E4B-6D06-4846-9643-7FE715A9EF99}" type="presOf" srcId="{5B63756A-5BC7-4CCB-97FE-045F860DCA98}" destId="{ABC6F869-E248-489D-87B6-A77B69FA8101}" srcOrd="0" destOrd="2" presId="urn:microsoft.com/office/officeart/2005/8/layout/hList1"/>
    <dgm:cxn modelId="{CCB5B46E-A601-48D8-B4C9-F953892E4EFC}" type="presOf" srcId="{E953AAD5-A346-4177-9E42-A94F4D6B0743}" destId="{B1925DAC-F68B-4FCC-9E4A-28D8DA54DE2B}" srcOrd="0" destOrd="1" presId="urn:microsoft.com/office/officeart/2005/8/layout/hList1"/>
    <dgm:cxn modelId="{DF0A3659-2BFC-468D-B6BE-1FB2B1CEACCB}" type="presOf" srcId="{4F6AC1A9-8C41-432B-9809-F8A1E5AF758C}" destId="{B1925DAC-F68B-4FCC-9E4A-28D8DA54DE2B}" srcOrd="0" destOrd="0" presId="urn:microsoft.com/office/officeart/2005/8/layout/hList1"/>
    <dgm:cxn modelId="{2A037A7D-7ACC-430C-81F7-02B07D5C576A}" srcId="{7CD82B36-701F-4DDC-8849-1EAD05B3A059}" destId="{4F6AC1A9-8C41-432B-9809-F8A1E5AF758C}" srcOrd="0" destOrd="0" parTransId="{82BF7625-EDBF-4513-8FE8-879061E5F743}" sibTransId="{2C4A8B3B-A8C9-4A43-B680-5021A0B9F460}"/>
    <dgm:cxn modelId="{CA13B081-9D19-4DB1-81C2-D0808E061E8F}" srcId="{939FD962-82F4-42E6-8E1E-1E0CDE616084}" destId="{81ED585D-63A6-4642-B6BE-FE69867F9E5E}" srcOrd="0" destOrd="0" parTransId="{9638AFFD-FCF8-4574-9CD2-6DCE2E5CDB3B}" sibTransId="{8FA08614-99F5-4523-A329-3E9B8EFC0B25}"/>
    <dgm:cxn modelId="{445E1E86-8BD4-4F22-82C2-0D1A5588E072}" srcId="{81ED585D-63A6-4642-B6BE-FE69867F9E5E}" destId="{31E9B540-10C9-41B1-A218-6560AD23774F}" srcOrd="6" destOrd="0" parTransId="{A64E691E-BB3F-45F8-83F9-DF05A180DD35}" sibTransId="{D12BB13F-F6B6-4C16-972A-5ED2DF41D0D8}"/>
    <dgm:cxn modelId="{BCE8E787-D914-4A00-B3B5-F4CE2DF5F826}" srcId="{F596EB07-0C27-4ED0-B978-3B6821B9B358}" destId="{3F003339-3B11-4A8E-B030-9D2A894E768E}" srcOrd="0" destOrd="0" parTransId="{72C1CB08-5394-4393-A20F-60CFDD7C1EBA}" sibTransId="{C316EE5E-6D79-4583-BCC1-CD0037790873}"/>
    <dgm:cxn modelId="{17B75F8A-8F87-4326-8D81-FA771BEEE13C}" srcId="{81ED585D-63A6-4642-B6BE-FE69867F9E5E}" destId="{BBCDCF13-FBC3-4001-9D70-A48D0C802C11}" srcOrd="0" destOrd="0" parTransId="{92F578EC-032D-473F-9D42-1448DAFA2287}" sibTransId="{E8261AEE-928C-4D08-BC5B-6E103D9CB369}"/>
    <dgm:cxn modelId="{0E1F9590-A035-4B9F-A162-BEE6439FCD77}" type="presOf" srcId="{31E9B540-10C9-41B1-A218-6560AD23774F}" destId="{3D0BD6CF-1514-40E8-9F55-E4A7186E9521}" srcOrd="0" destOrd="6" presId="urn:microsoft.com/office/officeart/2005/8/layout/hList1"/>
    <dgm:cxn modelId="{F5C1D197-3691-449D-8B95-E1F390B0E526}" type="presOf" srcId="{BBCDCF13-FBC3-4001-9D70-A48D0C802C11}" destId="{3D0BD6CF-1514-40E8-9F55-E4A7186E9521}" srcOrd="0" destOrd="0" presId="urn:microsoft.com/office/officeart/2005/8/layout/hList1"/>
    <dgm:cxn modelId="{96EE319C-5C23-4FD2-BEE8-39406B9AED23}" srcId="{81ED585D-63A6-4642-B6BE-FE69867F9E5E}" destId="{AE652964-3F29-45B9-9B71-8C17F32F8676}" srcOrd="3" destOrd="0" parTransId="{610FE3FA-E8E6-4503-8DEC-4F0161F97101}" sibTransId="{A14EE708-63F6-45D2-9CC8-9561805785B5}"/>
    <dgm:cxn modelId="{44B4489F-5062-4FDA-B984-A5814296F3A3}" srcId="{939FD962-82F4-42E6-8E1E-1E0CDE616084}" destId="{7CD82B36-701F-4DDC-8849-1EAD05B3A059}" srcOrd="1" destOrd="0" parTransId="{68B7956F-A93E-4B30-BD8A-4887840E7546}" sibTransId="{683ED7F4-993A-4051-A421-C935D99552DD}"/>
    <dgm:cxn modelId="{2FBEDCA1-289A-4C4D-967A-BB70D4ABA743}" srcId="{81ED585D-63A6-4642-B6BE-FE69867F9E5E}" destId="{9ADBA269-63A0-4A27-92D8-7B178E3D722B}" srcOrd="5" destOrd="0" parTransId="{7CD9332C-E97D-4998-9713-6E3CF1B60EAD}" sibTransId="{C48980ED-D18F-4593-B10D-B0CC54AC13FD}"/>
    <dgm:cxn modelId="{6559D6A7-2BCD-4A03-ABDC-86E9F270C551}" srcId="{F596EB07-0C27-4ED0-B978-3B6821B9B358}" destId="{9C834579-6507-4045-B87D-86926187D1AC}" srcOrd="3" destOrd="0" parTransId="{DCFDB657-570A-4E6C-833D-387357158EFB}" sibTransId="{1E4BA4CB-7E99-4F6D-935D-211C0321A916}"/>
    <dgm:cxn modelId="{F98AEFB0-CC34-45F8-B1C2-7FA6A565601F}" type="presOf" srcId="{EEF7AC9B-30A1-4781-A2AB-9A9D12951BCF}" destId="{3D0BD6CF-1514-40E8-9F55-E4A7186E9521}" srcOrd="0" destOrd="4" presId="urn:microsoft.com/office/officeart/2005/8/layout/hList1"/>
    <dgm:cxn modelId="{DDD307B1-E0BD-4E3D-AE9C-39C6D07D540B}" srcId="{939FD962-82F4-42E6-8E1E-1E0CDE616084}" destId="{F596EB07-0C27-4ED0-B978-3B6821B9B358}" srcOrd="2" destOrd="0" parTransId="{C867B29A-3DC7-449F-B1B6-47C96FD39585}" sibTransId="{509638EF-3CEF-40D8-97FF-38D45AC2B7FE}"/>
    <dgm:cxn modelId="{35821EC5-FD34-45BB-B73D-64FC30083378}" srcId="{7CD82B36-701F-4DDC-8849-1EAD05B3A059}" destId="{70B2BB4F-1AD0-4EC0-BD4E-61642E9BD51B}" srcOrd="2" destOrd="0" parTransId="{35300309-4729-4D2D-A560-9421F4DB6493}" sibTransId="{2BBC8DA1-F310-49AD-BF86-B199CB66F5AF}"/>
    <dgm:cxn modelId="{8432EACC-A068-406D-AE5A-3025756166E4}" type="presOf" srcId="{9C834579-6507-4045-B87D-86926187D1AC}" destId="{ABC6F869-E248-489D-87B6-A77B69FA8101}" srcOrd="0" destOrd="3" presId="urn:microsoft.com/office/officeart/2005/8/layout/hList1"/>
    <dgm:cxn modelId="{D3AF41D2-C3E7-4BFE-B6D5-2EEB85986193}" type="presOf" srcId="{7CD82B36-701F-4DDC-8849-1EAD05B3A059}" destId="{125DC1E8-8E0B-4CD6-A008-C9B3E84AD1CB}" srcOrd="0" destOrd="0" presId="urn:microsoft.com/office/officeart/2005/8/layout/hList1"/>
    <dgm:cxn modelId="{923AA4D2-ADC4-4FFF-85A4-8330E0EB9DE0}" srcId="{81ED585D-63A6-4642-B6BE-FE69867F9E5E}" destId="{CB6C379C-5624-4883-A669-36B0276479E3}" srcOrd="1" destOrd="0" parTransId="{253F15EE-73F1-410B-8556-34EC03CDA6A1}" sibTransId="{3C14D5FB-A376-4FC0-B6D4-4A146B5CE6C8}"/>
    <dgm:cxn modelId="{5A63BCE5-4611-40FB-9776-A1890E2D2EC1}" type="presOf" srcId="{F596EB07-0C27-4ED0-B978-3B6821B9B358}" destId="{6673BF38-F2DA-4772-B559-AAE8B0F7E653}" srcOrd="0" destOrd="0" presId="urn:microsoft.com/office/officeart/2005/8/layout/hList1"/>
    <dgm:cxn modelId="{9075FCE9-3D1E-4401-A516-65EECFA7A77D}" type="presOf" srcId="{939FD962-82F4-42E6-8E1E-1E0CDE616084}" destId="{3D084C56-0066-419A-AA9D-4651F4C4DFFE}" srcOrd="0" destOrd="0" presId="urn:microsoft.com/office/officeart/2005/8/layout/hList1"/>
    <dgm:cxn modelId="{6ECA80EF-238B-4075-BC3E-3237E78582A3}" srcId="{7CD82B36-701F-4DDC-8849-1EAD05B3A059}" destId="{E953AAD5-A346-4177-9E42-A94F4D6B0743}" srcOrd="1" destOrd="0" parTransId="{32C34BC1-D843-41CF-8F85-E532EB4CE896}" sibTransId="{377AA523-89DC-4F01-96F6-5C54625613F7}"/>
    <dgm:cxn modelId="{977458FB-0A46-4DF3-BC8C-3A50C546B424}" type="presOf" srcId="{AE652964-3F29-45B9-9B71-8C17F32F8676}" destId="{3D0BD6CF-1514-40E8-9F55-E4A7186E9521}" srcOrd="0" destOrd="3" presId="urn:microsoft.com/office/officeart/2005/8/layout/hList1"/>
    <dgm:cxn modelId="{5A27D0FE-9D2D-4DD2-8216-9262459DFE68}" srcId="{81ED585D-63A6-4642-B6BE-FE69867F9E5E}" destId="{EEF7AC9B-30A1-4781-A2AB-9A9D12951BCF}" srcOrd="4" destOrd="0" parTransId="{EA61FA3D-32B9-41F7-93D5-BC2EEE1C1E43}" sibTransId="{9213901D-5A21-4268-BA42-44F8A3B901BB}"/>
    <dgm:cxn modelId="{D799545E-6F2B-46C7-A906-9F3F072130C7}" type="presParOf" srcId="{3D084C56-0066-419A-AA9D-4651F4C4DFFE}" destId="{EFA89106-5390-469F-9795-AD797DB4293B}" srcOrd="0" destOrd="0" presId="urn:microsoft.com/office/officeart/2005/8/layout/hList1"/>
    <dgm:cxn modelId="{AE29D460-DB65-4C77-B385-2563854025AF}" type="presParOf" srcId="{EFA89106-5390-469F-9795-AD797DB4293B}" destId="{2274AF5C-E21C-403A-824F-8CE849CA16FE}" srcOrd="0" destOrd="0" presId="urn:microsoft.com/office/officeart/2005/8/layout/hList1"/>
    <dgm:cxn modelId="{36030F44-1225-4C08-8CCC-CE62CE813D94}" type="presParOf" srcId="{EFA89106-5390-469F-9795-AD797DB4293B}" destId="{3D0BD6CF-1514-40E8-9F55-E4A7186E9521}" srcOrd="1" destOrd="0" presId="urn:microsoft.com/office/officeart/2005/8/layout/hList1"/>
    <dgm:cxn modelId="{AE1F7656-C176-4430-9BB1-285569BF1413}" type="presParOf" srcId="{3D084C56-0066-419A-AA9D-4651F4C4DFFE}" destId="{7F820AA0-E485-4E66-8C10-DABD7071CE39}" srcOrd="1" destOrd="0" presId="urn:microsoft.com/office/officeart/2005/8/layout/hList1"/>
    <dgm:cxn modelId="{5A583380-3221-4331-A640-EA16E06BC244}" type="presParOf" srcId="{3D084C56-0066-419A-AA9D-4651F4C4DFFE}" destId="{35410064-D1ED-4D4E-994E-4CE92CC94F4C}" srcOrd="2" destOrd="0" presId="urn:microsoft.com/office/officeart/2005/8/layout/hList1"/>
    <dgm:cxn modelId="{10DBC70B-C474-42CA-A95D-33CF404EA241}" type="presParOf" srcId="{35410064-D1ED-4D4E-994E-4CE92CC94F4C}" destId="{125DC1E8-8E0B-4CD6-A008-C9B3E84AD1CB}" srcOrd="0" destOrd="0" presId="urn:microsoft.com/office/officeart/2005/8/layout/hList1"/>
    <dgm:cxn modelId="{F37806BA-878C-4337-AC43-19D4033FF1C5}" type="presParOf" srcId="{35410064-D1ED-4D4E-994E-4CE92CC94F4C}" destId="{B1925DAC-F68B-4FCC-9E4A-28D8DA54DE2B}" srcOrd="1" destOrd="0" presId="urn:microsoft.com/office/officeart/2005/8/layout/hList1"/>
    <dgm:cxn modelId="{11F01D00-A09B-4C96-8919-F76C4FAEBBBA}" type="presParOf" srcId="{3D084C56-0066-419A-AA9D-4651F4C4DFFE}" destId="{E50EFA87-C626-4FD4-B28E-F750BAF29D7B}" srcOrd="3" destOrd="0" presId="urn:microsoft.com/office/officeart/2005/8/layout/hList1"/>
    <dgm:cxn modelId="{AB97E289-365C-43D2-8B7B-78E7ACBE92BE}" type="presParOf" srcId="{3D084C56-0066-419A-AA9D-4651F4C4DFFE}" destId="{A91D448A-AE06-4233-9805-3B2E7A1433A6}" srcOrd="4" destOrd="0" presId="urn:microsoft.com/office/officeart/2005/8/layout/hList1"/>
    <dgm:cxn modelId="{B4EDF8C4-408C-4598-928C-308A71D71F14}" type="presParOf" srcId="{A91D448A-AE06-4233-9805-3B2E7A1433A6}" destId="{6673BF38-F2DA-4772-B559-AAE8B0F7E653}" srcOrd="0" destOrd="0" presId="urn:microsoft.com/office/officeart/2005/8/layout/hList1"/>
    <dgm:cxn modelId="{EF83CAEF-F9F3-44A2-81E9-37FC8CFE71E4}" type="presParOf" srcId="{A91D448A-AE06-4233-9805-3B2E7A1433A6}" destId="{ABC6F869-E248-489D-87B6-A77B69FA810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39FD962-82F4-42E6-8E1E-1E0CDE616084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81ED585D-63A6-4642-B6BE-FE69867F9E5E}">
      <dgm:prSet phldrT="[文本]"/>
      <dgm:spPr/>
      <dgm:t>
        <a:bodyPr/>
        <a:lstStyle/>
        <a:p>
          <a:r>
            <a:rPr lang="zh-CN" altLang="en-US"/>
            <a:t>采购与供应管理</a:t>
          </a:r>
        </a:p>
      </dgm:t>
    </dgm:pt>
    <dgm:pt modelId="{9638AFFD-FCF8-4574-9CD2-6DCE2E5CDB3B}" cxnId="{CA13B081-9D19-4DB1-81C2-D0808E061E8F}" type="parTrans">
      <dgm:prSet/>
      <dgm:spPr/>
      <dgm:t>
        <a:bodyPr/>
        <a:lstStyle/>
        <a:p>
          <a:endParaRPr lang="zh-CN" altLang="en-US"/>
        </a:p>
      </dgm:t>
    </dgm:pt>
    <dgm:pt modelId="{8FA08614-99F5-4523-A329-3E9B8EFC0B25}" cxnId="{CA13B081-9D19-4DB1-81C2-D0808E061E8F}" type="sibTrans">
      <dgm:prSet/>
      <dgm:spPr/>
      <dgm:t>
        <a:bodyPr/>
        <a:lstStyle/>
        <a:p>
          <a:endParaRPr lang="zh-CN" altLang="en-US"/>
        </a:p>
      </dgm:t>
    </dgm:pt>
    <dgm:pt modelId="{BBCDCF13-FBC3-4001-9D70-A48D0C802C11}">
      <dgm:prSet phldrT="[文本]"/>
      <dgm:spPr/>
      <dgm:t>
        <a:bodyPr/>
        <a:lstStyle/>
        <a:p>
          <a:r>
            <a:rPr lang="zh-CN" altLang="en-US"/>
            <a:t>供应市场分析</a:t>
          </a:r>
        </a:p>
      </dgm:t>
    </dgm:pt>
    <dgm:pt modelId="{92F578EC-032D-473F-9D42-1448DAFA2287}" cxnId="{17B75F8A-8F87-4326-8D81-FA771BEEE13C}" type="parTrans">
      <dgm:prSet/>
      <dgm:spPr/>
      <dgm:t>
        <a:bodyPr/>
        <a:lstStyle/>
        <a:p>
          <a:endParaRPr lang="zh-CN" altLang="en-US"/>
        </a:p>
      </dgm:t>
    </dgm:pt>
    <dgm:pt modelId="{E8261AEE-928C-4D08-BC5B-6E103D9CB369}" cxnId="{17B75F8A-8F87-4326-8D81-FA771BEEE13C}" type="sibTrans">
      <dgm:prSet/>
      <dgm:spPr/>
      <dgm:t>
        <a:bodyPr/>
        <a:lstStyle/>
        <a:p>
          <a:endParaRPr lang="zh-CN" altLang="en-US"/>
        </a:p>
      </dgm:t>
    </dgm:pt>
    <dgm:pt modelId="{7CD82B36-701F-4DDC-8849-1EAD05B3A059}">
      <dgm:prSet phldrT="[文本]"/>
      <dgm:spPr/>
      <dgm:t>
        <a:bodyPr/>
        <a:lstStyle/>
        <a:p>
          <a:r>
            <a:rPr lang="zh-CN" altLang="en-US"/>
            <a:t>计划与库存管理</a:t>
          </a:r>
        </a:p>
      </dgm:t>
    </dgm:pt>
    <dgm:pt modelId="{68B7956F-A93E-4B30-BD8A-4887840E7546}" cxnId="{44B4489F-5062-4FDA-B984-A5814296F3A3}" type="parTrans">
      <dgm:prSet/>
      <dgm:spPr/>
      <dgm:t>
        <a:bodyPr/>
        <a:lstStyle/>
        <a:p>
          <a:endParaRPr lang="zh-CN" altLang="en-US"/>
        </a:p>
      </dgm:t>
    </dgm:pt>
    <dgm:pt modelId="{683ED7F4-993A-4051-A421-C935D99552DD}" cxnId="{44B4489F-5062-4FDA-B984-A5814296F3A3}" type="sibTrans">
      <dgm:prSet/>
      <dgm:spPr/>
      <dgm:t>
        <a:bodyPr/>
        <a:lstStyle/>
        <a:p>
          <a:endParaRPr lang="zh-CN" altLang="en-US"/>
        </a:p>
      </dgm:t>
    </dgm:pt>
    <dgm:pt modelId="{4F6AC1A9-8C41-432B-9809-F8A1E5AF758C}">
      <dgm:prSet phldrT="[文本]"/>
      <dgm:spPr/>
      <dgm:t>
        <a:bodyPr/>
        <a:lstStyle/>
        <a:p>
          <a:r>
            <a:rPr lang="zh-CN" altLang="en-US"/>
            <a:t>预测</a:t>
          </a:r>
        </a:p>
      </dgm:t>
    </dgm:pt>
    <dgm:pt modelId="{82BF7625-EDBF-4513-8FE8-879061E5F743}" cxnId="{2A037A7D-7ACC-430C-81F7-02B07D5C576A}" type="parTrans">
      <dgm:prSet/>
      <dgm:spPr/>
      <dgm:t>
        <a:bodyPr/>
        <a:lstStyle/>
        <a:p>
          <a:endParaRPr lang="zh-CN" altLang="en-US"/>
        </a:p>
      </dgm:t>
    </dgm:pt>
    <dgm:pt modelId="{2C4A8B3B-A8C9-4A43-B680-5021A0B9F460}" cxnId="{2A037A7D-7ACC-430C-81F7-02B07D5C576A}" type="sibTrans">
      <dgm:prSet/>
      <dgm:spPr/>
      <dgm:t>
        <a:bodyPr/>
        <a:lstStyle/>
        <a:p>
          <a:endParaRPr lang="zh-CN" altLang="en-US"/>
        </a:p>
      </dgm:t>
    </dgm:pt>
    <dgm:pt modelId="{E953AAD5-A346-4177-9E42-A94F4D6B0743}">
      <dgm:prSet phldrT="[文本]"/>
      <dgm:spPr/>
      <dgm:t>
        <a:bodyPr/>
        <a:lstStyle/>
        <a:p>
          <a:r>
            <a:rPr lang="zh-CN" altLang="en-US"/>
            <a:t>主计划</a:t>
          </a:r>
        </a:p>
      </dgm:t>
    </dgm:pt>
    <dgm:pt modelId="{32C34BC1-D843-41CF-8F85-E532EB4CE896}" cxnId="{6ECA80EF-238B-4075-BC3E-3237E78582A3}" type="parTrans">
      <dgm:prSet/>
      <dgm:spPr/>
      <dgm:t>
        <a:bodyPr/>
        <a:lstStyle/>
        <a:p>
          <a:endParaRPr lang="zh-CN" altLang="en-US"/>
        </a:p>
      </dgm:t>
    </dgm:pt>
    <dgm:pt modelId="{377AA523-89DC-4F01-96F6-5C54625613F7}" cxnId="{6ECA80EF-238B-4075-BC3E-3237E78582A3}" type="sibTrans">
      <dgm:prSet/>
      <dgm:spPr/>
      <dgm:t>
        <a:bodyPr/>
        <a:lstStyle/>
        <a:p>
          <a:endParaRPr lang="zh-CN" altLang="en-US"/>
        </a:p>
      </dgm:t>
    </dgm:pt>
    <dgm:pt modelId="{F596EB07-0C27-4ED0-B978-3B6821B9B358}">
      <dgm:prSet phldrT="[文本]"/>
      <dgm:spPr/>
      <dgm:t>
        <a:bodyPr/>
        <a:lstStyle/>
        <a:p>
          <a:r>
            <a:rPr lang="zh-CN" altLang="en-US"/>
            <a:t>物流与国际贸易</a:t>
          </a:r>
        </a:p>
      </dgm:t>
    </dgm:pt>
    <dgm:pt modelId="{C867B29A-3DC7-449F-B1B6-47C96FD39585}" cxnId="{DDD307B1-E0BD-4E3D-AE9C-39C6D07D540B}" type="parTrans">
      <dgm:prSet/>
      <dgm:spPr/>
      <dgm:t>
        <a:bodyPr/>
        <a:lstStyle/>
        <a:p>
          <a:endParaRPr lang="zh-CN" altLang="en-US"/>
        </a:p>
      </dgm:t>
    </dgm:pt>
    <dgm:pt modelId="{509638EF-3CEF-40D8-97FF-38D45AC2B7FE}" cxnId="{DDD307B1-E0BD-4E3D-AE9C-39C6D07D540B}" type="sibTrans">
      <dgm:prSet/>
      <dgm:spPr/>
      <dgm:t>
        <a:bodyPr/>
        <a:lstStyle/>
        <a:p>
          <a:endParaRPr lang="zh-CN" altLang="en-US"/>
        </a:p>
      </dgm:t>
    </dgm:pt>
    <dgm:pt modelId="{A726D654-DABB-4E92-A8C3-D14FEE8E3FA6}">
      <dgm:prSet phldrT="[文本]"/>
      <dgm:spPr/>
      <dgm:t>
        <a:bodyPr/>
        <a:lstStyle/>
        <a:p>
          <a:r>
            <a:rPr lang="zh-CN" altLang="en-US"/>
            <a:t>物流设施布局</a:t>
          </a:r>
        </a:p>
      </dgm:t>
    </dgm:pt>
    <dgm:pt modelId="{AFE69138-5DC9-4B02-B642-0CCF0C5E659A}" cxnId="{B0026125-0E62-436D-B6FA-7312347FEE3E}" type="parTrans">
      <dgm:prSet/>
      <dgm:spPr/>
      <dgm:t>
        <a:bodyPr/>
        <a:lstStyle/>
        <a:p>
          <a:endParaRPr lang="zh-CN" altLang="en-US"/>
        </a:p>
      </dgm:t>
    </dgm:pt>
    <dgm:pt modelId="{9CF387EB-0F35-4376-9F93-F5F6D45466D2}" cxnId="{B0026125-0E62-436D-B6FA-7312347FEE3E}" type="sibTrans">
      <dgm:prSet/>
      <dgm:spPr/>
      <dgm:t>
        <a:bodyPr/>
        <a:lstStyle/>
        <a:p>
          <a:endParaRPr lang="zh-CN" altLang="en-US"/>
        </a:p>
      </dgm:t>
    </dgm:pt>
    <dgm:pt modelId="{5B63756A-5BC7-4CCB-97FE-045F860DCA98}">
      <dgm:prSet phldrT="[文本]"/>
      <dgm:spPr/>
      <dgm:t>
        <a:bodyPr/>
        <a:lstStyle/>
        <a:p>
          <a:r>
            <a:rPr lang="zh-CN" altLang="en-US"/>
            <a:t>最佳路线选择</a:t>
          </a:r>
        </a:p>
      </dgm:t>
    </dgm:pt>
    <dgm:pt modelId="{BDA3A1EB-5AE3-4064-9FCF-43045D65C0CE}" cxnId="{78929666-EB15-451F-ABFF-B8127A1577C1}" type="parTrans">
      <dgm:prSet/>
      <dgm:spPr/>
      <dgm:t>
        <a:bodyPr/>
        <a:lstStyle/>
        <a:p>
          <a:endParaRPr lang="zh-CN" altLang="en-US"/>
        </a:p>
      </dgm:t>
    </dgm:pt>
    <dgm:pt modelId="{CD9BBBE6-E1F1-4EF9-9F10-B2E4FC8D4CE4}" cxnId="{78929666-EB15-451F-ABFF-B8127A1577C1}" type="sibTrans">
      <dgm:prSet/>
      <dgm:spPr/>
      <dgm:t>
        <a:bodyPr/>
        <a:lstStyle/>
        <a:p>
          <a:endParaRPr lang="zh-CN" altLang="en-US"/>
        </a:p>
      </dgm:t>
    </dgm:pt>
    <dgm:pt modelId="{CB6C379C-5624-4883-A669-36B0276479E3}">
      <dgm:prSet phldrT="[文本]"/>
      <dgm:spPr/>
      <dgm:t>
        <a:bodyPr/>
        <a:lstStyle/>
        <a:p>
          <a:r>
            <a:rPr lang="zh-CN" altLang="en-US"/>
            <a:t>支出分析</a:t>
          </a:r>
        </a:p>
      </dgm:t>
    </dgm:pt>
    <dgm:pt modelId="{253F15EE-73F1-410B-8556-34EC03CDA6A1}" cxnId="{923AA4D2-ADC4-4FFF-85A4-8330E0EB9DE0}" type="parTrans">
      <dgm:prSet/>
      <dgm:spPr/>
      <dgm:t>
        <a:bodyPr/>
        <a:lstStyle/>
        <a:p>
          <a:endParaRPr lang="zh-CN" altLang="en-US"/>
        </a:p>
      </dgm:t>
    </dgm:pt>
    <dgm:pt modelId="{3C14D5FB-A376-4FC0-B6D4-4A146B5CE6C8}" cxnId="{923AA4D2-ADC4-4FFF-85A4-8330E0EB9DE0}" type="sibTrans">
      <dgm:prSet/>
      <dgm:spPr/>
      <dgm:t>
        <a:bodyPr/>
        <a:lstStyle/>
        <a:p>
          <a:endParaRPr lang="zh-CN" altLang="en-US"/>
        </a:p>
      </dgm:t>
    </dgm:pt>
    <dgm:pt modelId="{75393438-544C-4B48-BDF5-80E855B2E1AA}">
      <dgm:prSet phldrT="[文本]"/>
      <dgm:spPr/>
      <dgm:t>
        <a:bodyPr/>
        <a:lstStyle/>
        <a:p>
          <a:r>
            <a:rPr lang="zh-CN" altLang="en-US"/>
            <a:t>制定供应战略</a:t>
          </a:r>
        </a:p>
      </dgm:t>
    </dgm:pt>
    <dgm:pt modelId="{951648E8-F1AE-419F-80DB-96BAD3EDF467}" cxnId="{D374B93F-236A-4ED8-A13E-2A89F423D5C5}" type="parTrans">
      <dgm:prSet/>
      <dgm:spPr/>
      <dgm:t>
        <a:bodyPr/>
        <a:lstStyle/>
        <a:p>
          <a:endParaRPr lang="zh-CN" altLang="en-US"/>
        </a:p>
      </dgm:t>
    </dgm:pt>
    <dgm:pt modelId="{B379AD41-2FF7-4DE9-B20D-2178F70BDAFE}" cxnId="{D374B93F-236A-4ED8-A13E-2A89F423D5C5}" type="sibTrans">
      <dgm:prSet/>
      <dgm:spPr/>
      <dgm:t>
        <a:bodyPr/>
        <a:lstStyle/>
        <a:p>
          <a:endParaRPr lang="zh-CN" altLang="en-US"/>
        </a:p>
      </dgm:t>
    </dgm:pt>
    <dgm:pt modelId="{AE652964-3F29-45B9-9B71-8C17F32F8676}">
      <dgm:prSet phldrT="[文本]"/>
      <dgm:spPr/>
      <dgm:t>
        <a:bodyPr/>
        <a:lstStyle/>
        <a:p>
          <a:r>
            <a:rPr lang="zh-CN" altLang="en-US"/>
            <a:t>评估和选择供应商</a:t>
          </a:r>
        </a:p>
      </dgm:t>
    </dgm:pt>
    <dgm:pt modelId="{610FE3FA-E8E6-4503-8DEC-4F0161F97101}" cxnId="{96EE319C-5C23-4FD2-BEE8-39406B9AED23}" type="parTrans">
      <dgm:prSet/>
      <dgm:spPr/>
      <dgm:t>
        <a:bodyPr/>
        <a:lstStyle/>
        <a:p>
          <a:endParaRPr lang="zh-CN" altLang="en-US"/>
        </a:p>
      </dgm:t>
    </dgm:pt>
    <dgm:pt modelId="{A14EE708-63F6-45D2-9CC8-9561805785B5}" cxnId="{96EE319C-5C23-4FD2-BEE8-39406B9AED23}" type="sibTrans">
      <dgm:prSet/>
      <dgm:spPr/>
      <dgm:t>
        <a:bodyPr/>
        <a:lstStyle/>
        <a:p>
          <a:endParaRPr lang="zh-CN" altLang="en-US"/>
        </a:p>
      </dgm:t>
    </dgm:pt>
    <dgm:pt modelId="{EEF7AC9B-30A1-4781-A2AB-9A9D12951BCF}">
      <dgm:prSet phldrT="[文本]"/>
      <dgm:spPr/>
      <dgm:t>
        <a:bodyPr/>
        <a:lstStyle/>
        <a:p>
          <a:r>
            <a:rPr lang="zh-CN" altLang="en-US"/>
            <a:t>获取与选择报价</a:t>
          </a:r>
        </a:p>
      </dgm:t>
    </dgm:pt>
    <dgm:pt modelId="{EA61FA3D-32B9-41F7-93D5-BC2EEE1C1E43}" cxnId="{5A27D0FE-9D2D-4DD2-8216-9262459DFE68}" type="parTrans">
      <dgm:prSet/>
      <dgm:spPr/>
      <dgm:t>
        <a:bodyPr/>
        <a:lstStyle/>
        <a:p>
          <a:endParaRPr lang="zh-CN" altLang="en-US"/>
        </a:p>
      </dgm:t>
    </dgm:pt>
    <dgm:pt modelId="{9213901D-5A21-4268-BA42-44F8A3B901BB}" cxnId="{5A27D0FE-9D2D-4DD2-8216-9262459DFE68}" type="sibTrans">
      <dgm:prSet/>
      <dgm:spPr/>
      <dgm:t>
        <a:bodyPr/>
        <a:lstStyle/>
        <a:p>
          <a:endParaRPr lang="zh-CN" altLang="en-US"/>
        </a:p>
      </dgm:t>
    </dgm:pt>
    <dgm:pt modelId="{9ADBA269-63A0-4A27-92D8-7B178E3D722B}">
      <dgm:prSet phldrT="[文本]"/>
      <dgm:spPr/>
      <dgm:t>
        <a:bodyPr/>
        <a:lstStyle/>
        <a:p>
          <a:r>
            <a:rPr lang="zh-CN" altLang="en-US"/>
            <a:t>商务谈判</a:t>
          </a:r>
        </a:p>
      </dgm:t>
    </dgm:pt>
    <dgm:pt modelId="{7CD9332C-E97D-4998-9713-6E3CF1B60EAD}" cxnId="{2FBEDCA1-289A-4C4D-967A-BB70D4ABA743}" type="parTrans">
      <dgm:prSet/>
      <dgm:spPr/>
      <dgm:t>
        <a:bodyPr/>
        <a:lstStyle/>
        <a:p>
          <a:endParaRPr lang="zh-CN" altLang="en-US"/>
        </a:p>
      </dgm:t>
    </dgm:pt>
    <dgm:pt modelId="{C48980ED-D18F-4593-B10D-B0CC54AC13FD}" cxnId="{2FBEDCA1-289A-4C4D-967A-BB70D4ABA743}" type="sibTrans">
      <dgm:prSet/>
      <dgm:spPr/>
      <dgm:t>
        <a:bodyPr/>
        <a:lstStyle/>
        <a:p>
          <a:endParaRPr lang="zh-CN" altLang="en-US"/>
        </a:p>
      </dgm:t>
    </dgm:pt>
    <dgm:pt modelId="{31E9B540-10C9-41B1-A218-6560AD23774F}">
      <dgm:prSet phldrT="[文本]"/>
      <dgm:spPr/>
      <dgm:t>
        <a:bodyPr/>
        <a:lstStyle/>
        <a:p>
          <a:r>
            <a:rPr lang="zh-CN" altLang="en-US"/>
            <a:t>供应商关系管理</a:t>
          </a:r>
        </a:p>
      </dgm:t>
    </dgm:pt>
    <dgm:pt modelId="{A64E691E-BB3F-45F8-83F9-DF05A180DD35}" cxnId="{445E1E86-8BD4-4F22-82C2-0D1A5588E072}" type="parTrans">
      <dgm:prSet/>
      <dgm:spPr/>
      <dgm:t>
        <a:bodyPr/>
        <a:lstStyle/>
        <a:p>
          <a:endParaRPr lang="zh-CN" altLang="en-US"/>
        </a:p>
      </dgm:t>
    </dgm:pt>
    <dgm:pt modelId="{D12BB13F-F6B6-4C16-972A-5ED2DF41D0D8}" cxnId="{445E1E86-8BD4-4F22-82C2-0D1A5588E072}" type="sibTrans">
      <dgm:prSet/>
      <dgm:spPr/>
      <dgm:t>
        <a:bodyPr/>
        <a:lstStyle/>
        <a:p>
          <a:endParaRPr lang="zh-CN" altLang="en-US"/>
        </a:p>
      </dgm:t>
    </dgm:pt>
    <dgm:pt modelId="{70B2BB4F-1AD0-4EC0-BD4E-61642E9BD51B}">
      <dgm:prSet phldrT="[文本]"/>
      <dgm:spPr/>
      <dgm:t>
        <a:bodyPr/>
        <a:lstStyle/>
        <a:p>
          <a:r>
            <a:rPr lang="zh-CN" altLang="en-US"/>
            <a:t>库存管理</a:t>
          </a:r>
        </a:p>
      </dgm:t>
    </dgm:pt>
    <dgm:pt modelId="{35300309-4729-4D2D-A560-9421F4DB6493}" cxnId="{35821EC5-FD34-45BB-B73D-64FC30083378}" type="parTrans">
      <dgm:prSet/>
      <dgm:spPr/>
      <dgm:t>
        <a:bodyPr/>
        <a:lstStyle/>
        <a:p>
          <a:endParaRPr lang="zh-CN" altLang="en-US"/>
        </a:p>
      </dgm:t>
    </dgm:pt>
    <dgm:pt modelId="{2BBC8DA1-F310-49AD-BF86-B199CB66F5AF}" cxnId="{35821EC5-FD34-45BB-B73D-64FC30083378}" type="sibTrans">
      <dgm:prSet/>
      <dgm:spPr/>
      <dgm:t>
        <a:bodyPr/>
        <a:lstStyle/>
        <a:p>
          <a:endParaRPr lang="zh-CN" altLang="en-US"/>
        </a:p>
      </dgm:t>
    </dgm:pt>
    <dgm:pt modelId="{3F003339-3B11-4A8E-B030-9D2A894E768E}">
      <dgm:prSet phldrT="[文本]"/>
      <dgm:spPr/>
      <dgm:t>
        <a:bodyPr/>
        <a:lstStyle/>
        <a:p>
          <a:r>
            <a:rPr lang="zh-CN" altLang="en-US"/>
            <a:t>物流的基本功能</a:t>
          </a:r>
        </a:p>
      </dgm:t>
    </dgm:pt>
    <dgm:pt modelId="{72C1CB08-5394-4393-A20F-60CFDD7C1EBA}" cxnId="{BCE8E787-D914-4A00-B3B5-F4CE2DF5F826}" type="parTrans">
      <dgm:prSet/>
      <dgm:spPr/>
      <dgm:t>
        <a:bodyPr/>
        <a:lstStyle/>
        <a:p>
          <a:endParaRPr lang="zh-CN" altLang="en-US"/>
        </a:p>
      </dgm:t>
    </dgm:pt>
    <dgm:pt modelId="{C316EE5E-6D79-4583-BCC1-CD0037790873}" cxnId="{BCE8E787-D914-4A00-B3B5-F4CE2DF5F826}" type="sibTrans">
      <dgm:prSet/>
      <dgm:spPr/>
      <dgm:t>
        <a:bodyPr/>
        <a:lstStyle/>
        <a:p>
          <a:endParaRPr lang="zh-CN" altLang="en-US"/>
        </a:p>
      </dgm:t>
    </dgm:pt>
    <dgm:pt modelId="{9C834579-6507-4045-B87D-86926187D1AC}">
      <dgm:prSet phldrT="[文本]"/>
      <dgm:spPr/>
      <dgm:t>
        <a:bodyPr/>
        <a:lstStyle/>
        <a:p>
          <a:r>
            <a:rPr lang="zh-CN" altLang="en-US"/>
            <a:t>国际运输与贸易法则</a:t>
          </a:r>
        </a:p>
      </dgm:t>
    </dgm:pt>
    <dgm:pt modelId="{DCFDB657-570A-4E6C-833D-387357158EFB}" cxnId="{6559D6A7-2BCD-4A03-ABDC-86E9F270C551}" type="parTrans">
      <dgm:prSet/>
      <dgm:spPr/>
      <dgm:t>
        <a:bodyPr/>
        <a:lstStyle/>
        <a:p>
          <a:endParaRPr lang="zh-CN" altLang="en-US"/>
        </a:p>
      </dgm:t>
    </dgm:pt>
    <dgm:pt modelId="{1E4BA4CB-7E99-4F6D-935D-211C0321A916}" cxnId="{6559D6A7-2BCD-4A03-ABDC-86E9F270C551}" type="sibTrans">
      <dgm:prSet/>
      <dgm:spPr/>
      <dgm:t>
        <a:bodyPr/>
        <a:lstStyle/>
        <a:p>
          <a:endParaRPr lang="zh-CN" altLang="en-US"/>
        </a:p>
      </dgm:t>
    </dgm:pt>
    <dgm:pt modelId="{3D084C56-0066-419A-AA9D-4651F4C4DFFE}" type="pres">
      <dgm:prSet presAssocID="{939FD962-82F4-42E6-8E1E-1E0CDE616084}" presName="Name0" presStyleCnt="0">
        <dgm:presLayoutVars>
          <dgm:dir/>
          <dgm:animLvl val="lvl"/>
          <dgm:resizeHandles val="exact"/>
        </dgm:presLayoutVars>
      </dgm:prSet>
      <dgm:spPr/>
    </dgm:pt>
    <dgm:pt modelId="{EFA89106-5390-469F-9795-AD797DB4293B}" type="pres">
      <dgm:prSet presAssocID="{81ED585D-63A6-4642-B6BE-FE69867F9E5E}" presName="composite" presStyleCnt="0"/>
      <dgm:spPr/>
    </dgm:pt>
    <dgm:pt modelId="{2274AF5C-E21C-403A-824F-8CE849CA16FE}" type="pres">
      <dgm:prSet presAssocID="{81ED585D-63A6-4642-B6BE-FE69867F9E5E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3D0BD6CF-1514-40E8-9F55-E4A7186E9521}" type="pres">
      <dgm:prSet presAssocID="{81ED585D-63A6-4642-B6BE-FE69867F9E5E}" presName="desTx" presStyleLbl="alignAccFollowNode1" presStyleIdx="0" presStyleCnt="3">
        <dgm:presLayoutVars>
          <dgm:bulletEnabled val="1"/>
        </dgm:presLayoutVars>
      </dgm:prSet>
      <dgm:spPr/>
    </dgm:pt>
    <dgm:pt modelId="{7F820AA0-E485-4E66-8C10-DABD7071CE39}" type="pres">
      <dgm:prSet presAssocID="{8FA08614-99F5-4523-A329-3E9B8EFC0B25}" presName="space" presStyleCnt="0"/>
      <dgm:spPr/>
    </dgm:pt>
    <dgm:pt modelId="{35410064-D1ED-4D4E-994E-4CE92CC94F4C}" type="pres">
      <dgm:prSet presAssocID="{7CD82B36-701F-4DDC-8849-1EAD05B3A059}" presName="composite" presStyleCnt="0"/>
      <dgm:spPr/>
    </dgm:pt>
    <dgm:pt modelId="{125DC1E8-8E0B-4CD6-A008-C9B3E84AD1CB}" type="pres">
      <dgm:prSet presAssocID="{7CD82B36-701F-4DDC-8849-1EAD05B3A059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B1925DAC-F68B-4FCC-9E4A-28D8DA54DE2B}" type="pres">
      <dgm:prSet presAssocID="{7CD82B36-701F-4DDC-8849-1EAD05B3A059}" presName="desTx" presStyleLbl="alignAccFollowNode1" presStyleIdx="1" presStyleCnt="3">
        <dgm:presLayoutVars>
          <dgm:bulletEnabled val="1"/>
        </dgm:presLayoutVars>
      </dgm:prSet>
      <dgm:spPr/>
    </dgm:pt>
    <dgm:pt modelId="{E50EFA87-C626-4FD4-B28E-F750BAF29D7B}" type="pres">
      <dgm:prSet presAssocID="{683ED7F4-993A-4051-A421-C935D99552DD}" presName="space" presStyleCnt="0"/>
      <dgm:spPr/>
    </dgm:pt>
    <dgm:pt modelId="{A91D448A-AE06-4233-9805-3B2E7A1433A6}" type="pres">
      <dgm:prSet presAssocID="{F596EB07-0C27-4ED0-B978-3B6821B9B358}" presName="composite" presStyleCnt="0"/>
      <dgm:spPr/>
    </dgm:pt>
    <dgm:pt modelId="{6673BF38-F2DA-4772-B559-AAE8B0F7E653}" type="pres">
      <dgm:prSet presAssocID="{F596EB07-0C27-4ED0-B978-3B6821B9B358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ABC6F869-E248-489D-87B6-A77B69FA8101}" type="pres">
      <dgm:prSet presAssocID="{F596EB07-0C27-4ED0-B978-3B6821B9B358}" presName="desTx" presStyleLbl="alignAccFollowNode1" presStyleIdx="2" presStyleCnt="3" custLinFactNeighborX="1978" custLinFactNeighborY="988">
        <dgm:presLayoutVars>
          <dgm:bulletEnabled val="1"/>
        </dgm:presLayoutVars>
      </dgm:prSet>
      <dgm:spPr/>
    </dgm:pt>
  </dgm:ptLst>
  <dgm:cxnLst>
    <dgm:cxn modelId="{27070B00-DC1B-4A31-8559-3902072326A0}" type="presOf" srcId="{75393438-544C-4B48-BDF5-80E855B2E1AA}" destId="{3D0BD6CF-1514-40E8-9F55-E4A7186E9521}" srcOrd="0" destOrd="2" presId="urn:microsoft.com/office/officeart/2005/8/layout/hList1"/>
    <dgm:cxn modelId="{4236C322-F567-4710-914A-03A762E7B7A6}" type="presOf" srcId="{3F003339-3B11-4A8E-B030-9D2A894E768E}" destId="{ABC6F869-E248-489D-87B6-A77B69FA8101}" srcOrd="0" destOrd="0" presId="urn:microsoft.com/office/officeart/2005/8/layout/hList1"/>
    <dgm:cxn modelId="{B0026125-0E62-436D-B6FA-7312347FEE3E}" srcId="{F596EB07-0C27-4ED0-B978-3B6821B9B358}" destId="{A726D654-DABB-4E92-A8C3-D14FEE8E3FA6}" srcOrd="1" destOrd="0" parTransId="{AFE69138-5DC9-4B02-B642-0CCF0C5E659A}" sibTransId="{9CF387EB-0F35-4376-9F93-F5F6D45466D2}"/>
    <dgm:cxn modelId="{D55AB13D-DF85-430F-BE57-0B6C89BC9513}" type="presOf" srcId="{81ED585D-63A6-4642-B6BE-FE69867F9E5E}" destId="{2274AF5C-E21C-403A-824F-8CE849CA16FE}" srcOrd="0" destOrd="0" presId="urn:microsoft.com/office/officeart/2005/8/layout/hList1"/>
    <dgm:cxn modelId="{D374B93F-236A-4ED8-A13E-2A89F423D5C5}" srcId="{81ED585D-63A6-4642-B6BE-FE69867F9E5E}" destId="{75393438-544C-4B48-BDF5-80E855B2E1AA}" srcOrd="2" destOrd="0" parTransId="{951648E8-F1AE-419F-80DB-96BAD3EDF467}" sibTransId="{B379AD41-2FF7-4DE9-B20D-2178F70BDAFE}"/>
    <dgm:cxn modelId="{03BB3F5B-0E97-4D69-9D9D-460776937F58}" type="presOf" srcId="{CB6C379C-5624-4883-A669-36B0276479E3}" destId="{3D0BD6CF-1514-40E8-9F55-E4A7186E9521}" srcOrd="0" destOrd="1" presId="urn:microsoft.com/office/officeart/2005/8/layout/hList1"/>
    <dgm:cxn modelId="{813D4D41-8EE3-4A59-9E03-C2B2F70F3044}" type="presOf" srcId="{70B2BB4F-1AD0-4EC0-BD4E-61642E9BD51B}" destId="{B1925DAC-F68B-4FCC-9E4A-28D8DA54DE2B}" srcOrd="0" destOrd="2" presId="urn:microsoft.com/office/officeart/2005/8/layout/hList1"/>
    <dgm:cxn modelId="{6817DF43-BB6C-4F53-BCA8-C4E0D8A5B094}" type="presOf" srcId="{A726D654-DABB-4E92-A8C3-D14FEE8E3FA6}" destId="{ABC6F869-E248-489D-87B6-A77B69FA8101}" srcOrd="0" destOrd="1" presId="urn:microsoft.com/office/officeart/2005/8/layout/hList1"/>
    <dgm:cxn modelId="{78929666-EB15-451F-ABFF-B8127A1577C1}" srcId="{F596EB07-0C27-4ED0-B978-3B6821B9B358}" destId="{5B63756A-5BC7-4CCB-97FE-045F860DCA98}" srcOrd="2" destOrd="0" parTransId="{BDA3A1EB-5AE3-4064-9FCF-43045D65C0CE}" sibTransId="{CD9BBBE6-E1F1-4EF9-9F10-B2E4FC8D4CE4}"/>
    <dgm:cxn modelId="{430B3447-B4B9-4547-BE2E-11F23E177A49}" type="presOf" srcId="{9ADBA269-63A0-4A27-92D8-7B178E3D722B}" destId="{3D0BD6CF-1514-40E8-9F55-E4A7186E9521}" srcOrd="0" destOrd="5" presId="urn:microsoft.com/office/officeart/2005/8/layout/hList1"/>
    <dgm:cxn modelId="{7B612E4B-6D06-4846-9643-7FE715A9EF99}" type="presOf" srcId="{5B63756A-5BC7-4CCB-97FE-045F860DCA98}" destId="{ABC6F869-E248-489D-87B6-A77B69FA8101}" srcOrd="0" destOrd="2" presId="urn:microsoft.com/office/officeart/2005/8/layout/hList1"/>
    <dgm:cxn modelId="{CCB5B46E-A601-48D8-B4C9-F953892E4EFC}" type="presOf" srcId="{E953AAD5-A346-4177-9E42-A94F4D6B0743}" destId="{B1925DAC-F68B-4FCC-9E4A-28D8DA54DE2B}" srcOrd="0" destOrd="1" presId="urn:microsoft.com/office/officeart/2005/8/layout/hList1"/>
    <dgm:cxn modelId="{DF0A3659-2BFC-468D-B6BE-1FB2B1CEACCB}" type="presOf" srcId="{4F6AC1A9-8C41-432B-9809-F8A1E5AF758C}" destId="{B1925DAC-F68B-4FCC-9E4A-28D8DA54DE2B}" srcOrd="0" destOrd="0" presId="urn:microsoft.com/office/officeart/2005/8/layout/hList1"/>
    <dgm:cxn modelId="{2A037A7D-7ACC-430C-81F7-02B07D5C576A}" srcId="{7CD82B36-701F-4DDC-8849-1EAD05B3A059}" destId="{4F6AC1A9-8C41-432B-9809-F8A1E5AF758C}" srcOrd="0" destOrd="0" parTransId="{82BF7625-EDBF-4513-8FE8-879061E5F743}" sibTransId="{2C4A8B3B-A8C9-4A43-B680-5021A0B9F460}"/>
    <dgm:cxn modelId="{CA13B081-9D19-4DB1-81C2-D0808E061E8F}" srcId="{939FD962-82F4-42E6-8E1E-1E0CDE616084}" destId="{81ED585D-63A6-4642-B6BE-FE69867F9E5E}" srcOrd="0" destOrd="0" parTransId="{9638AFFD-FCF8-4574-9CD2-6DCE2E5CDB3B}" sibTransId="{8FA08614-99F5-4523-A329-3E9B8EFC0B25}"/>
    <dgm:cxn modelId="{445E1E86-8BD4-4F22-82C2-0D1A5588E072}" srcId="{81ED585D-63A6-4642-B6BE-FE69867F9E5E}" destId="{31E9B540-10C9-41B1-A218-6560AD23774F}" srcOrd="6" destOrd="0" parTransId="{A64E691E-BB3F-45F8-83F9-DF05A180DD35}" sibTransId="{D12BB13F-F6B6-4C16-972A-5ED2DF41D0D8}"/>
    <dgm:cxn modelId="{BCE8E787-D914-4A00-B3B5-F4CE2DF5F826}" srcId="{F596EB07-0C27-4ED0-B978-3B6821B9B358}" destId="{3F003339-3B11-4A8E-B030-9D2A894E768E}" srcOrd="0" destOrd="0" parTransId="{72C1CB08-5394-4393-A20F-60CFDD7C1EBA}" sibTransId="{C316EE5E-6D79-4583-BCC1-CD0037790873}"/>
    <dgm:cxn modelId="{17B75F8A-8F87-4326-8D81-FA771BEEE13C}" srcId="{81ED585D-63A6-4642-B6BE-FE69867F9E5E}" destId="{BBCDCF13-FBC3-4001-9D70-A48D0C802C11}" srcOrd="0" destOrd="0" parTransId="{92F578EC-032D-473F-9D42-1448DAFA2287}" sibTransId="{E8261AEE-928C-4D08-BC5B-6E103D9CB369}"/>
    <dgm:cxn modelId="{0E1F9590-A035-4B9F-A162-BEE6439FCD77}" type="presOf" srcId="{31E9B540-10C9-41B1-A218-6560AD23774F}" destId="{3D0BD6CF-1514-40E8-9F55-E4A7186E9521}" srcOrd="0" destOrd="6" presId="urn:microsoft.com/office/officeart/2005/8/layout/hList1"/>
    <dgm:cxn modelId="{F5C1D197-3691-449D-8B95-E1F390B0E526}" type="presOf" srcId="{BBCDCF13-FBC3-4001-9D70-A48D0C802C11}" destId="{3D0BD6CF-1514-40E8-9F55-E4A7186E9521}" srcOrd="0" destOrd="0" presId="urn:microsoft.com/office/officeart/2005/8/layout/hList1"/>
    <dgm:cxn modelId="{96EE319C-5C23-4FD2-BEE8-39406B9AED23}" srcId="{81ED585D-63A6-4642-B6BE-FE69867F9E5E}" destId="{AE652964-3F29-45B9-9B71-8C17F32F8676}" srcOrd="3" destOrd="0" parTransId="{610FE3FA-E8E6-4503-8DEC-4F0161F97101}" sibTransId="{A14EE708-63F6-45D2-9CC8-9561805785B5}"/>
    <dgm:cxn modelId="{44B4489F-5062-4FDA-B984-A5814296F3A3}" srcId="{939FD962-82F4-42E6-8E1E-1E0CDE616084}" destId="{7CD82B36-701F-4DDC-8849-1EAD05B3A059}" srcOrd="1" destOrd="0" parTransId="{68B7956F-A93E-4B30-BD8A-4887840E7546}" sibTransId="{683ED7F4-993A-4051-A421-C935D99552DD}"/>
    <dgm:cxn modelId="{2FBEDCA1-289A-4C4D-967A-BB70D4ABA743}" srcId="{81ED585D-63A6-4642-B6BE-FE69867F9E5E}" destId="{9ADBA269-63A0-4A27-92D8-7B178E3D722B}" srcOrd="5" destOrd="0" parTransId="{7CD9332C-E97D-4998-9713-6E3CF1B60EAD}" sibTransId="{C48980ED-D18F-4593-B10D-B0CC54AC13FD}"/>
    <dgm:cxn modelId="{6559D6A7-2BCD-4A03-ABDC-86E9F270C551}" srcId="{F596EB07-0C27-4ED0-B978-3B6821B9B358}" destId="{9C834579-6507-4045-B87D-86926187D1AC}" srcOrd="3" destOrd="0" parTransId="{DCFDB657-570A-4E6C-833D-387357158EFB}" sibTransId="{1E4BA4CB-7E99-4F6D-935D-211C0321A916}"/>
    <dgm:cxn modelId="{F98AEFB0-CC34-45F8-B1C2-7FA6A565601F}" type="presOf" srcId="{EEF7AC9B-30A1-4781-A2AB-9A9D12951BCF}" destId="{3D0BD6CF-1514-40E8-9F55-E4A7186E9521}" srcOrd="0" destOrd="4" presId="urn:microsoft.com/office/officeart/2005/8/layout/hList1"/>
    <dgm:cxn modelId="{DDD307B1-E0BD-4E3D-AE9C-39C6D07D540B}" srcId="{939FD962-82F4-42E6-8E1E-1E0CDE616084}" destId="{F596EB07-0C27-4ED0-B978-3B6821B9B358}" srcOrd="2" destOrd="0" parTransId="{C867B29A-3DC7-449F-B1B6-47C96FD39585}" sibTransId="{509638EF-3CEF-40D8-97FF-38D45AC2B7FE}"/>
    <dgm:cxn modelId="{35821EC5-FD34-45BB-B73D-64FC30083378}" srcId="{7CD82B36-701F-4DDC-8849-1EAD05B3A059}" destId="{70B2BB4F-1AD0-4EC0-BD4E-61642E9BD51B}" srcOrd="2" destOrd="0" parTransId="{35300309-4729-4D2D-A560-9421F4DB6493}" sibTransId="{2BBC8DA1-F310-49AD-BF86-B199CB66F5AF}"/>
    <dgm:cxn modelId="{8432EACC-A068-406D-AE5A-3025756166E4}" type="presOf" srcId="{9C834579-6507-4045-B87D-86926187D1AC}" destId="{ABC6F869-E248-489D-87B6-A77B69FA8101}" srcOrd="0" destOrd="3" presId="urn:microsoft.com/office/officeart/2005/8/layout/hList1"/>
    <dgm:cxn modelId="{D3AF41D2-C3E7-4BFE-B6D5-2EEB85986193}" type="presOf" srcId="{7CD82B36-701F-4DDC-8849-1EAD05B3A059}" destId="{125DC1E8-8E0B-4CD6-A008-C9B3E84AD1CB}" srcOrd="0" destOrd="0" presId="urn:microsoft.com/office/officeart/2005/8/layout/hList1"/>
    <dgm:cxn modelId="{923AA4D2-ADC4-4FFF-85A4-8330E0EB9DE0}" srcId="{81ED585D-63A6-4642-B6BE-FE69867F9E5E}" destId="{CB6C379C-5624-4883-A669-36B0276479E3}" srcOrd="1" destOrd="0" parTransId="{253F15EE-73F1-410B-8556-34EC03CDA6A1}" sibTransId="{3C14D5FB-A376-4FC0-B6D4-4A146B5CE6C8}"/>
    <dgm:cxn modelId="{5A63BCE5-4611-40FB-9776-A1890E2D2EC1}" type="presOf" srcId="{F596EB07-0C27-4ED0-B978-3B6821B9B358}" destId="{6673BF38-F2DA-4772-B559-AAE8B0F7E653}" srcOrd="0" destOrd="0" presId="urn:microsoft.com/office/officeart/2005/8/layout/hList1"/>
    <dgm:cxn modelId="{9075FCE9-3D1E-4401-A516-65EECFA7A77D}" type="presOf" srcId="{939FD962-82F4-42E6-8E1E-1E0CDE616084}" destId="{3D084C56-0066-419A-AA9D-4651F4C4DFFE}" srcOrd="0" destOrd="0" presId="urn:microsoft.com/office/officeart/2005/8/layout/hList1"/>
    <dgm:cxn modelId="{6ECA80EF-238B-4075-BC3E-3237E78582A3}" srcId="{7CD82B36-701F-4DDC-8849-1EAD05B3A059}" destId="{E953AAD5-A346-4177-9E42-A94F4D6B0743}" srcOrd="1" destOrd="0" parTransId="{32C34BC1-D843-41CF-8F85-E532EB4CE896}" sibTransId="{377AA523-89DC-4F01-96F6-5C54625613F7}"/>
    <dgm:cxn modelId="{977458FB-0A46-4DF3-BC8C-3A50C546B424}" type="presOf" srcId="{AE652964-3F29-45B9-9B71-8C17F32F8676}" destId="{3D0BD6CF-1514-40E8-9F55-E4A7186E9521}" srcOrd="0" destOrd="3" presId="urn:microsoft.com/office/officeart/2005/8/layout/hList1"/>
    <dgm:cxn modelId="{5A27D0FE-9D2D-4DD2-8216-9262459DFE68}" srcId="{81ED585D-63A6-4642-B6BE-FE69867F9E5E}" destId="{EEF7AC9B-30A1-4781-A2AB-9A9D12951BCF}" srcOrd="4" destOrd="0" parTransId="{EA61FA3D-32B9-41F7-93D5-BC2EEE1C1E43}" sibTransId="{9213901D-5A21-4268-BA42-44F8A3B901BB}"/>
    <dgm:cxn modelId="{D799545E-6F2B-46C7-A906-9F3F072130C7}" type="presParOf" srcId="{3D084C56-0066-419A-AA9D-4651F4C4DFFE}" destId="{EFA89106-5390-469F-9795-AD797DB4293B}" srcOrd="0" destOrd="0" presId="urn:microsoft.com/office/officeart/2005/8/layout/hList1"/>
    <dgm:cxn modelId="{AE29D460-DB65-4C77-B385-2563854025AF}" type="presParOf" srcId="{EFA89106-5390-469F-9795-AD797DB4293B}" destId="{2274AF5C-E21C-403A-824F-8CE849CA16FE}" srcOrd="0" destOrd="0" presId="urn:microsoft.com/office/officeart/2005/8/layout/hList1"/>
    <dgm:cxn modelId="{36030F44-1225-4C08-8CCC-CE62CE813D94}" type="presParOf" srcId="{EFA89106-5390-469F-9795-AD797DB4293B}" destId="{3D0BD6CF-1514-40E8-9F55-E4A7186E9521}" srcOrd="1" destOrd="0" presId="urn:microsoft.com/office/officeart/2005/8/layout/hList1"/>
    <dgm:cxn modelId="{AE1F7656-C176-4430-9BB1-285569BF1413}" type="presParOf" srcId="{3D084C56-0066-419A-AA9D-4651F4C4DFFE}" destId="{7F820AA0-E485-4E66-8C10-DABD7071CE39}" srcOrd="1" destOrd="0" presId="urn:microsoft.com/office/officeart/2005/8/layout/hList1"/>
    <dgm:cxn modelId="{5A583380-3221-4331-A640-EA16E06BC244}" type="presParOf" srcId="{3D084C56-0066-419A-AA9D-4651F4C4DFFE}" destId="{35410064-D1ED-4D4E-994E-4CE92CC94F4C}" srcOrd="2" destOrd="0" presId="urn:microsoft.com/office/officeart/2005/8/layout/hList1"/>
    <dgm:cxn modelId="{10DBC70B-C474-42CA-A95D-33CF404EA241}" type="presParOf" srcId="{35410064-D1ED-4D4E-994E-4CE92CC94F4C}" destId="{125DC1E8-8E0B-4CD6-A008-C9B3E84AD1CB}" srcOrd="0" destOrd="0" presId="urn:microsoft.com/office/officeart/2005/8/layout/hList1"/>
    <dgm:cxn modelId="{F37806BA-878C-4337-AC43-19D4033FF1C5}" type="presParOf" srcId="{35410064-D1ED-4D4E-994E-4CE92CC94F4C}" destId="{B1925DAC-F68B-4FCC-9E4A-28D8DA54DE2B}" srcOrd="1" destOrd="0" presId="urn:microsoft.com/office/officeart/2005/8/layout/hList1"/>
    <dgm:cxn modelId="{11F01D00-A09B-4C96-8919-F76C4FAEBBBA}" type="presParOf" srcId="{3D084C56-0066-419A-AA9D-4651F4C4DFFE}" destId="{E50EFA87-C626-4FD4-B28E-F750BAF29D7B}" srcOrd="3" destOrd="0" presId="urn:microsoft.com/office/officeart/2005/8/layout/hList1"/>
    <dgm:cxn modelId="{AB97E289-365C-43D2-8B7B-78E7ACBE92BE}" type="presParOf" srcId="{3D084C56-0066-419A-AA9D-4651F4C4DFFE}" destId="{A91D448A-AE06-4233-9805-3B2E7A1433A6}" srcOrd="4" destOrd="0" presId="urn:microsoft.com/office/officeart/2005/8/layout/hList1"/>
    <dgm:cxn modelId="{B4EDF8C4-408C-4598-928C-308A71D71F14}" type="presParOf" srcId="{A91D448A-AE06-4233-9805-3B2E7A1433A6}" destId="{6673BF38-F2DA-4772-B559-AAE8B0F7E653}" srcOrd="0" destOrd="0" presId="urn:microsoft.com/office/officeart/2005/8/layout/hList1"/>
    <dgm:cxn modelId="{EF83CAEF-F9F3-44A2-81E9-37FC8CFE71E4}" type="presParOf" srcId="{A91D448A-AE06-4233-9805-3B2E7A1433A6}" destId="{ABC6F869-E248-489D-87B6-A77B69FA810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26828331" cy="15765101"/>
        <a:chOff x="0" y="0"/>
        <a:chExt cx="26828331" cy="15765101"/>
      </a:xfrm>
    </dsp:grpSpPr>
    <dsp:sp modelId="{2274AF5C-E21C-403A-824F-8CE849CA16FE}">
      <dsp:nvSpPr>
        <dsp:cNvPr id="3" name="矩形 2"/>
        <dsp:cNvSpPr/>
      </dsp:nvSpPr>
      <dsp:spPr bwMode="white">
        <a:xfrm>
          <a:off x="0" y="2584736"/>
          <a:ext cx="8179369" cy="1872000"/>
        </a:xfrm>
        <a:prstGeom prst="rect">
          <a:avLst/>
        </a:prstGeom>
      </dsp:spPr>
      <dsp:style>
        <a:lnRef idx="2">
          <a:schemeClr val="accent5">
            <a:hueOff val="0"/>
            <a:satOff val="0"/>
            <a:lumOff val="0"/>
            <a:alpha val="100000"/>
          </a:schemeClr>
        </a:lnRef>
        <a:fillRef idx="1">
          <a:schemeClr val="accent5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462280" tIns="264160" rIns="462280" bIns="2641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采购与供应管理</a:t>
          </a:r>
        </a:p>
      </dsp:txBody>
      <dsp:txXfrm>
        <a:off x="0" y="2584736"/>
        <a:ext cx="8179369" cy="1872000"/>
      </dsp:txXfrm>
    </dsp:sp>
    <dsp:sp modelId="{3D0BD6CF-1514-40E8-9F55-E4A7186E9521}">
      <dsp:nvSpPr>
        <dsp:cNvPr id="4" name="矩形 3"/>
        <dsp:cNvSpPr/>
      </dsp:nvSpPr>
      <dsp:spPr bwMode="white">
        <a:xfrm>
          <a:off x="0" y="4456736"/>
          <a:ext cx="8179369" cy="8723630"/>
        </a:xfrm>
        <a:prstGeom prst="rect">
          <a:avLst/>
        </a:prstGeom>
      </dsp:spPr>
      <dsp:style>
        <a:lnRef idx="2">
          <a:schemeClr val="accent5">
            <a:tint val="40000"/>
            <a:alpha val="90000"/>
            <a:hueOff val="0"/>
            <a:satOff val="0"/>
            <a:lumOff val="0"/>
            <a:alpha val="90196"/>
          </a:schemeClr>
        </a:lnRef>
        <a:fillRef idx="1">
          <a:schemeClr val="accent5">
            <a:tint val="40000"/>
            <a:alpha val="90000"/>
            <a:hueOff val="0"/>
            <a:satOff val="0"/>
            <a:lumOff val="0"/>
            <a:alpha val="90196"/>
          </a:schemeClr>
        </a:fillRef>
        <a:effectRef idx="0">
          <a:scrgbClr r="0" g="0" b="0"/>
        </a:effectRef>
        <a:fontRef idx="minor"/>
      </dsp:style>
      <dsp:txBody>
        <a:bodyPr lIns="346710" tIns="346710" rIns="462280" bIns="520065" anchor="t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>
              <a:solidFill>
                <a:schemeClr val="dk1"/>
              </a:solidFill>
            </a:rPr>
            <a:t>供应市场分析</a:t>
          </a:r>
          <a:endParaRPr lang="zh-CN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>
              <a:solidFill>
                <a:schemeClr val="dk1"/>
              </a:solidFill>
            </a:rPr>
            <a:t>支出分析</a:t>
          </a:r>
          <a:endParaRPr lang="zh-CN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>
              <a:solidFill>
                <a:schemeClr val="dk1"/>
              </a:solidFill>
            </a:rPr>
            <a:t>制定供应战略</a:t>
          </a:r>
          <a:endParaRPr lang="zh-CN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>
              <a:solidFill>
                <a:schemeClr val="dk1"/>
              </a:solidFill>
            </a:rPr>
            <a:t>评估和选择供应商</a:t>
          </a:r>
          <a:endParaRPr lang="zh-CN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>
              <a:solidFill>
                <a:schemeClr val="dk1"/>
              </a:solidFill>
            </a:rPr>
            <a:t>获取与选择报价</a:t>
          </a:r>
          <a:endParaRPr lang="zh-CN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>
              <a:solidFill>
                <a:schemeClr val="dk1"/>
              </a:solidFill>
            </a:rPr>
            <a:t>商务谈判</a:t>
          </a:r>
          <a:endParaRPr lang="zh-CN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>
              <a:solidFill>
                <a:schemeClr val="dk1"/>
              </a:solidFill>
            </a:rPr>
            <a:t>供应商关系管理</a:t>
          </a:r>
          <a:endParaRPr>
            <a:solidFill>
              <a:schemeClr val="dk1"/>
            </a:solidFill>
          </a:endParaRPr>
        </a:p>
      </dsp:txBody>
      <dsp:txXfrm>
        <a:off x="0" y="4456736"/>
        <a:ext cx="8179369" cy="8723630"/>
      </dsp:txXfrm>
    </dsp:sp>
    <dsp:sp modelId="{125DC1E8-8E0B-4CD6-A008-C9B3E84AD1CB}">
      <dsp:nvSpPr>
        <dsp:cNvPr id="5" name="矩形 4"/>
        <dsp:cNvSpPr/>
      </dsp:nvSpPr>
      <dsp:spPr bwMode="white">
        <a:xfrm>
          <a:off x="9324481" y="2584736"/>
          <a:ext cx="8179369" cy="1872000"/>
        </a:xfrm>
        <a:prstGeom prst="rect">
          <a:avLst/>
        </a:prstGeom>
      </dsp:spPr>
      <dsp:style>
        <a:lnRef idx="2">
          <a:schemeClr val="accent5">
            <a:hueOff val="-3690000"/>
            <a:satOff val="-5097"/>
            <a:lumOff val="-1960"/>
            <a:alpha val="100000"/>
          </a:schemeClr>
        </a:lnRef>
        <a:fillRef idx="1">
          <a:schemeClr val="accent5">
            <a:hueOff val="-3690000"/>
            <a:satOff val="-5097"/>
            <a:lumOff val="-196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462280" tIns="264160" rIns="462280" bIns="2641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计划与库存管理</a:t>
          </a:r>
        </a:p>
      </dsp:txBody>
      <dsp:txXfrm>
        <a:off x="9324481" y="2584736"/>
        <a:ext cx="8179369" cy="1872000"/>
      </dsp:txXfrm>
    </dsp:sp>
    <dsp:sp modelId="{B1925DAC-F68B-4FCC-9E4A-28D8DA54DE2B}">
      <dsp:nvSpPr>
        <dsp:cNvPr id="6" name="矩形 5"/>
        <dsp:cNvSpPr/>
      </dsp:nvSpPr>
      <dsp:spPr bwMode="white">
        <a:xfrm>
          <a:off x="9324481" y="4456736"/>
          <a:ext cx="8179369" cy="8723630"/>
        </a:xfrm>
        <a:prstGeom prst="rect">
          <a:avLst/>
        </a:prstGeom>
      </dsp:spPr>
      <dsp:style>
        <a:lnRef idx="2">
          <a:schemeClr val="accent5">
            <a:tint val="40000"/>
            <a:alpha val="90000"/>
            <a:hueOff val="-3720000"/>
            <a:satOff val="-6470"/>
            <a:lumOff val="-783"/>
            <a:alpha val="90196"/>
          </a:schemeClr>
        </a:lnRef>
        <a:fillRef idx="1">
          <a:schemeClr val="accent5">
            <a:tint val="40000"/>
            <a:alpha val="90000"/>
            <a:hueOff val="-3720000"/>
            <a:satOff val="-6470"/>
            <a:lumOff val="-783"/>
            <a:alpha val="90196"/>
          </a:schemeClr>
        </a:fillRef>
        <a:effectRef idx="0">
          <a:scrgbClr r="0" g="0" b="0"/>
        </a:effectRef>
        <a:fontRef idx="minor"/>
      </dsp:style>
      <dsp:txBody>
        <a:bodyPr lIns="346710" tIns="346710" rIns="462280" bIns="520065" anchor="t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>
              <a:solidFill>
                <a:schemeClr val="dk1"/>
              </a:solidFill>
            </a:rPr>
            <a:t>预测</a:t>
          </a:r>
          <a:endParaRPr lang="zh-CN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>
              <a:solidFill>
                <a:schemeClr val="dk1"/>
              </a:solidFill>
            </a:rPr>
            <a:t>主计划</a:t>
          </a:r>
          <a:endParaRPr lang="zh-CN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>
              <a:solidFill>
                <a:schemeClr val="dk1"/>
              </a:solidFill>
            </a:rPr>
            <a:t>库存管理</a:t>
          </a:r>
          <a:endParaRPr>
            <a:solidFill>
              <a:schemeClr val="dk1"/>
            </a:solidFill>
          </a:endParaRPr>
        </a:p>
      </dsp:txBody>
      <dsp:txXfrm>
        <a:off x="9324481" y="4456736"/>
        <a:ext cx="8179369" cy="8723630"/>
      </dsp:txXfrm>
    </dsp:sp>
    <dsp:sp modelId="{6673BF38-F2DA-4772-B559-AAE8B0F7E653}">
      <dsp:nvSpPr>
        <dsp:cNvPr id="7" name="矩形 6"/>
        <dsp:cNvSpPr/>
      </dsp:nvSpPr>
      <dsp:spPr bwMode="white">
        <a:xfrm>
          <a:off x="18648962" y="2584736"/>
          <a:ext cx="8179369" cy="1872000"/>
        </a:xfrm>
        <a:prstGeom prst="rect">
          <a:avLst/>
        </a:prstGeom>
      </dsp:spPr>
      <dsp:style>
        <a:lnRef idx="2">
          <a:schemeClr val="accent5">
            <a:hueOff val="-7380000"/>
            <a:satOff val="-10195"/>
            <a:lumOff val="-3921"/>
            <a:alpha val="100000"/>
          </a:schemeClr>
        </a:lnRef>
        <a:fillRef idx="1">
          <a:schemeClr val="accent5">
            <a:hueOff val="-7380000"/>
            <a:satOff val="-10195"/>
            <a:lumOff val="-3921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462280" tIns="264160" rIns="462280" bIns="2641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物流与国际贸易</a:t>
          </a:r>
        </a:p>
      </dsp:txBody>
      <dsp:txXfrm>
        <a:off x="18648962" y="2584736"/>
        <a:ext cx="8179369" cy="1872000"/>
      </dsp:txXfrm>
    </dsp:sp>
    <dsp:sp modelId="{ABC6F869-E248-489D-87B6-A77B69FA8101}">
      <dsp:nvSpPr>
        <dsp:cNvPr id="8" name="矩形 7"/>
        <dsp:cNvSpPr/>
      </dsp:nvSpPr>
      <dsp:spPr bwMode="white">
        <a:xfrm>
          <a:off x="18648962" y="4542925"/>
          <a:ext cx="8179369" cy="8723630"/>
        </a:xfrm>
        <a:prstGeom prst="rect">
          <a:avLst/>
        </a:prstGeom>
      </dsp:spPr>
      <dsp:style>
        <a:lnRef idx="2">
          <a:schemeClr val="accent5">
            <a:tint val="40000"/>
            <a:alpha val="90000"/>
            <a:hueOff val="-7440000"/>
            <a:satOff val="-12940"/>
            <a:lumOff val="-1568"/>
            <a:alpha val="90196"/>
          </a:schemeClr>
        </a:lnRef>
        <a:fillRef idx="1">
          <a:schemeClr val="accent5">
            <a:tint val="40000"/>
            <a:alpha val="90000"/>
            <a:hueOff val="-7440000"/>
            <a:satOff val="-12940"/>
            <a:lumOff val="-1568"/>
            <a:alpha val="90196"/>
          </a:schemeClr>
        </a:fillRef>
        <a:effectRef idx="0">
          <a:scrgbClr r="0" g="0" b="0"/>
        </a:effectRef>
        <a:fontRef idx="minor"/>
      </dsp:style>
      <dsp:txBody>
        <a:bodyPr lIns="346710" tIns="346710" rIns="462280" bIns="520065" anchor="t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>
              <a:solidFill>
                <a:schemeClr val="dk1"/>
              </a:solidFill>
            </a:rPr>
            <a:t>物流的基本功能</a:t>
          </a:r>
          <a:endParaRPr lang="zh-CN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>
              <a:solidFill>
                <a:schemeClr val="dk1"/>
              </a:solidFill>
            </a:rPr>
            <a:t>物流设施布局</a:t>
          </a:r>
          <a:endParaRPr lang="zh-CN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>
              <a:solidFill>
                <a:schemeClr val="dk1"/>
              </a:solidFill>
            </a:rPr>
            <a:t>最佳路线选择</a:t>
          </a:r>
          <a:endParaRPr lang="zh-CN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>
              <a:solidFill>
                <a:schemeClr val="dk1"/>
              </a:solidFill>
            </a:rPr>
            <a:t>国际运输与贸易法则</a:t>
          </a:r>
          <a:endParaRPr>
            <a:solidFill>
              <a:schemeClr val="dk1"/>
            </a:solidFill>
          </a:endParaRPr>
        </a:p>
      </dsp:txBody>
      <dsp:txXfrm>
        <a:off x="18648962" y="4542925"/>
        <a:ext cx="8179369" cy="87236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26828331" cy="15765101"/>
        <a:chOff x="0" y="0"/>
        <a:chExt cx="26828331" cy="15765101"/>
      </a:xfrm>
    </dsp:grpSpPr>
    <dsp:sp modelId="{2274AF5C-E21C-403A-824F-8CE849CA16FE}">
      <dsp:nvSpPr>
        <dsp:cNvPr id="3" name="矩形 2"/>
        <dsp:cNvSpPr/>
      </dsp:nvSpPr>
      <dsp:spPr bwMode="white">
        <a:xfrm>
          <a:off x="0" y="2584736"/>
          <a:ext cx="8179369" cy="1872000"/>
        </a:xfrm>
        <a:prstGeom prst="rect">
          <a:avLst/>
        </a:prstGeom>
      </dsp:spPr>
      <dsp:style>
        <a:lnRef idx="2">
          <a:schemeClr val="accent5">
            <a:hueOff val="0"/>
            <a:satOff val="0"/>
            <a:lumOff val="0"/>
            <a:alpha val="100000"/>
          </a:schemeClr>
        </a:lnRef>
        <a:fillRef idx="1">
          <a:schemeClr val="accent5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462280" tIns="264160" rIns="462280" bIns="2641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采购与供应管理</a:t>
          </a:r>
        </a:p>
      </dsp:txBody>
      <dsp:txXfrm>
        <a:off x="0" y="2584736"/>
        <a:ext cx="8179369" cy="1872000"/>
      </dsp:txXfrm>
    </dsp:sp>
    <dsp:sp modelId="{3D0BD6CF-1514-40E8-9F55-E4A7186E9521}">
      <dsp:nvSpPr>
        <dsp:cNvPr id="4" name="矩形 3"/>
        <dsp:cNvSpPr/>
      </dsp:nvSpPr>
      <dsp:spPr bwMode="white">
        <a:xfrm>
          <a:off x="0" y="4456736"/>
          <a:ext cx="8179369" cy="8723630"/>
        </a:xfrm>
        <a:prstGeom prst="rect">
          <a:avLst/>
        </a:prstGeom>
      </dsp:spPr>
      <dsp:style>
        <a:lnRef idx="2">
          <a:schemeClr val="accent5">
            <a:tint val="40000"/>
            <a:alpha val="90000"/>
            <a:hueOff val="0"/>
            <a:satOff val="0"/>
            <a:lumOff val="0"/>
            <a:alpha val="90196"/>
          </a:schemeClr>
        </a:lnRef>
        <a:fillRef idx="1">
          <a:schemeClr val="accent5">
            <a:tint val="40000"/>
            <a:alpha val="90000"/>
            <a:hueOff val="0"/>
            <a:satOff val="0"/>
            <a:lumOff val="0"/>
            <a:alpha val="90196"/>
          </a:schemeClr>
        </a:fillRef>
        <a:effectRef idx="0">
          <a:scrgbClr r="0" g="0" b="0"/>
        </a:effectRef>
        <a:fontRef idx="minor"/>
      </dsp:style>
      <dsp:txBody>
        <a:bodyPr lIns="346710" tIns="346710" rIns="462280" bIns="520065" anchor="t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>
              <a:solidFill>
                <a:schemeClr val="dk1"/>
              </a:solidFill>
            </a:rPr>
            <a:t>供应市场分析</a:t>
          </a:r>
          <a:endParaRPr lang="zh-CN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>
              <a:solidFill>
                <a:schemeClr val="dk1"/>
              </a:solidFill>
            </a:rPr>
            <a:t>支出分析</a:t>
          </a:r>
          <a:endParaRPr lang="zh-CN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>
              <a:solidFill>
                <a:schemeClr val="dk1"/>
              </a:solidFill>
            </a:rPr>
            <a:t>制定供应战略</a:t>
          </a:r>
          <a:endParaRPr lang="zh-CN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>
              <a:solidFill>
                <a:schemeClr val="dk1"/>
              </a:solidFill>
            </a:rPr>
            <a:t>评估和选择供应商</a:t>
          </a:r>
          <a:endParaRPr lang="zh-CN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>
              <a:solidFill>
                <a:schemeClr val="dk1"/>
              </a:solidFill>
            </a:rPr>
            <a:t>获取与选择报价</a:t>
          </a:r>
          <a:endParaRPr lang="zh-CN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>
              <a:solidFill>
                <a:schemeClr val="dk1"/>
              </a:solidFill>
            </a:rPr>
            <a:t>商务谈判</a:t>
          </a:r>
          <a:endParaRPr lang="zh-CN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>
              <a:solidFill>
                <a:schemeClr val="dk1"/>
              </a:solidFill>
            </a:rPr>
            <a:t>供应商关系管理</a:t>
          </a:r>
          <a:endParaRPr>
            <a:solidFill>
              <a:schemeClr val="dk1"/>
            </a:solidFill>
          </a:endParaRPr>
        </a:p>
      </dsp:txBody>
      <dsp:txXfrm>
        <a:off x="0" y="4456736"/>
        <a:ext cx="8179369" cy="8723630"/>
      </dsp:txXfrm>
    </dsp:sp>
    <dsp:sp modelId="{125DC1E8-8E0B-4CD6-A008-C9B3E84AD1CB}">
      <dsp:nvSpPr>
        <dsp:cNvPr id="5" name="矩形 4"/>
        <dsp:cNvSpPr/>
      </dsp:nvSpPr>
      <dsp:spPr bwMode="white">
        <a:xfrm>
          <a:off x="9324481" y="2584736"/>
          <a:ext cx="8179369" cy="1872000"/>
        </a:xfrm>
        <a:prstGeom prst="rect">
          <a:avLst/>
        </a:prstGeom>
      </dsp:spPr>
      <dsp:style>
        <a:lnRef idx="2">
          <a:schemeClr val="accent5">
            <a:hueOff val="-4950000"/>
            <a:satOff val="20000"/>
            <a:lumOff val="4314"/>
            <a:alpha val="100000"/>
          </a:schemeClr>
        </a:lnRef>
        <a:fillRef idx="1">
          <a:schemeClr val="accent5">
            <a:hueOff val="-4950000"/>
            <a:satOff val="20000"/>
            <a:lumOff val="4314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462280" tIns="264160" rIns="462280" bIns="2641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计划与库存管理</a:t>
          </a:r>
        </a:p>
      </dsp:txBody>
      <dsp:txXfrm>
        <a:off x="9324481" y="2584736"/>
        <a:ext cx="8179369" cy="1872000"/>
      </dsp:txXfrm>
    </dsp:sp>
    <dsp:sp modelId="{B1925DAC-F68B-4FCC-9E4A-28D8DA54DE2B}">
      <dsp:nvSpPr>
        <dsp:cNvPr id="6" name="矩形 5"/>
        <dsp:cNvSpPr/>
      </dsp:nvSpPr>
      <dsp:spPr bwMode="white">
        <a:xfrm>
          <a:off x="9324481" y="4456736"/>
          <a:ext cx="8179369" cy="8723630"/>
        </a:xfrm>
        <a:prstGeom prst="rect">
          <a:avLst/>
        </a:prstGeom>
      </dsp:spPr>
      <dsp:style>
        <a:lnRef idx="2">
          <a:schemeClr val="accent5">
            <a:tint val="40000"/>
            <a:alpha val="90000"/>
            <a:hueOff val="-5340000"/>
            <a:satOff val="25098"/>
            <a:lumOff val="1765"/>
            <a:alpha val="90196"/>
          </a:schemeClr>
        </a:lnRef>
        <a:fillRef idx="1">
          <a:schemeClr val="accent5">
            <a:tint val="40000"/>
            <a:alpha val="90000"/>
            <a:hueOff val="-5340000"/>
            <a:satOff val="25098"/>
            <a:lumOff val="1765"/>
            <a:alpha val="90196"/>
          </a:schemeClr>
        </a:fillRef>
        <a:effectRef idx="0">
          <a:scrgbClr r="0" g="0" b="0"/>
        </a:effectRef>
        <a:fontRef idx="minor"/>
      </dsp:style>
      <dsp:txBody>
        <a:bodyPr lIns="346710" tIns="346710" rIns="462280" bIns="520065" anchor="t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>
              <a:solidFill>
                <a:schemeClr val="dk1"/>
              </a:solidFill>
            </a:rPr>
            <a:t>预测</a:t>
          </a:r>
          <a:endParaRPr lang="zh-CN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>
              <a:solidFill>
                <a:schemeClr val="dk1"/>
              </a:solidFill>
            </a:rPr>
            <a:t>主计划</a:t>
          </a:r>
          <a:endParaRPr lang="zh-CN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>
              <a:solidFill>
                <a:schemeClr val="dk1"/>
              </a:solidFill>
            </a:rPr>
            <a:t>库存管理</a:t>
          </a:r>
          <a:endParaRPr>
            <a:solidFill>
              <a:schemeClr val="dk1"/>
            </a:solidFill>
          </a:endParaRPr>
        </a:p>
      </dsp:txBody>
      <dsp:txXfrm>
        <a:off x="9324481" y="4456736"/>
        <a:ext cx="8179369" cy="8723630"/>
      </dsp:txXfrm>
    </dsp:sp>
    <dsp:sp modelId="{6673BF38-F2DA-4772-B559-AAE8B0F7E653}">
      <dsp:nvSpPr>
        <dsp:cNvPr id="7" name="矩形 6"/>
        <dsp:cNvSpPr/>
      </dsp:nvSpPr>
      <dsp:spPr bwMode="white">
        <a:xfrm>
          <a:off x="18648962" y="2584736"/>
          <a:ext cx="8179369" cy="1872000"/>
        </a:xfrm>
        <a:prstGeom prst="rect">
          <a:avLst/>
        </a:prstGeom>
      </dsp:spPr>
      <dsp:style>
        <a:lnRef idx="2">
          <a:schemeClr val="accent5">
            <a:hueOff val="-9900000"/>
            <a:satOff val="40000"/>
            <a:lumOff val="8627"/>
            <a:alpha val="100000"/>
          </a:schemeClr>
        </a:lnRef>
        <a:fillRef idx="1">
          <a:schemeClr val="accent5">
            <a:hueOff val="-9900000"/>
            <a:satOff val="40000"/>
            <a:lumOff val="8627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462280" tIns="264160" rIns="462280" bIns="2641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物流与国际贸易</a:t>
          </a:r>
        </a:p>
      </dsp:txBody>
      <dsp:txXfrm>
        <a:off x="18648962" y="2584736"/>
        <a:ext cx="8179369" cy="1872000"/>
      </dsp:txXfrm>
    </dsp:sp>
    <dsp:sp modelId="{ABC6F869-E248-489D-87B6-A77B69FA8101}">
      <dsp:nvSpPr>
        <dsp:cNvPr id="8" name="矩形 7"/>
        <dsp:cNvSpPr/>
      </dsp:nvSpPr>
      <dsp:spPr bwMode="white">
        <a:xfrm>
          <a:off x="18648962" y="4542925"/>
          <a:ext cx="8179369" cy="8723630"/>
        </a:xfrm>
        <a:prstGeom prst="rect">
          <a:avLst/>
        </a:prstGeom>
      </dsp:spPr>
      <dsp:style>
        <a:lnRef idx="2">
          <a:schemeClr val="accent5">
            <a:tint val="40000"/>
            <a:alpha val="90000"/>
            <a:hueOff val="-10680000"/>
            <a:satOff val="50196"/>
            <a:lumOff val="3529"/>
            <a:alpha val="90196"/>
          </a:schemeClr>
        </a:lnRef>
        <a:fillRef idx="1">
          <a:schemeClr val="accent5">
            <a:tint val="40000"/>
            <a:alpha val="90000"/>
            <a:hueOff val="-10680000"/>
            <a:satOff val="50196"/>
            <a:lumOff val="3529"/>
            <a:alpha val="90196"/>
          </a:schemeClr>
        </a:fillRef>
        <a:effectRef idx="0">
          <a:scrgbClr r="0" g="0" b="0"/>
        </a:effectRef>
        <a:fontRef idx="minor"/>
      </dsp:style>
      <dsp:txBody>
        <a:bodyPr lIns="346710" tIns="346710" rIns="462280" bIns="520065" anchor="t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>
              <a:solidFill>
                <a:schemeClr val="dk1"/>
              </a:solidFill>
            </a:rPr>
            <a:t>物流的基本功能</a:t>
          </a:r>
          <a:endParaRPr lang="zh-CN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>
              <a:solidFill>
                <a:schemeClr val="dk1"/>
              </a:solidFill>
            </a:rPr>
            <a:t>物流设施布局</a:t>
          </a:r>
          <a:endParaRPr lang="zh-CN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>
              <a:solidFill>
                <a:schemeClr val="dk1"/>
              </a:solidFill>
            </a:rPr>
            <a:t>最佳路线选择</a:t>
          </a:r>
          <a:endParaRPr lang="zh-CN" altLang="en-US">
            <a:solidFill>
              <a:schemeClr val="dk1"/>
            </a:solidFill>
          </a:endParaRPr>
        </a:p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>
              <a:solidFill>
                <a:schemeClr val="dk1"/>
              </a:solidFill>
            </a:rPr>
            <a:t>国际运输与贸易法则</a:t>
          </a:r>
          <a:endParaRPr>
            <a:solidFill>
              <a:schemeClr val="dk1"/>
            </a:solidFill>
          </a:endParaRPr>
        </a:p>
      </dsp:txBody>
      <dsp:txXfrm>
        <a:off x="18648962" y="4542925"/>
        <a:ext cx="8179369" cy="87236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9E97983C-4A2D-4EA7-A7E7-AB5D628BB08C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12292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293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0"/>
            <a:r>
              <a:rPr lang="zh-CN" altLang="en-US"/>
              <a:t>第二级</a:t>
            </a:r>
            <a:endParaRPr lang="zh-CN" altLang="en-US"/>
          </a:p>
          <a:p>
            <a:pPr lvl="2" indent="0"/>
            <a:r>
              <a:rPr lang="zh-CN" altLang="en-US"/>
              <a:t>第三级</a:t>
            </a:r>
            <a:endParaRPr lang="zh-CN" altLang="en-US"/>
          </a:p>
          <a:p>
            <a:pPr lvl="3" indent="0"/>
            <a:r>
              <a:rPr lang="zh-CN" altLang="en-US"/>
              <a:t>第四级</a:t>
            </a:r>
            <a:endParaRPr lang="zh-CN" altLang="en-US"/>
          </a:p>
          <a:p>
            <a:pPr lvl="4" indent="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99F95438-0172-4507-BFF9-F177DE98AF8C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4" Type="http://schemas.openxmlformats.org/officeDocument/2006/relationships/hyperlink" Target="https://www.baidu.com/s?wd=%E3%80%8A%E7%AB%9E%E4%BA%89%E4%BC%98%E5%8A%BF%E3%80%8B&amp;tn=SE_PcZhidaonwhc_ngpagmjz&amp;rsv_dl=gh_pc_zhidao" TargetMode="External"/><Relationship Id="rId3" Type="http://schemas.openxmlformats.org/officeDocument/2006/relationships/hyperlink" Target="https://www.baidu.com/s?wd=%E8%BF%88%E5%85%8B%E5%B0%94%C2%B7%E6%B3%A2%E7%89%B9&amp;tn=SE_PcZhidaonwhc_ngpagmjz&amp;rsv_dl=gh_pc_zhidao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enku.baidu.com/view/19f4a84452d380eb62946df0.html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1">
                <a:solidFill>
                  <a:schemeClr val="tx1">
                    <a:alpha val="0"/>
                  </a:schemeClr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  <p:sp>
        <p:nvSpPr>
          <p:cNvPr id="194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1240B29-F687-4F45-9708-019B960494DF}">
              <a14:hiddenLine xmlns:a14="http://schemas.microsoft.com/office/drawing/2010/main" w="1">
                <a:solidFill>
                  <a:schemeClr val="tx1">
                    <a:alpha val="0"/>
                  </a:schemeClr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F0F1F0B-B3DA-47D5-AA8E-89BD06248E3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1">
                <a:solidFill>
                  <a:schemeClr val="tx1">
                    <a:alpha val="0"/>
                  </a:schemeClr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  <p:sp>
        <p:nvSpPr>
          <p:cNvPr id="194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1240B29-F687-4F45-9708-019B960494DF}">
              <a14:hiddenLine xmlns:a14="http://schemas.microsoft.com/office/drawing/2010/main" w="1">
                <a:solidFill>
                  <a:schemeClr val="tx1">
                    <a:alpha val="0"/>
                  </a:schemeClr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F0F1F0B-B3DA-47D5-AA8E-89BD06248E3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供应链最早来源于彼得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德鲁克提出的“经济链”，而后经由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迈克尔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·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波特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发展成为“价值链”，最终日渐演变为“供应链”。上世纪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年代初，美国学者波特在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《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竞争优势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》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书提出了价值链，价值链将企业分解为战略性相关的许多活动，基本活动包括内部物流、生产作业、外部物流、市场和销售、服务。辅助活动包括采购、技术开发、人力资源管理、企业基础设施（总体管理、计划、财务、会计、法律、政府服务和质量管理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物流管理在发展到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年代以后吸收了上述价值链和价值流的思想，使用了供应链来定义供应链是由客户（或消费者）需求开始，贯通从产品设计到原材料供应、生产、批发、零售等过程，把产品送到最终用户的各项业务活动。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举例：快消用品、水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汽车行业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汽车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DELL </a:t>
            </a:r>
            <a:r>
              <a:rPr lang="zh-CN" altLang="en-US" dirty="0"/>
              <a:t>定制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r>
              <a:rPr lang="zh-CN" altLang="en-US"/>
              <a:t>能力、功能、</a:t>
            </a:r>
            <a:r>
              <a:rPr lang="zh-CN" altLang="en-US"/>
              <a:t>流程</a:t>
            </a:r>
            <a:endParaRPr lang="zh-CN" altLang="en-US"/>
          </a:p>
          <a:p>
            <a:r>
              <a:rPr lang="zh-CN" altLang="en-US"/>
              <a:t>业务能力：流程</a:t>
            </a:r>
            <a:r>
              <a:rPr lang="zh-CN" altLang="en-US"/>
              <a:t>组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72009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全面可视化，解决什么问题和给用户带来的价值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0A4EF3-1A19-486E-8345-CE7F6F160EA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hlinkClick r:id="rId3"/>
              </a:rPr>
              <a:t>https://wenku.baidu.com/view/19f4a84452d380eb62946df0.html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image" Target="../media/image7.emf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emf"/><Relationship Id="rId3" Type="http://schemas.openxmlformats.org/officeDocument/2006/relationships/image" Target="../media/image7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image" Target="../media/image8.emf"/><Relationship Id="rId5" Type="http://schemas.openxmlformats.org/officeDocument/2006/relationships/image" Target="../media/image7.emf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image" Target="../media/image8.emf"/><Relationship Id="rId5" Type="http://schemas.openxmlformats.org/officeDocument/2006/relationships/image" Target="../media/image7.emf"/><Relationship Id="rId4" Type="http://schemas.microsoft.com/office/2007/relationships/hdphoto" Target="../media/image16.wdp"/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5" Type="http://schemas.openxmlformats.org/officeDocument/2006/relationships/image" Target="../media/image8.emf"/><Relationship Id="rId4" Type="http://schemas.openxmlformats.org/officeDocument/2006/relationships/image" Target="../media/image7.emf"/><Relationship Id="rId3" Type="http://schemas.microsoft.com/office/2007/relationships/hdphoto" Target="../media/image16.wdp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6" Type="http://schemas.openxmlformats.org/officeDocument/2006/relationships/image" Target="../media/image17.png"/><Relationship Id="rId5" Type="http://schemas.openxmlformats.org/officeDocument/2006/relationships/image" Target="../media/image8.emf"/><Relationship Id="rId4" Type="http://schemas.openxmlformats.org/officeDocument/2006/relationships/image" Target="../media/image7.emf"/><Relationship Id="rId3" Type="http://schemas.microsoft.com/office/2007/relationships/hdphoto" Target="../media/image16.wdp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6" Type="http://schemas.openxmlformats.org/officeDocument/2006/relationships/image" Target="../media/image8.emf"/><Relationship Id="rId5" Type="http://schemas.openxmlformats.org/officeDocument/2006/relationships/image" Target="../media/image7.emf"/><Relationship Id="rId4" Type="http://schemas.microsoft.com/office/2007/relationships/hdphoto" Target="../media/image19.wdp"/><Relationship Id="rId3" Type="http://schemas.openxmlformats.org/officeDocument/2006/relationships/image" Target="../media/image15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image" Target="../media/image27.jpeg"/><Relationship Id="rId4" Type="http://schemas.openxmlformats.org/officeDocument/2006/relationships/image" Target="../media/image26.emf"/><Relationship Id="rId3" Type="http://schemas.openxmlformats.org/officeDocument/2006/relationships/oleObject" Target="../embeddings/oleObject1.bin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90231" y="3233289"/>
            <a:ext cx="26341388" cy="6878167"/>
          </a:xfrm>
        </p:spPr>
        <p:txBody>
          <a:bodyPr anchor="b"/>
          <a:lstStyle>
            <a:lvl1pPr algn="ctr">
              <a:defRPr sz="1728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90231" y="10376705"/>
            <a:ext cx="26341388" cy="4769898"/>
          </a:xfrm>
        </p:spPr>
        <p:txBody>
          <a:bodyPr/>
          <a:lstStyle>
            <a:lvl1pPr marL="0" indent="0" algn="ctr">
              <a:buNone/>
              <a:defRPr sz="6915"/>
            </a:lvl1pPr>
            <a:lvl2pPr marL="1316990" indent="0" algn="ctr">
              <a:buNone/>
              <a:defRPr sz="5760"/>
            </a:lvl2pPr>
            <a:lvl3pPr marL="2633980" indent="0" algn="ctr">
              <a:buNone/>
              <a:defRPr sz="5185"/>
            </a:lvl3pPr>
            <a:lvl4pPr marL="3950970" indent="0" algn="ctr">
              <a:buNone/>
              <a:defRPr sz="4610"/>
            </a:lvl4pPr>
            <a:lvl5pPr marL="5267960" indent="0" algn="ctr">
              <a:buNone/>
              <a:defRPr sz="4610"/>
            </a:lvl5pPr>
            <a:lvl6pPr marL="6585585" indent="0" algn="ctr">
              <a:buNone/>
              <a:defRPr sz="4610"/>
            </a:lvl6pPr>
            <a:lvl7pPr marL="7902575" indent="0" algn="ctr">
              <a:buNone/>
              <a:defRPr sz="4610"/>
            </a:lvl7pPr>
            <a:lvl8pPr marL="9219565" indent="0" algn="ctr">
              <a:buNone/>
              <a:defRPr sz="4610"/>
            </a:lvl8pPr>
            <a:lvl9pPr marL="10536555" indent="0" algn="ctr">
              <a:buNone/>
              <a:defRPr sz="461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9197ECB7-B80F-4ED2-ABCD-9D741132D1E1}" type="slidenum">
              <a:rPr lang="zh-CN" altLang="en-US" sz="2630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9197ECB7-B80F-4ED2-ABCD-9D741132D1E1}" type="slidenum">
              <a:rPr lang="zh-CN" altLang="en-US" sz="2630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6334" y="4925393"/>
            <a:ext cx="30292596" cy="8218128"/>
          </a:xfrm>
        </p:spPr>
        <p:txBody>
          <a:bodyPr anchor="b"/>
          <a:lstStyle>
            <a:lvl1pPr>
              <a:defRPr sz="1728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96334" y="13221267"/>
            <a:ext cx="30292596" cy="4321719"/>
          </a:xfrm>
        </p:spPr>
        <p:txBody>
          <a:bodyPr/>
          <a:lstStyle>
            <a:lvl1pPr marL="0" indent="0">
              <a:buNone/>
              <a:defRPr sz="6915">
                <a:solidFill>
                  <a:schemeClr val="tx1">
                    <a:tint val="75000"/>
                  </a:schemeClr>
                </a:solidFill>
              </a:defRPr>
            </a:lvl1pPr>
            <a:lvl2pPr marL="131699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2pPr>
            <a:lvl3pPr marL="2633980" indent="0">
              <a:buNone/>
              <a:defRPr sz="5185">
                <a:solidFill>
                  <a:schemeClr val="tx1">
                    <a:tint val="75000"/>
                  </a:schemeClr>
                </a:solidFill>
              </a:defRPr>
            </a:lvl3pPr>
            <a:lvl4pPr marL="3950970" indent="0">
              <a:buNone/>
              <a:defRPr sz="4610">
                <a:solidFill>
                  <a:schemeClr val="tx1">
                    <a:tint val="75000"/>
                  </a:schemeClr>
                </a:solidFill>
              </a:defRPr>
            </a:lvl4pPr>
            <a:lvl5pPr marL="5267960" indent="0">
              <a:buNone/>
              <a:defRPr sz="4610">
                <a:solidFill>
                  <a:schemeClr val="tx1">
                    <a:tint val="75000"/>
                  </a:schemeClr>
                </a:solidFill>
              </a:defRPr>
            </a:lvl5pPr>
            <a:lvl6pPr marL="6585585" indent="0">
              <a:buNone/>
              <a:defRPr sz="4610">
                <a:solidFill>
                  <a:schemeClr val="tx1">
                    <a:tint val="75000"/>
                  </a:schemeClr>
                </a:solidFill>
              </a:defRPr>
            </a:lvl6pPr>
            <a:lvl7pPr marL="7902575" indent="0">
              <a:buNone/>
              <a:defRPr sz="4610">
                <a:solidFill>
                  <a:schemeClr val="tx1">
                    <a:tint val="75000"/>
                  </a:schemeClr>
                </a:solidFill>
              </a:defRPr>
            </a:lvl7pPr>
            <a:lvl8pPr marL="9219565" indent="0">
              <a:buNone/>
              <a:defRPr sz="4610">
                <a:solidFill>
                  <a:schemeClr val="tx1">
                    <a:tint val="75000"/>
                  </a:schemeClr>
                </a:solidFill>
              </a:defRPr>
            </a:lvl8pPr>
            <a:lvl9pPr marL="10536555" indent="0">
              <a:buNone/>
              <a:defRPr sz="461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9197ECB7-B80F-4ED2-ABCD-9D741132D1E1}" type="slidenum">
              <a:rPr lang="zh-CN" altLang="en-US" sz="2630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14627" y="5259237"/>
            <a:ext cx="14926786" cy="1253527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780437" y="5259237"/>
            <a:ext cx="14926786" cy="1253527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9197ECB7-B80F-4ED2-ABCD-9D741132D1E1}" type="slidenum">
              <a:rPr lang="zh-CN" altLang="en-US" sz="2630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9202" y="1051849"/>
            <a:ext cx="30292596" cy="381866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19203" y="4843073"/>
            <a:ext cx="14858187" cy="2373515"/>
          </a:xfrm>
        </p:spPr>
        <p:txBody>
          <a:bodyPr anchor="b"/>
          <a:lstStyle>
            <a:lvl1pPr marL="0" indent="0">
              <a:buNone/>
              <a:defRPr sz="6915" b="1"/>
            </a:lvl1pPr>
            <a:lvl2pPr marL="1316990" indent="0">
              <a:buNone/>
              <a:defRPr sz="5760" b="1"/>
            </a:lvl2pPr>
            <a:lvl3pPr marL="2633980" indent="0">
              <a:buNone/>
              <a:defRPr sz="5185" b="1"/>
            </a:lvl3pPr>
            <a:lvl4pPr marL="3950970" indent="0">
              <a:buNone/>
              <a:defRPr sz="4610" b="1"/>
            </a:lvl4pPr>
            <a:lvl5pPr marL="5267960" indent="0">
              <a:buNone/>
              <a:defRPr sz="4610" b="1"/>
            </a:lvl5pPr>
            <a:lvl6pPr marL="6585585" indent="0">
              <a:buNone/>
              <a:defRPr sz="4610" b="1"/>
            </a:lvl6pPr>
            <a:lvl7pPr marL="7902575" indent="0">
              <a:buNone/>
              <a:defRPr sz="4610" b="1"/>
            </a:lvl7pPr>
            <a:lvl8pPr marL="9219565" indent="0">
              <a:buNone/>
              <a:defRPr sz="4610" b="1"/>
            </a:lvl8pPr>
            <a:lvl9pPr marL="10536555" indent="0">
              <a:buNone/>
              <a:defRPr sz="461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19203" y="7216588"/>
            <a:ext cx="14858187" cy="106145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7780436" y="4843073"/>
            <a:ext cx="14931361" cy="2373515"/>
          </a:xfrm>
        </p:spPr>
        <p:txBody>
          <a:bodyPr anchor="b"/>
          <a:lstStyle>
            <a:lvl1pPr marL="0" indent="0">
              <a:buNone/>
              <a:defRPr sz="6915" b="1"/>
            </a:lvl1pPr>
            <a:lvl2pPr marL="1316990" indent="0">
              <a:buNone/>
              <a:defRPr sz="5760" b="1"/>
            </a:lvl2pPr>
            <a:lvl3pPr marL="2633980" indent="0">
              <a:buNone/>
              <a:defRPr sz="5185" b="1"/>
            </a:lvl3pPr>
            <a:lvl4pPr marL="3950970" indent="0">
              <a:buNone/>
              <a:defRPr sz="4610" b="1"/>
            </a:lvl4pPr>
            <a:lvl5pPr marL="5267960" indent="0">
              <a:buNone/>
              <a:defRPr sz="4610" b="1"/>
            </a:lvl5pPr>
            <a:lvl6pPr marL="6585585" indent="0">
              <a:buNone/>
              <a:defRPr sz="4610" b="1"/>
            </a:lvl6pPr>
            <a:lvl7pPr marL="7902575" indent="0">
              <a:buNone/>
              <a:defRPr sz="4610" b="1"/>
            </a:lvl7pPr>
            <a:lvl8pPr marL="9219565" indent="0">
              <a:buNone/>
              <a:defRPr sz="4610" b="1"/>
            </a:lvl8pPr>
            <a:lvl9pPr marL="10536555" indent="0">
              <a:buNone/>
              <a:defRPr sz="461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7780436" y="7216588"/>
            <a:ext cx="14931361" cy="106145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9197ECB7-B80F-4ED2-ABCD-9D741132D1E1}" type="slidenum">
              <a:rPr lang="zh-CN" altLang="en-US" sz="2630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9197ECB7-B80F-4ED2-ABCD-9D741132D1E1}" type="slidenum">
              <a:rPr lang="zh-CN" altLang="en-US" sz="2630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9197ECB7-B80F-4ED2-ABCD-9D741132D1E1}" type="slidenum">
              <a:rPr lang="zh-CN" altLang="en-US" sz="2630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9203" y="1317096"/>
            <a:ext cx="11327710" cy="4609836"/>
          </a:xfrm>
        </p:spPr>
        <p:txBody>
          <a:bodyPr anchor="b"/>
          <a:lstStyle>
            <a:lvl1pPr>
              <a:defRPr sz="92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31361" y="2844563"/>
            <a:ext cx="17780437" cy="14039876"/>
          </a:xfrm>
        </p:spPr>
        <p:txBody>
          <a:bodyPr/>
          <a:lstStyle>
            <a:lvl1pPr>
              <a:defRPr sz="9220"/>
            </a:lvl1pPr>
            <a:lvl2pPr>
              <a:defRPr sz="8065"/>
            </a:lvl2pPr>
            <a:lvl3pPr>
              <a:defRPr sz="6915"/>
            </a:lvl3pPr>
            <a:lvl4pPr>
              <a:defRPr sz="5760"/>
            </a:lvl4pPr>
            <a:lvl5pPr>
              <a:defRPr sz="5760"/>
            </a:lvl5pPr>
            <a:lvl6pPr>
              <a:defRPr sz="5760"/>
            </a:lvl6pPr>
            <a:lvl7pPr>
              <a:defRPr sz="5760"/>
            </a:lvl7pPr>
            <a:lvl8pPr>
              <a:defRPr sz="5760"/>
            </a:lvl8pPr>
            <a:lvl9pPr>
              <a:defRPr sz="576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19203" y="5926931"/>
            <a:ext cx="11327710" cy="10980374"/>
          </a:xfrm>
        </p:spPr>
        <p:txBody>
          <a:bodyPr/>
          <a:lstStyle>
            <a:lvl1pPr marL="0" indent="0">
              <a:buNone/>
              <a:defRPr sz="4610"/>
            </a:lvl1pPr>
            <a:lvl2pPr marL="1316990" indent="0">
              <a:buNone/>
              <a:defRPr sz="4035"/>
            </a:lvl2pPr>
            <a:lvl3pPr marL="2633980" indent="0">
              <a:buNone/>
              <a:defRPr sz="3455"/>
            </a:lvl3pPr>
            <a:lvl4pPr marL="3950970" indent="0">
              <a:buNone/>
              <a:defRPr sz="2880"/>
            </a:lvl4pPr>
            <a:lvl5pPr marL="5267960" indent="0">
              <a:buNone/>
              <a:defRPr sz="2880"/>
            </a:lvl5pPr>
            <a:lvl6pPr marL="6585585" indent="0">
              <a:buNone/>
              <a:defRPr sz="2880"/>
            </a:lvl6pPr>
            <a:lvl7pPr marL="7902575" indent="0">
              <a:buNone/>
              <a:defRPr sz="2880"/>
            </a:lvl7pPr>
            <a:lvl8pPr marL="9219565" indent="0">
              <a:buNone/>
              <a:defRPr sz="2880"/>
            </a:lvl8pPr>
            <a:lvl9pPr marL="10536555" indent="0">
              <a:buNone/>
              <a:defRPr sz="288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9197ECB7-B80F-4ED2-ABCD-9D741132D1E1}" type="slidenum">
              <a:rPr lang="zh-CN" altLang="en-US" sz="2630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9203" y="1317096"/>
            <a:ext cx="11327710" cy="4609836"/>
          </a:xfrm>
        </p:spPr>
        <p:txBody>
          <a:bodyPr anchor="b"/>
          <a:lstStyle>
            <a:lvl1pPr>
              <a:defRPr sz="92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931361" y="2844563"/>
            <a:ext cx="17780437" cy="14039876"/>
          </a:xfrm>
        </p:spPr>
        <p:txBody>
          <a:bodyPr anchor="t"/>
          <a:lstStyle>
            <a:lvl1pPr marL="0" indent="0">
              <a:buNone/>
              <a:defRPr sz="9220"/>
            </a:lvl1pPr>
            <a:lvl2pPr marL="1316990" indent="0">
              <a:buNone/>
              <a:defRPr sz="8065"/>
            </a:lvl2pPr>
            <a:lvl3pPr marL="2633980" indent="0">
              <a:buNone/>
              <a:defRPr sz="6915"/>
            </a:lvl3pPr>
            <a:lvl4pPr marL="3950970" indent="0">
              <a:buNone/>
              <a:defRPr sz="5760"/>
            </a:lvl4pPr>
            <a:lvl5pPr marL="5267960" indent="0">
              <a:buNone/>
              <a:defRPr sz="5760"/>
            </a:lvl5pPr>
            <a:lvl6pPr marL="6585585" indent="0">
              <a:buNone/>
              <a:defRPr sz="5760"/>
            </a:lvl6pPr>
            <a:lvl7pPr marL="7902575" indent="0">
              <a:buNone/>
              <a:defRPr sz="5760"/>
            </a:lvl7pPr>
            <a:lvl8pPr marL="9219565" indent="0">
              <a:buNone/>
              <a:defRPr sz="5760"/>
            </a:lvl8pPr>
            <a:lvl9pPr marL="10536555" indent="0">
              <a:buNone/>
              <a:defRPr sz="576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19203" y="5926931"/>
            <a:ext cx="11327710" cy="10980374"/>
          </a:xfrm>
        </p:spPr>
        <p:txBody>
          <a:bodyPr/>
          <a:lstStyle>
            <a:lvl1pPr marL="0" indent="0">
              <a:buNone/>
              <a:defRPr sz="4610"/>
            </a:lvl1pPr>
            <a:lvl2pPr marL="1316990" indent="0">
              <a:buNone/>
              <a:defRPr sz="4035"/>
            </a:lvl2pPr>
            <a:lvl3pPr marL="2633980" indent="0">
              <a:buNone/>
              <a:defRPr sz="3455"/>
            </a:lvl3pPr>
            <a:lvl4pPr marL="3950970" indent="0">
              <a:buNone/>
              <a:defRPr sz="2880"/>
            </a:lvl4pPr>
            <a:lvl5pPr marL="5267960" indent="0">
              <a:buNone/>
              <a:defRPr sz="2880"/>
            </a:lvl5pPr>
            <a:lvl6pPr marL="6585585" indent="0">
              <a:buNone/>
              <a:defRPr sz="2880"/>
            </a:lvl6pPr>
            <a:lvl7pPr marL="7902575" indent="0">
              <a:buNone/>
              <a:defRPr sz="2880"/>
            </a:lvl7pPr>
            <a:lvl8pPr marL="9219565" indent="0">
              <a:buNone/>
              <a:defRPr sz="2880"/>
            </a:lvl8pPr>
            <a:lvl9pPr marL="10536555" indent="0">
              <a:buNone/>
              <a:defRPr sz="288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9197ECB7-B80F-4ED2-ABCD-9D741132D1E1}" type="slidenum">
              <a:rPr lang="zh-CN" altLang="en-US" sz="2630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9197ECB7-B80F-4ED2-ABCD-9D741132D1E1}" type="slidenum">
              <a:rPr lang="zh-CN" altLang="en-US" sz="2630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134074" y="1051847"/>
            <a:ext cx="7573149" cy="1674266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14627" y="1051847"/>
            <a:ext cx="22280424" cy="1674266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9197ECB7-B80F-4ED2-ABCD-9D741132D1E1}" type="slidenum">
              <a:rPr lang="zh-CN" altLang="en-US" sz="2630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"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yyyy\Desktop\辅助图形2.png"/>
          <p:cNvPicPr>
            <a:picLocks noChangeAspect="1"/>
          </p:cNvPicPr>
          <p:nvPr userDrawn="1"/>
        </p:nvPicPr>
        <p:blipFill>
          <a:blip r:embed="rId2"/>
          <a:srcRect r="54395" b="48161"/>
          <a:stretch>
            <a:fillRect/>
          </a:stretch>
        </p:blipFill>
        <p:spPr>
          <a:xfrm>
            <a:off x="19974804" y="8164514"/>
            <a:ext cx="15147046" cy="11591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2" name="矩形 22"/>
          <p:cNvSpPr/>
          <p:nvPr userDrawn="1"/>
        </p:nvSpPr>
        <p:spPr>
          <a:xfrm>
            <a:off x="2588589" y="16268702"/>
            <a:ext cx="184731" cy="58868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>
              <a:lnSpc>
                <a:spcPct val="150000"/>
              </a:lnSpc>
            </a:pPr>
            <a:endParaRPr lang="en-US" altLang="zh-CN" sz="2435" b="1" dirty="0">
              <a:solidFill>
                <a:srgbClr val="59595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内容占位符 13"/>
          <p:cNvSpPr>
            <a:spLocks noGrp="1"/>
          </p:cNvSpPr>
          <p:nvPr>
            <p:ph sz="quarter" idx="13" hasCustomPrompt="1"/>
          </p:nvPr>
        </p:nvSpPr>
        <p:spPr>
          <a:xfrm>
            <a:off x="2589063" y="3964575"/>
            <a:ext cx="18042789" cy="323999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523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 fontAlgn="auto"/>
            <a:r>
              <a:rPr lang="zh-CN" altLang="en-US" strike="noStrike" noProof="1"/>
              <a:t>标题</a:t>
            </a:r>
            <a:endParaRPr lang="zh-CN" altLang="en-US" strike="noStrike" noProof="1"/>
          </a:p>
        </p:txBody>
      </p:sp>
      <p:sp>
        <p:nvSpPr>
          <p:cNvPr id="21" name="内容占位符 13"/>
          <p:cNvSpPr>
            <a:spLocks noGrp="1"/>
          </p:cNvSpPr>
          <p:nvPr>
            <p:ph sz="quarter" idx="15" hasCustomPrompt="1"/>
          </p:nvPr>
        </p:nvSpPr>
        <p:spPr>
          <a:xfrm>
            <a:off x="2589063" y="7204568"/>
            <a:ext cx="18042789" cy="15841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6095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 fontAlgn="auto"/>
            <a:r>
              <a:rPr lang="zh-CN" altLang="en-US" strike="noStrike" noProof="1"/>
              <a:t>副标题</a:t>
            </a:r>
            <a:endParaRPr lang="zh-CN" altLang="en-US" strike="noStrike" noProof="1"/>
          </a:p>
        </p:txBody>
      </p:sp>
      <p:sp>
        <p:nvSpPr>
          <p:cNvPr id="22" name="内容占位符 13"/>
          <p:cNvSpPr>
            <a:spLocks noGrp="1"/>
          </p:cNvSpPr>
          <p:nvPr>
            <p:ph sz="quarter" idx="16" hasCustomPrompt="1"/>
          </p:nvPr>
        </p:nvSpPr>
        <p:spPr>
          <a:xfrm>
            <a:off x="2589063" y="10549441"/>
            <a:ext cx="18042789" cy="42379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11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 fontAlgn="auto"/>
            <a:r>
              <a:rPr lang="zh-CN" altLang="en-US" strike="noStrike" noProof="1"/>
              <a:t>代用名</a:t>
            </a:r>
            <a:endParaRPr lang="en-US" altLang="zh-CN" strike="noStrike" noProof="1"/>
          </a:p>
          <a:p>
            <a:pPr lvl="0" fontAlgn="auto"/>
            <a:r>
              <a:rPr lang="zh-CN" altLang="en-US" strike="noStrike" noProof="1"/>
              <a:t>部门</a:t>
            </a:r>
            <a:endParaRPr lang="en-US" altLang="zh-CN" strike="noStrike" noProof="1"/>
          </a:p>
          <a:p>
            <a:pPr lvl="0" fontAlgn="auto"/>
            <a:r>
              <a:rPr lang="en-US" altLang="zh-CN" strike="noStrike" noProof="1"/>
              <a:t>2018.01.01</a:t>
            </a:r>
            <a:endParaRPr lang="zh-CN" altLang="en-US" strike="noStrike" noProof="1"/>
          </a:p>
        </p:txBody>
      </p:sp>
      <p:sp>
        <p:nvSpPr>
          <p:cNvPr id="26" name="内容占位符 13"/>
          <p:cNvSpPr>
            <a:spLocks noGrp="1"/>
          </p:cNvSpPr>
          <p:nvPr>
            <p:ph sz="quarter" idx="17" hasCustomPrompt="1"/>
          </p:nvPr>
        </p:nvSpPr>
        <p:spPr>
          <a:xfrm>
            <a:off x="2589063" y="15854886"/>
            <a:ext cx="18042789" cy="11571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045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 fontAlgn="auto"/>
            <a:r>
              <a:rPr lang="zh-CN" altLang="en-US" strike="noStrike" noProof="1"/>
              <a:t>广州视源电子科技股份有限公司</a:t>
            </a:r>
            <a:endParaRPr lang="en-US" altLang="zh-CN" strike="noStrike" noProof="1"/>
          </a:p>
          <a:p>
            <a:pPr lvl="0" fontAlgn="auto"/>
            <a:endParaRPr lang="zh-CN" altLang="en-US" strike="noStrike" noProof="1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2414484" y="18311816"/>
            <a:ext cx="7902386" cy="10509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633531" y="18311816"/>
            <a:ext cx="11854788" cy="10509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fontAlgn="auto"/>
            <a:fld id="{9197ECB7-B80F-4ED2-ABCD-9D741132D1E1}" type="slidenum">
              <a:rPr lang="zh-CN" altLang="en-US" sz="2630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图片_2张"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 descr="C:\Users\yyyy\Desktop\辅助1.jpg"/>
          <p:cNvPicPr/>
          <p:nvPr userDrawn="1"/>
        </p:nvPicPr>
        <p:blipFill>
          <a:blip r:embed="rId2"/>
          <a:srcRect t="67499"/>
          <a:stretch>
            <a:fillRect/>
          </a:stretch>
        </p:blipFill>
        <p:spPr>
          <a:xfrm flipV="1">
            <a:off x="1273137" y="2749550"/>
            <a:ext cx="32575579" cy="71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40642" y="1018437"/>
            <a:ext cx="30292596" cy="1803001"/>
          </a:xfrm>
          <a:prstGeom prst="rect">
            <a:avLst/>
          </a:prstGeom>
        </p:spPr>
        <p:txBody>
          <a:bodyPr/>
          <a:lstStyle>
            <a:lvl1pPr>
              <a:defRPr sz="6700" b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1pPr>
          </a:lstStyle>
          <a:p>
            <a:pPr fontAlgn="auto"/>
            <a:r>
              <a:rPr lang="zh-CN" altLang="en-US" strike="noStrike" noProof="1"/>
              <a:t>标题</a:t>
            </a:r>
            <a:r>
              <a:rPr lang="en-US" altLang="zh-CN" strike="noStrike" noProof="1"/>
              <a:t>|</a:t>
            </a:r>
            <a:r>
              <a:rPr lang="zh-CN" altLang="en-US" strike="noStrike" noProof="1"/>
              <a:t>副标题</a:t>
            </a:r>
            <a:endParaRPr lang="en-US" strike="noStrike" noProof="1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3"/>
          </p:nvPr>
        </p:nvSpPr>
        <p:spPr>
          <a:xfrm>
            <a:off x="2055896" y="3613527"/>
            <a:ext cx="14407868" cy="12489673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22" name="图片占位符 8"/>
          <p:cNvSpPr>
            <a:spLocks noGrp="1"/>
          </p:cNvSpPr>
          <p:nvPr>
            <p:ph type="pic" sz="quarter" idx="14"/>
          </p:nvPr>
        </p:nvSpPr>
        <p:spPr>
          <a:xfrm>
            <a:off x="17925371" y="3613526"/>
            <a:ext cx="14407868" cy="12489673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414484" y="18311816"/>
            <a:ext cx="7902386" cy="10509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633531" y="18311816"/>
            <a:ext cx="11854788" cy="10509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056353" y="18216566"/>
            <a:ext cx="7902386" cy="1052513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结尾"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Picture 3" descr="C:\Users\yyyy\Desktop\辅助图形2.png"/>
          <p:cNvPicPr>
            <a:picLocks noChangeAspect="1"/>
          </p:cNvPicPr>
          <p:nvPr userDrawn="1"/>
        </p:nvPicPr>
        <p:blipFill>
          <a:blip r:embed="rId2"/>
          <a:srcRect r="54395" b="48161"/>
          <a:stretch>
            <a:fillRect/>
          </a:stretch>
        </p:blipFill>
        <p:spPr>
          <a:xfrm>
            <a:off x="19974804" y="8164514"/>
            <a:ext cx="15147046" cy="11591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8" name="矩形 22"/>
          <p:cNvSpPr/>
          <p:nvPr userDrawn="1"/>
        </p:nvSpPr>
        <p:spPr>
          <a:xfrm>
            <a:off x="2588589" y="16268702"/>
            <a:ext cx="184731" cy="58868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>
              <a:lnSpc>
                <a:spcPct val="150000"/>
              </a:lnSpc>
            </a:pPr>
            <a:endParaRPr lang="en-US" altLang="zh-CN" sz="2435" b="1" dirty="0">
              <a:solidFill>
                <a:srgbClr val="59595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内容占位符 13"/>
          <p:cNvSpPr>
            <a:spLocks noGrp="1"/>
          </p:cNvSpPr>
          <p:nvPr>
            <p:ph sz="quarter" idx="13" hasCustomPrompt="1"/>
          </p:nvPr>
        </p:nvSpPr>
        <p:spPr>
          <a:xfrm>
            <a:off x="2589063" y="3964575"/>
            <a:ext cx="18042789" cy="323999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5230" b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</a:defRPr>
            </a:lvl1pPr>
          </a:lstStyle>
          <a:p>
            <a:pPr lvl="0" fontAlgn="auto"/>
            <a:r>
              <a:rPr lang="en-US" altLang="zh-CN" strike="noStrike" noProof="1"/>
              <a:t>THANKS</a:t>
            </a:r>
            <a:endParaRPr lang="zh-CN" altLang="en-US" strike="noStrike" noProof="1"/>
          </a:p>
        </p:txBody>
      </p:sp>
      <p:sp>
        <p:nvSpPr>
          <p:cNvPr id="22" name="内容占位符 13"/>
          <p:cNvSpPr>
            <a:spLocks noGrp="1"/>
          </p:cNvSpPr>
          <p:nvPr>
            <p:ph sz="quarter" idx="16" hasCustomPrompt="1"/>
          </p:nvPr>
        </p:nvSpPr>
        <p:spPr>
          <a:xfrm>
            <a:off x="2589063" y="10549441"/>
            <a:ext cx="18042789" cy="42379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11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 fontAlgn="auto"/>
            <a:r>
              <a:rPr lang="zh-CN" altLang="en-US" strike="noStrike" noProof="1"/>
              <a:t>代用名</a:t>
            </a:r>
            <a:endParaRPr lang="en-US" altLang="zh-CN" strike="noStrike" noProof="1"/>
          </a:p>
          <a:p>
            <a:pPr lvl="0" fontAlgn="auto"/>
            <a:r>
              <a:rPr lang="zh-CN" altLang="en-US" strike="noStrike" noProof="1"/>
              <a:t>部门</a:t>
            </a:r>
            <a:endParaRPr lang="en-US" altLang="zh-CN" strike="noStrike" noProof="1"/>
          </a:p>
          <a:p>
            <a:pPr lvl="0" fontAlgn="auto"/>
            <a:r>
              <a:rPr lang="en-US" altLang="zh-CN" strike="noStrike" noProof="1"/>
              <a:t>2018.01.01</a:t>
            </a:r>
            <a:endParaRPr lang="zh-CN" altLang="en-US" strike="noStrike" noProof="1"/>
          </a:p>
        </p:txBody>
      </p:sp>
      <p:sp>
        <p:nvSpPr>
          <p:cNvPr id="26" name="内容占位符 13"/>
          <p:cNvSpPr>
            <a:spLocks noGrp="1"/>
          </p:cNvSpPr>
          <p:nvPr>
            <p:ph sz="quarter" idx="17" hasCustomPrompt="1"/>
          </p:nvPr>
        </p:nvSpPr>
        <p:spPr>
          <a:xfrm>
            <a:off x="2589063" y="15854886"/>
            <a:ext cx="18042789" cy="11571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045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 fontAlgn="auto"/>
            <a:r>
              <a:rPr lang="zh-CN" altLang="en-US" strike="noStrike" noProof="1"/>
              <a:t>广州视源电子科技股份有限公司</a:t>
            </a:r>
            <a:endParaRPr lang="en-US" altLang="zh-CN" strike="noStrike" noProof="1"/>
          </a:p>
          <a:p>
            <a:pPr lvl="0" fontAlgn="auto"/>
            <a:endParaRPr lang="zh-CN" altLang="en-US" strike="noStrike" noProof="1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2414484" y="18311816"/>
            <a:ext cx="7902386" cy="10509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633531" y="18311816"/>
            <a:ext cx="11854788" cy="10509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fontAlgn="auto"/>
            <a:fld id="{9197ECB7-B80F-4ED2-ABCD-9D741132D1E1}" type="slidenum">
              <a:rPr lang="zh-CN" altLang="en-US" sz="2630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_3张"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 descr="C:\Users\yyyy\Desktop\辅助1.jpg"/>
          <p:cNvPicPr/>
          <p:nvPr userDrawn="1"/>
        </p:nvPicPr>
        <p:blipFill>
          <a:blip r:embed="rId2"/>
          <a:srcRect t="67499"/>
          <a:stretch>
            <a:fillRect/>
          </a:stretch>
        </p:blipFill>
        <p:spPr>
          <a:xfrm flipV="1">
            <a:off x="1273137" y="2749550"/>
            <a:ext cx="32575579" cy="71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40642" y="1018437"/>
            <a:ext cx="30292596" cy="1803001"/>
          </a:xfrm>
          <a:prstGeom prst="rect">
            <a:avLst/>
          </a:prstGeom>
        </p:spPr>
        <p:txBody>
          <a:bodyPr/>
          <a:lstStyle>
            <a:lvl1pPr>
              <a:defRPr sz="6700" b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1pPr>
          </a:lstStyle>
          <a:p>
            <a:pPr fontAlgn="auto"/>
            <a:r>
              <a:rPr lang="zh-CN" altLang="en-US" strike="noStrike" noProof="1"/>
              <a:t>标题</a:t>
            </a:r>
            <a:r>
              <a:rPr lang="en-US" altLang="zh-CN" strike="noStrike" noProof="1"/>
              <a:t>|</a:t>
            </a:r>
            <a:r>
              <a:rPr lang="zh-CN" altLang="en-US" strike="noStrike" noProof="1"/>
              <a:t>副标题</a:t>
            </a:r>
            <a:endParaRPr lang="en-US" strike="noStrike" noProof="1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3"/>
          </p:nvPr>
        </p:nvSpPr>
        <p:spPr>
          <a:xfrm>
            <a:off x="2049464" y="5112957"/>
            <a:ext cx="9910611" cy="865369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18" name="图片占位符 8"/>
          <p:cNvSpPr>
            <a:spLocks noGrp="1"/>
          </p:cNvSpPr>
          <p:nvPr>
            <p:ph type="pic" sz="quarter" idx="20"/>
          </p:nvPr>
        </p:nvSpPr>
        <p:spPr>
          <a:xfrm>
            <a:off x="12205671" y="5112957"/>
            <a:ext cx="9910611" cy="865369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19" name="图片占位符 8"/>
          <p:cNvSpPr>
            <a:spLocks noGrp="1"/>
          </p:cNvSpPr>
          <p:nvPr>
            <p:ph type="pic" sz="quarter" idx="21"/>
          </p:nvPr>
        </p:nvSpPr>
        <p:spPr>
          <a:xfrm>
            <a:off x="22361878" y="5112957"/>
            <a:ext cx="9910611" cy="865369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414484" y="18311816"/>
            <a:ext cx="7902386" cy="10509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633531" y="18311816"/>
            <a:ext cx="11854788" cy="10509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056353" y="18216566"/>
            <a:ext cx="7902386" cy="1052513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_4张"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 descr="C:\Users\yyyy\Desktop\辅助1.jpg"/>
          <p:cNvPicPr/>
          <p:nvPr userDrawn="1"/>
        </p:nvPicPr>
        <p:blipFill>
          <a:blip r:embed="rId2"/>
          <a:srcRect t="67499"/>
          <a:stretch>
            <a:fillRect/>
          </a:stretch>
        </p:blipFill>
        <p:spPr>
          <a:xfrm flipV="1">
            <a:off x="1273137" y="2749550"/>
            <a:ext cx="32575579" cy="71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40642" y="1018437"/>
            <a:ext cx="30292596" cy="1803001"/>
          </a:xfrm>
          <a:prstGeom prst="rect">
            <a:avLst/>
          </a:prstGeom>
        </p:spPr>
        <p:txBody>
          <a:bodyPr/>
          <a:lstStyle>
            <a:lvl1pPr>
              <a:defRPr sz="6700" b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1pPr>
          </a:lstStyle>
          <a:p>
            <a:pPr fontAlgn="auto"/>
            <a:r>
              <a:rPr lang="zh-CN" altLang="en-US" strike="noStrike" noProof="1"/>
              <a:t>标题</a:t>
            </a:r>
            <a:r>
              <a:rPr lang="en-US" altLang="zh-CN" strike="noStrike" noProof="1"/>
              <a:t>|</a:t>
            </a:r>
            <a:r>
              <a:rPr lang="zh-CN" altLang="en-US" strike="noStrike" noProof="1"/>
              <a:t>副标题</a:t>
            </a:r>
            <a:endParaRPr lang="en-US" strike="noStrike" noProof="1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3"/>
          </p:nvPr>
        </p:nvSpPr>
        <p:spPr>
          <a:xfrm>
            <a:off x="2065241" y="3601977"/>
            <a:ext cx="6856346" cy="13537507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15" name="图片占位符 8"/>
          <p:cNvSpPr>
            <a:spLocks noGrp="1"/>
          </p:cNvSpPr>
          <p:nvPr>
            <p:ph type="pic" sz="quarter" idx="14"/>
          </p:nvPr>
        </p:nvSpPr>
        <p:spPr>
          <a:xfrm>
            <a:off x="9864912" y="3601977"/>
            <a:ext cx="6856346" cy="13537507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18" name="图片占位符 8"/>
          <p:cNvSpPr>
            <a:spLocks noGrp="1"/>
          </p:cNvSpPr>
          <p:nvPr>
            <p:ph type="pic" sz="quarter" idx="15"/>
          </p:nvPr>
        </p:nvSpPr>
        <p:spPr>
          <a:xfrm>
            <a:off x="17664584" y="3601977"/>
            <a:ext cx="6856346" cy="13537507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19" name="图片占位符 8"/>
          <p:cNvSpPr>
            <a:spLocks noGrp="1"/>
          </p:cNvSpPr>
          <p:nvPr>
            <p:ph type="pic" sz="quarter" idx="16"/>
          </p:nvPr>
        </p:nvSpPr>
        <p:spPr>
          <a:xfrm>
            <a:off x="25464257" y="3601977"/>
            <a:ext cx="6856346" cy="13537507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414484" y="18311816"/>
            <a:ext cx="7902386" cy="10509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633531" y="18311816"/>
            <a:ext cx="11854788" cy="10509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056353" y="18216566"/>
            <a:ext cx="7902386" cy="1052513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_多张"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 descr="C:\Users\yyyy\Desktop\辅助1.jpg"/>
          <p:cNvPicPr/>
          <p:nvPr userDrawn="1"/>
        </p:nvPicPr>
        <p:blipFill>
          <a:blip r:embed="rId2"/>
          <a:srcRect t="67499"/>
          <a:stretch>
            <a:fillRect/>
          </a:stretch>
        </p:blipFill>
        <p:spPr>
          <a:xfrm flipV="1">
            <a:off x="1273137" y="2749550"/>
            <a:ext cx="32575579" cy="71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40642" y="1018437"/>
            <a:ext cx="30292596" cy="1803001"/>
          </a:xfrm>
          <a:prstGeom prst="rect">
            <a:avLst/>
          </a:prstGeom>
        </p:spPr>
        <p:txBody>
          <a:bodyPr/>
          <a:lstStyle>
            <a:lvl1pPr>
              <a:defRPr sz="6700" b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1pPr>
          </a:lstStyle>
          <a:p>
            <a:pPr fontAlgn="auto"/>
            <a:r>
              <a:rPr lang="zh-CN" altLang="en-US" strike="noStrike" noProof="1"/>
              <a:t>标题</a:t>
            </a:r>
            <a:r>
              <a:rPr lang="en-US" altLang="zh-CN" strike="noStrike" noProof="1"/>
              <a:t>|</a:t>
            </a:r>
            <a:r>
              <a:rPr lang="zh-CN" altLang="en-US" strike="noStrike" noProof="1"/>
              <a:t>副标题</a:t>
            </a:r>
            <a:endParaRPr lang="en-US" strike="noStrike" noProof="1"/>
          </a:p>
        </p:txBody>
      </p:sp>
      <p:sp>
        <p:nvSpPr>
          <p:cNvPr id="13" name="图片占位符 8"/>
          <p:cNvSpPr>
            <a:spLocks noGrp="1"/>
          </p:cNvSpPr>
          <p:nvPr>
            <p:ph type="pic" sz="quarter" idx="19"/>
          </p:nvPr>
        </p:nvSpPr>
        <p:spPr>
          <a:xfrm>
            <a:off x="20552319" y="3589117"/>
            <a:ext cx="11780919" cy="12808232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14" name="图片占位符 8"/>
          <p:cNvSpPr>
            <a:spLocks noGrp="1"/>
          </p:cNvSpPr>
          <p:nvPr>
            <p:ph type="pic" sz="quarter" idx="13"/>
          </p:nvPr>
        </p:nvSpPr>
        <p:spPr>
          <a:xfrm>
            <a:off x="2065240" y="3601977"/>
            <a:ext cx="6497495" cy="12828973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16" name="图片占位符 8"/>
          <p:cNvSpPr>
            <a:spLocks noGrp="1"/>
          </p:cNvSpPr>
          <p:nvPr>
            <p:ph type="pic" sz="quarter" idx="20"/>
          </p:nvPr>
        </p:nvSpPr>
        <p:spPr>
          <a:xfrm>
            <a:off x="8943110" y="3601977"/>
            <a:ext cx="11228834" cy="771640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17" name="图片占位符 8"/>
          <p:cNvSpPr>
            <a:spLocks noGrp="1"/>
          </p:cNvSpPr>
          <p:nvPr>
            <p:ph type="pic" sz="quarter" idx="21"/>
          </p:nvPr>
        </p:nvSpPr>
        <p:spPr>
          <a:xfrm>
            <a:off x="8927384" y="11687903"/>
            <a:ext cx="5452707" cy="4761166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20" name="图片占位符 8"/>
          <p:cNvSpPr>
            <a:spLocks noGrp="1"/>
          </p:cNvSpPr>
          <p:nvPr>
            <p:ph type="pic" sz="quarter" idx="22"/>
          </p:nvPr>
        </p:nvSpPr>
        <p:spPr>
          <a:xfrm>
            <a:off x="14719238" y="11687903"/>
            <a:ext cx="5452707" cy="4761166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414484" y="18311816"/>
            <a:ext cx="7902386" cy="10509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633531" y="18311816"/>
            <a:ext cx="11854788" cy="10509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056353" y="18216566"/>
            <a:ext cx="7902386" cy="1052513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并排"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9" name="Picture 3" descr="C:\Users\yyyy\Desktop\辅助1.jpg"/>
          <p:cNvPicPr/>
          <p:nvPr userDrawn="1"/>
        </p:nvPicPr>
        <p:blipFill>
          <a:blip r:embed="rId2"/>
          <a:srcRect t="67499"/>
          <a:stretch>
            <a:fillRect/>
          </a:stretch>
        </p:blipFill>
        <p:spPr>
          <a:xfrm flipV="1">
            <a:off x="1273137" y="2749550"/>
            <a:ext cx="32575579" cy="71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40642" y="1018437"/>
            <a:ext cx="30292596" cy="1803001"/>
          </a:xfrm>
          <a:prstGeom prst="rect">
            <a:avLst/>
          </a:prstGeom>
        </p:spPr>
        <p:txBody>
          <a:bodyPr/>
          <a:lstStyle>
            <a:lvl1pPr>
              <a:defRPr sz="6700" b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1pPr>
          </a:lstStyle>
          <a:p>
            <a:pPr fontAlgn="auto"/>
            <a:r>
              <a:rPr lang="zh-CN" altLang="en-US" strike="noStrike" noProof="1"/>
              <a:t>标题</a:t>
            </a:r>
            <a:r>
              <a:rPr lang="en-US" altLang="zh-CN" strike="noStrike" noProof="1"/>
              <a:t>|</a:t>
            </a:r>
            <a:r>
              <a:rPr lang="zh-CN" altLang="en-US" strike="noStrike" noProof="1"/>
              <a:t>副标题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040643" y="3679645"/>
            <a:ext cx="14388968" cy="1253527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6095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1pPr>
            <a:lvl2pPr marL="1003300" indent="0">
              <a:lnSpc>
                <a:spcPct val="150000"/>
              </a:lnSpc>
              <a:buNone/>
              <a:defRPr sz="5025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2pPr>
            <a:lvl3pPr marL="2005965" indent="0">
              <a:lnSpc>
                <a:spcPct val="150000"/>
              </a:lnSpc>
              <a:buNone/>
              <a:defRPr sz="4115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3pPr>
            <a:lvl4pPr marL="3009265" indent="0">
              <a:lnSpc>
                <a:spcPct val="150000"/>
              </a:lnSpc>
              <a:buNone/>
              <a:defRPr sz="3655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5pPr>
          </a:lstStyle>
          <a:p>
            <a:pPr lvl="0" fontAlgn="auto"/>
            <a:r>
              <a:rPr lang="zh-CN" altLang="en-US" strike="noStrike" noProof="1"/>
              <a:t>内容编辑处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</p:txBody>
      </p:sp>
      <p:sp>
        <p:nvSpPr>
          <p:cNvPr id="10" name="图片占位符 8"/>
          <p:cNvSpPr>
            <a:spLocks noGrp="1"/>
          </p:cNvSpPr>
          <p:nvPr>
            <p:ph type="pic" sz="quarter" idx="14"/>
          </p:nvPr>
        </p:nvSpPr>
        <p:spPr>
          <a:xfrm>
            <a:off x="17966951" y="3685534"/>
            <a:ext cx="14366640" cy="12544587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414484" y="18311816"/>
            <a:ext cx="7902386" cy="10509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633531" y="18311816"/>
            <a:ext cx="11854788" cy="10509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056353" y="18216566"/>
            <a:ext cx="7902386" cy="1052513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格">
    <p:bg>
      <p:bgPr>
        <a:solidFill>
          <a:srgbClr val="F2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3" name="Picture 3" descr="C:\Users\yyyy\Desktop\辅助1.jpg"/>
          <p:cNvPicPr/>
          <p:nvPr userDrawn="1"/>
        </p:nvPicPr>
        <p:blipFill>
          <a:blip r:embed="rId2"/>
          <a:srcRect t="67499"/>
          <a:stretch>
            <a:fillRect/>
          </a:stretch>
        </p:blipFill>
        <p:spPr>
          <a:xfrm flipV="1">
            <a:off x="1273137" y="2749550"/>
            <a:ext cx="32575579" cy="71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表格占位符 8"/>
          <p:cNvSpPr>
            <a:spLocks noGrp="1"/>
          </p:cNvSpPr>
          <p:nvPr>
            <p:ph type="tbl" sz="quarter" idx="15"/>
          </p:nvPr>
        </p:nvSpPr>
        <p:spPr>
          <a:xfrm>
            <a:off x="2040887" y="3679827"/>
            <a:ext cx="30292883" cy="1255077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40642" y="1018437"/>
            <a:ext cx="30292596" cy="1803001"/>
          </a:xfrm>
          <a:prstGeom prst="rect">
            <a:avLst/>
          </a:prstGeom>
        </p:spPr>
        <p:txBody>
          <a:bodyPr/>
          <a:lstStyle>
            <a:lvl1pPr>
              <a:defRPr sz="6700" b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1pPr>
          </a:lstStyle>
          <a:p>
            <a:pPr fontAlgn="auto"/>
            <a:r>
              <a:rPr lang="zh-CN" altLang="en-US" strike="noStrike" noProof="1"/>
              <a:t>标题</a:t>
            </a:r>
            <a:r>
              <a:rPr lang="en-US" altLang="zh-CN" strike="noStrike" noProof="1"/>
              <a:t>|</a:t>
            </a:r>
            <a:r>
              <a:rPr lang="zh-CN" altLang="en-US" strike="noStrike" noProof="1"/>
              <a:t>副标题</a:t>
            </a:r>
            <a:endParaRPr 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414484" y="18311816"/>
            <a:ext cx="7902386" cy="10509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633531" y="18311816"/>
            <a:ext cx="11854788" cy="10509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056353" y="18216566"/>
            <a:ext cx="7902386" cy="1052513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38" name="Shape 38"/>
          <p:cNvSpPr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9" name="Shape 3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173274" y="413697"/>
            <a:ext cx="3923769" cy="153658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961182" y="413697"/>
            <a:ext cx="3116575" cy="1986824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E:\VI\优华氏\赛意VI系统\PP模板1源文件(16比9)++1920x1080\背景图\图片15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0"/>
            <a:ext cx="35192835" cy="19786060"/>
          </a:xfrm>
          <a:prstGeom prst="rect">
            <a:avLst/>
          </a:prstGeom>
          <a:noFill/>
        </p:spPr>
      </p:pic>
      <p:pic>
        <p:nvPicPr>
          <p:cNvPr id="8" name="图片 5126" descr="02 目录背景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89550" y="12195"/>
            <a:ext cx="11772541" cy="197738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组合 5"/>
          <p:cNvGrpSpPr/>
          <p:nvPr userDrawn="1"/>
        </p:nvGrpSpPr>
        <p:grpSpPr>
          <a:xfrm>
            <a:off x="26091390" y="15756371"/>
            <a:ext cx="7439003" cy="2819403"/>
            <a:chOff x="6792913" y="4102100"/>
            <a:chExt cx="1936750" cy="734019"/>
          </a:xfrm>
        </p:grpSpPr>
        <p:pic>
          <p:nvPicPr>
            <p:cNvPr id="7" name="图片 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6792913" y="4102100"/>
              <a:ext cx="1936750" cy="287896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7426490" y="4544720"/>
              <a:ext cx="669595" cy="291399"/>
            </a:xfrm>
            <a:prstGeom prst="rect">
              <a:avLst/>
            </a:prstGeom>
          </p:spPr>
        </p:pic>
      </p:grpSp>
      <p:pic>
        <p:nvPicPr>
          <p:cNvPr id="12" name="图片 5128" descr="02 目录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083" y="1857218"/>
            <a:ext cx="8695097" cy="9573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分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E:\VI\优华氏\赛意VI系统\PP模板1源文件(16比9)++1920x1080\背景图\图片16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" y="-11554"/>
            <a:ext cx="35146966" cy="19767992"/>
          </a:xfrm>
          <a:prstGeom prst="rect">
            <a:avLst/>
          </a:prstGeom>
          <a:noFill/>
        </p:spPr>
      </p:pic>
      <p:grpSp>
        <p:nvGrpSpPr>
          <p:cNvPr id="2" name="组合 1"/>
          <p:cNvGrpSpPr/>
          <p:nvPr userDrawn="1"/>
        </p:nvGrpSpPr>
        <p:grpSpPr>
          <a:xfrm>
            <a:off x="26091390" y="15756371"/>
            <a:ext cx="7439003" cy="2819403"/>
            <a:chOff x="6792913" y="4102100"/>
            <a:chExt cx="1936750" cy="734019"/>
          </a:xfrm>
        </p:grpSpPr>
        <p:pic>
          <p:nvPicPr>
            <p:cNvPr id="4" name="图片 3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6792913" y="4102100"/>
              <a:ext cx="1936750" cy="287896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7426490" y="4544720"/>
              <a:ext cx="669595" cy="291399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文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E:\VI\优华氏\赛意VI系统\PP模板1源文件(16比9)++1920x1080\背景图\图片17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5121850" cy="4658617"/>
          </a:xfrm>
          <a:prstGeom prst="rect">
            <a:avLst/>
          </a:prstGeom>
          <a:noFill/>
        </p:spPr>
      </p:pic>
      <p:pic>
        <p:nvPicPr>
          <p:cNvPr id="8" name="内容占位符 7175" descr="04 主题页 logo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640166" y="3000054"/>
            <a:ext cx="7481684" cy="1652469"/>
          </a:xfrm>
          <a:prstGeom prst="rect">
            <a:avLst/>
          </a:prstGeom>
        </p:spPr>
      </p:pic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219705" y="18175810"/>
            <a:ext cx="3535988" cy="1402463"/>
          </a:xfrm>
          <a:prstGeom prst="rect">
            <a:avLst/>
          </a:prstGeom>
        </p:spPr>
        <p:txBody>
          <a:bodyPr/>
          <a:lstStyle>
            <a:lvl1pPr>
              <a:defRPr sz="5375">
                <a:solidFill>
                  <a:srgbClr val="7F7F7F"/>
                </a:solidFill>
                <a:latin typeface="+mj-ea"/>
                <a:ea typeface="+mj-ea"/>
              </a:defRPr>
            </a:lvl1pPr>
          </a:lstStyle>
          <a:p>
            <a:r>
              <a:rPr lang="en-US" altLang="zh-CN" dirty="0"/>
              <a:t>/  </a:t>
            </a:r>
            <a:fld id="{0C913308-F349-4B6D-A68A-DD1791B4A57B}" type="slidenum">
              <a:rPr lang="zh-CN" altLang="en-US" dirty="0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96" r="25175"/>
          <a:stretch>
            <a:fillRect/>
          </a:stretch>
        </p:blipFill>
        <p:spPr>
          <a:xfrm>
            <a:off x="27640166" y="2963564"/>
            <a:ext cx="7345345" cy="168895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0757127" y="3714854"/>
            <a:ext cx="3318969" cy="49337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8534026" y="3274018"/>
            <a:ext cx="2223101" cy="9674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文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E:\VI\优华氏\赛意VI系统\PP模板1源文件(16比9)++1920x1080\背景图\图片18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2" y="2"/>
            <a:ext cx="35121846" cy="19756434"/>
          </a:xfrm>
          <a:prstGeom prst="rect">
            <a:avLst/>
          </a:prstGeom>
          <a:noFill/>
        </p:spPr>
      </p:pic>
      <p:sp>
        <p:nvSpPr>
          <p:cNvPr id="9" name="灯片编号占位符 5"/>
          <p:cNvSpPr txBox="1"/>
          <p:nvPr userDrawn="1"/>
        </p:nvSpPr>
        <p:spPr>
          <a:xfrm>
            <a:off x="33167722" y="18353973"/>
            <a:ext cx="3535988" cy="140246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913308-F349-4B6D-A68A-DD1791B4A57B}" type="slidenum">
              <a:rPr lang="zh-CN" altLang="en-US" sz="5375" smtClean="0"/>
            </a:fld>
            <a:endParaRPr lang="zh-CN" altLang="en-US" sz="5375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305185" y="18065867"/>
            <a:ext cx="9816665" cy="169057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8422146" y="18818771"/>
            <a:ext cx="3318969" cy="49337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6199045" y="18377935"/>
            <a:ext cx="2223101" cy="967484"/>
          </a:xfrm>
          <a:prstGeom prst="rect">
            <a:avLst/>
          </a:prstGeom>
        </p:spPr>
      </p:pic>
      <p:sp>
        <p:nvSpPr>
          <p:cNvPr id="13" name="灯片编号占位符 5"/>
          <p:cNvSpPr txBox="1"/>
          <p:nvPr userDrawn="1"/>
        </p:nvSpPr>
        <p:spPr>
          <a:xfrm>
            <a:off x="33167722" y="18353973"/>
            <a:ext cx="3535988" cy="140246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913308-F349-4B6D-A68A-DD1791B4A57B}" type="slidenum">
              <a:rPr lang="zh-CN" altLang="en-US" sz="5375" smtClean="0"/>
            </a:fld>
            <a:endParaRPr lang="zh-CN" altLang="en-US" sz="5375" dirty="0"/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2612965" y="18152366"/>
            <a:ext cx="587020" cy="1156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915" dirty="0">
                <a:solidFill>
                  <a:schemeClr val="bg1"/>
                </a:solidFill>
                <a:ea typeface="微软雅黑" pitchFamily="34" charset="-122"/>
              </a:rPr>
              <a:t>/</a:t>
            </a:r>
            <a:endParaRPr lang="zh-CN" altLang="en-US" sz="6915" dirty="0">
              <a:solidFill>
                <a:schemeClr val="bg1"/>
              </a:solidFill>
              <a:ea typeface="微软雅黑" pitchFamily="34" charset="-122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文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-36586"/>
            <a:ext cx="35129716" cy="1304044"/>
          </a:xfrm>
          <a:prstGeom prst="rect">
            <a:avLst/>
          </a:prstGeom>
          <a:solidFill>
            <a:srgbClr val="95A2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915">
              <a:ea typeface="微软雅黑" pitchFamily="34" charset="-122"/>
            </a:endParaRPr>
          </a:p>
        </p:txBody>
      </p:sp>
      <p:sp>
        <p:nvSpPr>
          <p:cNvPr id="9" name="灯片编号占位符 5"/>
          <p:cNvSpPr txBox="1"/>
          <p:nvPr userDrawn="1"/>
        </p:nvSpPr>
        <p:spPr>
          <a:xfrm>
            <a:off x="33167722" y="18353973"/>
            <a:ext cx="3535988" cy="140246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913308-F349-4B6D-A68A-DD1791B4A57B}" type="slidenum">
              <a:rPr lang="zh-CN" altLang="en-US" sz="5375" smtClean="0"/>
            </a:fld>
            <a:endParaRPr lang="zh-CN" altLang="en-US" sz="5375" dirty="0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966081" y="18238959"/>
            <a:ext cx="9243236" cy="6833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840" dirty="0">
                <a:solidFill>
                  <a:schemeClr val="bg1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股票简称：赛意信息   股票代码：</a:t>
            </a:r>
            <a:r>
              <a:rPr kumimoji="1" lang="en-US" altLang="zh-CN" sz="3840" dirty="0">
                <a:solidFill>
                  <a:schemeClr val="bg1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300687</a:t>
            </a:r>
            <a:endParaRPr kumimoji="1" lang="zh-CN" altLang="en-US" sz="3840" dirty="0">
              <a:solidFill>
                <a:schemeClr val="bg1">
                  <a:lumMod val="85000"/>
                </a:schemeClr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305185" y="18065867"/>
            <a:ext cx="9816665" cy="1690573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8422146" y="18818771"/>
            <a:ext cx="3318969" cy="493371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6199045" y="18377935"/>
            <a:ext cx="2223101" cy="967484"/>
          </a:xfrm>
          <a:prstGeom prst="rect">
            <a:avLst/>
          </a:prstGeom>
        </p:spPr>
      </p:pic>
      <p:sp>
        <p:nvSpPr>
          <p:cNvPr id="15" name="灯片编号占位符 5"/>
          <p:cNvSpPr txBox="1"/>
          <p:nvPr userDrawn="1"/>
        </p:nvSpPr>
        <p:spPr>
          <a:xfrm>
            <a:off x="33167722" y="18353973"/>
            <a:ext cx="3535988" cy="140246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913308-F349-4B6D-A68A-DD1791B4A57B}" type="slidenum">
              <a:rPr lang="zh-CN" altLang="en-US" sz="5375" smtClean="0"/>
            </a:fld>
            <a:endParaRPr lang="zh-CN" altLang="en-US" sz="5375" dirty="0"/>
          </a:p>
        </p:txBody>
      </p:sp>
      <p:sp>
        <p:nvSpPr>
          <p:cNvPr id="16" name="文本框 15"/>
          <p:cNvSpPr txBox="1"/>
          <p:nvPr userDrawn="1"/>
        </p:nvSpPr>
        <p:spPr>
          <a:xfrm>
            <a:off x="32612965" y="18152366"/>
            <a:ext cx="587020" cy="1156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915" dirty="0">
                <a:solidFill>
                  <a:schemeClr val="bg1"/>
                </a:solidFill>
                <a:ea typeface="微软雅黑" pitchFamily="34" charset="-122"/>
              </a:rPr>
              <a:t>/</a:t>
            </a:r>
            <a:endParaRPr lang="zh-CN" altLang="en-US" sz="6915" dirty="0">
              <a:solidFill>
                <a:schemeClr val="bg1"/>
              </a:solidFill>
              <a:ea typeface="微软雅黑" pitchFamily="34" charset="-122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文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 txBox="1"/>
          <p:nvPr userDrawn="1"/>
        </p:nvSpPr>
        <p:spPr>
          <a:xfrm>
            <a:off x="33167722" y="18353973"/>
            <a:ext cx="3535988" cy="140246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913308-F349-4B6D-A68A-DD1791B4A57B}" type="slidenum">
              <a:rPr lang="zh-CN" altLang="en-US" sz="5375" smtClean="0"/>
            </a:fld>
            <a:endParaRPr lang="zh-CN" altLang="en-US" sz="5375" dirty="0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305185" y="18065867"/>
            <a:ext cx="9816665" cy="1690573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8422146" y="18818771"/>
            <a:ext cx="3318969" cy="493371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6199045" y="18377935"/>
            <a:ext cx="2223101" cy="967484"/>
          </a:xfrm>
          <a:prstGeom prst="rect">
            <a:avLst/>
          </a:prstGeom>
        </p:spPr>
      </p:pic>
      <p:sp>
        <p:nvSpPr>
          <p:cNvPr id="15" name="灯片编号占位符 5"/>
          <p:cNvSpPr txBox="1"/>
          <p:nvPr userDrawn="1"/>
        </p:nvSpPr>
        <p:spPr>
          <a:xfrm>
            <a:off x="33167722" y="18353973"/>
            <a:ext cx="3535988" cy="140246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913308-F349-4B6D-A68A-DD1791B4A57B}" type="slidenum">
              <a:rPr lang="zh-CN" altLang="en-US" sz="5375" smtClean="0"/>
            </a:fld>
            <a:endParaRPr lang="zh-CN" altLang="en-US" sz="5375" dirty="0"/>
          </a:p>
        </p:txBody>
      </p:sp>
      <p:sp>
        <p:nvSpPr>
          <p:cNvPr id="16" name="文本框 15"/>
          <p:cNvSpPr txBox="1"/>
          <p:nvPr userDrawn="1"/>
        </p:nvSpPr>
        <p:spPr>
          <a:xfrm>
            <a:off x="32612965" y="18152366"/>
            <a:ext cx="587020" cy="1156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915" dirty="0">
                <a:solidFill>
                  <a:schemeClr val="bg1"/>
                </a:solidFill>
                <a:ea typeface="微软雅黑" pitchFamily="34" charset="-122"/>
              </a:rPr>
              <a:t>/</a:t>
            </a:r>
            <a:endParaRPr lang="zh-CN" altLang="en-US" sz="6915" dirty="0">
              <a:solidFill>
                <a:schemeClr val="bg1"/>
              </a:solidFill>
              <a:ea typeface="微软雅黑" pitchFamily="34" charset="-122"/>
            </a:endParaRPr>
          </a:p>
        </p:txBody>
      </p:sp>
      <p:pic>
        <p:nvPicPr>
          <p:cNvPr id="8" name="image3.png" descr="image3.pn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119" y="18444222"/>
            <a:ext cx="2239018" cy="95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9" b="2401"/>
          <a:stretch>
            <a:fillRect/>
          </a:stretch>
        </p:blipFill>
        <p:spPr>
          <a:xfrm>
            <a:off x="6" y="0"/>
            <a:ext cx="35121846" cy="19756438"/>
          </a:xfrm>
          <a:prstGeom prst="rect">
            <a:avLst/>
          </a:prstGeom>
        </p:spPr>
      </p:pic>
      <p:sp>
        <p:nvSpPr>
          <p:cNvPr id="4" name="Rectangle 11" descr="Full slide 4-color photo can be inserted here"/>
          <p:cNvSpPr/>
          <p:nvPr userDrawn="1"/>
        </p:nvSpPr>
        <p:spPr bwMode="hidden">
          <a:xfrm>
            <a:off x="0" y="0"/>
            <a:ext cx="35121850" cy="197615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6915" dirty="0">
              <a:ea typeface="微软雅黑" pitchFamily="34" charset="-122"/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966081" y="18238959"/>
            <a:ext cx="9243236" cy="6833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840" dirty="0">
                <a:solidFill>
                  <a:schemeClr val="bg1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股票简称：赛意信息   股票代码：</a:t>
            </a:r>
            <a:r>
              <a:rPr kumimoji="1" lang="en-US" altLang="zh-CN" sz="3840" dirty="0">
                <a:solidFill>
                  <a:schemeClr val="bg1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300687</a:t>
            </a:r>
            <a:endParaRPr kumimoji="1" lang="zh-CN" altLang="en-US" sz="3840" dirty="0">
              <a:solidFill>
                <a:schemeClr val="bg1">
                  <a:lumMod val="85000"/>
                </a:schemeClr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305185" y="18065867"/>
            <a:ext cx="9816665" cy="169057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8422146" y="18818771"/>
            <a:ext cx="3318969" cy="493371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6199045" y="18377935"/>
            <a:ext cx="2223101" cy="967484"/>
          </a:xfrm>
          <a:prstGeom prst="rect">
            <a:avLst/>
          </a:prstGeom>
        </p:spPr>
      </p:pic>
      <p:sp>
        <p:nvSpPr>
          <p:cNvPr id="14" name="灯片编号占位符 5"/>
          <p:cNvSpPr txBox="1"/>
          <p:nvPr userDrawn="1"/>
        </p:nvSpPr>
        <p:spPr>
          <a:xfrm>
            <a:off x="33167722" y="18353973"/>
            <a:ext cx="3535988" cy="140246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913308-F349-4B6D-A68A-DD1791B4A57B}" type="slidenum">
              <a:rPr lang="zh-CN" altLang="en-US" sz="5375" smtClean="0"/>
            </a:fld>
            <a:endParaRPr lang="zh-CN" altLang="en-US" sz="5375" dirty="0"/>
          </a:p>
        </p:txBody>
      </p:sp>
      <p:sp>
        <p:nvSpPr>
          <p:cNvPr id="15" name="文本框 14"/>
          <p:cNvSpPr txBox="1"/>
          <p:nvPr userDrawn="1"/>
        </p:nvSpPr>
        <p:spPr>
          <a:xfrm>
            <a:off x="32612965" y="18152366"/>
            <a:ext cx="587020" cy="1156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915" dirty="0">
                <a:solidFill>
                  <a:schemeClr val="bg1"/>
                </a:solidFill>
                <a:ea typeface="微软雅黑" pitchFamily="34" charset="-122"/>
              </a:rPr>
              <a:t>/</a:t>
            </a:r>
            <a:endParaRPr lang="zh-CN" altLang="en-US" sz="6915" dirty="0">
              <a:solidFill>
                <a:schemeClr val="bg1"/>
              </a:solidFill>
              <a:ea typeface="微软雅黑" pitchFamily="34" charset="-122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E:\VI\优华氏\赛意VI系统\PP模板1源文件(16比9)++1920x1080\背景图\图片19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674" y="-35069"/>
            <a:ext cx="35184185" cy="19791507"/>
          </a:xfrm>
          <a:prstGeom prst="rect">
            <a:avLst/>
          </a:prstGeom>
          <a:noFill/>
        </p:spPr>
      </p:pic>
      <p:pic>
        <p:nvPicPr>
          <p:cNvPr id="12" name="图片 1" descr="封底元素-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1192" y="8495289"/>
            <a:ext cx="16323126" cy="1939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33" t="37200" r="5470" b="36839"/>
          <a:stretch>
            <a:fillRect/>
          </a:stretch>
        </p:blipFill>
        <p:spPr>
          <a:xfrm>
            <a:off x="12737252" y="16365514"/>
            <a:ext cx="9680325" cy="1382931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12582474" y="17622635"/>
            <a:ext cx="9708107" cy="7129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4035" dirty="0">
                <a:solidFill>
                  <a:schemeClr val="accent3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股票简称：赛意信息   股票代码：</a:t>
            </a:r>
            <a:r>
              <a:rPr kumimoji="1" lang="en-US" altLang="zh-CN" sz="4035" dirty="0">
                <a:solidFill>
                  <a:schemeClr val="accent3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300687</a:t>
            </a:r>
            <a:endParaRPr kumimoji="1" lang="zh-CN" altLang="en-US" sz="4035" dirty="0">
              <a:solidFill>
                <a:schemeClr val="accent3">
                  <a:lumMod val="85000"/>
                </a:schemeClr>
              </a:solidFill>
              <a:latin typeface="微软雅黑" pitchFamily="34" charset="-122"/>
              <a:ea typeface="微软雅黑" pitchFamily="34" charset="-122"/>
              <a:cs typeface="微软雅黑" pitchFamily="34" charset="-122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E:\VI\优华氏\赛意VI系统\PP模板1源文件(16比9)++1920x1080\背景图\图片1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155"/>
          <a:stretch>
            <a:fillRect/>
          </a:stretch>
        </p:blipFill>
        <p:spPr bwMode="auto">
          <a:xfrm>
            <a:off x="-58269" y="9325047"/>
            <a:ext cx="35180121" cy="10459262"/>
          </a:xfrm>
          <a:prstGeom prst="rect">
            <a:avLst/>
          </a:prstGeom>
          <a:noFill/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3503" y="3472363"/>
            <a:ext cx="16750826" cy="80653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219503" y="24415057"/>
            <a:ext cx="10536555" cy="1402463"/>
          </a:xfrm>
        </p:spPr>
        <p:txBody>
          <a:bodyPr/>
          <a:lstStyle>
            <a:lvl1pPr>
              <a:defRPr>
                <a:ea typeface="微软雅黑" pitchFamily="34" charset="-122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5512150" y="24415057"/>
            <a:ext cx="15804833" cy="1402463"/>
          </a:xfrm>
        </p:spPr>
        <p:txBody>
          <a:bodyPr/>
          <a:lstStyle>
            <a:lvl1pPr>
              <a:defRPr>
                <a:ea typeface="微软雅黑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33073075" y="24415057"/>
            <a:ext cx="10536555" cy="1402463"/>
          </a:xfrm>
        </p:spPr>
        <p:txBody>
          <a:bodyPr/>
          <a:lstStyle>
            <a:lvl1pPr>
              <a:defRPr>
                <a:ea typeface="微软雅黑" pitchFamily="34" charset="-122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219503" y="24415057"/>
            <a:ext cx="10536555" cy="1402463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15512150" y="24415057"/>
            <a:ext cx="15804833" cy="14024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33073075" y="24415057"/>
            <a:ext cx="10536555" cy="1402463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390231" y="3233288"/>
            <a:ext cx="26341388" cy="6878167"/>
          </a:xfrm>
        </p:spPr>
        <p:txBody>
          <a:bodyPr anchor="b"/>
          <a:lstStyle>
            <a:lvl1pPr algn="ctr">
              <a:defRPr sz="17285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390231" y="10376706"/>
            <a:ext cx="26341388" cy="4769900"/>
          </a:xfrm>
        </p:spPr>
        <p:txBody>
          <a:bodyPr/>
          <a:lstStyle>
            <a:lvl1pPr marL="0" indent="0" algn="ctr">
              <a:buNone/>
              <a:defRPr sz="6915"/>
            </a:lvl1pPr>
            <a:lvl2pPr marL="1316990" indent="0" algn="ctr">
              <a:buNone/>
              <a:defRPr sz="5760"/>
            </a:lvl2pPr>
            <a:lvl3pPr marL="2633980" indent="0" algn="ctr">
              <a:buNone/>
              <a:defRPr sz="5185"/>
            </a:lvl3pPr>
            <a:lvl4pPr marL="3950970" indent="0" algn="ctr">
              <a:buNone/>
              <a:defRPr sz="4610"/>
            </a:lvl4pPr>
            <a:lvl5pPr marL="5268595" indent="0" algn="ctr">
              <a:buNone/>
              <a:defRPr sz="4610"/>
            </a:lvl5pPr>
            <a:lvl6pPr marL="6585585" indent="0" algn="ctr">
              <a:buNone/>
              <a:defRPr sz="4610"/>
            </a:lvl6pPr>
            <a:lvl7pPr marL="7902575" indent="0" algn="ctr">
              <a:buNone/>
              <a:defRPr sz="4610"/>
            </a:lvl7pPr>
            <a:lvl8pPr marL="9219565" indent="0" algn="ctr">
              <a:buNone/>
              <a:defRPr sz="4610"/>
            </a:lvl8pPr>
            <a:lvl9pPr marL="10536555" indent="0" algn="ctr">
              <a:buNone/>
              <a:defRPr sz="461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2414627" y="18311293"/>
            <a:ext cx="7902416" cy="1051848"/>
          </a:xfrm>
        </p:spPr>
        <p:txBody>
          <a:bodyPr/>
          <a:lstStyle/>
          <a:p>
            <a:fld id="{8D4418DC-009F-4AEC-86F6-2C675397861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11634113" y="18311293"/>
            <a:ext cx="11853624" cy="105184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24804807" y="18311293"/>
            <a:ext cx="7902416" cy="1051848"/>
          </a:xfrm>
        </p:spPr>
        <p:txBody>
          <a:bodyPr/>
          <a:lstStyle/>
          <a:p>
            <a:fld id="{C08F977E-DA29-4BDC-BBBD-80D03A20E896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Picture 4" descr="C:\Users\ThinkPad\Desktop\LOGO源文件_组合-0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7225" y="534156"/>
            <a:ext cx="6987785" cy="878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3.png" descr="image3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70645" y="656896"/>
            <a:ext cx="1986582" cy="846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" name="直接连接符 9"/>
          <p:cNvCxnSpPr/>
          <p:nvPr userDrawn="1"/>
        </p:nvCxnSpPr>
        <p:spPr>
          <a:xfrm>
            <a:off x="1322558" y="2687240"/>
            <a:ext cx="3214893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4576" y="4576"/>
          <a:ext cx="4575" cy="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" name="think-cell Slide" r:id="rId3" imgW="0" imgH="0" progId="TCLayout.ActiveDocument.1">
                  <p:embed/>
                </p:oleObj>
              </mc:Choice>
              <mc:Fallback>
                <p:oleObj name="think-cell Slide" r:id="rId3" imgW="0" imgH="0" progId="TCLayout.ActiveDocument.1">
                  <p:embed/>
                  <p:pic>
                    <p:nvPicPr>
                      <p:cNvPr id="0" name="Objec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76" y="4576"/>
                        <a:ext cx="4575" cy="4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2" descr="C:\Users\xbzhang\Desktop\苏酒集团合标.jp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05769" y="275927"/>
            <a:ext cx="5268278" cy="2187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14627" y="1037085"/>
            <a:ext cx="30292596" cy="797974"/>
          </a:xfrm>
        </p:spPr>
        <p:txBody>
          <a:bodyPr lIns="0" tIns="0" rIns="0" bIns="0" anchor="t" anchorCtr="0">
            <a:spAutoFit/>
          </a:bodyPr>
          <a:lstStyle>
            <a:lvl1pPr>
              <a:defRPr sz="576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yyyy\Desktop\辅助图形2.png"/>
          <p:cNvPicPr>
            <a:picLocks noChangeAspect="1"/>
          </p:cNvPicPr>
          <p:nvPr userDrawn="1"/>
        </p:nvPicPr>
        <p:blipFill>
          <a:blip r:embed="rId2"/>
          <a:srcRect r="54395" b="48161"/>
          <a:stretch>
            <a:fillRect/>
          </a:stretch>
        </p:blipFill>
        <p:spPr>
          <a:xfrm>
            <a:off x="19975312" y="8163707"/>
            <a:ext cx="15146540" cy="115927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2" name="矩形 22"/>
          <p:cNvSpPr/>
          <p:nvPr userDrawn="1"/>
        </p:nvSpPr>
        <p:spPr>
          <a:xfrm>
            <a:off x="2587861" y="16269326"/>
            <a:ext cx="184731" cy="58907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fontAlgn="base">
              <a:lnSpc>
                <a:spcPct val="150000"/>
              </a:lnSpc>
            </a:pPr>
            <a:endParaRPr lang="en-US" altLang="zh-CN" sz="2440" b="1" strike="noStrike" noProof="1">
              <a:solidFill>
                <a:srgbClr val="59595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内容占位符 13"/>
          <p:cNvSpPr>
            <a:spLocks noGrp="1"/>
          </p:cNvSpPr>
          <p:nvPr>
            <p:ph sz="quarter" idx="13" hasCustomPrompt="1"/>
          </p:nvPr>
        </p:nvSpPr>
        <p:spPr>
          <a:xfrm>
            <a:off x="2589111" y="3964491"/>
            <a:ext cx="18043136" cy="32399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9205" b="1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</a:lstStyle>
          <a:p>
            <a:pPr lvl="0" fontAlgn="auto"/>
            <a:r>
              <a:rPr lang="zh-CN" altLang="en-US" strike="noStrike" noProof="1"/>
              <a:t>标题</a:t>
            </a:r>
            <a:endParaRPr lang="zh-CN" altLang="en-US" strike="noStrike" noProof="1"/>
          </a:p>
        </p:txBody>
      </p:sp>
      <p:sp>
        <p:nvSpPr>
          <p:cNvPr id="21" name="内容占位符 13"/>
          <p:cNvSpPr>
            <a:spLocks noGrp="1"/>
          </p:cNvSpPr>
          <p:nvPr>
            <p:ph sz="quarter" idx="15" hasCustomPrompt="1"/>
          </p:nvPr>
        </p:nvSpPr>
        <p:spPr>
          <a:xfrm>
            <a:off x="2589111" y="7204401"/>
            <a:ext cx="18043136" cy="15841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7680" b="1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</a:lstStyle>
          <a:p>
            <a:pPr lvl="0" fontAlgn="auto"/>
            <a:r>
              <a:rPr lang="zh-CN" altLang="en-US" strike="noStrike" noProof="1"/>
              <a:t>副标题</a:t>
            </a:r>
            <a:endParaRPr lang="zh-CN" altLang="en-US" strike="noStrike" noProof="1"/>
          </a:p>
        </p:txBody>
      </p:sp>
      <p:sp>
        <p:nvSpPr>
          <p:cNvPr id="22" name="内容占位符 13"/>
          <p:cNvSpPr>
            <a:spLocks noGrp="1"/>
          </p:cNvSpPr>
          <p:nvPr>
            <p:ph sz="quarter" idx="16" hasCustomPrompt="1"/>
          </p:nvPr>
        </p:nvSpPr>
        <p:spPr>
          <a:xfrm>
            <a:off x="2589111" y="10549198"/>
            <a:ext cx="18043136" cy="42378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None/>
              <a:defRPr sz="461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 fontAlgn="auto"/>
            <a:r>
              <a:rPr lang="zh-CN" altLang="en-US" strike="noStrike" noProof="1"/>
              <a:t>代用名</a:t>
            </a:r>
            <a:endParaRPr lang="en-US" altLang="zh-CN" strike="noStrike" noProof="1"/>
          </a:p>
          <a:p>
            <a:pPr lvl="0" fontAlgn="auto"/>
            <a:r>
              <a:rPr lang="zh-CN" altLang="en-US" strike="noStrike" noProof="1"/>
              <a:t>部门</a:t>
            </a:r>
            <a:endParaRPr lang="en-US" altLang="zh-CN" strike="noStrike" noProof="1"/>
          </a:p>
          <a:p>
            <a:pPr lvl="0" fontAlgn="auto"/>
            <a:r>
              <a:rPr lang="en-US" altLang="zh-CN" strike="noStrike" noProof="1"/>
              <a:t>2018.01.01</a:t>
            </a:r>
            <a:endParaRPr lang="zh-CN" altLang="en-US" strike="noStrike" noProof="1"/>
          </a:p>
        </p:txBody>
      </p:sp>
      <p:sp>
        <p:nvSpPr>
          <p:cNvPr id="26" name="内容占位符 13"/>
          <p:cNvSpPr>
            <a:spLocks noGrp="1"/>
          </p:cNvSpPr>
          <p:nvPr>
            <p:ph sz="quarter" idx="17" hasCustomPrompt="1"/>
          </p:nvPr>
        </p:nvSpPr>
        <p:spPr>
          <a:xfrm>
            <a:off x="2589111" y="15854512"/>
            <a:ext cx="18043136" cy="11570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None/>
              <a:defRPr sz="4610" b="1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</a:lstStyle>
          <a:p>
            <a:pPr lvl="0" fontAlgn="auto"/>
            <a:r>
              <a:rPr lang="zh-CN" altLang="en-US" strike="noStrike" noProof="1"/>
              <a:t>广州视源电子科技股份有限公司</a:t>
            </a:r>
            <a:endParaRPr lang="en-US" altLang="zh-CN" strike="noStrike" noProof="1"/>
          </a:p>
          <a:p>
            <a:pPr lvl="0" fontAlgn="auto"/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文字_较多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 descr="C:\Users\yyyy\Desktop\辅助1.jpg"/>
          <p:cNvPicPr/>
          <p:nvPr userDrawn="1"/>
        </p:nvPicPr>
        <p:blipFill>
          <a:blip r:embed="rId2"/>
          <a:srcRect t="67499"/>
          <a:stretch>
            <a:fillRect/>
          </a:stretch>
        </p:blipFill>
        <p:spPr>
          <a:xfrm flipV="1">
            <a:off x="2040683" y="2710990"/>
            <a:ext cx="30731546" cy="13827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040680" y="3685450"/>
            <a:ext cx="30731546" cy="125349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None/>
              <a:defRPr sz="5375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  <a:lvl2pPr marL="1002665" indent="0">
              <a:lnSpc>
                <a:spcPct val="150000"/>
              </a:lnSpc>
              <a:spcAft>
                <a:spcPts val="0"/>
              </a:spcAft>
              <a:buNone/>
              <a:defRPr sz="601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2pPr>
            <a:lvl3pPr marL="2007235" indent="0">
              <a:lnSpc>
                <a:spcPct val="150000"/>
              </a:lnSpc>
              <a:spcAft>
                <a:spcPts val="0"/>
              </a:spcAft>
              <a:buNone/>
              <a:defRPr sz="601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3pPr>
            <a:lvl4pPr marL="3009900" indent="0">
              <a:lnSpc>
                <a:spcPct val="150000"/>
              </a:lnSpc>
              <a:spcAft>
                <a:spcPts val="0"/>
              </a:spcAft>
              <a:buNone/>
              <a:defRPr sz="601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5pPr>
          </a:lstStyle>
          <a:p>
            <a:pPr lvl="0" fontAlgn="auto"/>
            <a:r>
              <a:rPr lang="zh-CN" altLang="en-US" strike="noStrike" noProof="1"/>
              <a:t>内容编辑处</a:t>
            </a:r>
            <a:endParaRPr lang="zh-CN" altLang="en-US" strike="noStrike" noProof="1"/>
          </a:p>
          <a:p>
            <a:pPr lvl="0" fontAlgn="auto"/>
            <a:endParaRPr lang="zh-CN" altLang="en-US" strike="noStrike" noProof="1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764112" y="1304401"/>
            <a:ext cx="30731550" cy="1868187"/>
          </a:xfrm>
          <a:prstGeom prst="rect">
            <a:avLst/>
          </a:prstGeom>
        </p:spPr>
        <p:txBody>
          <a:bodyPr/>
          <a:lstStyle>
            <a:lvl1pPr>
              <a:defRPr sz="7680" b="1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</a:lstStyle>
          <a:p>
            <a:pPr fontAlgn="auto"/>
            <a:r>
              <a:rPr lang="zh-CN" altLang="en-US" strike="noStrike" noProof="1"/>
              <a:t>标题</a:t>
            </a:r>
            <a:r>
              <a:rPr lang="en-US" altLang="zh-CN" strike="noStrike" noProof="1"/>
              <a:t>|</a:t>
            </a:r>
            <a:r>
              <a:rPr lang="zh-CN" altLang="en-US" strike="noStrike" noProof="1"/>
              <a:t>副标题</a:t>
            </a:r>
            <a:endParaRPr lang="en-US" strike="noStrike" noProof="1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_2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8"/>
          <p:cNvSpPr>
            <a:spLocks noGrp="1"/>
          </p:cNvSpPr>
          <p:nvPr>
            <p:ph type="pic" sz="quarter" idx="13"/>
          </p:nvPr>
        </p:nvSpPr>
        <p:spPr>
          <a:xfrm>
            <a:off x="2055938" y="3613440"/>
            <a:ext cx="14675279" cy="12489380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22" name="图片占位符 8"/>
          <p:cNvSpPr>
            <a:spLocks noGrp="1"/>
          </p:cNvSpPr>
          <p:nvPr>
            <p:ph type="pic" sz="quarter" idx="14"/>
          </p:nvPr>
        </p:nvSpPr>
        <p:spPr>
          <a:xfrm>
            <a:off x="17925723" y="3613436"/>
            <a:ext cx="14846506" cy="12489380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pic>
        <p:nvPicPr>
          <p:cNvPr id="7" name="Picture 3" descr="C:\Users\yyyy\Desktop\辅助1.jpg"/>
          <p:cNvPicPr/>
          <p:nvPr userDrawn="1"/>
        </p:nvPicPr>
        <p:blipFill>
          <a:blip r:embed="rId2"/>
          <a:srcRect t="67499"/>
          <a:stretch>
            <a:fillRect/>
          </a:stretch>
        </p:blipFill>
        <p:spPr>
          <a:xfrm flipV="1">
            <a:off x="2040683" y="2710990"/>
            <a:ext cx="30731546" cy="13827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1764112" y="1304401"/>
            <a:ext cx="30731550" cy="1868187"/>
          </a:xfrm>
          <a:prstGeom prst="rect">
            <a:avLst/>
          </a:prstGeom>
        </p:spPr>
        <p:txBody>
          <a:bodyPr/>
          <a:lstStyle>
            <a:lvl1pPr>
              <a:defRPr sz="7680" b="1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</a:lstStyle>
          <a:p>
            <a:pPr fontAlgn="auto"/>
            <a:r>
              <a:rPr lang="zh-CN" altLang="en-US" strike="noStrike" noProof="1"/>
              <a:t>标题</a:t>
            </a:r>
            <a:r>
              <a:rPr lang="en-US" altLang="zh-CN" strike="noStrike" noProof="1"/>
              <a:t>|</a:t>
            </a:r>
            <a:r>
              <a:rPr lang="zh-CN" altLang="en-US" strike="noStrike" noProof="1"/>
              <a:t>副标题</a:t>
            </a:r>
            <a:endParaRPr lang="en-US" strike="noStrike" noProof="1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_3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8"/>
          <p:cNvSpPr>
            <a:spLocks noGrp="1"/>
          </p:cNvSpPr>
          <p:nvPr>
            <p:ph type="pic" sz="quarter" idx="13"/>
          </p:nvPr>
        </p:nvSpPr>
        <p:spPr>
          <a:xfrm>
            <a:off x="2049500" y="5112834"/>
            <a:ext cx="10133353" cy="8847808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18" name="图片占位符 8"/>
          <p:cNvSpPr>
            <a:spLocks noGrp="1"/>
          </p:cNvSpPr>
          <p:nvPr>
            <p:ph type="pic" sz="quarter" idx="20"/>
          </p:nvPr>
        </p:nvSpPr>
        <p:spPr>
          <a:xfrm>
            <a:off x="12344189" y="5112834"/>
            <a:ext cx="10133353" cy="8847808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19" name="图片占位符 8"/>
          <p:cNvSpPr>
            <a:spLocks noGrp="1"/>
          </p:cNvSpPr>
          <p:nvPr>
            <p:ph type="pic" sz="quarter" idx="21"/>
          </p:nvPr>
        </p:nvSpPr>
        <p:spPr>
          <a:xfrm>
            <a:off x="22638878" y="5112834"/>
            <a:ext cx="10133353" cy="8847808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pic>
        <p:nvPicPr>
          <p:cNvPr id="8" name="Picture 3" descr="C:\Users\yyyy\Desktop\辅助1.jpg"/>
          <p:cNvPicPr/>
          <p:nvPr userDrawn="1"/>
        </p:nvPicPr>
        <p:blipFill>
          <a:blip r:embed="rId2"/>
          <a:srcRect t="67499"/>
          <a:stretch>
            <a:fillRect/>
          </a:stretch>
        </p:blipFill>
        <p:spPr>
          <a:xfrm flipV="1">
            <a:off x="2040683" y="2710990"/>
            <a:ext cx="30731546" cy="13827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1764112" y="1304401"/>
            <a:ext cx="30731550" cy="1868187"/>
          </a:xfrm>
          <a:prstGeom prst="rect">
            <a:avLst/>
          </a:prstGeom>
        </p:spPr>
        <p:txBody>
          <a:bodyPr/>
          <a:lstStyle>
            <a:lvl1pPr>
              <a:defRPr sz="7680" b="1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</a:lstStyle>
          <a:p>
            <a:pPr fontAlgn="auto"/>
            <a:r>
              <a:rPr lang="zh-CN" altLang="en-US" strike="noStrike" noProof="1"/>
              <a:t>标题</a:t>
            </a:r>
            <a:r>
              <a:rPr lang="en-US" altLang="zh-CN" strike="noStrike" noProof="1"/>
              <a:t>|</a:t>
            </a:r>
            <a:r>
              <a:rPr lang="zh-CN" altLang="en-US" strike="noStrike" noProof="1"/>
              <a:t>副标题</a:t>
            </a:r>
            <a:endParaRPr lang="en-US" strike="noStrike" noProof="1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_4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8"/>
          <p:cNvSpPr>
            <a:spLocks noGrp="1"/>
          </p:cNvSpPr>
          <p:nvPr>
            <p:ph type="pic" sz="quarter" idx="13"/>
          </p:nvPr>
        </p:nvSpPr>
        <p:spPr>
          <a:xfrm>
            <a:off x="2065285" y="5136380"/>
            <a:ext cx="7307477" cy="12002700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15" name="图片占位符 8"/>
          <p:cNvSpPr>
            <a:spLocks noGrp="1"/>
          </p:cNvSpPr>
          <p:nvPr>
            <p:ph type="pic" sz="quarter" idx="14"/>
          </p:nvPr>
        </p:nvSpPr>
        <p:spPr>
          <a:xfrm>
            <a:off x="9865109" y="5136380"/>
            <a:ext cx="7307477" cy="12002700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18" name="图片占位符 8"/>
          <p:cNvSpPr>
            <a:spLocks noGrp="1"/>
          </p:cNvSpPr>
          <p:nvPr>
            <p:ph type="pic" sz="quarter" idx="15"/>
          </p:nvPr>
        </p:nvSpPr>
        <p:spPr>
          <a:xfrm>
            <a:off x="17664933" y="5136380"/>
            <a:ext cx="7307477" cy="12002700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19" name="图片占位符 8"/>
          <p:cNvSpPr>
            <a:spLocks noGrp="1"/>
          </p:cNvSpPr>
          <p:nvPr>
            <p:ph type="pic" sz="quarter" idx="16"/>
          </p:nvPr>
        </p:nvSpPr>
        <p:spPr>
          <a:xfrm>
            <a:off x="25464753" y="5136380"/>
            <a:ext cx="7307477" cy="12002700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pic>
        <p:nvPicPr>
          <p:cNvPr id="10" name="Picture 3" descr="C:\Users\yyyy\Desktop\辅助1.jpg"/>
          <p:cNvPicPr/>
          <p:nvPr userDrawn="1"/>
        </p:nvPicPr>
        <p:blipFill>
          <a:blip r:embed="rId2"/>
          <a:srcRect t="67499"/>
          <a:stretch>
            <a:fillRect/>
          </a:stretch>
        </p:blipFill>
        <p:spPr>
          <a:xfrm flipV="1">
            <a:off x="2040683" y="2710990"/>
            <a:ext cx="30731546" cy="13827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1764112" y="1304401"/>
            <a:ext cx="30731550" cy="1868187"/>
          </a:xfrm>
          <a:prstGeom prst="rect">
            <a:avLst/>
          </a:prstGeom>
        </p:spPr>
        <p:txBody>
          <a:bodyPr/>
          <a:lstStyle>
            <a:lvl1pPr>
              <a:defRPr sz="7680" b="1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</a:lstStyle>
          <a:p>
            <a:pPr fontAlgn="auto"/>
            <a:r>
              <a:rPr lang="zh-CN" altLang="en-US" strike="noStrike" noProof="1"/>
              <a:t>标题</a:t>
            </a:r>
            <a:r>
              <a:rPr lang="en-US" altLang="zh-CN" strike="noStrike" noProof="1"/>
              <a:t>|</a:t>
            </a:r>
            <a:r>
              <a:rPr lang="zh-CN" altLang="en-US" strike="noStrike" noProof="1"/>
              <a:t>副标题</a:t>
            </a:r>
            <a:endParaRPr lang="en-US" strike="noStrike" noProof="1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_多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图片占位符 8"/>
          <p:cNvSpPr>
            <a:spLocks noGrp="1"/>
          </p:cNvSpPr>
          <p:nvPr>
            <p:ph type="pic" sz="quarter" idx="19"/>
          </p:nvPr>
        </p:nvSpPr>
        <p:spPr>
          <a:xfrm>
            <a:off x="20552714" y="3589040"/>
            <a:ext cx="12219512" cy="12807930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14" name="图片占位符 8"/>
          <p:cNvSpPr>
            <a:spLocks noGrp="1"/>
          </p:cNvSpPr>
          <p:nvPr>
            <p:ph type="pic" sz="quarter" idx="13"/>
          </p:nvPr>
        </p:nvSpPr>
        <p:spPr>
          <a:xfrm>
            <a:off x="2065283" y="3601896"/>
            <a:ext cx="6497619" cy="12828671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16" name="图片占位符 8"/>
          <p:cNvSpPr>
            <a:spLocks noGrp="1"/>
          </p:cNvSpPr>
          <p:nvPr>
            <p:ph type="pic" sz="quarter" idx="20"/>
          </p:nvPr>
        </p:nvSpPr>
        <p:spPr>
          <a:xfrm>
            <a:off x="8943281" y="3601890"/>
            <a:ext cx="11229052" cy="7716223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17" name="图片占位符 8"/>
          <p:cNvSpPr>
            <a:spLocks noGrp="1"/>
          </p:cNvSpPr>
          <p:nvPr>
            <p:ph type="pic" sz="quarter" idx="21"/>
          </p:nvPr>
        </p:nvSpPr>
        <p:spPr>
          <a:xfrm>
            <a:off x="8927556" y="11687636"/>
            <a:ext cx="5452813" cy="4761054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20" name="图片占位符 8"/>
          <p:cNvSpPr>
            <a:spLocks noGrp="1"/>
          </p:cNvSpPr>
          <p:nvPr>
            <p:ph type="pic" sz="quarter" idx="22"/>
          </p:nvPr>
        </p:nvSpPr>
        <p:spPr>
          <a:xfrm>
            <a:off x="14719520" y="11687636"/>
            <a:ext cx="5452813" cy="4761054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pic>
        <p:nvPicPr>
          <p:cNvPr id="10" name="Picture 3" descr="C:\Users\yyyy\Desktop\辅助1.jpg"/>
          <p:cNvPicPr/>
          <p:nvPr userDrawn="1"/>
        </p:nvPicPr>
        <p:blipFill>
          <a:blip r:embed="rId2"/>
          <a:srcRect t="67499"/>
          <a:stretch>
            <a:fillRect/>
          </a:stretch>
        </p:blipFill>
        <p:spPr>
          <a:xfrm flipV="1">
            <a:off x="2040683" y="2710990"/>
            <a:ext cx="30731546" cy="13827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1764112" y="1304401"/>
            <a:ext cx="30731550" cy="1868187"/>
          </a:xfrm>
          <a:prstGeom prst="rect">
            <a:avLst/>
          </a:prstGeom>
        </p:spPr>
        <p:txBody>
          <a:bodyPr/>
          <a:lstStyle>
            <a:lvl1pPr>
              <a:defRPr sz="7680" b="1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</a:lstStyle>
          <a:p>
            <a:pPr fontAlgn="auto"/>
            <a:r>
              <a:rPr lang="zh-CN" altLang="en-US" strike="noStrike" noProof="1"/>
              <a:t>标题</a:t>
            </a:r>
            <a:r>
              <a:rPr lang="en-US" altLang="zh-CN" strike="noStrike" noProof="1"/>
              <a:t>|</a:t>
            </a:r>
            <a:r>
              <a:rPr lang="zh-CN" altLang="en-US" strike="noStrike" noProof="1"/>
              <a:t>副标题</a:t>
            </a:r>
            <a:endParaRPr lang="en-US" strike="noStrike" noProof="1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文字_较少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553220" y="6277679"/>
            <a:ext cx="24016086" cy="695866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None/>
              <a:defRPr sz="5375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  <a:lvl2pPr marL="1002665" indent="0" algn="ctr">
              <a:lnSpc>
                <a:spcPct val="150000"/>
              </a:lnSpc>
              <a:spcAft>
                <a:spcPts val="0"/>
              </a:spcAft>
              <a:buNone/>
              <a:defRPr sz="503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2pPr>
            <a:lvl3pPr marL="2007235" indent="0" algn="ctr">
              <a:lnSpc>
                <a:spcPct val="150000"/>
              </a:lnSpc>
              <a:spcAft>
                <a:spcPts val="0"/>
              </a:spcAft>
              <a:buNone/>
              <a:defRPr sz="411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3pPr>
            <a:lvl4pPr marL="3009900" indent="0" algn="ctr">
              <a:lnSpc>
                <a:spcPct val="150000"/>
              </a:lnSpc>
              <a:spcAft>
                <a:spcPts val="0"/>
              </a:spcAft>
              <a:buNone/>
              <a:defRPr sz="365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5pPr>
          </a:lstStyle>
          <a:p>
            <a:pPr lvl="0" fontAlgn="auto"/>
            <a:r>
              <a:rPr lang="zh-CN" altLang="en-US" strike="noStrike" noProof="1"/>
              <a:t>内容编辑处</a:t>
            </a:r>
            <a:endParaRPr lang="zh-CN" altLang="en-US" strike="noStrike" noProof="1"/>
          </a:p>
          <a:p>
            <a:pPr lvl="0" fontAlgn="auto"/>
            <a:endParaRPr lang="zh-CN" altLang="en-US" strike="noStrike" noProof="1"/>
          </a:p>
        </p:txBody>
      </p:sp>
      <p:pic>
        <p:nvPicPr>
          <p:cNvPr id="7" name="Picture 3" descr="C:\Users\yyyy\Desktop\辅助1.jpg"/>
          <p:cNvPicPr/>
          <p:nvPr userDrawn="1"/>
        </p:nvPicPr>
        <p:blipFill>
          <a:blip r:embed="rId2"/>
          <a:srcRect t="67499"/>
          <a:stretch>
            <a:fillRect/>
          </a:stretch>
        </p:blipFill>
        <p:spPr>
          <a:xfrm flipV="1">
            <a:off x="2040683" y="2710990"/>
            <a:ext cx="30731546" cy="13827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1764112" y="1304401"/>
            <a:ext cx="30731550" cy="1868187"/>
          </a:xfrm>
          <a:prstGeom prst="rect">
            <a:avLst/>
          </a:prstGeom>
        </p:spPr>
        <p:txBody>
          <a:bodyPr/>
          <a:lstStyle>
            <a:lvl1pPr>
              <a:defRPr sz="7680" b="1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</a:lstStyle>
          <a:p>
            <a:pPr fontAlgn="auto"/>
            <a:r>
              <a:rPr lang="zh-CN" altLang="en-US" strike="noStrike" noProof="1"/>
              <a:t>标题</a:t>
            </a:r>
            <a:r>
              <a:rPr lang="en-US" altLang="zh-CN" strike="noStrike" noProof="1"/>
              <a:t>|</a:t>
            </a:r>
            <a:r>
              <a:rPr lang="zh-CN" altLang="en-US" strike="noStrike" noProof="1"/>
              <a:t>副标题</a:t>
            </a:r>
            <a:endParaRPr lang="en-US" strike="noStrike" noProof="1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并排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040682" y="3679562"/>
            <a:ext cx="14690536" cy="125349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None/>
              <a:defRPr sz="5375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  <a:lvl2pPr marL="1002665" indent="0">
              <a:lnSpc>
                <a:spcPct val="150000"/>
              </a:lnSpc>
              <a:buNone/>
              <a:defRPr sz="503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2pPr>
            <a:lvl3pPr marL="2007235" indent="0">
              <a:lnSpc>
                <a:spcPct val="150000"/>
              </a:lnSpc>
              <a:buNone/>
              <a:defRPr sz="411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3pPr>
            <a:lvl4pPr marL="3009900" indent="0">
              <a:lnSpc>
                <a:spcPct val="150000"/>
              </a:lnSpc>
              <a:buNone/>
              <a:defRPr sz="365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5pPr>
          </a:lstStyle>
          <a:p>
            <a:pPr lvl="0" fontAlgn="auto"/>
            <a:r>
              <a:rPr lang="zh-CN" altLang="en-US" strike="noStrike" noProof="1"/>
              <a:t>内容编辑处</a:t>
            </a:r>
            <a:endParaRPr lang="zh-CN" altLang="en-US" strike="noStrike" noProof="1"/>
          </a:p>
          <a:p>
            <a:pPr lvl="0" fontAlgn="auto"/>
            <a:endParaRPr lang="zh-CN" altLang="en-US" strike="noStrike" noProof="1"/>
          </a:p>
        </p:txBody>
      </p:sp>
      <p:sp>
        <p:nvSpPr>
          <p:cNvPr id="10" name="图片占位符 8"/>
          <p:cNvSpPr>
            <a:spLocks noGrp="1"/>
          </p:cNvSpPr>
          <p:nvPr>
            <p:ph type="pic" sz="quarter" idx="14"/>
          </p:nvPr>
        </p:nvSpPr>
        <p:spPr>
          <a:xfrm>
            <a:off x="17560927" y="3685449"/>
            <a:ext cx="15211306" cy="12544291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pic>
        <p:nvPicPr>
          <p:cNvPr id="7" name="Picture 3" descr="C:\Users\yyyy\Desktop\辅助1.jpg"/>
          <p:cNvPicPr/>
          <p:nvPr userDrawn="1"/>
        </p:nvPicPr>
        <p:blipFill>
          <a:blip r:embed="rId2"/>
          <a:srcRect t="67499"/>
          <a:stretch>
            <a:fillRect/>
          </a:stretch>
        </p:blipFill>
        <p:spPr>
          <a:xfrm flipV="1">
            <a:off x="2040683" y="2710990"/>
            <a:ext cx="30731546" cy="13827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1764112" y="1304401"/>
            <a:ext cx="30731550" cy="1868187"/>
          </a:xfrm>
          <a:prstGeom prst="rect">
            <a:avLst/>
          </a:prstGeom>
        </p:spPr>
        <p:txBody>
          <a:bodyPr/>
          <a:lstStyle>
            <a:lvl1pPr>
              <a:defRPr sz="7680" b="1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</a:lstStyle>
          <a:p>
            <a:pPr fontAlgn="auto"/>
            <a:r>
              <a:rPr lang="zh-CN" altLang="en-US" strike="noStrike" noProof="1"/>
              <a:t>标题</a:t>
            </a:r>
            <a:r>
              <a:rPr lang="en-US" altLang="zh-CN" strike="noStrike" noProof="1"/>
              <a:t>|</a:t>
            </a:r>
            <a:r>
              <a:rPr lang="zh-CN" altLang="en-US" strike="noStrike" noProof="1"/>
              <a:t>副标题</a:t>
            </a:r>
            <a:endParaRPr lang="en-US" strike="noStrike" noProof="1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表格占位符 8"/>
          <p:cNvSpPr>
            <a:spLocks noGrp="1"/>
          </p:cNvSpPr>
          <p:nvPr>
            <p:ph type="tbl" sz="quarter" idx="15" hasCustomPrompt="1"/>
          </p:nvPr>
        </p:nvSpPr>
        <p:spPr>
          <a:xfrm>
            <a:off x="2040933" y="3679747"/>
            <a:ext cx="30293468" cy="1255047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None/>
              <a:defRPr sz="5375"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</a:lstStyle>
          <a:p>
            <a:pPr fontAlgn="auto"/>
            <a:r>
              <a:rPr lang="zh-CN" altLang="en-US" strike="noStrike" noProof="1"/>
              <a:t>内容编辑处</a:t>
            </a:r>
            <a:endParaRPr lang="zh-CN" altLang="en-US" strike="noStrike" noProof="1"/>
          </a:p>
          <a:p>
            <a:pPr fontAlgn="auto"/>
            <a:endParaRPr lang="zh-CN" altLang="en-US" strike="noStrike" noProof="1"/>
          </a:p>
        </p:txBody>
      </p:sp>
      <p:pic>
        <p:nvPicPr>
          <p:cNvPr id="7" name="Picture 3" descr="C:\Users\yyyy\Desktop\辅助1.jpg"/>
          <p:cNvPicPr/>
          <p:nvPr userDrawn="1"/>
        </p:nvPicPr>
        <p:blipFill>
          <a:blip r:embed="rId2"/>
          <a:srcRect t="67499"/>
          <a:stretch>
            <a:fillRect/>
          </a:stretch>
        </p:blipFill>
        <p:spPr>
          <a:xfrm flipV="1">
            <a:off x="2040683" y="2710990"/>
            <a:ext cx="30731546" cy="13827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1764112" y="1304401"/>
            <a:ext cx="30731550" cy="1868187"/>
          </a:xfrm>
          <a:prstGeom prst="rect">
            <a:avLst/>
          </a:prstGeom>
        </p:spPr>
        <p:txBody>
          <a:bodyPr/>
          <a:lstStyle>
            <a:lvl1pPr>
              <a:defRPr sz="7680" b="1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</a:lstStyle>
          <a:p>
            <a:pPr fontAlgn="auto"/>
            <a:r>
              <a:rPr lang="zh-CN" altLang="en-US" strike="noStrike" noProof="1"/>
              <a:t>标题</a:t>
            </a:r>
            <a:r>
              <a:rPr lang="en-US" altLang="zh-CN" strike="noStrike" noProof="1"/>
              <a:t>|</a:t>
            </a:r>
            <a:r>
              <a:rPr lang="zh-CN" altLang="en-US" strike="noStrike" noProof="1"/>
              <a:t>副标题</a:t>
            </a:r>
            <a:endParaRPr lang="en-US" strike="noStrike" noProof="1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Picture 3" descr="C:\Users\yyyy\Desktop\辅助图形2.png"/>
          <p:cNvPicPr>
            <a:picLocks noChangeAspect="1"/>
          </p:cNvPicPr>
          <p:nvPr userDrawn="1"/>
        </p:nvPicPr>
        <p:blipFill>
          <a:blip r:embed="rId2"/>
          <a:srcRect r="54395" b="48161"/>
          <a:stretch>
            <a:fillRect/>
          </a:stretch>
        </p:blipFill>
        <p:spPr>
          <a:xfrm>
            <a:off x="19975312" y="8163707"/>
            <a:ext cx="15146540" cy="115927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8" name="矩形 22"/>
          <p:cNvSpPr/>
          <p:nvPr userDrawn="1"/>
        </p:nvSpPr>
        <p:spPr>
          <a:xfrm>
            <a:off x="2587861" y="16269326"/>
            <a:ext cx="184731" cy="58907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fontAlgn="base">
              <a:lnSpc>
                <a:spcPct val="150000"/>
              </a:lnSpc>
            </a:pPr>
            <a:endParaRPr lang="en-US" altLang="zh-CN" sz="2440" b="1" strike="noStrike" noProof="1">
              <a:solidFill>
                <a:srgbClr val="59595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内容占位符 13"/>
          <p:cNvSpPr>
            <a:spLocks noGrp="1"/>
          </p:cNvSpPr>
          <p:nvPr>
            <p:ph sz="quarter" idx="13" hasCustomPrompt="1"/>
          </p:nvPr>
        </p:nvSpPr>
        <p:spPr>
          <a:xfrm>
            <a:off x="2589111" y="3964491"/>
            <a:ext cx="18043136" cy="32399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9205" b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 lvl="0" fontAlgn="auto"/>
            <a:r>
              <a:rPr lang="en-US" altLang="zh-CN" strike="noStrike" noProof="1"/>
              <a:t>THANKS</a:t>
            </a:r>
            <a:endParaRPr lang="zh-CN" altLang="en-US" strike="noStrike" noProof="1"/>
          </a:p>
        </p:txBody>
      </p:sp>
      <p:sp>
        <p:nvSpPr>
          <p:cNvPr id="22" name="内容占位符 13"/>
          <p:cNvSpPr>
            <a:spLocks noGrp="1"/>
          </p:cNvSpPr>
          <p:nvPr>
            <p:ph sz="quarter" idx="16" hasCustomPrompt="1"/>
          </p:nvPr>
        </p:nvSpPr>
        <p:spPr>
          <a:xfrm>
            <a:off x="2589111" y="10549198"/>
            <a:ext cx="18043136" cy="42378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None/>
              <a:defRPr sz="4610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</a:lstStyle>
          <a:p>
            <a:pPr lvl="0" fontAlgn="auto"/>
            <a:r>
              <a:rPr lang="zh-CN" altLang="en-US" strike="noStrike" noProof="1"/>
              <a:t>代用名</a:t>
            </a:r>
            <a:endParaRPr lang="en-US" altLang="zh-CN" strike="noStrike" noProof="1"/>
          </a:p>
          <a:p>
            <a:pPr lvl="0" fontAlgn="auto"/>
            <a:r>
              <a:rPr lang="zh-CN" altLang="en-US" strike="noStrike" noProof="1"/>
              <a:t>部门</a:t>
            </a:r>
            <a:endParaRPr lang="en-US" altLang="zh-CN" strike="noStrike" noProof="1"/>
          </a:p>
          <a:p>
            <a:pPr lvl="0" fontAlgn="auto"/>
            <a:r>
              <a:rPr lang="en-US" altLang="zh-CN" strike="noStrike" noProof="1"/>
              <a:t>2018.01.01</a:t>
            </a:r>
            <a:endParaRPr lang="zh-CN" altLang="en-US" strike="noStrike" noProof="1"/>
          </a:p>
        </p:txBody>
      </p:sp>
      <p:sp>
        <p:nvSpPr>
          <p:cNvPr id="26" name="内容占位符 13"/>
          <p:cNvSpPr>
            <a:spLocks noGrp="1"/>
          </p:cNvSpPr>
          <p:nvPr>
            <p:ph sz="quarter" idx="17" hasCustomPrompt="1"/>
          </p:nvPr>
        </p:nvSpPr>
        <p:spPr>
          <a:xfrm>
            <a:off x="2589111" y="15854512"/>
            <a:ext cx="18043136" cy="11570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None/>
              <a:defRPr sz="4610" b="1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</a:lstStyle>
          <a:p>
            <a:pPr lvl="0" fontAlgn="auto"/>
            <a:r>
              <a:rPr lang="zh-CN" altLang="en-US" strike="noStrike" noProof="1"/>
              <a:t>广州视源电子科技股份有限公司</a:t>
            </a:r>
            <a:endParaRPr lang="en-US" altLang="zh-CN" strike="noStrike" noProof="1"/>
          </a:p>
          <a:p>
            <a:pPr lvl="0" fontAlgn="auto"/>
            <a:endParaRPr lang="zh-CN" altLang="en-US" strike="noStrike" noProof="1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8"/>
          </p:nvPr>
        </p:nvSpPr>
        <p:spPr>
          <a:xfrm>
            <a:off x="26057294" y="18216162"/>
            <a:ext cx="7901617" cy="1052409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/>
            <a:fld id="{9197ECB7-B80F-4ED2-ABCD-9D741132D1E1}" type="slidenum">
              <a:rPr lang="zh-CN" altLang="en-US" sz="3860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90231" y="3233288"/>
            <a:ext cx="26341388" cy="6878167"/>
          </a:xfrm>
          <a:prstGeom prst="rect">
            <a:avLst/>
          </a:prstGeom>
        </p:spPr>
        <p:txBody>
          <a:bodyPr anchor="b"/>
          <a:lstStyle>
            <a:lvl1pPr algn="ctr">
              <a:defRPr sz="1728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90231" y="10376703"/>
            <a:ext cx="26341388" cy="47699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915"/>
            </a:lvl1pPr>
            <a:lvl2pPr marL="1316990" indent="0" algn="ctr">
              <a:buNone/>
              <a:defRPr sz="5760"/>
            </a:lvl2pPr>
            <a:lvl3pPr marL="2633980" indent="0" algn="ctr">
              <a:buNone/>
              <a:defRPr sz="5185"/>
            </a:lvl3pPr>
            <a:lvl4pPr marL="3950970" indent="0" algn="ctr">
              <a:buNone/>
              <a:defRPr sz="4610"/>
            </a:lvl4pPr>
            <a:lvl5pPr marL="5268595" indent="0" algn="ctr">
              <a:buNone/>
              <a:defRPr sz="4610"/>
            </a:lvl5pPr>
            <a:lvl6pPr marL="6585585" indent="0" algn="ctr">
              <a:buNone/>
              <a:defRPr sz="4610"/>
            </a:lvl6pPr>
            <a:lvl7pPr marL="7902575" indent="0" algn="ctr">
              <a:buNone/>
              <a:defRPr sz="4610"/>
            </a:lvl7pPr>
            <a:lvl8pPr marL="9219565" indent="0" algn="ctr">
              <a:buNone/>
              <a:defRPr sz="4610"/>
            </a:lvl8pPr>
            <a:lvl9pPr marL="10536555" indent="0" algn="ctr">
              <a:buNone/>
              <a:defRPr sz="461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414627" y="18311293"/>
            <a:ext cx="7902416" cy="1051848"/>
          </a:xfrm>
          <a:prstGeom prst="rect">
            <a:avLst/>
          </a:prstGeom>
        </p:spPr>
        <p:txBody>
          <a:bodyPr/>
          <a:lstStyle/>
          <a:p>
            <a:fld id="{26843F14-D882-43D2-910D-7D4F87C69D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634113" y="18311293"/>
            <a:ext cx="11853624" cy="1051848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4804807" y="18311293"/>
            <a:ext cx="7902416" cy="1051848"/>
          </a:xfrm>
          <a:prstGeom prst="rect">
            <a:avLst/>
          </a:prstGeom>
        </p:spPr>
        <p:txBody>
          <a:bodyPr/>
          <a:lstStyle/>
          <a:p>
            <a:fld id="{8EAC17D0-B82B-4518-9083-C784B5308A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7531" y="2543014"/>
            <a:ext cx="31803250" cy="128239"/>
          </a:xfrm>
          <a:prstGeom prst="rect">
            <a:avLst/>
          </a:prstGeom>
        </p:spPr>
      </p:pic>
      <p:sp>
        <p:nvSpPr>
          <p:cNvPr id="10" name="文本占位符 17"/>
          <p:cNvSpPr>
            <a:spLocks noGrp="1"/>
          </p:cNvSpPr>
          <p:nvPr>
            <p:ph type="body" sz="quarter" idx="12" hasCustomPrompt="1"/>
          </p:nvPr>
        </p:nvSpPr>
        <p:spPr>
          <a:xfrm>
            <a:off x="1647531" y="574247"/>
            <a:ext cx="20176458" cy="2024343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2290" b="1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标题，</a:t>
            </a:r>
            <a:r>
              <a:rPr lang="en-US" altLang="zh-CN" dirty="0"/>
              <a:t>32</a:t>
            </a:r>
            <a:r>
              <a:rPr lang="zh-CN" altLang="en-US" dirty="0"/>
              <a:t>号，微软雅黑粗体</a:t>
            </a:r>
            <a:endParaRPr lang="zh-CN" altLang="en-US" dirty="0"/>
          </a:p>
        </p:txBody>
      </p:sp>
      <p:sp>
        <p:nvSpPr>
          <p:cNvPr id="11" name="内容占位符 15"/>
          <p:cNvSpPr>
            <a:spLocks noGrp="1"/>
          </p:cNvSpPr>
          <p:nvPr>
            <p:ph sz="quarter" idx="10" hasCustomPrompt="1"/>
          </p:nvPr>
        </p:nvSpPr>
        <p:spPr>
          <a:xfrm>
            <a:off x="1647531" y="3878057"/>
            <a:ext cx="31740688" cy="14195138"/>
          </a:xfrm>
        </p:spPr>
        <p:txBody>
          <a:bodyPr/>
          <a:lstStyle>
            <a:lvl1pPr>
              <a:lnSpc>
                <a:spcPct val="125000"/>
              </a:lnSpc>
              <a:defRPr sz="10755">
                <a:solidFill>
                  <a:schemeClr val="tx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>
              <a:lnSpc>
                <a:spcPct val="125000"/>
              </a:lnSpc>
              <a:defRPr sz="9220">
                <a:solidFill>
                  <a:schemeClr val="tx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>
              <a:lnSpc>
                <a:spcPct val="125000"/>
              </a:lnSpc>
              <a:defRPr sz="7680">
                <a:solidFill>
                  <a:schemeClr val="tx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3950970" indent="0">
              <a:lnSpc>
                <a:spcPct val="125000"/>
              </a:lnSpc>
              <a:buNone/>
              <a:defRPr sz="6915"/>
            </a:lvl4pPr>
            <a:lvl5pPr marL="5268595" indent="0">
              <a:lnSpc>
                <a:spcPct val="125000"/>
              </a:lnSpc>
              <a:buNone/>
              <a:defRPr sz="6145"/>
            </a:lvl5pPr>
          </a:lstStyle>
          <a:p>
            <a:pPr lvl="0"/>
            <a:r>
              <a:rPr lang="zh-CN" altLang="en-US" dirty="0"/>
              <a:t>华文中宋，</a:t>
            </a:r>
            <a:r>
              <a:rPr lang="en-US" altLang="zh-CN" dirty="0"/>
              <a:t>28</a:t>
            </a:r>
            <a:r>
              <a:rPr lang="zh-CN" altLang="en-US" dirty="0"/>
              <a:t>号，行距</a:t>
            </a:r>
            <a:r>
              <a:rPr lang="en-US" altLang="zh-CN" dirty="0"/>
              <a:t>1.25</a:t>
            </a:r>
            <a:endParaRPr lang="en-US" altLang="zh-CN" dirty="0"/>
          </a:p>
          <a:p>
            <a:pPr lvl="0"/>
            <a:r>
              <a:rPr lang="zh-CN" altLang="en-US" dirty="0"/>
              <a:t>正文第一级，</a:t>
            </a:r>
            <a:r>
              <a:rPr lang="en-US" altLang="zh-CN" dirty="0"/>
              <a:t>28</a:t>
            </a:r>
            <a:r>
              <a:rPr lang="zh-CN" altLang="en-US" dirty="0"/>
              <a:t>号</a:t>
            </a:r>
            <a:endParaRPr lang="en-US" altLang="zh-CN" dirty="0"/>
          </a:p>
          <a:p>
            <a:pPr lvl="1"/>
            <a:r>
              <a:rPr lang="zh-CN" altLang="en-US" dirty="0"/>
              <a:t>正文第二级，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  <a:p>
            <a:pPr lvl="2"/>
            <a:r>
              <a:rPr lang="zh-CN" altLang="en-US" dirty="0"/>
              <a:t>正文第三级，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封面及封底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>
            <a:spLocks noGrp="1"/>
          </p:cNvSpPr>
          <p:nvPr>
            <p:ph type="title" hasCustomPrompt="1"/>
          </p:nvPr>
        </p:nvSpPr>
        <p:spPr>
          <a:xfrm>
            <a:off x="4904194" y="4815337"/>
            <a:ext cx="26337853" cy="4011910"/>
          </a:xfrm>
          <a:prstGeom prst="rect">
            <a:avLst/>
          </a:prstGeom>
        </p:spPr>
        <p:txBody>
          <a:bodyPr anchor="b"/>
          <a:lstStyle>
            <a:lvl1pPr>
              <a:defRPr sz="8780" b="1" spc="0"/>
            </a:lvl1pPr>
          </a:lstStyle>
          <a:p>
            <a:r>
              <a:t>标题文本</a:t>
            </a:r>
          </a:p>
        </p:txBody>
      </p:sp>
      <p:sp>
        <p:nvSpPr>
          <p:cNvPr id="20" name="Shape 20"/>
          <p:cNvSpPr>
            <a:spLocks noGrp="1"/>
          </p:cNvSpPr>
          <p:nvPr>
            <p:ph type="body" sz="half" idx="1" hasCustomPrompt="1"/>
          </p:nvPr>
        </p:nvSpPr>
        <p:spPr>
          <a:xfrm>
            <a:off x="4904194" y="9606680"/>
            <a:ext cx="26337853" cy="667122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20000"/>
              </a:lnSpc>
            </a:lvl1pPr>
            <a:lvl2pPr marL="0" indent="0">
              <a:lnSpc>
                <a:spcPct val="120000"/>
              </a:lnSpc>
              <a:buSzTx/>
              <a:buNone/>
            </a:lvl2pPr>
            <a:lvl3pPr marL="0" indent="0">
              <a:lnSpc>
                <a:spcPct val="120000"/>
              </a:lnSpc>
              <a:buSzTx/>
              <a:buNone/>
            </a:lvl3pPr>
            <a:lvl4pPr marL="0" indent="0">
              <a:lnSpc>
                <a:spcPct val="120000"/>
              </a:lnSpc>
              <a:buSzTx/>
              <a:buNone/>
            </a:lvl4pPr>
            <a:lvl5pPr marL="0" indent="0">
              <a:lnSpc>
                <a:spcPct val="120000"/>
              </a:lnSpc>
              <a:buSzTx/>
              <a:buNone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1" name="Shape 2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800533" y="506708"/>
            <a:ext cx="7470711" cy="2725613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强调或过渡页面-白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pt16比9过度页.jp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35121850" cy="1975612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9" name="Shape 29"/>
          <p:cNvSpPr>
            <a:spLocks noGrp="1"/>
          </p:cNvSpPr>
          <p:nvPr>
            <p:ph type="title" hasCustomPrompt="1"/>
          </p:nvPr>
        </p:nvSpPr>
        <p:spPr>
          <a:xfrm>
            <a:off x="2416659" y="6156555"/>
            <a:ext cx="30288536" cy="6261336"/>
          </a:xfrm>
          <a:prstGeom prst="rect">
            <a:avLst/>
          </a:prstGeom>
        </p:spPr>
        <p:txBody>
          <a:bodyPr/>
          <a:lstStyle>
            <a:lvl1pPr algn="ctr">
              <a:defRPr sz="8780" b="1" spc="400">
                <a:solidFill>
                  <a:srgbClr val="FFFFFF"/>
                </a:solidFill>
              </a:defRPr>
            </a:lvl1pPr>
          </a:lstStyle>
          <a:p>
            <a:r>
              <a:t>标题文本</a:t>
            </a:r>
          </a:p>
        </p:txBody>
      </p:sp>
      <p:sp>
        <p:nvSpPr>
          <p:cNvPr id="30" name="Shape 3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38" name="Shape 38"/>
          <p:cNvSpPr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9" name="Shape 3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173274" y="413697"/>
            <a:ext cx="3923769" cy="153658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961182" y="413697"/>
            <a:ext cx="3116575" cy="1986824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2414627" y="18310996"/>
            <a:ext cx="7902416" cy="1051830"/>
          </a:xfrm>
        </p:spPr>
        <p:txBody>
          <a:bodyPr/>
          <a:lstStyle/>
          <a:p>
            <a:fld id="{0C8547A2-8BA3-4A2D-A200-0E92E17F1EB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11634113" y="18310996"/>
            <a:ext cx="11853624" cy="1051830"/>
          </a:xfrm>
        </p:spPr>
        <p:txBody>
          <a:bodyPr/>
          <a:lstStyle>
            <a:lvl1pPr>
              <a:defRPr sz="2635"/>
            </a:lvl1pPr>
          </a:lstStyle>
          <a:p>
            <a:r>
              <a:rPr lang="en-US" altLang="zh-CN" dirty="0">
                <a:solidFill>
                  <a:srgbClr val="0061AE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The CIO of the "IoD" world </a:t>
            </a:r>
            <a:endParaRPr lang="zh-CN" altLang="en-US" dirty="0">
              <a:solidFill>
                <a:srgbClr val="0061AE"/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29032-CAFC-4CBD-A32B-984730B41822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164132" y="2006828"/>
            <a:ext cx="33043087" cy="41955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2274503" y="17775138"/>
            <a:ext cx="30785762" cy="78541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2414627" y="18310996"/>
            <a:ext cx="7902416" cy="1051830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11634113" y="18310996"/>
            <a:ext cx="11853624" cy="105183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C:\Users\yyyy\Desktop\00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09970" y="1068409"/>
            <a:ext cx="2488950" cy="1069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7532" y="2543006"/>
            <a:ext cx="31803250" cy="128239"/>
          </a:xfrm>
          <a:prstGeom prst="rect">
            <a:avLst/>
          </a:prstGeom>
        </p:spPr>
      </p:pic>
      <p:sp>
        <p:nvSpPr>
          <p:cNvPr id="16" name="内容占位符 15"/>
          <p:cNvSpPr>
            <a:spLocks noGrp="1"/>
          </p:cNvSpPr>
          <p:nvPr>
            <p:ph sz="quarter" idx="10"/>
          </p:nvPr>
        </p:nvSpPr>
        <p:spPr>
          <a:xfrm>
            <a:off x="1647532" y="3878053"/>
            <a:ext cx="31754816" cy="14195138"/>
          </a:xfrm>
        </p:spPr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6" name="文本占位符 17"/>
          <p:cNvSpPr>
            <a:spLocks noGrp="1"/>
          </p:cNvSpPr>
          <p:nvPr>
            <p:ph type="body" sz="quarter" idx="12" hasCustomPrompt="1"/>
          </p:nvPr>
        </p:nvSpPr>
        <p:spPr>
          <a:xfrm>
            <a:off x="1564605" y="404191"/>
            <a:ext cx="13791448" cy="2137671"/>
          </a:xfrm>
        </p:spPr>
        <p:txBody>
          <a:bodyPr vert="horz" lIns="91440" tIns="45720" rIns="91440" bIns="45720" rtlCol="0" anchor="ctr">
            <a:noAutofit/>
          </a:bodyPr>
          <a:lstStyle>
            <a:lvl1pPr marL="501650" indent="-501650">
              <a:spcBef>
                <a:spcPct val="1000"/>
              </a:spcBef>
              <a:buNone/>
              <a:defRPr lang="zh-CN" altLang="en-US" sz="9360" b="1" dirty="0"/>
            </a:lvl1pPr>
          </a:lstStyle>
          <a:p>
            <a:pPr marL="0" lvl="0" indent="0"/>
            <a:r>
              <a:rPr lang="zh-CN" altLang="en-US" dirty="0" smtClean="0"/>
              <a:t>标题</a:t>
            </a:r>
            <a:endParaRPr lang="zh-CN" alt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文字_较多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 descr="C:\Users\yyyy\Desktop\辅助1.jpg"/>
          <p:cNvPicPr/>
          <p:nvPr userDrawn="1"/>
        </p:nvPicPr>
        <p:blipFill>
          <a:blip r:embed="rId2"/>
          <a:srcRect t="67499"/>
          <a:stretch>
            <a:fillRect/>
          </a:stretch>
        </p:blipFill>
        <p:spPr>
          <a:xfrm flipV="1">
            <a:off x="2040709" y="2710990"/>
            <a:ext cx="30731918" cy="13827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040705" y="3685450"/>
            <a:ext cx="30731918" cy="1253498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250"/>
              </a:spcBef>
              <a:spcAft>
                <a:spcPts val="0"/>
              </a:spcAft>
              <a:buNone/>
              <a:defRPr sz="3075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  <a:lvl2pPr marL="572770" indent="0">
              <a:lnSpc>
                <a:spcPct val="150000"/>
              </a:lnSpc>
              <a:spcAft>
                <a:spcPts val="0"/>
              </a:spcAft>
              <a:buNone/>
              <a:defRPr sz="3435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2pPr>
            <a:lvl3pPr marL="1146810" indent="0">
              <a:lnSpc>
                <a:spcPct val="150000"/>
              </a:lnSpc>
              <a:spcAft>
                <a:spcPts val="0"/>
              </a:spcAft>
              <a:buNone/>
              <a:defRPr sz="3435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3pPr>
            <a:lvl4pPr marL="1719580" indent="0">
              <a:lnSpc>
                <a:spcPct val="150000"/>
              </a:lnSpc>
              <a:spcAft>
                <a:spcPts val="0"/>
              </a:spcAft>
              <a:buNone/>
              <a:defRPr sz="3435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defRPr>
            </a:lvl5pPr>
          </a:lstStyle>
          <a:p>
            <a:pPr lvl="0" fontAlgn="auto"/>
            <a:r>
              <a:rPr lang="zh-CN" altLang="en-US" strike="noStrike" noProof="1"/>
              <a:t>内容编辑处</a:t>
            </a:r>
            <a:endParaRPr lang="zh-CN" altLang="en-US" strike="noStrike" noProof="1"/>
          </a:p>
          <a:p>
            <a:pPr lvl="0" fontAlgn="auto"/>
            <a:endParaRPr lang="zh-CN" altLang="en-US" strike="noStrike" noProof="1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764132" y="1304402"/>
            <a:ext cx="30731922" cy="1868186"/>
          </a:xfrm>
          <a:prstGeom prst="rect">
            <a:avLst/>
          </a:prstGeom>
        </p:spPr>
        <p:txBody>
          <a:bodyPr/>
          <a:lstStyle>
            <a:lvl1pPr>
              <a:defRPr sz="4390" b="1">
                <a:solidFill>
                  <a:schemeClr val="tx1">
                    <a:lumMod val="65000"/>
                    <a:lumOff val="35000"/>
                  </a:schemeClr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defRPr>
            </a:lvl1pPr>
          </a:lstStyle>
          <a:p>
            <a:pPr fontAlgn="auto"/>
            <a:r>
              <a:rPr lang="zh-CN" altLang="en-US" strike="noStrike" noProof="1"/>
              <a:t>标题</a:t>
            </a:r>
            <a:r>
              <a:rPr lang="en-US" altLang="zh-CN" strike="noStrike" noProof="1"/>
              <a:t>|</a:t>
            </a:r>
            <a:r>
              <a:rPr lang="zh-CN" altLang="en-US" strike="noStrike" noProof="1"/>
              <a:t>副标题</a:t>
            </a:r>
            <a:endParaRPr lang="en-US" strike="noStrike" noProof="1"/>
          </a:p>
        </p:txBody>
      </p:sp>
    </p:spTree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634139" y="6137211"/>
            <a:ext cx="29853573" cy="42347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268278" y="11195135"/>
            <a:ext cx="24585295" cy="504878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756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5121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2685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70243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87807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0536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2292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40487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74384" y="12695140"/>
            <a:ext cx="29853573" cy="3923784"/>
          </a:xfrm>
        </p:spPr>
        <p:txBody>
          <a:bodyPr anchor="t"/>
          <a:lstStyle>
            <a:lvl1pPr algn="l">
              <a:defRPr sz="15365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774384" y="8373488"/>
            <a:ext cx="29853573" cy="4321649"/>
          </a:xfrm>
        </p:spPr>
        <p:txBody>
          <a:bodyPr anchor="b"/>
          <a:lstStyle>
            <a:lvl1pPr marL="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1pPr>
            <a:lvl2pPr marL="1756410" indent="0">
              <a:buNone/>
              <a:defRPr sz="6915">
                <a:solidFill>
                  <a:schemeClr val="tx1">
                    <a:tint val="75000"/>
                  </a:schemeClr>
                </a:solidFill>
              </a:defRPr>
            </a:lvl2pPr>
            <a:lvl3pPr marL="3512185" indent="0">
              <a:buNone/>
              <a:defRPr sz="6145">
                <a:solidFill>
                  <a:schemeClr val="tx1">
                    <a:tint val="75000"/>
                  </a:schemeClr>
                </a:solidFill>
              </a:defRPr>
            </a:lvl3pPr>
            <a:lvl4pPr marL="5268595" indent="0">
              <a:buNone/>
              <a:defRPr sz="5375">
                <a:solidFill>
                  <a:schemeClr val="tx1">
                    <a:tint val="75000"/>
                  </a:schemeClr>
                </a:solidFill>
              </a:defRPr>
            </a:lvl4pPr>
            <a:lvl5pPr marL="7024370" indent="0">
              <a:buNone/>
              <a:defRPr sz="5375">
                <a:solidFill>
                  <a:schemeClr val="tx1">
                    <a:tint val="75000"/>
                  </a:schemeClr>
                </a:solidFill>
              </a:defRPr>
            </a:lvl5pPr>
            <a:lvl6pPr marL="8780780" indent="0">
              <a:buNone/>
              <a:defRPr sz="5375">
                <a:solidFill>
                  <a:schemeClr val="tx1">
                    <a:tint val="75000"/>
                  </a:schemeClr>
                </a:solidFill>
              </a:defRPr>
            </a:lvl6pPr>
            <a:lvl7pPr marL="10536555" indent="0">
              <a:buNone/>
              <a:defRPr sz="5375">
                <a:solidFill>
                  <a:schemeClr val="tx1">
                    <a:tint val="75000"/>
                  </a:schemeClr>
                </a:solidFill>
              </a:defRPr>
            </a:lvl7pPr>
            <a:lvl8pPr marL="12292965" indent="0">
              <a:buNone/>
              <a:defRPr sz="5375">
                <a:solidFill>
                  <a:schemeClr val="tx1">
                    <a:tint val="75000"/>
                  </a:schemeClr>
                </a:solidFill>
              </a:defRPr>
            </a:lvl8pPr>
            <a:lvl9pPr marL="14048740" indent="0">
              <a:buNone/>
              <a:defRPr sz="537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756093" y="4609765"/>
            <a:ext cx="15512150" cy="13038125"/>
          </a:xfrm>
        </p:spPr>
        <p:txBody>
          <a:bodyPr/>
          <a:lstStyle>
            <a:lvl1pPr>
              <a:defRPr sz="10755"/>
            </a:lvl1pPr>
            <a:lvl2pPr>
              <a:defRPr sz="9220"/>
            </a:lvl2pPr>
            <a:lvl3pPr>
              <a:defRPr sz="7680"/>
            </a:lvl3pPr>
            <a:lvl4pPr>
              <a:defRPr sz="6915"/>
            </a:lvl4pPr>
            <a:lvl5pPr>
              <a:defRPr sz="6915"/>
            </a:lvl5pPr>
            <a:lvl6pPr>
              <a:defRPr sz="6915"/>
            </a:lvl6pPr>
            <a:lvl7pPr>
              <a:defRPr sz="6915"/>
            </a:lvl7pPr>
            <a:lvl8pPr>
              <a:defRPr sz="6915"/>
            </a:lvl8pPr>
            <a:lvl9pPr>
              <a:defRPr sz="691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7853607" y="4609765"/>
            <a:ext cx="15512150" cy="13038125"/>
          </a:xfrm>
        </p:spPr>
        <p:txBody>
          <a:bodyPr/>
          <a:lstStyle>
            <a:lvl1pPr>
              <a:defRPr sz="10755"/>
            </a:lvl1pPr>
            <a:lvl2pPr>
              <a:defRPr sz="9220"/>
            </a:lvl2pPr>
            <a:lvl3pPr>
              <a:defRPr sz="7680"/>
            </a:lvl3pPr>
            <a:lvl4pPr>
              <a:defRPr sz="6915"/>
            </a:lvl4pPr>
            <a:lvl5pPr>
              <a:defRPr sz="6915"/>
            </a:lvl5pPr>
            <a:lvl6pPr>
              <a:defRPr sz="6915"/>
            </a:lvl6pPr>
            <a:lvl7pPr>
              <a:defRPr sz="6915"/>
            </a:lvl7pPr>
            <a:lvl8pPr>
              <a:defRPr sz="6915"/>
            </a:lvl8pPr>
            <a:lvl9pPr>
              <a:defRPr sz="691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756093" y="4422264"/>
            <a:ext cx="15518250" cy="1842990"/>
          </a:xfrm>
        </p:spPr>
        <p:txBody>
          <a:bodyPr anchor="b"/>
          <a:lstStyle>
            <a:lvl1pPr marL="0" indent="0">
              <a:buNone/>
              <a:defRPr sz="9220" b="1"/>
            </a:lvl1pPr>
            <a:lvl2pPr marL="1756410" indent="0">
              <a:buNone/>
              <a:defRPr sz="7680" b="1"/>
            </a:lvl2pPr>
            <a:lvl3pPr marL="3512185" indent="0">
              <a:buNone/>
              <a:defRPr sz="6915" b="1"/>
            </a:lvl3pPr>
            <a:lvl4pPr marL="5268595" indent="0">
              <a:buNone/>
              <a:defRPr sz="6145" b="1"/>
            </a:lvl4pPr>
            <a:lvl5pPr marL="7024370" indent="0">
              <a:buNone/>
              <a:defRPr sz="6145" b="1"/>
            </a:lvl5pPr>
            <a:lvl6pPr marL="8780780" indent="0">
              <a:buNone/>
              <a:defRPr sz="6145" b="1"/>
            </a:lvl6pPr>
            <a:lvl7pPr marL="10536555" indent="0">
              <a:buNone/>
              <a:defRPr sz="6145" b="1"/>
            </a:lvl7pPr>
            <a:lvl8pPr marL="12292965" indent="0">
              <a:buNone/>
              <a:defRPr sz="6145" b="1"/>
            </a:lvl8pPr>
            <a:lvl9pPr marL="14048740" indent="0">
              <a:buNone/>
              <a:defRPr sz="614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756093" y="6265250"/>
            <a:ext cx="15518250" cy="11382636"/>
          </a:xfrm>
        </p:spPr>
        <p:txBody>
          <a:bodyPr/>
          <a:lstStyle>
            <a:lvl1pPr>
              <a:defRPr sz="9220"/>
            </a:lvl1pPr>
            <a:lvl2pPr>
              <a:defRPr sz="7680"/>
            </a:lvl2pPr>
            <a:lvl3pPr>
              <a:defRPr sz="6915"/>
            </a:lvl3pPr>
            <a:lvl4pPr>
              <a:defRPr sz="6145"/>
            </a:lvl4pPr>
            <a:lvl5pPr>
              <a:defRPr sz="6145"/>
            </a:lvl5pPr>
            <a:lvl6pPr>
              <a:defRPr sz="6145"/>
            </a:lvl6pPr>
            <a:lvl7pPr>
              <a:defRPr sz="6145"/>
            </a:lvl7pPr>
            <a:lvl8pPr>
              <a:defRPr sz="6145"/>
            </a:lvl8pPr>
            <a:lvl9pPr>
              <a:defRPr sz="614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17841427" y="4422264"/>
            <a:ext cx="15524346" cy="1842990"/>
          </a:xfrm>
        </p:spPr>
        <p:txBody>
          <a:bodyPr anchor="b"/>
          <a:lstStyle>
            <a:lvl1pPr marL="0" indent="0">
              <a:buNone/>
              <a:defRPr sz="9220" b="1"/>
            </a:lvl1pPr>
            <a:lvl2pPr marL="1756410" indent="0">
              <a:buNone/>
              <a:defRPr sz="7680" b="1"/>
            </a:lvl2pPr>
            <a:lvl3pPr marL="3512185" indent="0">
              <a:buNone/>
              <a:defRPr sz="6915" b="1"/>
            </a:lvl3pPr>
            <a:lvl4pPr marL="5268595" indent="0">
              <a:buNone/>
              <a:defRPr sz="6145" b="1"/>
            </a:lvl4pPr>
            <a:lvl5pPr marL="7024370" indent="0">
              <a:buNone/>
              <a:defRPr sz="6145" b="1"/>
            </a:lvl5pPr>
            <a:lvl6pPr marL="8780780" indent="0">
              <a:buNone/>
              <a:defRPr sz="6145" b="1"/>
            </a:lvl6pPr>
            <a:lvl7pPr marL="10536555" indent="0">
              <a:buNone/>
              <a:defRPr sz="6145" b="1"/>
            </a:lvl7pPr>
            <a:lvl8pPr marL="12292965" indent="0">
              <a:buNone/>
              <a:defRPr sz="6145" b="1"/>
            </a:lvl8pPr>
            <a:lvl9pPr marL="14048740" indent="0">
              <a:buNone/>
              <a:defRPr sz="614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17841427" y="6265250"/>
            <a:ext cx="15524346" cy="11382636"/>
          </a:xfrm>
        </p:spPr>
        <p:txBody>
          <a:bodyPr/>
          <a:lstStyle>
            <a:lvl1pPr>
              <a:defRPr sz="9220"/>
            </a:lvl1pPr>
            <a:lvl2pPr>
              <a:defRPr sz="7680"/>
            </a:lvl2pPr>
            <a:lvl3pPr>
              <a:defRPr sz="6915"/>
            </a:lvl3pPr>
            <a:lvl4pPr>
              <a:defRPr sz="6145"/>
            </a:lvl4pPr>
            <a:lvl5pPr>
              <a:defRPr sz="6145"/>
            </a:lvl5pPr>
            <a:lvl6pPr>
              <a:defRPr sz="6145"/>
            </a:lvl6pPr>
            <a:lvl7pPr>
              <a:defRPr sz="6145"/>
            </a:lvl7pPr>
            <a:lvl8pPr>
              <a:defRPr sz="6145"/>
            </a:lvl8pPr>
            <a:lvl9pPr>
              <a:defRPr sz="614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56108" y="786584"/>
            <a:ext cx="11554847" cy="3347567"/>
          </a:xfrm>
        </p:spPr>
        <p:txBody>
          <a:bodyPr anchor="b"/>
          <a:lstStyle>
            <a:lvl1pPr algn="l">
              <a:defRPr sz="768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731668" y="786592"/>
            <a:ext cx="19634090" cy="16861302"/>
          </a:xfrm>
        </p:spPr>
        <p:txBody>
          <a:bodyPr/>
          <a:lstStyle>
            <a:lvl1pPr>
              <a:defRPr sz="12290"/>
            </a:lvl1pPr>
            <a:lvl2pPr>
              <a:defRPr sz="10755"/>
            </a:lvl2pPr>
            <a:lvl3pPr>
              <a:defRPr sz="9220"/>
            </a:lvl3pPr>
            <a:lvl4pPr>
              <a:defRPr sz="7680"/>
            </a:lvl4pPr>
            <a:lvl5pPr>
              <a:defRPr sz="7680"/>
            </a:lvl5pPr>
            <a:lvl6pPr>
              <a:defRPr sz="7680"/>
            </a:lvl6pPr>
            <a:lvl7pPr>
              <a:defRPr sz="7680"/>
            </a:lvl7pPr>
            <a:lvl8pPr>
              <a:defRPr sz="7680"/>
            </a:lvl8pPr>
            <a:lvl9pPr>
              <a:defRPr sz="768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56108" y="4134159"/>
            <a:ext cx="11554847" cy="13513735"/>
          </a:xfrm>
        </p:spPr>
        <p:txBody>
          <a:bodyPr/>
          <a:lstStyle>
            <a:lvl1pPr marL="0" indent="0">
              <a:buNone/>
              <a:defRPr sz="5375"/>
            </a:lvl1pPr>
            <a:lvl2pPr marL="1756410" indent="0">
              <a:buNone/>
              <a:defRPr sz="4610"/>
            </a:lvl2pPr>
            <a:lvl3pPr marL="3512185" indent="0">
              <a:buNone/>
              <a:defRPr sz="3840"/>
            </a:lvl3pPr>
            <a:lvl4pPr marL="5268595" indent="0">
              <a:buNone/>
              <a:defRPr sz="3455"/>
            </a:lvl4pPr>
            <a:lvl5pPr marL="7024370" indent="0">
              <a:buNone/>
              <a:defRPr sz="3455"/>
            </a:lvl5pPr>
            <a:lvl6pPr marL="8780780" indent="0">
              <a:buNone/>
              <a:defRPr sz="3455"/>
            </a:lvl6pPr>
            <a:lvl7pPr marL="10536555" indent="0">
              <a:buNone/>
              <a:defRPr sz="3455"/>
            </a:lvl7pPr>
            <a:lvl8pPr marL="12292965" indent="0">
              <a:buNone/>
              <a:defRPr sz="3455"/>
            </a:lvl8pPr>
            <a:lvl9pPr marL="14048740" indent="0">
              <a:buNone/>
              <a:defRPr sz="345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84128" y="13829284"/>
            <a:ext cx="21073110" cy="1632627"/>
          </a:xfrm>
        </p:spPr>
        <p:txBody>
          <a:bodyPr anchor="b"/>
          <a:lstStyle>
            <a:lvl1pPr algn="l">
              <a:defRPr sz="768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884128" y="1765245"/>
            <a:ext cx="21073110" cy="11853672"/>
          </a:xfrm>
        </p:spPr>
        <p:txBody>
          <a:bodyPr/>
          <a:lstStyle>
            <a:lvl1pPr marL="0" indent="0">
              <a:buNone/>
              <a:defRPr sz="12290"/>
            </a:lvl1pPr>
            <a:lvl2pPr marL="1756410" indent="0">
              <a:buNone/>
              <a:defRPr sz="10755"/>
            </a:lvl2pPr>
            <a:lvl3pPr marL="3512185" indent="0">
              <a:buNone/>
              <a:defRPr sz="9220"/>
            </a:lvl3pPr>
            <a:lvl4pPr marL="5268595" indent="0">
              <a:buNone/>
              <a:defRPr sz="7680"/>
            </a:lvl4pPr>
            <a:lvl5pPr marL="7024370" indent="0">
              <a:buNone/>
              <a:defRPr sz="7680"/>
            </a:lvl5pPr>
            <a:lvl6pPr marL="8780780" indent="0">
              <a:buNone/>
              <a:defRPr sz="7680"/>
            </a:lvl6pPr>
            <a:lvl7pPr marL="10536555" indent="0">
              <a:buNone/>
              <a:defRPr sz="7680"/>
            </a:lvl7pPr>
            <a:lvl8pPr marL="12292965" indent="0">
              <a:buNone/>
              <a:defRPr sz="7680"/>
            </a:lvl8pPr>
            <a:lvl9pPr marL="14048740" indent="0">
              <a:buNone/>
              <a:defRPr sz="768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884128" y="15461915"/>
            <a:ext cx="21073110" cy="2318601"/>
          </a:xfrm>
        </p:spPr>
        <p:txBody>
          <a:bodyPr/>
          <a:lstStyle>
            <a:lvl1pPr marL="0" indent="0">
              <a:buNone/>
              <a:defRPr sz="5375"/>
            </a:lvl1pPr>
            <a:lvl2pPr marL="1756410" indent="0">
              <a:buNone/>
              <a:defRPr sz="4610"/>
            </a:lvl2pPr>
            <a:lvl3pPr marL="3512185" indent="0">
              <a:buNone/>
              <a:defRPr sz="3840"/>
            </a:lvl3pPr>
            <a:lvl4pPr marL="5268595" indent="0">
              <a:buNone/>
              <a:defRPr sz="3455"/>
            </a:lvl4pPr>
            <a:lvl5pPr marL="7024370" indent="0">
              <a:buNone/>
              <a:defRPr sz="3455"/>
            </a:lvl5pPr>
            <a:lvl6pPr marL="8780780" indent="0">
              <a:buNone/>
              <a:defRPr sz="3455"/>
            </a:lvl6pPr>
            <a:lvl7pPr marL="10536555" indent="0">
              <a:buNone/>
              <a:defRPr sz="3455"/>
            </a:lvl7pPr>
            <a:lvl8pPr marL="12292965" indent="0">
              <a:buNone/>
              <a:defRPr sz="3455"/>
            </a:lvl8pPr>
            <a:lvl9pPr marL="14048740" indent="0">
              <a:buNone/>
              <a:defRPr sz="345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25463341" y="791167"/>
            <a:ext cx="7902416" cy="1685672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756093" y="791167"/>
            <a:ext cx="23121885" cy="1685672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61211" y="6034699"/>
            <a:ext cx="13322758" cy="3428608"/>
          </a:xfrm>
        </p:spPr>
        <p:txBody>
          <a:bodyPr anchor="b">
            <a:normAutofit/>
          </a:bodyPr>
          <a:lstStyle>
            <a:lvl1pPr algn="ctr">
              <a:defRPr sz="19205" b="1">
                <a:solidFill>
                  <a:schemeClr val="tx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课程名称</a:t>
            </a:r>
            <a:endParaRPr lang="en-US" dirty="0"/>
          </a:p>
        </p:txBody>
      </p:sp>
      <p:pic>
        <p:nvPicPr>
          <p:cNvPr id="7" name="Picture 3" descr="C:\Users\yyyy\Desktop\辅助图形2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43" t="52156" r="-2091" b="-4312"/>
          <a:stretch>
            <a:fillRect/>
          </a:stretch>
        </p:blipFill>
        <p:spPr bwMode="auto">
          <a:xfrm rot="10800000">
            <a:off x="16783965" y="12121585"/>
            <a:ext cx="18337885" cy="7621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ubtitle 2"/>
          <p:cNvSpPr>
            <a:spLocks noGrp="1"/>
          </p:cNvSpPr>
          <p:nvPr>
            <p:ph type="subTitle" idx="10" hasCustomPrompt="1"/>
          </p:nvPr>
        </p:nvSpPr>
        <p:spPr>
          <a:xfrm>
            <a:off x="7215612" y="10436924"/>
            <a:ext cx="5785003" cy="1262329"/>
          </a:xfrm>
        </p:spPr>
        <p:txBody>
          <a:bodyPr anchor="ctr">
            <a:noAutofit/>
          </a:bodyPr>
          <a:lstStyle>
            <a:lvl1pPr marL="0" indent="0" algn="ctr">
              <a:buNone/>
              <a:defRPr sz="9220" b="1" baseline="0">
                <a:solidFill>
                  <a:schemeClr val="tx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1756410" indent="0" algn="ctr">
              <a:buNone/>
              <a:defRPr sz="7680"/>
            </a:lvl2pPr>
            <a:lvl3pPr marL="3512185" indent="0" algn="ctr">
              <a:buNone/>
              <a:defRPr sz="6915"/>
            </a:lvl3pPr>
            <a:lvl4pPr marL="5268595" indent="0" algn="ctr">
              <a:buNone/>
              <a:defRPr sz="6145"/>
            </a:lvl4pPr>
            <a:lvl5pPr marL="7024370" indent="0" algn="ctr">
              <a:buNone/>
              <a:defRPr sz="6145"/>
            </a:lvl5pPr>
            <a:lvl6pPr marL="8780780" indent="0" algn="ctr">
              <a:buNone/>
              <a:defRPr sz="6145"/>
            </a:lvl6pPr>
            <a:lvl7pPr marL="10536555" indent="0" algn="ctr">
              <a:buNone/>
              <a:defRPr sz="6145"/>
            </a:lvl7pPr>
            <a:lvl8pPr marL="12292965" indent="0" algn="ctr">
              <a:buNone/>
              <a:defRPr sz="6145"/>
            </a:lvl8pPr>
            <a:lvl9pPr marL="14048740" indent="0" algn="ctr">
              <a:buNone/>
              <a:defRPr sz="6145"/>
            </a:lvl9pPr>
          </a:lstStyle>
          <a:p>
            <a:r>
              <a:rPr lang="zh-CN" altLang="en-US" dirty="0"/>
              <a:t>讲师姓名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7215612" y="12024707"/>
            <a:ext cx="5785003" cy="918976"/>
          </a:xfrm>
        </p:spPr>
        <p:txBody>
          <a:bodyPr>
            <a:noAutofit/>
          </a:bodyPr>
          <a:lstStyle>
            <a:lvl1pPr marL="0" indent="0" algn="ctr">
              <a:buNone/>
              <a:defRPr sz="6145" b="1">
                <a:solidFill>
                  <a:schemeClr val="tx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175641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2pPr>
            <a:lvl3pPr marL="3512185" indent="0">
              <a:buNone/>
              <a:defRPr sz="6915">
                <a:solidFill>
                  <a:schemeClr val="tx1">
                    <a:tint val="75000"/>
                  </a:schemeClr>
                </a:solidFill>
              </a:defRPr>
            </a:lvl3pPr>
            <a:lvl4pPr marL="5268595" indent="0">
              <a:buNone/>
              <a:defRPr sz="6145">
                <a:solidFill>
                  <a:schemeClr val="tx1">
                    <a:tint val="75000"/>
                  </a:schemeClr>
                </a:solidFill>
              </a:defRPr>
            </a:lvl4pPr>
            <a:lvl5pPr marL="7024370" indent="0">
              <a:buNone/>
              <a:defRPr sz="6145">
                <a:solidFill>
                  <a:schemeClr val="tx1">
                    <a:tint val="75000"/>
                  </a:schemeClr>
                </a:solidFill>
              </a:defRPr>
            </a:lvl5pPr>
            <a:lvl6pPr marL="8780780" indent="0">
              <a:buNone/>
              <a:defRPr sz="6145">
                <a:solidFill>
                  <a:schemeClr val="tx1">
                    <a:tint val="75000"/>
                  </a:schemeClr>
                </a:solidFill>
              </a:defRPr>
            </a:lvl6pPr>
            <a:lvl7pPr marL="10536555" indent="0">
              <a:buNone/>
              <a:defRPr sz="6145">
                <a:solidFill>
                  <a:schemeClr val="tx1">
                    <a:tint val="75000"/>
                  </a:schemeClr>
                </a:solidFill>
              </a:defRPr>
            </a:lvl7pPr>
            <a:lvl8pPr marL="12292965" indent="0">
              <a:buNone/>
              <a:defRPr sz="6145">
                <a:solidFill>
                  <a:schemeClr val="tx1">
                    <a:tint val="75000"/>
                  </a:schemeClr>
                </a:solidFill>
              </a:defRPr>
            </a:lvl8pPr>
            <a:lvl9pPr marL="14048740" indent="0">
              <a:buNone/>
              <a:defRPr sz="61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2013.0</a:t>
            </a:r>
            <a:r>
              <a:rPr lang="en-US" altLang="zh-CN" dirty="0"/>
              <a:t>7</a:t>
            </a:r>
            <a:r>
              <a:rPr lang="en-US" dirty="0"/>
              <a:t>.01</a:t>
            </a:r>
            <a:endParaRPr lang="en-US" dirty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7531" y="2543014"/>
            <a:ext cx="31803250" cy="128239"/>
          </a:xfrm>
          <a:prstGeom prst="rect">
            <a:avLst/>
          </a:prstGeom>
        </p:spPr>
      </p:pic>
      <p:sp>
        <p:nvSpPr>
          <p:cNvPr id="10" name="文本占位符 17"/>
          <p:cNvSpPr>
            <a:spLocks noGrp="1"/>
          </p:cNvSpPr>
          <p:nvPr>
            <p:ph type="body" sz="quarter" idx="12" hasCustomPrompt="1"/>
          </p:nvPr>
        </p:nvSpPr>
        <p:spPr>
          <a:xfrm>
            <a:off x="1647531" y="574247"/>
            <a:ext cx="20176458" cy="2024343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2290" b="1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标题，</a:t>
            </a:r>
            <a:r>
              <a:rPr lang="en-US" altLang="zh-CN" dirty="0"/>
              <a:t>32</a:t>
            </a:r>
            <a:r>
              <a:rPr lang="zh-CN" altLang="en-US" dirty="0"/>
              <a:t>号，微软雅黑粗体</a:t>
            </a:r>
            <a:endParaRPr lang="zh-CN" altLang="en-US" dirty="0"/>
          </a:p>
        </p:txBody>
      </p:sp>
      <p:sp>
        <p:nvSpPr>
          <p:cNvPr id="11" name="内容占位符 15"/>
          <p:cNvSpPr>
            <a:spLocks noGrp="1"/>
          </p:cNvSpPr>
          <p:nvPr>
            <p:ph sz="quarter" idx="10" hasCustomPrompt="1"/>
          </p:nvPr>
        </p:nvSpPr>
        <p:spPr>
          <a:xfrm>
            <a:off x="1647531" y="3878057"/>
            <a:ext cx="31740688" cy="14195138"/>
          </a:xfrm>
        </p:spPr>
        <p:txBody>
          <a:bodyPr/>
          <a:lstStyle>
            <a:lvl1pPr>
              <a:lnSpc>
                <a:spcPct val="125000"/>
              </a:lnSpc>
              <a:defRPr sz="10755">
                <a:solidFill>
                  <a:schemeClr val="tx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>
              <a:lnSpc>
                <a:spcPct val="125000"/>
              </a:lnSpc>
              <a:defRPr sz="9220">
                <a:solidFill>
                  <a:schemeClr val="tx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>
              <a:lnSpc>
                <a:spcPct val="125000"/>
              </a:lnSpc>
              <a:defRPr sz="7680">
                <a:solidFill>
                  <a:schemeClr val="tx1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3950970" indent="0">
              <a:lnSpc>
                <a:spcPct val="125000"/>
              </a:lnSpc>
              <a:buNone/>
              <a:defRPr sz="6915"/>
            </a:lvl4pPr>
            <a:lvl5pPr marL="5268595" indent="0">
              <a:lnSpc>
                <a:spcPct val="125000"/>
              </a:lnSpc>
              <a:buNone/>
              <a:defRPr sz="6145"/>
            </a:lvl5pPr>
          </a:lstStyle>
          <a:p>
            <a:pPr lvl="0"/>
            <a:r>
              <a:rPr lang="zh-CN" altLang="en-US" dirty="0"/>
              <a:t>华文中宋，</a:t>
            </a:r>
            <a:r>
              <a:rPr lang="en-US" altLang="zh-CN" dirty="0"/>
              <a:t>28</a:t>
            </a:r>
            <a:r>
              <a:rPr lang="zh-CN" altLang="en-US" dirty="0"/>
              <a:t>号，行距</a:t>
            </a:r>
            <a:r>
              <a:rPr lang="en-US" altLang="zh-CN" dirty="0"/>
              <a:t>1.25</a:t>
            </a:r>
            <a:endParaRPr lang="en-US" altLang="zh-CN" dirty="0"/>
          </a:p>
          <a:p>
            <a:pPr lvl="0"/>
            <a:r>
              <a:rPr lang="zh-CN" altLang="en-US" dirty="0"/>
              <a:t>正文第一级，</a:t>
            </a:r>
            <a:r>
              <a:rPr lang="en-US" altLang="zh-CN" dirty="0"/>
              <a:t>28</a:t>
            </a:r>
            <a:r>
              <a:rPr lang="zh-CN" altLang="en-US" dirty="0"/>
              <a:t>号</a:t>
            </a:r>
            <a:endParaRPr lang="en-US" altLang="zh-CN" dirty="0"/>
          </a:p>
          <a:p>
            <a:pPr lvl="1"/>
            <a:r>
              <a:rPr lang="zh-CN" altLang="en-US" dirty="0"/>
              <a:t>正文第二级，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  <a:p>
            <a:pPr lvl="2"/>
            <a:r>
              <a:rPr lang="zh-CN" altLang="en-US" dirty="0"/>
              <a:t>正文第三级，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.xml"/><Relationship Id="rId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6.xml"/><Relationship Id="rId14" Type="http://schemas.openxmlformats.org/officeDocument/2006/relationships/theme" Target="../theme/theme3.xml"/><Relationship Id="rId13" Type="http://schemas.openxmlformats.org/officeDocument/2006/relationships/image" Target="../media/image29.png"/><Relationship Id="rId12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9.xml"/><Relationship Id="rId2" Type="http://schemas.openxmlformats.org/officeDocument/2006/relationships/slideLayout" Target="../slideLayouts/slideLayout48.xml"/><Relationship Id="rId14" Type="http://schemas.openxmlformats.org/officeDocument/2006/relationships/theme" Target="../theme/theme4.xml"/><Relationship Id="rId13" Type="http://schemas.openxmlformats.org/officeDocument/2006/relationships/image" Target="../media/image35.png"/><Relationship Id="rId12" Type="http://schemas.openxmlformats.org/officeDocument/2006/relationships/image" Target="../media/image34.png"/><Relationship Id="rId11" Type="http://schemas.openxmlformats.org/officeDocument/2006/relationships/image" Target="../media/image33.png"/><Relationship Id="rId10" Type="http://schemas.openxmlformats.org/officeDocument/2006/relationships/image" Target="../media/image32.jpeg"/><Relationship Id="rId1" Type="http://schemas.openxmlformats.org/officeDocument/2006/relationships/slideLayout" Target="../slideLayouts/slideLayout47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4" Type="http://schemas.openxmlformats.org/officeDocument/2006/relationships/theme" Target="../theme/theme5.xml"/><Relationship Id="rId13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14627" y="1051849"/>
            <a:ext cx="30292596" cy="3818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14627" y="5259237"/>
            <a:ext cx="30292596" cy="125352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14627" y="18311293"/>
            <a:ext cx="7902416" cy="10518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45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634113" y="18311293"/>
            <a:ext cx="11853624" cy="10518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45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4804807" y="18311293"/>
            <a:ext cx="7902416" cy="10518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45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9197ECB7-B80F-4ED2-ABCD-9D741132D1E1}" type="slidenum">
              <a:rPr lang="zh-CN" altLang="en-US" sz="2630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sldNum="0" hdr="0" ftr="0" dt="0"/>
  <p:txStyles>
    <p:titleStyle>
      <a:lvl1pPr algn="l" defTabSz="2633980" rtl="0" eaLnBrk="1" latinLnBrk="0" hangingPunct="1">
        <a:lnSpc>
          <a:spcPct val="90000"/>
        </a:lnSpc>
        <a:spcBef>
          <a:spcPct val="0"/>
        </a:spcBef>
        <a:buNone/>
        <a:defRPr sz="126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58495" indent="-658495" algn="l" defTabSz="2633980" rtl="0" eaLnBrk="1" latinLnBrk="0" hangingPunct="1">
        <a:lnSpc>
          <a:spcPct val="90000"/>
        </a:lnSpc>
        <a:spcBef>
          <a:spcPts val="2880"/>
        </a:spcBef>
        <a:buFont typeface="Arial" panose="020B0604020202020204" pitchFamily="34" charset="0"/>
        <a:buChar char="•"/>
        <a:defRPr sz="8065" kern="1200">
          <a:solidFill>
            <a:schemeClr val="tx1"/>
          </a:solidFill>
          <a:latin typeface="+mn-lt"/>
          <a:ea typeface="+mn-ea"/>
          <a:cs typeface="+mn-cs"/>
        </a:defRPr>
      </a:lvl1pPr>
      <a:lvl2pPr marL="1975485" indent="-658495" algn="l" defTabSz="2633980" rtl="0" eaLnBrk="1" latinLnBrk="0" hangingPunct="1">
        <a:lnSpc>
          <a:spcPct val="90000"/>
        </a:lnSpc>
        <a:spcBef>
          <a:spcPts val="1440"/>
        </a:spcBef>
        <a:buFont typeface="Arial" panose="020B0604020202020204" pitchFamily="34" charset="0"/>
        <a:buChar char="•"/>
        <a:defRPr sz="6915" kern="1200">
          <a:solidFill>
            <a:schemeClr val="tx1"/>
          </a:solidFill>
          <a:latin typeface="+mn-lt"/>
          <a:ea typeface="+mn-ea"/>
          <a:cs typeface="+mn-cs"/>
        </a:defRPr>
      </a:lvl2pPr>
      <a:lvl3pPr marL="3292475" indent="-658495" algn="l" defTabSz="2633980" rtl="0" eaLnBrk="1" latinLnBrk="0" hangingPunct="1">
        <a:lnSpc>
          <a:spcPct val="90000"/>
        </a:lnSpc>
        <a:spcBef>
          <a:spcPts val="144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3pPr>
      <a:lvl4pPr marL="4609465" indent="-658495" algn="l" defTabSz="2633980" rtl="0" eaLnBrk="1" latinLnBrk="0" hangingPunct="1">
        <a:lnSpc>
          <a:spcPct val="90000"/>
        </a:lnSpc>
        <a:spcBef>
          <a:spcPts val="1440"/>
        </a:spcBef>
        <a:buFont typeface="Arial" panose="020B0604020202020204" pitchFamily="34" charset="0"/>
        <a:buChar char="•"/>
        <a:defRPr sz="5185" kern="1200">
          <a:solidFill>
            <a:schemeClr val="tx1"/>
          </a:solidFill>
          <a:latin typeface="+mn-lt"/>
          <a:ea typeface="+mn-ea"/>
          <a:cs typeface="+mn-cs"/>
        </a:defRPr>
      </a:lvl4pPr>
      <a:lvl5pPr marL="5926455" indent="-658495" algn="l" defTabSz="2633980" rtl="0" eaLnBrk="1" latinLnBrk="0" hangingPunct="1">
        <a:lnSpc>
          <a:spcPct val="90000"/>
        </a:lnSpc>
        <a:spcBef>
          <a:spcPts val="1440"/>
        </a:spcBef>
        <a:buFont typeface="Arial" panose="020B0604020202020204" pitchFamily="34" charset="0"/>
        <a:buChar char="•"/>
        <a:defRPr sz="5185" kern="1200">
          <a:solidFill>
            <a:schemeClr val="tx1"/>
          </a:solidFill>
          <a:latin typeface="+mn-lt"/>
          <a:ea typeface="+mn-ea"/>
          <a:cs typeface="+mn-cs"/>
        </a:defRPr>
      </a:lvl5pPr>
      <a:lvl6pPr marL="7244080" indent="-658495" algn="l" defTabSz="2633980" rtl="0" eaLnBrk="1" latinLnBrk="0" hangingPunct="1">
        <a:lnSpc>
          <a:spcPct val="90000"/>
        </a:lnSpc>
        <a:spcBef>
          <a:spcPts val="1440"/>
        </a:spcBef>
        <a:buFont typeface="Arial" panose="020B0604020202020204" pitchFamily="34" charset="0"/>
        <a:buChar char="•"/>
        <a:defRPr sz="5185" kern="1200">
          <a:solidFill>
            <a:schemeClr val="tx1"/>
          </a:solidFill>
          <a:latin typeface="+mn-lt"/>
          <a:ea typeface="+mn-ea"/>
          <a:cs typeface="+mn-cs"/>
        </a:defRPr>
      </a:lvl6pPr>
      <a:lvl7pPr marL="8561070" indent="-658495" algn="l" defTabSz="2633980" rtl="0" eaLnBrk="1" latinLnBrk="0" hangingPunct="1">
        <a:lnSpc>
          <a:spcPct val="90000"/>
        </a:lnSpc>
        <a:spcBef>
          <a:spcPts val="1440"/>
        </a:spcBef>
        <a:buFont typeface="Arial" panose="020B0604020202020204" pitchFamily="34" charset="0"/>
        <a:buChar char="•"/>
        <a:defRPr sz="5185" kern="1200">
          <a:solidFill>
            <a:schemeClr val="tx1"/>
          </a:solidFill>
          <a:latin typeface="+mn-lt"/>
          <a:ea typeface="+mn-ea"/>
          <a:cs typeface="+mn-cs"/>
        </a:defRPr>
      </a:lvl7pPr>
      <a:lvl8pPr marL="9878060" indent="-658495" algn="l" defTabSz="2633980" rtl="0" eaLnBrk="1" latinLnBrk="0" hangingPunct="1">
        <a:lnSpc>
          <a:spcPct val="90000"/>
        </a:lnSpc>
        <a:spcBef>
          <a:spcPts val="1440"/>
        </a:spcBef>
        <a:buFont typeface="Arial" panose="020B0604020202020204" pitchFamily="34" charset="0"/>
        <a:buChar char="•"/>
        <a:defRPr sz="5185" kern="1200">
          <a:solidFill>
            <a:schemeClr val="tx1"/>
          </a:solidFill>
          <a:latin typeface="+mn-lt"/>
          <a:ea typeface="+mn-ea"/>
          <a:cs typeface="+mn-cs"/>
        </a:defRPr>
      </a:lvl8pPr>
      <a:lvl9pPr marL="11195050" indent="-658495" algn="l" defTabSz="2633980" rtl="0" eaLnBrk="1" latinLnBrk="0" hangingPunct="1">
        <a:lnSpc>
          <a:spcPct val="90000"/>
        </a:lnSpc>
        <a:spcBef>
          <a:spcPts val="1440"/>
        </a:spcBef>
        <a:buFont typeface="Arial" panose="020B0604020202020204" pitchFamily="34" charset="0"/>
        <a:buChar char="•"/>
        <a:defRPr sz="51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633980" rtl="0" eaLnBrk="1" latinLnBrk="0" hangingPunct="1">
        <a:defRPr sz="5185" kern="1200">
          <a:solidFill>
            <a:schemeClr val="tx1"/>
          </a:solidFill>
          <a:latin typeface="+mn-lt"/>
          <a:ea typeface="+mn-ea"/>
          <a:cs typeface="+mn-cs"/>
        </a:defRPr>
      </a:lvl1pPr>
      <a:lvl2pPr marL="1316990" algn="l" defTabSz="2633980" rtl="0" eaLnBrk="1" latinLnBrk="0" hangingPunct="1">
        <a:defRPr sz="5185" kern="1200">
          <a:solidFill>
            <a:schemeClr val="tx1"/>
          </a:solidFill>
          <a:latin typeface="+mn-lt"/>
          <a:ea typeface="+mn-ea"/>
          <a:cs typeface="+mn-cs"/>
        </a:defRPr>
      </a:lvl2pPr>
      <a:lvl3pPr marL="2633980" algn="l" defTabSz="2633980" rtl="0" eaLnBrk="1" latinLnBrk="0" hangingPunct="1">
        <a:defRPr sz="5185" kern="1200">
          <a:solidFill>
            <a:schemeClr val="tx1"/>
          </a:solidFill>
          <a:latin typeface="+mn-lt"/>
          <a:ea typeface="+mn-ea"/>
          <a:cs typeface="+mn-cs"/>
        </a:defRPr>
      </a:lvl3pPr>
      <a:lvl4pPr marL="3950970" algn="l" defTabSz="2633980" rtl="0" eaLnBrk="1" latinLnBrk="0" hangingPunct="1">
        <a:defRPr sz="5185" kern="1200">
          <a:solidFill>
            <a:schemeClr val="tx1"/>
          </a:solidFill>
          <a:latin typeface="+mn-lt"/>
          <a:ea typeface="+mn-ea"/>
          <a:cs typeface="+mn-cs"/>
        </a:defRPr>
      </a:lvl4pPr>
      <a:lvl5pPr marL="5267960" algn="l" defTabSz="2633980" rtl="0" eaLnBrk="1" latinLnBrk="0" hangingPunct="1">
        <a:defRPr sz="5185" kern="1200">
          <a:solidFill>
            <a:schemeClr val="tx1"/>
          </a:solidFill>
          <a:latin typeface="+mn-lt"/>
          <a:ea typeface="+mn-ea"/>
          <a:cs typeface="+mn-cs"/>
        </a:defRPr>
      </a:lvl5pPr>
      <a:lvl6pPr marL="6585585" algn="l" defTabSz="2633980" rtl="0" eaLnBrk="1" latinLnBrk="0" hangingPunct="1">
        <a:defRPr sz="5185" kern="1200">
          <a:solidFill>
            <a:schemeClr val="tx1"/>
          </a:solidFill>
          <a:latin typeface="+mn-lt"/>
          <a:ea typeface="+mn-ea"/>
          <a:cs typeface="+mn-cs"/>
        </a:defRPr>
      </a:lvl6pPr>
      <a:lvl7pPr marL="7902575" algn="l" defTabSz="2633980" rtl="0" eaLnBrk="1" latinLnBrk="0" hangingPunct="1">
        <a:defRPr sz="5185" kern="1200">
          <a:solidFill>
            <a:schemeClr val="tx1"/>
          </a:solidFill>
          <a:latin typeface="+mn-lt"/>
          <a:ea typeface="+mn-ea"/>
          <a:cs typeface="+mn-cs"/>
        </a:defRPr>
      </a:lvl7pPr>
      <a:lvl8pPr marL="9219565" algn="l" defTabSz="2633980" rtl="0" eaLnBrk="1" latinLnBrk="0" hangingPunct="1">
        <a:defRPr sz="5185" kern="1200">
          <a:solidFill>
            <a:schemeClr val="tx1"/>
          </a:solidFill>
          <a:latin typeface="+mn-lt"/>
          <a:ea typeface="+mn-ea"/>
          <a:cs typeface="+mn-cs"/>
        </a:defRPr>
      </a:lvl8pPr>
      <a:lvl9pPr marL="10536555" algn="l" defTabSz="2633980" rtl="0" eaLnBrk="1" latinLnBrk="0" hangingPunct="1">
        <a:defRPr sz="51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</p:sldLayoutIdLst>
  <p:hf hdr="0" ftr="0" dt="0"/>
  <p:txStyles>
    <p:titleStyle>
      <a:lvl1pPr algn="ctr" defTabSz="3512185" rtl="0" eaLnBrk="1" latinLnBrk="0" hangingPunct="1">
        <a:spcBef>
          <a:spcPct val="0"/>
        </a:spcBef>
        <a:buNone/>
        <a:defRPr sz="16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16990" indent="-1316990" algn="l" defTabSz="3512185" rtl="0" eaLnBrk="1" latinLnBrk="0" hangingPunct="1">
        <a:spcBef>
          <a:spcPct val="20000"/>
        </a:spcBef>
        <a:buFont typeface="Arial" panose="020B0604020202020204" pitchFamily="34" charset="0"/>
        <a:buChar char="•"/>
        <a:defRPr sz="12290" kern="1200">
          <a:solidFill>
            <a:schemeClr val="tx1"/>
          </a:solidFill>
          <a:latin typeface="+mn-lt"/>
          <a:ea typeface="+mn-ea"/>
          <a:cs typeface="+mn-cs"/>
        </a:defRPr>
      </a:lvl1pPr>
      <a:lvl2pPr marL="2853690" indent="-1097280" algn="l" defTabSz="3512185" rtl="0" eaLnBrk="1" latinLnBrk="0" hangingPunct="1">
        <a:spcBef>
          <a:spcPct val="20000"/>
        </a:spcBef>
        <a:buFont typeface="Arial" panose="020B0604020202020204" pitchFamily="34" charset="0"/>
        <a:buChar char="–"/>
        <a:defRPr sz="10755" kern="1200">
          <a:solidFill>
            <a:schemeClr val="tx1"/>
          </a:solidFill>
          <a:latin typeface="+mn-lt"/>
          <a:ea typeface="+mn-ea"/>
          <a:cs typeface="+mn-cs"/>
        </a:defRPr>
      </a:lvl2pPr>
      <a:lvl3pPr marL="4390390" indent="-878205" algn="l" defTabSz="3512185" rtl="0" eaLnBrk="1" latinLnBrk="0" hangingPunct="1">
        <a:spcBef>
          <a:spcPct val="20000"/>
        </a:spcBef>
        <a:buFont typeface="Arial" panose="020B0604020202020204" pitchFamily="34" charset="0"/>
        <a:buChar char="•"/>
        <a:defRPr sz="9220" kern="1200">
          <a:solidFill>
            <a:schemeClr val="tx1"/>
          </a:solidFill>
          <a:latin typeface="+mn-lt"/>
          <a:ea typeface="+mn-ea"/>
          <a:cs typeface="+mn-cs"/>
        </a:defRPr>
      </a:lvl3pPr>
      <a:lvl4pPr marL="6146165" indent="-878205" algn="l" defTabSz="3512185" rtl="0" eaLnBrk="1" latinLnBrk="0" hangingPunct="1">
        <a:spcBef>
          <a:spcPct val="20000"/>
        </a:spcBef>
        <a:buFont typeface="Arial" panose="020B0604020202020204" pitchFamily="34" charset="0"/>
        <a:buChar char="–"/>
        <a:defRPr sz="7680" kern="1200">
          <a:solidFill>
            <a:schemeClr val="tx1"/>
          </a:solidFill>
          <a:latin typeface="+mn-lt"/>
          <a:ea typeface="+mn-ea"/>
          <a:cs typeface="+mn-cs"/>
        </a:defRPr>
      </a:lvl4pPr>
      <a:lvl5pPr marL="7902575" indent="-878205" algn="l" defTabSz="3512185" rtl="0" eaLnBrk="1" latinLnBrk="0" hangingPunct="1">
        <a:spcBef>
          <a:spcPct val="20000"/>
        </a:spcBef>
        <a:buFont typeface="Arial" panose="020B0604020202020204" pitchFamily="34" charset="0"/>
        <a:buChar char="»"/>
        <a:defRPr sz="7680" kern="1200">
          <a:solidFill>
            <a:schemeClr val="tx1"/>
          </a:solidFill>
          <a:latin typeface="+mn-lt"/>
          <a:ea typeface="+mn-ea"/>
          <a:cs typeface="+mn-cs"/>
        </a:defRPr>
      </a:lvl5pPr>
      <a:lvl6pPr marL="9658350" indent="-878205" algn="l" defTabSz="3512185" rtl="0" eaLnBrk="1" latinLnBrk="0" hangingPunct="1">
        <a:spcBef>
          <a:spcPct val="20000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6pPr>
      <a:lvl7pPr marL="11414760" indent="-878205" algn="l" defTabSz="3512185" rtl="0" eaLnBrk="1" latinLnBrk="0" hangingPunct="1">
        <a:spcBef>
          <a:spcPct val="20000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7pPr>
      <a:lvl8pPr marL="13170535" indent="-878205" algn="l" defTabSz="3512185" rtl="0" eaLnBrk="1" latinLnBrk="0" hangingPunct="1">
        <a:spcBef>
          <a:spcPct val="20000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8pPr>
      <a:lvl9pPr marL="14926945" indent="-878205" algn="l" defTabSz="3512185" rtl="0" eaLnBrk="1" latinLnBrk="0" hangingPunct="1">
        <a:spcBef>
          <a:spcPct val="20000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512185" rtl="0" eaLnBrk="1" latinLnBrk="0" hangingPunct="1">
        <a:defRPr sz="6915" kern="1200">
          <a:solidFill>
            <a:schemeClr val="tx1"/>
          </a:solidFill>
          <a:latin typeface="+mn-lt"/>
          <a:ea typeface="+mn-ea"/>
          <a:cs typeface="+mn-cs"/>
        </a:defRPr>
      </a:lvl1pPr>
      <a:lvl2pPr marL="1756410" algn="l" defTabSz="3512185" rtl="0" eaLnBrk="1" latinLnBrk="0" hangingPunct="1">
        <a:defRPr sz="6915" kern="1200">
          <a:solidFill>
            <a:schemeClr val="tx1"/>
          </a:solidFill>
          <a:latin typeface="+mn-lt"/>
          <a:ea typeface="+mn-ea"/>
          <a:cs typeface="+mn-cs"/>
        </a:defRPr>
      </a:lvl2pPr>
      <a:lvl3pPr marL="3512185" algn="l" defTabSz="3512185" rtl="0" eaLnBrk="1" latinLnBrk="0" hangingPunct="1">
        <a:defRPr sz="6915" kern="1200">
          <a:solidFill>
            <a:schemeClr val="tx1"/>
          </a:solidFill>
          <a:latin typeface="+mn-lt"/>
          <a:ea typeface="+mn-ea"/>
          <a:cs typeface="+mn-cs"/>
        </a:defRPr>
      </a:lvl3pPr>
      <a:lvl4pPr marL="5268595" algn="l" defTabSz="3512185" rtl="0" eaLnBrk="1" latinLnBrk="0" hangingPunct="1">
        <a:defRPr sz="6915" kern="1200">
          <a:solidFill>
            <a:schemeClr val="tx1"/>
          </a:solidFill>
          <a:latin typeface="+mn-lt"/>
          <a:ea typeface="+mn-ea"/>
          <a:cs typeface="+mn-cs"/>
        </a:defRPr>
      </a:lvl4pPr>
      <a:lvl5pPr marL="7024370" algn="l" defTabSz="3512185" rtl="0" eaLnBrk="1" latinLnBrk="0" hangingPunct="1">
        <a:defRPr sz="6915" kern="1200">
          <a:solidFill>
            <a:schemeClr val="tx1"/>
          </a:solidFill>
          <a:latin typeface="+mn-lt"/>
          <a:ea typeface="+mn-ea"/>
          <a:cs typeface="+mn-cs"/>
        </a:defRPr>
      </a:lvl5pPr>
      <a:lvl6pPr marL="8780780" algn="l" defTabSz="3512185" rtl="0" eaLnBrk="1" latinLnBrk="0" hangingPunct="1">
        <a:defRPr sz="6915" kern="1200">
          <a:solidFill>
            <a:schemeClr val="tx1"/>
          </a:solidFill>
          <a:latin typeface="+mn-lt"/>
          <a:ea typeface="+mn-ea"/>
          <a:cs typeface="+mn-cs"/>
        </a:defRPr>
      </a:lvl6pPr>
      <a:lvl7pPr marL="10536555" algn="l" defTabSz="3512185" rtl="0" eaLnBrk="1" latinLnBrk="0" hangingPunct="1">
        <a:defRPr sz="6915" kern="1200">
          <a:solidFill>
            <a:schemeClr val="tx1"/>
          </a:solidFill>
          <a:latin typeface="+mn-lt"/>
          <a:ea typeface="+mn-ea"/>
          <a:cs typeface="+mn-cs"/>
        </a:defRPr>
      </a:lvl7pPr>
      <a:lvl8pPr marL="12292965" algn="l" defTabSz="3512185" rtl="0" eaLnBrk="1" latinLnBrk="0" hangingPunct="1">
        <a:defRPr sz="6915" kern="1200">
          <a:solidFill>
            <a:schemeClr val="tx1"/>
          </a:solidFill>
          <a:latin typeface="+mn-lt"/>
          <a:ea typeface="+mn-ea"/>
          <a:cs typeface="+mn-cs"/>
        </a:defRPr>
      </a:lvl8pPr>
      <a:lvl9pPr marL="14048740" algn="l" defTabSz="3512185" rtl="0" eaLnBrk="1" latinLnBrk="0" hangingPunct="1">
        <a:defRPr sz="69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2" descr="C:\Users\User\Desktop\胸牌源文件-0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469801" y="1078065"/>
            <a:ext cx="2579002" cy="1609212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hf sldNum="0" hdr="0" ftr="0" dt="0"/>
  <p:txStyles>
    <p:titleStyle>
      <a:lvl1pPr algn="l" defTabSz="2004695" rtl="0" eaLnBrk="1" latinLnBrk="0" hangingPunct="1">
        <a:lnSpc>
          <a:spcPct val="90000"/>
        </a:lnSpc>
        <a:spcBef>
          <a:spcPct val="0"/>
        </a:spcBef>
        <a:buNone/>
        <a:defRPr sz="96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02285" indent="-502285" algn="l" defTabSz="2004695" rtl="0" eaLnBrk="1" latinLnBrk="0" hangingPunct="1">
        <a:lnSpc>
          <a:spcPct val="90000"/>
        </a:lnSpc>
        <a:spcBef>
          <a:spcPct val="394000"/>
        </a:spcBef>
        <a:buFont typeface="Arial" panose="020B0604020202020204" pitchFamily="34" charset="0"/>
        <a:buChar char="•"/>
        <a:defRPr sz="6145" kern="1200">
          <a:solidFill>
            <a:schemeClr val="tx1"/>
          </a:solidFill>
          <a:latin typeface="+mj-ea"/>
          <a:ea typeface="+mj-ea"/>
          <a:cs typeface="+mn-cs"/>
        </a:defRPr>
      </a:lvl1pPr>
      <a:lvl2pPr marL="1504950" indent="-502285" algn="l" defTabSz="2004695" rtl="0" eaLnBrk="1" latinLnBrk="0" hangingPunct="1">
        <a:lnSpc>
          <a:spcPct val="90000"/>
        </a:lnSpc>
        <a:spcBef>
          <a:spcPct val="197000"/>
        </a:spcBef>
        <a:buFont typeface="Arial" panose="020B0604020202020204" pitchFamily="34" charset="0"/>
        <a:buChar char="•"/>
        <a:defRPr sz="5260" kern="1200">
          <a:solidFill>
            <a:schemeClr val="tx1"/>
          </a:solidFill>
          <a:latin typeface="+mj-ea"/>
          <a:ea typeface="+mj-ea"/>
          <a:cs typeface="+mn-cs"/>
        </a:defRPr>
      </a:lvl2pPr>
      <a:lvl3pPr marL="2507615" indent="-502285" algn="l" defTabSz="2004695" rtl="0" eaLnBrk="1" latinLnBrk="0" hangingPunct="1">
        <a:lnSpc>
          <a:spcPct val="90000"/>
        </a:lnSpc>
        <a:spcBef>
          <a:spcPct val="197000"/>
        </a:spcBef>
        <a:buFont typeface="Arial" panose="020B0604020202020204" pitchFamily="34" charset="0"/>
        <a:buChar char="•"/>
        <a:defRPr sz="4380" kern="1200">
          <a:solidFill>
            <a:schemeClr val="tx1"/>
          </a:solidFill>
          <a:latin typeface="+mj-ea"/>
          <a:ea typeface="+mj-ea"/>
          <a:cs typeface="+mn-cs"/>
        </a:defRPr>
      </a:lvl3pPr>
      <a:lvl4pPr marL="3512185" indent="-502285" algn="l" defTabSz="2004695" rtl="0" eaLnBrk="1" latinLnBrk="0" hangingPunct="1">
        <a:lnSpc>
          <a:spcPct val="90000"/>
        </a:lnSpc>
        <a:spcBef>
          <a:spcPct val="197000"/>
        </a:spcBef>
        <a:buFont typeface="Arial" panose="020B0604020202020204" pitchFamily="34" charset="0"/>
        <a:buChar char="•"/>
        <a:defRPr sz="3955" kern="1200">
          <a:solidFill>
            <a:schemeClr val="tx1"/>
          </a:solidFill>
          <a:latin typeface="+mj-ea"/>
          <a:ea typeface="+mj-ea"/>
          <a:cs typeface="+mn-cs"/>
        </a:defRPr>
      </a:lvl4pPr>
      <a:lvl5pPr marL="4514850" indent="-502285" algn="l" defTabSz="2004695" rtl="0" eaLnBrk="1" latinLnBrk="0" hangingPunct="1">
        <a:lnSpc>
          <a:spcPct val="90000"/>
        </a:lnSpc>
        <a:spcBef>
          <a:spcPct val="197000"/>
        </a:spcBef>
        <a:buFont typeface="Arial" panose="020B0604020202020204" pitchFamily="34" charset="0"/>
        <a:buChar char="•"/>
        <a:defRPr sz="3955" kern="1200">
          <a:solidFill>
            <a:schemeClr val="tx1"/>
          </a:solidFill>
          <a:latin typeface="+mj-ea"/>
          <a:ea typeface="+mj-ea"/>
          <a:cs typeface="+mn-cs"/>
        </a:defRPr>
      </a:lvl5pPr>
      <a:lvl6pPr marL="5519420" indent="-502285" algn="l" defTabSz="2004695" rtl="0" eaLnBrk="1" latinLnBrk="0" hangingPunct="1">
        <a:lnSpc>
          <a:spcPct val="90000"/>
        </a:lnSpc>
        <a:spcBef>
          <a:spcPct val="197000"/>
        </a:spcBef>
        <a:buFont typeface="Arial" panose="020B0604020202020204" pitchFamily="34" charset="0"/>
        <a:buChar char="•"/>
        <a:defRPr sz="3955" kern="1200">
          <a:solidFill>
            <a:schemeClr val="tx1"/>
          </a:solidFill>
          <a:latin typeface="+mn-lt"/>
          <a:ea typeface="+mn-ea"/>
          <a:cs typeface="+mn-cs"/>
        </a:defRPr>
      </a:lvl6pPr>
      <a:lvl7pPr marL="6522085" indent="-502285" algn="l" defTabSz="2004695" rtl="0" eaLnBrk="1" latinLnBrk="0" hangingPunct="1">
        <a:lnSpc>
          <a:spcPct val="90000"/>
        </a:lnSpc>
        <a:spcBef>
          <a:spcPct val="197000"/>
        </a:spcBef>
        <a:buFont typeface="Arial" panose="020B0604020202020204" pitchFamily="34" charset="0"/>
        <a:buChar char="•"/>
        <a:defRPr sz="3955" kern="1200">
          <a:solidFill>
            <a:schemeClr val="tx1"/>
          </a:solidFill>
          <a:latin typeface="+mn-lt"/>
          <a:ea typeface="+mn-ea"/>
          <a:cs typeface="+mn-cs"/>
        </a:defRPr>
      </a:lvl7pPr>
      <a:lvl8pPr marL="7526655" indent="-502285" algn="l" defTabSz="2004695" rtl="0" eaLnBrk="1" latinLnBrk="0" hangingPunct="1">
        <a:lnSpc>
          <a:spcPct val="90000"/>
        </a:lnSpc>
        <a:spcBef>
          <a:spcPct val="197000"/>
        </a:spcBef>
        <a:buFont typeface="Arial" panose="020B0604020202020204" pitchFamily="34" charset="0"/>
        <a:buChar char="•"/>
        <a:defRPr sz="3955" kern="1200">
          <a:solidFill>
            <a:schemeClr val="tx1"/>
          </a:solidFill>
          <a:latin typeface="+mn-lt"/>
          <a:ea typeface="+mn-ea"/>
          <a:cs typeface="+mn-cs"/>
        </a:defRPr>
      </a:lvl8pPr>
      <a:lvl9pPr marL="8529320" indent="-502285" algn="l" defTabSz="2004695" rtl="0" eaLnBrk="1" latinLnBrk="0" hangingPunct="1">
        <a:lnSpc>
          <a:spcPct val="90000"/>
        </a:lnSpc>
        <a:spcBef>
          <a:spcPct val="197000"/>
        </a:spcBef>
        <a:buFont typeface="Arial" panose="020B0604020202020204" pitchFamily="34" charset="0"/>
        <a:buChar char="•"/>
        <a:defRPr sz="39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004695" rtl="0" eaLnBrk="1" latinLnBrk="0" hangingPunct="1">
        <a:defRPr sz="3955" kern="1200">
          <a:solidFill>
            <a:schemeClr val="tx1"/>
          </a:solidFill>
          <a:latin typeface="+mn-lt"/>
          <a:ea typeface="+mn-ea"/>
          <a:cs typeface="+mn-cs"/>
        </a:defRPr>
      </a:lvl1pPr>
      <a:lvl2pPr marL="1002665" algn="l" defTabSz="2004695" rtl="0" eaLnBrk="1" latinLnBrk="0" hangingPunct="1">
        <a:defRPr sz="3955" kern="1200">
          <a:solidFill>
            <a:schemeClr val="tx1"/>
          </a:solidFill>
          <a:latin typeface="+mn-lt"/>
          <a:ea typeface="+mn-ea"/>
          <a:cs typeface="+mn-cs"/>
        </a:defRPr>
      </a:lvl2pPr>
      <a:lvl3pPr marL="2007235" algn="l" defTabSz="2004695" rtl="0" eaLnBrk="1" latinLnBrk="0" hangingPunct="1">
        <a:defRPr sz="3955" kern="1200">
          <a:solidFill>
            <a:schemeClr val="tx1"/>
          </a:solidFill>
          <a:latin typeface="+mn-lt"/>
          <a:ea typeface="+mn-ea"/>
          <a:cs typeface="+mn-cs"/>
        </a:defRPr>
      </a:lvl3pPr>
      <a:lvl4pPr marL="3009900" algn="l" defTabSz="2004695" rtl="0" eaLnBrk="1" latinLnBrk="0" hangingPunct="1">
        <a:defRPr sz="3955" kern="1200">
          <a:solidFill>
            <a:schemeClr val="tx1"/>
          </a:solidFill>
          <a:latin typeface="+mn-lt"/>
          <a:ea typeface="+mn-ea"/>
          <a:cs typeface="+mn-cs"/>
        </a:defRPr>
      </a:lvl4pPr>
      <a:lvl5pPr marL="4014470" algn="l" defTabSz="2004695" rtl="0" eaLnBrk="1" latinLnBrk="0" hangingPunct="1">
        <a:defRPr sz="3955" kern="1200">
          <a:solidFill>
            <a:schemeClr val="tx1"/>
          </a:solidFill>
          <a:latin typeface="+mn-lt"/>
          <a:ea typeface="+mn-ea"/>
          <a:cs typeface="+mn-cs"/>
        </a:defRPr>
      </a:lvl5pPr>
      <a:lvl6pPr marL="5017135" algn="l" defTabSz="2004695" rtl="0" eaLnBrk="1" latinLnBrk="0" hangingPunct="1">
        <a:defRPr sz="3955" kern="1200">
          <a:solidFill>
            <a:schemeClr val="tx1"/>
          </a:solidFill>
          <a:latin typeface="+mn-lt"/>
          <a:ea typeface="+mn-ea"/>
          <a:cs typeface="+mn-cs"/>
        </a:defRPr>
      </a:lvl6pPr>
      <a:lvl7pPr marL="6021705" algn="l" defTabSz="2004695" rtl="0" eaLnBrk="1" latinLnBrk="0" hangingPunct="1">
        <a:defRPr sz="3955" kern="1200">
          <a:solidFill>
            <a:schemeClr val="tx1"/>
          </a:solidFill>
          <a:latin typeface="+mn-lt"/>
          <a:ea typeface="+mn-ea"/>
          <a:cs typeface="+mn-cs"/>
        </a:defRPr>
      </a:lvl7pPr>
      <a:lvl8pPr marL="7024370" algn="l" defTabSz="2004695" rtl="0" eaLnBrk="1" latinLnBrk="0" hangingPunct="1">
        <a:defRPr sz="3955" kern="1200">
          <a:solidFill>
            <a:schemeClr val="tx1"/>
          </a:solidFill>
          <a:latin typeface="+mn-lt"/>
          <a:ea typeface="+mn-ea"/>
          <a:cs typeface="+mn-cs"/>
        </a:defRPr>
      </a:lvl8pPr>
      <a:lvl9pPr marL="8027035" algn="l" defTabSz="2004695" rtl="0" eaLnBrk="1" latinLnBrk="0" hangingPunct="1">
        <a:defRPr sz="39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pt16比9背景.jpg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-64025" y="0"/>
            <a:ext cx="35121850" cy="1975612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Shape 3"/>
          <p:cNvSpPr>
            <a:spLocks noGrp="1"/>
          </p:cNvSpPr>
          <p:nvPr>
            <p:ph type="title"/>
          </p:nvPr>
        </p:nvSpPr>
        <p:spPr>
          <a:xfrm>
            <a:off x="2024807" y="1775392"/>
            <a:ext cx="26363137" cy="1688105"/>
          </a:xfrm>
          <a:prstGeom prst="rect">
            <a:avLst/>
          </a:prstGeom>
          <a:ln w="12700">
            <a:miter lim="400000"/>
          </a:ln>
        </p:spPr>
        <p:txBody>
          <a:bodyPr lIns="35390" tIns="35390" rIns="35390" bIns="3539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4" name="Shape 4"/>
          <p:cNvSpPr>
            <a:spLocks noGrp="1"/>
          </p:cNvSpPr>
          <p:nvPr>
            <p:ph type="body" idx="1"/>
          </p:nvPr>
        </p:nvSpPr>
        <p:spPr>
          <a:xfrm>
            <a:off x="2097977" y="3740812"/>
            <a:ext cx="30797420" cy="11020406"/>
          </a:xfrm>
          <a:prstGeom prst="rect">
            <a:avLst/>
          </a:prstGeom>
          <a:ln w="12700">
            <a:miter lim="400000"/>
          </a:ln>
        </p:spPr>
        <p:txBody>
          <a:bodyPr lIns="35390" tIns="35390" rIns="35390" bIns="35390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" name="Shape 5"/>
          <p:cNvSpPr>
            <a:spLocks noGrp="1"/>
          </p:cNvSpPr>
          <p:nvPr>
            <p:ph type="sldNum" sz="quarter" idx="2"/>
          </p:nvPr>
        </p:nvSpPr>
        <p:spPr>
          <a:xfrm>
            <a:off x="24826888" y="16139209"/>
            <a:ext cx="342757" cy="327895"/>
          </a:xfrm>
          <a:prstGeom prst="rect">
            <a:avLst/>
          </a:prstGeom>
          <a:ln w="12700">
            <a:miter lim="400000"/>
          </a:ln>
        </p:spPr>
        <p:txBody>
          <a:bodyPr wrap="none" lIns="35390" tIns="35390" rIns="35390" bIns="35390" anchor="ctr">
            <a:spAutoFit/>
          </a:bodyPr>
          <a:lstStyle>
            <a:lvl1pPr algn="r">
              <a:defRPr sz="1315">
                <a:solidFill>
                  <a:srgbClr val="888888"/>
                </a:solidFill>
                <a:latin typeface="+mj-lt"/>
                <a:ea typeface="+mj-ea"/>
                <a:cs typeface="+mj-cs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  <p:pic>
        <p:nvPicPr>
          <p:cNvPr id="6" name="图片 5" descr="企业微信截图_4d15795e-c227-47d8-9669-a334bb4eb484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28804492" y="441770"/>
            <a:ext cx="5477730" cy="2753968"/>
          </a:xfrm>
          <a:prstGeom prst="rect">
            <a:avLst/>
          </a:prstGeom>
        </p:spPr>
      </p:pic>
      <p:grpSp>
        <p:nvGrpSpPr>
          <p:cNvPr id="14" name="组合 13"/>
          <p:cNvGrpSpPr/>
          <p:nvPr userDrawn="1"/>
        </p:nvGrpSpPr>
        <p:grpSpPr>
          <a:xfrm>
            <a:off x="29561807" y="637502"/>
            <a:ext cx="4214622" cy="1137253"/>
            <a:chOff x="44007" y="702"/>
            <a:chExt cx="5343" cy="1338"/>
          </a:xfrm>
        </p:grpSpPr>
        <p:sp>
          <p:nvSpPr>
            <p:cNvPr id="15" name="Shape 5"/>
            <p:cNvSpPr/>
            <p:nvPr userDrawn="1"/>
          </p:nvSpPr>
          <p:spPr>
            <a:xfrm>
              <a:off x="47502" y="1561"/>
              <a:ext cx="1838" cy="479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13272" tIns="13272" rIns="13272" bIns="13272" anchor="ctr"/>
            <a:lstStyle>
              <a:lvl1pPr>
                <a:defRPr sz="1800" spc="288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cs typeface="微软雅黑" pitchFamily="34" charset="-122"/>
                  <a:sym typeface="微软雅黑" pitchFamily="34" charset="-122"/>
                </a:defRPr>
              </a:lvl1pPr>
            </a:lstStyle>
            <a:p>
              <a:r>
                <a:rPr lang="zh-CN" sz="1535"/>
                <a:t>五年规划</a:t>
              </a:r>
              <a:endParaRPr lang="zh-CN" sz="1535"/>
            </a:p>
          </p:txBody>
        </p:sp>
        <p:pic>
          <p:nvPicPr>
            <p:cNvPr id="16" name="图片 15" descr="CVTE基础系统A完稿111"/>
            <p:cNvPicPr>
              <a:picLocks noChangeAspect="1"/>
            </p:cNvPicPr>
            <p:nvPr userDrawn="1"/>
          </p:nvPicPr>
          <p:blipFill>
            <a:blip r:embed="rId12"/>
            <a:stretch>
              <a:fillRect/>
            </a:stretch>
          </p:blipFill>
          <p:spPr>
            <a:xfrm>
              <a:off x="44007" y="815"/>
              <a:ext cx="2689" cy="1160"/>
            </a:xfrm>
            <a:prstGeom prst="rect">
              <a:avLst/>
            </a:prstGeom>
          </p:spPr>
        </p:pic>
        <p:cxnSp>
          <p:nvCxnSpPr>
            <p:cNvPr id="17" name="直接连接符 16"/>
            <p:cNvCxnSpPr/>
            <p:nvPr userDrawn="1"/>
          </p:nvCxnSpPr>
          <p:spPr>
            <a:xfrm>
              <a:off x="47061" y="764"/>
              <a:ext cx="0" cy="1275"/>
            </a:xfrm>
            <a:prstGeom prst="line">
              <a:avLst/>
            </a:prstGeom>
            <a:noFill/>
            <a:ln w="25400" cap="flat">
              <a:solidFill>
                <a:srgbClr val="FFFFFF">
                  <a:alpha val="40000"/>
                </a:srgbClr>
              </a:solidFill>
              <a:prstDash val="solid"/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</p:cxnSp>
        <p:pic>
          <p:nvPicPr>
            <p:cNvPr id="18" name="图片 17" descr="311"/>
            <p:cNvPicPr>
              <a:picLocks noChangeAspect="1"/>
            </p:cNvPicPr>
            <p:nvPr userDrawn="1"/>
          </p:nvPicPr>
          <p:blipFill>
            <a:blip r:embed="rId13"/>
            <a:stretch>
              <a:fillRect/>
            </a:stretch>
          </p:blipFill>
          <p:spPr>
            <a:xfrm>
              <a:off x="47450" y="702"/>
              <a:ext cx="1900" cy="950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</p:sldLayoutIdLst>
  <p:transition spd="med"/>
  <p:txStyles>
    <p:titleStyle>
      <a:lvl1pPr marL="0" marR="0" indent="0" algn="l" defTabSz="1020445" rtl="0" latinLnBrk="0">
        <a:lnSpc>
          <a:spcPct val="90000"/>
        </a:lnSpc>
        <a:spcBef>
          <a:spcPct val="0"/>
        </a:spcBef>
        <a:spcAft>
          <a:spcPts val="0"/>
        </a:spcAft>
        <a:buClrTx/>
        <a:buSzTx/>
        <a:buFontTx/>
        <a:buNone/>
        <a:defRPr sz="7245" b="0" i="0" u="none" strike="noStrike" cap="none" spc="320" baseline="0">
          <a:ln>
            <a:noFill/>
          </a:ln>
          <a:solidFill>
            <a:srgbClr val="00B0F0"/>
          </a:solidFill>
          <a:uFillTx/>
          <a:latin typeface="微软雅黑" pitchFamily="34" charset="-122"/>
          <a:ea typeface="微软雅黑" pitchFamily="34" charset="-122"/>
          <a:cs typeface="微软雅黑" pitchFamily="34" charset="-122"/>
          <a:sym typeface="微软雅黑" pitchFamily="34" charset="-122"/>
        </a:defRPr>
      </a:lvl1pPr>
      <a:lvl2pPr marL="0" marR="0" indent="0" algn="l" defTabSz="929005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6600" b="0" i="0" u="none" strike="noStrike" cap="none" spc="320" baseline="0">
          <a:ln>
            <a:noFill/>
          </a:ln>
          <a:solidFill>
            <a:srgbClr val="00B0F0"/>
          </a:solidFill>
          <a:uFillTx/>
          <a:latin typeface="微软雅黑" pitchFamily="34" charset="-122"/>
          <a:ea typeface="微软雅黑" pitchFamily="34" charset="-122"/>
          <a:cs typeface="微软雅黑" pitchFamily="34" charset="-122"/>
          <a:sym typeface="微软雅黑" pitchFamily="34" charset="-122"/>
        </a:defRPr>
      </a:lvl2pPr>
      <a:lvl3pPr marL="0" marR="0" indent="0" algn="l" defTabSz="929005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6600" b="0" i="0" u="none" strike="noStrike" cap="none" spc="320" baseline="0">
          <a:ln>
            <a:noFill/>
          </a:ln>
          <a:solidFill>
            <a:srgbClr val="00B0F0"/>
          </a:solidFill>
          <a:uFillTx/>
          <a:latin typeface="微软雅黑" pitchFamily="34" charset="-122"/>
          <a:ea typeface="微软雅黑" pitchFamily="34" charset="-122"/>
          <a:cs typeface="微软雅黑" pitchFamily="34" charset="-122"/>
          <a:sym typeface="微软雅黑" pitchFamily="34" charset="-122"/>
        </a:defRPr>
      </a:lvl3pPr>
      <a:lvl4pPr marL="0" marR="0" indent="0" algn="l" defTabSz="929005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6600" b="0" i="0" u="none" strike="noStrike" cap="none" spc="320" baseline="0">
          <a:ln>
            <a:noFill/>
          </a:ln>
          <a:solidFill>
            <a:srgbClr val="00B0F0"/>
          </a:solidFill>
          <a:uFillTx/>
          <a:latin typeface="微软雅黑" pitchFamily="34" charset="-122"/>
          <a:ea typeface="微软雅黑" pitchFamily="34" charset="-122"/>
          <a:cs typeface="微软雅黑" pitchFamily="34" charset="-122"/>
          <a:sym typeface="微软雅黑" pitchFamily="34" charset="-122"/>
        </a:defRPr>
      </a:lvl4pPr>
      <a:lvl5pPr marL="0" marR="0" indent="0" algn="l" defTabSz="929005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6600" b="0" i="0" u="none" strike="noStrike" cap="none" spc="320" baseline="0">
          <a:ln>
            <a:noFill/>
          </a:ln>
          <a:solidFill>
            <a:srgbClr val="00B0F0"/>
          </a:solidFill>
          <a:uFillTx/>
          <a:latin typeface="微软雅黑" pitchFamily="34" charset="-122"/>
          <a:ea typeface="微软雅黑" pitchFamily="34" charset="-122"/>
          <a:cs typeface="微软雅黑" pitchFamily="34" charset="-122"/>
          <a:sym typeface="微软雅黑" pitchFamily="34" charset="-122"/>
        </a:defRPr>
      </a:lvl5pPr>
      <a:lvl6pPr marL="0" marR="0" indent="0" algn="l" defTabSz="929005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6600" b="0" i="0" u="none" strike="noStrike" cap="none" spc="320" baseline="0">
          <a:ln>
            <a:noFill/>
          </a:ln>
          <a:solidFill>
            <a:srgbClr val="00B0F0"/>
          </a:solidFill>
          <a:uFillTx/>
          <a:latin typeface="微软雅黑" pitchFamily="34" charset="-122"/>
          <a:ea typeface="微软雅黑" pitchFamily="34" charset="-122"/>
          <a:cs typeface="微软雅黑" pitchFamily="34" charset="-122"/>
          <a:sym typeface="微软雅黑" pitchFamily="34" charset="-122"/>
        </a:defRPr>
      </a:lvl6pPr>
      <a:lvl7pPr marL="0" marR="0" indent="0" algn="l" defTabSz="929005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6600" b="0" i="0" u="none" strike="noStrike" cap="none" spc="320" baseline="0">
          <a:ln>
            <a:noFill/>
          </a:ln>
          <a:solidFill>
            <a:srgbClr val="00B0F0"/>
          </a:solidFill>
          <a:uFillTx/>
          <a:latin typeface="微软雅黑" pitchFamily="34" charset="-122"/>
          <a:ea typeface="微软雅黑" pitchFamily="34" charset="-122"/>
          <a:cs typeface="微软雅黑" pitchFamily="34" charset="-122"/>
          <a:sym typeface="微软雅黑" pitchFamily="34" charset="-122"/>
        </a:defRPr>
      </a:lvl7pPr>
      <a:lvl8pPr marL="0" marR="0" indent="0" algn="l" defTabSz="929005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6600" b="0" i="0" u="none" strike="noStrike" cap="none" spc="320" baseline="0">
          <a:ln>
            <a:noFill/>
          </a:ln>
          <a:solidFill>
            <a:srgbClr val="00B0F0"/>
          </a:solidFill>
          <a:uFillTx/>
          <a:latin typeface="微软雅黑" pitchFamily="34" charset="-122"/>
          <a:ea typeface="微软雅黑" pitchFamily="34" charset="-122"/>
          <a:cs typeface="微软雅黑" pitchFamily="34" charset="-122"/>
          <a:sym typeface="微软雅黑" pitchFamily="34" charset="-122"/>
        </a:defRPr>
      </a:lvl8pPr>
      <a:lvl9pPr marL="0" marR="0" indent="0" algn="l" defTabSz="929005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6600" b="0" i="0" u="none" strike="noStrike" cap="none" spc="320" baseline="0">
          <a:ln>
            <a:noFill/>
          </a:ln>
          <a:solidFill>
            <a:srgbClr val="00B0F0"/>
          </a:solidFill>
          <a:uFillTx/>
          <a:latin typeface="微软雅黑" pitchFamily="34" charset="-122"/>
          <a:ea typeface="微软雅黑" pitchFamily="34" charset="-122"/>
          <a:cs typeface="微软雅黑" pitchFamily="34" charset="-122"/>
          <a:sym typeface="微软雅黑" pitchFamily="34" charset="-122"/>
        </a:defRPr>
      </a:lvl9pPr>
    </p:titleStyle>
    <p:bodyStyle>
      <a:lvl1pPr marL="0" marR="0" indent="0" algn="l" defTabSz="1020445" rtl="0" latinLnBrk="0">
        <a:lnSpc>
          <a:spcPct val="130000"/>
        </a:lnSpc>
        <a:spcBef>
          <a:spcPts val="1095"/>
        </a:spcBef>
        <a:spcAft>
          <a:spcPts val="0"/>
        </a:spcAft>
        <a:buClrTx/>
        <a:buSzTx/>
        <a:buFontTx/>
        <a:buNone/>
        <a:defRPr sz="4830" b="0" i="0" u="none" strike="noStrike" cap="none" spc="0" baseline="0">
          <a:ln>
            <a:noFill/>
          </a:ln>
          <a:solidFill>
            <a:schemeClr val="accent5"/>
          </a:solidFill>
          <a:uFillTx/>
          <a:latin typeface="微软雅黑" pitchFamily="34" charset="-122"/>
          <a:ea typeface="微软雅黑" pitchFamily="34" charset="-122"/>
          <a:cs typeface="微软雅黑" pitchFamily="34" charset="-122"/>
          <a:sym typeface="微软雅黑" pitchFamily="34" charset="-122"/>
        </a:defRPr>
      </a:lvl1pPr>
      <a:lvl2pPr marL="942340" marR="0" indent="-440690" algn="l" defTabSz="1020445" rtl="0" latinLnBrk="0">
        <a:lnSpc>
          <a:spcPct val="130000"/>
        </a:lnSpc>
        <a:spcBef>
          <a:spcPts val="1095"/>
        </a:spcBef>
        <a:spcAft>
          <a:spcPts val="0"/>
        </a:spcAft>
        <a:buClrTx/>
        <a:buSzPct val="100000"/>
        <a:buFontTx/>
        <a:buChar char="•"/>
        <a:defRPr sz="4830" b="0" i="0" u="none" strike="noStrike" cap="none" spc="0" baseline="0">
          <a:ln>
            <a:noFill/>
          </a:ln>
          <a:solidFill>
            <a:schemeClr val="accent5"/>
          </a:solidFill>
          <a:uFillTx/>
          <a:latin typeface="微软雅黑" pitchFamily="34" charset="-122"/>
          <a:ea typeface="微软雅黑" pitchFamily="34" charset="-122"/>
          <a:cs typeface="微软雅黑" pitchFamily="34" charset="-122"/>
          <a:sym typeface="微软雅黑" pitchFamily="34" charset="-122"/>
        </a:defRPr>
      </a:lvl2pPr>
      <a:lvl3pPr marL="1443990" marR="0" indent="-440690" algn="l" defTabSz="1020445" rtl="0" latinLnBrk="0">
        <a:lnSpc>
          <a:spcPct val="130000"/>
        </a:lnSpc>
        <a:spcBef>
          <a:spcPts val="1095"/>
        </a:spcBef>
        <a:spcAft>
          <a:spcPts val="0"/>
        </a:spcAft>
        <a:buClrTx/>
        <a:buSzPct val="100000"/>
        <a:buFontTx/>
        <a:buChar char="•"/>
        <a:defRPr sz="4830" b="0" i="0" u="none" strike="noStrike" cap="none" spc="0" baseline="0">
          <a:ln>
            <a:noFill/>
          </a:ln>
          <a:solidFill>
            <a:schemeClr val="accent5"/>
          </a:solidFill>
          <a:uFillTx/>
          <a:latin typeface="微软雅黑" pitchFamily="34" charset="-122"/>
          <a:ea typeface="微软雅黑" pitchFamily="34" charset="-122"/>
          <a:cs typeface="微软雅黑" pitchFamily="34" charset="-122"/>
          <a:sym typeface="微软雅黑" pitchFamily="34" charset="-122"/>
        </a:defRPr>
      </a:lvl3pPr>
      <a:lvl4pPr marL="1945640" marR="0" indent="-440690" algn="l" defTabSz="1020445" rtl="0" latinLnBrk="0">
        <a:lnSpc>
          <a:spcPct val="130000"/>
        </a:lnSpc>
        <a:spcBef>
          <a:spcPts val="1095"/>
        </a:spcBef>
        <a:spcAft>
          <a:spcPts val="0"/>
        </a:spcAft>
        <a:buClrTx/>
        <a:buSzPct val="100000"/>
        <a:buFontTx/>
        <a:buChar char="•"/>
        <a:defRPr sz="4830" b="0" i="0" u="none" strike="noStrike" cap="none" spc="0" baseline="0">
          <a:ln>
            <a:noFill/>
          </a:ln>
          <a:solidFill>
            <a:schemeClr val="accent5"/>
          </a:solidFill>
          <a:uFillTx/>
          <a:latin typeface="微软雅黑" pitchFamily="34" charset="-122"/>
          <a:ea typeface="微软雅黑" pitchFamily="34" charset="-122"/>
          <a:cs typeface="微软雅黑" pitchFamily="34" charset="-122"/>
          <a:sym typeface="微软雅黑" pitchFamily="34" charset="-122"/>
        </a:defRPr>
      </a:lvl4pPr>
      <a:lvl5pPr marL="2447290" marR="0" indent="-440690" algn="l" defTabSz="1020445" rtl="0" latinLnBrk="0">
        <a:lnSpc>
          <a:spcPct val="130000"/>
        </a:lnSpc>
        <a:spcBef>
          <a:spcPts val="1095"/>
        </a:spcBef>
        <a:spcAft>
          <a:spcPts val="0"/>
        </a:spcAft>
        <a:buClrTx/>
        <a:buSzPct val="100000"/>
        <a:buFontTx/>
        <a:buChar char="•"/>
        <a:defRPr sz="4830" b="0" i="0" u="none" strike="noStrike" cap="none" spc="0" baseline="0">
          <a:ln>
            <a:noFill/>
          </a:ln>
          <a:solidFill>
            <a:schemeClr val="accent5"/>
          </a:solidFill>
          <a:uFillTx/>
          <a:latin typeface="微软雅黑" pitchFamily="34" charset="-122"/>
          <a:ea typeface="微软雅黑" pitchFamily="34" charset="-122"/>
          <a:cs typeface="微软雅黑" pitchFamily="34" charset="-122"/>
          <a:sym typeface="微软雅黑" pitchFamily="34" charset="-122"/>
        </a:defRPr>
      </a:lvl5pPr>
      <a:lvl6pPr marL="3121660" marR="0" indent="-613410" algn="l" defTabSz="1020445" rtl="0" latinLnBrk="0">
        <a:lnSpc>
          <a:spcPct val="130000"/>
        </a:lnSpc>
        <a:spcBef>
          <a:spcPts val="1095"/>
        </a:spcBef>
        <a:spcAft>
          <a:spcPts val="0"/>
        </a:spcAft>
        <a:buClrTx/>
        <a:buSzPct val="100000"/>
        <a:buFontTx/>
        <a:buChar char="•"/>
        <a:defRPr sz="4830" b="0" i="0" u="none" strike="noStrike" cap="none" spc="0" baseline="0">
          <a:ln>
            <a:noFill/>
          </a:ln>
          <a:solidFill>
            <a:schemeClr val="accent5"/>
          </a:solidFill>
          <a:uFillTx/>
          <a:latin typeface="微软雅黑" pitchFamily="34" charset="-122"/>
          <a:ea typeface="微软雅黑" pitchFamily="34" charset="-122"/>
          <a:cs typeface="微软雅黑" pitchFamily="34" charset="-122"/>
          <a:sym typeface="微软雅黑" pitchFamily="34" charset="-122"/>
        </a:defRPr>
      </a:lvl6pPr>
      <a:lvl7pPr marL="3623945" marR="0" indent="-613410" algn="l" defTabSz="1020445" rtl="0" latinLnBrk="0">
        <a:lnSpc>
          <a:spcPct val="130000"/>
        </a:lnSpc>
        <a:spcBef>
          <a:spcPts val="1095"/>
        </a:spcBef>
        <a:spcAft>
          <a:spcPts val="0"/>
        </a:spcAft>
        <a:buClrTx/>
        <a:buSzPct val="100000"/>
        <a:buFontTx/>
        <a:buChar char="•"/>
        <a:defRPr sz="4830" b="0" i="0" u="none" strike="noStrike" cap="none" spc="0" baseline="0">
          <a:ln>
            <a:noFill/>
          </a:ln>
          <a:solidFill>
            <a:schemeClr val="accent5"/>
          </a:solidFill>
          <a:uFillTx/>
          <a:latin typeface="微软雅黑" pitchFamily="34" charset="-122"/>
          <a:ea typeface="微软雅黑" pitchFamily="34" charset="-122"/>
          <a:cs typeface="微软雅黑" pitchFamily="34" charset="-122"/>
          <a:sym typeface="微软雅黑" pitchFamily="34" charset="-122"/>
        </a:defRPr>
      </a:lvl7pPr>
      <a:lvl8pPr marL="4125595" marR="0" indent="-613410" algn="l" defTabSz="1020445" rtl="0" latinLnBrk="0">
        <a:lnSpc>
          <a:spcPct val="130000"/>
        </a:lnSpc>
        <a:spcBef>
          <a:spcPts val="1095"/>
        </a:spcBef>
        <a:spcAft>
          <a:spcPts val="0"/>
        </a:spcAft>
        <a:buClrTx/>
        <a:buSzPct val="100000"/>
        <a:buFontTx/>
        <a:buChar char="•"/>
        <a:defRPr sz="4830" b="0" i="0" u="none" strike="noStrike" cap="none" spc="0" baseline="0">
          <a:ln>
            <a:noFill/>
          </a:ln>
          <a:solidFill>
            <a:schemeClr val="accent5"/>
          </a:solidFill>
          <a:uFillTx/>
          <a:latin typeface="微软雅黑" pitchFamily="34" charset="-122"/>
          <a:ea typeface="微软雅黑" pitchFamily="34" charset="-122"/>
          <a:cs typeface="微软雅黑" pitchFamily="34" charset="-122"/>
          <a:sym typeface="微软雅黑" pitchFamily="34" charset="-122"/>
        </a:defRPr>
      </a:lvl8pPr>
      <a:lvl9pPr marL="4627245" marR="0" indent="-613410" algn="l" defTabSz="1020445" rtl="0" latinLnBrk="0">
        <a:lnSpc>
          <a:spcPct val="130000"/>
        </a:lnSpc>
        <a:spcBef>
          <a:spcPts val="1095"/>
        </a:spcBef>
        <a:spcAft>
          <a:spcPts val="0"/>
        </a:spcAft>
        <a:buClrTx/>
        <a:buSzPct val="100000"/>
        <a:buFontTx/>
        <a:buChar char="•"/>
        <a:defRPr sz="4830" b="0" i="0" u="none" strike="noStrike" cap="none" spc="0" baseline="0">
          <a:ln>
            <a:noFill/>
          </a:ln>
          <a:solidFill>
            <a:schemeClr val="accent5"/>
          </a:solidFill>
          <a:uFillTx/>
          <a:latin typeface="微软雅黑" pitchFamily="34" charset="-122"/>
          <a:ea typeface="微软雅黑" pitchFamily="34" charset="-122"/>
          <a:cs typeface="微软雅黑" pitchFamily="34" charset="-122"/>
          <a:sym typeface="微软雅黑" pitchFamily="34" charset="-122"/>
        </a:defRPr>
      </a:lvl9pPr>
    </p:bodyStyle>
    <p:otherStyle>
      <a:lvl1pPr marL="0" marR="0" indent="0" algn="r" defTabSz="2408555" rtl="0" latinLnBrk="0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defRPr sz="1315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0" algn="r" defTabSz="2408555" rtl="0" latinLnBrk="0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defRPr sz="1315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0" algn="r" defTabSz="2408555" rtl="0" latinLnBrk="0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defRPr sz="1315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0" algn="r" defTabSz="2408555" rtl="0" latinLnBrk="0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defRPr sz="1315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0" algn="r" defTabSz="2408555" rtl="0" latinLnBrk="0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defRPr sz="1315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0" algn="r" defTabSz="2408555" rtl="0" latinLnBrk="0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defRPr sz="1315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0" algn="r" defTabSz="2408555" rtl="0" latinLnBrk="0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defRPr sz="1315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0" algn="r" defTabSz="2408555" rtl="0" latinLnBrk="0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defRPr sz="1315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0" algn="r" defTabSz="2408555" rtl="0" latinLnBrk="0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defRPr sz="1315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756093" y="791163"/>
            <a:ext cx="31609665" cy="3292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756093" y="4609765"/>
            <a:ext cx="31609665" cy="13038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756093" y="18311002"/>
            <a:ext cx="8195098" cy="10518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6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1999965" y="18311002"/>
            <a:ext cx="11121919" cy="10518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6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25170659" y="18311002"/>
            <a:ext cx="8195098" cy="10518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6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</p:sldLayoutIdLst>
  <p:txStyles>
    <p:titleStyle>
      <a:lvl1pPr algn="ctr" defTabSz="3512185" rtl="0" eaLnBrk="1" latinLnBrk="0" hangingPunct="1">
        <a:spcBef>
          <a:spcPct val="0"/>
        </a:spcBef>
        <a:buNone/>
        <a:defRPr sz="16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16990" indent="-1316990" algn="l" defTabSz="3512185" rtl="0" eaLnBrk="1" latinLnBrk="0" hangingPunct="1">
        <a:spcBef>
          <a:spcPts val="380"/>
        </a:spcBef>
        <a:buFont typeface="Arial" panose="020B0604020202020204" pitchFamily="34" charset="0"/>
        <a:buChar char="•"/>
        <a:defRPr sz="12290" kern="1200">
          <a:solidFill>
            <a:schemeClr val="tx1"/>
          </a:solidFill>
          <a:latin typeface="+mn-lt"/>
          <a:ea typeface="+mn-ea"/>
          <a:cs typeface="+mn-cs"/>
        </a:defRPr>
      </a:lvl1pPr>
      <a:lvl2pPr marL="2853690" indent="-1097280" algn="l" defTabSz="3512185" rtl="0" eaLnBrk="1" latinLnBrk="0" hangingPunct="1">
        <a:spcBef>
          <a:spcPts val="380"/>
        </a:spcBef>
        <a:buFont typeface="Arial" panose="020B0604020202020204" pitchFamily="34" charset="0"/>
        <a:buChar char="–"/>
        <a:defRPr sz="10755" kern="1200">
          <a:solidFill>
            <a:schemeClr val="tx1"/>
          </a:solidFill>
          <a:latin typeface="+mn-lt"/>
          <a:ea typeface="+mn-ea"/>
          <a:cs typeface="+mn-cs"/>
        </a:defRPr>
      </a:lvl2pPr>
      <a:lvl3pPr marL="4390390" indent="-878205" algn="l" defTabSz="3512185" rtl="0" eaLnBrk="1" latinLnBrk="0" hangingPunct="1">
        <a:spcBef>
          <a:spcPts val="380"/>
        </a:spcBef>
        <a:buFont typeface="Arial" panose="020B0604020202020204" pitchFamily="34" charset="0"/>
        <a:buChar char="•"/>
        <a:defRPr sz="9220" kern="1200">
          <a:solidFill>
            <a:schemeClr val="tx1"/>
          </a:solidFill>
          <a:latin typeface="+mn-lt"/>
          <a:ea typeface="+mn-ea"/>
          <a:cs typeface="+mn-cs"/>
        </a:defRPr>
      </a:lvl3pPr>
      <a:lvl4pPr marL="6146165" indent="-878205" algn="l" defTabSz="3512185" rtl="0" eaLnBrk="1" latinLnBrk="0" hangingPunct="1">
        <a:spcBef>
          <a:spcPts val="380"/>
        </a:spcBef>
        <a:buFont typeface="Arial" panose="020B0604020202020204" pitchFamily="34" charset="0"/>
        <a:buChar char="–"/>
        <a:defRPr sz="7680" kern="1200">
          <a:solidFill>
            <a:schemeClr val="tx1"/>
          </a:solidFill>
          <a:latin typeface="+mn-lt"/>
          <a:ea typeface="+mn-ea"/>
          <a:cs typeface="+mn-cs"/>
        </a:defRPr>
      </a:lvl4pPr>
      <a:lvl5pPr marL="7902575" indent="-878205" algn="l" defTabSz="3512185" rtl="0" eaLnBrk="1" latinLnBrk="0" hangingPunct="1">
        <a:spcBef>
          <a:spcPts val="380"/>
        </a:spcBef>
        <a:buFont typeface="Arial" panose="020B0604020202020204" pitchFamily="34" charset="0"/>
        <a:buChar char="»"/>
        <a:defRPr sz="7680" kern="1200">
          <a:solidFill>
            <a:schemeClr val="tx1"/>
          </a:solidFill>
          <a:latin typeface="+mn-lt"/>
          <a:ea typeface="+mn-ea"/>
          <a:cs typeface="+mn-cs"/>
        </a:defRPr>
      </a:lvl5pPr>
      <a:lvl6pPr marL="9658350" indent="-878205" algn="l" defTabSz="3512185" rtl="0" eaLnBrk="1" latinLnBrk="0" hangingPunct="1">
        <a:spcBef>
          <a:spcPts val="380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6pPr>
      <a:lvl7pPr marL="11414760" indent="-878205" algn="l" defTabSz="3512185" rtl="0" eaLnBrk="1" latinLnBrk="0" hangingPunct="1">
        <a:spcBef>
          <a:spcPts val="380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7pPr>
      <a:lvl8pPr marL="13170535" indent="-878205" algn="l" defTabSz="3512185" rtl="0" eaLnBrk="1" latinLnBrk="0" hangingPunct="1">
        <a:spcBef>
          <a:spcPts val="380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8pPr>
      <a:lvl9pPr marL="14926945" indent="-878205" algn="l" defTabSz="3512185" rtl="0" eaLnBrk="1" latinLnBrk="0" hangingPunct="1">
        <a:spcBef>
          <a:spcPts val="380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512185" rtl="0" eaLnBrk="1" latinLnBrk="0" hangingPunct="1">
        <a:defRPr sz="6915" kern="1200">
          <a:solidFill>
            <a:schemeClr val="tx1"/>
          </a:solidFill>
          <a:latin typeface="+mn-lt"/>
          <a:ea typeface="+mn-ea"/>
          <a:cs typeface="+mn-cs"/>
        </a:defRPr>
      </a:lvl1pPr>
      <a:lvl2pPr marL="1756410" algn="l" defTabSz="3512185" rtl="0" eaLnBrk="1" latinLnBrk="0" hangingPunct="1">
        <a:defRPr sz="6915" kern="1200">
          <a:solidFill>
            <a:schemeClr val="tx1"/>
          </a:solidFill>
          <a:latin typeface="+mn-lt"/>
          <a:ea typeface="+mn-ea"/>
          <a:cs typeface="+mn-cs"/>
        </a:defRPr>
      </a:lvl2pPr>
      <a:lvl3pPr marL="3512185" algn="l" defTabSz="3512185" rtl="0" eaLnBrk="1" latinLnBrk="0" hangingPunct="1">
        <a:defRPr sz="6915" kern="1200">
          <a:solidFill>
            <a:schemeClr val="tx1"/>
          </a:solidFill>
          <a:latin typeface="+mn-lt"/>
          <a:ea typeface="+mn-ea"/>
          <a:cs typeface="+mn-cs"/>
        </a:defRPr>
      </a:lvl3pPr>
      <a:lvl4pPr marL="5268595" algn="l" defTabSz="3512185" rtl="0" eaLnBrk="1" latinLnBrk="0" hangingPunct="1">
        <a:defRPr sz="6915" kern="1200">
          <a:solidFill>
            <a:schemeClr val="tx1"/>
          </a:solidFill>
          <a:latin typeface="+mn-lt"/>
          <a:ea typeface="+mn-ea"/>
          <a:cs typeface="+mn-cs"/>
        </a:defRPr>
      </a:lvl4pPr>
      <a:lvl5pPr marL="7024370" algn="l" defTabSz="3512185" rtl="0" eaLnBrk="1" latinLnBrk="0" hangingPunct="1">
        <a:defRPr sz="6915" kern="1200">
          <a:solidFill>
            <a:schemeClr val="tx1"/>
          </a:solidFill>
          <a:latin typeface="+mn-lt"/>
          <a:ea typeface="+mn-ea"/>
          <a:cs typeface="+mn-cs"/>
        </a:defRPr>
      </a:lvl5pPr>
      <a:lvl6pPr marL="8780780" algn="l" defTabSz="3512185" rtl="0" eaLnBrk="1" latinLnBrk="0" hangingPunct="1">
        <a:defRPr sz="6915" kern="1200">
          <a:solidFill>
            <a:schemeClr val="tx1"/>
          </a:solidFill>
          <a:latin typeface="+mn-lt"/>
          <a:ea typeface="+mn-ea"/>
          <a:cs typeface="+mn-cs"/>
        </a:defRPr>
      </a:lvl6pPr>
      <a:lvl7pPr marL="10536555" algn="l" defTabSz="3512185" rtl="0" eaLnBrk="1" latinLnBrk="0" hangingPunct="1">
        <a:defRPr sz="6915" kern="1200">
          <a:solidFill>
            <a:schemeClr val="tx1"/>
          </a:solidFill>
          <a:latin typeface="+mn-lt"/>
          <a:ea typeface="+mn-ea"/>
          <a:cs typeface="+mn-cs"/>
        </a:defRPr>
      </a:lvl7pPr>
      <a:lvl8pPr marL="12292965" algn="l" defTabSz="3512185" rtl="0" eaLnBrk="1" latinLnBrk="0" hangingPunct="1">
        <a:defRPr sz="6915" kern="1200">
          <a:solidFill>
            <a:schemeClr val="tx1"/>
          </a:solidFill>
          <a:latin typeface="+mn-lt"/>
          <a:ea typeface="+mn-ea"/>
          <a:cs typeface="+mn-cs"/>
        </a:defRPr>
      </a:lvl8pPr>
      <a:lvl9pPr marL="14048740" algn="l" defTabSz="3512185" rtl="0" eaLnBrk="1" latinLnBrk="0" hangingPunct="1">
        <a:defRPr sz="69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38.jpeg"/><Relationship Id="rId1" Type="http://schemas.openxmlformats.org/officeDocument/2006/relationships/image" Target="../media/image3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6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6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8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50.xml"/><Relationship Id="rId7" Type="http://schemas.openxmlformats.org/officeDocument/2006/relationships/image" Target="../media/image46.png"/><Relationship Id="rId6" Type="http://schemas.microsoft.com/office/2007/relationships/hdphoto" Target="../media/image45.wdp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0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50.xml"/><Relationship Id="rId7" Type="http://schemas.openxmlformats.org/officeDocument/2006/relationships/image" Target="../media/image1.svg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tags" Target="../tags/tag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0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3.xml"/><Relationship Id="rId8" Type="http://schemas.openxmlformats.org/officeDocument/2006/relationships/slideLayout" Target="../slideLayouts/slideLayout50.xml"/><Relationship Id="rId7" Type="http://schemas.openxmlformats.org/officeDocument/2006/relationships/tags" Target="../tags/tag5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image" Target="../media/image52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0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0.xml"/><Relationship Id="rId8" Type="http://schemas.openxmlformats.org/officeDocument/2006/relationships/image" Target="../media/image5.svg"/><Relationship Id="rId7" Type="http://schemas.openxmlformats.org/officeDocument/2006/relationships/image" Target="../media/image59.png"/><Relationship Id="rId6" Type="http://schemas.openxmlformats.org/officeDocument/2006/relationships/image" Target="../media/image4.svg"/><Relationship Id="rId5" Type="http://schemas.openxmlformats.org/officeDocument/2006/relationships/image" Target="../media/image58.png"/><Relationship Id="rId4" Type="http://schemas.openxmlformats.org/officeDocument/2006/relationships/image" Target="../media/image3.svg"/><Relationship Id="rId3" Type="http://schemas.openxmlformats.org/officeDocument/2006/relationships/image" Target="../media/image57.png"/><Relationship Id="rId2" Type="http://schemas.openxmlformats.org/officeDocument/2006/relationships/image" Target="../media/image2.svg"/><Relationship Id="rId1" Type="http://schemas.openxmlformats.org/officeDocument/2006/relationships/image" Target="../media/image5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61.jpeg"/><Relationship Id="rId1" Type="http://schemas.openxmlformats.org/officeDocument/2006/relationships/image" Target="../media/image60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63.png"/><Relationship Id="rId1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内容占位符 1"/>
          <p:cNvSpPr>
            <a:spLocks noGrp="1"/>
          </p:cNvSpPr>
          <p:nvPr>
            <p:ph sz="quarter" idx="13"/>
          </p:nvPr>
        </p:nvSpPr>
        <p:spPr>
          <a:xfrm>
            <a:off x="3232318" y="6854460"/>
            <a:ext cx="18042789" cy="3239990"/>
          </a:xfrm>
          <a:noFill/>
          <a:ln>
            <a:noFill/>
          </a:ln>
        </p:spPr>
        <p:txBody>
          <a:bodyPr anchor="t"/>
          <a:lstStyle/>
          <a:p>
            <a:r>
              <a:rPr lang="zh-CN" altLang="en-US" kern="1200" dirty="0">
                <a:solidFill>
                  <a:srgbClr val="595959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cs typeface="+mn-cs"/>
              </a:rPr>
              <a:t>全景供应链</a:t>
            </a:r>
            <a:endParaRPr lang="zh-CN" altLang="en-US" kern="1200" dirty="0">
              <a:solidFill>
                <a:srgbClr val="595959"/>
              </a:solidFill>
              <a:latin typeface="方正兰亭黑_GBK" panose="02000000000000000000" pitchFamily="2" charset="-122"/>
              <a:ea typeface="方正兰亭黑_GBK" panose="02000000000000000000" pitchFamily="2" charset="-122"/>
              <a:cs typeface="+mn-cs"/>
            </a:endParaRPr>
          </a:p>
        </p:txBody>
      </p:sp>
      <p:sp>
        <p:nvSpPr>
          <p:cNvPr id="2" name="内容占位符 1"/>
          <p:cNvSpPr/>
          <p:nvPr>
            <p:ph sz="quarter" idx="16"/>
          </p:nvPr>
        </p:nvSpPr>
        <p:spPr>
          <a:xfrm>
            <a:off x="3015615" y="12614275"/>
            <a:ext cx="17999075" cy="4237990"/>
          </a:xfrm>
        </p:spPr>
        <p:txBody>
          <a:bodyPr/>
          <a:p>
            <a:r>
              <a:rPr lang="zh-CN" altLang="en-US"/>
              <a:t>冯勇波</a:t>
            </a:r>
            <a:endParaRPr lang="zh-CN" altLang="en-US"/>
          </a:p>
          <a:p>
            <a:r>
              <a:rPr lang="en-US" altLang="zh-CN"/>
              <a:t>20230810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TextBox 7"/>
          <p:cNvSpPr>
            <a:spLocks noChangeArrowheads="1"/>
          </p:cNvSpPr>
          <p:nvPr/>
        </p:nvSpPr>
        <p:spPr bwMode="auto">
          <a:xfrm>
            <a:off x="1552827" y="1189276"/>
            <a:ext cx="28420648" cy="1154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sym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sym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sym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sym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sym typeface="Arial" panose="020B0604020202020204" pitchFamily="34" charset="0"/>
              </a:defRPr>
            </a:lvl9pPr>
          </a:lstStyle>
          <a:p>
            <a:pPr defTabSz="2004695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sz="7680" b="1" dirty="0">
                <a:solidFill>
                  <a:schemeClr val="tx1">
                    <a:lumMod val="65000"/>
                    <a:lumOff val="35000"/>
                  </a:schemeClr>
                </a:solidFill>
                <a:ea typeface="方正兰亭黑_GBK" panose="02000000000000000000" pitchFamily="2" charset="-122"/>
                <a:cs typeface="+mj-cs"/>
                <a:sym typeface="宋体" pitchFamily="2" charset="-122"/>
              </a:rPr>
              <a:t>大纲</a:t>
            </a:r>
            <a:endParaRPr lang="zh-CN" altLang="en-US" sz="7680" b="1" dirty="0">
              <a:solidFill>
                <a:schemeClr val="tx1">
                  <a:lumMod val="65000"/>
                  <a:lumOff val="35000"/>
                </a:schemeClr>
              </a:solidFill>
              <a:ea typeface="方正兰亭黑_GBK" panose="02000000000000000000" pitchFamily="2" charset="-122"/>
              <a:cs typeface="+mj-cs"/>
              <a:sym typeface="宋体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151642" y="5053817"/>
            <a:ext cx="19801650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dirty="0">
                <a:latin typeface="微软雅黑" pitchFamily="34" charset="-122"/>
                <a:ea typeface="微软雅黑" pitchFamily="34" charset="-122"/>
              </a:rPr>
              <a:t>1.</a:t>
            </a:r>
            <a:r>
              <a:rPr lang="zh-CN" altLang="en-US" sz="7200" dirty="0">
                <a:latin typeface="微软雅黑" pitchFamily="34" charset="-122"/>
                <a:ea typeface="微软雅黑" pitchFamily="34" charset="-122"/>
              </a:rPr>
              <a:t>供应链的角色定位</a:t>
            </a:r>
            <a:endParaRPr lang="en-US" altLang="zh-CN" sz="7200" dirty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7200" dirty="0">
              <a:latin typeface="微软雅黑" pitchFamily="34" charset="-122"/>
              <a:ea typeface="微软雅黑" pitchFamily="34" charset="-122"/>
            </a:endParaRPr>
          </a:p>
          <a:p>
            <a:pPr indent="0">
              <a:buNone/>
            </a:pPr>
            <a:r>
              <a:rPr lang="en-US" altLang="zh-CN" sz="7200" dirty="0">
                <a:latin typeface="微软雅黑" pitchFamily="34" charset="-122"/>
                <a:ea typeface="微软雅黑" pitchFamily="34" charset="-122"/>
              </a:rPr>
              <a:t>2.</a:t>
            </a:r>
            <a:r>
              <a:rPr lang="zh-CN" altLang="en-US" sz="7200" dirty="0">
                <a:latin typeface="微软雅黑" pitchFamily="34" charset="-122"/>
                <a:ea typeface="微软雅黑" pitchFamily="34" charset="-122"/>
              </a:rPr>
              <a:t>供应链管理的主要内容</a:t>
            </a:r>
            <a:endParaRPr lang="zh-CN" altLang="en-US" sz="7200" dirty="0">
              <a:latin typeface="微软雅黑" pitchFamily="34" charset="-122"/>
              <a:ea typeface="微软雅黑" pitchFamily="34" charset="-122"/>
            </a:endParaRPr>
          </a:p>
          <a:p>
            <a:pPr indent="0">
              <a:buNone/>
            </a:pPr>
            <a:endParaRPr lang="en-US" altLang="zh-CN" sz="7200" dirty="0">
              <a:latin typeface="微软雅黑" pitchFamily="34" charset="-122"/>
              <a:ea typeface="微软雅黑" pitchFamily="34" charset="-122"/>
            </a:endParaRPr>
          </a:p>
          <a:p>
            <a:pPr indent="0">
              <a:buNone/>
            </a:pPr>
            <a:r>
              <a:rPr lang="en-US" altLang="zh-CN" sz="7200" dirty="0">
                <a:latin typeface="微软雅黑" pitchFamily="34" charset="-122"/>
                <a:ea typeface="微软雅黑" pitchFamily="34" charset="-122"/>
              </a:rPr>
              <a:t>3.</a:t>
            </a:r>
            <a:r>
              <a:rPr lang="zh-CN" altLang="en-US" sz="7200" dirty="0">
                <a:latin typeface="微软雅黑" pitchFamily="34" charset="-122"/>
                <a:ea typeface="微软雅黑" pitchFamily="34" charset="-122"/>
              </a:rPr>
              <a:t>供应链的未来：</a:t>
            </a:r>
            <a:r>
              <a:rPr lang="zh-CN" altLang="en-US" sz="7200" dirty="0">
                <a:latin typeface="微软雅黑" pitchFamily="34" charset="-122"/>
                <a:ea typeface="微软雅黑" pitchFamily="34" charset="-122"/>
              </a:rPr>
              <a:t>数字化</a:t>
            </a:r>
            <a:endParaRPr lang="zh-CN" altLang="en-US" sz="720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2004695"/>
            <a:r>
              <a:rPr lang="zh-CN" altLang="en-US" sz="7680" dirty="0">
                <a:ea typeface="方正兰亭黑_GBK" panose="02000000000000000000" pitchFamily="2" charset="-122"/>
              </a:rPr>
              <a:t>包子铺的故事</a:t>
            </a:r>
            <a:endParaRPr lang="zh-CN" altLang="en-US" sz="7680" dirty="0">
              <a:ea typeface="方正兰亭黑_GBK" panose="02000000000000000000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159726" y="4333757"/>
            <a:ext cx="30292596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latin typeface="楷体" panose="02010609060101010101" pitchFamily="49" charset="-122"/>
                <a:ea typeface="楷体" panose="02010609060101010101" pitchFamily="49" charset="-122"/>
              </a:rPr>
              <a:t>背景：天津有一家老字号包子铺，叫“狗不理”；爷爷负责包子的配方，做法工艺，也是祖传的手艺；爸爸负责制定包子的价格，吆喝；妈妈负责包子的制作；儿子负责购买面粉、肉、菜等原材料</a:t>
            </a:r>
            <a:endParaRPr lang="en-US" altLang="zh-CN" sz="6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sz="5400" dirty="0"/>
          </a:p>
          <a:p>
            <a:endParaRPr lang="zh-CN" altLang="en-US" sz="5400" dirty="0"/>
          </a:p>
        </p:txBody>
      </p:sp>
      <p:sp>
        <p:nvSpPr>
          <p:cNvPr id="7" name="文本框 6"/>
          <p:cNvSpPr txBox="1"/>
          <p:nvPr/>
        </p:nvSpPr>
        <p:spPr>
          <a:xfrm>
            <a:off x="3159726" y="8858072"/>
            <a:ext cx="30098508" cy="9878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800" dirty="0">
                <a:latin typeface="微软雅黑" pitchFamily="34" charset="-122"/>
                <a:ea typeface="微软雅黑" pitchFamily="34" charset="-122"/>
              </a:rPr>
              <a:t>一天，爸爸接到了</a:t>
            </a:r>
            <a:r>
              <a:rPr lang="en-US" altLang="zh-CN" sz="48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4800" dirty="0">
                <a:latin typeface="微软雅黑" pitchFamily="34" charset="-122"/>
                <a:ea typeface="微软雅黑" pitchFamily="34" charset="-122"/>
              </a:rPr>
              <a:t>张大订单，为一家公司供应早餐，每天供应</a:t>
            </a:r>
            <a:r>
              <a:rPr lang="en-US" altLang="zh-CN" sz="4800" dirty="0">
                <a:latin typeface="微软雅黑" pitchFamily="34" charset="-122"/>
                <a:ea typeface="微软雅黑" pitchFamily="34" charset="-122"/>
              </a:rPr>
              <a:t>1000</a:t>
            </a:r>
            <a:r>
              <a:rPr lang="zh-CN" altLang="en-US" sz="4800" dirty="0">
                <a:latin typeface="微软雅黑" pitchFamily="34" charset="-122"/>
                <a:ea typeface="微软雅黑" pitchFamily="34" charset="-122"/>
              </a:rPr>
              <a:t>个包子，每个包子价格为</a:t>
            </a:r>
            <a:r>
              <a:rPr lang="en-US" altLang="zh-CN" sz="48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4800" dirty="0">
                <a:latin typeface="微软雅黑" pitchFamily="34" charset="-122"/>
                <a:ea typeface="微软雅黑" pitchFamily="34" charset="-122"/>
              </a:rPr>
              <a:t>元（在档口，一个包子卖</a:t>
            </a:r>
            <a:r>
              <a:rPr lang="en-US" altLang="zh-CN" sz="4800" dirty="0">
                <a:latin typeface="微软雅黑" pitchFamily="34" charset="-122"/>
                <a:ea typeface="微软雅黑" pitchFamily="34" charset="-122"/>
              </a:rPr>
              <a:t>1.5</a:t>
            </a:r>
            <a:r>
              <a:rPr lang="zh-CN" altLang="en-US" sz="4800" dirty="0">
                <a:latin typeface="微软雅黑" pitchFamily="34" charset="-122"/>
                <a:ea typeface="微软雅黑" pitchFamily="34" charset="-122"/>
              </a:rPr>
              <a:t>元），全家既开心又惆怅，开心的是这是一个大生意，惆怅的是价格很低，几乎没有利润，同时每天出</a:t>
            </a:r>
            <a:r>
              <a:rPr lang="en-US" altLang="zh-CN" sz="4800" dirty="0">
                <a:latin typeface="微软雅黑" pitchFamily="34" charset="-122"/>
                <a:ea typeface="微软雅黑" pitchFamily="34" charset="-122"/>
              </a:rPr>
              <a:t>1000</a:t>
            </a:r>
            <a:r>
              <a:rPr lang="zh-CN" altLang="en-US" sz="4800" dirty="0">
                <a:latin typeface="微软雅黑" pitchFamily="34" charset="-122"/>
                <a:ea typeface="微软雅黑" pitchFamily="34" charset="-122"/>
              </a:rPr>
              <a:t>个包子，对于家庭作坊来讲，比较困难，于是全家展开了行动：</a:t>
            </a:r>
            <a:endParaRPr lang="en-US" altLang="zh-CN" sz="48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48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48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4800" dirty="0">
                <a:latin typeface="微软雅黑" pitchFamily="34" charset="-122"/>
                <a:ea typeface="微软雅黑" pitchFamily="34" charset="-122"/>
              </a:rPr>
              <a:t>、爷爷研究在保证口感的前提下，是否有其他的替代馅料（鸡肉、蛋白肉等）</a:t>
            </a:r>
            <a:endParaRPr lang="en-US" altLang="zh-CN" sz="48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48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4800" dirty="0">
                <a:latin typeface="微软雅黑" pitchFamily="34" charset="-122"/>
                <a:ea typeface="微软雅黑" pitchFamily="34" charset="-122"/>
              </a:rPr>
              <a:t>、妈妈负责盘算如何每天产出</a:t>
            </a:r>
            <a:r>
              <a:rPr lang="en-US" altLang="zh-CN" sz="4800" dirty="0">
                <a:latin typeface="微软雅黑" pitchFamily="34" charset="-122"/>
                <a:ea typeface="微软雅黑" pitchFamily="34" charset="-122"/>
              </a:rPr>
              <a:t>1000</a:t>
            </a:r>
            <a:r>
              <a:rPr lang="zh-CN" altLang="en-US" sz="4800" dirty="0">
                <a:latin typeface="微软雅黑" pitchFamily="34" charset="-122"/>
                <a:ea typeface="微软雅黑" pitchFamily="34" charset="-122"/>
              </a:rPr>
              <a:t>个包子，需要多雇几个工人，增加几个灶台，蒸笼</a:t>
            </a:r>
            <a:endParaRPr lang="en-US" altLang="zh-CN" sz="48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4800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4800" dirty="0">
                <a:latin typeface="微软雅黑" pitchFamily="34" charset="-122"/>
                <a:ea typeface="微软雅黑" pitchFamily="34" charset="-122"/>
              </a:rPr>
              <a:t>、儿子负责寻找新的大型菜贩，以稳定供应，同时谈批量采购价格的折扣</a:t>
            </a:r>
            <a:endParaRPr lang="en-US" altLang="zh-CN" sz="48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4400" dirty="0"/>
          </a:p>
          <a:p>
            <a:pPr>
              <a:lnSpc>
                <a:spcPct val="150000"/>
              </a:lnSpc>
            </a:pPr>
            <a:endParaRPr lang="zh-CN" altLang="en-US" sz="4400" dirty="0"/>
          </a:p>
        </p:txBody>
      </p:sp>
      <p:sp>
        <p:nvSpPr>
          <p:cNvPr id="8" name="文本框 7"/>
          <p:cNvSpPr txBox="1"/>
          <p:nvPr/>
        </p:nvSpPr>
        <p:spPr>
          <a:xfrm>
            <a:off x="27292948" y="13382387"/>
            <a:ext cx="50404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----</a:t>
            </a:r>
            <a:r>
              <a:rPr lang="zh-CN" altLang="en-US" sz="5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产品研发</a:t>
            </a:r>
            <a:endParaRPr lang="zh-CN" altLang="en-US" sz="5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7292948" y="14500275"/>
            <a:ext cx="50404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----</a:t>
            </a:r>
            <a:r>
              <a:rPr lang="zh-CN" altLang="en-US" sz="5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生产制造</a:t>
            </a:r>
            <a:endParaRPr lang="zh-CN" altLang="en-US" sz="5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7292948" y="15662250"/>
            <a:ext cx="50404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----</a:t>
            </a:r>
            <a:r>
              <a:rPr lang="zh-CN" altLang="en-US" sz="5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采购寻源</a:t>
            </a:r>
            <a:endParaRPr lang="zh-CN" altLang="en-US" sz="5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7292948" y="11217508"/>
            <a:ext cx="50404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----</a:t>
            </a:r>
            <a:r>
              <a:rPr lang="zh-CN" altLang="en-US" sz="5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商务谈判</a:t>
            </a:r>
            <a:endParaRPr lang="zh-CN" altLang="en-US" sz="5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TextBox 7"/>
          <p:cNvSpPr>
            <a:spLocks noChangeArrowheads="1"/>
          </p:cNvSpPr>
          <p:nvPr/>
        </p:nvSpPr>
        <p:spPr bwMode="auto">
          <a:xfrm>
            <a:off x="1552827" y="1189276"/>
            <a:ext cx="28420648" cy="1154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sym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sym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sym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sym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sym typeface="Arial" panose="020B0604020202020204" pitchFamily="34" charset="0"/>
              </a:defRPr>
            </a:lvl9pPr>
          </a:lstStyle>
          <a:p>
            <a:pPr defTabSz="2004695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zh-CN" altLang="en-US" sz="7680" b="1" dirty="0">
                <a:solidFill>
                  <a:schemeClr val="tx1">
                    <a:lumMod val="65000"/>
                    <a:lumOff val="35000"/>
                  </a:schemeClr>
                </a:solidFill>
                <a:ea typeface="方正兰亭黑_GBK" panose="02000000000000000000" pitchFamily="2" charset="-122"/>
                <a:cs typeface="+mj-cs"/>
                <a:sym typeface="宋体" pitchFamily="2" charset="-122"/>
              </a:rPr>
              <a:t>供应链的角色定位</a:t>
            </a:r>
            <a:endParaRPr lang="zh-CN" altLang="en-US" sz="7680" b="1" dirty="0">
              <a:solidFill>
                <a:schemeClr val="tx1">
                  <a:lumMod val="65000"/>
                  <a:lumOff val="35000"/>
                </a:schemeClr>
              </a:solidFill>
              <a:ea typeface="方正兰亭黑_GBK" panose="02000000000000000000" pitchFamily="2" charset="-122"/>
              <a:cs typeface="+mj-cs"/>
              <a:sym typeface="宋体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3661159" y="9014125"/>
            <a:ext cx="5808195" cy="5841658"/>
            <a:chOff x="3131840" y="1740844"/>
            <a:chExt cx="1512168" cy="1520880"/>
          </a:xfrm>
        </p:grpSpPr>
        <p:sp>
          <p:nvSpPr>
            <p:cNvPr id="3" name="箭头: 左右 2"/>
            <p:cNvSpPr/>
            <p:nvPr/>
          </p:nvSpPr>
          <p:spPr bwMode="auto">
            <a:xfrm rot="7542584">
              <a:off x="2691346" y="2352912"/>
              <a:ext cx="1512168" cy="288032"/>
            </a:xfrm>
            <a:prstGeom prst="leftRightArrow">
              <a:avLst/>
            </a:prstGeom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style>
            <a:lnRef idx="0">
              <a:scrgbClr r="0" g="0" b="0"/>
            </a:lnRef>
            <a:fillRef idx="1001">
              <a:schemeClr val="dk2"/>
            </a:fillRef>
            <a:effectRef idx="0">
              <a:scrgbClr r="0" g="0" b="0"/>
            </a:effectRef>
            <a:fontRef idx="major"/>
          </p:style>
          <p:txBody>
            <a:bodyPr vert="horz" wrap="square" lIns="351219" tIns="175609" rIns="351219" bIns="175609" numCol="1" rtlCol="0" anchor="t" anchorCtr="0" compatLnSpc="1"/>
            <a:lstStyle/>
            <a:p>
              <a:pPr defTabSz="3512185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6915">
                <a:latin typeface="Arial" panose="020B0604020202020204" pitchFamily="34" charset="0"/>
                <a:ea typeface="宋体" pitchFamily="2" charset="-122"/>
              </a:endParaRPr>
            </a:p>
          </p:txBody>
        </p:sp>
        <p:sp>
          <p:nvSpPr>
            <p:cNvPr id="6" name="箭头: 左右 5"/>
            <p:cNvSpPr/>
            <p:nvPr/>
          </p:nvSpPr>
          <p:spPr bwMode="auto">
            <a:xfrm rot="10800000">
              <a:off x="3131840" y="2887697"/>
              <a:ext cx="1512168" cy="288032"/>
            </a:xfrm>
            <a:prstGeom prst="leftRightArrow">
              <a:avLst/>
            </a:prstGeom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style>
            <a:lnRef idx="0">
              <a:scrgbClr r="0" g="0" b="0"/>
            </a:lnRef>
            <a:fillRef idx="1001">
              <a:schemeClr val="dk2"/>
            </a:fillRef>
            <a:effectRef idx="0">
              <a:scrgbClr r="0" g="0" b="0"/>
            </a:effectRef>
            <a:fontRef idx="major"/>
          </p:style>
          <p:txBody>
            <a:bodyPr vert="horz" wrap="square" lIns="351219" tIns="175609" rIns="351219" bIns="175609" numCol="1" rtlCol="0" anchor="t" anchorCtr="0" compatLnSpc="1"/>
            <a:lstStyle/>
            <a:p>
              <a:pPr defTabSz="3512185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6915">
                <a:latin typeface="Arial" panose="020B0604020202020204" pitchFamily="34" charset="0"/>
                <a:ea typeface="宋体" pitchFamily="2" charset="-122"/>
              </a:endParaRPr>
            </a:p>
          </p:txBody>
        </p:sp>
        <p:sp>
          <p:nvSpPr>
            <p:cNvPr id="7" name="箭头: 左右 6"/>
            <p:cNvSpPr/>
            <p:nvPr/>
          </p:nvSpPr>
          <p:spPr bwMode="auto">
            <a:xfrm rot="3260174">
              <a:off x="3572760" y="2361624"/>
              <a:ext cx="1512168" cy="288032"/>
            </a:xfrm>
            <a:prstGeom prst="leftRightArrow">
              <a:avLst/>
            </a:prstGeom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style>
            <a:lnRef idx="0">
              <a:scrgbClr r="0" g="0" b="0"/>
            </a:lnRef>
            <a:fillRef idx="1001">
              <a:schemeClr val="dk2"/>
            </a:fillRef>
            <a:effectRef idx="0">
              <a:scrgbClr r="0" g="0" b="0"/>
            </a:effectRef>
            <a:fontRef idx="major"/>
          </p:style>
          <p:txBody>
            <a:bodyPr vert="horz" wrap="square" lIns="351219" tIns="175609" rIns="351219" bIns="175609" numCol="1" rtlCol="0" anchor="t" anchorCtr="0" compatLnSpc="1"/>
            <a:lstStyle/>
            <a:p>
              <a:pPr defTabSz="3512185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6915">
                <a:latin typeface="Arial" panose="020B0604020202020204" pitchFamily="34" charset="0"/>
                <a:ea typeface="宋体" pitchFamily="2" charset="-122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13107997" y="7078060"/>
            <a:ext cx="7744260" cy="1155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915" dirty="0"/>
              <a:t>商务</a:t>
            </a:r>
            <a:endParaRPr lang="zh-CN" altLang="en-US" sz="6915" dirty="0"/>
          </a:p>
        </p:txBody>
      </p:sp>
      <p:sp>
        <p:nvSpPr>
          <p:cNvPr id="10" name="文本框 9"/>
          <p:cNvSpPr txBox="1"/>
          <p:nvPr/>
        </p:nvSpPr>
        <p:spPr>
          <a:xfrm>
            <a:off x="6193479" y="13419155"/>
            <a:ext cx="7744260" cy="1155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915" dirty="0"/>
              <a:t>研发</a:t>
            </a:r>
            <a:endParaRPr lang="zh-CN" altLang="en-US" sz="6915" dirty="0"/>
          </a:p>
        </p:txBody>
      </p:sp>
      <p:sp>
        <p:nvSpPr>
          <p:cNvPr id="11" name="文本框 10"/>
          <p:cNvSpPr txBox="1"/>
          <p:nvPr/>
        </p:nvSpPr>
        <p:spPr>
          <a:xfrm>
            <a:off x="20332766" y="13419157"/>
            <a:ext cx="7744260" cy="1155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915" dirty="0"/>
              <a:t>供应链</a:t>
            </a:r>
            <a:endParaRPr lang="zh-CN" altLang="en-US" sz="6915" dirty="0"/>
          </a:p>
        </p:txBody>
      </p:sp>
      <p:sp>
        <p:nvSpPr>
          <p:cNvPr id="2" name="文本框 1"/>
          <p:cNvSpPr txBox="1"/>
          <p:nvPr/>
        </p:nvSpPr>
        <p:spPr>
          <a:xfrm>
            <a:off x="5550930" y="15423004"/>
            <a:ext cx="9029358" cy="3284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915" dirty="0">
                <a:solidFill>
                  <a:srgbClr val="0070C0"/>
                </a:solidFill>
              </a:rPr>
              <a:t>“把产品创造出来的”</a:t>
            </a:r>
            <a:endParaRPr lang="en-US" altLang="zh-CN" sz="6915" dirty="0">
              <a:solidFill>
                <a:srgbClr val="0070C0"/>
              </a:solidFill>
            </a:endParaRPr>
          </a:p>
          <a:p>
            <a:pPr algn="ctr"/>
            <a:endParaRPr lang="en-US" altLang="zh-CN" sz="6915" dirty="0">
              <a:solidFill>
                <a:srgbClr val="0070C0"/>
              </a:solidFill>
            </a:endParaRPr>
          </a:p>
          <a:p>
            <a:pPr algn="ctr"/>
            <a:r>
              <a:rPr lang="en-US" altLang="zh-CN" sz="6915" dirty="0">
                <a:solidFill>
                  <a:srgbClr val="0070C0"/>
                </a:solidFill>
              </a:rPr>
              <a:t> </a:t>
            </a:r>
            <a:r>
              <a:rPr lang="zh-CN" altLang="en-US" sz="6915" dirty="0">
                <a:solidFill>
                  <a:srgbClr val="0070C0"/>
                </a:solidFill>
              </a:rPr>
              <a:t>“从</a:t>
            </a:r>
            <a:r>
              <a:rPr lang="en-US" altLang="zh-CN" sz="6915" dirty="0">
                <a:solidFill>
                  <a:srgbClr val="0070C0"/>
                </a:solidFill>
              </a:rPr>
              <a:t>0</a:t>
            </a:r>
            <a:r>
              <a:rPr lang="zh-CN" altLang="en-US" sz="6915" dirty="0">
                <a:solidFill>
                  <a:srgbClr val="0070C0"/>
                </a:solidFill>
              </a:rPr>
              <a:t>到</a:t>
            </a:r>
            <a:r>
              <a:rPr lang="en-US" altLang="zh-CN" sz="6915" dirty="0">
                <a:solidFill>
                  <a:srgbClr val="0070C0"/>
                </a:solidFill>
              </a:rPr>
              <a:t>1</a:t>
            </a:r>
            <a:r>
              <a:rPr lang="zh-CN" altLang="en-US" sz="6915" dirty="0">
                <a:solidFill>
                  <a:srgbClr val="0070C0"/>
                </a:solidFill>
              </a:rPr>
              <a:t>”</a:t>
            </a:r>
            <a:endParaRPr lang="zh-CN" altLang="en-US" sz="6915" dirty="0">
              <a:solidFill>
                <a:srgbClr val="0070C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2232482" y="3757709"/>
            <a:ext cx="9029357" cy="3284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915" dirty="0">
                <a:solidFill>
                  <a:srgbClr val="0070C0"/>
                </a:solidFill>
              </a:rPr>
              <a:t>“把产品卖出去的”</a:t>
            </a:r>
            <a:endParaRPr lang="en-US" altLang="zh-CN" sz="6915" dirty="0">
              <a:solidFill>
                <a:srgbClr val="0070C0"/>
              </a:solidFill>
            </a:endParaRPr>
          </a:p>
          <a:p>
            <a:pPr algn="ctr"/>
            <a:endParaRPr lang="en-US" altLang="zh-CN" sz="6915" dirty="0">
              <a:solidFill>
                <a:srgbClr val="0070C0"/>
              </a:solidFill>
            </a:endParaRPr>
          </a:p>
          <a:p>
            <a:pPr algn="ctr"/>
            <a:r>
              <a:rPr lang="zh-CN" altLang="en-US" sz="6915" dirty="0">
                <a:solidFill>
                  <a:srgbClr val="0070C0"/>
                </a:solidFill>
              </a:rPr>
              <a:t>“实现</a:t>
            </a:r>
            <a:r>
              <a:rPr lang="en-US" altLang="zh-CN" sz="6915" dirty="0">
                <a:solidFill>
                  <a:srgbClr val="0070C0"/>
                </a:solidFill>
              </a:rPr>
              <a:t>N</a:t>
            </a:r>
            <a:r>
              <a:rPr lang="zh-CN" altLang="en-US" sz="6915" dirty="0">
                <a:solidFill>
                  <a:srgbClr val="0070C0"/>
                </a:solidFill>
              </a:rPr>
              <a:t>的价值”</a:t>
            </a:r>
            <a:endParaRPr lang="zh-CN" altLang="en-US" sz="6915" dirty="0">
              <a:solidFill>
                <a:srgbClr val="0070C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0161530" y="15688170"/>
            <a:ext cx="9029357" cy="3284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915" dirty="0">
                <a:solidFill>
                  <a:srgbClr val="0070C0"/>
                </a:solidFill>
              </a:rPr>
              <a:t>“把产品生产出来的”</a:t>
            </a:r>
            <a:endParaRPr lang="en-US" altLang="zh-CN" sz="6915" dirty="0">
              <a:solidFill>
                <a:srgbClr val="0070C0"/>
              </a:solidFill>
            </a:endParaRPr>
          </a:p>
          <a:p>
            <a:pPr algn="ctr"/>
            <a:endParaRPr lang="en-US" altLang="zh-CN" sz="6915" dirty="0">
              <a:solidFill>
                <a:srgbClr val="0070C0"/>
              </a:solidFill>
            </a:endParaRPr>
          </a:p>
          <a:p>
            <a:pPr algn="ctr"/>
            <a:r>
              <a:rPr lang="zh-CN" altLang="en-US" sz="6915" dirty="0">
                <a:solidFill>
                  <a:srgbClr val="0070C0"/>
                </a:solidFill>
              </a:rPr>
              <a:t>“从</a:t>
            </a:r>
            <a:r>
              <a:rPr lang="en-US" altLang="zh-CN" sz="6915" dirty="0">
                <a:solidFill>
                  <a:srgbClr val="0070C0"/>
                </a:solidFill>
              </a:rPr>
              <a:t>1</a:t>
            </a:r>
            <a:r>
              <a:rPr lang="zh-CN" altLang="en-US" sz="6915" dirty="0">
                <a:solidFill>
                  <a:srgbClr val="0070C0"/>
                </a:solidFill>
              </a:rPr>
              <a:t>到</a:t>
            </a:r>
            <a:r>
              <a:rPr lang="en-US" altLang="zh-CN" sz="6915" dirty="0">
                <a:solidFill>
                  <a:srgbClr val="0070C0"/>
                </a:solidFill>
              </a:rPr>
              <a:t>N</a:t>
            </a:r>
            <a:r>
              <a:rPr lang="zh-CN" altLang="en-US" sz="6915" dirty="0">
                <a:solidFill>
                  <a:srgbClr val="0070C0"/>
                </a:solidFill>
              </a:rPr>
              <a:t>”</a:t>
            </a:r>
            <a:endParaRPr lang="zh-CN" altLang="en-US" sz="6915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2004695"/>
            <a:r>
              <a:rPr lang="zh-CN" altLang="en-US" sz="7680" dirty="0">
                <a:ea typeface="方正兰亭黑_GBK" panose="02000000000000000000" pitchFamily="2" charset="-122"/>
              </a:rPr>
              <a:t>包子铺的故事</a:t>
            </a:r>
            <a:r>
              <a:rPr lang="en-US" altLang="zh-CN" sz="7680" dirty="0">
                <a:ea typeface="方正兰亭黑_GBK" panose="02000000000000000000" pitchFamily="2" charset="-122"/>
              </a:rPr>
              <a:t>-2</a:t>
            </a:r>
            <a:endParaRPr lang="zh-CN" altLang="en-US" sz="7680" dirty="0">
              <a:ea typeface="方正兰亭黑_GBK" panose="02000000000000000000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159727" y="4333757"/>
            <a:ext cx="30292596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latin typeface="楷体" panose="02010609060101010101" pitchFamily="49" charset="-122"/>
                <a:ea typeface="楷体" panose="02010609060101010101" pitchFamily="49" charset="-122"/>
              </a:rPr>
              <a:t>经过一段时间的运行，每天的出货相对较为平稳，但是到了月底，妈妈（兼财务）计算了一下盈利情况，每个包子才赚了不到</a:t>
            </a:r>
            <a:r>
              <a:rPr lang="en-US" altLang="zh-CN" sz="60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6000" dirty="0">
                <a:latin typeface="楷体" panose="02010609060101010101" pitchFamily="49" charset="-122"/>
                <a:ea typeface="楷体" panose="02010609060101010101" pitchFamily="49" charset="-122"/>
              </a:rPr>
              <a:t>毛钱，勉强维持日常开支，属于吃力不讨好，全家陷入了沉思。最后召开家庭会议，大家总结如下：</a:t>
            </a:r>
            <a:endParaRPr lang="en-US" altLang="zh-CN" sz="5400" dirty="0"/>
          </a:p>
          <a:p>
            <a:endParaRPr lang="zh-CN" altLang="en-US" sz="5400" dirty="0"/>
          </a:p>
        </p:txBody>
      </p:sp>
      <p:sp>
        <p:nvSpPr>
          <p:cNvPr id="7" name="文本框 6"/>
          <p:cNvSpPr txBox="1"/>
          <p:nvPr/>
        </p:nvSpPr>
        <p:spPr>
          <a:xfrm>
            <a:off x="3153474" y="8510105"/>
            <a:ext cx="30098508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8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4800" dirty="0">
                <a:latin typeface="微软雅黑" pitchFamily="34" charset="-122"/>
                <a:ea typeface="微软雅黑" pitchFamily="34" charset="-122"/>
              </a:rPr>
              <a:t>、面粉为每月购买一次，占用了大量的资金，这部分为银行贷款，资金费用较高</a:t>
            </a:r>
            <a:endParaRPr lang="en-US" altLang="zh-CN" sz="48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48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4800" dirty="0">
                <a:latin typeface="微软雅黑" pitchFamily="34" charset="-122"/>
                <a:ea typeface="微软雅黑" pitchFamily="34" charset="-122"/>
              </a:rPr>
              <a:t>、因为每天早上赶工公司要的包子，档口几乎停摆，没有零售；但是到下午又空闲（下午吃包子的人很少）</a:t>
            </a:r>
            <a:endParaRPr lang="en-US" altLang="zh-CN" sz="48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4800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4800" dirty="0">
                <a:latin typeface="微软雅黑" pitchFamily="34" charset="-122"/>
                <a:ea typeface="微软雅黑" pitchFamily="34" charset="-122"/>
              </a:rPr>
              <a:t>、新导入的这家菜贩，总体价格还是太高，经调查，市场上批量采购的价格还有更低的。</a:t>
            </a:r>
            <a:endParaRPr lang="en-US" altLang="zh-CN" sz="4400" dirty="0"/>
          </a:p>
        </p:txBody>
      </p:sp>
      <p:sp>
        <p:nvSpPr>
          <p:cNvPr id="5" name="文本框 4"/>
          <p:cNvSpPr txBox="1"/>
          <p:nvPr/>
        </p:nvSpPr>
        <p:spPr>
          <a:xfrm>
            <a:off x="3142121" y="13877701"/>
            <a:ext cx="30731549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8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4800" dirty="0">
                <a:latin typeface="微软雅黑" pitchFamily="34" charset="-122"/>
                <a:ea typeface="微软雅黑" pitchFamily="34" charset="-122"/>
              </a:rPr>
              <a:t>、面粉改为每月指定采购量，菜贩每天送货，货款月底结算（月结）</a:t>
            </a:r>
            <a:endParaRPr lang="en-US" altLang="zh-CN" sz="48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48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4800" dirty="0">
                <a:latin typeface="微软雅黑" pitchFamily="34" charset="-122"/>
                <a:ea typeface="微软雅黑" pitchFamily="34" charset="-122"/>
              </a:rPr>
              <a:t>、调整包子制作计划，早上制作档口零售的产品（种类多），下午蒸制第</a:t>
            </a:r>
            <a:r>
              <a:rPr lang="en-US" altLang="zh-CN" sz="48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4800" dirty="0">
                <a:latin typeface="微软雅黑" pitchFamily="34" charset="-122"/>
                <a:ea typeface="微软雅黑" pitchFamily="34" charset="-122"/>
              </a:rPr>
              <a:t>天早上公司需要的包子并打包，第</a:t>
            </a:r>
            <a:r>
              <a:rPr lang="en-US" altLang="zh-CN" sz="48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4800" dirty="0">
                <a:latin typeface="微软雅黑" pitchFamily="34" charset="-122"/>
                <a:ea typeface="微软雅黑" pitchFamily="34" charset="-122"/>
              </a:rPr>
              <a:t>天加热即可</a:t>
            </a:r>
            <a:endParaRPr lang="en-US" altLang="zh-CN" sz="48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4800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4800" dirty="0">
                <a:latin typeface="微软雅黑" pitchFamily="34" charset="-122"/>
                <a:ea typeface="微软雅黑" pitchFamily="34" charset="-122"/>
              </a:rPr>
              <a:t>、引入第</a:t>
            </a:r>
            <a:r>
              <a:rPr lang="en-US" altLang="zh-CN" sz="48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4800" dirty="0">
                <a:latin typeface="微软雅黑" pitchFamily="34" charset="-122"/>
                <a:ea typeface="微软雅黑" pitchFamily="34" charset="-122"/>
              </a:rPr>
              <a:t>家菜贩，与第</a:t>
            </a:r>
            <a:r>
              <a:rPr lang="en-US" altLang="zh-CN" sz="48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4800" dirty="0">
                <a:latin typeface="微软雅黑" pitchFamily="34" charset="-122"/>
                <a:ea typeface="微软雅黑" pitchFamily="34" charset="-122"/>
              </a:rPr>
              <a:t>家形成竞争，第</a:t>
            </a:r>
            <a:r>
              <a:rPr lang="en-US" altLang="zh-CN" sz="48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4800" dirty="0">
                <a:latin typeface="微软雅黑" pitchFamily="34" charset="-122"/>
                <a:ea typeface="微软雅黑" pitchFamily="34" charset="-122"/>
              </a:rPr>
              <a:t>家在原来的基础上降价</a:t>
            </a:r>
            <a:r>
              <a:rPr lang="en-US" altLang="zh-CN" sz="4800" dirty="0">
                <a:latin typeface="微软雅黑" pitchFamily="34" charset="-122"/>
                <a:ea typeface="微软雅黑" pitchFamily="34" charset="-122"/>
              </a:rPr>
              <a:t>20%</a:t>
            </a:r>
            <a:endParaRPr lang="zh-CN" altLang="en-US" sz="4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41498" y="12357400"/>
            <a:ext cx="14119429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600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于是，进行了以下调整：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vert="horz" lIns="69642" tIns="34821" rIns="69642" bIns="34821" rtlCol="0" anchor="ctr"/>
          <a:lstStyle/>
          <a:p>
            <a:pPr fontAlgn="auto"/>
            <a:endParaRPr lang="zh-CN" altLang="en-US" strike="noStrike" noProof="1">
              <a:latin typeface="方正兰亭黑_GBK" panose="02000000000000000000" pitchFamily="2" charset="-122"/>
              <a:ea typeface="方正兰亭黑_GBK" panose="02000000000000000000" pitchFamily="2" charset="-122"/>
            </a:endParaRPr>
          </a:p>
        </p:txBody>
      </p:sp>
      <p:sp>
        <p:nvSpPr>
          <p:cNvPr id="15362" name="内容占位符 2"/>
          <p:cNvSpPr>
            <a:spLocks noGrp="1"/>
          </p:cNvSpPr>
          <p:nvPr>
            <p:ph idx="4294967295"/>
          </p:nvPr>
        </p:nvSpPr>
        <p:spPr>
          <a:xfrm>
            <a:off x="0" y="5162550"/>
            <a:ext cx="30292675" cy="9547225"/>
          </a:xfrm>
          <a:noFill/>
          <a:ln>
            <a:noFill/>
          </a:ln>
        </p:spPr>
        <p:txBody>
          <a:bodyPr anchor="ctr"/>
          <a:lstStyle/>
          <a:p>
            <a:pPr marL="0" indent="0" algn="ctr">
              <a:buNone/>
            </a:pPr>
            <a:r>
              <a:rPr lang="zh-CN" altLang="en-US" kern="1200" dirty="0">
                <a:solidFill>
                  <a:srgbClr val="595959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cs typeface="+mn-cs"/>
              </a:rPr>
              <a:t>什么是供应链？</a:t>
            </a:r>
            <a:endParaRPr lang="zh-CN" altLang="en-US" kern="1200" dirty="0">
              <a:solidFill>
                <a:srgbClr val="595959"/>
              </a:solidFill>
              <a:latin typeface="方正兰亭黑_GBK" panose="02000000000000000000" pitchFamily="2" charset="-122"/>
              <a:ea typeface="方正兰亭黑_GBK" panose="02000000000000000000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7310" dirty="0">
                <a:solidFill>
                  <a:srgbClr val="595959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</a:rPr>
              <a:t>什么是供应链？</a:t>
            </a:r>
            <a:endParaRPr lang="zh-CN" altLang="en-US" dirty="0"/>
          </a:p>
        </p:txBody>
      </p:sp>
      <p:pic>
        <p:nvPicPr>
          <p:cNvPr id="4" name="图片 3" descr="穿着西装笔挺的男子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36026" y="7172085"/>
            <a:ext cx="4167876" cy="5713854"/>
          </a:xfrm>
          <a:prstGeom prst="rect">
            <a:avLst/>
          </a:prstGeom>
        </p:spPr>
      </p:pic>
      <p:pic>
        <p:nvPicPr>
          <p:cNvPr id="6" name="图片 5" descr="男人戴着眼镜&#10;&#10;描述已自动生成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123" y="7172087"/>
            <a:ext cx="7827196" cy="571385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155007" y="5197829"/>
            <a:ext cx="7827196" cy="95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635" dirty="0">
                <a:latin typeface="微软雅黑" pitchFamily="34" charset="-122"/>
                <a:ea typeface="微软雅黑" pitchFamily="34" charset="-122"/>
              </a:rPr>
              <a:t>“经济链”</a:t>
            </a:r>
            <a:endParaRPr lang="zh-CN" altLang="en-US" sz="5635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006366" y="5197829"/>
            <a:ext cx="7827196" cy="95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635" dirty="0">
                <a:latin typeface="微软雅黑" pitchFamily="34" charset="-122"/>
                <a:ea typeface="微软雅黑" pitchFamily="34" charset="-122"/>
              </a:rPr>
              <a:t>“价值链”</a:t>
            </a:r>
            <a:endParaRPr lang="zh-CN" altLang="en-US" sz="5635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4539192" y="8194473"/>
            <a:ext cx="7827196" cy="1217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731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“供应链”</a:t>
            </a:r>
            <a:endParaRPr lang="zh-CN" altLang="en-US" sz="7310" dirty="0">
              <a:solidFill>
                <a:srgbClr val="0070C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591761" y="14820799"/>
            <a:ext cx="2766310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6000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供应链</a:t>
            </a:r>
            <a:r>
              <a:rPr lang="zh-CN" altLang="en-US" sz="6000" dirty="0">
                <a:latin typeface="楷体" panose="02010609060101010101" pitchFamily="49" charset="-122"/>
                <a:ea typeface="楷体" panose="02010609060101010101" pitchFamily="49" charset="-122"/>
              </a:rPr>
              <a:t>是由客户（或消费者）需求开始，贯通从产品设计到原材料供应、生产、批发、零售等过程，把产品送到最终用户的各项业务活动。</a:t>
            </a:r>
            <a:endParaRPr lang="zh-CN" altLang="en-US" sz="6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7310" dirty="0">
                <a:solidFill>
                  <a:srgbClr val="595959"/>
                </a:solidFill>
                <a:ea typeface="方正兰亭黑_GBK" panose="02000000000000000000" pitchFamily="2" charset="-122"/>
              </a:rPr>
              <a:t>传统供应链</a:t>
            </a:r>
            <a:endParaRPr lang="zh-CN" altLang="en-US" sz="7310" dirty="0">
              <a:solidFill>
                <a:srgbClr val="595959"/>
              </a:solidFill>
              <a:ea typeface="方正兰亭黑_GBK" panose="02000000000000000000" pitchFamily="2" charset="-122"/>
            </a:endParaRPr>
          </a:p>
        </p:txBody>
      </p:sp>
      <p:grpSp>
        <p:nvGrpSpPr>
          <p:cNvPr id="5" name="Group 6"/>
          <p:cNvGrpSpPr/>
          <p:nvPr/>
        </p:nvGrpSpPr>
        <p:grpSpPr bwMode="auto">
          <a:xfrm>
            <a:off x="2223647" y="5557859"/>
            <a:ext cx="23545956" cy="4551155"/>
            <a:chOff x="480" y="1872"/>
            <a:chExt cx="4818" cy="1124"/>
          </a:xfrm>
        </p:grpSpPr>
        <p:grpSp>
          <p:nvGrpSpPr>
            <p:cNvPr id="22" name="Group 7"/>
            <p:cNvGrpSpPr/>
            <p:nvPr/>
          </p:nvGrpSpPr>
          <p:grpSpPr bwMode="auto">
            <a:xfrm>
              <a:off x="3744" y="2256"/>
              <a:ext cx="625" cy="365"/>
              <a:chOff x="3016" y="2340"/>
              <a:chExt cx="721" cy="413"/>
            </a:xfrm>
          </p:grpSpPr>
          <p:sp>
            <p:nvSpPr>
              <p:cNvPr id="547" name="Freeform 8"/>
              <p:cNvSpPr/>
              <p:nvPr/>
            </p:nvSpPr>
            <p:spPr bwMode="auto">
              <a:xfrm>
                <a:off x="3301" y="2625"/>
                <a:ext cx="7" cy="28"/>
              </a:xfrm>
              <a:custGeom>
                <a:avLst/>
                <a:gdLst>
                  <a:gd name="T0" fmla="*/ 32 w 32"/>
                  <a:gd name="T1" fmla="*/ 34 h 110"/>
                  <a:gd name="T2" fmla="*/ 32 w 32"/>
                  <a:gd name="T3" fmla="*/ 110 h 110"/>
                  <a:gd name="T4" fmla="*/ 0 w 32"/>
                  <a:gd name="T5" fmla="*/ 106 h 110"/>
                  <a:gd name="T6" fmla="*/ 0 w 32"/>
                  <a:gd name="T7" fmla="*/ 0 h 110"/>
                  <a:gd name="T8" fmla="*/ 32 w 32"/>
                  <a:gd name="T9" fmla="*/ 34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110">
                    <a:moveTo>
                      <a:pt x="32" y="34"/>
                    </a:moveTo>
                    <a:lnTo>
                      <a:pt x="32" y="110"/>
                    </a:lnTo>
                    <a:lnTo>
                      <a:pt x="0" y="106"/>
                    </a:lnTo>
                    <a:lnTo>
                      <a:pt x="0" y="0"/>
                    </a:lnTo>
                    <a:lnTo>
                      <a:pt x="32" y="34"/>
                    </a:lnTo>
                    <a:close/>
                  </a:path>
                </a:pathLst>
              </a:custGeom>
              <a:solidFill>
                <a:srgbClr val="F9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3655"/>
              </a:p>
            </p:txBody>
          </p:sp>
          <p:grpSp>
            <p:nvGrpSpPr>
              <p:cNvPr id="548" name="Group 9"/>
              <p:cNvGrpSpPr/>
              <p:nvPr/>
            </p:nvGrpSpPr>
            <p:grpSpPr bwMode="auto">
              <a:xfrm>
                <a:off x="3016" y="2340"/>
                <a:ext cx="721" cy="413"/>
                <a:chOff x="3016" y="2340"/>
                <a:chExt cx="721" cy="413"/>
              </a:xfrm>
            </p:grpSpPr>
            <p:grpSp>
              <p:nvGrpSpPr>
                <p:cNvPr id="549" name="Group 10"/>
                <p:cNvGrpSpPr/>
                <p:nvPr/>
              </p:nvGrpSpPr>
              <p:grpSpPr bwMode="auto">
                <a:xfrm>
                  <a:off x="3016" y="2340"/>
                  <a:ext cx="553" cy="372"/>
                  <a:chOff x="3016" y="2340"/>
                  <a:chExt cx="553" cy="372"/>
                </a:xfrm>
              </p:grpSpPr>
              <p:sp>
                <p:nvSpPr>
                  <p:cNvPr id="610" name="Freeform 11"/>
                  <p:cNvSpPr/>
                  <p:nvPr/>
                </p:nvSpPr>
                <p:spPr bwMode="auto">
                  <a:xfrm>
                    <a:off x="3017" y="2416"/>
                    <a:ext cx="552" cy="296"/>
                  </a:xfrm>
                  <a:custGeom>
                    <a:avLst/>
                    <a:gdLst>
                      <a:gd name="T0" fmla="*/ 2760 w 2760"/>
                      <a:gd name="T1" fmla="*/ 0 h 1181"/>
                      <a:gd name="T2" fmla="*/ 2760 w 2760"/>
                      <a:gd name="T3" fmla="*/ 1181 h 1181"/>
                      <a:gd name="T4" fmla="*/ 103 w 2760"/>
                      <a:gd name="T5" fmla="*/ 1181 h 1181"/>
                      <a:gd name="T6" fmla="*/ 103 w 2760"/>
                      <a:gd name="T7" fmla="*/ 962 h 1181"/>
                      <a:gd name="T8" fmla="*/ 50 w 2760"/>
                      <a:gd name="T9" fmla="*/ 947 h 1181"/>
                      <a:gd name="T10" fmla="*/ 50 w 2760"/>
                      <a:gd name="T11" fmla="*/ 800 h 1181"/>
                      <a:gd name="T12" fmla="*/ 0 w 2760"/>
                      <a:gd name="T13" fmla="*/ 778 h 1181"/>
                      <a:gd name="T14" fmla="*/ 2760 w 2760"/>
                      <a:gd name="T15" fmla="*/ 0 h 118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2760" h="1181">
                        <a:moveTo>
                          <a:pt x="2760" y="0"/>
                        </a:moveTo>
                        <a:lnTo>
                          <a:pt x="2760" y="1181"/>
                        </a:lnTo>
                        <a:lnTo>
                          <a:pt x="103" y="1181"/>
                        </a:lnTo>
                        <a:lnTo>
                          <a:pt x="103" y="962"/>
                        </a:lnTo>
                        <a:lnTo>
                          <a:pt x="50" y="947"/>
                        </a:lnTo>
                        <a:lnTo>
                          <a:pt x="50" y="800"/>
                        </a:lnTo>
                        <a:lnTo>
                          <a:pt x="0" y="778"/>
                        </a:lnTo>
                        <a:lnTo>
                          <a:pt x="276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grpSp>
                <p:nvGrpSpPr>
                  <p:cNvPr id="611" name="Group 12"/>
                  <p:cNvGrpSpPr/>
                  <p:nvPr/>
                </p:nvGrpSpPr>
                <p:grpSpPr bwMode="auto">
                  <a:xfrm>
                    <a:off x="3061" y="2651"/>
                    <a:ext cx="35" cy="22"/>
                    <a:chOff x="3061" y="2651"/>
                    <a:chExt cx="35" cy="22"/>
                  </a:xfrm>
                </p:grpSpPr>
                <p:sp>
                  <p:nvSpPr>
                    <p:cNvPr id="636" name="Oval 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91" y="2651"/>
                      <a:ext cx="5" cy="19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37" name="Oval 1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84" y="2651"/>
                      <a:ext cx="5" cy="20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38" name="Oval 1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79" y="2652"/>
                      <a:ext cx="4" cy="20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39" name="Oval 1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73" y="2652"/>
                      <a:ext cx="5" cy="20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40" name="Oval 1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67" y="2653"/>
                      <a:ext cx="5" cy="20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41" name="Oval 1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61" y="2653"/>
                      <a:ext cx="5" cy="20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612" name="Group 19"/>
                  <p:cNvGrpSpPr/>
                  <p:nvPr/>
                </p:nvGrpSpPr>
                <p:grpSpPr bwMode="auto">
                  <a:xfrm>
                    <a:off x="3133" y="2624"/>
                    <a:ext cx="59" cy="41"/>
                    <a:chOff x="3133" y="2624"/>
                    <a:chExt cx="59" cy="41"/>
                  </a:xfrm>
                </p:grpSpPr>
                <p:sp>
                  <p:nvSpPr>
                    <p:cNvPr id="629" name="Freeform 20"/>
                    <p:cNvSpPr/>
                    <p:nvPr/>
                  </p:nvSpPr>
                  <p:spPr bwMode="auto">
                    <a:xfrm>
                      <a:off x="3185" y="2624"/>
                      <a:ext cx="7" cy="33"/>
                    </a:xfrm>
                    <a:custGeom>
                      <a:avLst/>
                      <a:gdLst>
                        <a:gd name="T0" fmla="*/ 0 w 38"/>
                        <a:gd name="T1" fmla="*/ 0 h 131"/>
                        <a:gd name="T2" fmla="*/ 0 w 38"/>
                        <a:gd name="T3" fmla="*/ 131 h 131"/>
                        <a:gd name="T4" fmla="*/ 38 w 38"/>
                        <a:gd name="T5" fmla="*/ 131 h 131"/>
                        <a:gd name="T6" fmla="*/ 38 w 38"/>
                        <a:gd name="T7" fmla="*/ 52 h 131"/>
                        <a:gd name="T8" fmla="*/ 0 w 38"/>
                        <a:gd name="T9" fmla="*/ 0 h 13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38" h="131">
                          <a:moveTo>
                            <a:pt x="0" y="0"/>
                          </a:moveTo>
                          <a:lnTo>
                            <a:pt x="0" y="131"/>
                          </a:lnTo>
                          <a:lnTo>
                            <a:pt x="38" y="131"/>
                          </a:lnTo>
                          <a:lnTo>
                            <a:pt x="38" y="52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30" name="Freeform 21"/>
                    <p:cNvSpPr/>
                    <p:nvPr/>
                  </p:nvSpPr>
                  <p:spPr bwMode="auto">
                    <a:xfrm>
                      <a:off x="3175" y="2625"/>
                      <a:ext cx="8" cy="33"/>
                    </a:xfrm>
                    <a:custGeom>
                      <a:avLst/>
                      <a:gdLst>
                        <a:gd name="T0" fmla="*/ 0 w 38"/>
                        <a:gd name="T1" fmla="*/ 0 h 130"/>
                        <a:gd name="T2" fmla="*/ 0 w 38"/>
                        <a:gd name="T3" fmla="*/ 130 h 130"/>
                        <a:gd name="T4" fmla="*/ 38 w 38"/>
                        <a:gd name="T5" fmla="*/ 130 h 130"/>
                        <a:gd name="T6" fmla="*/ 38 w 38"/>
                        <a:gd name="T7" fmla="*/ 52 h 130"/>
                        <a:gd name="T8" fmla="*/ 0 w 38"/>
                        <a:gd name="T9" fmla="*/ 0 h 13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38" h="130">
                          <a:moveTo>
                            <a:pt x="0" y="0"/>
                          </a:moveTo>
                          <a:lnTo>
                            <a:pt x="0" y="130"/>
                          </a:lnTo>
                          <a:lnTo>
                            <a:pt x="38" y="130"/>
                          </a:lnTo>
                          <a:lnTo>
                            <a:pt x="38" y="52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31" name="Freeform 22"/>
                    <p:cNvSpPr/>
                    <p:nvPr/>
                  </p:nvSpPr>
                  <p:spPr bwMode="auto">
                    <a:xfrm>
                      <a:off x="3167" y="2626"/>
                      <a:ext cx="7" cy="33"/>
                    </a:xfrm>
                    <a:custGeom>
                      <a:avLst/>
                      <a:gdLst>
                        <a:gd name="T0" fmla="*/ 0 w 37"/>
                        <a:gd name="T1" fmla="*/ 0 h 131"/>
                        <a:gd name="T2" fmla="*/ 0 w 37"/>
                        <a:gd name="T3" fmla="*/ 131 h 131"/>
                        <a:gd name="T4" fmla="*/ 37 w 37"/>
                        <a:gd name="T5" fmla="*/ 131 h 131"/>
                        <a:gd name="T6" fmla="*/ 37 w 37"/>
                        <a:gd name="T7" fmla="*/ 52 h 131"/>
                        <a:gd name="T8" fmla="*/ 0 w 37"/>
                        <a:gd name="T9" fmla="*/ 0 h 13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37" h="131">
                          <a:moveTo>
                            <a:pt x="0" y="0"/>
                          </a:moveTo>
                          <a:lnTo>
                            <a:pt x="0" y="131"/>
                          </a:lnTo>
                          <a:lnTo>
                            <a:pt x="37" y="131"/>
                          </a:lnTo>
                          <a:lnTo>
                            <a:pt x="37" y="52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32" name="Freeform 23"/>
                    <p:cNvSpPr/>
                    <p:nvPr/>
                  </p:nvSpPr>
                  <p:spPr bwMode="auto">
                    <a:xfrm>
                      <a:off x="3159" y="2628"/>
                      <a:ext cx="7" cy="33"/>
                    </a:xfrm>
                    <a:custGeom>
                      <a:avLst/>
                      <a:gdLst>
                        <a:gd name="T0" fmla="*/ 0 w 37"/>
                        <a:gd name="T1" fmla="*/ 0 h 129"/>
                        <a:gd name="T2" fmla="*/ 0 w 37"/>
                        <a:gd name="T3" fmla="*/ 129 h 129"/>
                        <a:gd name="T4" fmla="*/ 37 w 37"/>
                        <a:gd name="T5" fmla="*/ 129 h 129"/>
                        <a:gd name="T6" fmla="*/ 37 w 37"/>
                        <a:gd name="T7" fmla="*/ 50 h 129"/>
                        <a:gd name="T8" fmla="*/ 0 w 37"/>
                        <a:gd name="T9" fmla="*/ 0 h 1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37" h="129">
                          <a:moveTo>
                            <a:pt x="0" y="0"/>
                          </a:moveTo>
                          <a:lnTo>
                            <a:pt x="0" y="129"/>
                          </a:lnTo>
                          <a:lnTo>
                            <a:pt x="37" y="129"/>
                          </a:lnTo>
                          <a:lnTo>
                            <a:pt x="37" y="5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33" name="Freeform 24"/>
                    <p:cNvSpPr/>
                    <p:nvPr/>
                  </p:nvSpPr>
                  <p:spPr bwMode="auto">
                    <a:xfrm>
                      <a:off x="3150" y="2628"/>
                      <a:ext cx="8" cy="33"/>
                    </a:xfrm>
                    <a:custGeom>
                      <a:avLst/>
                      <a:gdLst>
                        <a:gd name="T0" fmla="*/ 0 w 38"/>
                        <a:gd name="T1" fmla="*/ 0 h 129"/>
                        <a:gd name="T2" fmla="*/ 0 w 38"/>
                        <a:gd name="T3" fmla="*/ 129 h 129"/>
                        <a:gd name="T4" fmla="*/ 38 w 38"/>
                        <a:gd name="T5" fmla="*/ 129 h 129"/>
                        <a:gd name="T6" fmla="*/ 38 w 38"/>
                        <a:gd name="T7" fmla="*/ 52 h 129"/>
                        <a:gd name="T8" fmla="*/ 0 w 38"/>
                        <a:gd name="T9" fmla="*/ 0 h 1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38" h="129">
                          <a:moveTo>
                            <a:pt x="0" y="0"/>
                          </a:moveTo>
                          <a:lnTo>
                            <a:pt x="0" y="129"/>
                          </a:lnTo>
                          <a:lnTo>
                            <a:pt x="38" y="129"/>
                          </a:lnTo>
                          <a:lnTo>
                            <a:pt x="38" y="52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34" name="Freeform 25"/>
                    <p:cNvSpPr/>
                    <p:nvPr/>
                  </p:nvSpPr>
                  <p:spPr bwMode="auto">
                    <a:xfrm>
                      <a:off x="3142" y="2630"/>
                      <a:ext cx="8" cy="33"/>
                    </a:xfrm>
                    <a:custGeom>
                      <a:avLst/>
                      <a:gdLst>
                        <a:gd name="T0" fmla="*/ 0 w 37"/>
                        <a:gd name="T1" fmla="*/ 0 h 131"/>
                        <a:gd name="T2" fmla="*/ 0 w 37"/>
                        <a:gd name="T3" fmla="*/ 131 h 131"/>
                        <a:gd name="T4" fmla="*/ 37 w 37"/>
                        <a:gd name="T5" fmla="*/ 131 h 131"/>
                        <a:gd name="T6" fmla="*/ 37 w 37"/>
                        <a:gd name="T7" fmla="*/ 52 h 131"/>
                        <a:gd name="T8" fmla="*/ 0 w 37"/>
                        <a:gd name="T9" fmla="*/ 0 h 13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37" h="131">
                          <a:moveTo>
                            <a:pt x="0" y="0"/>
                          </a:moveTo>
                          <a:lnTo>
                            <a:pt x="0" y="131"/>
                          </a:lnTo>
                          <a:lnTo>
                            <a:pt x="37" y="131"/>
                          </a:lnTo>
                          <a:lnTo>
                            <a:pt x="37" y="52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35" name="Freeform 26"/>
                    <p:cNvSpPr/>
                    <p:nvPr/>
                  </p:nvSpPr>
                  <p:spPr bwMode="auto">
                    <a:xfrm>
                      <a:off x="3133" y="2632"/>
                      <a:ext cx="8" cy="33"/>
                    </a:xfrm>
                    <a:custGeom>
                      <a:avLst/>
                      <a:gdLst>
                        <a:gd name="T0" fmla="*/ 0 w 38"/>
                        <a:gd name="T1" fmla="*/ 0 h 130"/>
                        <a:gd name="T2" fmla="*/ 0 w 38"/>
                        <a:gd name="T3" fmla="*/ 130 h 130"/>
                        <a:gd name="T4" fmla="*/ 38 w 38"/>
                        <a:gd name="T5" fmla="*/ 130 h 130"/>
                        <a:gd name="T6" fmla="*/ 38 w 38"/>
                        <a:gd name="T7" fmla="*/ 52 h 130"/>
                        <a:gd name="T8" fmla="*/ 0 w 38"/>
                        <a:gd name="T9" fmla="*/ 0 h 13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38" h="130">
                          <a:moveTo>
                            <a:pt x="0" y="0"/>
                          </a:moveTo>
                          <a:lnTo>
                            <a:pt x="0" y="130"/>
                          </a:lnTo>
                          <a:lnTo>
                            <a:pt x="38" y="130"/>
                          </a:lnTo>
                          <a:lnTo>
                            <a:pt x="38" y="52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613" name="Group 27"/>
                  <p:cNvGrpSpPr/>
                  <p:nvPr/>
                </p:nvGrpSpPr>
                <p:grpSpPr bwMode="auto">
                  <a:xfrm>
                    <a:off x="3248" y="2601"/>
                    <a:ext cx="80" cy="48"/>
                    <a:chOff x="3248" y="2601"/>
                    <a:chExt cx="80" cy="48"/>
                  </a:xfrm>
                </p:grpSpPr>
                <p:sp>
                  <p:nvSpPr>
                    <p:cNvPr id="623" name="Freeform 28"/>
                    <p:cNvSpPr/>
                    <p:nvPr/>
                  </p:nvSpPr>
                  <p:spPr bwMode="auto">
                    <a:xfrm>
                      <a:off x="3318" y="2601"/>
                      <a:ext cx="10" cy="39"/>
                    </a:xfrm>
                    <a:custGeom>
                      <a:avLst/>
                      <a:gdLst>
                        <a:gd name="T0" fmla="*/ 0 w 49"/>
                        <a:gd name="T1" fmla="*/ 0 h 153"/>
                        <a:gd name="T2" fmla="*/ 0 w 49"/>
                        <a:gd name="T3" fmla="*/ 153 h 153"/>
                        <a:gd name="T4" fmla="*/ 49 w 49"/>
                        <a:gd name="T5" fmla="*/ 153 h 153"/>
                        <a:gd name="T6" fmla="*/ 49 w 49"/>
                        <a:gd name="T7" fmla="*/ 44 h 153"/>
                        <a:gd name="T8" fmla="*/ 0 w 49"/>
                        <a:gd name="T9" fmla="*/ 0 h 15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9" h="153">
                          <a:moveTo>
                            <a:pt x="0" y="0"/>
                          </a:moveTo>
                          <a:lnTo>
                            <a:pt x="0" y="153"/>
                          </a:lnTo>
                          <a:lnTo>
                            <a:pt x="49" y="153"/>
                          </a:lnTo>
                          <a:lnTo>
                            <a:pt x="49" y="44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24" name="Freeform 29"/>
                    <p:cNvSpPr/>
                    <p:nvPr/>
                  </p:nvSpPr>
                  <p:spPr bwMode="auto">
                    <a:xfrm>
                      <a:off x="3304" y="2604"/>
                      <a:ext cx="10" cy="38"/>
                    </a:xfrm>
                    <a:custGeom>
                      <a:avLst/>
                      <a:gdLst>
                        <a:gd name="T0" fmla="*/ 0 w 48"/>
                        <a:gd name="T1" fmla="*/ 0 h 153"/>
                        <a:gd name="T2" fmla="*/ 0 w 48"/>
                        <a:gd name="T3" fmla="*/ 153 h 153"/>
                        <a:gd name="T4" fmla="*/ 48 w 48"/>
                        <a:gd name="T5" fmla="*/ 153 h 153"/>
                        <a:gd name="T6" fmla="*/ 48 w 48"/>
                        <a:gd name="T7" fmla="*/ 44 h 153"/>
                        <a:gd name="T8" fmla="*/ 0 w 48"/>
                        <a:gd name="T9" fmla="*/ 0 h 15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8" h="153">
                          <a:moveTo>
                            <a:pt x="0" y="0"/>
                          </a:moveTo>
                          <a:lnTo>
                            <a:pt x="0" y="153"/>
                          </a:lnTo>
                          <a:lnTo>
                            <a:pt x="48" y="153"/>
                          </a:lnTo>
                          <a:lnTo>
                            <a:pt x="48" y="44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25" name="Freeform 30"/>
                    <p:cNvSpPr/>
                    <p:nvPr/>
                  </p:nvSpPr>
                  <p:spPr bwMode="auto">
                    <a:xfrm>
                      <a:off x="3291" y="2605"/>
                      <a:ext cx="9" cy="39"/>
                    </a:xfrm>
                    <a:custGeom>
                      <a:avLst/>
                      <a:gdLst>
                        <a:gd name="T0" fmla="*/ 0 w 49"/>
                        <a:gd name="T1" fmla="*/ 0 h 154"/>
                        <a:gd name="T2" fmla="*/ 0 w 49"/>
                        <a:gd name="T3" fmla="*/ 154 h 154"/>
                        <a:gd name="T4" fmla="*/ 49 w 49"/>
                        <a:gd name="T5" fmla="*/ 154 h 154"/>
                        <a:gd name="T6" fmla="*/ 49 w 49"/>
                        <a:gd name="T7" fmla="*/ 44 h 154"/>
                        <a:gd name="T8" fmla="*/ 0 w 49"/>
                        <a:gd name="T9" fmla="*/ 0 h 1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9" h="154">
                          <a:moveTo>
                            <a:pt x="0" y="0"/>
                          </a:moveTo>
                          <a:lnTo>
                            <a:pt x="0" y="154"/>
                          </a:lnTo>
                          <a:lnTo>
                            <a:pt x="49" y="154"/>
                          </a:lnTo>
                          <a:lnTo>
                            <a:pt x="49" y="44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26" name="Freeform 31"/>
                    <p:cNvSpPr/>
                    <p:nvPr/>
                  </p:nvSpPr>
                  <p:spPr bwMode="auto">
                    <a:xfrm>
                      <a:off x="3276" y="2607"/>
                      <a:ext cx="10" cy="38"/>
                    </a:xfrm>
                    <a:custGeom>
                      <a:avLst/>
                      <a:gdLst>
                        <a:gd name="T0" fmla="*/ 0 w 49"/>
                        <a:gd name="T1" fmla="*/ 0 h 155"/>
                        <a:gd name="T2" fmla="*/ 0 w 49"/>
                        <a:gd name="T3" fmla="*/ 155 h 155"/>
                        <a:gd name="T4" fmla="*/ 49 w 49"/>
                        <a:gd name="T5" fmla="*/ 155 h 155"/>
                        <a:gd name="T6" fmla="*/ 49 w 49"/>
                        <a:gd name="T7" fmla="*/ 45 h 155"/>
                        <a:gd name="T8" fmla="*/ 0 w 49"/>
                        <a:gd name="T9" fmla="*/ 0 h 15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9" h="155">
                          <a:moveTo>
                            <a:pt x="0" y="0"/>
                          </a:moveTo>
                          <a:lnTo>
                            <a:pt x="0" y="155"/>
                          </a:lnTo>
                          <a:lnTo>
                            <a:pt x="49" y="155"/>
                          </a:lnTo>
                          <a:lnTo>
                            <a:pt x="49" y="45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27" name="Freeform 32"/>
                    <p:cNvSpPr/>
                    <p:nvPr/>
                  </p:nvSpPr>
                  <p:spPr bwMode="auto">
                    <a:xfrm>
                      <a:off x="3262" y="2609"/>
                      <a:ext cx="10" cy="38"/>
                    </a:xfrm>
                    <a:custGeom>
                      <a:avLst/>
                      <a:gdLst>
                        <a:gd name="T0" fmla="*/ 0 w 49"/>
                        <a:gd name="T1" fmla="*/ 0 h 153"/>
                        <a:gd name="T2" fmla="*/ 0 w 49"/>
                        <a:gd name="T3" fmla="*/ 153 h 153"/>
                        <a:gd name="T4" fmla="*/ 49 w 49"/>
                        <a:gd name="T5" fmla="*/ 153 h 153"/>
                        <a:gd name="T6" fmla="*/ 49 w 49"/>
                        <a:gd name="T7" fmla="*/ 44 h 153"/>
                        <a:gd name="T8" fmla="*/ 0 w 49"/>
                        <a:gd name="T9" fmla="*/ 0 h 15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9" h="153">
                          <a:moveTo>
                            <a:pt x="0" y="0"/>
                          </a:moveTo>
                          <a:lnTo>
                            <a:pt x="0" y="153"/>
                          </a:lnTo>
                          <a:lnTo>
                            <a:pt x="49" y="153"/>
                          </a:lnTo>
                          <a:lnTo>
                            <a:pt x="49" y="44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28" name="Freeform 33"/>
                    <p:cNvSpPr/>
                    <p:nvPr/>
                  </p:nvSpPr>
                  <p:spPr bwMode="auto">
                    <a:xfrm>
                      <a:off x="3248" y="2610"/>
                      <a:ext cx="9" cy="39"/>
                    </a:xfrm>
                    <a:custGeom>
                      <a:avLst/>
                      <a:gdLst>
                        <a:gd name="T0" fmla="*/ 0 w 49"/>
                        <a:gd name="T1" fmla="*/ 0 h 155"/>
                        <a:gd name="T2" fmla="*/ 0 w 49"/>
                        <a:gd name="T3" fmla="*/ 155 h 155"/>
                        <a:gd name="T4" fmla="*/ 49 w 49"/>
                        <a:gd name="T5" fmla="*/ 155 h 155"/>
                        <a:gd name="T6" fmla="*/ 49 w 49"/>
                        <a:gd name="T7" fmla="*/ 45 h 155"/>
                        <a:gd name="T8" fmla="*/ 0 w 49"/>
                        <a:gd name="T9" fmla="*/ 0 h 15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9" h="155">
                          <a:moveTo>
                            <a:pt x="0" y="0"/>
                          </a:moveTo>
                          <a:lnTo>
                            <a:pt x="0" y="155"/>
                          </a:lnTo>
                          <a:lnTo>
                            <a:pt x="49" y="155"/>
                          </a:lnTo>
                          <a:lnTo>
                            <a:pt x="49" y="45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614" name="Group 34"/>
                  <p:cNvGrpSpPr/>
                  <p:nvPr/>
                </p:nvGrpSpPr>
                <p:grpSpPr bwMode="auto">
                  <a:xfrm>
                    <a:off x="3435" y="2576"/>
                    <a:ext cx="105" cy="49"/>
                    <a:chOff x="3435" y="2576"/>
                    <a:chExt cx="105" cy="49"/>
                  </a:xfrm>
                </p:grpSpPr>
                <p:sp>
                  <p:nvSpPr>
                    <p:cNvPr id="618" name="Freeform 35"/>
                    <p:cNvSpPr/>
                    <p:nvPr/>
                  </p:nvSpPr>
                  <p:spPr bwMode="auto">
                    <a:xfrm>
                      <a:off x="3530" y="2576"/>
                      <a:ext cx="10" cy="37"/>
                    </a:xfrm>
                    <a:custGeom>
                      <a:avLst/>
                      <a:gdLst>
                        <a:gd name="T0" fmla="*/ 0 w 50"/>
                        <a:gd name="T1" fmla="*/ 0 h 148"/>
                        <a:gd name="T2" fmla="*/ 0 w 50"/>
                        <a:gd name="T3" fmla="*/ 148 h 148"/>
                        <a:gd name="T4" fmla="*/ 50 w 50"/>
                        <a:gd name="T5" fmla="*/ 148 h 148"/>
                        <a:gd name="T6" fmla="*/ 50 w 50"/>
                        <a:gd name="T7" fmla="*/ 34 h 148"/>
                        <a:gd name="T8" fmla="*/ 0 w 50"/>
                        <a:gd name="T9" fmla="*/ 0 h 14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50" h="148">
                          <a:moveTo>
                            <a:pt x="0" y="0"/>
                          </a:moveTo>
                          <a:lnTo>
                            <a:pt x="0" y="148"/>
                          </a:lnTo>
                          <a:lnTo>
                            <a:pt x="50" y="148"/>
                          </a:lnTo>
                          <a:lnTo>
                            <a:pt x="50" y="34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19" name="Freeform 36"/>
                    <p:cNvSpPr/>
                    <p:nvPr/>
                  </p:nvSpPr>
                  <p:spPr bwMode="auto">
                    <a:xfrm>
                      <a:off x="3506" y="2578"/>
                      <a:ext cx="10" cy="37"/>
                    </a:xfrm>
                    <a:custGeom>
                      <a:avLst/>
                      <a:gdLst>
                        <a:gd name="T0" fmla="*/ 0 w 50"/>
                        <a:gd name="T1" fmla="*/ 0 h 148"/>
                        <a:gd name="T2" fmla="*/ 0 w 50"/>
                        <a:gd name="T3" fmla="*/ 148 h 148"/>
                        <a:gd name="T4" fmla="*/ 50 w 50"/>
                        <a:gd name="T5" fmla="*/ 148 h 148"/>
                        <a:gd name="T6" fmla="*/ 50 w 50"/>
                        <a:gd name="T7" fmla="*/ 33 h 148"/>
                        <a:gd name="T8" fmla="*/ 0 w 50"/>
                        <a:gd name="T9" fmla="*/ 0 h 14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50" h="148">
                          <a:moveTo>
                            <a:pt x="0" y="0"/>
                          </a:moveTo>
                          <a:lnTo>
                            <a:pt x="0" y="148"/>
                          </a:lnTo>
                          <a:lnTo>
                            <a:pt x="50" y="148"/>
                          </a:lnTo>
                          <a:lnTo>
                            <a:pt x="50" y="33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20" name="Freeform 37"/>
                    <p:cNvSpPr/>
                    <p:nvPr/>
                  </p:nvSpPr>
                  <p:spPr bwMode="auto">
                    <a:xfrm>
                      <a:off x="3482" y="2580"/>
                      <a:ext cx="10" cy="37"/>
                    </a:xfrm>
                    <a:custGeom>
                      <a:avLst/>
                      <a:gdLst>
                        <a:gd name="T0" fmla="*/ 0 w 49"/>
                        <a:gd name="T1" fmla="*/ 0 h 149"/>
                        <a:gd name="T2" fmla="*/ 0 w 49"/>
                        <a:gd name="T3" fmla="*/ 149 h 149"/>
                        <a:gd name="T4" fmla="*/ 49 w 49"/>
                        <a:gd name="T5" fmla="*/ 149 h 149"/>
                        <a:gd name="T6" fmla="*/ 49 w 49"/>
                        <a:gd name="T7" fmla="*/ 33 h 149"/>
                        <a:gd name="T8" fmla="*/ 0 w 49"/>
                        <a:gd name="T9" fmla="*/ 0 h 14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9" h="149">
                          <a:moveTo>
                            <a:pt x="0" y="0"/>
                          </a:moveTo>
                          <a:lnTo>
                            <a:pt x="0" y="149"/>
                          </a:lnTo>
                          <a:lnTo>
                            <a:pt x="49" y="149"/>
                          </a:lnTo>
                          <a:lnTo>
                            <a:pt x="49" y="33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21" name="Freeform 38"/>
                    <p:cNvSpPr/>
                    <p:nvPr/>
                  </p:nvSpPr>
                  <p:spPr bwMode="auto">
                    <a:xfrm>
                      <a:off x="3458" y="2583"/>
                      <a:ext cx="10" cy="37"/>
                    </a:xfrm>
                    <a:custGeom>
                      <a:avLst/>
                      <a:gdLst>
                        <a:gd name="T0" fmla="*/ 0 w 50"/>
                        <a:gd name="T1" fmla="*/ 0 h 147"/>
                        <a:gd name="T2" fmla="*/ 0 w 50"/>
                        <a:gd name="T3" fmla="*/ 147 h 147"/>
                        <a:gd name="T4" fmla="*/ 50 w 50"/>
                        <a:gd name="T5" fmla="*/ 147 h 147"/>
                        <a:gd name="T6" fmla="*/ 50 w 50"/>
                        <a:gd name="T7" fmla="*/ 33 h 147"/>
                        <a:gd name="T8" fmla="*/ 0 w 50"/>
                        <a:gd name="T9" fmla="*/ 0 h 14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50" h="147">
                          <a:moveTo>
                            <a:pt x="0" y="0"/>
                          </a:moveTo>
                          <a:lnTo>
                            <a:pt x="0" y="147"/>
                          </a:lnTo>
                          <a:lnTo>
                            <a:pt x="50" y="147"/>
                          </a:lnTo>
                          <a:lnTo>
                            <a:pt x="50" y="33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22" name="Freeform 39"/>
                    <p:cNvSpPr/>
                    <p:nvPr/>
                  </p:nvSpPr>
                  <p:spPr bwMode="auto">
                    <a:xfrm>
                      <a:off x="3435" y="2588"/>
                      <a:ext cx="10" cy="37"/>
                    </a:xfrm>
                    <a:custGeom>
                      <a:avLst/>
                      <a:gdLst>
                        <a:gd name="T0" fmla="*/ 0 w 49"/>
                        <a:gd name="T1" fmla="*/ 0 h 148"/>
                        <a:gd name="T2" fmla="*/ 0 w 49"/>
                        <a:gd name="T3" fmla="*/ 148 h 148"/>
                        <a:gd name="T4" fmla="*/ 49 w 49"/>
                        <a:gd name="T5" fmla="*/ 148 h 148"/>
                        <a:gd name="T6" fmla="*/ 49 w 49"/>
                        <a:gd name="T7" fmla="*/ 32 h 148"/>
                        <a:gd name="T8" fmla="*/ 0 w 49"/>
                        <a:gd name="T9" fmla="*/ 0 h 14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9" h="148">
                          <a:moveTo>
                            <a:pt x="0" y="0"/>
                          </a:moveTo>
                          <a:lnTo>
                            <a:pt x="0" y="148"/>
                          </a:lnTo>
                          <a:lnTo>
                            <a:pt x="49" y="148"/>
                          </a:lnTo>
                          <a:lnTo>
                            <a:pt x="49" y="32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sp>
                <p:nvSpPr>
                  <p:cNvPr id="615" name="Freeform 40"/>
                  <p:cNvSpPr/>
                  <p:nvPr/>
                </p:nvSpPr>
                <p:spPr bwMode="auto">
                  <a:xfrm>
                    <a:off x="3038" y="2605"/>
                    <a:ext cx="530" cy="90"/>
                  </a:xfrm>
                  <a:custGeom>
                    <a:avLst/>
                    <a:gdLst>
                      <a:gd name="T0" fmla="*/ 2653 w 2653"/>
                      <a:gd name="T1" fmla="*/ 197 h 359"/>
                      <a:gd name="T2" fmla="*/ 2653 w 2653"/>
                      <a:gd name="T3" fmla="*/ 0 h 359"/>
                      <a:gd name="T4" fmla="*/ 0 w 2653"/>
                      <a:gd name="T5" fmla="*/ 262 h 359"/>
                      <a:gd name="T6" fmla="*/ 0 w 2653"/>
                      <a:gd name="T7" fmla="*/ 359 h 359"/>
                      <a:gd name="T8" fmla="*/ 2653 w 2653"/>
                      <a:gd name="T9" fmla="*/ 197 h 35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653" h="359">
                        <a:moveTo>
                          <a:pt x="2653" y="197"/>
                        </a:moveTo>
                        <a:lnTo>
                          <a:pt x="2653" y="0"/>
                        </a:lnTo>
                        <a:lnTo>
                          <a:pt x="0" y="262"/>
                        </a:lnTo>
                        <a:lnTo>
                          <a:pt x="0" y="359"/>
                        </a:lnTo>
                        <a:lnTo>
                          <a:pt x="2653" y="197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616" name="Freeform 41"/>
                  <p:cNvSpPr/>
                  <p:nvPr/>
                </p:nvSpPr>
                <p:spPr bwMode="auto">
                  <a:xfrm>
                    <a:off x="3027" y="2505"/>
                    <a:ext cx="541" cy="149"/>
                  </a:xfrm>
                  <a:custGeom>
                    <a:avLst/>
                    <a:gdLst>
                      <a:gd name="T0" fmla="*/ 2707 w 2707"/>
                      <a:gd name="T1" fmla="*/ 164 h 595"/>
                      <a:gd name="T2" fmla="*/ 2707 w 2707"/>
                      <a:gd name="T3" fmla="*/ 0 h 595"/>
                      <a:gd name="T4" fmla="*/ 0 w 2707"/>
                      <a:gd name="T5" fmla="*/ 523 h 595"/>
                      <a:gd name="T6" fmla="*/ 0 w 2707"/>
                      <a:gd name="T7" fmla="*/ 595 h 595"/>
                      <a:gd name="T8" fmla="*/ 2707 w 2707"/>
                      <a:gd name="T9" fmla="*/ 164 h 59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07" h="595">
                        <a:moveTo>
                          <a:pt x="2707" y="164"/>
                        </a:moveTo>
                        <a:lnTo>
                          <a:pt x="2707" y="0"/>
                        </a:lnTo>
                        <a:lnTo>
                          <a:pt x="0" y="523"/>
                        </a:lnTo>
                        <a:lnTo>
                          <a:pt x="0" y="595"/>
                        </a:lnTo>
                        <a:lnTo>
                          <a:pt x="2707" y="164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617" name="Freeform 42"/>
                  <p:cNvSpPr/>
                  <p:nvPr/>
                </p:nvSpPr>
                <p:spPr bwMode="auto">
                  <a:xfrm>
                    <a:off x="3016" y="2340"/>
                    <a:ext cx="552" cy="272"/>
                  </a:xfrm>
                  <a:custGeom>
                    <a:avLst/>
                    <a:gdLst>
                      <a:gd name="T0" fmla="*/ 2761 w 2761"/>
                      <a:gd name="T1" fmla="*/ 383 h 1088"/>
                      <a:gd name="T2" fmla="*/ 2761 w 2761"/>
                      <a:gd name="T3" fmla="*/ 0 h 1088"/>
                      <a:gd name="T4" fmla="*/ 0 w 2761"/>
                      <a:gd name="T5" fmla="*/ 948 h 1088"/>
                      <a:gd name="T6" fmla="*/ 0 w 2761"/>
                      <a:gd name="T7" fmla="*/ 1088 h 1088"/>
                      <a:gd name="T8" fmla="*/ 2761 w 2761"/>
                      <a:gd name="T9" fmla="*/ 383 h 10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61" h="1088">
                        <a:moveTo>
                          <a:pt x="2761" y="383"/>
                        </a:moveTo>
                        <a:lnTo>
                          <a:pt x="2761" y="0"/>
                        </a:lnTo>
                        <a:lnTo>
                          <a:pt x="0" y="948"/>
                        </a:lnTo>
                        <a:lnTo>
                          <a:pt x="0" y="1088"/>
                        </a:lnTo>
                        <a:lnTo>
                          <a:pt x="2761" y="383"/>
                        </a:lnTo>
                        <a:close/>
                      </a:path>
                    </a:pathLst>
                  </a:custGeom>
                  <a:solidFill>
                    <a:srgbClr val="9F9F9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  <p:grpSp>
              <p:nvGrpSpPr>
                <p:cNvPr id="550" name="Group 43"/>
                <p:cNvGrpSpPr/>
                <p:nvPr/>
              </p:nvGrpSpPr>
              <p:grpSpPr bwMode="auto">
                <a:xfrm>
                  <a:off x="3568" y="2341"/>
                  <a:ext cx="169" cy="370"/>
                  <a:chOff x="3568" y="2341"/>
                  <a:chExt cx="169" cy="370"/>
                </a:xfrm>
              </p:grpSpPr>
              <p:sp>
                <p:nvSpPr>
                  <p:cNvPr id="572" name="Freeform 44"/>
                  <p:cNvSpPr/>
                  <p:nvPr/>
                </p:nvSpPr>
                <p:spPr bwMode="auto">
                  <a:xfrm>
                    <a:off x="3569" y="2672"/>
                    <a:ext cx="125" cy="39"/>
                  </a:xfrm>
                  <a:custGeom>
                    <a:avLst/>
                    <a:gdLst>
                      <a:gd name="T0" fmla="*/ 0 w 624"/>
                      <a:gd name="T1" fmla="*/ 0 h 156"/>
                      <a:gd name="T2" fmla="*/ 624 w 624"/>
                      <a:gd name="T3" fmla="*/ 48 h 156"/>
                      <a:gd name="T4" fmla="*/ 624 w 624"/>
                      <a:gd name="T5" fmla="*/ 115 h 156"/>
                      <a:gd name="T6" fmla="*/ 0 w 624"/>
                      <a:gd name="T7" fmla="*/ 156 h 156"/>
                      <a:gd name="T8" fmla="*/ 0 w 624"/>
                      <a:gd name="T9" fmla="*/ 0 h 15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24" h="156">
                        <a:moveTo>
                          <a:pt x="0" y="0"/>
                        </a:moveTo>
                        <a:lnTo>
                          <a:pt x="624" y="48"/>
                        </a:lnTo>
                        <a:lnTo>
                          <a:pt x="624" y="115"/>
                        </a:lnTo>
                        <a:lnTo>
                          <a:pt x="0" y="15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5F5F5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573" name="Freeform 45"/>
                  <p:cNvSpPr/>
                  <p:nvPr/>
                </p:nvSpPr>
                <p:spPr bwMode="auto">
                  <a:xfrm>
                    <a:off x="3568" y="2429"/>
                    <a:ext cx="169" cy="260"/>
                  </a:xfrm>
                  <a:custGeom>
                    <a:avLst/>
                    <a:gdLst>
                      <a:gd name="T0" fmla="*/ 0 w 842"/>
                      <a:gd name="T1" fmla="*/ 0 h 1042"/>
                      <a:gd name="T2" fmla="*/ 842 w 842"/>
                      <a:gd name="T3" fmla="*/ 546 h 1042"/>
                      <a:gd name="T4" fmla="*/ 739 w 842"/>
                      <a:gd name="T5" fmla="*/ 546 h 1042"/>
                      <a:gd name="T6" fmla="*/ 739 w 842"/>
                      <a:gd name="T7" fmla="*/ 738 h 1042"/>
                      <a:gd name="T8" fmla="*/ 775 w 842"/>
                      <a:gd name="T9" fmla="*/ 760 h 1042"/>
                      <a:gd name="T10" fmla="*/ 739 w 842"/>
                      <a:gd name="T11" fmla="*/ 759 h 1042"/>
                      <a:gd name="T12" fmla="*/ 738 w 842"/>
                      <a:gd name="T13" fmla="*/ 1010 h 1042"/>
                      <a:gd name="T14" fmla="*/ 642 w 842"/>
                      <a:gd name="T15" fmla="*/ 1042 h 1042"/>
                      <a:gd name="T16" fmla="*/ 0 w 842"/>
                      <a:gd name="T17" fmla="*/ 1000 h 1042"/>
                      <a:gd name="T18" fmla="*/ 0 w 842"/>
                      <a:gd name="T19" fmla="*/ 0 h 104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842" h="1042">
                        <a:moveTo>
                          <a:pt x="0" y="0"/>
                        </a:moveTo>
                        <a:lnTo>
                          <a:pt x="842" y="546"/>
                        </a:lnTo>
                        <a:lnTo>
                          <a:pt x="739" y="546"/>
                        </a:lnTo>
                        <a:lnTo>
                          <a:pt x="739" y="738"/>
                        </a:lnTo>
                        <a:lnTo>
                          <a:pt x="775" y="760"/>
                        </a:lnTo>
                        <a:lnTo>
                          <a:pt x="739" y="759"/>
                        </a:lnTo>
                        <a:lnTo>
                          <a:pt x="738" y="1010"/>
                        </a:lnTo>
                        <a:lnTo>
                          <a:pt x="642" y="1042"/>
                        </a:lnTo>
                        <a:lnTo>
                          <a:pt x="0" y="10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574" name="Freeform 46"/>
                  <p:cNvSpPr/>
                  <p:nvPr/>
                </p:nvSpPr>
                <p:spPr bwMode="auto">
                  <a:xfrm>
                    <a:off x="3568" y="2341"/>
                    <a:ext cx="169" cy="225"/>
                  </a:xfrm>
                  <a:custGeom>
                    <a:avLst/>
                    <a:gdLst>
                      <a:gd name="T0" fmla="*/ 0 w 842"/>
                      <a:gd name="T1" fmla="*/ 0 h 903"/>
                      <a:gd name="T2" fmla="*/ 0 w 842"/>
                      <a:gd name="T3" fmla="*/ 382 h 903"/>
                      <a:gd name="T4" fmla="*/ 842 w 842"/>
                      <a:gd name="T5" fmla="*/ 903 h 903"/>
                      <a:gd name="T6" fmla="*/ 842 w 842"/>
                      <a:gd name="T7" fmla="*/ 682 h 903"/>
                      <a:gd name="T8" fmla="*/ 0 w 842"/>
                      <a:gd name="T9" fmla="*/ 0 h 90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842" h="903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842" y="903"/>
                        </a:lnTo>
                        <a:lnTo>
                          <a:pt x="842" y="68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grpSp>
                <p:nvGrpSpPr>
                  <p:cNvPr id="575" name="Group 47"/>
                  <p:cNvGrpSpPr/>
                  <p:nvPr/>
                </p:nvGrpSpPr>
                <p:grpSpPr bwMode="auto">
                  <a:xfrm>
                    <a:off x="3570" y="2556"/>
                    <a:ext cx="129" cy="123"/>
                    <a:chOff x="3570" y="2556"/>
                    <a:chExt cx="129" cy="123"/>
                  </a:xfrm>
                </p:grpSpPr>
                <p:sp>
                  <p:nvSpPr>
                    <p:cNvPr id="594" name="Freeform 48"/>
                    <p:cNvSpPr/>
                    <p:nvPr/>
                  </p:nvSpPr>
                  <p:spPr bwMode="auto">
                    <a:xfrm>
                      <a:off x="3683" y="2620"/>
                      <a:ext cx="16" cy="59"/>
                    </a:xfrm>
                    <a:custGeom>
                      <a:avLst/>
                      <a:gdLst>
                        <a:gd name="T0" fmla="*/ 0 w 81"/>
                        <a:gd name="T1" fmla="*/ 47 h 236"/>
                        <a:gd name="T2" fmla="*/ 0 w 81"/>
                        <a:gd name="T3" fmla="*/ 215 h 236"/>
                        <a:gd name="T4" fmla="*/ 81 w 81"/>
                        <a:gd name="T5" fmla="*/ 236 h 236"/>
                        <a:gd name="T6" fmla="*/ 81 w 81"/>
                        <a:gd name="T7" fmla="*/ 0 h 236"/>
                        <a:gd name="T8" fmla="*/ 0 w 81"/>
                        <a:gd name="T9" fmla="*/ 47 h 2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1" h="236">
                          <a:moveTo>
                            <a:pt x="0" y="47"/>
                          </a:moveTo>
                          <a:lnTo>
                            <a:pt x="0" y="215"/>
                          </a:lnTo>
                          <a:lnTo>
                            <a:pt x="81" y="236"/>
                          </a:lnTo>
                          <a:lnTo>
                            <a:pt x="81" y="0"/>
                          </a:lnTo>
                          <a:lnTo>
                            <a:pt x="0" y="47"/>
                          </a:lnTo>
                          <a:close/>
                        </a:path>
                      </a:pathLst>
                    </a:custGeom>
                    <a:solidFill>
                      <a:srgbClr val="3F3F3F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95" name="Freeform 49"/>
                    <p:cNvSpPr/>
                    <p:nvPr/>
                  </p:nvSpPr>
                  <p:spPr bwMode="auto">
                    <a:xfrm>
                      <a:off x="3676" y="2616"/>
                      <a:ext cx="16" cy="58"/>
                    </a:xfrm>
                    <a:custGeom>
                      <a:avLst/>
                      <a:gdLst>
                        <a:gd name="T0" fmla="*/ 0 w 82"/>
                        <a:gd name="T1" fmla="*/ 45 h 234"/>
                        <a:gd name="T2" fmla="*/ 0 w 82"/>
                        <a:gd name="T3" fmla="*/ 214 h 234"/>
                        <a:gd name="T4" fmla="*/ 82 w 82"/>
                        <a:gd name="T5" fmla="*/ 234 h 234"/>
                        <a:gd name="T6" fmla="*/ 82 w 82"/>
                        <a:gd name="T7" fmla="*/ 0 h 234"/>
                        <a:gd name="T8" fmla="*/ 0 w 82"/>
                        <a:gd name="T9" fmla="*/ 45 h 2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2" h="234">
                          <a:moveTo>
                            <a:pt x="0" y="45"/>
                          </a:moveTo>
                          <a:lnTo>
                            <a:pt x="0" y="214"/>
                          </a:lnTo>
                          <a:lnTo>
                            <a:pt x="82" y="234"/>
                          </a:lnTo>
                          <a:lnTo>
                            <a:pt x="82" y="0"/>
                          </a:lnTo>
                          <a:lnTo>
                            <a:pt x="0" y="45"/>
                          </a:lnTo>
                          <a:close/>
                        </a:path>
                      </a:pathLst>
                    </a:custGeom>
                    <a:solidFill>
                      <a:srgbClr val="3F3F3F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96" name="Freeform 50"/>
                    <p:cNvSpPr/>
                    <p:nvPr/>
                  </p:nvSpPr>
                  <p:spPr bwMode="auto">
                    <a:xfrm>
                      <a:off x="3668" y="2611"/>
                      <a:ext cx="16" cy="59"/>
                    </a:xfrm>
                    <a:custGeom>
                      <a:avLst/>
                      <a:gdLst>
                        <a:gd name="T0" fmla="*/ 0 w 81"/>
                        <a:gd name="T1" fmla="*/ 45 h 235"/>
                        <a:gd name="T2" fmla="*/ 0 w 81"/>
                        <a:gd name="T3" fmla="*/ 214 h 235"/>
                        <a:gd name="T4" fmla="*/ 81 w 81"/>
                        <a:gd name="T5" fmla="*/ 235 h 235"/>
                        <a:gd name="T6" fmla="*/ 81 w 81"/>
                        <a:gd name="T7" fmla="*/ 0 h 235"/>
                        <a:gd name="T8" fmla="*/ 0 w 81"/>
                        <a:gd name="T9" fmla="*/ 45 h 23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1" h="235">
                          <a:moveTo>
                            <a:pt x="0" y="45"/>
                          </a:moveTo>
                          <a:lnTo>
                            <a:pt x="0" y="214"/>
                          </a:lnTo>
                          <a:lnTo>
                            <a:pt x="81" y="235"/>
                          </a:lnTo>
                          <a:lnTo>
                            <a:pt x="81" y="0"/>
                          </a:lnTo>
                          <a:lnTo>
                            <a:pt x="0" y="45"/>
                          </a:lnTo>
                          <a:close/>
                        </a:path>
                      </a:pathLst>
                    </a:custGeom>
                    <a:solidFill>
                      <a:srgbClr val="5F5F5F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97" name="Freeform 51"/>
                    <p:cNvSpPr/>
                    <p:nvPr/>
                  </p:nvSpPr>
                  <p:spPr bwMode="auto">
                    <a:xfrm>
                      <a:off x="3661" y="2607"/>
                      <a:ext cx="16" cy="59"/>
                    </a:xfrm>
                    <a:custGeom>
                      <a:avLst/>
                      <a:gdLst>
                        <a:gd name="T0" fmla="*/ 0 w 81"/>
                        <a:gd name="T1" fmla="*/ 45 h 235"/>
                        <a:gd name="T2" fmla="*/ 0 w 81"/>
                        <a:gd name="T3" fmla="*/ 213 h 235"/>
                        <a:gd name="T4" fmla="*/ 81 w 81"/>
                        <a:gd name="T5" fmla="*/ 235 h 235"/>
                        <a:gd name="T6" fmla="*/ 81 w 81"/>
                        <a:gd name="T7" fmla="*/ 0 h 235"/>
                        <a:gd name="T8" fmla="*/ 0 w 81"/>
                        <a:gd name="T9" fmla="*/ 45 h 23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1" h="235">
                          <a:moveTo>
                            <a:pt x="0" y="45"/>
                          </a:moveTo>
                          <a:lnTo>
                            <a:pt x="0" y="213"/>
                          </a:lnTo>
                          <a:lnTo>
                            <a:pt x="81" y="235"/>
                          </a:lnTo>
                          <a:lnTo>
                            <a:pt x="81" y="0"/>
                          </a:lnTo>
                          <a:lnTo>
                            <a:pt x="0" y="45"/>
                          </a:lnTo>
                          <a:close/>
                        </a:path>
                      </a:pathLst>
                    </a:custGeom>
                    <a:solidFill>
                      <a:srgbClr val="5F5F5F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98" name="Freeform 52"/>
                    <p:cNvSpPr/>
                    <p:nvPr/>
                  </p:nvSpPr>
                  <p:spPr bwMode="auto">
                    <a:xfrm>
                      <a:off x="3653" y="2603"/>
                      <a:ext cx="16" cy="58"/>
                    </a:xfrm>
                    <a:custGeom>
                      <a:avLst/>
                      <a:gdLst>
                        <a:gd name="T0" fmla="*/ 0 w 80"/>
                        <a:gd name="T1" fmla="*/ 46 h 235"/>
                        <a:gd name="T2" fmla="*/ 0 w 80"/>
                        <a:gd name="T3" fmla="*/ 214 h 235"/>
                        <a:gd name="T4" fmla="*/ 80 w 80"/>
                        <a:gd name="T5" fmla="*/ 235 h 235"/>
                        <a:gd name="T6" fmla="*/ 80 w 80"/>
                        <a:gd name="T7" fmla="*/ 0 h 235"/>
                        <a:gd name="T8" fmla="*/ 0 w 80"/>
                        <a:gd name="T9" fmla="*/ 46 h 23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0" h="235">
                          <a:moveTo>
                            <a:pt x="0" y="46"/>
                          </a:moveTo>
                          <a:lnTo>
                            <a:pt x="0" y="214"/>
                          </a:lnTo>
                          <a:lnTo>
                            <a:pt x="80" y="235"/>
                          </a:lnTo>
                          <a:lnTo>
                            <a:pt x="80" y="0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rgbClr val="5F5F5F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99" name="Freeform 53"/>
                    <p:cNvSpPr/>
                    <p:nvPr/>
                  </p:nvSpPr>
                  <p:spPr bwMode="auto">
                    <a:xfrm>
                      <a:off x="3646" y="2599"/>
                      <a:ext cx="16" cy="59"/>
                    </a:xfrm>
                    <a:custGeom>
                      <a:avLst/>
                      <a:gdLst>
                        <a:gd name="T0" fmla="*/ 0 w 80"/>
                        <a:gd name="T1" fmla="*/ 45 h 235"/>
                        <a:gd name="T2" fmla="*/ 0 w 80"/>
                        <a:gd name="T3" fmla="*/ 214 h 235"/>
                        <a:gd name="T4" fmla="*/ 80 w 80"/>
                        <a:gd name="T5" fmla="*/ 235 h 235"/>
                        <a:gd name="T6" fmla="*/ 80 w 80"/>
                        <a:gd name="T7" fmla="*/ 0 h 235"/>
                        <a:gd name="T8" fmla="*/ 0 w 80"/>
                        <a:gd name="T9" fmla="*/ 45 h 23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0" h="235">
                          <a:moveTo>
                            <a:pt x="0" y="45"/>
                          </a:moveTo>
                          <a:lnTo>
                            <a:pt x="0" y="214"/>
                          </a:lnTo>
                          <a:lnTo>
                            <a:pt x="80" y="235"/>
                          </a:lnTo>
                          <a:lnTo>
                            <a:pt x="80" y="0"/>
                          </a:lnTo>
                          <a:lnTo>
                            <a:pt x="0" y="45"/>
                          </a:lnTo>
                          <a:close/>
                        </a:path>
                      </a:pathLst>
                    </a:custGeom>
                    <a:solidFill>
                      <a:srgbClr val="5F5F5F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00" name="Freeform 54"/>
                    <p:cNvSpPr/>
                    <p:nvPr/>
                  </p:nvSpPr>
                  <p:spPr bwMode="auto">
                    <a:xfrm>
                      <a:off x="3638" y="2594"/>
                      <a:ext cx="16" cy="59"/>
                    </a:xfrm>
                    <a:custGeom>
                      <a:avLst/>
                      <a:gdLst>
                        <a:gd name="T0" fmla="*/ 0 w 80"/>
                        <a:gd name="T1" fmla="*/ 45 h 235"/>
                        <a:gd name="T2" fmla="*/ 0 w 80"/>
                        <a:gd name="T3" fmla="*/ 213 h 235"/>
                        <a:gd name="T4" fmla="*/ 80 w 80"/>
                        <a:gd name="T5" fmla="*/ 235 h 235"/>
                        <a:gd name="T6" fmla="*/ 80 w 80"/>
                        <a:gd name="T7" fmla="*/ 0 h 235"/>
                        <a:gd name="T8" fmla="*/ 0 w 80"/>
                        <a:gd name="T9" fmla="*/ 45 h 23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0" h="235">
                          <a:moveTo>
                            <a:pt x="0" y="45"/>
                          </a:moveTo>
                          <a:lnTo>
                            <a:pt x="0" y="213"/>
                          </a:lnTo>
                          <a:lnTo>
                            <a:pt x="80" y="235"/>
                          </a:lnTo>
                          <a:lnTo>
                            <a:pt x="80" y="0"/>
                          </a:lnTo>
                          <a:lnTo>
                            <a:pt x="0" y="45"/>
                          </a:lnTo>
                          <a:close/>
                        </a:path>
                      </a:pathLst>
                    </a:cu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01" name="Freeform 55"/>
                    <p:cNvSpPr/>
                    <p:nvPr/>
                  </p:nvSpPr>
                  <p:spPr bwMode="auto">
                    <a:xfrm>
                      <a:off x="3630" y="2591"/>
                      <a:ext cx="16" cy="58"/>
                    </a:xfrm>
                    <a:custGeom>
                      <a:avLst/>
                      <a:gdLst>
                        <a:gd name="T0" fmla="*/ 0 w 80"/>
                        <a:gd name="T1" fmla="*/ 46 h 235"/>
                        <a:gd name="T2" fmla="*/ 0 w 80"/>
                        <a:gd name="T3" fmla="*/ 213 h 235"/>
                        <a:gd name="T4" fmla="*/ 80 w 80"/>
                        <a:gd name="T5" fmla="*/ 235 h 235"/>
                        <a:gd name="T6" fmla="*/ 80 w 80"/>
                        <a:gd name="T7" fmla="*/ 0 h 235"/>
                        <a:gd name="T8" fmla="*/ 0 w 80"/>
                        <a:gd name="T9" fmla="*/ 46 h 23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0" h="235">
                          <a:moveTo>
                            <a:pt x="0" y="46"/>
                          </a:moveTo>
                          <a:lnTo>
                            <a:pt x="0" y="213"/>
                          </a:lnTo>
                          <a:lnTo>
                            <a:pt x="80" y="235"/>
                          </a:lnTo>
                          <a:lnTo>
                            <a:pt x="80" y="0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02" name="Freeform 56"/>
                    <p:cNvSpPr/>
                    <p:nvPr/>
                  </p:nvSpPr>
                  <p:spPr bwMode="auto">
                    <a:xfrm>
                      <a:off x="3622" y="2587"/>
                      <a:ext cx="17" cy="58"/>
                    </a:xfrm>
                    <a:custGeom>
                      <a:avLst/>
                      <a:gdLst>
                        <a:gd name="T0" fmla="*/ 0 w 81"/>
                        <a:gd name="T1" fmla="*/ 45 h 234"/>
                        <a:gd name="T2" fmla="*/ 0 w 81"/>
                        <a:gd name="T3" fmla="*/ 212 h 234"/>
                        <a:gd name="T4" fmla="*/ 81 w 81"/>
                        <a:gd name="T5" fmla="*/ 234 h 234"/>
                        <a:gd name="T6" fmla="*/ 81 w 81"/>
                        <a:gd name="T7" fmla="*/ 0 h 234"/>
                        <a:gd name="T8" fmla="*/ 0 w 81"/>
                        <a:gd name="T9" fmla="*/ 45 h 2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1" h="234">
                          <a:moveTo>
                            <a:pt x="0" y="45"/>
                          </a:moveTo>
                          <a:lnTo>
                            <a:pt x="0" y="212"/>
                          </a:lnTo>
                          <a:lnTo>
                            <a:pt x="81" y="234"/>
                          </a:lnTo>
                          <a:lnTo>
                            <a:pt x="81" y="0"/>
                          </a:lnTo>
                          <a:lnTo>
                            <a:pt x="0" y="45"/>
                          </a:lnTo>
                          <a:close/>
                        </a:path>
                      </a:pathLst>
                    </a:cu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03" name="Freeform 57"/>
                    <p:cNvSpPr/>
                    <p:nvPr/>
                  </p:nvSpPr>
                  <p:spPr bwMode="auto">
                    <a:xfrm>
                      <a:off x="3615" y="2582"/>
                      <a:ext cx="16" cy="59"/>
                    </a:xfrm>
                    <a:custGeom>
                      <a:avLst/>
                      <a:gdLst>
                        <a:gd name="T0" fmla="*/ 0 w 80"/>
                        <a:gd name="T1" fmla="*/ 47 h 234"/>
                        <a:gd name="T2" fmla="*/ 0 w 80"/>
                        <a:gd name="T3" fmla="*/ 214 h 234"/>
                        <a:gd name="T4" fmla="*/ 80 w 80"/>
                        <a:gd name="T5" fmla="*/ 234 h 234"/>
                        <a:gd name="T6" fmla="*/ 80 w 80"/>
                        <a:gd name="T7" fmla="*/ 0 h 234"/>
                        <a:gd name="T8" fmla="*/ 0 w 80"/>
                        <a:gd name="T9" fmla="*/ 47 h 2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0" h="234">
                          <a:moveTo>
                            <a:pt x="0" y="47"/>
                          </a:moveTo>
                          <a:lnTo>
                            <a:pt x="0" y="214"/>
                          </a:lnTo>
                          <a:lnTo>
                            <a:pt x="80" y="234"/>
                          </a:lnTo>
                          <a:lnTo>
                            <a:pt x="80" y="0"/>
                          </a:lnTo>
                          <a:lnTo>
                            <a:pt x="0" y="47"/>
                          </a:lnTo>
                          <a:close/>
                        </a:path>
                      </a:pathLst>
                    </a:cu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04" name="Freeform 58"/>
                    <p:cNvSpPr/>
                    <p:nvPr/>
                  </p:nvSpPr>
                  <p:spPr bwMode="auto">
                    <a:xfrm>
                      <a:off x="3608" y="2577"/>
                      <a:ext cx="16" cy="59"/>
                    </a:xfrm>
                    <a:custGeom>
                      <a:avLst/>
                      <a:gdLst>
                        <a:gd name="T0" fmla="*/ 0 w 81"/>
                        <a:gd name="T1" fmla="*/ 46 h 234"/>
                        <a:gd name="T2" fmla="*/ 0 w 81"/>
                        <a:gd name="T3" fmla="*/ 213 h 234"/>
                        <a:gd name="T4" fmla="*/ 81 w 81"/>
                        <a:gd name="T5" fmla="*/ 234 h 234"/>
                        <a:gd name="T6" fmla="*/ 81 w 81"/>
                        <a:gd name="T7" fmla="*/ 0 h 234"/>
                        <a:gd name="T8" fmla="*/ 0 w 81"/>
                        <a:gd name="T9" fmla="*/ 46 h 2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1" h="234">
                          <a:moveTo>
                            <a:pt x="0" y="46"/>
                          </a:moveTo>
                          <a:lnTo>
                            <a:pt x="0" y="213"/>
                          </a:lnTo>
                          <a:lnTo>
                            <a:pt x="81" y="234"/>
                          </a:lnTo>
                          <a:lnTo>
                            <a:pt x="81" y="0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rgbClr val="9F9F9F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05" name="Freeform 59"/>
                    <p:cNvSpPr/>
                    <p:nvPr/>
                  </p:nvSpPr>
                  <p:spPr bwMode="auto">
                    <a:xfrm>
                      <a:off x="3600" y="2573"/>
                      <a:ext cx="16" cy="59"/>
                    </a:xfrm>
                    <a:custGeom>
                      <a:avLst/>
                      <a:gdLst>
                        <a:gd name="T0" fmla="*/ 0 w 81"/>
                        <a:gd name="T1" fmla="*/ 45 h 234"/>
                        <a:gd name="T2" fmla="*/ 0 w 81"/>
                        <a:gd name="T3" fmla="*/ 213 h 234"/>
                        <a:gd name="T4" fmla="*/ 81 w 81"/>
                        <a:gd name="T5" fmla="*/ 234 h 234"/>
                        <a:gd name="T6" fmla="*/ 81 w 81"/>
                        <a:gd name="T7" fmla="*/ 0 h 234"/>
                        <a:gd name="T8" fmla="*/ 0 w 81"/>
                        <a:gd name="T9" fmla="*/ 45 h 2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1" h="234">
                          <a:moveTo>
                            <a:pt x="0" y="45"/>
                          </a:moveTo>
                          <a:lnTo>
                            <a:pt x="0" y="213"/>
                          </a:lnTo>
                          <a:lnTo>
                            <a:pt x="81" y="234"/>
                          </a:lnTo>
                          <a:lnTo>
                            <a:pt x="81" y="0"/>
                          </a:lnTo>
                          <a:lnTo>
                            <a:pt x="0" y="45"/>
                          </a:lnTo>
                          <a:close/>
                        </a:path>
                      </a:pathLst>
                    </a:custGeom>
                    <a:solidFill>
                      <a:srgbClr val="9F9F9F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06" name="Freeform 60"/>
                    <p:cNvSpPr/>
                    <p:nvPr/>
                  </p:nvSpPr>
                  <p:spPr bwMode="auto">
                    <a:xfrm>
                      <a:off x="3592" y="2569"/>
                      <a:ext cx="16" cy="59"/>
                    </a:xfrm>
                    <a:custGeom>
                      <a:avLst/>
                      <a:gdLst>
                        <a:gd name="T0" fmla="*/ 0 w 80"/>
                        <a:gd name="T1" fmla="*/ 45 h 234"/>
                        <a:gd name="T2" fmla="*/ 0 w 80"/>
                        <a:gd name="T3" fmla="*/ 212 h 234"/>
                        <a:gd name="T4" fmla="*/ 80 w 80"/>
                        <a:gd name="T5" fmla="*/ 234 h 234"/>
                        <a:gd name="T6" fmla="*/ 80 w 80"/>
                        <a:gd name="T7" fmla="*/ 0 h 234"/>
                        <a:gd name="T8" fmla="*/ 0 w 80"/>
                        <a:gd name="T9" fmla="*/ 45 h 2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0" h="234">
                          <a:moveTo>
                            <a:pt x="0" y="45"/>
                          </a:moveTo>
                          <a:lnTo>
                            <a:pt x="0" y="212"/>
                          </a:lnTo>
                          <a:lnTo>
                            <a:pt x="80" y="234"/>
                          </a:lnTo>
                          <a:lnTo>
                            <a:pt x="80" y="0"/>
                          </a:lnTo>
                          <a:lnTo>
                            <a:pt x="0" y="45"/>
                          </a:lnTo>
                          <a:close/>
                        </a:path>
                      </a:pathLst>
                    </a:custGeom>
                    <a:solidFill>
                      <a:srgbClr val="9F9F9F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07" name="Freeform 61"/>
                    <p:cNvSpPr/>
                    <p:nvPr/>
                  </p:nvSpPr>
                  <p:spPr bwMode="auto">
                    <a:xfrm>
                      <a:off x="3585" y="2565"/>
                      <a:ext cx="16" cy="59"/>
                    </a:xfrm>
                    <a:custGeom>
                      <a:avLst/>
                      <a:gdLst>
                        <a:gd name="T0" fmla="*/ 0 w 80"/>
                        <a:gd name="T1" fmla="*/ 47 h 234"/>
                        <a:gd name="T2" fmla="*/ 0 w 80"/>
                        <a:gd name="T3" fmla="*/ 214 h 234"/>
                        <a:gd name="T4" fmla="*/ 80 w 80"/>
                        <a:gd name="T5" fmla="*/ 234 h 234"/>
                        <a:gd name="T6" fmla="*/ 80 w 80"/>
                        <a:gd name="T7" fmla="*/ 0 h 234"/>
                        <a:gd name="T8" fmla="*/ 0 w 80"/>
                        <a:gd name="T9" fmla="*/ 47 h 2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0" h="234">
                          <a:moveTo>
                            <a:pt x="0" y="47"/>
                          </a:moveTo>
                          <a:lnTo>
                            <a:pt x="0" y="214"/>
                          </a:lnTo>
                          <a:lnTo>
                            <a:pt x="80" y="234"/>
                          </a:lnTo>
                          <a:lnTo>
                            <a:pt x="80" y="0"/>
                          </a:lnTo>
                          <a:lnTo>
                            <a:pt x="0" y="47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08" name="Freeform 62"/>
                    <p:cNvSpPr/>
                    <p:nvPr/>
                  </p:nvSpPr>
                  <p:spPr bwMode="auto">
                    <a:xfrm>
                      <a:off x="3577" y="2561"/>
                      <a:ext cx="17" cy="59"/>
                    </a:xfrm>
                    <a:custGeom>
                      <a:avLst/>
                      <a:gdLst>
                        <a:gd name="T0" fmla="*/ 0 w 82"/>
                        <a:gd name="T1" fmla="*/ 45 h 234"/>
                        <a:gd name="T2" fmla="*/ 0 w 82"/>
                        <a:gd name="T3" fmla="*/ 213 h 234"/>
                        <a:gd name="T4" fmla="*/ 82 w 82"/>
                        <a:gd name="T5" fmla="*/ 234 h 234"/>
                        <a:gd name="T6" fmla="*/ 82 w 82"/>
                        <a:gd name="T7" fmla="*/ 0 h 234"/>
                        <a:gd name="T8" fmla="*/ 0 w 82"/>
                        <a:gd name="T9" fmla="*/ 45 h 2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2" h="234">
                          <a:moveTo>
                            <a:pt x="0" y="45"/>
                          </a:moveTo>
                          <a:lnTo>
                            <a:pt x="0" y="213"/>
                          </a:lnTo>
                          <a:lnTo>
                            <a:pt x="82" y="234"/>
                          </a:lnTo>
                          <a:lnTo>
                            <a:pt x="82" y="0"/>
                          </a:lnTo>
                          <a:lnTo>
                            <a:pt x="0" y="45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09" name="Freeform 63"/>
                    <p:cNvSpPr/>
                    <p:nvPr/>
                  </p:nvSpPr>
                  <p:spPr bwMode="auto">
                    <a:xfrm>
                      <a:off x="3570" y="2556"/>
                      <a:ext cx="16" cy="59"/>
                    </a:xfrm>
                    <a:custGeom>
                      <a:avLst/>
                      <a:gdLst>
                        <a:gd name="T0" fmla="*/ 0 w 81"/>
                        <a:gd name="T1" fmla="*/ 46 h 234"/>
                        <a:gd name="T2" fmla="*/ 0 w 81"/>
                        <a:gd name="T3" fmla="*/ 213 h 234"/>
                        <a:gd name="T4" fmla="*/ 81 w 81"/>
                        <a:gd name="T5" fmla="*/ 234 h 234"/>
                        <a:gd name="T6" fmla="*/ 81 w 81"/>
                        <a:gd name="T7" fmla="*/ 0 h 234"/>
                        <a:gd name="T8" fmla="*/ 0 w 81"/>
                        <a:gd name="T9" fmla="*/ 46 h 2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1" h="234">
                          <a:moveTo>
                            <a:pt x="0" y="46"/>
                          </a:moveTo>
                          <a:lnTo>
                            <a:pt x="0" y="213"/>
                          </a:lnTo>
                          <a:lnTo>
                            <a:pt x="81" y="234"/>
                          </a:lnTo>
                          <a:lnTo>
                            <a:pt x="81" y="0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576" name="Group 64"/>
                  <p:cNvGrpSpPr/>
                  <p:nvPr/>
                </p:nvGrpSpPr>
                <p:grpSpPr bwMode="auto">
                  <a:xfrm>
                    <a:off x="3569" y="2472"/>
                    <a:ext cx="123" cy="131"/>
                    <a:chOff x="3569" y="2472"/>
                    <a:chExt cx="123" cy="131"/>
                  </a:xfrm>
                </p:grpSpPr>
                <p:sp>
                  <p:nvSpPr>
                    <p:cNvPr id="579" name="Freeform 65"/>
                    <p:cNvSpPr/>
                    <p:nvPr/>
                  </p:nvSpPr>
                  <p:spPr bwMode="auto">
                    <a:xfrm>
                      <a:off x="3675" y="2553"/>
                      <a:ext cx="17" cy="50"/>
                    </a:xfrm>
                    <a:custGeom>
                      <a:avLst/>
                      <a:gdLst>
                        <a:gd name="T0" fmla="*/ 0 w 81"/>
                        <a:gd name="T1" fmla="*/ 46 h 198"/>
                        <a:gd name="T2" fmla="*/ 0 w 81"/>
                        <a:gd name="T3" fmla="*/ 164 h 198"/>
                        <a:gd name="T4" fmla="*/ 81 w 81"/>
                        <a:gd name="T5" fmla="*/ 198 h 198"/>
                        <a:gd name="T6" fmla="*/ 81 w 81"/>
                        <a:gd name="T7" fmla="*/ 0 h 198"/>
                        <a:gd name="T8" fmla="*/ 0 w 81"/>
                        <a:gd name="T9" fmla="*/ 46 h 19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1" h="198">
                          <a:moveTo>
                            <a:pt x="0" y="46"/>
                          </a:moveTo>
                          <a:lnTo>
                            <a:pt x="0" y="164"/>
                          </a:lnTo>
                          <a:lnTo>
                            <a:pt x="81" y="198"/>
                          </a:lnTo>
                          <a:lnTo>
                            <a:pt x="81" y="0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80" name="Freeform 66"/>
                    <p:cNvSpPr/>
                    <p:nvPr/>
                  </p:nvSpPr>
                  <p:spPr bwMode="auto">
                    <a:xfrm>
                      <a:off x="3668" y="2547"/>
                      <a:ext cx="16" cy="48"/>
                    </a:xfrm>
                    <a:custGeom>
                      <a:avLst/>
                      <a:gdLst>
                        <a:gd name="T0" fmla="*/ 0 w 81"/>
                        <a:gd name="T1" fmla="*/ 45 h 192"/>
                        <a:gd name="T2" fmla="*/ 0 w 81"/>
                        <a:gd name="T3" fmla="*/ 160 h 192"/>
                        <a:gd name="T4" fmla="*/ 81 w 81"/>
                        <a:gd name="T5" fmla="*/ 192 h 192"/>
                        <a:gd name="T6" fmla="*/ 81 w 81"/>
                        <a:gd name="T7" fmla="*/ 0 h 192"/>
                        <a:gd name="T8" fmla="*/ 0 w 81"/>
                        <a:gd name="T9" fmla="*/ 45 h 19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1" h="192">
                          <a:moveTo>
                            <a:pt x="0" y="45"/>
                          </a:moveTo>
                          <a:lnTo>
                            <a:pt x="0" y="160"/>
                          </a:lnTo>
                          <a:lnTo>
                            <a:pt x="81" y="192"/>
                          </a:lnTo>
                          <a:lnTo>
                            <a:pt x="81" y="0"/>
                          </a:lnTo>
                          <a:lnTo>
                            <a:pt x="0" y="45"/>
                          </a:lnTo>
                          <a:close/>
                        </a:path>
                      </a:pathLst>
                    </a:cu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81" name="Freeform 67"/>
                    <p:cNvSpPr/>
                    <p:nvPr/>
                  </p:nvSpPr>
                  <p:spPr bwMode="auto">
                    <a:xfrm>
                      <a:off x="3660" y="2542"/>
                      <a:ext cx="17" cy="50"/>
                    </a:xfrm>
                    <a:custGeom>
                      <a:avLst/>
                      <a:gdLst>
                        <a:gd name="T0" fmla="*/ 0 w 81"/>
                        <a:gd name="T1" fmla="*/ 46 h 201"/>
                        <a:gd name="T2" fmla="*/ 0 w 81"/>
                        <a:gd name="T3" fmla="*/ 183 h 201"/>
                        <a:gd name="T4" fmla="*/ 81 w 81"/>
                        <a:gd name="T5" fmla="*/ 201 h 201"/>
                        <a:gd name="T6" fmla="*/ 81 w 81"/>
                        <a:gd name="T7" fmla="*/ 0 h 201"/>
                        <a:gd name="T8" fmla="*/ 0 w 81"/>
                        <a:gd name="T9" fmla="*/ 46 h 20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1" h="201">
                          <a:moveTo>
                            <a:pt x="0" y="46"/>
                          </a:moveTo>
                          <a:lnTo>
                            <a:pt x="0" y="183"/>
                          </a:lnTo>
                          <a:lnTo>
                            <a:pt x="81" y="201"/>
                          </a:lnTo>
                          <a:lnTo>
                            <a:pt x="81" y="0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82" name="Freeform 68"/>
                    <p:cNvSpPr/>
                    <p:nvPr/>
                  </p:nvSpPr>
                  <p:spPr bwMode="auto">
                    <a:xfrm>
                      <a:off x="3653" y="2535"/>
                      <a:ext cx="16" cy="52"/>
                    </a:xfrm>
                    <a:custGeom>
                      <a:avLst/>
                      <a:gdLst>
                        <a:gd name="T0" fmla="*/ 0 w 82"/>
                        <a:gd name="T1" fmla="*/ 45 h 205"/>
                        <a:gd name="T2" fmla="*/ 0 w 82"/>
                        <a:gd name="T3" fmla="*/ 184 h 205"/>
                        <a:gd name="T4" fmla="*/ 82 w 82"/>
                        <a:gd name="T5" fmla="*/ 205 h 205"/>
                        <a:gd name="T6" fmla="*/ 82 w 82"/>
                        <a:gd name="T7" fmla="*/ 0 h 205"/>
                        <a:gd name="T8" fmla="*/ 0 w 82"/>
                        <a:gd name="T9" fmla="*/ 45 h 20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2" h="205">
                          <a:moveTo>
                            <a:pt x="0" y="45"/>
                          </a:moveTo>
                          <a:lnTo>
                            <a:pt x="0" y="184"/>
                          </a:lnTo>
                          <a:lnTo>
                            <a:pt x="82" y="205"/>
                          </a:lnTo>
                          <a:lnTo>
                            <a:pt x="82" y="0"/>
                          </a:lnTo>
                          <a:lnTo>
                            <a:pt x="0" y="45"/>
                          </a:lnTo>
                          <a:close/>
                        </a:path>
                      </a:pathLst>
                    </a:cu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83" name="Freeform 69"/>
                    <p:cNvSpPr/>
                    <p:nvPr/>
                  </p:nvSpPr>
                  <p:spPr bwMode="auto">
                    <a:xfrm>
                      <a:off x="3646" y="2530"/>
                      <a:ext cx="16" cy="58"/>
                    </a:xfrm>
                    <a:custGeom>
                      <a:avLst/>
                      <a:gdLst>
                        <a:gd name="T0" fmla="*/ 0 w 80"/>
                        <a:gd name="T1" fmla="*/ 46 h 234"/>
                        <a:gd name="T2" fmla="*/ 0 w 80"/>
                        <a:gd name="T3" fmla="*/ 214 h 234"/>
                        <a:gd name="T4" fmla="*/ 80 w 80"/>
                        <a:gd name="T5" fmla="*/ 234 h 234"/>
                        <a:gd name="T6" fmla="*/ 80 w 80"/>
                        <a:gd name="T7" fmla="*/ 0 h 234"/>
                        <a:gd name="T8" fmla="*/ 0 w 80"/>
                        <a:gd name="T9" fmla="*/ 46 h 2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0" h="234">
                          <a:moveTo>
                            <a:pt x="0" y="46"/>
                          </a:moveTo>
                          <a:lnTo>
                            <a:pt x="0" y="214"/>
                          </a:lnTo>
                          <a:lnTo>
                            <a:pt x="80" y="234"/>
                          </a:lnTo>
                          <a:lnTo>
                            <a:pt x="80" y="0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84" name="Freeform 70"/>
                    <p:cNvSpPr/>
                    <p:nvPr/>
                  </p:nvSpPr>
                  <p:spPr bwMode="auto">
                    <a:xfrm>
                      <a:off x="3638" y="2524"/>
                      <a:ext cx="16" cy="58"/>
                    </a:xfrm>
                    <a:custGeom>
                      <a:avLst/>
                      <a:gdLst>
                        <a:gd name="T0" fmla="*/ 0 w 80"/>
                        <a:gd name="T1" fmla="*/ 46 h 234"/>
                        <a:gd name="T2" fmla="*/ 0 w 80"/>
                        <a:gd name="T3" fmla="*/ 214 h 234"/>
                        <a:gd name="T4" fmla="*/ 80 w 80"/>
                        <a:gd name="T5" fmla="*/ 234 h 234"/>
                        <a:gd name="T6" fmla="*/ 80 w 80"/>
                        <a:gd name="T7" fmla="*/ 0 h 234"/>
                        <a:gd name="T8" fmla="*/ 0 w 80"/>
                        <a:gd name="T9" fmla="*/ 46 h 2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0" h="234">
                          <a:moveTo>
                            <a:pt x="0" y="46"/>
                          </a:moveTo>
                          <a:lnTo>
                            <a:pt x="0" y="214"/>
                          </a:lnTo>
                          <a:lnTo>
                            <a:pt x="80" y="234"/>
                          </a:lnTo>
                          <a:lnTo>
                            <a:pt x="80" y="0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rgbClr val="9F9F9F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85" name="Freeform 71"/>
                    <p:cNvSpPr/>
                    <p:nvPr/>
                  </p:nvSpPr>
                  <p:spPr bwMode="auto">
                    <a:xfrm>
                      <a:off x="3630" y="2518"/>
                      <a:ext cx="16" cy="59"/>
                    </a:xfrm>
                    <a:custGeom>
                      <a:avLst/>
                      <a:gdLst>
                        <a:gd name="T0" fmla="*/ 0 w 80"/>
                        <a:gd name="T1" fmla="*/ 46 h 235"/>
                        <a:gd name="T2" fmla="*/ 0 w 80"/>
                        <a:gd name="T3" fmla="*/ 213 h 235"/>
                        <a:gd name="T4" fmla="*/ 80 w 80"/>
                        <a:gd name="T5" fmla="*/ 235 h 235"/>
                        <a:gd name="T6" fmla="*/ 80 w 80"/>
                        <a:gd name="T7" fmla="*/ 0 h 235"/>
                        <a:gd name="T8" fmla="*/ 0 w 80"/>
                        <a:gd name="T9" fmla="*/ 46 h 23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0" h="235">
                          <a:moveTo>
                            <a:pt x="0" y="46"/>
                          </a:moveTo>
                          <a:lnTo>
                            <a:pt x="0" y="213"/>
                          </a:lnTo>
                          <a:lnTo>
                            <a:pt x="80" y="235"/>
                          </a:lnTo>
                          <a:lnTo>
                            <a:pt x="80" y="0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rgbClr val="9F9F9F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86" name="Freeform 72"/>
                    <p:cNvSpPr/>
                    <p:nvPr/>
                  </p:nvSpPr>
                  <p:spPr bwMode="auto">
                    <a:xfrm>
                      <a:off x="3622" y="2512"/>
                      <a:ext cx="16" cy="59"/>
                    </a:xfrm>
                    <a:custGeom>
                      <a:avLst/>
                      <a:gdLst>
                        <a:gd name="T0" fmla="*/ 0 w 80"/>
                        <a:gd name="T1" fmla="*/ 45 h 234"/>
                        <a:gd name="T2" fmla="*/ 0 w 80"/>
                        <a:gd name="T3" fmla="*/ 213 h 234"/>
                        <a:gd name="T4" fmla="*/ 80 w 80"/>
                        <a:gd name="T5" fmla="*/ 234 h 234"/>
                        <a:gd name="T6" fmla="*/ 80 w 80"/>
                        <a:gd name="T7" fmla="*/ 0 h 234"/>
                        <a:gd name="T8" fmla="*/ 0 w 80"/>
                        <a:gd name="T9" fmla="*/ 45 h 2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0" h="234">
                          <a:moveTo>
                            <a:pt x="0" y="45"/>
                          </a:moveTo>
                          <a:lnTo>
                            <a:pt x="0" y="213"/>
                          </a:lnTo>
                          <a:lnTo>
                            <a:pt x="80" y="234"/>
                          </a:lnTo>
                          <a:lnTo>
                            <a:pt x="80" y="0"/>
                          </a:lnTo>
                          <a:lnTo>
                            <a:pt x="0" y="45"/>
                          </a:lnTo>
                          <a:close/>
                        </a:path>
                      </a:pathLst>
                    </a:custGeom>
                    <a:solidFill>
                      <a:srgbClr val="9F9F9F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87" name="Freeform 73"/>
                    <p:cNvSpPr/>
                    <p:nvPr/>
                  </p:nvSpPr>
                  <p:spPr bwMode="auto">
                    <a:xfrm>
                      <a:off x="3615" y="2506"/>
                      <a:ext cx="16" cy="59"/>
                    </a:xfrm>
                    <a:custGeom>
                      <a:avLst/>
                      <a:gdLst>
                        <a:gd name="T0" fmla="*/ 0 w 81"/>
                        <a:gd name="T1" fmla="*/ 45 h 234"/>
                        <a:gd name="T2" fmla="*/ 0 w 81"/>
                        <a:gd name="T3" fmla="*/ 214 h 234"/>
                        <a:gd name="T4" fmla="*/ 81 w 81"/>
                        <a:gd name="T5" fmla="*/ 234 h 234"/>
                        <a:gd name="T6" fmla="*/ 81 w 81"/>
                        <a:gd name="T7" fmla="*/ 0 h 234"/>
                        <a:gd name="T8" fmla="*/ 0 w 81"/>
                        <a:gd name="T9" fmla="*/ 45 h 2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1" h="234">
                          <a:moveTo>
                            <a:pt x="0" y="45"/>
                          </a:moveTo>
                          <a:lnTo>
                            <a:pt x="0" y="214"/>
                          </a:lnTo>
                          <a:lnTo>
                            <a:pt x="81" y="234"/>
                          </a:lnTo>
                          <a:lnTo>
                            <a:pt x="81" y="0"/>
                          </a:lnTo>
                          <a:lnTo>
                            <a:pt x="0" y="45"/>
                          </a:lnTo>
                          <a:close/>
                        </a:path>
                      </a:pathLst>
                    </a:custGeom>
                    <a:solidFill>
                      <a:srgbClr val="9F9F9F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88" name="Freeform 74"/>
                    <p:cNvSpPr/>
                    <p:nvPr/>
                  </p:nvSpPr>
                  <p:spPr bwMode="auto">
                    <a:xfrm>
                      <a:off x="3607" y="2500"/>
                      <a:ext cx="16" cy="59"/>
                    </a:xfrm>
                    <a:custGeom>
                      <a:avLst/>
                      <a:gdLst>
                        <a:gd name="T0" fmla="*/ 0 w 80"/>
                        <a:gd name="T1" fmla="*/ 47 h 234"/>
                        <a:gd name="T2" fmla="*/ 0 w 80"/>
                        <a:gd name="T3" fmla="*/ 214 h 234"/>
                        <a:gd name="T4" fmla="*/ 80 w 80"/>
                        <a:gd name="T5" fmla="*/ 234 h 234"/>
                        <a:gd name="T6" fmla="*/ 80 w 80"/>
                        <a:gd name="T7" fmla="*/ 0 h 234"/>
                        <a:gd name="T8" fmla="*/ 0 w 80"/>
                        <a:gd name="T9" fmla="*/ 47 h 2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0" h="234">
                          <a:moveTo>
                            <a:pt x="0" y="47"/>
                          </a:moveTo>
                          <a:lnTo>
                            <a:pt x="0" y="214"/>
                          </a:lnTo>
                          <a:lnTo>
                            <a:pt x="80" y="234"/>
                          </a:lnTo>
                          <a:lnTo>
                            <a:pt x="80" y="0"/>
                          </a:lnTo>
                          <a:lnTo>
                            <a:pt x="0" y="47"/>
                          </a:lnTo>
                          <a:close/>
                        </a:path>
                      </a:pathLst>
                    </a:custGeom>
                    <a:solidFill>
                      <a:srgbClr val="9F9F9F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89" name="Freeform 75"/>
                    <p:cNvSpPr/>
                    <p:nvPr/>
                  </p:nvSpPr>
                  <p:spPr bwMode="auto">
                    <a:xfrm>
                      <a:off x="3600" y="2495"/>
                      <a:ext cx="16" cy="59"/>
                    </a:xfrm>
                    <a:custGeom>
                      <a:avLst/>
                      <a:gdLst>
                        <a:gd name="T0" fmla="*/ 0 w 80"/>
                        <a:gd name="T1" fmla="*/ 45 h 234"/>
                        <a:gd name="T2" fmla="*/ 0 w 80"/>
                        <a:gd name="T3" fmla="*/ 213 h 234"/>
                        <a:gd name="T4" fmla="*/ 80 w 80"/>
                        <a:gd name="T5" fmla="*/ 234 h 234"/>
                        <a:gd name="T6" fmla="*/ 80 w 80"/>
                        <a:gd name="T7" fmla="*/ 0 h 234"/>
                        <a:gd name="T8" fmla="*/ 0 w 80"/>
                        <a:gd name="T9" fmla="*/ 45 h 2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0" h="234">
                          <a:moveTo>
                            <a:pt x="0" y="45"/>
                          </a:moveTo>
                          <a:lnTo>
                            <a:pt x="0" y="213"/>
                          </a:lnTo>
                          <a:lnTo>
                            <a:pt x="80" y="234"/>
                          </a:lnTo>
                          <a:lnTo>
                            <a:pt x="80" y="0"/>
                          </a:lnTo>
                          <a:lnTo>
                            <a:pt x="0" y="45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90" name="Freeform 76"/>
                    <p:cNvSpPr/>
                    <p:nvPr/>
                  </p:nvSpPr>
                  <p:spPr bwMode="auto">
                    <a:xfrm>
                      <a:off x="3592" y="2489"/>
                      <a:ext cx="16" cy="59"/>
                    </a:xfrm>
                    <a:custGeom>
                      <a:avLst/>
                      <a:gdLst>
                        <a:gd name="T0" fmla="*/ 0 w 81"/>
                        <a:gd name="T1" fmla="*/ 46 h 234"/>
                        <a:gd name="T2" fmla="*/ 0 w 81"/>
                        <a:gd name="T3" fmla="*/ 214 h 234"/>
                        <a:gd name="T4" fmla="*/ 81 w 81"/>
                        <a:gd name="T5" fmla="*/ 234 h 234"/>
                        <a:gd name="T6" fmla="*/ 81 w 81"/>
                        <a:gd name="T7" fmla="*/ 0 h 234"/>
                        <a:gd name="T8" fmla="*/ 0 w 81"/>
                        <a:gd name="T9" fmla="*/ 46 h 2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1" h="234">
                          <a:moveTo>
                            <a:pt x="0" y="46"/>
                          </a:moveTo>
                          <a:lnTo>
                            <a:pt x="0" y="214"/>
                          </a:lnTo>
                          <a:lnTo>
                            <a:pt x="81" y="234"/>
                          </a:lnTo>
                          <a:lnTo>
                            <a:pt x="81" y="0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91" name="Freeform 77"/>
                    <p:cNvSpPr/>
                    <p:nvPr/>
                  </p:nvSpPr>
                  <p:spPr bwMode="auto">
                    <a:xfrm>
                      <a:off x="3585" y="2483"/>
                      <a:ext cx="16" cy="59"/>
                    </a:xfrm>
                    <a:custGeom>
                      <a:avLst/>
                      <a:gdLst>
                        <a:gd name="T0" fmla="*/ 0 w 80"/>
                        <a:gd name="T1" fmla="*/ 47 h 234"/>
                        <a:gd name="T2" fmla="*/ 0 w 80"/>
                        <a:gd name="T3" fmla="*/ 214 h 234"/>
                        <a:gd name="T4" fmla="*/ 80 w 80"/>
                        <a:gd name="T5" fmla="*/ 234 h 234"/>
                        <a:gd name="T6" fmla="*/ 80 w 80"/>
                        <a:gd name="T7" fmla="*/ 0 h 234"/>
                        <a:gd name="T8" fmla="*/ 0 w 80"/>
                        <a:gd name="T9" fmla="*/ 47 h 2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0" h="234">
                          <a:moveTo>
                            <a:pt x="0" y="47"/>
                          </a:moveTo>
                          <a:lnTo>
                            <a:pt x="0" y="214"/>
                          </a:lnTo>
                          <a:lnTo>
                            <a:pt x="80" y="234"/>
                          </a:lnTo>
                          <a:lnTo>
                            <a:pt x="80" y="0"/>
                          </a:lnTo>
                          <a:lnTo>
                            <a:pt x="0" y="47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92" name="Freeform 78"/>
                    <p:cNvSpPr/>
                    <p:nvPr/>
                  </p:nvSpPr>
                  <p:spPr bwMode="auto">
                    <a:xfrm>
                      <a:off x="3577" y="2477"/>
                      <a:ext cx="16" cy="59"/>
                    </a:xfrm>
                    <a:custGeom>
                      <a:avLst/>
                      <a:gdLst>
                        <a:gd name="T0" fmla="*/ 0 w 80"/>
                        <a:gd name="T1" fmla="*/ 47 h 235"/>
                        <a:gd name="T2" fmla="*/ 0 w 80"/>
                        <a:gd name="T3" fmla="*/ 214 h 235"/>
                        <a:gd name="T4" fmla="*/ 80 w 80"/>
                        <a:gd name="T5" fmla="*/ 235 h 235"/>
                        <a:gd name="T6" fmla="*/ 80 w 80"/>
                        <a:gd name="T7" fmla="*/ 0 h 235"/>
                        <a:gd name="T8" fmla="*/ 0 w 80"/>
                        <a:gd name="T9" fmla="*/ 47 h 23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0" h="235">
                          <a:moveTo>
                            <a:pt x="0" y="47"/>
                          </a:moveTo>
                          <a:lnTo>
                            <a:pt x="0" y="214"/>
                          </a:lnTo>
                          <a:lnTo>
                            <a:pt x="80" y="235"/>
                          </a:lnTo>
                          <a:lnTo>
                            <a:pt x="80" y="0"/>
                          </a:lnTo>
                          <a:lnTo>
                            <a:pt x="0" y="47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93" name="Freeform 79"/>
                    <p:cNvSpPr/>
                    <p:nvPr/>
                  </p:nvSpPr>
                  <p:spPr bwMode="auto">
                    <a:xfrm>
                      <a:off x="3569" y="2472"/>
                      <a:ext cx="17" cy="58"/>
                    </a:xfrm>
                    <a:custGeom>
                      <a:avLst/>
                      <a:gdLst>
                        <a:gd name="T0" fmla="*/ 0 w 82"/>
                        <a:gd name="T1" fmla="*/ 45 h 234"/>
                        <a:gd name="T2" fmla="*/ 0 w 82"/>
                        <a:gd name="T3" fmla="*/ 212 h 234"/>
                        <a:gd name="T4" fmla="*/ 82 w 82"/>
                        <a:gd name="T5" fmla="*/ 234 h 234"/>
                        <a:gd name="T6" fmla="*/ 82 w 82"/>
                        <a:gd name="T7" fmla="*/ 0 h 234"/>
                        <a:gd name="T8" fmla="*/ 0 w 82"/>
                        <a:gd name="T9" fmla="*/ 45 h 2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2" h="234">
                          <a:moveTo>
                            <a:pt x="0" y="45"/>
                          </a:moveTo>
                          <a:lnTo>
                            <a:pt x="0" y="212"/>
                          </a:lnTo>
                          <a:lnTo>
                            <a:pt x="82" y="234"/>
                          </a:lnTo>
                          <a:lnTo>
                            <a:pt x="82" y="0"/>
                          </a:lnTo>
                          <a:lnTo>
                            <a:pt x="0" y="45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sp>
                <p:nvSpPr>
                  <p:cNvPr id="577" name="Freeform 80"/>
                  <p:cNvSpPr/>
                  <p:nvPr/>
                </p:nvSpPr>
                <p:spPr bwMode="auto">
                  <a:xfrm>
                    <a:off x="3568" y="2506"/>
                    <a:ext cx="156" cy="114"/>
                  </a:xfrm>
                  <a:custGeom>
                    <a:avLst/>
                    <a:gdLst>
                      <a:gd name="T0" fmla="*/ 0 w 780"/>
                      <a:gd name="T1" fmla="*/ 0 h 457"/>
                      <a:gd name="T2" fmla="*/ 780 w 780"/>
                      <a:gd name="T3" fmla="*/ 362 h 457"/>
                      <a:gd name="T4" fmla="*/ 780 w 780"/>
                      <a:gd name="T5" fmla="*/ 457 h 457"/>
                      <a:gd name="T6" fmla="*/ 0 w 780"/>
                      <a:gd name="T7" fmla="*/ 162 h 457"/>
                      <a:gd name="T8" fmla="*/ 0 w 780"/>
                      <a:gd name="T9" fmla="*/ 0 h 45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80" h="457">
                        <a:moveTo>
                          <a:pt x="0" y="0"/>
                        </a:moveTo>
                        <a:lnTo>
                          <a:pt x="780" y="362"/>
                        </a:lnTo>
                        <a:lnTo>
                          <a:pt x="780" y="457"/>
                        </a:lnTo>
                        <a:lnTo>
                          <a:pt x="0" y="16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9F9F9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578" name="Freeform 81"/>
                  <p:cNvSpPr/>
                  <p:nvPr/>
                </p:nvSpPr>
                <p:spPr bwMode="auto">
                  <a:xfrm>
                    <a:off x="3568" y="2605"/>
                    <a:ext cx="149" cy="77"/>
                  </a:xfrm>
                  <a:custGeom>
                    <a:avLst/>
                    <a:gdLst>
                      <a:gd name="T0" fmla="*/ 0 w 746"/>
                      <a:gd name="T1" fmla="*/ 0 h 310"/>
                      <a:gd name="T2" fmla="*/ 746 w 746"/>
                      <a:gd name="T3" fmla="*/ 201 h 310"/>
                      <a:gd name="T4" fmla="*/ 746 w 746"/>
                      <a:gd name="T5" fmla="*/ 310 h 310"/>
                      <a:gd name="T6" fmla="*/ 0 w 746"/>
                      <a:gd name="T7" fmla="*/ 197 h 310"/>
                      <a:gd name="T8" fmla="*/ 0 w 746"/>
                      <a:gd name="T9" fmla="*/ 0 h 3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46" h="310">
                        <a:moveTo>
                          <a:pt x="0" y="0"/>
                        </a:moveTo>
                        <a:lnTo>
                          <a:pt x="746" y="201"/>
                        </a:lnTo>
                        <a:lnTo>
                          <a:pt x="746" y="310"/>
                        </a:lnTo>
                        <a:lnTo>
                          <a:pt x="0" y="19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9F9F9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  <p:grpSp>
              <p:nvGrpSpPr>
                <p:cNvPr id="551" name="Group 82"/>
                <p:cNvGrpSpPr/>
                <p:nvPr/>
              </p:nvGrpSpPr>
              <p:grpSpPr bwMode="auto">
                <a:xfrm>
                  <a:off x="3033" y="2348"/>
                  <a:ext cx="439" cy="405"/>
                  <a:chOff x="3033" y="2348"/>
                  <a:chExt cx="439" cy="405"/>
                </a:xfrm>
              </p:grpSpPr>
              <p:grpSp>
                <p:nvGrpSpPr>
                  <p:cNvPr id="552" name="Group 83"/>
                  <p:cNvGrpSpPr/>
                  <p:nvPr/>
                </p:nvGrpSpPr>
                <p:grpSpPr bwMode="auto">
                  <a:xfrm>
                    <a:off x="3210" y="2436"/>
                    <a:ext cx="72" cy="317"/>
                    <a:chOff x="3210" y="2436"/>
                    <a:chExt cx="72" cy="317"/>
                  </a:xfrm>
                </p:grpSpPr>
                <p:sp>
                  <p:nvSpPr>
                    <p:cNvPr id="568" name="Freeform 84"/>
                    <p:cNvSpPr/>
                    <p:nvPr/>
                  </p:nvSpPr>
                  <p:spPr bwMode="auto">
                    <a:xfrm>
                      <a:off x="3215" y="2436"/>
                      <a:ext cx="67" cy="317"/>
                    </a:xfrm>
                    <a:custGeom>
                      <a:avLst/>
                      <a:gdLst>
                        <a:gd name="T0" fmla="*/ 333 w 333"/>
                        <a:gd name="T1" fmla="*/ 109 h 1264"/>
                        <a:gd name="T2" fmla="*/ 153 w 333"/>
                        <a:gd name="T3" fmla="*/ 0 h 1264"/>
                        <a:gd name="T4" fmla="*/ 132 w 333"/>
                        <a:gd name="T5" fmla="*/ 0 h 1264"/>
                        <a:gd name="T6" fmla="*/ 95 w 333"/>
                        <a:gd name="T7" fmla="*/ 5 h 1264"/>
                        <a:gd name="T8" fmla="*/ 33 w 333"/>
                        <a:gd name="T9" fmla="*/ 69 h 1264"/>
                        <a:gd name="T10" fmla="*/ 0 w 333"/>
                        <a:gd name="T11" fmla="*/ 49 h 1264"/>
                        <a:gd name="T12" fmla="*/ 0 w 333"/>
                        <a:gd name="T13" fmla="*/ 1261 h 1264"/>
                        <a:gd name="T14" fmla="*/ 49 w 333"/>
                        <a:gd name="T15" fmla="*/ 1210 h 1264"/>
                        <a:gd name="T16" fmla="*/ 91 w 333"/>
                        <a:gd name="T17" fmla="*/ 1210 h 1264"/>
                        <a:gd name="T18" fmla="*/ 91 w 333"/>
                        <a:gd name="T19" fmla="*/ 1264 h 1264"/>
                        <a:gd name="T20" fmla="*/ 133 w 333"/>
                        <a:gd name="T21" fmla="*/ 1264 h 1264"/>
                        <a:gd name="T22" fmla="*/ 162 w 333"/>
                        <a:gd name="T23" fmla="*/ 1236 h 1264"/>
                        <a:gd name="T24" fmla="*/ 162 w 333"/>
                        <a:gd name="T25" fmla="*/ 167 h 1264"/>
                        <a:gd name="T26" fmla="*/ 333 w 333"/>
                        <a:gd name="T27" fmla="*/ 109 h 126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</a:cxnLst>
                      <a:rect l="0" t="0" r="r" b="b"/>
                      <a:pathLst>
                        <a:path w="333" h="1264">
                          <a:moveTo>
                            <a:pt x="333" y="109"/>
                          </a:moveTo>
                          <a:lnTo>
                            <a:pt x="153" y="0"/>
                          </a:lnTo>
                          <a:lnTo>
                            <a:pt x="132" y="0"/>
                          </a:lnTo>
                          <a:lnTo>
                            <a:pt x="95" y="5"/>
                          </a:lnTo>
                          <a:lnTo>
                            <a:pt x="33" y="69"/>
                          </a:lnTo>
                          <a:lnTo>
                            <a:pt x="0" y="49"/>
                          </a:lnTo>
                          <a:lnTo>
                            <a:pt x="0" y="1261"/>
                          </a:lnTo>
                          <a:lnTo>
                            <a:pt x="49" y="1210"/>
                          </a:lnTo>
                          <a:lnTo>
                            <a:pt x="91" y="1210"/>
                          </a:lnTo>
                          <a:lnTo>
                            <a:pt x="91" y="1264"/>
                          </a:lnTo>
                          <a:lnTo>
                            <a:pt x="133" y="1264"/>
                          </a:lnTo>
                          <a:lnTo>
                            <a:pt x="162" y="1236"/>
                          </a:lnTo>
                          <a:lnTo>
                            <a:pt x="162" y="167"/>
                          </a:lnTo>
                          <a:lnTo>
                            <a:pt x="333" y="109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69" name="Freeform 85"/>
                    <p:cNvSpPr/>
                    <p:nvPr/>
                  </p:nvSpPr>
                  <p:spPr bwMode="auto">
                    <a:xfrm>
                      <a:off x="3210" y="2449"/>
                      <a:ext cx="5" cy="303"/>
                    </a:xfrm>
                    <a:custGeom>
                      <a:avLst/>
                      <a:gdLst>
                        <a:gd name="T0" fmla="*/ 28 w 28"/>
                        <a:gd name="T1" fmla="*/ 0 h 1213"/>
                        <a:gd name="T2" fmla="*/ 28 w 28"/>
                        <a:gd name="T3" fmla="*/ 1213 h 1213"/>
                        <a:gd name="T4" fmla="*/ 0 w 28"/>
                        <a:gd name="T5" fmla="*/ 1213 h 1213"/>
                        <a:gd name="T6" fmla="*/ 0 w 28"/>
                        <a:gd name="T7" fmla="*/ 9 h 1213"/>
                        <a:gd name="T8" fmla="*/ 28 w 28"/>
                        <a:gd name="T9" fmla="*/ 0 h 121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8" h="1213">
                          <a:moveTo>
                            <a:pt x="28" y="0"/>
                          </a:moveTo>
                          <a:lnTo>
                            <a:pt x="28" y="1213"/>
                          </a:lnTo>
                          <a:lnTo>
                            <a:pt x="0" y="1213"/>
                          </a:lnTo>
                          <a:lnTo>
                            <a:pt x="0" y="9"/>
                          </a:lnTo>
                          <a:lnTo>
                            <a:pt x="28" y="0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70" name="Freeform 86"/>
                    <p:cNvSpPr/>
                    <p:nvPr/>
                  </p:nvSpPr>
                  <p:spPr bwMode="auto">
                    <a:xfrm>
                      <a:off x="3233" y="2436"/>
                      <a:ext cx="8" cy="317"/>
                    </a:xfrm>
                    <a:custGeom>
                      <a:avLst/>
                      <a:gdLst>
                        <a:gd name="T0" fmla="*/ 0 w 41"/>
                        <a:gd name="T1" fmla="*/ 5 h 1264"/>
                        <a:gd name="T2" fmla="*/ 41 w 41"/>
                        <a:gd name="T3" fmla="*/ 0 h 1264"/>
                        <a:gd name="T4" fmla="*/ 41 w 41"/>
                        <a:gd name="T5" fmla="*/ 1264 h 1264"/>
                        <a:gd name="T6" fmla="*/ 0 w 41"/>
                        <a:gd name="T7" fmla="*/ 1264 h 1264"/>
                        <a:gd name="T8" fmla="*/ 0 w 41"/>
                        <a:gd name="T9" fmla="*/ 5 h 126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1" h="1264">
                          <a:moveTo>
                            <a:pt x="0" y="5"/>
                          </a:moveTo>
                          <a:lnTo>
                            <a:pt x="41" y="0"/>
                          </a:lnTo>
                          <a:lnTo>
                            <a:pt x="41" y="1264"/>
                          </a:lnTo>
                          <a:lnTo>
                            <a:pt x="0" y="1264"/>
                          </a:lnTo>
                          <a:lnTo>
                            <a:pt x="0" y="5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71" name="Freeform 87"/>
                    <p:cNvSpPr/>
                    <p:nvPr/>
                  </p:nvSpPr>
                  <p:spPr bwMode="auto">
                    <a:xfrm>
                      <a:off x="3222" y="2444"/>
                      <a:ext cx="11" cy="299"/>
                    </a:xfrm>
                    <a:custGeom>
                      <a:avLst/>
                      <a:gdLst>
                        <a:gd name="T0" fmla="*/ 0 w 58"/>
                        <a:gd name="T1" fmla="*/ 1195 h 1195"/>
                        <a:gd name="T2" fmla="*/ 0 w 58"/>
                        <a:gd name="T3" fmla="*/ 58 h 1195"/>
                        <a:gd name="T4" fmla="*/ 58 w 58"/>
                        <a:gd name="T5" fmla="*/ 0 h 1195"/>
                        <a:gd name="T6" fmla="*/ 58 w 58"/>
                        <a:gd name="T7" fmla="*/ 1195 h 1195"/>
                        <a:gd name="T8" fmla="*/ 0 w 58"/>
                        <a:gd name="T9" fmla="*/ 1195 h 119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58" h="1195">
                          <a:moveTo>
                            <a:pt x="0" y="1195"/>
                          </a:moveTo>
                          <a:lnTo>
                            <a:pt x="0" y="58"/>
                          </a:lnTo>
                          <a:lnTo>
                            <a:pt x="58" y="0"/>
                          </a:lnTo>
                          <a:lnTo>
                            <a:pt x="58" y="1195"/>
                          </a:lnTo>
                          <a:lnTo>
                            <a:pt x="0" y="1195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553" name="Group 88"/>
                  <p:cNvGrpSpPr/>
                  <p:nvPr/>
                </p:nvGrpSpPr>
                <p:grpSpPr bwMode="auto">
                  <a:xfrm>
                    <a:off x="3380" y="2348"/>
                    <a:ext cx="92" cy="403"/>
                    <a:chOff x="3380" y="2348"/>
                    <a:chExt cx="92" cy="403"/>
                  </a:xfrm>
                </p:grpSpPr>
                <p:sp>
                  <p:nvSpPr>
                    <p:cNvPr id="564" name="Freeform 89"/>
                    <p:cNvSpPr/>
                    <p:nvPr/>
                  </p:nvSpPr>
                  <p:spPr bwMode="auto">
                    <a:xfrm>
                      <a:off x="3387" y="2348"/>
                      <a:ext cx="85" cy="403"/>
                    </a:xfrm>
                    <a:custGeom>
                      <a:avLst/>
                      <a:gdLst>
                        <a:gd name="T0" fmla="*/ 425 w 425"/>
                        <a:gd name="T1" fmla="*/ 137 h 1613"/>
                        <a:gd name="T2" fmla="*/ 196 w 425"/>
                        <a:gd name="T3" fmla="*/ 0 h 1613"/>
                        <a:gd name="T4" fmla="*/ 168 w 425"/>
                        <a:gd name="T5" fmla="*/ 0 h 1613"/>
                        <a:gd name="T6" fmla="*/ 122 w 425"/>
                        <a:gd name="T7" fmla="*/ 6 h 1613"/>
                        <a:gd name="T8" fmla="*/ 42 w 425"/>
                        <a:gd name="T9" fmla="*/ 86 h 1613"/>
                        <a:gd name="T10" fmla="*/ 0 w 425"/>
                        <a:gd name="T11" fmla="*/ 61 h 1613"/>
                        <a:gd name="T12" fmla="*/ 0 w 425"/>
                        <a:gd name="T13" fmla="*/ 1607 h 1613"/>
                        <a:gd name="T14" fmla="*/ 64 w 425"/>
                        <a:gd name="T15" fmla="*/ 1544 h 1613"/>
                        <a:gd name="T16" fmla="*/ 117 w 425"/>
                        <a:gd name="T17" fmla="*/ 1544 h 1613"/>
                        <a:gd name="T18" fmla="*/ 117 w 425"/>
                        <a:gd name="T19" fmla="*/ 1613 h 1613"/>
                        <a:gd name="T20" fmla="*/ 170 w 425"/>
                        <a:gd name="T21" fmla="*/ 1613 h 1613"/>
                        <a:gd name="T22" fmla="*/ 207 w 425"/>
                        <a:gd name="T23" fmla="*/ 1576 h 1613"/>
                        <a:gd name="T24" fmla="*/ 207 w 425"/>
                        <a:gd name="T25" fmla="*/ 211 h 1613"/>
                        <a:gd name="T26" fmla="*/ 425 w 425"/>
                        <a:gd name="T27" fmla="*/ 137 h 161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</a:cxnLst>
                      <a:rect l="0" t="0" r="r" b="b"/>
                      <a:pathLst>
                        <a:path w="425" h="1613">
                          <a:moveTo>
                            <a:pt x="425" y="137"/>
                          </a:moveTo>
                          <a:lnTo>
                            <a:pt x="196" y="0"/>
                          </a:lnTo>
                          <a:lnTo>
                            <a:pt x="168" y="0"/>
                          </a:lnTo>
                          <a:lnTo>
                            <a:pt x="122" y="6"/>
                          </a:lnTo>
                          <a:lnTo>
                            <a:pt x="42" y="86"/>
                          </a:lnTo>
                          <a:lnTo>
                            <a:pt x="0" y="61"/>
                          </a:lnTo>
                          <a:lnTo>
                            <a:pt x="0" y="1607"/>
                          </a:lnTo>
                          <a:lnTo>
                            <a:pt x="64" y="1544"/>
                          </a:lnTo>
                          <a:lnTo>
                            <a:pt x="117" y="1544"/>
                          </a:lnTo>
                          <a:lnTo>
                            <a:pt x="117" y="1613"/>
                          </a:lnTo>
                          <a:lnTo>
                            <a:pt x="170" y="1613"/>
                          </a:lnTo>
                          <a:lnTo>
                            <a:pt x="207" y="1576"/>
                          </a:lnTo>
                          <a:lnTo>
                            <a:pt x="207" y="211"/>
                          </a:lnTo>
                          <a:lnTo>
                            <a:pt x="425" y="13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65" name="Freeform 90"/>
                    <p:cNvSpPr/>
                    <p:nvPr/>
                  </p:nvSpPr>
                  <p:spPr bwMode="auto">
                    <a:xfrm>
                      <a:off x="3380" y="2363"/>
                      <a:ext cx="7" cy="387"/>
                    </a:xfrm>
                    <a:custGeom>
                      <a:avLst/>
                      <a:gdLst>
                        <a:gd name="T0" fmla="*/ 35 w 35"/>
                        <a:gd name="T1" fmla="*/ 0 h 1548"/>
                        <a:gd name="T2" fmla="*/ 35 w 35"/>
                        <a:gd name="T3" fmla="*/ 1548 h 1548"/>
                        <a:gd name="T4" fmla="*/ 0 w 35"/>
                        <a:gd name="T5" fmla="*/ 1548 h 1548"/>
                        <a:gd name="T6" fmla="*/ 0 w 35"/>
                        <a:gd name="T7" fmla="*/ 11 h 1548"/>
                        <a:gd name="T8" fmla="*/ 35 w 35"/>
                        <a:gd name="T9" fmla="*/ 0 h 154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35" h="1548">
                          <a:moveTo>
                            <a:pt x="35" y="0"/>
                          </a:moveTo>
                          <a:lnTo>
                            <a:pt x="35" y="1548"/>
                          </a:lnTo>
                          <a:lnTo>
                            <a:pt x="0" y="1548"/>
                          </a:lnTo>
                          <a:lnTo>
                            <a:pt x="0" y="11"/>
                          </a:lnTo>
                          <a:lnTo>
                            <a:pt x="35" y="0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66" name="Freeform 91"/>
                    <p:cNvSpPr/>
                    <p:nvPr/>
                  </p:nvSpPr>
                  <p:spPr bwMode="auto">
                    <a:xfrm>
                      <a:off x="3410" y="2348"/>
                      <a:ext cx="10" cy="403"/>
                    </a:xfrm>
                    <a:custGeom>
                      <a:avLst/>
                      <a:gdLst>
                        <a:gd name="T0" fmla="*/ 0 w 51"/>
                        <a:gd name="T1" fmla="*/ 6 h 1613"/>
                        <a:gd name="T2" fmla="*/ 51 w 51"/>
                        <a:gd name="T3" fmla="*/ 0 h 1613"/>
                        <a:gd name="T4" fmla="*/ 51 w 51"/>
                        <a:gd name="T5" fmla="*/ 1613 h 1613"/>
                        <a:gd name="T6" fmla="*/ 0 w 51"/>
                        <a:gd name="T7" fmla="*/ 1613 h 1613"/>
                        <a:gd name="T8" fmla="*/ 0 w 51"/>
                        <a:gd name="T9" fmla="*/ 6 h 161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51" h="1613">
                          <a:moveTo>
                            <a:pt x="0" y="6"/>
                          </a:moveTo>
                          <a:lnTo>
                            <a:pt x="51" y="0"/>
                          </a:lnTo>
                          <a:lnTo>
                            <a:pt x="51" y="1613"/>
                          </a:lnTo>
                          <a:lnTo>
                            <a:pt x="0" y="1613"/>
                          </a:lnTo>
                          <a:lnTo>
                            <a:pt x="0" y="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67" name="Freeform 92"/>
                    <p:cNvSpPr/>
                    <p:nvPr/>
                  </p:nvSpPr>
                  <p:spPr bwMode="auto">
                    <a:xfrm>
                      <a:off x="3395" y="2358"/>
                      <a:ext cx="15" cy="381"/>
                    </a:xfrm>
                    <a:custGeom>
                      <a:avLst/>
                      <a:gdLst>
                        <a:gd name="T0" fmla="*/ 0 w 75"/>
                        <a:gd name="T1" fmla="*/ 1525 h 1525"/>
                        <a:gd name="T2" fmla="*/ 0 w 75"/>
                        <a:gd name="T3" fmla="*/ 75 h 1525"/>
                        <a:gd name="T4" fmla="*/ 75 w 75"/>
                        <a:gd name="T5" fmla="*/ 0 h 1525"/>
                        <a:gd name="T6" fmla="*/ 75 w 75"/>
                        <a:gd name="T7" fmla="*/ 1525 h 1525"/>
                        <a:gd name="T8" fmla="*/ 0 w 75"/>
                        <a:gd name="T9" fmla="*/ 1525 h 152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75" h="1525">
                          <a:moveTo>
                            <a:pt x="0" y="1525"/>
                          </a:moveTo>
                          <a:lnTo>
                            <a:pt x="0" y="75"/>
                          </a:lnTo>
                          <a:lnTo>
                            <a:pt x="75" y="0"/>
                          </a:lnTo>
                          <a:lnTo>
                            <a:pt x="75" y="1525"/>
                          </a:lnTo>
                          <a:lnTo>
                            <a:pt x="0" y="1525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554" name="Group 93"/>
                  <p:cNvGrpSpPr/>
                  <p:nvPr/>
                </p:nvGrpSpPr>
                <p:grpSpPr bwMode="auto">
                  <a:xfrm>
                    <a:off x="3105" y="2493"/>
                    <a:ext cx="57" cy="254"/>
                    <a:chOff x="3105" y="2493"/>
                    <a:chExt cx="57" cy="254"/>
                  </a:xfrm>
                </p:grpSpPr>
                <p:sp>
                  <p:nvSpPr>
                    <p:cNvPr id="560" name="Freeform 94"/>
                    <p:cNvSpPr/>
                    <p:nvPr/>
                  </p:nvSpPr>
                  <p:spPr bwMode="auto">
                    <a:xfrm>
                      <a:off x="3109" y="2493"/>
                      <a:ext cx="53" cy="254"/>
                    </a:xfrm>
                    <a:custGeom>
                      <a:avLst/>
                      <a:gdLst>
                        <a:gd name="T0" fmla="*/ 265 w 265"/>
                        <a:gd name="T1" fmla="*/ 88 h 1016"/>
                        <a:gd name="T2" fmla="*/ 122 w 265"/>
                        <a:gd name="T3" fmla="*/ 0 h 1016"/>
                        <a:gd name="T4" fmla="*/ 105 w 265"/>
                        <a:gd name="T5" fmla="*/ 0 h 1016"/>
                        <a:gd name="T6" fmla="*/ 77 w 265"/>
                        <a:gd name="T7" fmla="*/ 4 h 1016"/>
                        <a:gd name="T8" fmla="*/ 27 w 265"/>
                        <a:gd name="T9" fmla="*/ 55 h 1016"/>
                        <a:gd name="T10" fmla="*/ 0 w 265"/>
                        <a:gd name="T11" fmla="*/ 39 h 1016"/>
                        <a:gd name="T12" fmla="*/ 0 w 265"/>
                        <a:gd name="T13" fmla="*/ 1012 h 1016"/>
                        <a:gd name="T14" fmla="*/ 40 w 265"/>
                        <a:gd name="T15" fmla="*/ 971 h 1016"/>
                        <a:gd name="T16" fmla="*/ 72 w 265"/>
                        <a:gd name="T17" fmla="*/ 971 h 1016"/>
                        <a:gd name="T18" fmla="*/ 72 w 265"/>
                        <a:gd name="T19" fmla="*/ 1016 h 1016"/>
                        <a:gd name="T20" fmla="*/ 106 w 265"/>
                        <a:gd name="T21" fmla="*/ 1016 h 1016"/>
                        <a:gd name="T22" fmla="*/ 130 w 265"/>
                        <a:gd name="T23" fmla="*/ 992 h 1016"/>
                        <a:gd name="T24" fmla="*/ 130 w 265"/>
                        <a:gd name="T25" fmla="*/ 134 h 1016"/>
                        <a:gd name="T26" fmla="*/ 265 w 265"/>
                        <a:gd name="T27" fmla="*/ 88 h 101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</a:cxnLst>
                      <a:rect l="0" t="0" r="r" b="b"/>
                      <a:pathLst>
                        <a:path w="265" h="1016">
                          <a:moveTo>
                            <a:pt x="265" y="88"/>
                          </a:moveTo>
                          <a:lnTo>
                            <a:pt x="122" y="0"/>
                          </a:lnTo>
                          <a:lnTo>
                            <a:pt x="105" y="0"/>
                          </a:lnTo>
                          <a:lnTo>
                            <a:pt x="77" y="4"/>
                          </a:lnTo>
                          <a:lnTo>
                            <a:pt x="27" y="55"/>
                          </a:lnTo>
                          <a:lnTo>
                            <a:pt x="0" y="39"/>
                          </a:lnTo>
                          <a:lnTo>
                            <a:pt x="0" y="1012"/>
                          </a:lnTo>
                          <a:lnTo>
                            <a:pt x="40" y="971"/>
                          </a:lnTo>
                          <a:lnTo>
                            <a:pt x="72" y="971"/>
                          </a:lnTo>
                          <a:lnTo>
                            <a:pt x="72" y="1016"/>
                          </a:lnTo>
                          <a:lnTo>
                            <a:pt x="106" y="1016"/>
                          </a:lnTo>
                          <a:lnTo>
                            <a:pt x="130" y="992"/>
                          </a:lnTo>
                          <a:lnTo>
                            <a:pt x="130" y="134"/>
                          </a:lnTo>
                          <a:lnTo>
                            <a:pt x="265" y="8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61" name="Freeform 95"/>
                    <p:cNvSpPr/>
                    <p:nvPr/>
                  </p:nvSpPr>
                  <p:spPr bwMode="auto">
                    <a:xfrm>
                      <a:off x="3105" y="2502"/>
                      <a:ext cx="4" cy="244"/>
                    </a:xfrm>
                    <a:custGeom>
                      <a:avLst/>
                      <a:gdLst>
                        <a:gd name="T0" fmla="*/ 22 w 22"/>
                        <a:gd name="T1" fmla="*/ 0 h 974"/>
                        <a:gd name="T2" fmla="*/ 22 w 22"/>
                        <a:gd name="T3" fmla="*/ 974 h 974"/>
                        <a:gd name="T4" fmla="*/ 0 w 22"/>
                        <a:gd name="T5" fmla="*/ 974 h 974"/>
                        <a:gd name="T6" fmla="*/ 0 w 22"/>
                        <a:gd name="T7" fmla="*/ 7 h 974"/>
                        <a:gd name="T8" fmla="*/ 22 w 22"/>
                        <a:gd name="T9" fmla="*/ 0 h 97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2" h="974">
                          <a:moveTo>
                            <a:pt x="22" y="0"/>
                          </a:moveTo>
                          <a:lnTo>
                            <a:pt x="22" y="974"/>
                          </a:lnTo>
                          <a:lnTo>
                            <a:pt x="0" y="974"/>
                          </a:lnTo>
                          <a:lnTo>
                            <a:pt x="0" y="7"/>
                          </a:lnTo>
                          <a:lnTo>
                            <a:pt x="22" y="0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62" name="Freeform 96"/>
                    <p:cNvSpPr/>
                    <p:nvPr/>
                  </p:nvSpPr>
                  <p:spPr bwMode="auto">
                    <a:xfrm>
                      <a:off x="3123" y="2493"/>
                      <a:ext cx="7" cy="253"/>
                    </a:xfrm>
                    <a:custGeom>
                      <a:avLst/>
                      <a:gdLst>
                        <a:gd name="T0" fmla="*/ 0 w 34"/>
                        <a:gd name="T1" fmla="*/ 8 h 1013"/>
                        <a:gd name="T2" fmla="*/ 34 w 34"/>
                        <a:gd name="T3" fmla="*/ 0 h 1013"/>
                        <a:gd name="T4" fmla="*/ 34 w 34"/>
                        <a:gd name="T5" fmla="*/ 1013 h 1013"/>
                        <a:gd name="T6" fmla="*/ 0 w 34"/>
                        <a:gd name="T7" fmla="*/ 1013 h 1013"/>
                        <a:gd name="T8" fmla="*/ 0 w 34"/>
                        <a:gd name="T9" fmla="*/ 8 h 101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34" h="1013">
                          <a:moveTo>
                            <a:pt x="0" y="8"/>
                          </a:moveTo>
                          <a:lnTo>
                            <a:pt x="34" y="0"/>
                          </a:lnTo>
                          <a:lnTo>
                            <a:pt x="34" y="1013"/>
                          </a:lnTo>
                          <a:lnTo>
                            <a:pt x="0" y="1013"/>
                          </a:lnTo>
                          <a:lnTo>
                            <a:pt x="0" y="8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63" name="Freeform 97"/>
                    <p:cNvSpPr/>
                    <p:nvPr/>
                  </p:nvSpPr>
                  <p:spPr bwMode="auto">
                    <a:xfrm>
                      <a:off x="3114" y="2499"/>
                      <a:ext cx="9" cy="240"/>
                    </a:xfrm>
                    <a:custGeom>
                      <a:avLst/>
                      <a:gdLst>
                        <a:gd name="T0" fmla="*/ 0 w 45"/>
                        <a:gd name="T1" fmla="*/ 960 h 960"/>
                        <a:gd name="T2" fmla="*/ 0 w 45"/>
                        <a:gd name="T3" fmla="*/ 44 h 960"/>
                        <a:gd name="T4" fmla="*/ 45 w 45"/>
                        <a:gd name="T5" fmla="*/ 0 h 960"/>
                        <a:gd name="T6" fmla="*/ 45 w 45"/>
                        <a:gd name="T7" fmla="*/ 960 h 960"/>
                        <a:gd name="T8" fmla="*/ 0 w 45"/>
                        <a:gd name="T9" fmla="*/ 960 h 96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5" h="960">
                          <a:moveTo>
                            <a:pt x="0" y="960"/>
                          </a:moveTo>
                          <a:lnTo>
                            <a:pt x="0" y="44"/>
                          </a:lnTo>
                          <a:lnTo>
                            <a:pt x="45" y="0"/>
                          </a:lnTo>
                          <a:lnTo>
                            <a:pt x="45" y="960"/>
                          </a:lnTo>
                          <a:lnTo>
                            <a:pt x="0" y="96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555" name="Group 98"/>
                  <p:cNvGrpSpPr/>
                  <p:nvPr/>
                </p:nvGrpSpPr>
                <p:grpSpPr bwMode="auto">
                  <a:xfrm>
                    <a:off x="3033" y="2532"/>
                    <a:ext cx="50" cy="208"/>
                    <a:chOff x="3033" y="2532"/>
                    <a:chExt cx="50" cy="208"/>
                  </a:xfrm>
                </p:grpSpPr>
                <p:sp>
                  <p:nvSpPr>
                    <p:cNvPr id="556" name="Freeform 99"/>
                    <p:cNvSpPr/>
                    <p:nvPr/>
                  </p:nvSpPr>
                  <p:spPr bwMode="auto">
                    <a:xfrm>
                      <a:off x="3037" y="2532"/>
                      <a:ext cx="46" cy="207"/>
                    </a:xfrm>
                    <a:custGeom>
                      <a:avLst/>
                      <a:gdLst>
                        <a:gd name="T0" fmla="*/ 232 w 232"/>
                        <a:gd name="T1" fmla="*/ 66 h 830"/>
                        <a:gd name="T2" fmla="*/ 106 w 232"/>
                        <a:gd name="T3" fmla="*/ 0 h 830"/>
                        <a:gd name="T4" fmla="*/ 91 w 232"/>
                        <a:gd name="T5" fmla="*/ 0 h 830"/>
                        <a:gd name="T6" fmla="*/ 66 w 232"/>
                        <a:gd name="T7" fmla="*/ 3 h 830"/>
                        <a:gd name="T8" fmla="*/ 24 w 232"/>
                        <a:gd name="T9" fmla="*/ 45 h 830"/>
                        <a:gd name="T10" fmla="*/ 0 w 232"/>
                        <a:gd name="T11" fmla="*/ 32 h 830"/>
                        <a:gd name="T12" fmla="*/ 0 w 232"/>
                        <a:gd name="T13" fmla="*/ 829 h 830"/>
                        <a:gd name="T14" fmla="*/ 35 w 232"/>
                        <a:gd name="T15" fmla="*/ 796 h 830"/>
                        <a:gd name="T16" fmla="*/ 64 w 232"/>
                        <a:gd name="T17" fmla="*/ 796 h 830"/>
                        <a:gd name="T18" fmla="*/ 64 w 232"/>
                        <a:gd name="T19" fmla="*/ 830 h 830"/>
                        <a:gd name="T20" fmla="*/ 93 w 232"/>
                        <a:gd name="T21" fmla="*/ 830 h 830"/>
                        <a:gd name="T22" fmla="*/ 114 w 232"/>
                        <a:gd name="T23" fmla="*/ 813 h 830"/>
                        <a:gd name="T24" fmla="*/ 114 w 232"/>
                        <a:gd name="T25" fmla="*/ 108 h 830"/>
                        <a:gd name="T26" fmla="*/ 232 w 232"/>
                        <a:gd name="T27" fmla="*/ 66 h 83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</a:cxnLst>
                      <a:rect l="0" t="0" r="r" b="b"/>
                      <a:pathLst>
                        <a:path w="232" h="830">
                          <a:moveTo>
                            <a:pt x="232" y="66"/>
                          </a:moveTo>
                          <a:lnTo>
                            <a:pt x="106" y="0"/>
                          </a:lnTo>
                          <a:lnTo>
                            <a:pt x="91" y="0"/>
                          </a:lnTo>
                          <a:lnTo>
                            <a:pt x="66" y="3"/>
                          </a:lnTo>
                          <a:lnTo>
                            <a:pt x="24" y="45"/>
                          </a:lnTo>
                          <a:lnTo>
                            <a:pt x="0" y="32"/>
                          </a:lnTo>
                          <a:lnTo>
                            <a:pt x="0" y="829"/>
                          </a:lnTo>
                          <a:lnTo>
                            <a:pt x="35" y="796"/>
                          </a:lnTo>
                          <a:lnTo>
                            <a:pt x="64" y="796"/>
                          </a:lnTo>
                          <a:lnTo>
                            <a:pt x="64" y="830"/>
                          </a:lnTo>
                          <a:lnTo>
                            <a:pt x="93" y="830"/>
                          </a:lnTo>
                          <a:lnTo>
                            <a:pt x="114" y="813"/>
                          </a:lnTo>
                          <a:lnTo>
                            <a:pt x="114" y="108"/>
                          </a:lnTo>
                          <a:lnTo>
                            <a:pt x="232" y="66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57" name="Freeform 100"/>
                    <p:cNvSpPr/>
                    <p:nvPr/>
                  </p:nvSpPr>
                  <p:spPr bwMode="auto">
                    <a:xfrm>
                      <a:off x="3033" y="2539"/>
                      <a:ext cx="4" cy="200"/>
                    </a:xfrm>
                    <a:custGeom>
                      <a:avLst/>
                      <a:gdLst>
                        <a:gd name="T0" fmla="*/ 19 w 19"/>
                        <a:gd name="T1" fmla="*/ 0 h 797"/>
                        <a:gd name="T2" fmla="*/ 19 w 19"/>
                        <a:gd name="T3" fmla="*/ 797 h 797"/>
                        <a:gd name="T4" fmla="*/ 0 w 19"/>
                        <a:gd name="T5" fmla="*/ 797 h 797"/>
                        <a:gd name="T6" fmla="*/ 0 w 19"/>
                        <a:gd name="T7" fmla="*/ 5 h 797"/>
                        <a:gd name="T8" fmla="*/ 19 w 19"/>
                        <a:gd name="T9" fmla="*/ 0 h 79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9" h="797">
                          <a:moveTo>
                            <a:pt x="19" y="0"/>
                          </a:moveTo>
                          <a:lnTo>
                            <a:pt x="19" y="797"/>
                          </a:lnTo>
                          <a:lnTo>
                            <a:pt x="0" y="797"/>
                          </a:lnTo>
                          <a:lnTo>
                            <a:pt x="0" y="5"/>
                          </a:lnTo>
                          <a:lnTo>
                            <a:pt x="19" y="0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58" name="Freeform 101"/>
                    <p:cNvSpPr/>
                    <p:nvPr/>
                  </p:nvSpPr>
                  <p:spPr bwMode="auto">
                    <a:xfrm>
                      <a:off x="3050" y="2532"/>
                      <a:ext cx="5" cy="208"/>
                    </a:xfrm>
                    <a:custGeom>
                      <a:avLst/>
                      <a:gdLst>
                        <a:gd name="T0" fmla="*/ 0 w 28"/>
                        <a:gd name="T1" fmla="*/ 4 h 832"/>
                        <a:gd name="T2" fmla="*/ 28 w 28"/>
                        <a:gd name="T3" fmla="*/ 0 h 832"/>
                        <a:gd name="T4" fmla="*/ 28 w 28"/>
                        <a:gd name="T5" fmla="*/ 832 h 832"/>
                        <a:gd name="T6" fmla="*/ 0 w 28"/>
                        <a:gd name="T7" fmla="*/ 832 h 832"/>
                        <a:gd name="T8" fmla="*/ 0 w 28"/>
                        <a:gd name="T9" fmla="*/ 4 h 8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8" h="832">
                          <a:moveTo>
                            <a:pt x="0" y="4"/>
                          </a:moveTo>
                          <a:lnTo>
                            <a:pt x="28" y="0"/>
                          </a:lnTo>
                          <a:lnTo>
                            <a:pt x="28" y="832"/>
                          </a:lnTo>
                          <a:lnTo>
                            <a:pt x="0" y="832"/>
                          </a:lnTo>
                          <a:lnTo>
                            <a:pt x="0" y="4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59" name="Freeform 102"/>
                    <p:cNvSpPr/>
                    <p:nvPr/>
                  </p:nvSpPr>
                  <p:spPr bwMode="auto">
                    <a:xfrm>
                      <a:off x="3042" y="2536"/>
                      <a:ext cx="8" cy="197"/>
                    </a:xfrm>
                    <a:custGeom>
                      <a:avLst/>
                      <a:gdLst>
                        <a:gd name="T0" fmla="*/ 0 w 40"/>
                        <a:gd name="T1" fmla="*/ 785 h 785"/>
                        <a:gd name="T2" fmla="*/ 0 w 40"/>
                        <a:gd name="T3" fmla="*/ 41 h 785"/>
                        <a:gd name="T4" fmla="*/ 40 w 40"/>
                        <a:gd name="T5" fmla="*/ 0 h 785"/>
                        <a:gd name="T6" fmla="*/ 40 w 40"/>
                        <a:gd name="T7" fmla="*/ 785 h 785"/>
                        <a:gd name="T8" fmla="*/ 0 w 40"/>
                        <a:gd name="T9" fmla="*/ 785 h 78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0" h="785">
                          <a:moveTo>
                            <a:pt x="0" y="785"/>
                          </a:moveTo>
                          <a:lnTo>
                            <a:pt x="0" y="41"/>
                          </a:lnTo>
                          <a:lnTo>
                            <a:pt x="40" y="0"/>
                          </a:lnTo>
                          <a:lnTo>
                            <a:pt x="40" y="785"/>
                          </a:lnTo>
                          <a:lnTo>
                            <a:pt x="0" y="785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</p:grpSp>
        </p:grpSp>
        <p:grpSp>
          <p:nvGrpSpPr>
            <p:cNvPr id="23" name="Group 103"/>
            <p:cNvGrpSpPr/>
            <p:nvPr/>
          </p:nvGrpSpPr>
          <p:grpSpPr bwMode="auto">
            <a:xfrm>
              <a:off x="480" y="2256"/>
              <a:ext cx="726" cy="389"/>
              <a:chOff x="546" y="2289"/>
              <a:chExt cx="708" cy="452"/>
            </a:xfrm>
          </p:grpSpPr>
          <p:grpSp>
            <p:nvGrpSpPr>
              <p:cNvPr id="445" name="Group 104"/>
              <p:cNvGrpSpPr/>
              <p:nvPr/>
            </p:nvGrpSpPr>
            <p:grpSpPr bwMode="auto">
              <a:xfrm>
                <a:off x="1071" y="2289"/>
                <a:ext cx="76" cy="358"/>
                <a:chOff x="1071" y="2289"/>
                <a:chExt cx="76" cy="358"/>
              </a:xfrm>
            </p:grpSpPr>
            <p:sp>
              <p:nvSpPr>
                <p:cNvPr id="545" name="Freeform 105"/>
                <p:cNvSpPr/>
                <p:nvPr/>
              </p:nvSpPr>
              <p:spPr bwMode="auto">
                <a:xfrm>
                  <a:off x="1071" y="2289"/>
                  <a:ext cx="27" cy="358"/>
                </a:xfrm>
                <a:custGeom>
                  <a:avLst/>
                  <a:gdLst>
                    <a:gd name="T0" fmla="*/ 42 w 161"/>
                    <a:gd name="T1" fmla="*/ 0 h 1791"/>
                    <a:gd name="T2" fmla="*/ 42 w 161"/>
                    <a:gd name="T3" fmla="*/ 284 h 1791"/>
                    <a:gd name="T4" fmla="*/ 29 w 161"/>
                    <a:gd name="T5" fmla="*/ 284 h 1791"/>
                    <a:gd name="T6" fmla="*/ 29 w 161"/>
                    <a:gd name="T7" fmla="*/ 569 h 1791"/>
                    <a:gd name="T8" fmla="*/ 17 w 161"/>
                    <a:gd name="T9" fmla="*/ 569 h 1791"/>
                    <a:gd name="T10" fmla="*/ 17 w 161"/>
                    <a:gd name="T11" fmla="*/ 836 h 1791"/>
                    <a:gd name="T12" fmla="*/ 8 w 161"/>
                    <a:gd name="T13" fmla="*/ 836 h 1791"/>
                    <a:gd name="T14" fmla="*/ 8 w 161"/>
                    <a:gd name="T15" fmla="*/ 1195 h 1791"/>
                    <a:gd name="T16" fmla="*/ 0 w 161"/>
                    <a:gd name="T17" fmla="*/ 1195 h 1791"/>
                    <a:gd name="T18" fmla="*/ 0 w 161"/>
                    <a:gd name="T19" fmla="*/ 1791 h 1791"/>
                    <a:gd name="T20" fmla="*/ 88 w 161"/>
                    <a:gd name="T21" fmla="*/ 1791 h 1791"/>
                    <a:gd name="T22" fmla="*/ 161 w 161"/>
                    <a:gd name="T23" fmla="*/ 1190 h 1791"/>
                    <a:gd name="T24" fmla="*/ 161 w 161"/>
                    <a:gd name="T25" fmla="*/ 835 h 1791"/>
                    <a:gd name="T26" fmla="*/ 153 w 161"/>
                    <a:gd name="T27" fmla="*/ 835 h 1791"/>
                    <a:gd name="T28" fmla="*/ 153 w 161"/>
                    <a:gd name="T29" fmla="*/ 569 h 1791"/>
                    <a:gd name="T30" fmla="*/ 143 w 161"/>
                    <a:gd name="T31" fmla="*/ 569 h 1791"/>
                    <a:gd name="T32" fmla="*/ 143 w 161"/>
                    <a:gd name="T33" fmla="*/ 284 h 1791"/>
                    <a:gd name="T34" fmla="*/ 130 w 161"/>
                    <a:gd name="T35" fmla="*/ 284 h 1791"/>
                    <a:gd name="T36" fmla="*/ 130 w 161"/>
                    <a:gd name="T37" fmla="*/ 0 h 1791"/>
                    <a:gd name="T38" fmla="*/ 42 w 161"/>
                    <a:gd name="T39" fmla="*/ 0 h 17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61" h="1791">
                      <a:moveTo>
                        <a:pt x="42" y="0"/>
                      </a:moveTo>
                      <a:lnTo>
                        <a:pt x="42" y="284"/>
                      </a:lnTo>
                      <a:lnTo>
                        <a:pt x="29" y="284"/>
                      </a:lnTo>
                      <a:lnTo>
                        <a:pt x="29" y="569"/>
                      </a:lnTo>
                      <a:lnTo>
                        <a:pt x="17" y="569"/>
                      </a:lnTo>
                      <a:lnTo>
                        <a:pt x="17" y="836"/>
                      </a:lnTo>
                      <a:lnTo>
                        <a:pt x="8" y="836"/>
                      </a:lnTo>
                      <a:lnTo>
                        <a:pt x="8" y="1195"/>
                      </a:lnTo>
                      <a:lnTo>
                        <a:pt x="0" y="1195"/>
                      </a:lnTo>
                      <a:lnTo>
                        <a:pt x="0" y="1791"/>
                      </a:lnTo>
                      <a:lnTo>
                        <a:pt x="88" y="1791"/>
                      </a:lnTo>
                      <a:lnTo>
                        <a:pt x="161" y="1190"/>
                      </a:lnTo>
                      <a:lnTo>
                        <a:pt x="161" y="835"/>
                      </a:lnTo>
                      <a:lnTo>
                        <a:pt x="153" y="835"/>
                      </a:lnTo>
                      <a:lnTo>
                        <a:pt x="153" y="569"/>
                      </a:lnTo>
                      <a:lnTo>
                        <a:pt x="143" y="569"/>
                      </a:lnTo>
                      <a:lnTo>
                        <a:pt x="143" y="284"/>
                      </a:lnTo>
                      <a:lnTo>
                        <a:pt x="130" y="284"/>
                      </a:lnTo>
                      <a:lnTo>
                        <a:pt x="130" y="0"/>
                      </a:lnTo>
                      <a:lnTo>
                        <a:pt x="4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w="3175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 sz="3655"/>
                </a:p>
              </p:txBody>
            </p:sp>
            <p:sp>
              <p:nvSpPr>
                <p:cNvPr id="546" name="Freeform 106"/>
                <p:cNvSpPr/>
                <p:nvPr/>
              </p:nvSpPr>
              <p:spPr bwMode="auto">
                <a:xfrm>
                  <a:off x="1119" y="2289"/>
                  <a:ext cx="28" cy="358"/>
                </a:xfrm>
                <a:custGeom>
                  <a:avLst/>
                  <a:gdLst>
                    <a:gd name="T0" fmla="*/ 41 w 169"/>
                    <a:gd name="T1" fmla="*/ 0 h 1791"/>
                    <a:gd name="T2" fmla="*/ 41 w 169"/>
                    <a:gd name="T3" fmla="*/ 284 h 1791"/>
                    <a:gd name="T4" fmla="*/ 28 w 169"/>
                    <a:gd name="T5" fmla="*/ 284 h 1791"/>
                    <a:gd name="T6" fmla="*/ 28 w 169"/>
                    <a:gd name="T7" fmla="*/ 569 h 1791"/>
                    <a:gd name="T8" fmla="*/ 16 w 169"/>
                    <a:gd name="T9" fmla="*/ 569 h 1791"/>
                    <a:gd name="T10" fmla="*/ 16 w 169"/>
                    <a:gd name="T11" fmla="*/ 836 h 1791"/>
                    <a:gd name="T12" fmla="*/ 8 w 169"/>
                    <a:gd name="T13" fmla="*/ 836 h 1791"/>
                    <a:gd name="T14" fmla="*/ 8 w 169"/>
                    <a:gd name="T15" fmla="*/ 1195 h 1791"/>
                    <a:gd name="T16" fmla="*/ 0 w 169"/>
                    <a:gd name="T17" fmla="*/ 1195 h 1791"/>
                    <a:gd name="T18" fmla="*/ 0 w 169"/>
                    <a:gd name="T19" fmla="*/ 1791 h 1791"/>
                    <a:gd name="T20" fmla="*/ 169 w 169"/>
                    <a:gd name="T21" fmla="*/ 1791 h 1791"/>
                    <a:gd name="T22" fmla="*/ 169 w 169"/>
                    <a:gd name="T23" fmla="*/ 1193 h 1791"/>
                    <a:gd name="T24" fmla="*/ 161 w 169"/>
                    <a:gd name="T25" fmla="*/ 1193 h 1791"/>
                    <a:gd name="T26" fmla="*/ 160 w 169"/>
                    <a:gd name="T27" fmla="*/ 835 h 1791"/>
                    <a:gd name="T28" fmla="*/ 151 w 169"/>
                    <a:gd name="T29" fmla="*/ 835 h 1791"/>
                    <a:gd name="T30" fmla="*/ 151 w 169"/>
                    <a:gd name="T31" fmla="*/ 569 h 1791"/>
                    <a:gd name="T32" fmla="*/ 140 w 169"/>
                    <a:gd name="T33" fmla="*/ 569 h 1791"/>
                    <a:gd name="T34" fmla="*/ 140 w 169"/>
                    <a:gd name="T35" fmla="*/ 284 h 1791"/>
                    <a:gd name="T36" fmla="*/ 128 w 169"/>
                    <a:gd name="T37" fmla="*/ 284 h 1791"/>
                    <a:gd name="T38" fmla="*/ 128 w 169"/>
                    <a:gd name="T39" fmla="*/ 0 h 1791"/>
                    <a:gd name="T40" fmla="*/ 41 w 169"/>
                    <a:gd name="T41" fmla="*/ 0 h 17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69" h="1791">
                      <a:moveTo>
                        <a:pt x="41" y="0"/>
                      </a:moveTo>
                      <a:lnTo>
                        <a:pt x="41" y="284"/>
                      </a:lnTo>
                      <a:lnTo>
                        <a:pt x="28" y="284"/>
                      </a:lnTo>
                      <a:lnTo>
                        <a:pt x="28" y="569"/>
                      </a:lnTo>
                      <a:lnTo>
                        <a:pt x="16" y="569"/>
                      </a:lnTo>
                      <a:lnTo>
                        <a:pt x="16" y="836"/>
                      </a:lnTo>
                      <a:lnTo>
                        <a:pt x="8" y="836"/>
                      </a:lnTo>
                      <a:lnTo>
                        <a:pt x="8" y="1195"/>
                      </a:lnTo>
                      <a:lnTo>
                        <a:pt x="0" y="1195"/>
                      </a:lnTo>
                      <a:lnTo>
                        <a:pt x="0" y="1791"/>
                      </a:lnTo>
                      <a:lnTo>
                        <a:pt x="169" y="1791"/>
                      </a:lnTo>
                      <a:lnTo>
                        <a:pt x="169" y="1193"/>
                      </a:lnTo>
                      <a:lnTo>
                        <a:pt x="161" y="1193"/>
                      </a:lnTo>
                      <a:lnTo>
                        <a:pt x="160" y="835"/>
                      </a:lnTo>
                      <a:lnTo>
                        <a:pt x="151" y="835"/>
                      </a:lnTo>
                      <a:lnTo>
                        <a:pt x="151" y="569"/>
                      </a:lnTo>
                      <a:lnTo>
                        <a:pt x="140" y="569"/>
                      </a:lnTo>
                      <a:lnTo>
                        <a:pt x="140" y="284"/>
                      </a:lnTo>
                      <a:lnTo>
                        <a:pt x="128" y="284"/>
                      </a:lnTo>
                      <a:lnTo>
                        <a:pt x="128" y="0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w="3175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 sz="3655"/>
                </a:p>
              </p:txBody>
            </p:sp>
          </p:grpSp>
          <p:grpSp>
            <p:nvGrpSpPr>
              <p:cNvPr id="446" name="Group 107"/>
              <p:cNvGrpSpPr/>
              <p:nvPr/>
            </p:nvGrpSpPr>
            <p:grpSpPr bwMode="auto">
              <a:xfrm>
                <a:off x="1130" y="2574"/>
                <a:ext cx="124" cy="153"/>
                <a:chOff x="1130" y="2574"/>
                <a:chExt cx="124" cy="153"/>
              </a:xfrm>
            </p:grpSpPr>
            <p:grpSp>
              <p:nvGrpSpPr>
                <p:cNvPr id="534" name="Group 108"/>
                <p:cNvGrpSpPr/>
                <p:nvPr/>
              </p:nvGrpSpPr>
              <p:grpSpPr bwMode="auto">
                <a:xfrm>
                  <a:off x="1130" y="2574"/>
                  <a:ext cx="124" cy="153"/>
                  <a:chOff x="1130" y="2574"/>
                  <a:chExt cx="124" cy="153"/>
                </a:xfrm>
              </p:grpSpPr>
              <p:grpSp>
                <p:nvGrpSpPr>
                  <p:cNvPr id="539" name="Group 109"/>
                  <p:cNvGrpSpPr/>
                  <p:nvPr/>
                </p:nvGrpSpPr>
                <p:grpSpPr bwMode="auto">
                  <a:xfrm>
                    <a:off x="1161" y="2574"/>
                    <a:ext cx="35" cy="74"/>
                    <a:chOff x="1161" y="2574"/>
                    <a:chExt cx="35" cy="74"/>
                  </a:xfrm>
                </p:grpSpPr>
                <p:sp>
                  <p:nvSpPr>
                    <p:cNvPr id="543" name="Rectangle 11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68" y="2574"/>
                      <a:ext cx="21" cy="16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44" name="Rectangle 11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61" y="2586"/>
                      <a:ext cx="35" cy="62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540" name="Group 112"/>
                  <p:cNvGrpSpPr/>
                  <p:nvPr/>
                </p:nvGrpSpPr>
                <p:grpSpPr bwMode="auto">
                  <a:xfrm>
                    <a:off x="1130" y="2644"/>
                    <a:ext cx="124" cy="83"/>
                    <a:chOff x="1130" y="2644"/>
                    <a:chExt cx="124" cy="83"/>
                  </a:xfrm>
                </p:grpSpPr>
                <p:sp>
                  <p:nvSpPr>
                    <p:cNvPr id="541" name="Rectangle 1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34" y="2653"/>
                      <a:ext cx="116" cy="74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42" name="Rectangle 11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30" y="2644"/>
                      <a:ext cx="124" cy="12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  <p:grpSp>
              <p:nvGrpSpPr>
                <p:cNvPr id="535" name="Group 115"/>
                <p:cNvGrpSpPr/>
                <p:nvPr/>
              </p:nvGrpSpPr>
              <p:grpSpPr bwMode="auto">
                <a:xfrm>
                  <a:off x="1143" y="2664"/>
                  <a:ext cx="94" cy="50"/>
                  <a:chOff x="1143" y="2664"/>
                  <a:chExt cx="94" cy="50"/>
                </a:xfrm>
              </p:grpSpPr>
              <p:sp>
                <p:nvSpPr>
                  <p:cNvPr id="536" name="Rectangle 116"/>
                  <p:cNvSpPr>
                    <a:spLocks noChangeArrowheads="1"/>
                  </p:cNvSpPr>
                  <p:nvPr/>
                </p:nvSpPr>
                <p:spPr bwMode="auto">
                  <a:xfrm>
                    <a:off x="1143" y="2664"/>
                    <a:ext cx="23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537" name="Rectangle 117"/>
                  <p:cNvSpPr>
                    <a:spLocks noChangeArrowheads="1"/>
                  </p:cNvSpPr>
                  <p:nvPr/>
                </p:nvSpPr>
                <p:spPr bwMode="auto">
                  <a:xfrm>
                    <a:off x="1214" y="2664"/>
                    <a:ext cx="23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538" name="Rectangle 118"/>
                  <p:cNvSpPr>
                    <a:spLocks noChangeArrowheads="1"/>
                  </p:cNvSpPr>
                  <p:nvPr/>
                </p:nvSpPr>
                <p:spPr bwMode="auto">
                  <a:xfrm>
                    <a:off x="1179" y="2664"/>
                    <a:ext cx="23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</p:grpSp>
          <p:grpSp>
            <p:nvGrpSpPr>
              <p:cNvPr id="447" name="Group 119"/>
              <p:cNvGrpSpPr/>
              <p:nvPr/>
            </p:nvGrpSpPr>
            <p:grpSpPr bwMode="auto">
              <a:xfrm>
                <a:off x="546" y="2618"/>
                <a:ext cx="124" cy="109"/>
                <a:chOff x="546" y="2618"/>
                <a:chExt cx="124" cy="109"/>
              </a:xfrm>
            </p:grpSpPr>
            <p:grpSp>
              <p:nvGrpSpPr>
                <p:cNvPr id="525" name="Group 120"/>
                <p:cNvGrpSpPr/>
                <p:nvPr/>
              </p:nvGrpSpPr>
              <p:grpSpPr bwMode="auto">
                <a:xfrm>
                  <a:off x="546" y="2618"/>
                  <a:ext cx="124" cy="109"/>
                  <a:chOff x="546" y="2618"/>
                  <a:chExt cx="124" cy="109"/>
                </a:xfrm>
              </p:grpSpPr>
              <p:sp>
                <p:nvSpPr>
                  <p:cNvPr id="530" name="Rectangle 121"/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618"/>
                    <a:ext cx="38" cy="30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grpSp>
                <p:nvGrpSpPr>
                  <p:cNvPr id="531" name="Group 122"/>
                  <p:cNvGrpSpPr/>
                  <p:nvPr/>
                </p:nvGrpSpPr>
                <p:grpSpPr bwMode="auto">
                  <a:xfrm>
                    <a:off x="546" y="2644"/>
                    <a:ext cx="124" cy="83"/>
                    <a:chOff x="546" y="2644"/>
                    <a:chExt cx="124" cy="83"/>
                  </a:xfrm>
                </p:grpSpPr>
                <p:sp>
                  <p:nvSpPr>
                    <p:cNvPr id="532" name="Rectangle 1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50" y="2653"/>
                      <a:ext cx="116" cy="74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33" name="Rectangle 12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6" y="2644"/>
                      <a:ext cx="124" cy="12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  <p:grpSp>
              <p:nvGrpSpPr>
                <p:cNvPr id="526" name="Group 125"/>
                <p:cNvGrpSpPr/>
                <p:nvPr/>
              </p:nvGrpSpPr>
              <p:grpSpPr bwMode="auto">
                <a:xfrm>
                  <a:off x="558" y="2664"/>
                  <a:ext cx="98" cy="50"/>
                  <a:chOff x="558" y="2664"/>
                  <a:chExt cx="98" cy="50"/>
                </a:xfrm>
              </p:grpSpPr>
              <p:sp>
                <p:nvSpPr>
                  <p:cNvPr id="527" name="Rectangle 126"/>
                  <p:cNvSpPr>
                    <a:spLocks noChangeArrowheads="1"/>
                  </p:cNvSpPr>
                  <p:nvPr/>
                </p:nvSpPr>
                <p:spPr bwMode="auto">
                  <a:xfrm>
                    <a:off x="629" y="2664"/>
                    <a:ext cx="27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528" name="Rectangle 127"/>
                  <p:cNvSpPr>
                    <a:spLocks noChangeArrowheads="1"/>
                  </p:cNvSpPr>
                  <p:nvPr/>
                </p:nvSpPr>
                <p:spPr bwMode="auto">
                  <a:xfrm>
                    <a:off x="558" y="2664"/>
                    <a:ext cx="27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529" name="Rectangle 128"/>
                  <p:cNvSpPr>
                    <a:spLocks noChangeArrowheads="1"/>
                  </p:cNvSpPr>
                  <p:nvPr/>
                </p:nvSpPr>
                <p:spPr bwMode="auto">
                  <a:xfrm>
                    <a:off x="594" y="2664"/>
                    <a:ext cx="27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</p:grpSp>
          <p:grpSp>
            <p:nvGrpSpPr>
              <p:cNvPr id="448" name="Group 129"/>
              <p:cNvGrpSpPr/>
              <p:nvPr/>
            </p:nvGrpSpPr>
            <p:grpSpPr bwMode="auto">
              <a:xfrm>
                <a:off x="654" y="2479"/>
                <a:ext cx="488" cy="262"/>
                <a:chOff x="654" y="2479"/>
                <a:chExt cx="488" cy="262"/>
              </a:xfrm>
            </p:grpSpPr>
            <p:grpSp>
              <p:nvGrpSpPr>
                <p:cNvPr id="449" name="Group 130"/>
                <p:cNvGrpSpPr/>
                <p:nvPr/>
              </p:nvGrpSpPr>
              <p:grpSpPr bwMode="auto">
                <a:xfrm>
                  <a:off x="654" y="2479"/>
                  <a:ext cx="488" cy="262"/>
                  <a:chOff x="654" y="2479"/>
                  <a:chExt cx="488" cy="262"/>
                </a:xfrm>
              </p:grpSpPr>
              <p:sp>
                <p:nvSpPr>
                  <p:cNvPr id="520" name="Rectangle 131"/>
                  <p:cNvSpPr>
                    <a:spLocks noChangeArrowheads="1"/>
                  </p:cNvSpPr>
                  <p:nvPr/>
                </p:nvSpPr>
                <p:spPr bwMode="auto">
                  <a:xfrm>
                    <a:off x="662" y="2522"/>
                    <a:ext cx="471" cy="219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521" name="Rectangle 132"/>
                  <p:cNvSpPr>
                    <a:spLocks noChangeArrowheads="1"/>
                  </p:cNvSpPr>
                  <p:nvPr/>
                </p:nvSpPr>
                <p:spPr bwMode="auto">
                  <a:xfrm>
                    <a:off x="780" y="2486"/>
                    <a:ext cx="34" cy="26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522" name="Rectangle 133"/>
                  <p:cNvSpPr>
                    <a:spLocks noChangeArrowheads="1"/>
                  </p:cNvSpPr>
                  <p:nvPr/>
                </p:nvSpPr>
                <p:spPr bwMode="auto">
                  <a:xfrm>
                    <a:off x="866" y="2479"/>
                    <a:ext cx="46" cy="36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523" name="Rectangle 134"/>
                  <p:cNvSpPr>
                    <a:spLocks noChangeArrowheads="1"/>
                  </p:cNvSpPr>
                  <p:nvPr/>
                </p:nvSpPr>
                <p:spPr bwMode="auto">
                  <a:xfrm>
                    <a:off x="654" y="2510"/>
                    <a:ext cx="488" cy="17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524" name="Rectangle 135"/>
                  <p:cNvSpPr>
                    <a:spLocks noChangeArrowheads="1"/>
                  </p:cNvSpPr>
                  <p:nvPr/>
                </p:nvSpPr>
                <p:spPr bwMode="auto">
                  <a:xfrm>
                    <a:off x="662" y="2629"/>
                    <a:ext cx="471" cy="8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  <p:grpSp>
              <p:nvGrpSpPr>
                <p:cNvPr id="450" name="Group 136"/>
                <p:cNvGrpSpPr/>
                <p:nvPr/>
              </p:nvGrpSpPr>
              <p:grpSpPr bwMode="auto">
                <a:xfrm>
                  <a:off x="670" y="2542"/>
                  <a:ext cx="449" cy="178"/>
                  <a:chOff x="670" y="2542"/>
                  <a:chExt cx="449" cy="178"/>
                </a:xfrm>
              </p:grpSpPr>
              <p:grpSp>
                <p:nvGrpSpPr>
                  <p:cNvPr id="455" name="Group 137"/>
                  <p:cNvGrpSpPr/>
                  <p:nvPr/>
                </p:nvGrpSpPr>
                <p:grpSpPr bwMode="auto">
                  <a:xfrm>
                    <a:off x="736" y="2649"/>
                    <a:ext cx="57" cy="71"/>
                    <a:chOff x="736" y="2649"/>
                    <a:chExt cx="57" cy="71"/>
                  </a:xfrm>
                </p:grpSpPr>
                <p:sp>
                  <p:nvSpPr>
                    <p:cNvPr id="516" name="Rectangle 13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39" y="2649"/>
                      <a:ext cx="51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17" name="Rectangle 13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36" y="2715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18" name="Line 14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64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19" name="Line 14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38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456" name="Group 142"/>
                  <p:cNvGrpSpPr/>
                  <p:nvPr/>
                </p:nvGrpSpPr>
                <p:grpSpPr bwMode="auto">
                  <a:xfrm>
                    <a:off x="801" y="2649"/>
                    <a:ext cx="57" cy="71"/>
                    <a:chOff x="801" y="2649"/>
                    <a:chExt cx="57" cy="71"/>
                  </a:xfrm>
                </p:grpSpPr>
                <p:sp>
                  <p:nvSpPr>
                    <p:cNvPr id="512" name="Rectangle 14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04" y="2649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13" name="Rectangle 14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01" y="2715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14" name="Line 14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29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15" name="Line 14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04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457" name="Group 147"/>
                  <p:cNvGrpSpPr/>
                  <p:nvPr/>
                </p:nvGrpSpPr>
                <p:grpSpPr bwMode="auto">
                  <a:xfrm>
                    <a:off x="1061" y="2649"/>
                    <a:ext cx="57" cy="71"/>
                    <a:chOff x="1061" y="2649"/>
                    <a:chExt cx="57" cy="71"/>
                  </a:xfrm>
                </p:grpSpPr>
                <p:sp>
                  <p:nvSpPr>
                    <p:cNvPr id="508" name="Rectangle 14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63" y="2649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09" name="Rectangle 14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61" y="2715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10" name="Line 15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89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11" name="Line 15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63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458" name="Group 152"/>
                  <p:cNvGrpSpPr/>
                  <p:nvPr/>
                </p:nvGrpSpPr>
                <p:grpSpPr bwMode="auto">
                  <a:xfrm>
                    <a:off x="670" y="2649"/>
                    <a:ext cx="58" cy="71"/>
                    <a:chOff x="670" y="2649"/>
                    <a:chExt cx="58" cy="71"/>
                  </a:xfrm>
                </p:grpSpPr>
                <p:sp>
                  <p:nvSpPr>
                    <p:cNvPr id="504" name="Rectangle 15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3" y="2649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05" name="Rectangle 15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0" y="2715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06" name="Line 15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99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07" name="Line 15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3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459" name="Group 157"/>
                  <p:cNvGrpSpPr/>
                  <p:nvPr/>
                </p:nvGrpSpPr>
                <p:grpSpPr bwMode="auto">
                  <a:xfrm>
                    <a:off x="867" y="2542"/>
                    <a:ext cx="58" cy="71"/>
                    <a:chOff x="867" y="2542"/>
                    <a:chExt cx="58" cy="71"/>
                  </a:xfrm>
                </p:grpSpPr>
                <p:sp>
                  <p:nvSpPr>
                    <p:cNvPr id="500" name="Rectangle 15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70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01" name="Rectangle 15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67" y="2608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02" name="Line 16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96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03" name="Line 16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70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460" name="Group 162"/>
                  <p:cNvGrpSpPr/>
                  <p:nvPr/>
                </p:nvGrpSpPr>
                <p:grpSpPr bwMode="auto">
                  <a:xfrm>
                    <a:off x="931" y="2649"/>
                    <a:ext cx="57" cy="71"/>
                    <a:chOff x="931" y="2649"/>
                    <a:chExt cx="57" cy="71"/>
                  </a:xfrm>
                </p:grpSpPr>
                <p:sp>
                  <p:nvSpPr>
                    <p:cNvPr id="496" name="Rectangle 16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4" y="2649"/>
                      <a:ext cx="51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97" name="Rectangle 16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1" y="2715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98" name="Line 16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59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99" name="Line 16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33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461" name="Group 167"/>
                  <p:cNvGrpSpPr/>
                  <p:nvPr/>
                </p:nvGrpSpPr>
                <p:grpSpPr bwMode="auto">
                  <a:xfrm>
                    <a:off x="996" y="2649"/>
                    <a:ext cx="57" cy="71"/>
                    <a:chOff x="996" y="2649"/>
                    <a:chExt cx="57" cy="71"/>
                  </a:xfrm>
                </p:grpSpPr>
                <p:sp>
                  <p:nvSpPr>
                    <p:cNvPr id="492" name="Rectangle 16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98" y="2649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93" name="Rectangle 16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96" y="2715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94" name="Line 17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24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95" name="Line 17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98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462" name="Group 172"/>
                  <p:cNvGrpSpPr/>
                  <p:nvPr/>
                </p:nvGrpSpPr>
                <p:grpSpPr bwMode="auto">
                  <a:xfrm>
                    <a:off x="736" y="2542"/>
                    <a:ext cx="58" cy="71"/>
                    <a:chOff x="736" y="2542"/>
                    <a:chExt cx="58" cy="71"/>
                  </a:xfrm>
                </p:grpSpPr>
                <p:sp>
                  <p:nvSpPr>
                    <p:cNvPr id="488" name="Rectangle 17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39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89" name="Rectangle 17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36" y="2608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90" name="Line 17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65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91" name="Line 17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39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463" name="Group 177"/>
                  <p:cNvGrpSpPr/>
                  <p:nvPr/>
                </p:nvGrpSpPr>
                <p:grpSpPr bwMode="auto">
                  <a:xfrm>
                    <a:off x="802" y="2542"/>
                    <a:ext cx="57" cy="71"/>
                    <a:chOff x="802" y="2542"/>
                    <a:chExt cx="57" cy="71"/>
                  </a:xfrm>
                </p:grpSpPr>
                <p:sp>
                  <p:nvSpPr>
                    <p:cNvPr id="484" name="Rectangle 17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05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85" name="Rectangle 17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02" y="2608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86" name="Line 18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30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87" name="Line 18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04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464" name="Group 182"/>
                  <p:cNvGrpSpPr/>
                  <p:nvPr/>
                </p:nvGrpSpPr>
                <p:grpSpPr bwMode="auto">
                  <a:xfrm>
                    <a:off x="1061" y="2542"/>
                    <a:ext cx="58" cy="71"/>
                    <a:chOff x="1061" y="2542"/>
                    <a:chExt cx="58" cy="71"/>
                  </a:xfrm>
                </p:grpSpPr>
                <p:sp>
                  <p:nvSpPr>
                    <p:cNvPr id="480" name="Rectangle 18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64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81" name="Rectangle 18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61" y="2608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82" name="Line 18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90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83" name="Line 18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64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465" name="Group 187"/>
                  <p:cNvGrpSpPr/>
                  <p:nvPr/>
                </p:nvGrpSpPr>
                <p:grpSpPr bwMode="auto">
                  <a:xfrm>
                    <a:off x="671" y="2542"/>
                    <a:ext cx="58" cy="71"/>
                    <a:chOff x="671" y="2542"/>
                    <a:chExt cx="58" cy="71"/>
                  </a:xfrm>
                </p:grpSpPr>
                <p:sp>
                  <p:nvSpPr>
                    <p:cNvPr id="476" name="Rectangle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4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77" name="Rectangle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1" y="2608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78" name="Line 19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99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79" name="Line 19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4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466" name="Group 192"/>
                  <p:cNvGrpSpPr/>
                  <p:nvPr/>
                </p:nvGrpSpPr>
                <p:grpSpPr bwMode="auto">
                  <a:xfrm>
                    <a:off x="931" y="2542"/>
                    <a:ext cx="58" cy="71"/>
                    <a:chOff x="931" y="2542"/>
                    <a:chExt cx="58" cy="71"/>
                  </a:xfrm>
                </p:grpSpPr>
                <p:sp>
                  <p:nvSpPr>
                    <p:cNvPr id="472" name="Rectangle 19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4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73" name="Rectangle 19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1" y="2608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74" name="Line 19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60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75" name="Line 19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34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467" name="Group 197"/>
                  <p:cNvGrpSpPr/>
                  <p:nvPr/>
                </p:nvGrpSpPr>
                <p:grpSpPr bwMode="auto">
                  <a:xfrm>
                    <a:off x="997" y="2542"/>
                    <a:ext cx="57" cy="71"/>
                    <a:chOff x="997" y="2542"/>
                    <a:chExt cx="57" cy="71"/>
                  </a:xfrm>
                </p:grpSpPr>
                <p:sp>
                  <p:nvSpPr>
                    <p:cNvPr id="468" name="Rectangle 19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99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69" name="Rectangle 19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97" y="2608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70" name="Line 20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25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71" name="Line 20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99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  <p:grpSp>
              <p:nvGrpSpPr>
                <p:cNvPr id="451" name="Group 202"/>
                <p:cNvGrpSpPr/>
                <p:nvPr/>
              </p:nvGrpSpPr>
              <p:grpSpPr bwMode="auto">
                <a:xfrm>
                  <a:off x="868" y="2643"/>
                  <a:ext cx="54" cy="97"/>
                  <a:chOff x="868" y="2643"/>
                  <a:chExt cx="54" cy="97"/>
                </a:xfrm>
              </p:grpSpPr>
              <p:sp>
                <p:nvSpPr>
                  <p:cNvPr id="452" name="Rectangle 203"/>
                  <p:cNvSpPr>
                    <a:spLocks noChangeArrowheads="1"/>
                  </p:cNvSpPr>
                  <p:nvPr/>
                </p:nvSpPr>
                <p:spPr bwMode="auto">
                  <a:xfrm>
                    <a:off x="868" y="2643"/>
                    <a:ext cx="54" cy="97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453" name="Rectangle 204"/>
                  <p:cNvSpPr>
                    <a:spLocks noChangeArrowheads="1"/>
                  </p:cNvSpPr>
                  <p:nvPr/>
                </p:nvSpPr>
                <p:spPr bwMode="auto">
                  <a:xfrm>
                    <a:off x="874" y="2653"/>
                    <a:ext cx="41" cy="81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454" name="Oval 205"/>
                  <p:cNvSpPr>
                    <a:spLocks noChangeArrowheads="1"/>
                  </p:cNvSpPr>
                  <p:nvPr/>
                </p:nvSpPr>
                <p:spPr bwMode="auto">
                  <a:xfrm>
                    <a:off x="908" y="2693"/>
                    <a:ext cx="2" cy="3"/>
                  </a:xfrm>
                  <a:prstGeom prst="ellipse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</p:grpSp>
        </p:grpSp>
        <p:grpSp>
          <p:nvGrpSpPr>
            <p:cNvPr id="24" name="Group 206"/>
            <p:cNvGrpSpPr/>
            <p:nvPr/>
          </p:nvGrpSpPr>
          <p:grpSpPr bwMode="auto">
            <a:xfrm>
              <a:off x="4848" y="2160"/>
              <a:ext cx="450" cy="442"/>
              <a:chOff x="4779" y="2206"/>
              <a:chExt cx="567" cy="540"/>
            </a:xfrm>
          </p:grpSpPr>
          <p:grpSp>
            <p:nvGrpSpPr>
              <p:cNvPr id="247" name="Group 207"/>
              <p:cNvGrpSpPr/>
              <p:nvPr/>
            </p:nvGrpSpPr>
            <p:grpSpPr bwMode="auto">
              <a:xfrm>
                <a:off x="4986" y="2206"/>
                <a:ext cx="218" cy="537"/>
                <a:chOff x="4986" y="2206"/>
                <a:chExt cx="218" cy="537"/>
              </a:xfrm>
            </p:grpSpPr>
            <p:grpSp>
              <p:nvGrpSpPr>
                <p:cNvPr id="387" name="Group 208"/>
                <p:cNvGrpSpPr/>
                <p:nvPr/>
              </p:nvGrpSpPr>
              <p:grpSpPr bwMode="auto">
                <a:xfrm>
                  <a:off x="4986" y="2302"/>
                  <a:ext cx="218" cy="441"/>
                  <a:chOff x="4986" y="2302"/>
                  <a:chExt cx="218" cy="441"/>
                </a:xfrm>
              </p:grpSpPr>
              <p:grpSp>
                <p:nvGrpSpPr>
                  <p:cNvPr id="427" name="Group 209"/>
                  <p:cNvGrpSpPr/>
                  <p:nvPr/>
                </p:nvGrpSpPr>
                <p:grpSpPr bwMode="auto">
                  <a:xfrm>
                    <a:off x="5060" y="2303"/>
                    <a:ext cx="86" cy="275"/>
                    <a:chOff x="5060" y="2303"/>
                    <a:chExt cx="86" cy="275"/>
                  </a:xfrm>
                </p:grpSpPr>
                <p:sp>
                  <p:nvSpPr>
                    <p:cNvPr id="440" name="Freeform 210"/>
                    <p:cNvSpPr/>
                    <p:nvPr/>
                  </p:nvSpPr>
                  <p:spPr bwMode="auto">
                    <a:xfrm>
                      <a:off x="5060" y="2315"/>
                      <a:ext cx="86" cy="248"/>
                    </a:xfrm>
                    <a:custGeom>
                      <a:avLst/>
                      <a:gdLst>
                        <a:gd name="T0" fmla="*/ 0 w 514"/>
                        <a:gd name="T1" fmla="*/ 0 h 1240"/>
                        <a:gd name="T2" fmla="*/ 54 w 514"/>
                        <a:gd name="T3" fmla="*/ 580 h 1240"/>
                        <a:gd name="T4" fmla="*/ 90 w 514"/>
                        <a:gd name="T5" fmla="*/ 1240 h 1240"/>
                        <a:gd name="T6" fmla="*/ 514 w 514"/>
                        <a:gd name="T7" fmla="*/ 1240 h 1240"/>
                        <a:gd name="T8" fmla="*/ 456 w 514"/>
                        <a:gd name="T9" fmla="*/ 230 h 1240"/>
                        <a:gd name="T10" fmla="*/ 399 w 514"/>
                        <a:gd name="T11" fmla="*/ 0 h 1240"/>
                        <a:gd name="T12" fmla="*/ 0 w 514"/>
                        <a:gd name="T13" fmla="*/ 0 h 124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14" h="1240">
                          <a:moveTo>
                            <a:pt x="0" y="0"/>
                          </a:moveTo>
                          <a:lnTo>
                            <a:pt x="54" y="580"/>
                          </a:lnTo>
                          <a:lnTo>
                            <a:pt x="90" y="1240"/>
                          </a:lnTo>
                          <a:lnTo>
                            <a:pt x="514" y="1240"/>
                          </a:lnTo>
                          <a:lnTo>
                            <a:pt x="456" y="230"/>
                          </a:lnTo>
                          <a:lnTo>
                            <a:pt x="399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FD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41" name="Freeform 211"/>
                    <p:cNvSpPr/>
                    <p:nvPr/>
                  </p:nvSpPr>
                  <p:spPr bwMode="auto">
                    <a:xfrm>
                      <a:off x="5119" y="2316"/>
                      <a:ext cx="20" cy="217"/>
                    </a:xfrm>
                    <a:custGeom>
                      <a:avLst/>
                      <a:gdLst>
                        <a:gd name="T0" fmla="*/ 0 w 121"/>
                        <a:gd name="T1" fmla="*/ 200 h 1084"/>
                        <a:gd name="T2" fmla="*/ 41 w 121"/>
                        <a:gd name="T3" fmla="*/ 335 h 1084"/>
                        <a:gd name="T4" fmla="*/ 52 w 121"/>
                        <a:gd name="T5" fmla="*/ 390 h 1084"/>
                        <a:gd name="T6" fmla="*/ 55 w 121"/>
                        <a:gd name="T7" fmla="*/ 472 h 1084"/>
                        <a:gd name="T8" fmla="*/ 59 w 121"/>
                        <a:gd name="T9" fmla="*/ 575 h 1084"/>
                        <a:gd name="T10" fmla="*/ 66 w 121"/>
                        <a:gd name="T11" fmla="*/ 615 h 1084"/>
                        <a:gd name="T12" fmla="*/ 77 w 121"/>
                        <a:gd name="T13" fmla="*/ 652 h 1084"/>
                        <a:gd name="T14" fmla="*/ 80 w 121"/>
                        <a:gd name="T15" fmla="*/ 708 h 1084"/>
                        <a:gd name="T16" fmla="*/ 84 w 121"/>
                        <a:gd name="T17" fmla="*/ 833 h 1084"/>
                        <a:gd name="T18" fmla="*/ 87 w 121"/>
                        <a:gd name="T19" fmla="*/ 870 h 1084"/>
                        <a:gd name="T20" fmla="*/ 96 w 121"/>
                        <a:gd name="T21" fmla="*/ 922 h 1084"/>
                        <a:gd name="T22" fmla="*/ 106 w 121"/>
                        <a:gd name="T23" fmla="*/ 989 h 1084"/>
                        <a:gd name="T24" fmla="*/ 121 w 121"/>
                        <a:gd name="T25" fmla="*/ 1084 h 1084"/>
                        <a:gd name="T26" fmla="*/ 106 w 121"/>
                        <a:gd name="T27" fmla="*/ 502 h 1084"/>
                        <a:gd name="T28" fmla="*/ 80 w 121"/>
                        <a:gd name="T29" fmla="*/ 196 h 1084"/>
                        <a:gd name="T30" fmla="*/ 69 w 121"/>
                        <a:gd name="T31" fmla="*/ 74 h 1084"/>
                        <a:gd name="T32" fmla="*/ 44 w 121"/>
                        <a:gd name="T33" fmla="*/ 0 h 1084"/>
                        <a:gd name="T34" fmla="*/ 0 w 121"/>
                        <a:gd name="T35" fmla="*/ 200 h 108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</a:cxnLst>
                      <a:rect l="0" t="0" r="r" b="b"/>
                      <a:pathLst>
                        <a:path w="121" h="1084">
                          <a:moveTo>
                            <a:pt x="0" y="200"/>
                          </a:moveTo>
                          <a:lnTo>
                            <a:pt x="41" y="335"/>
                          </a:lnTo>
                          <a:lnTo>
                            <a:pt x="52" y="390"/>
                          </a:lnTo>
                          <a:lnTo>
                            <a:pt x="55" y="472"/>
                          </a:lnTo>
                          <a:lnTo>
                            <a:pt x="59" y="575"/>
                          </a:lnTo>
                          <a:lnTo>
                            <a:pt x="66" y="615"/>
                          </a:lnTo>
                          <a:lnTo>
                            <a:pt x="77" y="652"/>
                          </a:lnTo>
                          <a:lnTo>
                            <a:pt x="80" y="708"/>
                          </a:lnTo>
                          <a:lnTo>
                            <a:pt x="84" y="833"/>
                          </a:lnTo>
                          <a:lnTo>
                            <a:pt x="87" y="870"/>
                          </a:lnTo>
                          <a:lnTo>
                            <a:pt x="96" y="922"/>
                          </a:lnTo>
                          <a:lnTo>
                            <a:pt x="106" y="989"/>
                          </a:lnTo>
                          <a:lnTo>
                            <a:pt x="121" y="1084"/>
                          </a:lnTo>
                          <a:lnTo>
                            <a:pt x="106" y="502"/>
                          </a:lnTo>
                          <a:lnTo>
                            <a:pt x="80" y="196"/>
                          </a:lnTo>
                          <a:lnTo>
                            <a:pt x="69" y="74"/>
                          </a:lnTo>
                          <a:lnTo>
                            <a:pt x="44" y="0"/>
                          </a:lnTo>
                          <a:lnTo>
                            <a:pt x="0" y="200"/>
                          </a:lnTo>
                          <a:close/>
                        </a:path>
                      </a:pathLst>
                    </a:custGeom>
                    <a:solidFill>
                      <a:srgbClr val="BFBFB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42" name="Freeform 212"/>
                    <p:cNvSpPr/>
                    <p:nvPr/>
                  </p:nvSpPr>
                  <p:spPr bwMode="auto">
                    <a:xfrm>
                      <a:off x="5092" y="2344"/>
                      <a:ext cx="38" cy="234"/>
                    </a:xfrm>
                    <a:custGeom>
                      <a:avLst/>
                      <a:gdLst>
                        <a:gd name="T0" fmla="*/ 0 w 227"/>
                        <a:gd name="T1" fmla="*/ 52 h 1166"/>
                        <a:gd name="T2" fmla="*/ 50 w 227"/>
                        <a:gd name="T3" fmla="*/ 137 h 1166"/>
                        <a:gd name="T4" fmla="*/ 36 w 227"/>
                        <a:gd name="T5" fmla="*/ 717 h 1166"/>
                        <a:gd name="T6" fmla="*/ 32 w 227"/>
                        <a:gd name="T7" fmla="*/ 976 h 1166"/>
                        <a:gd name="T8" fmla="*/ 43 w 227"/>
                        <a:gd name="T9" fmla="*/ 1069 h 1166"/>
                        <a:gd name="T10" fmla="*/ 151 w 227"/>
                        <a:gd name="T11" fmla="*/ 1166 h 1166"/>
                        <a:gd name="T12" fmla="*/ 227 w 227"/>
                        <a:gd name="T13" fmla="*/ 1036 h 1166"/>
                        <a:gd name="T14" fmla="*/ 177 w 227"/>
                        <a:gd name="T15" fmla="*/ 661 h 1166"/>
                        <a:gd name="T16" fmla="*/ 147 w 227"/>
                        <a:gd name="T17" fmla="*/ 441 h 1166"/>
                        <a:gd name="T18" fmla="*/ 109 w 227"/>
                        <a:gd name="T19" fmla="*/ 185 h 1166"/>
                        <a:gd name="T20" fmla="*/ 98 w 227"/>
                        <a:gd name="T21" fmla="*/ 119 h 1166"/>
                        <a:gd name="T22" fmla="*/ 147 w 227"/>
                        <a:gd name="T23" fmla="*/ 41 h 1166"/>
                        <a:gd name="T24" fmla="*/ 129 w 227"/>
                        <a:gd name="T25" fmla="*/ 4 h 1166"/>
                        <a:gd name="T26" fmla="*/ 66 w 227"/>
                        <a:gd name="T27" fmla="*/ 0 h 1166"/>
                        <a:gd name="T28" fmla="*/ 0 w 227"/>
                        <a:gd name="T29" fmla="*/ 52 h 116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</a:cxnLst>
                      <a:rect l="0" t="0" r="r" b="b"/>
                      <a:pathLst>
                        <a:path w="227" h="1166">
                          <a:moveTo>
                            <a:pt x="0" y="52"/>
                          </a:moveTo>
                          <a:lnTo>
                            <a:pt x="50" y="137"/>
                          </a:lnTo>
                          <a:lnTo>
                            <a:pt x="36" y="717"/>
                          </a:lnTo>
                          <a:lnTo>
                            <a:pt x="32" y="976"/>
                          </a:lnTo>
                          <a:lnTo>
                            <a:pt x="43" y="1069"/>
                          </a:lnTo>
                          <a:lnTo>
                            <a:pt x="151" y="1166"/>
                          </a:lnTo>
                          <a:lnTo>
                            <a:pt x="227" y="1036"/>
                          </a:lnTo>
                          <a:lnTo>
                            <a:pt x="177" y="661"/>
                          </a:lnTo>
                          <a:lnTo>
                            <a:pt x="147" y="441"/>
                          </a:lnTo>
                          <a:lnTo>
                            <a:pt x="109" y="185"/>
                          </a:lnTo>
                          <a:lnTo>
                            <a:pt x="98" y="119"/>
                          </a:lnTo>
                          <a:lnTo>
                            <a:pt x="147" y="41"/>
                          </a:lnTo>
                          <a:lnTo>
                            <a:pt x="129" y="4"/>
                          </a:lnTo>
                          <a:lnTo>
                            <a:pt x="66" y="0"/>
                          </a:lnTo>
                          <a:lnTo>
                            <a:pt x="0" y="52"/>
                          </a:lnTo>
                          <a:close/>
                        </a:path>
                      </a:pathLst>
                    </a:custGeom>
                    <a:solidFill>
                      <a:srgbClr val="3F3F3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43" name="Freeform 213"/>
                    <p:cNvSpPr/>
                    <p:nvPr/>
                  </p:nvSpPr>
                  <p:spPr bwMode="auto">
                    <a:xfrm>
                      <a:off x="5064" y="2305"/>
                      <a:ext cx="59" cy="74"/>
                    </a:xfrm>
                    <a:custGeom>
                      <a:avLst/>
                      <a:gdLst>
                        <a:gd name="T0" fmla="*/ 3 w 355"/>
                        <a:gd name="T1" fmla="*/ 0 h 372"/>
                        <a:gd name="T2" fmla="*/ 14 w 355"/>
                        <a:gd name="T3" fmla="*/ 34 h 372"/>
                        <a:gd name="T4" fmla="*/ 21 w 355"/>
                        <a:gd name="T5" fmla="*/ 47 h 372"/>
                        <a:gd name="T6" fmla="*/ 36 w 355"/>
                        <a:gd name="T7" fmla="*/ 72 h 372"/>
                        <a:gd name="T8" fmla="*/ 49 w 355"/>
                        <a:gd name="T9" fmla="*/ 92 h 372"/>
                        <a:gd name="T10" fmla="*/ 64 w 355"/>
                        <a:gd name="T11" fmla="*/ 108 h 372"/>
                        <a:gd name="T12" fmla="*/ 86 w 355"/>
                        <a:gd name="T13" fmla="*/ 131 h 372"/>
                        <a:gd name="T14" fmla="*/ 114 w 355"/>
                        <a:gd name="T15" fmla="*/ 152 h 372"/>
                        <a:gd name="T16" fmla="*/ 142 w 355"/>
                        <a:gd name="T17" fmla="*/ 173 h 372"/>
                        <a:gd name="T18" fmla="*/ 168 w 355"/>
                        <a:gd name="T19" fmla="*/ 187 h 372"/>
                        <a:gd name="T20" fmla="*/ 199 w 355"/>
                        <a:gd name="T21" fmla="*/ 199 h 372"/>
                        <a:gd name="T22" fmla="*/ 228 w 355"/>
                        <a:gd name="T23" fmla="*/ 202 h 372"/>
                        <a:gd name="T24" fmla="*/ 259 w 355"/>
                        <a:gd name="T25" fmla="*/ 202 h 372"/>
                        <a:gd name="T26" fmla="*/ 278 w 355"/>
                        <a:gd name="T27" fmla="*/ 189 h 372"/>
                        <a:gd name="T28" fmla="*/ 296 w 355"/>
                        <a:gd name="T29" fmla="*/ 176 h 372"/>
                        <a:gd name="T30" fmla="*/ 313 w 355"/>
                        <a:gd name="T31" fmla="*/ 150 h 372"/>
                        <a:gd name="T32" fmla="*/ 330 w 355"/>
                        <a:gd name="T33" fmla="*/ 124 h 372"/>
                        <a:gd name="T34" fmla="*/ 340 w 355"/>
                        <a:gd name="T35" fmla="*/ 102 h 372"/>
                        <a:gd name="T36" fmla="*/ 346 w 355"/>
                        <a:gd name="T37" fmla="*/ 60 h 372"/>
                        <a:gd name="T38" fmla="*/ 353 w 355"/>
                        <a:gd name="T39" fmla="*/ 48 h 372"/>
                        <a:gd name="T40" fmla="*/ 355 w 355"/>
                        <a:gd name="T41" fmla="*/ 116 h 372"/>
                        <a:gd name="T42" fmla="*/ 341 w 355"/>
                        <a:gd name="T43" fmla="*/ 346 h 372"/>
                        <a:gd name="T44" fmla="*/ 241 w 355"/>
                        <a:gd name="T45" fmla="*/ 214 h 372"/>
                        <a:gd name="T46" fmla="*/ 230 w 355"/>
                        <a:gd name="T47" fmla="*/ 214 h 372"/>
                        <a:gd name="T48" fmla="*/ 130 w 355"/>
                        <a:gd name="T49" fmla="*/ 314 h 372"/>
                        <a:gd name="T50" fmla="*/ 73 w 355"/>
                        <a:gd name="T51" fmla="*/ 372 h 372"/>
                        <a:gd name="T52" fmla="*/ 18 w 355"/>
                        <a:gd name="T53" fmla="*/ 186 h 372"/>
                        <a:gd name="T54" fmla="*/ 0 w 355"/>
                        <a:gd name="T55" fmla="*/ 113 h 372"/>
                        <a:gd name="T56" fmla="*/ 3 w 355"/>
                        <a:gd name="T57" fmla="*/ 0 h 37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</a:cxnLst>
                      <a:rect l="0" t="0" r="r" b="b"/>
                      <a:pathLst>
                        <a:path w="355" h="372">
                          <a:moveTo>
                            <a:pt x="3" y="0"/>
                          </a:moveTo>
                          <a:lnTo>
                            <a:pt x="14" y="34"/>
                          </a:lnTo>
                          <a:lnTo>
                            <a:pt x="21" y="47"/>
                          </a:lnTo>
                          <a:lnTo>
                            <a:pt x="36" y="72"/>
                          </a:lnTo>
                          <a:lnTo>
                            <a:pt x="49" y="92"/>
                          </a:lnTo>
                          <a:lnTo>
                            <a:pt x="64" y="108"/>
                          </a:lnTo>
                          <a:lnTo>
                            <a:pt x="86" y="131"/>
                          </a:lnTo>
                          <a:lnTo>
                            <a:pt x="114" y="152"/>
                          </a:lnTo>
                          <a:lnTo>
                            <a:pt x="142" y="173"/>
                          </a:lnTo>
                          <a:lnTo>
                            <a:pt x="168" y="187"/>
                          </a:lnTo>
                          <a:lnTo>
                            <a:pt x="199" y="199"/>
                          </a:lnTo>
                          <a:lnTo>
                            <a:pt x="228" y="202"/>
                          </a:lnTo>
                          <a:lnTo>
                            <a:pt x="259" y="202"/>
                          </a:lnTo>
                          <a:lnTo>
                            <a:pt x="278" y="189"/>
                          </a:lnTo>
                          <a:lnTo>
                            <a:pt x="296" y="176"/>
                          </a:lnTo>
                          <a:lnTo>
                            <a:pt x="313" y="150"/>
                          </a:lnTo>
                          <a:lnTo>
                            <a:pt x="330" y="124"/>
                          </a:lnTo>
                          <a:lnTo>
                            <a:pt x="340" y="102"/>
                          </a:lnTo>
                          <a:lnTo>
                            <a:pt x="346" y="60"/>
                          </a:lnTo>
                          <a:lnTo>
                            <a:pt x="353" y="48"/>
                          </a:lnTo>
                          <a:lnTo>
                            <a:pt x="355" y="116"/>
                          </a:lnTo>
                          <a:lnTo>
                            <a:pt x="341" y="346"/>
                          </a:lnTo>
                          <a:lnTo>
                            <a:pt x="241" y="214"/>
                          </a:lnTo>
                          <a:lnTo>
                            <a:pt x="230" y="214"/>
                          </a:lnTo>
                          <a:lnTo>
                            <a:pt x="130" y="314"/>
                          </a:lnTo>
                          <a:lnTo>
                            <a:pt x="73" y="372"/>
                          </a:lnTo>
                          <a:lnTo>
                            <a:pt x="18" y="186"/>
                          </a:lnTo>
                          <a:lnTo>
                            <a:pt x="0" y="113"/>
                          </a:lnTo>
                          <a:lnTo>
                            <a:pt x="3" y="0"/>
                          </a:lnTo>
                          <a:close/>
                        </a:path>
                      </a:pathLst>
                    </a:custGeom>
                    <a:solidFill>
                      <a:srgbClr val="3F3F3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44" name="Freeform 214"/>
                    <p:cNvSpPr/>
                    <p:nvPr/>
                  </p:nvSpPr>
                  <p:spPr bwMode="auto">
                    <a:xfrm>
                      <a:off x="5066" y="2303"/>
                      <a:ext cx="59" cy="75"/>
                    </a:xfrm>
                    <a:custGeom>
                      <a:avLst/>
                      <a:gdLst>
                        <a:gd name="T0" fmla="*/ 4 w 355"/>
                        <a:gd name="T1" fmla="*/ 0 h 373"/>
                        <a:gd name="T2" fmla="*/ 15 w 355"/>
                        <a:gd name="T3" fmla="*/ 34 h 373"/>
                        <a:gd name="T4" fmla="*/ 22 w 355"/>
                        <a:gd name="T5" fmla="*/ 47 h 373"/>
                        <a:gd name="T6" fmla="*/ 36 w 355"/>
                        <a:gd name="T7" fmla="*/ 72 h 373"/>
                        <a:gd name="T8" fmla="*/ 49 w 355"/>
                        <a:gd name="T9" fmla="*/ 92 h 373"/>
                        <a:gd name="T10" fmla="*/ 65 w 355"/>
                        <a:gd name="T11" fmla="*/ 108 h 373"/>
                        <a:gd name="T12" fmla="*/ 86 w 355"/>
                        <a:gd name="T13" fmla="*/ 131 h 373"/>
                        <a:gd name="T14" fmla="*/ 115 w 355"/>
                        <a:gd name="T15" fmla="*/ 152 h 373"/>
                        <a:gd name="T16" fmla="*/ 142 w 355"/>
                        <a:gd name="T17" fmla="*/ 173 h 373"/>
                        <a:gd name="T18" fmla="*/ 169 w 355"/>
                        <a:gd name="T19" fmla="*/ 187 h 373"/>
                        <a:gd name="T20" fmla="*/ 200 w 355"/>
                        <a:gd name="T21" fmla="*/ 199 h 373"/>
                        <a:gd name="T22" fmla="*/ 229 w 355"/>
                        <a:gd name="T23" fmla="*/ 202 h 373"/>
                        <a:gd name="T24" fmla="*/ 260 w 355"/>
                        <a:gd name="T25" fmla="*/ 202 h 373"/>
                        <a:gd name="T26" fmla="*/ 279 w 355"/>
                        <a:gd name="T27" fmla="*/ 191 h 373"/>
                        <a:gd name="T28" fmla="*/ 297 w 355"/>
                        <a:gd name="T29" fmla="*/ 176 h 373"/>
                        <a:gd name="T30" fmla="*/ 313 w 355"/>
                        <a:gd name="T31" fmla="*/ 150 h 373"/>
                        <a:gd name="T32" fmla="*/ 330 w 355"/>
                        <a:gd name="T33" fmla="*/ 124 h 373"/>
                        <a:gd name="T34" fmla="*/ 341 w 355"/>
                        <a:gd name="T35" fmla="*/ 102 h 373"/>
                        <a:gd name="T36" fmla="*/ 347 w 355"/>
                        <a:gd name="T37" fmla="*/ 60 h 373"/>
                        <a:gd name="T38" fmla="*/ 354 w 355"/>
                        <a:gd name="T39" fmla="*/ 49 h 373"/>
                        <a:gd name="T40" fmla="*/ 355 w 355"/>
                        <a:gd name="T41" fmla="*/ 117 h 373"/>
                        <a:gd name="T42" fmla="*/ 342 w 355"/>
                        <a:gd name="T43" fmla="*/ 347 h 373"/>
                        <a:gd name="T44" fmla="*/ 242 w 355"/>
                        <a:gd name="T45" fmla="*/ 214 h 373"/>
                        <a:gd name="T46" fmla="*/ 231 w 355"/>
                        <a:gd name="T47" fmla="*/ 214 h 373"/>
                        <a:gd name="T48" fmla="*/ 131 w 355"/>
                        <a:gd name="T49" fmla="*/ 314 h 373"/>
                        <a:gd name="T50" fmla="*/ 73 w 355"/>
                        <a:gd name="T51" fmla="*/ 373 h 373"/>
                        <a:gd name="T52" fmla="*/ 18 w 355"/>
                        <a:gd name="T53" fmla="*/ 186 h 373"/>
                        <a:gd name="T54" fmla="*/ 0 w 355"/>
                        <a:gd name="T55" fmla="*/ 113 h 373"/>
                        <a:gd name="T56" fmla="*/ 4 w 355"/>
                        <a:gd name="T57" fmla="*/ 0 h 37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</a:cxnLst>
                      <a:rect l="0" t="0" r="r" b="b"/>
                      <a:pathLst>
                        <a:path w="355" h="373">
                          <a:moveTo>
                            <a:pt x="4" y="0"/>
                          </a:moveTo>
                          <a:lnTo>
                            <a:pt x="15" y="34"/>
                          </a:lnTo>
                          <a:lnTo>
                            <a:pt x="22" y="47"/>
                          </a:lnTo>
                          <a:lnTo>
                            <a:pt x="36" y="72"/>
                          </a:lnTo>
                          <a:lnTo>
                            <a:pt x="49" y="92"/>
                          </a:lnTo>
                          <a:lnTo>
                            <a:pt x="65" y="108"/>
                          </a:lnTo>
                          <a:lnTo>
                            <a:pt x="86" y="131"/>
                          </a:lnTo>
                          <a:lnTo>
                            <a:pt x="115" y="152"/>
                          </a:lnTo>
                          <a:lnTo>
                            <a:pt x="142" y="173"/>
                          </a:lnTo>
                          <a:lnTo>
                            <a:pt x="169" y="187"/>
                          </a:lnTo>
                          <a:lnTo>
                            <a:pt x="200" y="199"/>
                          </a:lnTo>
                          <a:lnTo>
                            <a:pt x="229" y="202"/>
                          </a:lnTo>
                          <a:lnTo>
                            <a:pt x="260" y="202"/>
                          </a:lnTo>
                          <a:lnTo>
                            <a:pt x="279" y="191"/>
                          </a:lnTo>
                          <a:lnTo>
                            <a:pt x="297" y="176"/>
                          </a:lnTo>
                          <a:lnTo>
                            <a:pt x="313" y="150"/>
                          </a:lnTo>
                          <a:lnTo>
                            <a:pt x="330" y="124"/>
                          </a:lnTo>
                          <a:lnTo>
                            <a:pt x="341" y="102"/>
                          </a:lnTo>
                          <a:lnTo>
                            <a:pt x="347" y="60"/>
                          </a:lnTo>
                          <a:lnTo>
                            <a:pt x="354" y="49"/>
                          </a:lnTo>
                          <a:lnTo>
                            <a:pt x="355" y="117"/>
                          </a:lnTo>
                          <a:lnTo>
                            <a:pt x="342" y="347"/>
                          </a:lnTo>
                          <a:lnTo>
                            <a:pt x="242" y="214"/>
                          </a:lnTo>
                          <a:lnTo>
                            <a:pt x="231" y="214"/>
                          </a:lnTo>
                          <a:lnTo>
                            <a:pt x="131" y="314"/>
                          </a:lnTo>
                          <a:lnTo>
                            <a:pt x="73" y="373"/>
                          </a:lnTo>
                          <a:lnTo>
                            <a:pt x="18" y="186"/>
                          </a:lnTo>
                          <a:lnTo>
                            <a:pt x="0" y="113"/>
                          </a:lnTo>
                          <a:lnTo>
                            <a:pt x="4" y="0"/>
                          </a:lnTo>
                          <a:close/>
                        </a:path>
                      </a:pathLst>
                    </a:custGeom>
                    <a:solidFill>
                      <a:srgbClr val="BFD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428" name="Group 215"/>
                  <p:cNvGrpSpPr/>
                  <p:nvPr/>
                </p:nvGrpSpPr>
                <p:grpSpPr bwMode="auto">
                  <a:xfrm>
                    <a:off x="4986" y="2302"/>
                    <a:ext cx="218" cy="441"/>
                    <a:chOff x="4986" y="2302"/>
                    <a:chExt cx="218" cy="441"/>
                  </a:xfrm>
                </p:grpSpPr>
                <p:sp>
                  <p:nvSpPr>
                    <p:cNvPr id="429" name="Freeform 216"/>
                    <p:cNvSpPr/>
                    <p:nvPr/>
                  </p:nvSpPr>
                  <p:spPr bwMode="auto">
                    <a:xfrm>
                      <a:off x="5024" y="2558"/>
                      <a:ext cx="156" cy="185"/>
                    </a:xfrm>
                    <a:custGeom>
                      <a:avLst/>
                      <a:gdLst>
                        <a:gd name="T0" fmla="*/ 51 w 937"/>
                        <a:gd name="T1" fmla="*/ 0 h 925"/>
                        <a:gd name="T2" fmla="*/ 356 w 937"/>
                        <a:gd name="T3" fmla="*/ 23 h 925"/>
                        <a:gd name="T4" fmla="*/ 542 w 937"/>
                        <a:gd name="T5" fmla="*/ 30 h 925"/>
                        <a:gd name="T6" fmla="*/ 815 w 937"/>
                        <a:gd name="T7" fmla="*/ 15 h 925"/>
                        <a:gd name="T8" fmla="*/ 908 w 937"/>
                        <a:gd name="T9" fmla="*/ 8 h 925"/>
                        <a:gd name="T10" fmla="*/ 937 w 937"/>
                        <a:gd name="T11" fmla="*/ 662 h 925"/>
                        <a:gd name="T12" fmla="*/ 937 w 937"/>
                        <a:gd name="T13" fmla="*/ 925 h 925"/>
                        <a:gd name="T14" fmla="*/ 599 w 937"/>
                        <a:gd name="T15" fmla="*/ 925 h 925"/>
                        <a:gd name="T16" fmla="*/ 507 w 937"/>
                        <a:gd name="T17" fmla="*/ 573 h 925"/>
                        <a:gd name="T18" fmla="*/ 471 w 937"/>
                        <a:gd name="T19" fmla="*/ 925 h 925"/>
                        <a:gd name="T20" fmla="*/ 43 w 937"/>
                        <a:gd name="T21" fmla="*/ 925 h 925"/>
                        <a:gd name="T22" fmla="*/ 0 w 937"/>
                        <a:gd name="T23" fmla="*/ 373 h 925"/>
                        <a:gd name="T24" fmla="*/ 51 w 937"/>
                        <a:gd name="T25" fmla="*/ 0 h 92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</a:cxnLst>
                      <a:rect l="0" t="0" r="r" b="b"/>
                      <a:pathLst>
                        <a:path w="937" h="925">
                          <a:moveTo>
                            <a:pt x="51" y="0"/>
                          </a:moveTo>
                          <a:lnTo>
                            <a:pt x="356" y="23"/>
                          </a:lnTo>
                          <a:lnTo>
                            <a:pt x="542" y="30"/>
                          </a:lnTo>
                          <a:lnTo>
                            <a:pt x="815" y="15"/>
                          </a:lnTo>
                          <a:lnTo>
                            <a:pt x="908" y="8"/>
                          </a:lnTo>
                          <a:lnTo>
                            <a:pt x="937" y="662"/>
                          </a:lnTo>
                          <a:lnTo>
                            <a:pt x="937" y="925"/>
                          </a:lnTo>
                          <a:lnTo>
                            <a:pt x="599" y="925"/>
                          </a:lnTo>
                          <a:lnTo>
                            <a:pt x="507" y="573"/>
                          </a:lnTo>
                          <a:lnTo>
                            <a:pt x="471" y="925"/>
                          </a:lnTo>
                          <a:lnTo>
                            <a:pt x="43" y="925"/>
                          </a:lnTo>
                          <a:lnTo>
                            <a:pt x="0" y="373"/>
                          </a:lnTo>
                          <a:lnTo>
                            <a:pt x="51" y="0"/>
                          </a:lnTo>
                          <a:close/>
                        </a:path>
                      </a:pathLst>
                    </a:custGeom>
                    <a:solidFill>
                      <a:srgbClr val="3F3F3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grpSp>
                  <p:nvGrpSpPr>
                    <p:cNvPr id="430" name="Group 217"/>
                    <p:cNvGrpSpPr/>
                    <p:nvPr/>
                  </p:nvGrpSpPr>
                  <p:grpSpPr bwMode="auto">
                    <a:xfrm>
                      <a:off x="4986" y="2302"/>
                      <a:ext cx="218" cy="379"/>
                      <a:chOff x="4986" y="2302"/>
                      <a:chExt cx="218" cy="379"/>
                    </a:xfrm>
                  </p:grpSpPr>
                  <p:grpSp>
                    <p:nvGrpSpPr>
                      <p:cNvPr id="431" name="Group 218"/>
                      <p:cNvGrpSpPr/>
                      <p:nvPr/>
                    </p:nvGrpSpPr>
                    <p:grpSpPr bwMode="auto">
                      <a:xfrm>
                        <a:off x="4986" y="2302"/>
                        <a:ext cx="218" cy="379"/>
                        <a:chOff x="4986" y="2302"/>
                        <a:chExt cx="218" cy="379"/>
                      </a:xfrm>
                    </p:grpSpPr>
                    <p:sp>
                      <p:nvSpPr>
                        <p:cNvPr id="438" name="Freeform 219"/>
                        <p:cNvSpPr/>
                        <p:nvPr/>
                      </p:nvSpPr>
                      <p:spPr bwMode="auto">
                        <a:xfrm>
                          <a:off x="5124" y="2311"/>
                          <a:ext cx="80" cy="369"/>
                        </a:xfrm>
                        <a:custGeom>
                          <a:avLst/>
                          <a:gdLst>
                            <a:gd name="T0" fmla="*/ 12 w 484"/>
                            <a:gd name="T1" fmla="*/ 0 h 1845"/>
                            <a:gd name="T2" fmla="*/ 24 w 484"/>
                            <a:gd name="T3" fmla="*/ 12 h 1845"/>
                            <a:gd name="T4" fmla="*/ 48 w 484"/>
                            <a:gd name="T5" fmla="*/ 53 h 1845"/>
                            <a:gd name="T6" fmla="*/ 330 w 484"/>
                            <a:gd name="T7" fmla="*/ 160 h 1845"/>
                            <a:gd name="T8" fmla="*/ 357 w 484"/>
                            <a:gd name="T9" fmla="*/ 170 h 1845"/>
                            <a:gd name="T10" fmla="*/ 381 w 484"/>
                            <a:gd name="T11" fmla="*/ 185 h 1845"/>
                            <a:gd name="T12" fmla="*/ 396 w 484"/>
                            <a:gd name="T13" fmla="*/ 198 h 1845"/>
                            <a:gd name="T14" fmla="*/ 409 w 484"/>
                            <a:gd name="T15" fmla="*/ 217 h 1845"/>
                            <a:gd name="T16" fmla="*/ 418 w 484"/>
                            <a:gd name="T17" fmla="*/ 243 h 1845"/>
                            <a:gd name="T18" fmla="*/ 427 w 484"/>
                            <a:gd name="T19" fmla="*/ 301 h 1845"/>
                            <a:gd name="T20" fmla="*/ 434 w 484"/>
                            <a:gd name="T21" fmla="*/ 420 h 1845"/>
                            <a:gd name="T22" fmla="*/ 448 w 484"/>
                            <a:gd name="T23" fmla="*/ 1102 h 1845"/>
                            <a:gd name="T24" fmla="*/ 484 w 484"/>
                            <a:gd name="T25" fmla="*/ 1630 h 1845"/>
                            <a:gd name="T26" fmla="*/ 377 w 484"/>
                            <a:gd name="T27" fmla="*/ 1667 h 1845"/>
                            <a:gd name="T28" fmla="*/ 384 w 484"/>
                            <a:gd name="T29" fmla="*/ 1734 h 1845"/>
                            <a:gd name="T30" fmla="*/ 297 w 484"/>
                            <a:gd name="T31" fmla="*/ 1786 h 1845"/>
                            <a:gd name="T32" fmla="*/ 196 w 484"/>
                            <a:gd name="T33" fmla="*/ 1823 h 1845"/>
                            <a:gd name="T34" fmla="*/ 87 w 484"/>
                            <a:gd name="T35" fmla="*/ 1845 h 1845"/>
                            <a:gd name="T36" fmla="*/ 30 w 484"/>
                            <a:gd name="T37" fmla="*/ 1845 h 1845"/>
                            <a:gd name="T38" fmla="*/ 59 w 484"/>
                            <a:gd name="T39" fmla="*/ 1221 h 1845"/>
                            <a:gd name="T40" fmla="*/ 73 w 484"/>
                            <a:gd name="T41" fmla="*/ 889 h 1845"/>
                            <a:gd name="T42" fmla="*/ 73 w 484"/>
                            <a:gd name="T43" fmla="*/ 628 h 1845"/>
                            <a:gd name="T44" fmla="*/ 41 w 484"/>
                            <a:gd name="T45" fmla="*/ 303 h 1845"/>
                            <a:gd name="T46" fmla="*/ 17 w 484"/>
                            <a:gd name="T47" fmla="*/ 109 h 1845"/>
                            <a:gd name="T48" fmla="*/ 0 w 484"/>
                            <a:gd name="T49" fmla="*/ 17 h 1845"/>
                            <a:gd name="T50" fmla="*/ 12 w 484"/>
                            <a:gd name="T51" fmla="*/ 0 h 1845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  <a:cxn ang="0">
                              <a:pos x="T30" y="T31"/>
                            </a:cxn>
                            <a:cxn ang="0">
                              <a:pos x="T32" y="T33"/>
                            </a:cxn>
                            <a:cxn ang="0">
                              <a:pos x="T34" y="T35"/>
                            </a:cxn>
                            <a:cxn ang="0">
                              <a:pos x="T36" y="T37"/>
                            </a:cxn>
                            <a:cxn ang="0">
                              <a:pos x="T38" y="T39"/>
                            </a:cxn>
                            <a:cxn ang="0">
                              <a:pos x="T40" y="T41"/>
                            </a:cxn>
                            <a:cxn ang="0">
                              <a:pos x="T42" y="T43"/>
                            </a:cxn>
                            <a:cxn ang="0">
                              <a:pos x="T44" y="T45"/>
                            </a:cxn>
                            <a:cxn ang="0">
                              <a:pos x="T46" y="T47"/>
                            </a:cxn>
                            <a:cxn ang="0">
                              <a:pos x="T48" y="T49"/>
                            </a:cxn>
                            <a:cxn ang="0">
                              <a:pos x="T50" y="T51"/>
                            </a:cxn>
                          </a:cxnLst>
                          <a:rect l="0" t="0" r="r" b="b"/>
                          <a:pathLst>
                            <a:path w="484" h="1845">
                              <a:moveTo>
                                <a:pt x="12" y="0"/>
                              </a:moveTo>
                              <a:lnTo>
                                <a:pt x="24" y="12"/>
                              </a:lnTo>
                              <a:lnTo>
                                <a:pt x="48" y="53"/>
                              </a:lnTo>
                              <a:lnTo>
                                <a:pt x="330" y="160"/>
                              </a:lnTo>
                              <a:lnTo>
                                <a:pt x="357" y="170"/>
                              </a:lnTo>
                              <a:lnTo>
                                <a:pt x="381" y="185"/>
                              </a:lnTo>
                              <a:lnTo>
                                <a:pt x="396" y="198"/>
                              </a:lnTo>
                              <a:lnTo>
                                <a:pt x="409" y="217"/>
                              </a:lnTo>
                              <a:lnTo>
                                <a:pt x="418" y="243"/>
                              </a:lnTo>
                              <a:lnTo>
                                <a:pt x="427" y="301"/>
                              </a:lnTo>
                              <a:lnTo>
                                <a:pt x="434" y="420"/>
                              </a:lnTo>
                              <a:lnTo>
                                <a:pt x="448" y="1102"/>
                              </a:lnTo>
                              <a:lnTo>
                                <a:pt x="484" y="1630"/>
                              </a:lnTo>
                              <a:lnTo>
                                <a:pt x="377" y="1667"/>
                              </a:lnTo>
                              <a:lnTo>
                                <a:pt x="384" y="1734"/>
                              </a:lnTo>
                              <a:lnTo>
                                <a:pt x="297" y="1786"/>
                              </a:lnTo>
                              <a:lnTo>
                                <a:pt x="196" y="1823"/>
                              </a:lnTo>
                              <a:lnTo>
                                <a:pt x="87" y="1845"/>
                              </a:lnTo>
                              <a:lnTo>
                                <a:pt x="30" y="1845"/>
                              </a:lnTo>
                              <a:lnTo>
                                <a:pt x="59" y="1221"/>
                              </a:lnTo>
                              <a:lnTo>
                                <a:pt x="73" y="889"/>
                              </a:lnTo>
                              <a:lnTo>
                                <a:pt x="73" y="628"/>
                              </a:lnTo>
                              <a:lnTo>
                                <a:pt x="41" y="303"/>
                              </a:lnTo>
                              <a:lnTo>
                                <a:pt x="17" y="109"/>
                              </a:lnTo>
                              <a:lnTo>
                                <a:pt x="0" y="17"/>
                              </a:lnTo>
                              <a:lnTo>
                                <a:pt x="12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7F7F7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  <p:sp>
                      <p:nvSpPr>
                        <p:cNvPr id="439" name="Freeform 220"/>
                        <p:cNvSpPr/>
                        <p:nvPr/>
                      </p:nvSpPr>
                      <p:spPr bwMode="auto">
                        <a:xfrm>
                          <a:off x="4986" y="2302"/>
                          <a:ext cx="101" cy="379"/>
                        </a:xfrm>
                        <a:custGeom>
                          <a:avLst/>
                          <a:gdLst>
                            <a:gd name="T0" fmla="*/ 485 w 607"/>
                            <a:gd name="T1" fmla="*/ 0 h 1899"/>
                            <a:gd name="T2" fmla="*/ 429 w 607"/>
                            <a:gd name="T3" fmla="*/ 51 h 1899"/>
                            <a:gd name="T4" fmla="*/ 401 w 607"/>
                            <a:gd name="T5" fmla="*/ 73 h 1899"/>
                            <a:gd name="T6" fmla="*/ 353 w 607"/>
                            <a:gd name="T7" fmla="*/ 95 h 1899"/>
                            <a:gd name="T8" fmla="*/ 251 w 607"/>
                            <a:gd name="T9" fmla="*/ 147 h 1899"/>
                            <a:gd name="T10" fmla="*/ 98 w 607"/>
                            <a:gd name="T11" fmla="*/ 231 h 1899"/>
                            <a:gd name="T12" fmla="*/ 62 w 607"/>
                            <a:gd name="T13" fmla="*/ 247 h 1899"/>
                            <a:gd name="T14" fmla="*/ 55 w 607"/>
                            <a:gd name="T15" fmla="*/ 272 h 1899"/>
                            <a:gd name="T16" fmla="*/ 50 w 607"/>
                            <a:gd name="T17" fmla="*/ 333 h 1899"/>
                            <a:gd name="T18" fmla="*/ 43 w 607"/>
                            <a:gd name="T19" fmla="*/ 504 h 1899"/>
                            <a:gd name="T20" fmla="*/ 14 w 607"/>
                            <a:gd name="T21" fmla="*/ 696 h 1899"/>
                            <a:gd name="T22" fmla="*/ 0 w 607"/>
                            <a:gd name="T23" fmla="*/ 852 h 1899"/>
                            <a:gd name="T24" fmla="*/ 14 w 607"/>
                            <a:gd name="T25" fmla="*/ 972 h 1899"/>
                            <a:gd name="T26" fmla="*/ 50 w 607"/>
                            <a:gd name="T27" fmla="*/ 1068 h 1899"/>
                            <a:gd name="T28" fmla="*/ 179 w 607"/>
                            <a:gd name="T29" fmla="*/ 1215 h 1899"/>
                            <a:gd name="T30" fmla="*/ 193 w 607"/>
                            <a:gd name="T31" fmla="*/ 1706 h 1899"/>
                            <a:gd name="T32" fmla="*/ 265 w 607"/>
                            <a:gd name="T33" fmla="*/ 1802 h 1899"/>
                            <a:gd name="T34" fmla="*/ 365 w 607"/>
                            <a:gd name="T35" fmla="*/ 1869 h 1899"/>
                            <a:gd name="T36" fmla="*/ 470 w 607"/>
                            <a:gd name="T37" fmla="*/ 1899 h 1899"/>
                            <a:gd name="T38" fmla="*/ 607 w 607"/>
                            <a:gd name="T39" fmla="*/ 1899 h 1899"/>
                            <a:gd name="T40" fmla="*/ 607 w 607"/>
                            <a:gd name="T41" fmla="*/ 1334 h 1899"/>
                            <a:gd name="T42" fmla="*/ 589 w 607"/>
                            <a:gd name="T43" fmla="*/ 1090 h 1899"/>
                            <a:gd name="T44" fmla="*/ 542 w 607"/>
                            <a:gd name="T45" fmla="*/ 586 h 1899"/>
                            <a:gd name="T46" fmla="*/ 523 w 607"/>
                            <a:gd name="T47" fmla="*/ 355 h 1899"/>
                            <a:gd name="T48" fmla="*/ 516 w 607"/>
                            <a:gd name="T49" fmla="*/ 300 h 1899"/>
                            <a:gd name="T50" fmla="*/ 506 w 607"/>
                            <a:gd name="T51" fmla="*/ 247 h 1899"/>
                            <a:gd name="T52" fmla="*/ 487 w 607"/>
                            <a:gd name="T53" fmla="*/ 146 h 1899"/>
                            <a:gd name="T54" fmla="*/ 479 w 607"/>
                            <a:gd name="T55" fmla="*/ 101 h 1899"/>
                            <a:gd name="T56" fmla="*/ 478 w 607"/>
                            <a:gd name="T57" fmla="*/ 75 h 1899"/>
                            <a:gd name="T58" fmla="*/ 478 w 607"/>
                            <a:gd name="T59" fmla="*/ 43 h 1899"/>
                            <a:gd name="T60" fmla="*/ 485 w 607"/>
                            <a:gd name="T61" fmla="*/ 0 h 1899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  <a:cxn ang="0">
                              <a:pos x="T30" y="T31"/>
                            </a:cxn>
                            <a:cxn ang="0">
                              <a:pos x="T32" y="T33"/>
                            </a:cxn>
                            <a:cxn ang="0">
                              <a:pos x="T34" y="T35"/>
                            </a:cxn>
                            <a:cxn ang="0">
                              <a:pos x="T36" y="T37"/>
                            </a:cxn>
                            <a:cxn ang="0">
                              <a:pos x="T38" y="T39"/>
                            </a:cxn>
                            <a:cxn ang="0">
                              <a:pos x="T40" y="T41"/>
                            </a:cxn>
                            <a:cxn ang="0">
                              <a:pos x="T42" y="T43"/>
                            </a:cxn>
                            <a:cxn ang="0">
                              <a:pos x="T44" y="T45"/>
                            </a:cxn>
                            <a:cxn ang="0">
                              <a:pos x="T46" y="T47"/>
                            </a:cxn>
                            <a:cxn ang="0">
                              <a:pos x="T48" y="T49"/>
                            </a:cxn>
                            <a:cxn ang="0">
                              <a:pos x="T50" y="T51"/>
                            </a:cxn>
                            <a:cxn ang="0">
                              <a:pos x="T52" y="T53"/>
                            </a:cxn>
                            <a:cxn ang="0">
                              <a:pos x="T54" y="T55"/>
                            </a:cxn>
                            <a:cxn ang="0">
                              <a:pos x="T56" y="T57"/>
                            </a:cxn>
                            <a:cxn ang="0">
                              <a:pos x="T58" y="T59"/>
                            </a:cxn>
                            <a:cxn ang="0">
                              <a:pos x="T60" y="T61"/>
                            </a:cxn>
                          </a:cxnLst>
                          <a:rect l="0" t="0" r="r" b="b"/>
                          <a:pathLst>
                            <a:path w="607" h="1899">
                              <a:moveTo>
                                <a:pt x="485" y="0"/>
                              </a:moveTo>
                              <a:lnTo>
                                <a:pt x="429" y="51"/>
                              </a:lnTo>
                              <a:lnTo>
                                <a:pt x="401" y="73"/>
                              </a:lnTo>
                              <a:lnTo>
                                <a:pt x="353" y="95"/>
                              </a:lnTo>
                              <a:lnTo>
                                <a:pt x="251" y="147"/>
                              </a:lnTo>
                              <a:lnTo>
                                <a:pt x="98" y="231"/>
                              </a:lnTo>
                              <a:lnTo>
                                <a:pt x="62" y="247"/>
                              </a:lnTo>
                              <a:lnTo>
                                <a:pt x="55" y="272"/>
                              </a:lnTo>
                              <a:lnTo>
                                <a:pt x="50" y="333"/>
                              </a:lnTo>
                              <a:lnTo>
                                <a:pt x="43" y="504"/>
                              </a:lnTo>
                              <a:lnTo>
                                <a:pt x="14" y="696"/>
                              </a:lnTo>
                              <a:lnTo>
                                <a:pt x="0" y="852"/>
                              </a:lnTo>
                              <a:lnTo>
                                <a:pt x="14" y="972"/>
                              </a:lnTo>
                              <a:lnTo>
                                <a:pt x="50" y="1068"/>
                              </a:lnTo>
                              <a:lnTo>
                                <a:pt x="179" y="1215"/>
                              </a:lnTo>
                              <a:lnTo>
                                <a:pt x="193" y="1706"/>
                              </a:lnTo>
                              <a:lnTo>
                                <a:pt x="265" y="1802"/>
                              </a:lnTo>
                              <a:lnTo>
                                <a:pt x="365" y="1869"/>
                              </a:lnTo>
                              <a:lnTo>
                                <a:pt x="470" y="1899"/>
                              </a:lnTo>
                              <a:lnTo>
                                <a:pt x="607" y="1899"/>
                              </a:lnTo>
                              <a:lnTo>
                                <a:pt x="607" y="1334"/>
                              </a:lnTo>
                              <a:lnTo>
                                <a:pt x="589" y="1090"/>
                              </a:lnTo>
                              <a:lnTo>
                                <a:pt x="542" y="586"/>
                              </a:lnTo>
                              <a:lnTo>
                                <a:pt x="523" y="355"/>
                              </a:lnTo>
                              <a:lnTo>
                                <a:pt x="516" y="300"/>
                              </a:lnTo>
                              <a:lnTo>
                                <a:pt x="506" y="247"/>
                              </a:lnTo>
                              <a:lnTo>
                                <a:pt x="487" y="146"/>
                              </a:lnTo>
                              <a:lnTo>
                                <a:pt x="479" y="101"/>
                              </a:lnTo>
                              <a:lnTo>
                                <a:pt x="478" y="75"/>
                              </a:lnTo>
                              <a:lnTo>
                                <a:pt x="478" y="43"/>
                              </a:lnTo>
                              <a:lnTo>
                                <a:pt x="485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7F7F7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</p:grpSp>
                  <p:grpSp>
                    <p:nvGrpSpPr>
                      <p:cNvPr id="432" name="Group 221"/>
                      <p:cNvGrpSpPr/>
                      <p:nvPr/>
                    </p:nvGrpSpPr>
                    <p:grpSpPr bwMode="auto">
                      <a:xfrm>
                        <a:off x="5042" y="2323"/>
                        <a:ext cx="115" cy="261"/>
                        <a:chOff x="5042" y="2323"/>
                        <a:chExt cx="115" cy="261"/>
                      </a:xfrm>
                    </p:grpSpPr>
                    <p:sp>
                      <p:nvSpPr>
                        <p:cNvPr id="436" name="Freeform 222"/>
                        <p:cNvSpPr/>
                        <p:nvPr/>
                      </p:nvSpPr>
                      <p:spPr bwMode="auto">
                        <a:xfrm>
                          <a:off x="5042" y="2332"/>
                          <a:ext cx="32" cy="202"/>
                        </a:xfrm>
                        <a:custGeom>
                          <a:avLst/>
                          <a:gdLst>
                            <a:gd name="T0" fmla="*/ 84 w 196"/>
                            <a:gd name="T1" fmla="*/ 0 h 1010"/>
                            <a:gd name="T2" fmla="*/ 36 w 196"/>
                            <a:gd name="T3" fmla="*/ 200 h 1010"/>
                            <a:gd name="T4" fmla="*/ 137 w 196"/>
                            <a:gd name="T5" fmla="*/ 260 h 1010"/>
                            <a:gd name="T6" fmla="*/ 25 w 196"/>
                            <a:gd name="T7" fmla="*/ 331 h 1010"/>
                            <a:gd name="T8" fmla="*/ 196 w 196"/>
                            <a:gd name="T9" fmla="*/ 1010 h 1010"/>
                            <a:gd name="T10" fmla="*/ 0 w 196"/>
                            <a:gd name="T11" fmla="*/ 327 h 1010"/>
                            <a:gd name="T12" fmla="*/ 127 w 196"/>
                            <a:gd name="T13" fmla="*/ 260 h 1010"/>
                            <a:gd name="T14" fmla="*/ 21 w 196"/>
                            <a:gd name="T15" fmla="*/ 218 h 1010"/>
                            <a:gd name="T16" fmla="*/ 84 w 196"/>
                            <a:gd name="T17" fmla="*/ 0 h 1010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</a:cxnLst>
                          <a:rect l="0" t="0" r="r" b="b"/>
                          <a:pathLst>
                            <a:path w="196" h="1010">
                              <a:moveTo>
                                <a:pt x="84" y="0"/>
                              </a:moveTo>
                              <a:lnTo>
                                <a:pt x="36" y="200"/>
                              </a:lnTo>
                              <a:lnTo>
                                <a:pt x="137" y="260"/>
                              </a:lnTo>
                              <a:lnTo>
                                <a:pt x="25" y="331"/>
                              </a:lnTo>
                              <a:lnTo>
                                <a:pt x="196" y="1010"/>
                              </a:lnTo>
                              <a:lnTo>
                                <a:pt x="0" y="327"/>
                              </a:lnTo>
                              <a:lnTo>
                                <a:pt x="127" y="260"/>
                              </a:lnTo>
                              <a:lnTo>
                                <a:pt x="21" y="218"/>
                              </a:lnTo>
                              <a:lnTo>
                                <a:pt x="84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F3F3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  <p:sp>
                      <p:nvSpPr>
                        <p:cNvPr id="437" name="Freeform 223"/>
                        <p:cNvSpPr/>
                        <p:nvPr/>
                      </p:nvSpPr>
                      <p:spPr bwMode="auto">
                        <a:xfrm>
                          <a:off x="5133" y="2323"/>
                          <a:ext cx="24" cy="261"/>
                        </a:xfrm>
                        <a:custGeom>
                          <a:avLst/>
                          <a:gdLst>
                            <a:gd name="T0" fmla="*/ 0 w 142"/>
                            <a:gd name="T1" fmla="*/ 0 h 1303"/>
                            <a:gd name="T2" fmla="*/ 128 w 142"/>
                            <a:gd name="T3" fmla="*/ 211 h 1303"/>
                            <a:gd name="T4" fmla="*/ 55 w 142"/>
                            <a:gd name="T5" fmla="*/ 252 h 1303"/>
                            <a:gd name="T6" fmla="*/ 142 w 142"/>
                            <a:gd name="T7" fmla="*/ 304 h 1303"/>
                            <a:gd name="T8" fmla="*/ 80 w 142"/>
                            <a:gd name="T9" fmla="*/ 1303 h 1303"/>
                            <a:gd name="T10" fmla="*/ 124 w 142"/>
                            <a:gd name="T11" fmla="*/ 296 h 1303"/>
                            <a:gd name="T12" fmla="*/ 44 w 142"/>
                            <a:gd name="T13" fmla="*/ 248 h 1303"/>
                            <a:gd name="T14" fmla="*/ 105 w 142"/>
                            <a:gd name="T15" fmla="*/ 200 h 1303"/>
                            <a:gd name="T16" fmla="*/ 0 w 142"/>
                            <a:gd name="T17" fmla="*/ 0 h 1303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</a:cxnLst>
                          <a:rect l="0" t="0" r="r" b="b"/>
                          <a:pathLst>
                            <a:path w="142" h="1303">
                              <a:moveTo>
                                <a:pt x="0" y="0"/>
                              </a:moveTo>
                              <a:lnTo>
                                <a:pt x="128" y="211"/>
                              </a:lnTo>
                              <a:lnTo>
                                <a:pt x="55" y="252"/>
                              </a:lnTo>
                              <a:lnTo>
                                <a:pt x="142" y="304"/>
                              </a:lnTo>
                              <a:lnTo>
                                <a:pt x="80" y="1303"/>
                              </a:lnTo>
                              <a:lnTo>
                                <a:pt x="124" y="296"/>
                              </a:lnTo>
                              <a:lnTo>
                                <a:pt x="44" y="248"/>
                              </a:lnTo>
                              <a:lnTo>
                                <a:pt x="105" y="200"/>
                              </a:lnTo>
                              <a:lnTo>
                                <a:pt x="0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F3F3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</p:grpSp>
                  <p:sp>
                    <p:nvSpPr>
                      <p:cNvPr id="433" name="Freeform 224"/>
                      <p:cNvSpPr/>
                      <p:nvPr/>
                    </p:nvSpPr>
                    <p:spPr bwMode="auto">
                      <a:xfrm>
                        <a:off x="4986" y="2349"/>
                        <a:ext cx="80" cy="197"/>
                      </a:xfrm>
                      <a:custGeom>
                        <a:avLst/>
                        <a:gdLst>
                          <a:gd name="T0" fmla="*/ 181 w 480"/>
                          <a:gd name="T1" fmla="*/ 42 h 985"/>
                          <a:gd name="T2" fmla="*/ 123 w 480"/>
                          <a:gd name="T3" fmla="*/ 19 h 985"/>
                          <a:gd name="T4" fmla="*/ 98 w 480"/>
                          <a:gd name="T5" fmla="*/ 0 h 985"/>
                          <a:gd name="T6" fmla="*/ 62 w 480"/>
                          <a:gd name="T7" fmla="*/ 16 h 985"/>
                          <a:gd name="T8" fmla="*/ 55 w 480"/>
                          <a:gd name="T9" fmla="*/ 40 h 985"/>
                          <a:gd name="T10" fmla="*/ 50 w 480"/>
                          <a:gd name="T11" fmla="*/ 101 h 985"/>
                          <a:gd name="T12" fmla="*/ 43 w 480"/>
                          <a:gd name="T13" fmla="*/ 273 h 985"/>
                          <a:gd name="T14" fmla="*/ 14 w 480"/>
                          <a:gd name="T15" fmla="*/ 464 h 985"/>
                          <a:gd name="T16" fmla="*/ 0 w 480"/>
                          <a:gd name="T17" fmla="*/ 620 h 985"/>
                          <a:gd name="T18" fmla="*/ 14 w 480"/>
                          <a:gd name="T19" fmla="*/ 741 h 985"/>
                          <a:gd name="T20" fmla="*/ 50 w 480"/>
                          <a:gd name="T21" fmla="*/ 838 h 985"/>
                          <a:gd name="T22" fmla="*/ 179 w 480"/>
                          <a:gd name="T23" fmla="*/ 985 h 985"/>
                          <a:gd name="T24" fmla="*/ 358 w 480"/>
                          <a:gd name="T25" fmla="*/ 948 h 985"/>
                          <a:gd name="T26" fmla="*/ 469 w 480"/>
                          <a:gd name="T27" fmla="*/ 919 h 985"/>
                          <a:gd name="T28" fmla="*/ 480 w 480"/>
                          <a:gd name="T29" fmla="*/ 886 h 985"/>
                          <a:gd name="T30" fmla="*/ 466 w 480"/>
                          <a:gd name="T31" fmla="*/ 861 h 985"/>
                          <a:gd name="T32" fmla="*/ 438 w 480"/>
                          <a:gd name="T33" fmla="*/ 830 h 985"/>
                          <a:gd name="T34" fmla="*/ 407 w 480"/>
                          <a:gd name="T35" fmla="*/ 793 h 985"/>
                          <a:gd name="T36" fmla="*/ 380 w 480"/>
                          <a:gd name="T37" fmla="*/ 764 h 985"/>
                          <a:gd name="T38" fmla="*/ 341 w 480"/>
                          <a:gd name="T39" fmla="*/ 724 h 985"/>
                          <a:gd name="T40" fmla="*/ 316 w 480"/>
                          <a:gd name="T41" fmla="*/ 688 h 985"/>
                          <a:gd name="T42" fmla="*/ 298 w 480"/>
                          <a:gd name="T43" fmla="*/ 656 h 985"/>
                          <a:gd name="T44" fmla="*/ 279 w 480"/>
                          <a:gd name="T45" fmla="*/ 608 h 985"/>
                          <a:gd name="T46" fmla="*/ 273 w 480"/>
                          <a:gd name="T47" fmla="*/ 584 h 985"/>
                          <a:gd name="T48" fmla="*/ 270 w 480"/>
                          <a:gd name="T49" fmla="*/ 560 h 985"/>
                          <a:gd name="T50" fmla="*/ 266 w 480"/>
                          <a:gd name="T51" fmla="*/ 535 h 985"/>
                          <a:gd name="T52" fmla="*/ 267 w 480"/>
                          <a:gd name="T53" fmla="*/ 455 h 985"/>
                          <a:gd name="T54" fmla="*/ 258 w 480"/>
                          <a:gd name="T55" fmla="*/ 306 h 985"/>
                          <a:gd name="T56" fmla="*/ 253 w 480"/>
                          <a:gd name="T57" fmla="*/ 159 h 985"/>
                          <a:gd name="T58" fmla="*/ 223 w 480"/>
                          <a:gd name="T59" fmla="*/ 63 h 985"/>
                          <a:gd name="T60" fmla="*/ 181 w 480"/>
                          <a:gd name="T61" fmla="*/ 42 h 985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</a:cxnLst>
                        <a:rect l="0" t="0" r="r" b="b"/>
                        <a:pathLst>
                          <a:path w="480" h="985">
                            <a:moveTo>
                              <a:pt x="181" y="42"/>
                            </a:moveTo>
                            <a:lnTo>
                              <a:pt x="123" y="19"/>
                            </a:lnTo>
                            <a:lnTo>
                              <a:pt x="98" y="0"/>
                            </a:lnTo>
                            <a:lnTo>
                              <a:pt x="62" y="16"/>
                            </a:lnTo>
                            <a:lnTo>
                              <a:pt x="55" y="40"/>
                            </a:lnTo>
                            <a:lnTo>
                              <a:pt x="50" y="101"/>
                            </a:lnTo>
                            <a:lnTo>
                              <a:pt x="43" y="273"/>
                            </a:lnTo>
                            <a:lnTo>
                              <a:pt x="14" y="464"/>
                            </a:lnTo>
                            <a:lnTo>
                              <a:pt x="0" y="620"/>
                            </a:lnTo>
                            <a:lnTo>
                              <a:pt x="14" y="741"/>
                            </a:lnTo>
                            <a:lnTo>
                              <a:pt x="50" y="838"/>
                            </a:lnTo>
                            <a:lnTo>
                              <a:pt x="179" y="985"/>
                            </a:lnTo>
                            <a:lnTo>
                              <a:pt x="358" y="948"/>
                            </a:lnTo>
                            <a:lnTo>
                              <a:pt x="469" y="919"/>
                            </a:lnTo>
                            <a:lnTo>
                              <a:pt x="480" y="886"/>
                            </a:lnTo>
                            <a:lnTo>
                              <a:pt x="466" y="861"/>
                            </a:lnTo>
                            <a:lnTo>
                              <a:pt x="438" y="830"/>
                            </a:lnTo>
                            <a:lnTo>
                              <a:pt x="407" y="793"/>
                            </a:lnTo>
                            <a:lnTo>
                              <a:pt x="380" y="764"/>
                            </a:lnTo>
                            <a:lnTo>
                              <a:pt x="341" y="724"/>
                            </a:lnTo>
                            <a:lnTo>
                              <a:pt x="316" y="688"/>
                            </a:lnTo>
                            <a:lnTo>
                              <a:pt x="298" y="656"/>
                            </a:lnTo>
                            <a:lnTo>
                              <a:pt x="279" y="608"/>
                            </a:lnTo>
                            <a:lnTo>
                              <a:pt x="273" y="584"/>
                            </a:lnTo>
                            <a:lnTo>
                              <a:pt x="270" y="560"/>
                            </a:lnTo>
                            <a:lnTo>
                              <a:pt x="266" y="535"/>
                            </a:lnTo>
                            <a:lnTo>
                              <a:pt x="267" y="455"/>
                            </a:lnTo>
                            <a:lnTo>
                              <a:pt x="258" y="306"/>
                            </a:lnTo>
                            <a:lnTo>
                              <a:pt x="253" y="159"/>
                            </a:lnTo>
                            <a:lnTo>
                              <a:pt x="223" y="63"/>
                            </a:lnTo>
                            <a:lnTo>
                              <a:pt x="181" y="42"/>
                            </a:lnTo>
                            <a:close/>
                          </a:path>
                        </a:pathLst>
                      </a:custGeom>
                      <a:solidFill>
                        <a:srgbClr val="5F5F5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434" name="Freeform 225"/>
                      <p:cNvSpPr/>
                      <p:nvPr/>
                    </p:nvSpPr>
                    <p:spPr bwMode="auto">
                      <a:xfrm>
                        <a:off x="4994" y="2392"/>
                        <a:ext cx="47" cy="101"/>
                      </a:xfrm>
                      <a:custGeom>
                        <a:avLst/>
                        <a:gdLst>
                          <a:gd name="T0" fmla="*/ 2 w 281"/>
                          <a:gd name="T1" fmla="*/ 508 h 508"/>
                          <a:gd name="T2" fmla="*/ 0 w 281"/>
                          <a:gd name="T3" fmla="*/ 458 h 508"/>
                          <a:gd name="T4" fmla="*/ 5 w 281"/>
                          <a:gd name="T5" fmla="*/ 428 h 508"/>
                          <a:gd name="T6" fmla="*/ 11 w 281"/>
                          <a:gd name="T7" fmla="*/ 393 h 508"/>
                          <a:gd name="T8" fmla="*/ 20 w 281"/>
                          <a:gd name="T9" fmla="*/ 371 h 508"/>
                          <a:gd name="T10" fmla="*/ 35 w 281"/>
                          <a:gd name="T11" fmla="*/ 348 h 508"/>
                          <a:gd name="T12" fmla="*/ 54 w 281"/>
                          <a:gd name="T13" fmla="*/ 332 h 508"/>
                          <a:gd name="T14" fmla="*/ 89 w 281"/>
                          <a:gd name="T15" fmla="*/ 315 h 508"/>
                          <a:gd name="T16" fmla="*/ 113 w 281"/>
                          <a:gd name="T17" fmla="*/ 312 h 508"/>
                          <a:gd name="T18" fmla="*/ 137 w 281"/>
                          <a:gd name="T19" fmla="*/ 308 h 508"/>
                          <a:gd name="T20" fmla="*/ 163 w 281"/>
                          <a:gd name="T21" fmla="*/ 312 h 508"/>
                          <a:gd name="T22" fmla="*/ 201 w 281"/>
                          <a:gd name="T23" fmla="*/ 322 h 508"/>
                          <a:gd name="T24" fmla="*/ 202 w 281"/>
                          <a:gd name="T25" fmla="*/ 0 h 508"/>
                          <a:gd name="T26" fmla="*/ 220 w 281"/>
                          <a:gd name="T27" fmla="*/ 286 h 508"/>
                          <a:gd name="T28" fmla="*/ 220 w 281"/>
                          <a:gd name="T29" fmla="*/ 330 h 508"/>
                          <a:gd name="T30" fmla="*/ 224 w 281"/>
                          <a:gd name="T31" fmla="*/ 366 h 508"/>
                          <a:gd name="T32" fmla="*/ 232 w 281"/>
                          <a:gd name="T33" fmla="*/ 395 h 508"/>
                          <a:gd name="T34" fmla="*/ 247 w 281"/>
                          <a:gd name="T35" fmla="*/ 435 h 508"/>
                          <a:gd name="T36" fmla="*/ 271 w 281"/>
                          <a:gd name="T37" fmla="*/ 481 h 508"/>
                          <a:gd name="T38" fmla="*/ 281 w 281"/>
                          <a:gd name="T39" fmla="*/ 502 h 508"/>
                          <a:gd name="T40" fmla="*/ 245 w 281"/>
                          <a:gd name="T41" fmla="*/ 458 h 508"/>
                          <a:gd name="T42" fmla="*/ 224 w 281"/>
                          <a:gd name="T43" fmla="*/ 428 h 508"/>
                          <a:gd name="T44" fmla="*/ 199 w 281"/>
                          <a:gd name="T45" fmla="*/ 393 h 508"/>
                          <a:gd name="T46" fmla="*/ 173 w 281"/>
                          <a:gd name="T47" fmla="*/ 375 h 508"/>
                          <a:gd name="T48" fmla="*/ 149 w 281"/>
                          <a:gd name="T49" fmla="*/ 369 h 508"/>
                          <a:gd name="T50" fmla="*/ 124 w 281"/>
                          <a:gd name="T51" fmla="*/ 366 h 508"/>
                          <a:gd name="T52" fmla="*/ 92 w 281"/>
                          <a:gd name="T53" fmla="*/ 375 h 508"/>
                          <a:gd name="T54" fmla="*/ 66 w 281"/>
                          <a:gd name="T55" fmla="*/ 393 h 508"/>
                          <a:gd name="T56" fmla="*/ 48 w 281"/>
                          <a:gd name="T57" fmla="*/ 419 h 508"/>
                          <a:gd name="T58" fmla="*/ 34 w 281"/>
                          <a:gd name="T59" fmla="*/ 448 h 508"/>
                          <a:gd name="T60" fmla="*/ 18 w 281"/>
                          <a:gd name="T61" fmla="*/ 472 h 508"/>
                          <a:gd name="T62" fmla="*/ 2 w 281"/>
                          <a:gd name="T63" fmla="*/ 508 h 508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</a:cxnLst>
                        <a:rect l="0" t="0" r="r" b="b"/>
                        <a:pathLst>
                          <a:path w="281" h="508">
                            <a:moveTo>
                              <a:pt x="2" y="508"/>
                            </a:moveTo>
                            <a:lnTo>
                              <a:pt x="0" y="458"/>
                            </a:lnTo>
                            <a:lnTo>
                              <a:pt x="5" y="428"/>
                            </a:lnTo>
                            <a:lnTo>
                              <a:pt x="11" y="393"/>
                            </a:lnTo>
                            <a:lnTo>
                              <a:pt x="20" y="371"/>
                            </a:lnTo>
                            <a:lnTo>
                              <a:pt x="35" y="348"/>
                            </a:lnTo>
                            <a:lnTo>
                              <a:pt x="54" y="332"/>
                            </a:lnTo>
                            <a:lnTo>
                              <a:pt x="89" y="315"/>
                            </a:lnTo>
                            <a:lnTo>
                              <a:pt x="113" y="312"/>
                            </a:lnTo>
                            <a:lnTo>
                              <a:pt x="137" y="308"/>
                            </a:lnTo>
                            <a:lnTo>
                              <a:pt x="163" y="312"/>
                            </a:lnTo>
                            <a:lnTo>
                              <a:pt x="201" y="322"/>
                            </a:lnTo>
                            <a:lnTo>
                              <a:pt x="202" y="0"/>
                            </a:lnTo>
                            <a:lnTo>
                              <a:pt x="220" y="286"/>
                            </a:lnTo>
                            <a:lnTo>
                              <a:pt x="220" y="330"/>
                            </a:lnTo>
                            <a:lnTo>
                              <a:pt x="224" y="366"/>
                            </a:lnTo>
                            <a:lnTo>
                              <a:pt x="232" y="395"/>
                            </a:lnTo>
                            <a:lnTo>
                              <a:pt x="247" y="435"/>
                            </a:lnTo>
                            <a:lnTo>
                              <a:pt x="271" y="481"/>
                            </a:lnTo>
                            <a:lnTo>
                              <a:pt x="281" y="502"/>
                            </a:lnTo>
                            <a:lnTo>
                              <a:pt x="245" y="458"/>
                            </a:lnTo>
                            <a:lnTo>
                              <a:pt x="224" y="428"/>
                            </a:lnTo>
                            <a:lnTo>
                              <a:pt x="199" y="393"/>
                            </a:lnTo>
                            <a:lnTo>
                              <a:pt x="173" y="375"/>
                            </a:lnTo>
                            <a:lnTo>
                              <a:pt x="149" y="369"/>
                            </a:lnTo>
                            <a:lnTo>
                              <a:pt x="124" y="366"/>
                            </a:lnTo>
                            <a:lnTo>
                              <a:pt x="92" y="375"/>
                            </a:lnTo>
                            <a:lnTo>
                              <a:pt x="66" y="393"/>
                            </a:lnTo>
                            <a:lnTo>
                              <a:pt x="48" y="419"/>
                            </a:lnTo>
                            <a:lnTo>
                              <a:pt x="34" y="448"/>
                            </a:lnTo>
                            <a:lnTo>
                              <a:pt x="18" y="472"/>
                            </a:lnTo>
                            <a:lnTo>
                              <a:pt x="2" y="508"/>
                            </a:lnTo>
                            <a:close/>
                          </a:path>
                        </a:pathLst>
                      </a:custGeom>
                      <a:solidFill>
                        <a:srgbClr val="3F3F3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435" name="Freeform 226"/>
                      <p:cNvSpPr/>
                      <p:nvPr/>
                    </p:nvSpPr>
                    <p:spPr bwMode="auto">
                      <a:xfrm>
                        <a:off x="5174" y="2348"/>
                        <a:ext cx="29" cy="296"/>
                      </a:xfrm>
                      <a:custGeom>
                        <a:avLst/>
                        <a:gdLst>
                          <a:gd name="T0" fmla="*/ 4 w 174"/>
                          <a:gd name="T1" fmla="*/ 57 h 1482"/>
                          <a:gd name="T2" fmla="*/ 32 w 174"/>
                          <a:gd name="T3" fmla="*/ 15 h 1482"/>
                          <a:gd name="T4" fmla="*/ 70 w 174"/>
                          <a:gd name="T5" fmla="*/ 0 h 1482"/>
                          <a:gd name="T6" fmla="*/ 84 w 174"/>
                          <a:gd name="T7" fmla="*/ 13 h 1482"/>
                          <a:gd name="T8" fmla="*/ 98 w 174"/>
                          <a:gd name="T9" fmla="*/ 32 h 1482"/>
                          <a:gd name="T10" fmla="*/ 107 w 174"/>
                          <a:gd name="T11" fmla="*/ 58 h 1482"/>
                          <a:gd name="T12" fmla="*/ 115 w 174"/>
                          <a:gd name="T13" fmla="*/ 116 h 1482"/>
                          <a:gd name="T14" fmla="*/ 123 w 174"/>
                          <a:gd name="T15" fmla="*/ 235 h 1482"/>
                          <a:gd name="T16" fmla="*/ 138 w 174"/>
                          <a:gd name="T17" fmla="*/ 917 h 1482"/>
                          <a:gd name="T18" fmla="*/ 174 w 174"/>
                          <a:gd name="T19" fmla="*/ 1445 h 1482"/>
                          <a:gd name="T20" fmla="*/ 65 w 174"/>
                          <a:gd name="T21" fmla="*/ 1482 h 1482"/>
                          <a:gd name="T22" fmla="*/ 44 w 174"/>
                          <a:gd name="T23" fmla="*/ 1371 h 1482"/>
                          <a:gd name="T24" fmla="*/ 14 w 174"/>
                          <a:gd name="T25" fmla="*/ 906 h 1482"/>
                          <a:gd name="T26" fmla="*/ 7 w 174"/>
                          <a:gd name="T27" fmla="*/ 283 h 1482"/>
                          <a:gd name="T28" fmla="*/ 0 w 174"/>
                          <a:gd name="T29" fmla="*/ 127 h 1482"/>
                          <a:gd name="T30" fmla="*/ 4 w 174"/>
                          <a:gd name="T31" fmla="*/ 57 h 1482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</a:cxnLst>
                        <a:rect l="0" t="0" r="r" b="b"/>
                        <a:pathLst>
                          <a:path w="174" h="1482">
                            <a:moveTo>
                              <a:pt x="4" y="57"/>
                            </a:moveTo>
                            <a:lnTo>
                              <a:pt x="32" y="15"/>
                            </a:lnTo>
                            <a:lnTo>
                              <a:pt x="70" y="0"/>
                            </a:lnTo>
                            <a:lnTo>
                              <a:pt x="84" y="13"/>
                            </a:lnTo>
                            <a:lnTo>
                              <a:pt x="98" y="32"/>
                            </a:lnTo>
                            <a:lnTo>
                              <a:pt x="107" y="58"/>
                            </a:lnTo>
                            <a:lnTo>
                              <a:pt x="115" y="116"/>
                            </a:lnTo>
                            <a:lnTo>
                              <a:pt x="123" y="235"/>
                            </a:lnTo>
                            <a:lnTo>
                              <a:pt x="138" y="917"/>
                            </a:lnTo>
                            <a:lnTo>
                              <a:pt x="174" y="1445"/>
                            </a:lnTo>
                            <a:lnTo>
                              <a:pt x="65" y="1482"/>
                            </a:lnTo>
                            <a:lnTo>
                              <a:pt x="44" y="1371"/>
                            </a:lnTo>
                            <a:lnTo>
                              <a:pt x="14" y="906"/>
                            </a:lnTo>
                            <a:lnTo>
                              <a:pt x="7" y="283"/>
                            </a:lnTo>
                            <a:lnTo>
                              <a:pt x="0" y="127"/>
                            </a:lnTo>
                            <a:lnTo>
                              <a:pt x="4" y="57"/>
                            </a:lnTo>
                            <a:close/>
                          </a:path>
                        </a:pathLst>
                      </a:custGeom>
                      <a:solidFill>
                        <a:srgbClr val="5F5F5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</p:grpSp>
            </p:grpSp>
            <p:grpSp>
              <p:nvGrpSpPr>
                <p:cNvPr id="388" name="Group 227"/>
                <p:cNvGrpSpPr/>
                <p:nvPr/>
              </p:nvGrpSpPr>
              <p:grpSpPr bwMode="auto">
                <a:xfrm>
                  <a:off x="5060" y="2206"/>
                  <a:ext cx="84" cy="138"/>
                  <a:chOff x="5060" y="2206"/>
                  <a:chExt cx="84" cy="138"/>
                </a:xfrm>
              </p:grpSpPr>
              <p:sp>
                <p:nvSpPr>
                  <p:cNvPr id="389" name="Freeform 228"/>
                  <p:cNvSpPr/>
                  <p:nvPr/>
                </p:nvSpPr>
                <p:spPr bwMode="auto">
                  <a:xfrm>
                    <a:off x="5060" y="2207"/>
                    <a:ext cx="80" cy="137"/>
                  </a:xfrm>
                  <a:custGeom>
                    <a:avLst/>
                    <a:gdLst>
                      <a:gd name="T0" fmla="*/ 26 w 481"/>
                      <a:gd name="T1" fmla="*/ 244 h 683"/>
                      <a:gd name="T2" fmla="*/ 6 w 481"/>
                      <a:gd name="T3" fmla="*/ 257 h 683"/>
                      <a:gd name="T4" fmla="*/ 0 w 481"/>
                      <a:gd name="T5" fmla="*/ 272 h 683"/>
                      <a:gd name="T6" fmla="*/ 2 w 481"/>
                      <a:gd name="T7" fmla="*/ 285 h 683"/>
                      <a:gd name="T8" fmla="*/ 7 w 481"/>
                      <a:gd name="T9" fmla="*/ 320 h 683"/>
                      <a:gd name="T10" fmla="*/ 17 w 481"/>
                      <a:gd name="T11" fmla="*/ 352 h 683"/>
                      <a:gd name="T12" fmla="*/ 27 w 481"/>
                      <a:gd name="T13" fmla="*/ 379 h 683"/>
                      <a:gd name="T14" fmla="*/ 27 w 481"/>
                      <a:gd name="T15" fmla="*/ 400 h 683"/>
                      <a:gd name="T16" fmla="*/ 34 w 481"/>
                      <a:gd name="T17" fmla="*/ 416 h 683"/>
                      <a:gd name="T18" fmla="*/ 46 w 481"/>
                      <a:gd name="T19" fmla="*/ 424 h 683"/>
                      <a:gd name="T20" fmla="*/ 50 w 481"/>
                      <a:gd name="T21" fmla="*/ 427 h 683"/>
                      <a:gd name="T22" fmla="*/ 38 w 481"/>
                      <a:gd name="T23" fmla="*/ 494 h 683"/>
                      <a:gd name="T24" fmla="*/ 60 w 481"/>
                      <a:gd name="T25" fmla="*/ 540 h 683"/>
                      <a:gd name="T26" fmla="*/ 85 w 481"/>
                      <a:gd name="T27" fmla="*/ 576 h 683"/>
                      <a:gd name="T28" fmla="*/ 125 w 481"/>
                      <a:gd name="T29" fmla="*/ 614 h 683"/>
                      <a:gd name="T30" fmla="*/ 179 w 481"/>
                      <a:gd name="T31" fmla="*/ 662 h 683"/>
                      <a:gd name="T32" fmla="*/ 236 w 481"/>
                      <a:gd name="T33" fmla="*/ 681 h 683"/>
                      <a:gd name="T34" fmla="*/ 290 w 481"/>
                      <a:gd name="T35" fmla="*/ 683 h 683"/>
                      <a:gd name="T36" fmla="*/ 328 w 481"/>
                      <a:gd name="T37" fmla="*/ 659 h 683"/>
                      <a:gd name="T38" fmla="*/ 362 w 481"/>
                      <a:gd name="T39" fmla="*/ 613 h 683"/>
                      <a:gd name="T40" fmla="*/ 377 w 481"/>
                      <a:gd name="T41" fmla="*/ 576 h 683"/>
                      <a:gd name="T42" fmla="*/ 381 w 481"/>
                      <a:gd name="T43" fmla="*/ 542 h 683"/>
                      <a:gd name="T44" fmla="*/ 403 w 481"/>
                      <a:gd name="T45" fmla="*/ 505 h 683"/>
                      <a:gd name="T46" fmla="*/ 411 w 481"/>
                      <a:gd name="T47" fmla="*/ 489 h 683"/>
                      <a:gd name="T48" fmla="*/ 416 w 481"/>
                      <a:gd name="T49" fmla="*/ 472 h 683"/>
                      <a:gd name="T50" fmla="*/ 428 w 481"/>
                      <a:gd name="T51" fmla="*/ 436 h 683"/>
                      <a:gd name="T52" fmla="*/ 438 w 481"/>
                      <a:gd name="T53" fmla="*/ 398 h 683"/>
                      <a:gd name="T54" fmla="*/ 446 w 481"/>
                      <a:gd name="T55" fmla="*/ 372 h 683"/>
                      <a:gd name="T56" fmla="*/ 456 w 481"/>
                      <a:gd name="T57" fmla="*/ 345 h 683"/>
                      <a:gd name="T58" fmla="*/ 465 w 481"/>
                      <a:gd name="T59" fmla="*/ 309 h 683"/>
                      <a:gd name="T60" fmla="*/ 478 w 481"/>
                      <a:gd name="T61" fmla="*/ 230 h 683"/>
                      <a:gd name="T62" fmla="*/ 481 w 481"/>
                      <a:gd name="T63" fmla="*/ 184 h 683"/>
                      <a:gd name="T64" fmla="*/ 474 w 481"/>
                      <a:gd name="T65" fmla="*/ 144 h 683"/>
                      <a:gd name="T66" fmla="*/ 460 w 481"/>
                      <a:gd name="T67" fmla="*/ 109 h 683"/>
                      <a:gd name="T68" fmla="*/ 437 w 481"/>
                      <a:gd name="T69" fmla="*/ 74 h 683"/>
                      <a:gd name="T70" fmla="*/ 420 w 481"/>
                      <a:gd name="T71" fmla="*/ 58 h 683"/>
                      <a:gd name="T72" fmla="*/ 408 w 481"/>
                      <a:gd name="T73" fmla="*/ 48 h 683"/>
                      <a:gd name="T74" fmla="*/ 376 w 481"/>
                      <a:gd name="T75" fmla="*/ 26 h 683"/>
                      <a:gd name="T76" fmla="*/ 344 w 481"/>
                      <a:gd name="T77" fmla="*/ 11 h 683"/>
                      <a:gd name="T78" fmla="*/ 308 w 481"/>
                      <a:gd name="T79" fmla="*/ 3 h 683"/>
                      <a:gd name="T80" fmla="*/ 279 w 481"/>
                      <a:gd name="T81" fmla="*/ 0 h 683"/>
                      <a:gd name="T82" fmla="*/ 235 w 481"/>
                      <a:gd name="T83" fmla="*/ 1 h 683"/>
                      <a:gd name="T84" fmla="*/ 189 w 481"/>
                      <a:gd name="T85" fmla="*/ 12 h 683"/>
                      <a:gd name="T86" fmla="*/ 155 w 481"/>
                      <a:gd name="T87" fmla="*/ 26 h 683"/>
                      <a:gd name="T88" fmla="*/ 126 w 481"/>
                      <a:gd name="T89" fmla="*/ 45 h 683"/>
                      <a:gd name="T90" fmla="*/ 104 w 481"/>
                      <a:gd name="T91" fmla="*/ 63 h 683"/>
                      <a:gd name="T92" fmla="*/ 85 w 481"/>
                      <a:gd name="T93" fmla="*/ 89 h 683"/>
                      <a:gd name="T94" fmla="*/ 68 w 481"/>
                      <a:gd name="T95" fmla="*/ 116 h 683"/>
                      <a:gd name="T96" fmla="*/ 50 w 481"/>
                      <a:gd name="T97" fmla="*/ 149 h 683"/>
                      <a:gd name="T98" fmla="*/ 42 w 481"/>
                      <a:gd name="T99" fmla="*/ 174 h 683"/>
                      <a:gd name="T100" fmla="*/ 33 w 481"/>
                      <a:gd name="T101" fmla="*/ 207 h 683"/>
                      <a:gd name="T102" fmla="*/ 26 w 481"/>
                      <a:gd name="T103" fmla="*/ 244 h 68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</a:cxnLst>
                    <a:rect l="0" t="0" r="r" b="b"/>
                    <a:pathLst>
                      <a:path w="481" h="683">
                        <a:moveTo>
                          <a:pt x="26" y="244"/>
                        </a:moveTo>
                        <a:lnTo>
                          <a:pt x="6" y="257"/>
                        </a:lnTo>
                        <a:lnTo>
                          <a:pt x="0" y="272"/>
                        </a:lnTo>
                        <a:lnTo>
                          <a:pt x="2" y="285"/>
                        </a:lnTo>
                        <a:lnTo>
                          <a:pt x="7" y="320"/>
                        </a:lnTo>
                        <a:lnTo>
                          <a:pt x="17" y="352"/>
                        </a:lnTo>
                        <a:lnTo>
                          <a:pt x="27" y="379"/>
                        </a:lnTo>
                        <a:lnTo>
                          <a:pt x="27" y="400"/>
                        </a:lnTo>
                        <a:lnTo>
                          <a:pt x="34" y="416"/>
                        </a:lnTo>
                        <a:lnTo>
                          <a:pt x="46" y="424"/>
                        </a:lnTo>
                        <a:lnTo>
                          <a:pt x="50" y="427"/>
                        </a:lnTo>
                        <a:lnTo>
                          <a:pt x="38" y="494"/>
                        </a:lnTo>
                        <a:lnTo>
                          <a:pt x="60" y="540"/>
                        </a:lnTo>
                        <a:lnTo>
                          <a:pt x="85" y="576"/>
                        </a:lnTo>
                        <a:lnTo>
                          <a:pt x="125" y="614"/>
                        </a:lnTo>
                        <a:lnTo>
                          <a:pt x="179" y="662"/>
                        </a:lnTo>
                        <a:lnTo>
                          <a:pt x="236" y="681"/>
                        </a:lnTo>
                        <a:lnTo>
                          <a:pt x="290" y="683"/>
                        </a:lnTo>
                        <a:lnTo>
                          <a:pt x="328" y="659"/>
                        </a:lnTo>
                        <a:lnTo>
                          <a:pt x="362" y="613"/>
                        </a:lnTo>
                        <a:lnTo>
                          <a:pt x="377" y="576"/>
                        </a:lnTo>
                        <a:lnTo>
                          <a:pt x="381" y="542"/>
                        </a:lnTo>
                        <a:lnTo>
                          <a:pt x="403" y="505"/>
                        </a:lnTo>
                        <a:lnTo>
                          <a:pt x="411" y="489"/>
                        </a:lnTo>
                        <a:lnTo>
                          <a:pt x="416" y="472"/>
                        </a:lnTo>
                        <a:lnTo>
                          <a:pt x="428" y="436"/>
                        </a:lnTo>
                        <a:lnTo>
                          <a:pt x="438" y="398"/>
                        </a:lnTo>
                        <a:lnTo>
                          <a:pt x="446" y="372"/>
                        </a:lnTo>
                        <a:lnTo>
                          <a:pt x="456" y="345"/>
                        </a:lnTo>
                        <a:lnTo>
                          <a:pt x="465" y="309"/>
                        </a:lnTo>
                        <a:lnTo>
                          <a:pt x="478" y="230"/>
                        </a:lnTo>
                        <a:lnTo>
                          <a:pt x="481" y="184"/>
                        </a:lnTo>
                        <a:lnTo>
                          <a:pt x="474" y="144"/>
                        </a:lnTo>
                        <a:lnTo>
                          <a:pt x="460" y="109"/>
                        </a:lnTo>
                        <a:lnTo>
                          <a:pt x="437" y="74"/>
                        </a:lnTo>
                        <a:lnTo>
                          <a:pt x="420" y="58"/>
                        </a:lnTo>
                        <a:lnTo>
                          <a:pt x="408" y="48"/>
                        </a:lnTo>
                        <a:lnTo>
                          <a:pt x="376" y="26"/>
                        </a:lnTo>
                        <a:lnTo>
                          <a:pt x="344" y="11"/>
                        </a:lnTo>
                        <a:lnTo>
                          <a:pt x="308" y="3"/>
                        </a:lnTo>
                        <a:lnTo>
                          <a:pt x="279" y="0"/>
                        </a:lnTo>
                        <a:lnTo>
                          <a:pt x="235" y="1"/>
                        </a:lnTo>
                        <a:lnTo>
                          <a:pt x="189" y="12"/>
                        </a:lnTo>
                        <a:lnTo>
                          <a:pt x="155" y="26"/>
                        </a:lnTo>
                        <a:lnTo>
                          <a:pt x="126" y="45"/>
                        </a:lnTo>
                        <a:lnTo>
                          <a:pt x="104" y="63"/>
                        </a:lnTo>
                        <a:lnTo>
                          <a:pt x="85" y="89"/>
                        </a:lnTo>
                        <a:lnTo>
                          <a:pt x="68" y="116"/>
                        </a:lnTo>
                        <a:lnTo>
                          <a:pt x="50" y="149"/>
                        </a:lnTo>
                        <a:lnTo>
                          <a:pt x="42" y="174"/>
                        </a:lnTo>
                        <a:lnTo>
                          <a:pt x="33" y="207"/>
                        </a:lnTo>
                        <a:lnTo>
                          <a:pt x="26" y="244"/>
                        </a:lnTo>
                        <a:close/>
                      </a:path>
                    </a:pathLst>
                  </a:custGeom>
                  <a:solidFill>
                    <a:srgbClr val="FF9F7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90" name="Freeform 229"/>
                  <p:cNvSpPr/>
                  <p:nvPr/>
                </p:nvSpPr>
                <p:spPr bwMode="auto">
                  <a:xfrm>
                    <a:off x="5114" y="2299"/>
                    <a:ext cx="5" cy="4"/>
                  </a:xfrm>
                  <a:custGeom>
                    <a:avLst/>
                    <a:gdLst>
                      <a:gd name="T0" fmla="*/ 1 w 32"/>
                      <a:gd name="T1" fmla="*/ 20 h 20"/>
                      <a:gd name="T2" fmla="*/ 20 w 32"/>
                      <a:gd name="T3" fmla="*/ 8 h 20"/>
                      <a:gd name="T4" fmla="*/ 32 w 32"/>
                      <a:gd name="T5" fmla="*/ 0 h 20"/>
                      <a:gd name="T6" fmla="*/ 15 w 32"/>
                      <a:gd name="T7" fmla="*/ 1 h 20"/>
                      <a:gd name="T8" fmla="*/ 0 w 32"/>
                      <a:gd name="T9" fmla="*/ 4 h 20"/>
                      <a:gd name="T10" fmla="*/ 1 w 32"/>
                      <a:gd name="T11" fmla="*/ 20 h 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32" h="20">
                        <a:moveTo>
                          <a:pt x="1" y="20"/>
                        </a:moveTo>
                        <a:lnTo>
                          <a:pt x="20" y="8"/>
                        </a:lnTo>
                        <a:lnTo>
                          <a:pt x="32" y="0"/>
                        </a:lnTo>
                        <a:lnTo>
                          <a:pt x="15" y="1"/>
                        </a:lnTo>
                        <a:lnTo>
                          <a:pt x="0" y="4"/>
                        </a:lnTo>
                        <a:lnTo>
                          <a:pt x="1" y="2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91" name="Freeform 230"/>
                  <p:cNvSpPr/>
                  <p:nvPr/>
                </p:nvSpPr>
                <p:spPr bwMode="auto">
                  <a:xfrm>
                    <a:off x="5102" y="2303"/>
                    <a:ext cx="8" cy="4"/>
                  </a:xfrm>
                  <a:custGeom>
                    <a:avLst/>
                    <a:gdLst>
                      <a:gd name="T0" fmla="*/ 0 w 43"/>
                      <a:gd name="T1" fmla="*/ 0 h 21"/>
                      <a:gd name="T2" fmla="*/ 21 w 43"/>
                      <a:gd name="T3" fmla="*/ 14 h 21"/>
                      <a:gd name="T4" fmla="*/ 29 w 43"/>
                      <a:gd name="T5" fmla="*/ 21 h 21"/>
                      <a:gd name="T6" fmla="*/ 39 w 43"/>
                      <a:gd name="T7" fmla="*/ 18 h 21"/>
                      <a:gd name="T8" fmla="*/ 43 w 43"/>
                      <a:gd name="T9" fmla="*/ 7 h 21"/>
                      <a:gd name="T10" fmla="*/ 0 w 43"/>
                      <a:gd name="T11" fmla="*/ 0 h 2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43" h="21">
                        <a:moveTo>
                          <a:pt x="0" y="0"/>
                        </a:moveTo>
                        <a:lnTo>
                          <a:pt x="21" y="14"/>
                        </a:lnTo>
                        <a:lnTo>
                          <a:pt x="29" y="21"/>
                        </a:lnTo>
                        <a:lnTo>
                          <a:pt x="39" y="18"/>
                        </a:lnTo>
                        <a:lnTo>
                          <a:pt x="43" y="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BF7F3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92" name="Freeform 231"/>
                  <p:cNvSpPr/>
                  <p:nvPr/>
                </p:nvSpPr>
                <p:spPr bwMode="auto">
                  <a:xfrm>
                    <a:off x="5095" y="2297"/>
                    <a:ext cx="20" cy="8"/>
                  </a:xfrm>
                  <a:custGeom>
                    <a:avLst/>
                    <a:gdLst>
                      <a:gd name="T0" fmla="*/ 0 w 122"/>
                      <a:gd name="T1" fmla="*/ 3 h 39"/>
                      <a:gd name="T2" fmla="*/ 58 w 122"/>
                      <a:gd name="T3" fmla="*/ 0 h 39"/>
                      <a:gd name="T4" fmla="*/ 79 w 122"/>
                      <a:gd name="T5" fmla="*/ 2 h 39"/>
                      <a:gd name="T6" fmla="*/ 106 w 122"/>
                      <a:gd name="T7" fmla="*/ 11 h 39"/>
                      <a:gd name="T8" fmla="*/ 122 w 122"/>
                      <a:gd name="T9" fmla="*/ 12 h 39"/>
                      <a:gd name="T10" fmla="*/ 121 w 122"/>
                      <a:gd name="T11" fmla="*/ 31 h 39"/>
                      <a:gd name="T12" fmla="*/ 100 w 122"/>
                      <a:gd name="T13" fmla="*/ 36 h 39"/>
                      <a:gd name="T14" fmla="*/ 86 w 122"/>
                      <a:gd name="T15" fmla="*/ 39 h 39"/>
                      <a:gd name="T16" fmla="*/ 70 w 122"/>
                      <a:gd name="T17" fmla="*/ 38 h 39"/>
                      <a:gd name="T18" fmla="*/ 50 w 122"/>
                      <a:gd name="T19" fmla="*/ 34 h 39"/>
                      <a:gd name="T20" fmla="*/ 39 w 122"/>
                      <a:gd name="T21" fmla="*/ 31 h 39"/>
                      <a:gd name="T22" fmla="*/ 21 w 122"/>
                      <a:gd name="T23" fmla="*/ 23 h 39"/>
                      <a:gd name="T24" fmla="*/ 7 w 122"/>
                      <a:gd name="T25" fmla="*/ 17 h 39"/>
                      <a:gd name="T26" fmla="*/ 0 w 122"/>
                      <a:gd name="T27" fmla="*/ 3 h 3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122" h="39">
                        <a:moveTo>
                          <a:pt x="0" y="3"/>
                        </a:moveTo>
                        <a:lnTo>
                          <a:pt x="58" y="0"/>
                        </a:lnTo>
                        <a:lnTo>
                          <a:pt x="79" y="2"/>
                        </a:lnTo>
                        <a:lnTo>
                          <a:pt x="106" y="11"/>
                        </a:lnTo>
                        <a:lnTo>
                          <a:pt x="122" y="12"/>
                        </a:lnTo>
                        <a:lnTo>
                          <a:pt x="121" y="31"/>
                        </a:lnTo>
                        <a:lnTo>
                          <a:pt x="100" y="36"/>
                        </a:lnTo>
                        <a:lnTo>
                          <a:pt x="86" y="39"/>
                        </a:lnTo>
                        <a:lnTo>
                          <a:pt x="70" y="38"/>
                        </a:lnTo>
                        <a:lnTo>
                          <a:pt x="50" y="34"/>
                        </a:lnTo>
                        <a:lnTo>
                          <a:pt x="39" y="31"/>
                        </a:lnTo>
                        <a:lnTo>
                          <a:pt x="21" y="23"/>
                        </a:lnTo>
                        <a:lnTo>
                          <a:pt x="7" y="17"/>
                        </a:lnTo>
                        <a:lnTo>
                          <a:pt x="0" y="3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93" name="Freeform 232"/>
                  <p:cNvSpPr/>
                  <p:nvPr/>
                </p:nvSpPr>
                <p:spPr bwMode="auto">
                  <a:xfrm>
                    <a:off x="5091" y="2279"/>
                    <a:ext cx="29" cy="22"/>
                  </a:xfrm>
                  <a:custGeom>
                    <a:avLst/>
                    <a:gdLst>
                      <a:gd name="T0" fmla="*/ 65 w 171"/>
                      <a:gd name="T1" fmla="*/ 0 h 112"/>
                      <a:gd name="T2" fmla="*/ 48 w 171"/>
                      <a:gd name="T3" fmla="*/ 12 h 112"/>
                      <a:gd name="T4" fmla="*/ 34 w 171"/>
                      <a:gd name="T5" fmla="*/ 27 h 112"/>
                      <a:gd name="T6" fmla="*/ 21 w 171"/>
                      <a:gd name="T7" fmla="*/ 43 h 112"/>
                      <a:gd name="T8" fmla="*/ 11 w 171"/>
                      <a:gd name="T9" fmla="*/ 57 h 112"/>
                      <a:gd name="T10" fmla="*/ 4 w 171"/>
                      <a:gd name="T11" fmla="*/ 73 h 112"/>
                      <a:gd name="T12" fmla="*/ 2 w 171"/>
                      <a:gd name="T13" fmla="*/ 93 h 112"/>
                      <a:gd name="T14" fmla="*/ 0 w 171"/>
                      <a:gd name="T15" fmla="*/ 103 h 112"/>
                      <a:gd name="T16" fmla="*/ 23 w 171"/>
                      <a:gd name="T17" fmla="*/ 103 h 112"/>
                      <a:gd name="T18" fmla="*/ 45 w 171"/>
                      <a:gd name="T19" fmla="*/ 105 h 112"/>
                      <a:gd name="T20" fmla="*/ 66 w 171"/>
                      <a:gd name="T21" fmla="*/ 104 h 112"/>
                      <a:gd name="T22" fmla="*/ 88 w 171"/>
                      <a:gd name="T23" fmla="*/ 104 h 112"/>
                      <a:gd name="T24" fmla="*/ 98 w 171"/>
                      <a:gd name="T25" fmla="*/ 104 h 112"/>
                      <a:gd name="T26" fmla="*/ 109 w 171"/>
                      <a:gd name="T27" fmla="*/ 106 h 112"/>
                      <a:gd name="T28" fmla="*/ 134 w 171"/>
                      <a:gd name="T29" fmla="*/ 111 h 112"/>
                      <a:gd name="T30" fmla="*/ 149 w 171"/>
                      <a:gd name="T31" fmla="*/ 112 h 112"/>
                      <a:gd name="T32" fmla="*/ 171 w 171"/>
                      <a:gd name="T33" fmla="*/ 106 h 112"/>
                      <a:gd name="T34" fmla="*/ 161 w 171"/>
                      <a:gd name="T35" fmla="*/ 100 h 112"/>
                      <a:gd name="T36" fmla="*/ 146 w 171"/>
                      <a:gd name="T37" fmla="*/ 96 h 112"/>
                      <a:gd name="T38" fmla="*/ 129 w 171"/>
                      <a:gd name="T39" fmla="*/ 93 h 112"/>
                      <a:gd name="T40" fmla="*/ 119 w 171"/>
                      <a:gd name="T41" fmla="*/ 91 h 112"/>
                      <a:gd name="T42" fmla="*/ 109 w 171"/>
                      <a:gd name="T43" fmla="*/ 95 h 112"/>
                      <a:gd name="T44" fmla="*/ 86 w 171"/>
                      <a:gd name="T45" fmla="*/ 85 h 112"/>
                      <a:gd name="T46" fmla="*/ 75 w 171"/>
                      <a:gd name="T47" fmla="*/ 85 h 112"/>
                      <a:gd name="T48" fmla="*/ 59 w 171"/>
                      <a:gd name="T49" fmla="*/ 89 h 112"/>
                      <a:gd name="T50" fmla="*/ 26 w 171"/>
                      <a:gd name="T51" fmla="*/ 94 h 112"/>
                      <a:gd name="T52" fmla="*/ 28 w 171"/>
                      <a:gd name="T53" fmla="*/ 85 h 112"/>
                      <a:gd name="T54" fmla="*/ 33 w 171"/>
                      <a:gd name="T55" fmla="*/ 77 h 112"/>
                      <a:gd name="T56" fmla="*/ 40 w 171"/>
                      <a:gd name="T57" fmla="*/ 66 h 112"/>
                      <a:gd name="T58" fmla="*/ 52 w 171"/>
                      <a:gd name="T59" fmla="*/ 66 h 112"/>
                      <a:gd name="T60" fmla="*/ 66 w 171"/>
                      <a:gd name="T61" fmla="*/ 63 h 112"/>
                      <a:gd name="T62" fmla="*/ 84 w 171"/>
                      <a:gd name="T63" fmla="*/ 59 h 112"/>
                      <a:gd name="T64" fmla="*/ 95 w 171"/>
                      <a:gd name="T65" fmla="*/ 56 h 112"/>
                      <a:gd name="T66" fmla="*/ 112 w 171"/>
                      <a:gd name="T67" fmla="*/ 48 h 112"/>
                      <a:gd name="T68" fmla="*/ 89 w 171"/>
                      <a:gd name="T69" fmla="*/ 32 h 112"/>
                      <a:gd name="T70" fmla="*/ 65 w 171"/>
                      <a:gd name="T71" fmla="*/ 0 h 1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</a:cxnLst>
                    <a:rect l="0" t="0" r="r" b="b"/>
                    <a:pathLst>
                      <a:path w="171" h="112">
                        <a:moveTo>
                          <a:pt x="65" y="0"/>
                        </a:moveTo>
                        <a:lnTo>
                          <a:pt x="48" y="12"/>
                        </a:lnTo>
                        <a:lnTo>
                          <a:pt x="34" y="27"/>
                        </a:lnTo>
                        <a:lnTo>
                          <a:pt x="21" y="43"/>
                        </a:lnTo>
                        <a:lnTo>
                          <a:pt x="11" y="57"/>
                        </a:lnTo>
                        <a:lnTo>
                          <a:pt x="4" y="73"/>
                        </a:lnTo>
                        <a:lnTo>
                          <a:pt x="2" y="93"/>
                        </a:lnTo>
                        <a:lnTo>
                          <a:pt x="0" y="103"/>
                        </a:lnTo>
                        <a:lnTo>
                          <a:pt x="23" y="103"/>
                        </a:lnTo>
                        <a:lnTo>
                          <a:pt x="45" y="105"/>
                        </a:lnTo>
                        <a:lnTo>
                          <a:pt x="66" y="104"/>
                        </a:lnTo>
                        <a:lnTo>
                          <a:pt x="88" y="104"/>
                        </a:lnTo>
                        <a:lnTo>
                          <a:pt x="98" y="104"/>
                        </a:lnTo>
                        <a:lnTo>
                          <a:pt x="109" y="106"/>
                        </a:lnTo>
                        <a:lnTo>
                          <a:pt x="134" y="111"/>
                        </a:lnTo>
                        <a:lnTo>
                          <a:pt x="149" y="112"/>
                        </a:lnTo>
                        <a:lnTo>
                          <a:pt x="171" y="106"/>
                        </a:lnTo>
                        <a:lnTo>
                          <a:pt x="161" y="100"/>
                        </a:lnTo>
                        <a:lnTo>
                          <a:pt x="146" y="96"/>
                        </a:lnTo>
                        <a:lnTo>
                          <a:pt x="129" y="93"/>
                        </a:lnTo>
                        <a:lnTo>
                          <a:pt x="119" y="91"/>
                        </a:lnTo>
                        <a:lnTo>
                          <a:pt x="109" y="95"/>
                        </a:lnTo>
                        <a:lnTo>
                          <a:pt x="86" y="85"/>
                        </a:lnTo>
                        <a:lnTo>
                          <a:pt x="75" y="85"/>
                        </a:lnTo>
                        <a:lnTo>
                          <a:pt x="59" y="89"/>
                        </a:lnTo>
                        <a:lnTo>
                          <a:pt x="26" y="94"/>
                        </a:lnTo>
                        <a:lnTo>
                          <a:pt x="28" y="85"/>
                        </a:lnTo>
                        <a:lnTo>
                          <a:pt x="33" y="77"/>
                        </a:lnTo>
                        <a:lnTo>
                          <a:pt x="40" y="66"/>
                        </a:lnTo>
                        <a:lnTo>
                          <a:pt x="52" y="66"/>
                        </a:lnTo>
                        <a:lnTo>
                          <a:pt x="66" y="63"/>
                        </a:lnTo>
                        <a:lnTo>
                          <a:pt x="84" y="59"/>
                        </a:lnTo>
                        <a:lnTo>
                          <a:pt x="95" y="56"/>
                        </a:lnTo>
                        <a:lnTo>
                          <a:pt x="112" y="48"/>
                        </a:lnTo>
                        <a:lnTo>
                          <a:pt x="89" y="32"/>
                        </a:lnTo>
                        <a:lnTo>
                          <a:pt x="65" y="0"/>
                        </a:lnTo>
                        <a:close/>
                      </a:path>
                    </a:pathLst>
                  </a:custGeom>
                  <a:solidFill>
                    <a:srgbClr val="FF7F3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94" name="Freeform 233"/>
                  <p:cNvSpPr/>
                  <p:nvPr/>
                </p:nvSpPr>
                <p:spPr bwMode="auto">
                  <a:xfrm>
                    <a:off x="5089" y="2254"/>
                    <a:ext cx="19" cy="21"/>
                  </a:xfrm>
                  <a:custGeom>
                    <a:avLst/>
                    <a:gdLst>
                      <a:gd name="T0" fmla="*/ 113 w 113"/>
                      <a:gd name="T1" fmla="*/ 43 h 103"/>
                      <a:gd name="T2" fmla="*/ 113 w 113"/>
                      <a:gd name="T3" fmla="*/ 69 h 103"/>
                      <a:gd name="T4" fmla="*/ 80 w 113"/>
                      <a:gd name="T5" fmla="*/ 103 h 103"/>
                      <a:gd name="T6" fmla="*/ 83 w 113"/>
                      <a:gd name="T7" fmla="*/ 75 h 103"/>
                      <a:gd name="T8" fmla="*/ 83 w 113"/>
                      <a:gd name="T9" fmla="*/ 60 h 103"/>
                      <a:gd name="T10" fmla="*/ 80 w 113"/>
                      <a:gd name="T11" fmla="*/ 48 h 103"/>
                      <a:gd name="T12" fmla="*/ 70 w 113"/>
                      <a:gd name="T13" fmla="*/ 40 h 103"/>
                      <a:gd name="T14" fmla="*/ 55 w 113"/>
                      <a:gd name="T15" fmla="*/ 32 h 103"/>
                      <a:gd name="T16" fmla="*/ 40 w 113"/>
                      <a:gd name="T17" fmla="*/ 24 h 103"/>
                      <a:gd name="T18" fmla="*/ 27 w 113"/>
                      <a:gd name="T19" fmla="*/ 23 h 103"/>
                      <a:gd name="T20" fmla="*/ 10 w 113"/>
                      <a:gd name="T21" fmla="*/ 27 h 103"/>
                      <a:gd name="T22" fmla="*/ 0 w 113"/>
                      <a:gd name="T23" fmla="*/ 31 h 103"/>
                      <a:gd name="T24" fmla="*/ 14 w 113"/>
                      <a:gd name="T25" fmla="*/ 2 h 103"/>
                      <a:gd name="T26" fmla="*/ 21 w 113"/>
                      <a:gd name="T27" fmla="*/ 0 h 103"/>
                      <a:gd name="T28" fmla="*/ 36 w 113"/>
                      <a:gd name="T29" fmla="*/ 0 h 103"/>
                      <a:gd name="T30" fmla="*/ 58 w 113"/>
                      <a:gd name="T31" fmla="*/ 3 h 103"/>
                      <a:gd name="T32" fmla="*/ 77 w 113"/>
                      <a:gd name="T33" fmla="*/ 8 h 103"/>
                      <a:gd name="T34" fmla="*/ 95 w 113"/>
                      <a:gd name="T35" fmla="*/ 16 h 103"/>
                      <a:gd name="T36" fmla="*/ 107 w 113"/>
                      <a:gd name="T37" fmla="*/ 28 h 103"/>
                      <a:gd name="T38" fmla="*/ 113 w 113"/>
                      <a:gd name="T39" fmla="*/ 43 h 10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13" h="103">
                        <a:moveTo>
                          <a:pt x="113" y="43"/>
                        </a:moveTo>
                        <a:lnTo>
                          <a:pt x="113" y="69"/>
                        </a:lnTo>
                        <a:lnTo>
                          <a:pt x="80" y="103"/>
                        </a:lnTo>
                        <a:lnTo>
                          <a:pt x="83" y="75"/>
                        </a:lnTo>
                        <a:lnTo>
                          <a:pt x="83" y="60"/>
                        </a:lnTo>
                        <a:lnTo>
                          <a:pt x="80" y="48"/>
                        </a:lnTo>
                        <a:lnTo>
                          <a:pt x="70" y="40"/>
                        </a:lnTo>
                        <a:lnTo>
                          <a:pt x="55" y="32"/>
                        </a:lnTo>
                        <a:lnTo>
                          <a:pt x="40" y="24"/>
                        </a:lnTo>
                        <a:lnTo>
                          <a:pt x="27" y="23"/>
                        </a:lnTo>
                        <a:lnTo>
                          <a:pt x="10" y="27"/>
                        </a:lnTo>
                        <a:lnTo>
                          <a:pt x="0" y="31"/>
                        </a:lnTo>
                        <a:lnTo>
                          <a:pt x="14" y="2"/>
                        </a:lnTo>
                        <a:lnTo>
                          <a:pt x="21" y="0"/>
                        </a:lnTo>
                        <a:lnTo>
                          <a:pt x="36" y="0"/>
                        </a:lnTo>
                        <a:lnTo>
                          <a:pt x="58" y="3"/>
                        </a:lnTo>
                        <a:lnTo>
                          <a:pt x="77" y="8"/>
                        </a:lnTo>
                        <a:lnTo>
                          <a:pt x="95" y="16"/>
                        </a:lnTo>
                        <a:lnTo>
                          <a:pt x="107" y="28"/>
                        </a:lnTo>
                        <a:lnTo>
                          <a:pt x="113" y="43"/>
                        </a:lnTo>
                        <a:close/>
                      </a:path>
                    </a:pathLst>
                  </a:custGeom>
                  <a:solidFill>
                    <a:srgbClr val="BF7F3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95" name="Freeform 234"/>
                  <p:cNvSpPr/>
                  <p:nvPr/>
                </p:nvSpPr>
                <p:spPr bwMode="auto">
                  <a:xfrm>
                    <a:off x="5060" y="2206"/>
                    <a:ext cx="80" cy="137"/>
                  </a:xfrm>
                  <a:custGeom>
                    <a:avLst/>
                    <a:gdLst>
                      <a:gd name="T0" fmla="*/ 0 w 481"/>
                      <a:gd name="T1" fmla="*/ 272 h 684"/>
                      <a:gd name="T2" fmla="*/ 17 w 481"/>
                      <a:gd name="T3" fmla="*/ 352 h 684"/>
                      <a:gd name="T4" fmla="*/ 34 w 481"/>
                      <a:gd name="T5" fmla="*/ 417 h 684"/>
                      <a:gd name="T6" fmla="*/ 38 w 481"/>
                      <a:gd name="T7" fmla="*/ 495 h 684"/>
                      <a:gd name="T8" fmla="*/ 168 w 481"/>
                      <a:gd name="T9" fmla="*/ 415 h 684"/>
                      <a:gd name="T10" fmla="*/ 213 w 481"/>
                      <a:gd name="T11" fmla="*/ 392 h 684"/>
                      <a:gd name="T12" fmla="*/ 236 w 481"/>
                      <a:gd name="T13" fmla="*/ 366 h 684"/>
                      <a:gd name="T14" fmla="*/ 198 w 481"/>
                      <a:gd name="T15" fmla="*/ 376 h 684"/>
                      <a:gd name="T16" fmla="*/ 164 w 481"/>
                      <a:gd name="T17" fmla="*/ 357 h 684"/>
                      <a:gd name="T18" fmla="*/ 187 w 481"/>
                      <a:gd name="T19" fmla="*/ 329 h 684"/>
                      <a:gd name="T20" fmla="*/ 240 w 481"/>
                      <a:gd name="T21" fmla="*/ 347 h 684"/>
                      <a:gd name="T22" fmla="*/ 300 w 481"/>
                      <a:gd name="T23" fmla="*/ 234 h 684"/>
                      <a:gd name="T24" fmla="*/ 259 w 481"/>
                      <a:gd name="T25" fmla="*/ 185 h 684"/>
                      <a:gd name="T26" fmla="*/ 309 w 481"/>
                      <a:gd name="T27" fmla="*/ 103 h 684"/>
                      <a:gd name="T28" fmla="*/ 381 w 481"/>
                      <a:gd name="T29" fmla="*/ 122 h 684"/>
                      <a:gd name="T30" fmla="*/ 418 w 481"/>
                      <a:gd name="T31" fmla="*/ 177 h 684"/>
                      <a:gd name="T32" fmla="*/ 411 w 481"/>
                      <a:gd name="T33" fmla="*/ 225 h 684"/>
                      <a:gd name="T34" fmla="*/ 413 w 481"/>
                      <a:gd name="T35" fmla="*/ 262 h 684"/>
                      <a:gd name="T36" fmla="*/ 395 w 481"/>
                      <a:gd name="T37" fmla="*/ 346 h 684"/>
                      <a:gd name="T38" fmla="*/ 423 w 481"/>
                      <a:gd name="T39" fmla="*/ 372 h 684"/>
                      <a:gd name="T40" fmla="*/ 413 w 481"/>
                      <a:gd name="T41" fmla="*/ 410 h 684"/>
                      <a:gd name="T42" fmla="*/ 373 w 481"/>
                      <a:gd name="T43" fmla="*/ 396 h 684"/>
                      <a:gd name="T44" fmla="*/ 352 w 481"/>
                      <a:gd name="T45" fmla="*/ 403 h 684"/>
                      <a:gd name="T46" fmla="*/ 385 w 481"/>
                      <a:gd name="T47" fmla="*/ 429 h 684"/>
                      <a:gd name="T48" fmla="*/ 400 w 481"/>
                      <a:gd name="T49" fmla="*/ 460 h 684"/>
                      <a:gd name="T50" fmla="*/ 386 w 481"/>
                      <a:gd name="T51" fmla="*/ 498 h 684"/>
                      <a:gd name="T52" fmla="*/ 357 w 481"/>
                      <a:gd name="T53" fmla="*/ 533 h 684"/>
                      <a:gd name="T54" fmla="*/ 318 w 481"/>
                      <a:gd name="T55" fmla="*/ 555 h 684"/>
                      <a:gd name="T56" fmla="*/ 279 w 481"/>
                      <a:gd name="T57" fmla="*/ 565 h 684"/>
                      <a:gd name="T58" fmla="*/ 245 w 481"/>
                      <a:gd name="T59" fmla="*/ 549 h 684"/>
                      <a:gd name="T60" fmla="*/ 208 w 481"/>
                      <a:gd name="T61" fmla="*/ 503 h 684"/>
                      <a:gd name="T62" fmla="*/ 190 w 481"/>
                      <a:gd name="T63" fmla="*/ 472 h 684"/>
                      <a:gd name="T64" fmla="*/ 171 w 481"/>
                      <a:gd name="T65" fmla="*/ 488 h 684"/>
                      <a:gd name="T66" fmla="*/ 49 w 481"/>
                      <a:gd name="T67" fmla="*/ 524 h 684"/>
                      <a:gd name="T68" fmla="*/ 122 w 481"/>
                      <a:gd name="T69" fmla="*/ 623 h 684"/>
                      <a:gd name="T70" fmla="*/ 290 w 481"/>
                      <a:gd name="T71" fmla="*/ 684 h 684"/>
                      <a:gd name="T72" fmla="*/ 377 w 481"/>
                      <a:gd name="T73" fmla="*/ 576 h 684"/>
                      <a:gd name="T74" fmla="*/ 403 w 481"/>
                      <a:gd name="T75" fmla="*/ 506 h 684"/>
                      <a:gd name="T76" fmla="*/ 428 w 481"/>
                      <a:gd name="T77" fmla="*/ 436 h 684"/>
                      <a:gd name="T78" fmla="*/ 456 w 481"/>
                      <a:gd name="T79" fmla="*/ 345 h 684"/>
                      <a:gd name="T80" fmla="*/ 481 w 481"/>
                      <a:gd name="T81" fmla="*/ 184 h 684"/>
                      <a:gd name="T82" fmla="*/ 437 w 481"/>
                      <a:gd name="T83" fmla="*/ 74 h 684"/>
                      <a:gd name="T84" fmla="*/ 376 w 481"/>
                      <a:gd name="T85" fmla="*/ 26 h 684"/>
                      <a:gd name="T86" fmla="*/ 279 w 481"/>
                      <a:gd name="T87" fmla="*/ 0 h 684"/>
                      <a:gd name="T88" fmla="*/ 155 w 481"/>
                      <a:gd name="T89" fmla="*/ 26 h 684"/>
                      <a:gd name="T90" fmla="*/ 85 w 481"/>
                      <a:gd name="T91" fmla="*/ 89 h 684"/>
                      <a:gd name="T92" fmla="*/ 42 w 481"/>
                      <a:gd name="T93" fmla="*/ 174 h 68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</a:cxnLst>
                    <a:rect l="0" t="0" r="r" b="b"/>
                    <a:pathLst>
                      <a:path w="481" h="684">
                        <a:moveTo>
                          <a:pt x="26" y="245"/>
                        </a:moveTo>
                        <a:lnTo>
                          <a:pt x="6" y="257"/>
                        </a:lnTo>
                        <a:lnTo>
                          <a:pt x="0" y="272"/>
                        </a:lnTo>
                        <a:lnTo>
                          <a:pt x="2" y="286"/>
                        </a:lnTo>
                        <a:lnTo>
                          <a:pt x="7" y="320"/>
                        </a:lnTo>
                        <a:lnTo>
                          <a:pt x="17" y="352"/>
                        </a:lnTo>
                        <a:lnTo>
                          <a:pt x="27" y="380"/>
                        </a:lnTo>
                        <a:lnTo>
                          <a:pt x="27" y="401"/>
                        </a:lnTo>
                        <a:lnTo>
                          <a:pt x="34" y="417"/>
                        </a:lnTo>
                        <a:lnTo>
                          <a:pt x="46" y="424"/>
                        </a:lnTo>
                        <a:lnTo>
                          <a:pt x="50" y="428"/>
                        </a:lnTo>
                        <a:lnTo>
                          <a:pt x="38" y="495"/>
                        </a:lnTo>
                        <a:lnTo>
                          <a:pt x="140" y="423"/>
                        </a:lnTo>
                        <a:lnTo>
                          <a:pt x="152" y="417"/>
                        </a:lnTo>
                        <a:lnTo>
                          <a:pt x="168" y="415"/>
                        </a:lnTo>
                        <a:lnTo>
                          <a:pt x="186" y="408"/>
                        </a:lnTo>
                        <a:lnTo>
                          <a:pt x="201" y="399"/>
                        </a:lnTo>
                        <a:lnTo>
                          <a:pt x="213" y="392"/>
                        </a:lnTo>
                        <a:lnTo>
                          <a:pt x="222" y="387"/>
                        </a:lnTo>
                        <a:lnTo>
                          <a:pt x="232" y="377"/>
                        </a:lnTo>
                        <a:lnTo>
                          <a:pt x="236" y="366"/>
                        </a:lnTo>
                        <a:lnTo>
                          <a:pt x="223" y="371"/>
                        </a:lnTo>
                        <a:lnTo>
                          <a:pt x="210" y="375"/>
                        </a:lnTo>
                        <a:lnTo>
                          <a:pt x="198" y="376"/>
                        </a:lnTo>
                        <a:lnTo>
                          <a:pt x="183" y="372"/>
                        </a:lnTo>
                        <a:lnTo>
                          <a:pt x="168" y="366"/>
                        </a:lnTo>
                        <a:lnTo>
                          <a:pt x="164" y="357"/>
                        </a:lnTo>
                        <a:lnTo>
                          <a:pt x="165" y="346"/>
                        </a:lnTo>
                        <a:lnTo>
                          <a:pt x="173" y="334"/>
                        </a:lnTo>
                        <a:lnTo>
                          <a:pt x="187" y="329"/>
                        </a:lnTo>
                        <a:lnTo>
                          <a:pt x="202" y="328"/>
                        </a:lnTo>
                        <a:lnTo>
                          <a:pt x="220" y="331"/>
                        </a:lnTo>
                        <a:lnTo>
                          <a:pt x="240" y="347"/>
                        </a:lnTo>
                        <a:lnTo>
                          <a:pt x="254" y="357"/>
                        </a:lnTo>
                        <a:lnTo>
                          <a:pt x="281" y="258"/>
                        </a:lnTo>
                        <a:lnTo>
                          <a:pt x="300" y="234"/>
                        </a:lnTo>
                        <a:lnTo>
                          <a:pt x="281" y="220"/>
                        </a:lnTo>
                        <a:lnTo>
                          <a:pt x="263" y="210"/>
                        </a:lnTo>
                        <a:lnTo>
                          <a:pt x="259" y="185"/>
                        </a:lnTo>
                        <a:lnTo>
                          <a:pt x="281" y="147"/>
                        </a:lnTo>
                        <a:lnTo>
                          <a:pt x="300" y="122"/>
                        </a:lnTo>
                        <a:lnTo>
                          <a:pt x="309" y="103"/>
                        </a:lnTo>
                        <a:lnTo>
                          <a:pt x="330" y="103"/>
                        </a:lnTo>
                        <a:lnTo>
                          <a:pt x="358" y="109"/>
                        </a:lnTo>
                        <a:lnTo>
                          <a:pt x="381" y="122"/>
                        </a:lnTo>
                        <a:lnTo>
                          <a:pt x="395" y="135"/>
                        </a:lnTo>
                        <a:lnTo>
                          <a:pt x="410" y="155"/>
                        </a:lnTo>
                        <a:lnTo>
                          <a:pt x="418" y="177"/>
                        </a:lnTo>
                        <a:lnTo>
                          <a:pt x="426" y="202"/>
                        </a:lnTo>
                        <a:lnTo>
                          <a:pt x="416" y="221"/>
                        </a:lnTo>
                        <a:lnTo>
                          <a:pt x="411" y="225"/>
                        </a:lnTo>
                        <a:lnTo>
                          <a:pt x="403" y="237"/>
                        </a:lnTo>
                        <a:lnTo>
                          <a:pt x="423" y="240"/>
                        </a:lnTo>
                        <a:lnTo>
                          <a:pt x="413" y="262"/>
                        </a:lnTo>
                        <a:lnTo>
                          <a:pt x="403" y="281"/>
                        </a:lnTo>
                        <a:lnTo>
                          <a:pt x="420" y="321"/>
                        </a:lnTo>
                        <a:lnTo>
                          <a:pt x="395" y="346"/>
                        </a:lnTo>
                        <a:lnTo>
                          <a:pt x="404" y="350"/>
                        </a:lnTo>
                        <a:lnTo>
                          <a:pt x="412" y="359"/>
                        </a:lnTo>
                        <a:lnTo>
                          <a:pt x="423" y="372"/>
                        </a:lnTo>
                        <a:lnTo>
                          <a:pt x="431" y="389"/>
                        </a:lnTo>
                        <a:lnTo>
                          <a:pt x="428" y="406"/>
                        </a:lnTo>
                        <a:lnTo>
                          <a:pt x="413" y="410"/>
                        </a:lnTo>
                        <a:lnTo>
                          <a:pt x="394" y="407"/>
                        </a:lnTo>
                        <a:lnTo>
                          <a:pt x="382" y="402"/>
                        </a:lnTo>
                        <a:lnTo>
                          <a:pt x="373" y="396"/>
                        </a:lnTo>
                        <a:lnTo>
                          <a:pt x="352" y="380"/>
                        </a:lnTo>
                        <a:lnTo>
                          <a:pt x="336" y="383"/>
                        </a:lnTo>
                        <a:lnTo>
                          <a:pt x="352" y="403"/>
                        </a:lnTo>
                        <a:lnTo>
                          <a:pt x="362" y="412"/>
                        </a:lnTo>
                        <a:lnTo>
                          <a:pt x="374" y="423"/>
                        </a:lnTo>
                        <a:lnTo>
                          <a:pt x="385" y="429"/>
                        </a:lnTo>
                        <a:lnTo>
                          <a:pt x="397" y="439"/>
                        </a:lnTo>
                        <a:lnTo>
                          <a:pt x="400" y="449"/>
                        </a:lnTo>
                        <a:lnTo>
                          <a:pt x="400" y="460"/>
                        </a:lnTo>
                        <a:lnTo>
                          <a:pt x="399" y="477"/>
                        </a:lnTo>
                        <a:lnTo>
                          <a:pt x="393" y="488"/>
                        </a:lnTo>
                        <a:lnTo>
                          <a:pt x="386" y="498"/>
                        </a:lnTo>
                        <a:lnTo>
                          <a:pt x="375" y="509"/>
                        </a:lnTo>
                        <a:lnTo>
                          <a:pt x="367" y="524"/>
                        </a:lnTo>
                        <a:lnTo>
                          <a:pt x="357" y="533"/>
                        </a:lnTo>
                        <a:lnTo>
                          <a:pt x="343" y="529"/>
                        </a:lnTo>
                        <a:lnTo>
                          <a:pt x="330" y="545"/>
                        </a:lnTo>
                        <a:lnTo>
                          <a:pt x="318" y="555"/>
                        </a:lnTo>
                        <a:lnTo>
                          <a:pt x="307" y="565"/>
                        </a:lnTo>
                        <a:lnTo>
                          <a:pt x="291" y="567"/>
                        </a:lnTo>
                        <a:lnTo>
                          <a:pt x="279" y="565"/>
                        </a:lnTo>
                        <a:lnTo>
                          <a:pt x="266" y="563"/>
                        </a:lnTo>
                        <a:lnTo>
                          <a:pt x="257" y="558"/>
                        </a:lnTo>
                        <a:lnTo>
                          <a:pt x="245" y="549"/>
                        </a:lnTo>
                        <a:lnTo>
                          <a:pt x="238" y="540"/>
                        </a:lnTo>
                        <a:lnTo>
                          <a:pt x="216" y="511"/>
                        </a:lnTo>
                        <a:lnTo>
                          <a:pt x="208" y="503"/>
                        </a:lnTo>
                        <a:lnTo>
                          <a:pt x="202" y="496"/>
                        </a:lnTo>
                        <a:lnTo>
                          <a:pt x="195" y="487"/>
                        </a:lnTo>
                        <a:lnTo>
                          <a:pt x="190" y="472"/>
                        </a:lnTo>
                        <a:lnTo>
                          <a:pt x="186" y="457"/>
                        </a:lnTo>
                        <a:lnTo>
                          <a:pt x="178" y="473"/>
                        </a:lnTo>
                        <a:lnTo>
                          <a:pt x="171" y="488"/>
                        </a:lnTo>
                        <a:lnTo>
                          <a:pt x="162" y="478"/>
                        </a:lnTo>
                        <a:lnTo>
                          <a:pt x="154" y="464"/>
                        </a:lnTo>
                        <a:lnTo>
                          <a:pt x="49" y="524"/>
                        </a:lnTo>
                        <a:lnTo>
                          <a:pt x="72" y="567"/>
                        </a:lnTo>
                        <a:lnTo>
                          <a:pt x="99" y="598"/>
                        </a:lnTo>
                        <a:lnTo>
                          <a:pt x="122" y="623"/>
                        </a:lnTo>
                        <a:lnTo>
                          <a:pt x="179" y="663"/>
                        </a:lnTo>
                        <a:lnTo>
                          <a:pt x="236" y="681"/>
                        </a:lnTo>
                        <a:lnTo>
                          <a:pt x="290" y="684"/>
                        </a:lnTo>
                        <a:lnTo>
                          <a:pt x="328" y="659"/>
                        </a:lnTo>
                        <a:lnTo>
                          <a:pt x="362" y="613"/>
                        </a:lnTo>
                        <a:lnTo>
                          <a:pt x="377" y="576"/>
                        </a:lnTo>
                        <a:lnTo>
                          <a:pt x="381" y="543"/>
                        </a:lnTo>
                        <a:lnTo>
                          <a:pt x="395" y="525"/>
                        </a:lnTo>
                        <a:lnTo>
                          <a:pt x="403" y="506"/>
                        </a:lnTo>
                        <a:lnTo>
                          <a:pt x="411" y="490"/>
                        </a:lnTo>
                        <a:lnTo>
                          <a:pt x="416" y="472"/>
                        </a:lnTo>
                        <a:lnTo>
                          <a:pt x="428" y="436"/>
                        </a:lnTo>
                        <a:lnTo>
                          <a:pt x="438" y="398"/>
                        </a:lnTo>
                        <a:lnTo>
                          <a:pt x="446" y="372"/>
                        </a:lnTo>
                        <a:lnTo>
                          <a:pt x="456" y="345"/>
                        </a:lnTo>
                        <a:lnTo>
                          <a:pt x="465" y="309"/>
                        </a:lnTo>
                        <a:lnTo>
                          <a:pt x="478" y="230"/>
                        </a:lnTo>
                        <a:lnTo>
                          <a:pt x="481" y="184"/>
                        </a:lnTo>
                        <a:lnTo>
                          <a:pt x="474" y="145"/>
                        </a:lnTo>
                        <a:lnTo>
                          <a:pt x="460" y="109"/>
                        </a:lnTo>
                        <a:lnTo>
                          <a:pt x="437" y="74"/>
                        </a:lnTo>
                        <a:lnTo>
                          <a:pt x="420" y="58"/>
                        </a:lnTo>
                        <a:lnTo>
                          <a:pt x="408" y="48"/>
                        </a:lnTo>
                        <a:lnTo>
                          <a:pt x="376" y="26"/>
                        </a:lnTo>
                        <a:lnTo>
                          <a:pt x="344" y="11"/>
                        </a:lnTo>
                        <a:lnTo>
                          <a:pt x="308" y="4"/>
                        </a:lnTo>
                        <a:lnTo>
                          <a:pt x="279" y="0"/>
                        </a:lnTo>
                        <a:lnTo>
                          <a:pt x="235" y="1"/>
                        </a:lnTo>
                        <a:lnTo>
                          <a:pt x="189" y="12"/>
                        </a:lnTo>
                        <a:lnTo>
                          <a:pt x="155" y="26"/>
                        </a:lnTo>
                        <a:lnTo>
                          <a:pt x="126" y="46"/>
                        </a:lnTo>
                        <a:lnTo>
                          <a:pt x="104" y="63"/>
                        </a:lnTo>
                        <a:lnTo>
                          <a:pt x="85" y="89"/>
                        </a:lnTo>
                        <a:lnTo>
                          <a:pt x="68" y="116"/>
                        </a:lnTo>
                        <a:lnTo>
                          <a:pt x="50" y="145"/>
                        </a:lnTo>
                        <a:lnTo>
                          <a:pt x="42" y="174"/>
                        </a:lnTo>
                        <a:lnTo>
                          <a:pt x="33" y="208"/>
                        </a:lnTo>
                        <a:lnTo>
                          <a:pt x="26" y="245"/>
                        </a:lnTo>
                        <a:close/>
                      </a:path>
                    </a:pathLst>
                  </a:custGeom>
                  <a:solidFill>
                    <a:srgbClr val="FF7F3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96" name="Freeform 235"/>
                  <p:cNvSpPr/>
                  <p:nvPr/>
                </p:nvSpPr>
                <p:spPr bwMode="auto">
                  <a:xfrm>
                    <a:off x="5060" y="2207"/>
                    <a:ext cx="81" cy="137"/>
                  </a:xfrm>
                  <a:custGeom>
                    <a:avLst/>
                    <a:gdLst>
                      <a:gd name="T0" fmla="*/ 281 w 483"/>
                      <a:gd name="T1" fmla="*/ 355 h 682"/>
                      <a:gd name="T2" fmla="*/ 273 w 483"/>
                      <a:gd name="T3" fmla="*/ 381 h 682"/>
                      <a:gd name="T4" fmla="*/ 309 w 483"/>
                      <a:gd name="T5" fmla="*/ 393 h 682"/>
                      <a:gd name="T6" fmla="*/ 298 w 483"/>
                      <a:gd name="T7" fmla="*/ 405 h 682"/>
                      <a:gd name="T8" fmla="*/ 269 w 483"/>
                      <a:gd name="T9" fmla="*/ 394 h 682"/>
                      <a:gd name="T10" fmla="*/ 238 w 483"/>
                      <a:gd name="T11" fmla="*/ 388 h 682"/>
                      <a:gd name="T12" fmla="*/ 244 w 483"/>
                      <a:gd name="T13" fmla="*/ 363 h 682"/>
                      <a:gd name="T14" fmla="*/ 258 w 483"/>
                      <a:gd name="T15" fmla="*/ 308 h 682"/>
                      <a:gd name="T16" fmla="*/ 245 w 483"/>
                      <a:gd name="T17" fmla="*/ 273 h 682"/>
                      <a:gd name="T18" fmla="*/ 203 w 483"/>
                      <a:gd name="T19" fmla="*/ 257 h 682"/>
                      <a:gd name="T20" fmla="*/ 139 w 483"/>
                      <a:gd name="T21" fmla="*/ 272 h 682"/>
                      <a:gd name="T22" fmla="*/ 113 w 483"/>
                      <a:gd name="T23" fmla="*/ 276 h 682"/>
                      <a:gd name="T24" fmla="*/ 99 w 483"/>
                      <a:gd name="T25" fmla="*/ 310 h 682"/>
                      <a:gd name="T26" fmla="*/ 109 w 483"/>
                      <a:gd name="T27" fmla="*/ 351 h 682"/>
                      <a:gd name="T28" fmla="*/ 134 w 483"/>
                      <a:gd name="T29" fmla="*/ 371 h 682"/>
                      <a:gd name="T30" fmla="*/ 147 w 483"/>
                      <a:gd name="T31" fmla="*/ 466 h 682"/>
                      <a:gd name="T32" fmla="*/ 167 w 483"/>
                      <a:gd name="T33" fmla="*/ 540 h 682"/>
                      <a:gd name="T34" fmla="*/ 190 w 483"/>
                      <a:gd name="T35" fmla="*/ 577 h 682"/>
                      <a:gd name="T36" fmla="*/ 256 w 483"/>
                      <a:gd name="T37" fmla="*/ 609 h 682"/>
                      <a:gd name="T38" fmla="*/ 306 w 483"/>
                      <a:gd name="T39" fmla="*/ 612 h 682"/>
                      <a:gd name="T40" fmla="*/ 349 w 483"/>
                      <a:gd name="T41" fmla="*/ 592 h 682"/>
                      <a:gd name="T42" fmla="*/ 365 w 483"/>
                      <a:gd name="T43" fmla="*/ 598 h 682"/>
                      <a:gd name="T44" fmla="*/ 318 w 483"/>
                      <a:gd name="T45" fmla="*/ 663 h 682"/>
                      <a:gd name="T46" fmla="*/ 242 w 483"/>
                      <a:gd name="T47" fmla="*/ 680 h 682"/>
                      <a:gd name="T48" fmla="*/ 173 w 483"/>
                      <a:gd name="T49" fmla="*/ 658 h 682"/>
                      <a:gd name="T50" fmla="*/ 91 w 483"/>
                      <a:gd name="T51" fmla="*/ 581 h 682"/>
                      <a:gd name="T52" fmla="*/ 35 w 483"/>
                      <a:gd name="T53" fmla="*/ 498 h 682"/>
                      <a:gd name="T54" fmla="*/ 29 w 483"/>
                      <a:gd name="T55" fmla="*/ 412 h 682"/>
                      <a:gd name="T56" fmla="*/ 18 w 483"/>
                      <a:gd name="T57" fmla="*/ 355 h 682"/>
                      <a:gd name="T58" fmla="*/ 0 w 483"/>
                      <a:gd name="T59" fmla="*/ 273 h 682"/>
                      <a:gd name="T60" fmla="*/ 29 w 483"/>
                      <a:gd name="T61" fmla="*/ 236 h 682"/>
                      <a:gd name="T62" fmla="*/ 50 w 483"/>
                      <a:gd name="T63" fmla="*/ 148 h 682"/>
                      <a:gd name="T64" fmla="*/ 104 w 483"/>
                      <a:gd name="T65" fmla="*/ 67 h 682"/>
                      <a:gd name="T66" fmla="*/ 166 w 483"/>
                      <a:gd name="T67" fmla="*/ 18 h 682"/>
                      <a:gd name="T68" fmla="*/ 285 w 483"/>
                      <a:gd name="T69" fmla="*/ 0 h 682"/>
                      <a:gd name="T70" fmla="*/ 380 w 483"/>
                      <a:gd name="T71" fmla="*/ 23 h 682"/>
                      <a:gd name="T72" fmla="*/ 453 w 483"/>
                      <a:gd name="T73" fmla="*/ 96 h 682"/>
                      <a:gd name="T74" fmla="*/ 483 w 483"/>
                      <a:gd name="T75" fmla="*/ 208 h 682"/>
                      <a:gd name="T76" fmla="*/ 455 w 483"/>
                      <a:gd name="T77" fmla="*/ 282 h 682"/>
                      <a:gd name="T78" fmla="*/ 447 w 483"/>
                      <a:gd name="T79" fmla="*/ 200 h 682"/>
                      <a:gd name="T80" fmla="*/ 446 w 483"/>
                      <a:gd name="T81" fmla="*/ 154 h 682"/>
                      <a:gd name="T82" fmla="*/ 404 w 483"/>
                      <a:gd name="T83" fmla="*/ 86 h 682"/>
                      <a:gd name="T84" fmla="*/ 352 w 483"/>
                      <a:gd name="T85" fmla="*/ 43 h 682"/>
                      <a:gd name="T86" fmla="*/ 270 w 483"/>
                      <a:gd name="T87" fmla="*/ 27 h 682"/>
                      <a:gd name="T88" fmla="*/ 213 w 483"/>
                      <a:gd name="T89" fmla="*/ 46 h 682"/>
                      <a:gd name="T90" fmla="*/ 177 w 483"/>
                      <a:gd name="T91" fmla="*/ 90 h 682"/>
                      <a:gd name="T92" fmla="*/ 154 w 483"/>
                      <a:gd name="T93" fmla="*/ 145 h 682"/>
                      <a:gd name="T94" fmla="*/ 152 w 483"/>
                      <a:gd name="T95" fmla="*/ 245 h 682"/>
                      <a:gd name="T96" fmla="*/ 211 w 483"/>
                      <a:gd name="T97" fmla="*/ 234 h 682"/>
                      <a:gd name="T98" fmla="*/ 269 w 483"/>
                      <a:gd name="T99" fmla="*/ 250 h 68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</a:cxnLst>
                    <a:rect l="0" t="0" r="r" b="b"/>
                    <a:pathLst>
                      <a:path w="483" h="682">
                        <a:moveTo>
                          <a:pt x="287" y="276"/>
                        </a:moveTo>
                        <a:lnTo>
                          <a:pt x="287" y="351"/>
                        </a:lnTo>
                        <a:lnTo>
                          <a:pt x="281" y="355"/>
                        </a:lnTo>
                        <a:lnTo>
                          <a:pt x="275" y="362"/>
                        </a:lnTo>
                        <a:lnTo>
                          <a:pt x="271" y="372"/>
                        </a:lnTo>
                        <a:lnTo>
                          <a:pt x="273" y="381"/>
                        </a:lnTo>
                        <a:lnTo>
                          <a:pt x="281" y="384"/>
                        </a:lnTo>
                        <a:lnTo>
                          <a:pt x="288" y="391"/>
                        </a:lnTo>
                        <a:lnTo>
                          <a:pt x="309" y="393"/>
                        </a:lnTo>
                        <a:lnTo>
                          <a:pt x="317" y="391"/>
                        </a:lnTo>
                        <a:lnTo>
                          <a:pt x="304" y="402"/>
                        </a:lnTo>
                        <a:lnTo>
                          <a:pt x="298" y="405"/>
                        </a:lnTo>
                        <a:lnTo>
                          <a:pt x="289" y="404"/>
                        </a:lnTo>
                        <a:lnTo>
                          <a:pt x="279" y="401"/>
                        </a:lnTo>
                        <a:lnTo>
                          <a:pt x="269" y="394"/>
                        </a:lnTo>
                        <a:lnTo>
                          <a:pt x="261" y="391"/>
                        </a:lnTo>
                        <a:lnTo>
                          <a:pt x="245" y="389"/>
                        </a:lnTo>
                        <a:lnTo>
                          <a:pt x="238" y="388"/>
                        </a:lnTo>
                        <a:lnTo>
                          <a:pt x="236" y="379"/>
                        </a:lnTo>
                        <a:lnTo>
                          <a:pt x="237" y="371"/>
                        </a:lnTo>
                        <a:lnTo>
                          <a:pt x="244" y="363"/>
                        </a:lnTo>
                        <a:lnTo>
                          <a:pt x="249" y="357"/>
                        </a:lnTo>
                        <a:lnTo>
                          <a:pt x="255" y="335"/>
                        </a:lnTo>
                        <a:lnTo>
                          <a:pt x="258" y="308"/>
                        </a:lnTo>
                        <a:lnTo>
                          <a:pt x="258" y="293"/>
                        </a:lnTo>
                        <a:lnTo>
                          <a:pt x="255" y="281"/>
                        </a:lnTo>
                        <a:lnTo>
                          <a:pt x="245" y="273"/>
                        </a:lnTo>
                        <a:lnTo>
                          <a:pt x="230" y="265"/>
                        </a:lnTo>
                        <a:lnTo>
                          <a:pt x="215" y="258"/>
                        </a:lnTo>
                        <a:lnTo>
                          <a:pt x="203" y="257"/>
                        </a:lnTo>
                        <a:lnTo>
                          <a:pt x="176" y="265"/>
                        </a:lnTo>
                        <a:lnTo>
                          <a:pt x="159" y="268"/>
                        </a:lnTo>
                        <a:lnTo>
                          <a:pt x="139" y="272"/>
                        </a:lnTo>
                        <a:lnTo>
                          <a:pt x="129" y="268"/>
                        </a:lnTo>
                        <a:lnTo>
                          <a:pt x="119" y="268"/>
                        </a:lnTo>
                        <a:lnTo>
                          <a:pt x="113" y="276"/>
                        </a:lnTo>
                        <a:lnTo>
                          <a:pt x="105" y="283"/>
                        </a:lnTo>
                        <a:lnTo>
                          <a:pt x="99" y="294"/>
                        </a:lnTo>
                        <a:lnTo>
                          <a:pt x="99" y="310"/>
                        </a:lnTo>
                        <a:lnTo>
                          <a:pt x="103" y="328"/>
                        </a:lnTo>
                        <a:lnTo>
                          <a:pt x="105" y="341"/>
                        </a:lnTo>
                        <a:lnTo>
                          <a:pt x="109" y="351"/>
                        </a:lnTo>
                        <a:lnTo>
                          <a:pt x="117" y="362"/>
                        </a:lnTo>
                        <a:lnTo>
                          <a:pt x="127" y="370"/>
                        </a:lnTo>
                        <a:lnTo>
                          <a:pt x="134" y="371"/>
                        </a:lnTo>
                        <a:lnTo>
                          <a:pt x="135" y="391"/>
                        </a:lnTo>
                        <a:lnTo>
                          <a:pt x="139" y="419"/>
                        </a:lnTo>
                        <a:lnTo>
                          <a:pt x="147" y="466"/>
                        </a:lnTo>
                        <a:lnTo>
                          <a:pt x="156" y="496"/>
                        </a:lnTo>
                        <a:lnTo>
                          <a:pt x="160" y="518"/>
                        </a:lnTo>
                        <a:lnTo>
                          <a:pt x="167" y="540"/>
                        </a:lnTo>
                        <a:lnTo>
                          <a:pt x="173" y="551"/>
                        </a:lnTo>
                        <a:lnTo>
                          <a:pt x="179" y="564"/>
                        </a:lnTo>
                        <a:lnTo>
                          <a:pt x="190" y="577"/>
                        </a:lnTo>
                        <a:lnTo>
                          <a:pt x="207" y="592"/>
                        </a:lnTo>
                        <a:lnTo>
                          <a:pt x="225" y="604"/>
                        </a:lnTo>
                        <a:lnTo>
                          <a:pt x="256" y="609"/>
                        </a:lnTo>
                        <a:lnTo>
                          <a:pt x="275" y="609"/>
                        </a:lnTo>
                        <a:lnTo>
                          <a:pt x="289" y="611"/>
                        </a:lnTo>
                        <a:lnTo>
                          <a:pt x="306" y="612"/>
                        </a:lnTo>
                        <a:lnTo>
                          <a:pt x="323" y="608"/>
                        </a:lnTo>
                        <a:lnTo>
                          <a:pt x="338" y="602"/>
                        </a:lnTo>
                        <a:lnTo>
                          <a:pt x="349" y="592"/>
                        </a:lnTo>
                        <a:lnTo>
                          <a:pt x="360" y="583"/>
                        </a:lnTo>
                        <a:lnTo>
                          <a:pt x="374" y="574"/>
                        </a:lnTo>
                        <a:lnTo>
                          <a:pt x="365" y="598"/>
                        </a:lnTo>
                        <a:lnTo>
                          <a:pt x="352" y="618"/>
                        </a:lnTo>
                        <a:lnTo>
                          <a:pt x="338" y="639"/>
                        </a:lnTo>
                        <a:lnTo>
                          <a:pt x="318" y="663"/>
                        </a:lnTo>
                        <a:lnTo>
                          <a:pt x="293" y="676"/>
                        </a:lnTo>
                        <a:lnTo>
                          <a:pt x="264" y="682"/>
                        </a:lnTo>
                        <a:lnTo>
                          <a:pt x="242" y="680"/>
                        </a:lnTo>
                        <a:lnTo>
                          <a:pt x="221" y="679"/>
                        </a:lnTo>
                        <a:lnTo>
                          <a:pt x="200" y="671"/>
                        </a:lnTo>
                        <a:lnTo>
                          <a:pt x="173" y="658"/>
                        </a:lnTo>
                        <a:lnTo>
                          <a:pt x="153" y="642"/>
                        </a:lnTo>
                        <a:lnTo>
                          <a:pt x="124" y="613"/>
                        </a:lnTo>
                        <a:lnTo>
                          <a:pt x="91" y="581"/>
                        </a:lnTo>
                        <a:lnTo>
                          <a:pt x="70" y="555"/>
                        </a:lnTo>
                        <a:lnTo>
                          <a:pt x="52" y="530"/>
                        </a:lnTo>
                        <a:lnTo>
                          <a:pt x="35" y="498"/>
                        </a:lnTo>
                        <a:lnTo>
                          <a:pt x="49" y="426"/>
                        </a:lnTo>
                        <a:lnTo>
                          <a:pt x="38" y="420"/>
                        </a:lnTo>
                        <a:lnTo>
                          <a:pt x="29" y="412"/>
                        </a:lnTo>
                        <a:lnTo>
                          <a:pt x="25" y="398"/>
                        </a:lnTo>
                        <a:lnTo>
                          <a:pt x="24" y="375"/>
                        </a:lnTo>
                        <a:lnTo>
                          <a:pt x="18" y="355"/>
                        </a:lnTo>
                        <a:lnTo>
                          <a:pt x="7" y="329"/>
                        </a:lnTo>
                        <a:lnTo>
                          <a:pt x="4" y="295"/>
                        </a:lnTo>
                        <a:lnTo>
                          <a:pt x="0" y="273"/>
                        </a:lnTo>
                        <a:lnTo>
                          <a:pt x="3" y="257"/>
                        </a:lnTo>
                        <a:lnTo>
                          <a:pt x="17" y="247"/>
                        </a:lnTo>
                        <a:lnTo>
                          <a:pt x="29" y="236"/>
                        </a:lnTo>
                        <a:lnTo>
                          <a:pt x="31" y="205"/>
                        </a:lnTo>
                        <a:lnTo>
                          <a:pt x="37" y="176"/>
                        </a:lnTo>
                        <a:lnTo>
                          <a:pt x="50" y="148"/>
                        </a:lnTo>
                        <a:lnTo>
                          <a:pt x="65" y="117"/>
                        </a:lnTo>
                        <a:lnTo>
                          <a:pt x="85" y="86"/>
                        </a:lnTo>
                        <a:lnTo>
                          <a:pt x="104" y="67"/>
                        </a:lnTo>
                        <a:lnTo>
                          <a:pt x="122" y="48"/>
                        </a:lnTo>
                        <a:lnTo>
                          <a:pt x="142" y="31"/>
                        </a:lnTo>
                        <a:lnTo>
                          <a:pt x="166" y="18"/>
                        </a:lnTo>
                        <a:lnTo>
                          <a:pt x="203" y="2"/>
                        </a:lnTo>
                        <a:lnTo>
                          <a:pt x="249" y="0"/>
                        </a:lnTo>
                        <a:lnTo>
                          <a:pt x="285" y="0"/>
                        </a:lnTo>
                        <a:lnTo>
                          <a:pt x="323" y="4"/>
                        </a:lnTo>
                        <a:lnTo>
                          <a:pt x="353" y="11"/>
                        </a:lnTo>
                        <a:lnTo>
                          <a:pt x="380" y="23"/>
                        </a:lnTo>
                        <a:lnTo>
                          <a:pt x="406" y="43"/>
                        </a:lnTo>
                        <a:lnTo>
                          <a:pt x="434" y="70"/>
                        </a:lnTo>
                        <a:lnTo>
                          <a:pt x="453" y="96"/>
                        </a:lnTo>
                        <a:lnTo>
                          <a:pt x="469" y="130"/>
                        </a:lnTo>
                        <a:lnTo>
                          <a:pt x="481" y="174"/>
                        </a:lnTo>
                        <a:lnTo>
                          <a:pt x="483" y="208"/>
                        </a:lnTo>
                        <a:lnTo>
                          <a:pt x="475" y="252"/>
                        </a:lnTo>
                        <a:lnTo>
                          <a:pt x="460" y="311"/>
                        </a:lnTo>
                        <a:lnTo>
                          <a:pt x="455" y="282"/>
                        </a:lnTo>
                        <a:lnTo>
                          <a:pt x="454" y="250"/>
                        </a:lnTo>
                        <a:lnTo>
                          <a:pt x="451" y="224"/>
                        </a:lnTo>
                        <a:lnTo>
                          <a:pt x="447" y="200"/>
                        </a:lnTo>
                        <a:lnTo>
                          <a:pt x="438" y="178"/>
                        </a:lnTo>
                        <a:lnTo>
                          <a:pt x="418" y="158"/>
                        </a:lnTo>
                        <a:lnTo>
                          <a:pt x="446" y="154"/>
                        </a:lnTo>
                        <a:lnTo>
                          <a:pt x="434" y="127"/>
                        </a:lnTo>
                        <a:lnTo>
                          <a:pt x="420" y="108"/>
                        </a:lnTo>
                        <a:lnTo>
                          <a:pt x="404" y="86"/>
                        </a:lnTo>
                        <a:lnTo>
                          <a:pt x="385" y="72"/>
                        </a:lnTo>
                        <a:lnTo>
                          <a:pt x="368" y="54"/>
                        </a:lnTo>
                        <a:lnTo>
                          <a:pt x="352" y="43"/>
                        </a:lnTo>
                        <a:lnTo>
                          <a:pt x="326" y="30"/>
                        </a:lnTo>
                        <a:lnTo>
                          <a:pt x="297" y="25"/>
                        </a:lnTo>
                        <a:lnTo>
                          <a:pt x="270" y="27"/>
                        </a:lnTo>
                        <a:lnTo>
                          <a:pt x="249" y="31"/>
                        </a:lnTo>
                        <a:lnTo>
                          <a:pt x="232" y="37"/>
                        </a:lnTo>
                        <a:lnTo>
                          <a:pt x="213" y="46"/>
                        </a:lnTo>
                        <a:lnTo>
                          <a:pt x="199" y="59"/>
                        </a:lnTo>
                        <a:lnTo>
                          <a:pt x="184" y="75"/>
                        </a:lnTo>
                        <a:lnTo>
                          <a:pt x="177" y="90"/>
                        </a:lnTo>
                        <a:lnTo>
                          <a:pt x="167" y="105"/>
                        </a:lnTo>
                        <a:lnTo>
                          <a:pt x="163" y="121"/>
                        </a:lnTo>
                        <a:lnTo>
                          <a:pt x="154" y="145"/>
                        </a:lnTo>
                        <a:lnTo>
                          <a:pt x="151" y="173"/>
                        </a:lnTo>
                        <a:lnTo>
                          <a:pt x="148" y="209"/>
                        </a:lnTo>
                        <a:lnTo>
                          <a:pt x="152" y="245"/>
                        </a:lnTo>
                        <a:lnTo>
                          <a:pt x="165" y="239"/>
                        </a:lnTo>
                        <a:lnTo>
                          <a:pt x="184" y="235"/>
                        </a:lnTo>
                        <a:lnTo>
                          <a:pt x="211" y="234"/>
                        </a:lnTo>
                        <a:lnTo>
                          <a:pt x="233" y="237"/>
                        </a:lnTo>
                        <a:lnTo>
                          <a:pt x="252" y="242"/>
                        </a:lnTo>
                        <a:lnTo>
                          <a:pt x="269" y="250"/>
                        </a:lnTo>
                        <a:lnTo>
                          <a:pt x="281" y="261"/>
                        </a:lnTo>
                        <a:lnTo>
                          <a:pt x="287" y="276"/>
                        </a:lnTo>
                        <a:close/>
                      </a:path>
                    </a:pathLst>
                  </a:custGeom>
                  <a:solidFill>
                    <a:srgbClr val="7F3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97" name="Freeform 236"/>
                  <p:cNvSpPr/>
                  <p:nvPr/>
                </p:nvSpPr>
                <p:spPr bwMode="auto">
                  <a:xfrm>
                    <a:off x="5114" y="2258"/>
                    <a:ext cx="20" cy="12"/>
                  </a:xfrm>
                  <a:custGeom>
                    <a:avLst/>
                    <a:gdLst>
                      <a:gd name="T0" fmla="*/ 0 w 118"/>
                      <a:gd name="T1" fmla="*/ 19 h 60"/>
                      <a:gd name="T2" fmla="*/ 12 w 118"/>
                      <a:gd name="T3" fmla="*/ 14 h 60"/>
                      <a:gd name="T4" fmla="*/ 26 w 118"/>
                      <a:gd name="T5" fmla="*/ 9 h 60"/>
                      <a:gd name="T6" fmla="*/ 40 w 118"/>
                      <a:gd name="T7" fmla="*/ 4 h 60"/>
                      <a:gd name="T8" fmla="*/ 57 w 118"/>
                      <a:gd name="T9" fmla="*/ 0 h 60"/>
                      <a:gd name="T10" fmla="*/ 74 w 118"/>
                      <a:gd name="T11" fmla="*/ 0 h 60"/>
                      <a:gd name="T12" fmla="*/ 95 w 118"/>
                      <a:gd name="T13" fmla="*/ 5 h 60"/>
                      <a:gd name="T14" fmla="*/ 107 w 118"/>
                      <a:gd name="T15" fmla="*/ 16 h 60"/>
                      <a:gd name="T16" fmla="*/ 115 w 118"/>
                      <a:gd name="T17" fmla="*/ 30 h 60"/>
                      <a:gd name="T18" fmla="*/ 118 w 118"/>
                      <a:gd name="T19" fmla="*/ 39 h 60"/>
                      <a:gd name="T20" fmla="*/ 101 w 118"/>
                      <a:gd name="T21" fmla="*/ 52 h 60"/>
                      <a:gd name="T22" fmla="*/ 87 w 118"/>
                      <a:gd name="T23" fmla="*/ 58 h 60"/>
                      <a:gd name="T24" fmla="*/ 80 w 118"/>
                      <a:gd name="T25" fmla="*/ 60 h 60"/>
                      <a:gd name="T26" fmla="*/ 74 w 118"/>
                      <a:gd name="T27" fmla="*/ 51 h 60"/>
                      <a:gd name="T28" fmla="*/ 63 w 118"/>
                      <a:gd name="T29" fmla="*/ 42 h 60"/>
                      <a:gd name="T30" fmla="*/ 51 w 118"/>
                      <a:gd name="T31" fmla="*/ 39 h 60"/>
                      <a:gd name="T32" fmla="*/ 38 w 118"/>
                      <a:gd name="T33" fmla="*/ 39 h 60"/>
                      <a:gd name="T34" fmla="*/ 21 w 118"/>
                      <a:gd name="T35" fmla="*/ 44 h 60"/>
                      <a:gd name="T36" fmla="*/ 8 w 118"/>
                      <a:gd name="T37" fmla="*/ 52 h 60"/>
                      <a:gd name="T38" fmla="*/ 2 w 118"/>
                      <a:gd name="T39" fmla="*/ 57 h 60"/>
                      <a:gd name="T40" fmla="*/ 5 w 118"/>
                      <a:gd name="T41" fmla="*/ 47 h 60"/>
                      <a:gd name="T42" fmla="*/ 0 w 118"/>
                      <a:gd name="T43" fmla="*/ 19 h 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</a:cxnLst>
                    <a:rect l="0" t="0" r="r" b="b"/>
                    <a:pathLst>
                      <a:path w="118" h="60">
                        <a:moveTo>
                          <a:pt x="0" y="19"/>
                        </a:moveTo>
                        <a:lnTo>
                          <a:pt x="12" y="14"/>
                        </a:lnTo>
                        <a:lnTo>
                          <a:pt x="26" y="9"/>
                        </a:lnTo>
                        <a:lnTo>
                          <a:pt x="40" y="4"/>
                        </a:lnTo>
                        <a:lnTo>
                          <a:pt x="57" y="0"/>
                        </a:lnTo>
                        <a:lnTo>
                          <a:pt x="74" y="0"/>
                        </a:lnTo>
                        <a:lnTo>
                          <a:pt x="95" y="5"/>
                        </a:lnTo>
                        <a:lnTo>
                          <a:pt x="107" y="16"/>
                        </a:lnTo>
                        <a:lnTo>
                          <a:pt x="115" y="30"/>
                        </a:lnTo>
                        <a:lnTo>
                          <a:pt x="118" y="39"/>
                        </a:lnTo>
                        <a:lnTo>
                          <a:pt x="101" y="52"/>
                        </a:lnTo>
                        <a:lnTo>
                          <a:pt x="87" y="58"/>
                        </a:lnTo>
                        <a:lnTo>
                          <a:pt x="80" y="60"/>
                        </a:lnTo>
                        <a:lnTo>
                          <a:pt x="74" y="51"/>
                        </a:lnTo>
                        <a:lnTo>
                          <a:pt x="63" y="42"/>
                        </a:lnTo>
                        <a:lnTo>
                          <a:pt x="51" y="39"/>
                        </a:lnTo>
                        <a:lnTo>
                          <a:pt x="38" y="39"/>
                        </a:lnTo>
                        <a:lnTo>
                          <a:pt x="21" y="44"/>
                        </a:lnTo>
                        <a:lnTo>
                          <a:pt x="8" y="52"/>
                        </a:lnTo>
                        <a:lnTo>
                          <a:pt x="2" y="57"/>
                        </a:lnTo>
                        <a:lnTo>
                          <a:pt x="5" y="47"/>
                        </a:lnTo>
                        <a:lnTo>
                          <a:pt x="0" y="19"/>
                        </a:lnTo>
                        <a:close/>
                      </a:path>
                    </a:pathLst>
                  </a:custGeom>
                  <a:solidFill>
                    <a:srgbClr val="FF9F7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98" name="Freeform 237"/>
                  <p:cNvSpPr/>
                  <p:nvPr/>
                </p:nvSpPr>
                <p:spPr bwMode="auto">
                  <a:xfrm>
                    <a:off x="5114" y="2258"/>
                    <a:ext cx="18" cy="11"/>
                  </a:xfrm>
                  <a:custGeom>
                    <a:avLst/>
                    <a:gdLst>
                      <a:gd name="T0" fmla="*/ 0 w 106"/>
                      <a:gd name="T1" fmla="*/ 19 h 57"/>
                      <a:gd name="T2" fmla="*/ 12 w 106"/>
                      <a:gd name="T3" fmla="*/ 15 h 57"/>
                      <a:gd name="T4" fmla="*/ 27 w 106"/>
                      <a:gd name="T5" fmla="*/ 9 h 57"/>
                      <a:gd name="T6" fmla="*/ 40 w 106"/>
                      <a:gd name="T7" fmla="*/ 4 h 57"/>
                      <a:gd name="T8" fmla="*/ 57 w 106"/>
                      <a:gd name="T9" fmla="*/ 0 h 57"/>
                      <a:gd name="T10" fmla="*/ 74 w 106"/>
                      <a:gd name="T11" fmla="*/ 0 h 57"/>
                      <a:gd name="T12" fmla="*/ 95 w 106"/>
                      <a:gd name="T13" fmla="*/ 5 h 57"/>
                      <a:gd name="T14" fmla="*/ 106 w 106"/>
                      <a:gd name="T15" fmla="*/ 12 h 57"/>
                      <a:gd name="T16" fmla="*/ 83 w 106"/>
                      <a:gd name="T17" fmla="*/ 30 h 57"/>
                      <a:gd name="T18" fmla="*/ 73 w 106"/>
                      <a:gd name="T19" fmla="*/ 36 h 57"/>
                      <a:gd name="T20" fmla="*/ 63 w 106"/>
                      <a:gd name="T21" fmla="*/ 44 h 57"/>
                      <a:gd name="T22" fmla="*/ 51 w 106"/>
                      <a:gd name="T23" fmla="*/ 39 h 57"/>
                      <a:gd name="T24" fmla="*/ 38 w 106"/>
                      <a:gd name="T25" fmla="*/ 39 h 57"/>
                      <a:gd name="T26" fmla="*/ 27 w 106"/>
                      <a:gd name="T27" fmla="*/ 44 h 57"/>
                      <a:gd name="T28" fmla="*/ 16 w 106"/>
                      <a:gd name="T29" fmla="*/ 47 h 57"/>
                      <a:gd name="T30" fmla="*/ 3 w 106"/>
                      <a:gd name="T31" fmla="*/ 57 h 57"/>
                      <a:gd name="T32" fmla="*/ 6 w 106"/>
                      <a:gd name="T33" fmla="*/ 29 h 57"/>
                      <a:gd name="T34" fmla="*/ 0 w 106"/>
                      <a:gd name="T35" fmla="*/ 19 h 5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</a:cxnLst>
                    <a:rect l="0" t="0" r="r" b="b"/>
                    <a:pathLst>
                      <a:path w="106" h="57">
                        <a:moveTo>
                          <a:pt x="0" y="19"/>
                        </a:moveTo>
                        <a:lnTo>
                          <a:pt x="12" y="15"/>
                        </a:lnTo>
                        <a:lnTo>
                          <a:pt x="27" y="9"/>
                        </a:lnTo>
                        <a:lnTo>
                          <a:pt x="40" y="4"/>
                        </a:lnTo>
                        <a:lnTo>
                          <a:pt x="57" y="0"/>
                        </a:lnTo>
                        <a:lnTo>
                          <a:pt x="74" y="0"/>
                        </a:lnTo>
                        <a:lnTo>
                          <a:pt x="95" y="5"/>
                        </a:lnTo>
                        <a:lnTo>
                          <a:pt x="106" y="12"/>
                        </a:lnTo>
                        <a:lnTo>
                          <a:pt x="83" y="30"/>
                        </a:lnTo>
                        <a:lnTo>
                          <a:pt x="73" y="36"/>
                        </a:lnTo>
                        <a:lnTo>
                          <a:pt x="63" y="44"/>
                        </a:lnTo>
                        <a:lnTo>
                          <a:pt x="51" y="39"/>
                        </a:lnTo>
                        <a:lnTo>
                          <a:pt x="38" y="39"/>
                        </a:lnTo>
                        <a:lnTo>
                          <a:pt x="27" y="44"/>
                        </a:lnTo>
                        <a:lnTo>
                          <a:pt x="16" y="47"/>
                        </a:lnTo>
                        <a:lnTo>
                          <a:pt x="3" y="57"/>
                        </a:lnTo>
                        <a:lnTo>
                          <a:pt x="6" y="29"/>
                        </a:lnTo>
                        <a:lnTo>
                          <a:pt x="0" y="19"/>
                        </a:lnTo>
                        <a:close/>
                      </a:path>
                    </a:pathLst>
                  </a:custGeom>
                  <a:solidFill>
                    <a:srgbClr val="FF7F3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99" name="Freeform 238"/>
                  <p:cNvSpPr/>
                  <p:nvPr/>
                </p:nvSpPr>
                <p:spPr bwMode="auto">
                  <a:xfrm>
                    <a:off x="5114" y="2284"/>
                    <a:ext cx="3" cy="3"/>
                  </a:xfrm>
                  <a:custGeom>
                    <a:avLst/>
                    <a:gdLst>
                      <a:gd name="T0" fmla="*/ 12 w 21"/>
                      <a:gd name="T1" fmla="*/ 0 h 18"/>
                      <a:gd name="T2" fmla="*/ 0 w 21"/>
                      <a:gd name="T3" fmla="*/ 12 h 18"/>
                      <a:gd name="T4" fmla="*/ 11 w 21"/>
                      <a:gd name="T5" fmla="*/ 18 h 18"/>
                      <a:gd name="T6" fmla="*/ 20 w 21"/>
                      <a:gd name="T7" fmla="*/ 12 h 18"/>
                      <a:gd name="T8" fmla="*/ 21 w 21"/>
                      <a:gd name="T9" fmla="*/ 0 h 18"/>
                      <a:gd name="T10" fmla="*/ 12 w 21"/>
                      <a:gd name="T11" fmla="*/ 0 h 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1" h="18">
                        <a:moveTo>
                          <a:pt x="12" y="0"/>
                        </a:moveTo>
                        <a:lnTo>
                          <a:pt x="0" y="12"/>
                        </a:lnTo>
                        <a:lnTo>
                          <a:pt x="11" y="18"/>
                        </a:lnTo>
                        <a:lnTo>
                          <a:pt x="20" y="12"/>
                        </a:lnTo>
                        <a:lnTo>
                          <a:pt x="21" y="0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BF7F3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400" name="Freeform 239"/>
                  <p:cNvSpPr/>
                  <p:nvPr/>
                </p:nvSpPr>
                <p:spPr bwMode="auto">
                  <a:xfrm>
                    <a:off x="5110" y="2272"/>
                    <a:ext cx="6" cy="9"/>
                  </a:xfrm>
                  <a:custGeom>
                    <a:avLst/>
                    <a:gdLst>
                      <a:gd name="T0" fmla="*/ 17 w 32"/>
                      <a:gd name="T1" fmla="*/ 0 h 47"/>
                      <a:gd name="T2" fmla="*/ 4 w 32"/>
                      <a:gd name="T3" fmla="*/ 7 h 47"/>
                      <a:gd name="T4" fmla="*/ 0 w 32"/>
                      <a:gd name="T5" fmla="*/ 17 h 47"/>
                      <a:gd name="T6" fmla="*/ 0 w 32"/>
                      <a:gd name="T7" fmla="*/ 27 h 47"/>
                      <a:gd name="T8" fmla="*/ 6 w 32"/>
                      <a:gd name="T9" fmla="*/ 35 h 47"/>
                      <a:gd name="T10" fmla="*/ 14 w 32"/>
                      <a:gd name="T11" fmla="*/ 42 h 47"/>
                      <a:gd name="T12" fmla="*/ 18 w 32"/>
                      <a:gd name="T13" fmla="*/ 47 h 47"/>
                      <a:gd name="T14" fmla="*/ 32 w 32"/>
                      <a:gd name="T15" fmla="*/ 47 h 47"/>
                      <a:gd name="T16" fmla="*/ 25 w 32"/>
                      <a:gd name="T17" fmla="*/ 32 h 47"/>
                      <a:gd name="T18" fmla="*/ 19 w 32"/>
                      <a:gd name="T19" fmla="*/ 22 h 47"/>
                      <a:gd name="T20" fmla="*/ 17 w 32"/>
                      <a:gd name="T21" fmla="*/ 0 h 4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32" h="47">
                        <a:moveTo>
                          <a:pt x="17" y="0"/>
                        </a:moveTo>
                        <a:lnTo>
                          <a:pt x="4" y="7"/>
                        </a:lnTo>
                        <a:lnTo>
                          <a:pt x="0" y="17"/>
                        </a:lnTo>
                        <a:lnTo>
                          <a:pt x="0" y="27"/>
                        </a:lnTo>
                        <a:lnTo>
                          <a:pt x="6" y="35"/>
                        </a:lnTo>
                        <a:lnTo>
                          <a:pt x="14" y="42"/>
                        </a:lnTo>
                        <a:lnTo>
                          <a:pt x="18" y="47"/>
                        </a:lnTo>
                        <a:lnTo>
                          <a:pt x="32" y="47"/>
                        </a:lnTo>
                        <a:lnTo>
                          <a:pt x="25" y="32"/>
                        </a:lnTo>
                        <a:lnTo>
                          <a:pt x="19" y="22"/>
                        </a:lnTo>
                        <a:lnTo>
                          <a:pt x="17" y="0"/>
                        </a:lnTo>
                        <a:close/>
                      </a:path>
                    </a:pathLst>
                  </a:custGeom>
                  <a:solidFill>
                    <a:srgbClr val="FF7F3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grpSp>
                <p:nvGrpSpPr>
                  <p:cNvPr id="401" name="Group 240"/>
                  <p:cNvGrpSpPr/>
                  <p:nvPr/>
                </p:nvGrpSpPr>
                <p:grpSpPr bwMode="auto">
                  <a:xfrm>
                    <a:off x="5079" y="2288"/>
                    <a:ext cx="45" cy="28"/>
                    <a:chOff x="5079" y="2288"/>
                    <a:chExt cx="45" cy="28"/>
                  </a:xfrm>
                </p:grpSpPr>
                <p:sp>
                  <p:nvSpPr>
                    <p:cNvPr id="423" name="Freeform 241"/>
                    <p:cNvSpPr/>
                    <p:nvPr/>
                  </p:nvSpPr>
                  <p:spPr bwMode="auto">
                    <a:xfrm>
                      <a:off x="5096" y="2308"/>
                      <a:ext cx="14" cy="6"/>
                    </a:xfrm>
                    <a:custGeom>
                      <a:avLst/>
                      <a:gdLst>
                        <a:gd name="T0" fmla="*/ 0 w 80"/>
                        <a:gd name="T1" fmla="*/ 0 h 34"/>
                        <a:gd name="T2" fmla="*/ 10 w 80"/>
                        <a:gd name="T3" fmla="*/ 12 h 34"/>
                        <a:gd name="T4" fmla="*/ 19 w 80"/>
                        <a:gd name="T5" fmla="*/ 17 h 34"/>
                        <a:gd name="T6" fmla="*/ 36 w 80"/>
                        <a:gd name="T7" fmla="*/ 22 h 34"/>
                        <a:gd name="T8" fmla="*/ 53 w 80"/>
                        <a:gd name="T9" fmla="*/ 27 h 34"/>
                        <a:gd name="T10" fmla="*/ 65 w 80"/>
                        <a:gd name="T11" fmla="*/ 28 h 34"/>
                        <a:gd name="T12" fmla="*/ 80 w 80"/>
                        <a:gd name="T13" fmla="*/ 28 h 34"/>
                        <a:gd name="T14" fmla="*/ 65 w 80"/>
                        <a:gd name="T15" fmla="*/ 34 h 34"/>
                        <a:gd name="T16" fmla="*/ 48 w 80"/>
                        <a:gd name="T17" fmla="*/ 34 h 34"/>
                        <a:gd name="T18" fmla="*/ 34 w 80"/>
                        <a:gd name="T19" fmla="*/ 31 h 34"/>
                        <a:gd name="T20" fmla="*/ 19 w 80"/>
                        <a:gd name="T21" fmla="*/ 27 h 34"/>
                        <a:gd name="T22" fmla="*/ 11 w 80"/>
                        <a:gd name="T23" fmla="*/ 22 h 34"/>
                        <a:gd name="T24" fmla="*/ 5 w 80"/>
                        <a:gd name="T25" fmla="*/ 12 h 34"/>
                        <a:gd name="T26" fmla="*/ 0 w 80"/>
                        <a:gd name="T27" fmla="*/ 0 h 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</a:cxnLst>
                      <a:rect l="0" t="0" r="r" b="b"/>
                      <a:pathLst>
                        <a:path w="80" h="34">
                          <a:moveTo>
                            <a:pt x="0" y="0"/>
                          </a:moveTo>
                          <a:lnTo>
                            <a:pt x="10" y="12"/>
                          </a:lnTo>
                          <a:lnTo>
                            <a:pt x="19" y="17"/>
                          </a:lnTo>
                          <a:lnTo>
                            <a:pt x="36" y="22"/>
                          </a:lnTo>
                          <a:lnTo>
                            <a:pt x="53" y="27"/>
                          </a:lnTo>
                          <a:lnTo>
                            <a:pt x="65" y="28"/>
                          </a:lnTo>
                          <a:lnTo>
                            <a:pt x="80" y="28"/>
                          </a:lnTo>
                          <a:lnTo>
                            <a:pt x="65" y="34"/>
                          </a:lnTo>
                          <a:lnTo>
                            <a:pt x="48" y="34"/>
                          </a:lnTo>
                          <a:lnTo>
                            <a:pt x="34" y="31"/>
                          </a:lnTo>
                          <a:lnTo>
                            <a:pt x="19" y="27"/>
                          </a:lnTo>
                          <a:lnTo>
                            <a:pt x="11" y="22"/>
                          </a:lnTo>
                          <a:lnTo>
                            <a:pt x="5" y="12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5F3F1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24" name="Freeform 242"/>
                    <p:cNvSpPr/>
                    <p:nvPr/>
                  </p:nvSpPr>
                  <p:spPr bwMode="auto">
                    <a:xfrm>
                      <a:off x="5079" y="2294"/>
                      <a:ext cx="8" cy="22"/>
                    </a:xfrm>
                    <a:custGeom>
                      <a:avLst/>
                      <a:gdLst>
                        <a:gd name="T0" fmla="*/ 5 w 47"/>
                        <a:gd name="T1" fmla="*/ 0 h 110"/>
                        <a:gd name="T2" fmla="*/ 0 w 47"/>
                        <a:gd name="T3" fmla="*/ 18 h 110"/>
                        <a:gd name="T4" fmla="*/ 31 w 47"/>
                        <a:gd name="T5" fmla="*/ 87 h 110"/>
                        <a:gd name="T6" fmla="*/ 47 w 47"/>
                        <a:gd name="T7" fmla="*/ 110 h 110"/>
                        <a:gd name="T8" fmla="*/ 29 w 47"/>
                        <a:gd name="T9" fmla="*/ 64 h 110"/>
                        <a:gd name="T10" fmla="*/ 18 w 47"/>
                        <a:gd name="T11" fmla="*/ 34 h 110"/>
                        <a:gd name="T12" fmla="*/ 5 w 47"/>
                        <a:gd name="T13" fmla="*/ 0 h 11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47" h="110">
                          <a:moveTo>
                            <a:pt x="5" y="0"/>
                          </a:moveTo>
                          <a:lnTo>
                            <a:pt x="0" y="18"/>
                          </a:lnTo>
                          <a:lnTo>
                            <a:pt x="31" y="87"/>
                          </a:lnTo>
                          <a:lnTo>
                            <a:pt x="47" y="110"/>
                          </a:lnTo>
                          <a:lnTo>
                            <a:pt x="29" y="64"/>
                          </a:lnTo>
                          <a:lnTo>
                            <a:pt x="18" y="34"/>
                          </a:lnTo>
                          <a:lnTo>
                            <a:pt x="5" y="0"/>
                          </a:lnTo>
                          <a:close/>
                        </a:path>
                      </a:pathLst>
                    </a:custGeom>
                    <a:solidFill>
                      <a:srgbClr val="5F3F1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25" name="Freeform 243"/>
                    <p:cNvSpPr/>
                    <p:nvPr/>
                  </p:nvSpPr>
                  <p:spPr bwMode="auto">
                    <a:xfrm>
                      <a:off x="5119" y="2288"/>
                      <a:ext cx="5" cy="11"/>
                    </a:xfrm>
                    <a:custGeom>
                      <a:avLst/>
                      <a:gdLst>
                        <a:gd name="T0" fmla="*/ 0 w 28"/>
                        <a:gd name="T1" fmla="*/ 0 h 52"/>
                        <a:gd name="T2" fmla="*/ 14 w 28"/>
                        <a:gd name="T3" fmla="*/ 15 h 52"/>
                        <a:gd name="T4" fmla="*/ 22 w 28"/>
                        <a:gd name="T5" fmla="*/ 26 h 52"/>
                        <a:gd name="T6" fmla="*/ 27 w 28"/>
                        <a:gd name="T7" fmla="*/ 32 h 52"/>
                        <a:gd name="T8" fmla="*/ 28 w 28"/>
                        <a:gd name="T9" fmla="*/ 41 h 52"/>
                        <a:gd name="T10" fmla="*/ 28 w 28"/>
                        <a:gd name="T11" fmla="*/ 52 h 5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8" h="52">
                          <a:moveTo>
                            <a:pt x="0" y="0"/>
                          </a:moveTo>
                          <a:lnTo>
                            <a:pt x="14" y="15"/>
                          </a:lnTo>
                          <a:lnTo>
                            <a:pt x="22" y="26"/>
                          </a:lnTo>
                          <a:lnTo>
                            <a:pt x="27" y="32"/>
                          </a:lnTo>
                          <a:lnTo>
                            <a:pt x="28" y="41"/>
                          </a:lnTo>
                          <a:lnTo>
                            <a:pt x="28" y="52"/>
                          </a:lnTo>
                        </a:path>
                      </a:pathLst>
                    </a:custGeom>
                    <a:noFill/>
                    <a:ln w="1588">
                      <a:solidFill>
                        <a:srgbClr val="000000"/>
                      </a:solidFill>
                      <a:prstDash val="solid"/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26" name="Freeform 244"/>
                    <p:cNvSpPr/>
                    <p:nvPr/>
                  </p:nvSpPr>
                  <p:spPr bwMode="auto">
                    <a:xfrm>
                      <a:off x="5110" y="2302"/>
                      <a:ext cx="7" cy="7"/>
                    </a:xfrm>
                    <a:custGeom>
                      <a:avLst/>
                      <a:gdLst>
                        <a:gd name="T0" fmla="*/ 0 w 41"/>
                        <a:gd name="T1" fmla="*/ 13 h 32"/>
                        <a:gd name="T2" fmla="*/ 20 w 41"/>
                        <a:gd name="T3" fmla="*/ 12 h 32"/>
                        <a:gd name="T4" fmla="*/ 31 w 41"/>
                        <a:gd name="T5" fmla="*/ 6 h 32"/>
                        <a:gd name="T6" fmla="*/ 41 w 41"/>
                        <a:gd name="T7" fmla="*/ 0 h 32"/>
                        <a:gd name="T8" fmla="*/ 28 w 41"/>
                        <a:gd name="T9" fmla="*/ 16 h 32"/>
                        <a:gd name="T10" fmla="*/ 14 w 41"/>
                        <a:gd name="T11" fmla="*/ 28 h 32"/>
                        <a:gd name="T12" fmla="*/ 9 w 41"/>
                        <a:gd name="T13" fmla="*/ 32 h 32"/>
                        <a:gd name="T14" fmla="*/ 12 w 41"/>
                        <a:gd name="T15" fmla="*/ 22 h 32"/>
                        <a:gd name="T16" fmla="*/ 0 w 41"/>
                        <a:gd name="T17" fmla="*/ 13 h 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41" h="32">
                          <a:moveTo>
                            <a:pt x="0" y="13"/>
                          </a:moveTo>
                          <a:lnTo>
                            <a:pt x="20" y="12"/>
                          </a:lnTo>
                          <a:lnTo>
                            <a:pt x="31" y="6"/>
                          </a:lnTo>
                          <a:lnTo>
                            <a:pt x="41" y="0"/>
                          </a:lnTo>
                          <a:lnTo>
                            <a:pt x="28" y="16"/>
                          </a:lnTo>
                          <a:lnTo>
                            <a:pt x="14" y="28"/>
                          </a:lnTo>
                          <a:lnTo>
                            <a:pt x="9" y="32"/>
                          </a:lnTo>
                          <a:lnTo>
                            <a:pt x="12" y="22"/>
                          </a:lnTo>
                          <a:lnTo>
                            <a:pt x="0" y="13"/>
                          </a:lnTo>
                          <a:close/>
                        </a:path>
                      </a:pathLst>
                    </a:custGeom>
                    <a:solidFill>
                      <a:srgbClr val="7F5F3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sp>
                <p:nvSpPr>
                  <p:cNvPr id="402" name="Oval 245"/>
                  <p:cNvSpPr>
                    <a:spLocks noChangeArrowheads="1"/>
                  </p:cNvSpPr>
                  <p:nvPr/>
                </p:nvSpPr>
                <p:spPr bwMode="auto">
                  <a:xfrm>
                    <a:off x="5111" y="2282"/>
                    <a:ext cx="2" cy="3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grpSp>
                <p:nvGrpSpPr>
                  <p:cNvPr id="403" name="Group 246"/>
                  <p:cNvGrpSpPr/>
                  <p:nvPr/>
                </p:nvGrpSpPr>
                <p:grpSpPr bwMode="auto">
                  <a:xfrm>
                    <a:off x="5063" y="2206"/>
                    <a:ext cx="81" cy="71"/>
                    <a:chOff x="5063" y="2206"/>
                    <a:chExt cx="81" cy="71"/>
                  </a:xfrm>
                </p:grpSpPr>
                <p:sp>
                  <p:nvSpPr>
                    <p:cNvPr id="421" name="Freeform 247"/>
                    <p:cNvSpPr/>
                    <p:nvPr/>
                  </p:nvSpPr>
                  <p:spPr bwMode="auto">
                    <a:xfrm>
                      <a:off x="5063" y="2206"/>
                      <a:ext cx="81" cy="71"/>
                    </a:xfrm>
                    <a:custGeom>
                      <a:avLst/>
                      <a:gdLst>
                        <a:gd name="T0" fmla="*/ 2 w 485"/>
                        <a:gd name="T1" fmla="*/ 208 h 353"/>
                        <a:gd name="T2" fmla="*/ 20 w 485"/>
                        <a:gd name="T3" fmla="*/ 157 h 353"/>
                        <a:gd name="T4" fmla="*/ 49 w 485"/>
                        <a:gd name="T5" fmla="*/ 108 h 353"/>
                        <a:gd name="T6" fmla="*/ 67 w 485"/>
                        <a:gd name="T7" fmla="*/ 81 h 353"/>
                        <a:gd name="T8" fmla="*/ 85 w 485"/>
                        <a:gd name="T9" fmla="*/ 55 h 353"/>
                        <a:gd name="T10" fmla="*/ 136 w 485"/>
                        <a:gd name="T11" fmla="*/ 22 h 353"/>
                        <a:gd name="T12" fmla="*/ 187 w 485"/>
                        <a:gd name="T13" fmla="*/ 3 h 353"/>
                        <a:gd name="T14" fmla="*/ 251 w 485"/>
                        <a:gd name="T15" fmla="*/ 0 h 353"/>
                        <a:gd name="T16" fmla="*/ 307 w 485"/>
                        <a:gd name="T17" fmla="*/ 3 h 353"/>
                        <a:gd name="T18" fmla="*/ 369 w 485"/>
                        <a:gd name="T19" fmla="*/ 25 h 353"/>
                        <a:gd name="T20" fmla="*/ 402 w 485"/>
                        <a:gd name="T21" fmla="*/ 54 h 353"/>
                        <a:gd name="T22" fmla="*/ 444 w 485"/>
                        <a:gd name="T23" fmla="*/ 100 h 353"/>
                        <a:gd name="T24" fmla="*/ 473 w 485"/>
                        <a:gd name="T25" fmla="*/ 145 h 353"/>
                        <a:gd name="T26" fmla="*/ 484 w 485"/>
                        <a:gd name="T27" fmla="*/ 185 h 353"/>
                        <a:gd name="T28" fmla="*/ 478 w 485"/>
                        <a:gd name="T29" fmla="*/ 248 h 353"/>
                        <a:gd name="T30" fmla="*/ 453 w 485"/>
                        <a:gd name="T31" fmla="*/ 305 h 353"/>
                        <a:gd name="T32" fmla="*/ 435 w 485"/>
                        <a:gd name="T33" fmla="*/ 353 h 353"/>
                        <a:gd name="T34" fmla="*/ 445 w 485"/>
                        <a:gd name="T35" fmla="*/ 274 h 353"/>
                        <a:gd name="T36" fmla="*/ 455 w 485"/>
                        <a:gd name="T37" fmla="*/ 212 h 353"/>
                        <a:gd name="T38" fmla="*/ 442 w 485"/>
                        <a:gd name="T39" fmla="*/ 152 h 353"/>
                        <a:gd name="T40" fmla="*/ 416 w 485"/>
                        <a:gd name="T41" fmla="*/ 96 h 353"/>
                        <a:gd name="T42" fmla="*/ 377 w 485"/>
                        <a:gd name="T43" fmla="*/ 55 h 353"/>
                        <a:gd name="T44" fmla="*/ 332 w 485"/>
                        <a:gd name="T45" fmla="*/ 29 h 353"/>
                        <a:gd name="T46" fmla="*/ 290 w 485"/>
                        <a:gd name="T47" fmla="*/ 13 h 353"/>
                        <a:gd name="T48" fmla="*/ 218 w 485"/>
                        <a:gd name="T49" fmla="*/ 13 h 353"/>
                        <a:gd name="T50" fmla="*/ 175 w 485"/>
                        <a:gd name="T51" fmla="*/ 24 h 353"/>
                        <a:gd name="T52" fmla="*/ 132 w 485"/>
                        <a:gd name="T53" fmla="*/ 50 h 353"/>
                        <a:gd name="T54" fmla="*/ 106 w 485"/>
                        <a:gd name="T55" fmla="*/ 84 h 353"/>
                        <a:gd name="T56" fmla="*/ 89 w 485"/>
                        <a:gd name="T57" fmla="*/ 123 h 353"/>
                        <a:gd name="T58" fmla="*/ 71 w 485"/>
                        <a:gd name="T59" fmla="*/ 168 h 353"/>
                        <a:gd name="T60" fmla="*/ 67 w 485"/>
                        <a:gd name="T61" fmla="*/ 207 h 353"/>
                        <a:gd name="T62" fmla="*/ 82 w 485"/>
                        <a:gd name="T63" fmla="*/ 243 h 353"/>
                        <a:gd name="T64" fmla="*/ 81 w 485"/>
                        <a:gd name="T65" fmla="*/ 274 h 353"/>
                        <a:gd name="T66" fmla="*/ 70 w 485"/>
                        <a:gd name="T67" fmla="*/ 304 h 353"/>
                        <a:gd name="T68" fmla="*/ 64 w 485"/>
                        <a:gd name="T69" fmla="*/ 341 h 353"/>
                        <a:gd name="T70" fmla="*/ 50 w 485"/>
                        <a:gd name="T71" fmla="*/ 341 h 353"/>
                        <a:gd name="T72" fmla="*/ 39 w 485"/>
                        <a:gd name="T73" fmla="*/ 293 h 353"/>
                        <a:gd name="T74" fmla="*/ 0 w 485"/>
                        <a:gd name="T75" fmla="*/ 252 h 35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</a:cxnLst>
                      <a:rect l="0" t="0" r="r" b="b"/>
                      <a:pathLst>
                        <a:path w="485" h="353">
                          <a:moveTo>
                            <a:pt x="0" y="252"/>
                          </a:moveTo>
                          <a:lnTo>
                            <a:pt x="2" y="208"/>
                          </a:lnTo>
                          <a:lnTo>
                            <a:pt x="9" y="175"/>
                          </a:lnTo>
                          <a:lnTo>
                            <a:pt x="20" y="157"/>
                          </a:lnTo>
                          <a:lnTo>
                            <a:pt x="32" y="133"/>
                          </a:lnTo>
                          <a:lnTo>
                            <a:pt x="49" y="108"/>
                          </a:lnTo>
                          <a:lnTo>
                            <a:pt x="57" y="96"/>
                          </a:lnTo>
                          <a:lnTo>
                            <a:pt x="67" y="81"/>
                          </a:lnTo>
                          <a:lnTo>
                            <a:pt x="75" y="66"/>
                          </a:lnTo>
                          <a:lnTo>
                            <a:pt x="85" y="55"/>
                          </a:lnTo>
                          <a:lnTo>
                            <a:pt x="113" y="37"/>
                          </a:lnTo>
                          <a:lnTo>
                            <a:pt x="136" y="22"/>
                          </a:lnTo>
                          <a:lnTo>
                            <a:pt x="162" y="9"/>
                          </a:lnTo>
                          <a:lnTo>
                            <a:pt x="187" y="3"/>
                          </a:lnTo>
                          <a:lnTo>
                            <a:pt x="216" y="0"/>
                          </a:lnTo>
                          <a:lnTo>
                            <a:pt x="251" y="0"/>
                          </a:lnTo>
                          <a:lnTo>
                            <a:pt x="281" y="0"/>
                          </a:lnTo>
                          <a:lnTo>
                            <a:pt x="307" y="3"/>
                          </a:lnTo>
                          <a:lnTo>
                            <a:pt x="344" y="14"/>
                          </a:lnTo>
                          <a:lnTo>
                            <a:pt x="369" y="25"/>
                          </a:lnTo>
                          <a:lnTo>
                            <a:pt x="387" y="39"/>
                          </a:lnTo>
                          <a:lnTo>
                            <a:pt x="402" y="54"/>
                          </a:lnTo>
                          <a:lnTo>
                            <a:pt x="426" y="77"/>
                          </a:lnTo>
                          <a:lnTo>
                            <a:pt x="444" y="100"/>
                          </a:lnTo>
                          <a:lnTo>
                            <a:pt x="462" y="123"/>
                          </a:lnTo>
                          <a:lnTo>
                            <a:pt x="473" y="145"/>
                          </a:lnTo>
                          <a:lnTo>
                            <a:pt x="480" y="163"/>
                          </a:lnTo>
                          <a:lnTo>
                            <a:pt x="484" y="185"/>
                          </a:lnTo>
                          <a:lnTo>
                            <a:pt x="485" y="216"/>
                          </a:lnTo>
                          <a:lnTo>
                            <a:pt x="478" y="248"/>
                          </a:lnTo>
                          <a:lnTo>
                            <a:pt x="463" y="278"/>
                          </a:lnTo>
                          <a:lnTo>
                            <a:pt x="453" y="305"/>
                          </a:lnTo>
                          <a:lnTo>
                            <a:pt x="442" y="337"/>
                          </a:lnTo>
                          <a:lnTo>
                            <a:pt x="435" y="353"/>
                          </a:lnTo>
                          <a:lnTo>
                            <a:pt x="442" y="307"/>
                          </a:lnTo>
                          <a:lnTo>
                            <a:pt x="445" y="274"/>
                          </a:lnTo>
                          <a:lnTo>
                            <a:pt x="448" y="239"/>
                          </a:lnTo>
                          <a:lnTo>
                            <a:pt x="455" y="212"/>
                          </a:lnTo>
                          <a:lnTo>
                            <a:pt x="451" y="178"/>
                          </a:lnTo>
                          <a:lnTo>
                            <a:pt x="442" y="152"/>
                          </a:lnTo>
                          <a:lnTo>
                            <a:pt x="430" y="123"/>
                          </a:lnTo>
                          <a:lnTo>
                            <a:pt x="416" y="96"/>
                          </a:lnTo>
                          <a:lnTo>
                            <a:pt x="398" y="76"/>
                          </a:lnTo>
                          <a:lnTo>
                            <a:pt x="377" y="55"/>
                          </a:lnTo>
                          <a:lnTo>
                            <a:pt x="353" y="43"/>
                          </a:lnTo>
                          <a:lnTo>
                            <a:pt x="332" y="29"/>
                          </a:lnTo>
                          <a:lnTo>
                            <a:pt x="310" y="21"/>
                          </a:lnTo>
                          <a:lnTo>
                            <a:pt x="290" y="13"/>
                          </a:lnTo>
                          <a:lnTo>
                            <a:pt x="258" y="9"/>
                          </a:lnTo>
                          <a:lnTo>
                            <a:pt x="218" y="13"/>
                          </a:lnTo>
                          <a:lnTo>
                            <a:pt x="193" y="17"/>
                          </a:lnTo>
                          <a:lnTo>
                            <a:pt x="175" y="24"/>
                          </a:lnTo>
                          <a:lnTo>
                            <a:pt x="151" y="37"/>
                          </a:lnTo>
                          <a:lnTo>
                            <a:pt x="132" y="50"/>
                          </a:lnTo>
                          <a:lnTo>
                            <a:pt x="113" y="70"/>
                          </a:lnTo>
                          <a:lnTo>
                            <a:pt x="106" y="84"/>
                          </a:lnTo>
                          <a:lnTo>
                            <a:pt x="97" y="101"/>
                          </a:lnTo>
                          <a:lnTo>
                            <a:pt x="89" y="123"/>
                          </a:lnTo>
                          <a:lnTo>
                            <a:pt x="81" y="144"/>
                          </a:lnTo>
                          <a:lnTo>
                            <a:pt x="71" y="168"/>
                          </a:lnTo>
                          <a:lnTo>
                            <a:pt x="67" y="186"/>
                          </a:lnTo>
                          <a:lnTo>
                            <a:pt x="67" y="207"/>
                          </a:lnTo>
                          <a:lnTo>
                            <a:pt x="74" y="227"/>
                          </a:lnTo>
                          <a:lnTo>
                            <a:pt x="82" y="243"/>
                          </a:lnTo>
                          <a:lnTo>
                            <a:pt x="86" y="259"/>
                          </a:lnTo>
                          <a:lnTo>
                            <a:pt x="81" y="274"/>
                          </a:lnTo>
                          <a:lnTo>
                            <a:pt x="74" y="285"/>
                          </a:lnTo>
                          <a:lnTo>
                            <a:pt x="70" y="304"/>
                          </a:lnTo>
                          <a:lnTo>
                            <a:pt x="64" y="322"/>
                          </a:lnTo>
                          <a:lnTo>
                            <a:pt x="64" y="341"/>
                          </a:lnTo>
                          <a:lnTo>
                            <a:pt x="64" y="353"/>
                          </a:lnTo>
                          <a:lnTo>
                            <a:pt x="50" y="341"/>
                          </a:lnTo>
                          <a:lnTo>
                            <a:pt x="45" y="312"/>
                          </a:lnTo>
                          <a:lnTo>
                            <a:pt x="39" y="293"/>
                          </a:lnTo>
                          <a:lnTo>
                            <a:pt x="31" y="274"/>
                          </a:lnTo>
                          <a:lnTo>
                            <a:pt x="0" y="252"/>
                          </a:lnTo>
                          <a:close/>
                        </a:path>
                      </a:pathLst>
                    </a:custGeom>
                    <a:solidFill>
                      <a:srgbClr val="BFBFB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22" name="Freeform 248"/>
                    <p:cNvSpPr/>
                    <p:nvPr/>
                  </p:nvSpPr>
                  <p:spPr bwMode="auto">
                    <a:xfrm>
                      <a:off x="5063" y="2206"/>
                      <a:ext cx="81" cy="71"/>
                    </a:xfrm>
                    <a:custGeom>
                      <a:avLst/>
                      <a:gdLst>
                        <a:gd name="T0" fmla="*/ 2 w 485"/>
                        <a:gd name="T1" fmla="*/ 208 h 353"/>
                        <a:gd name="T2" fmla="*/ 20 w 485"/>
                        <a:gd name="T3" fmla="*/ 157 h 353"/>
                        <a:gd name="T4" fmla="*/ 49 w 485"/>
                        <a:gd name="T5" fmla="*/ 108 h 353"/>
                        <a:gd name="T6" fmla="*/ 66 w 485"/>
                        <a:gd name="T7" fmla="*/ 81 h 353"/>
                        <a:gd name="T8" fmla="*/ 84 w 485"/>
                        <a:gd name="T9" fmla="*/ 55 h 353"/>
                        <a:gd name="T10" fmla="*/ 136 w 485"/>
                        <a:gd name="T11" fmla="*/ 22 h 353"/>
                        <a:gd name="T12" fmla="*/ 187 w 485"/>
                        <a:gd name="T13" fmla="*/ 3 h 353"/>
                        <a:gd name="T14" fmla="*/ 250 w 485"/>
                        <a:gd name="T15" fmla="*/ 0 h 353"/>
                        <a:gd name="T16" fmla="*/ 307 w 485"/>
                        <a:gd name="T17" fmla="*/ 3 h 353"/>
                        <a:gd name="T18" fmla="*/ 369 w 485"/>
                        <a:gd name="T19" fmla="*/ 25 h 353"/>
                        <a:gd name="T20" fmla="*/ 402 w 485"/>
                        <a:gd name="T21" fmla="*/ 54 h 353"/>
                        <a:gd name="T22" fmla="*/ 444 w 485"/>
                        <a:gd name="T23" fmla="*/ 100 h 353"/>
                        <a:gd name="T24" fmla="*/ 473 w 485"/>
                        <a:gd name="T25" fmla="*/ 145 h 353"/>
                        <a:gd name="T26" fmla="*/ 483 w 485"/>
                        <a:gd name="T27" fmla="*/ 185 h 353"/>
                        <a:gd name="T28" fmla="*/ 478 w 485"/>
                        <a:gd name="T29" fmla="*/ 248 h 353"/>
                        <a:gd name="T30" fmla="*/ 452 w 485"/>
                        <a:gd name="T31" fmla="*/ 305 h 353"/>
                        <a:gd name="T32" fmla="*/ 435 w 485"/>
                        <a:gd name="T33" fmla="*/ 353 h 353"/>
                        <a:gd name="T34" fmla="*/ 445 w 485"/>
                        <a:gd name="T35" fmla="*/ 274 h 353"/>
                        <a:gd name="T36" fmla="*/ 455 w 485"/>
                        <a:gd name="T37" fmla="*/ 212 h 353"/>
                        <a:gd name="T38" fmla="*/ 442 w 485"/>
                        <a:gd name="T39" fmla="*/ 152 h 353"/>
                        <a:gd name="T40" fmla="*/ 415 w 485"/>
                        <a:gd name="T41" fmla="*/ 96 h 353"/>
                        <a:gd name="T42" fmla="*/ 377 w 485"/>
                        <a:gd name="T43" fmla="*/ 55 h 353"/>
                        <a:gd name="T44" fmla="*/ 332 w 485"/>
                        <a:gd name="T45" fmla="*/ 29 h 353"/>
                        <a:gd name="T46" fmla="*/ 290 w 485"/>
                        <a:gd name="T47" fmla="*/ 13 h 353"/>
                        <a:gd name="T48" fmla="*/ 218 w 485"/>
                        <a:gd name="T49" fmla="*/ 13 h 353"/>
                        <a:gd name="T50" fmla="*/ 175 w 485"/>
                        <a:gd name="T51" fmla="*/ 24 h 353"/>
                        <a:gd name="T52" fmla="*/ 132 w 485"/>
                        <a:gd name="T53" fmla="*/ 50 h 353"/>
                        <a:gd name="T54" fmla="*/ 106 w 485"/>
                        <a:gd name="T55" fmla="*/ 84 h 353"/>
                        <a:gd name="T56" fmla="*/ 92 w 485"/>
                        <a:gd name="T57" fmla="*/ 89 h 353"/>
                        <a:gd name="T58" fmla="*/ 72 w 485"/>
                        <a:gd name="T59" fmla="*/ 103 h 353"/>
                        <a:gd name="T60" fmla="*/ 58 w 485"/>
                        <a:gd name="T61" fmla="*/ 127 h 353"/>
                        <a:gd name="T62" fmla="*/ 49 w 485"/>
                        <a:gd name="T63" fmla="*/ 168 h 353"/>
                        <a:gd name="T64" fmla="*/ 46 w 485"/>
                        <a:gd name="T65" fmla="*/ 223 h 353"/>
                        <a:gd name="T66" fmla="*/ 45 w 485"/>
                        <a:gd name="T67" fmla="*/ 312 h 353"/>
                        <a:gd name="T68" fmla="*/ 31 w 485"/>
                        <a:gd name="T69" fmla="*/ 274 h 35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</a:cxnLst>
                      <a:rect l="0" t="0" r="r" b="b"/>
                      <a:pathLst>
                        <a:path w="485" h="353">
                          <a:moveTo>
                            <a:pt x="0" y="252"/>
                          </a:moveTo>
                          <a:lnTo>
                            <a:pt x="2" y="208"/>
                          </a:lnTo>
                          <a:lnTo>
                            <a:pt x="9" y="175"/>
                          </a:lnTo>
                          <a:lnTo>
                            <a:pt x="20" y="157"/>
                          </a:lnTo>
                          <a:lnTo>
                            <a:pt x="32" y="133"/>
                          </a:lnTo>
                          <a:lnTo>
                            <a:pt x="49" y="108"/>
                          </a:lnTo>
                          <a:lnTo>
                            <a:pt x="57" y="96"/>
                          </a:lnTo>
                          <a:lnTo>
                            <a:pt x="66" y="81"/>
                          </a:lnTo>
                          <a:lnTo>
                            <a:pt x="75" y="66"/>
                          </a:lnTo>
                          <a:lnTo>
                            <a:pt x="84" y="55"/>
                          </a:lnTo>
                          <a:lnTo>
                            <a:pt x="113" y="37"/>
                          </a:lnTo>
                          <a:lnTo>
                            <a:pt x="136" y="22"/>
                          </a:lnTo>
                          <a:lnTo>
                            <a:pt x="162" y="9"/>
                          </a:lnTo>
                          <a:lnTo>
                            <a:pt x="187" y="3"/>
                          </a:lnTo>
                          <a:lnTo>
                            <a:pt x="216" y="0"/>
                          </a:lnTo>
                          <a:lnTo>
                            <a:pt x="250" y="0"/>
                          </a:lnTo>
                          <a:lnTo>
                            <a:pt x="280" y="0"/>
                          </a:lnTo>
                          <a:lnTo>
                            <a:pt x="307" y="3"/>
                          </a:lnTo>
                          <a:lnTo>
                            <a:pt x="344" y="14"/>
                          </a:lnTo>
                          <a:lnTo>
                            <a:pt x="369" y="25"/>
                          </a:lnTo>
                          <a:lnTo>
                            <a:pt x="387" y="39"/>
                          </a:lnTo>
                          <a:lnTo>
                            <a:pt x="402" y="54"/>
                          </a:lnTo>
                          <a:lnTo>
                            <a:pt x="426" y="77"/>
                          </a:lnTo>
                          <a:lnTo>
                            <a:pt x="444" y="100"/>
                          </a:lnTo>
                          <a:lnTo>
                            <a:pt x="462" y="123"/>
                          </a:lnTo>
                          <a:lnTo>
                            <a:pt x="473" y="145"/>
                          </a:lnTo>
                          <a:lnTo>
                            <a:pt x="480" y="163"/>
                          </a:lnTo>
                          <a:lnTo>
                            <a:pt x="483" y="185"/>
                          </a:lnTo>
                          <a:lnTo>
                            <a:pt x="485" y="216"/>
                          </a:lnTo>
                          <a:lnTo>
                            <a:pt x="478" y="248"/>
                          </a:lnTo>
                          <a:lnTo>
                            <a:pt x="463" y="278"/>
                          </a:lnTo>
                          <a:lnTo>
                            <a:pt x="452" y="305"/>
                          </a:lnTo>
                          <a:lnTo>
                            <a:pt x="442" y="337"/>
                          </a:lnTo>
                          <a:lnTo>
                            <a:pt x="435" y="353"/>
                          </a:lnTo>
                          <a:lnTo>
                            <a:pt x="442" y="307"/>
                          </a:lnTo>
                          <a:lnTo>
                            <a:pt x="445" y="274"/>
                          </a:lnTo>
                          <a:lnTo>
                            <a:pt x="448" y="239"/>
                          </a:lnTo>
                          <a:lnTo>
                            <a:pt x="455" y="212"/>
                          </a:lnTo>
                          <a:lnTo>
                            <a:pt x="451" y="178"/>
                          </a:lnTo>
                          <a:lnTo>
                            <a:pt x="442" y="152"/>
                          </a:lnTo>
                          <a:lnTo>
                            <a:pt x="430" y="123"/>
                          </a:lnTo>
                          <a:lnTo>
                            <a:pt x="415" y="96"/>
                          </a:lnTo>
                          <a:lnTo>
                            <a:pt x="397" y="76"/>
                          </a:lnTo>
                          <a:lnTo>
                            <a:pt x="377" y="55"/>
                          </a:lnTo>
                          <a:lnTo>
                            <a:pt x="353" y="43"/>
                          </a:lnTo>
                          <a:lnTo>
                            <a:pt x="332" y="29"/>
                          </a:lnTo>
                          <a:lnTo>
                            <a:pt x="310" y="21"/>
                          </a:lnTo>
                          <a:lnTo>
                            <a:pt x="290" y="13"/>
                          </a:lnTo>
                          <a:lnTo>
                            <a:pt x="258" y="9"/>
                          </a:lnTo>
                          <a:lnTo>
                            <a:pt x="218" y="13"/>
                          </a:lnTo>
                          <a:lnTo>
                            <a:pt x="193" y="17"/>
                          </a:lnTo>
                          <a:lnTo>
                            <a:pt x="175" y="24"/>
                          </a:lnTo>
                          <a:lnTo>
                            <a:pt x="151" y="37"/>
                          </a:lnTo>
                          <a:lnTo>
                            <a:pt x="132" y="50"/>
                          </a:lnTo>
                          <a:lnTo>
                            <a:pt x="113" y="70"/>
                          </a:lnTo>
                          <a:lnTo>
                            <a:pt x="106" y="84"/>
                          </a:lnTo>
                          <a:lnTo>
                            <a:pt x="100" y="85"/>
                          </a:lnTo>
                          <a:lnTo>
                            <a:pt x="92" y="89"/>
                          </a:lnTo>
                          <a:lnTo>
                            <a:pt x="81" y="96"/>
                          </a:lnTo>
                          <a:lnTo>
                            <a:pt x="72" y="103"/>
                          </a:lnTo>
                          <a:lnTo>
                            <a:pt x="65" y="111"/>
                          </a:lnTo>
                          <a:lnTo>
                            <a:pt x="58" y="127"/>
                          </a:lnTo>
                          <a:lnTo>
                            <a:pt x="55" y="143"/>
                          </a:lnTo>
                          <a:lnTo>
                            <a:pt x="49" y="168"/>
                          </a:lnTo>
                          <a:lnTo>
                            <a:pt x="46" y="192"/>
                          </a:lnTo>
                          <a:lnTo>
                            <a:pt x="46" y="223"/>
                          </a:lnTo>
                          <a:lnTo>
                            <a:pt x="44" y="262"/>
                          </a:lnTo>
                          <a:lnTo>
                            <a:pt x="45" y="312"/>
                          </a:lnTo>
                          <a:lnTo>
                            <a:pt x="39" y="293"/>
                          </a:lnTo>
                          <a:lnTo>
                            <a:pt x="31" y="274"/>
                          </a:lnTo>
                          <a:lnTo>
                            <a:pt x="0" y="252"/>
                          </a:lnTo>
                          <a:close/>
                        </a:path>
                      </a:pathLst>
                    </a:custGeom>
                    <a:solidFill>
                      <a:srgbClr val="9F9F9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404" name="Group 249"/>
                  <p:cNvGrpSpPr/>
                  <p:nvPr/>
                </p:nvGrpSpPr>
                <p:grpSpPr bwMode="auto">
                  <a:xfrm>
                    <a:off x="5084" y="2252"/>
                    <a:ext cx="50" cy="15"/>
                    <a:chOff x="5084" y="2252"/>
                    <a:chExt cx="50" cy="15"/>
                  </a:xfrm>
                </p:grpSpPr>
                <p:sp>
                  <p:nvSpPr>
                    <p:cNvPr id="419" name="Freeform 250"/>
                    <p:cNvSpPr/>
                    <p:nvPr/>
                  </p:nvSpPr>
                  <p:spPr bwMode="auto">
                    <a:xfrm>
                      <a:off x="5084" y="2252"/>
                      <a:ext cx="24" cy="9"/>
                    </a:xfrm>
                    <a:custGeom>
                      <a:avLst/>
                      <a:gdLst>
                        <a:gd name="T0" fmla="*/ 143 w 143"/>
                        <a:gd name="T1" fmla="*/ 45 h 45"/>
                        <a:gd name="T2" fmla="*/ 143 w 143"/>
                        <a:gd name="T3" fmla="*/ 37 h 45"/>
                        <a:gd name="T4" fmla="*/ 140 w 143"/>
                        <a:gd name="T5" fmla="*/ 26 h 45"/>
                        <a:gd name="T6" fmla="*/ 129 w 143"/>
                        <a:gd name="T7" fmla="*/ 18 h 45"/>
                        <a:gd name="T8" fmla="*/ 117 w 143"/>
                        <a:gd name="T9" fmla="*/ 10 h 45"/>
                        <a:gd name="T10" fmla="*/ 106 w 143"/>
                        <a:gd name="T11" fmla="*/ 3 h 45"/>
                        <a:gd name="T12" fmla="*/ 97 w 143"/>
                        <a:gd name="T13" fmla="*/ 3 h 45"/>
                        <a:gd name="T14" fmla="*/ 82 w 143"/>
                        <a:gd name="T15" fmla="*/ 3 h 45"/>
                        <a:gd name="T16" fmla="*/ 74 w 143"/>
                        <a:gd name="T17" fmla="*/ 0 h 45"/>
                        <a:gd name="T18" fmla="*/ 52 w 143"/>
                        <a:gd name="T19" fmla="*/ 0 h 45"/>
                        <a:gd name="T20" fmla="*/ 38 w 143"/>
                        <a:gd name="T21" fmla="*/ 1 h 45"/>
                        <a:gd name="T22" fmla="*/ 24 w 143"/>
                        <a:gd name="T23" fmla="*/ 6 h 45"/>
                        <a:gd name="T24" fmla="*/ 12 w 143"/>
                        <a:gd name="T25" fmla="*/ 15 h 45"/>
                        <a:gd name="T26" fmla="*/ 0 w 143"/>
                        <a:gd name="T27" fmla="*/ 24 h 45"/>
                        <a:gd name="T28" fmla="*/ 15 w 143"/>
                        <a:gd name="T29" fmla="*/ 17 h 45"/>
                        <a:gd name="T30" fmla="*/ 30 w 143"/>
                        <a:gd name="T31" fmla="*/ 16 h 45"/>
                        <a:gd name="T32" fmla="*/ 43 w 143"/>
                        <a:gd name="T33" fmla="*/ 15 h 45"/>
                        <a:gd name="T34" fmla="*/ 64 w 143"/>
                        <a:gd name="T35" fmla="*/ 17 h 45"/>
                        <a:gd name="T36" fmla="*/ 77 w 143"/>
                        <a:gd name="T37" fmla="*/ 17 h 45"/>
                        <a:gd name="T38" fmla="*/ 91 w 143"/>
                        <a:gd name="T39" fmla="*/ 18 h 45"/>
                        <a:gd name="T40" fmla="*/ 112 w 143"/>
                        <a:gd name="T41" fmla="*/ 27 h 45"/>
                        <a:gd name="T42" fmla="*/ 129 w 143"/>
                        <a:gd name="T43" fmla="*/ 37 h 45"/>
                        <a:gd name="T44" fmla="*/ 143 w 143"/>
                        <a:gd name="T45" fmla="*/ 45 h 4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</a:cxnLst>
                      <a:rect l="0" t="0" r="r" b="b"/>
                      <a:pathLst>
                        <a:path w="143" h="45">
                          <a:moveTo>
                            <a:pt x="143" y="45"/>
                          </a:moveTo>
                          <a:lnTo>
                            <a:pt x="143" y="37"/>
                          </a:lnTo>
                          <a:lnTo>
                            <a:pt x="140" y="26"/>
                          </a:lnTo>
                          <a:lnTo>
                            <a:pt x="129" y="18"/>
                          </a:lnTo>
                          <a:lnTo>
                            <a:pt x="117" y="10"/>
                          </a:lnTo>
                          <a:lnTo>
                            <a:pt x="106" y="3"/>
                          </a:lnTo>
                          <a:lnTo>
                            <a:pt x="97" y="3"/>
                          </a:lnTo>
                          <a:lnTo>
                            <a:pt x="82" y="3"/>
                          </a:lnTo>
                          <a:lnTo>
                            <a:pt x="74" y="0"/>
                          </a:lnTo>
                          <a:lnTo>
                            <a:pt x="52" y="0"/>
                          </a:lnTo>
                          <a:lnTo>
                            <a:pt x="38" y="1"/>
                          </a:lnTo>
                          <a:lnTo>
                            <a:pt x="24" y="6"/>
                          </a:lnTo>
                          <a:lnTo>
                            <a:pt x="12" y="15"/>
                          </a:lnTo>
                          <a:lnTo>
                            <a:pt x="0" y="24"/>
                          </a:lnTo>
                          <a:lnTo>
                            <a:pt x="15" y="17"/>
                          </a:lnTo>
                          <a:lnTo>
                            <a:pt x="30" y="16"/>
                          </a:lnTo>
                          <a:lnTo>
                            <a:pt x="43" y="15"/>
                          </a:lnTo>
                          <a:lnTo>
                            <a:pt x="64" y="17"/>
                          </a:lnTo>
                          <a:lnTo>
                            <a:pt x="77" y="17"/>
                          </a:lnTo>
                          <a:lnTo>
                            <a:pt x="91" y="18"/>
                          </a:lnTo>
                          <a:lnTo>
                            <a:pt x="112" y="27"/>
                          </a:lnTo>
                          <a:lnTo>
                            <a:pt x="129" y="37"/>
                          </a:lnTo>
                          <a:lnTo>
                            <a:pt x="143" y="45"/>
                          </a:lnTo>
                          <a:close/>
                        </a:path>
                      </a:pathLst>
                    </a:custGeom>
                    <a:solidFill>
                      <a:srgbClr val="5F3F1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20" name="Freeform 251"/>
                    <p:cNvSpPr/>
                    <p:nvPr/>
                  </p:nvSpPr>
                  <p:spPr bwMode="auto">
                    <a:xfrm>
                      <a:off x="5116" y="2256"/>
                      <a:ext cx="18" cy="11"/>
                    </a:xfrm>
                    <a:custGeom>
                      <a:avLst/>
                      <a:gdLst>
                        <a:gd name="T0" fmla="*/ 0 w 110"/>
                        <a:gd name="T1" fmla="*/ 23 h 55"/>
                        <a:gd name="T2" fmla="*/ 4 w 110"/>
                        <a:gd name="T3" fmla="*/ 18 h 55"/>
                        <a:gd name="T4" fmla="*/ 15 w 110"/>
                        <a:gd name="T5" fmla="*/ 11 h 55"/>
                        <a:gd name="T6" fmla="*/ 31 w 110"/>
                        <a:gd name="T7" fmla="*/ 3 h 55"/>
                        <a:gd name="T8" fmla="*/ 44 w 110"/>
                        <a:gd name="T9" fmla="*/ 0 h 55"/>
                        <a:gd name="T10" fmla="*/ 62 w 110"/>
                        <a:gd name="T11" fmla="*/ 0 h 55"/>
                        <a:gd name="T12" fmla="*/ 79 w 110"/>
                        <a:gd name="T13" fmla="*/ 2 h 55"/>
                        <a:gd name="T14" fmla="*/ 96 w 110"/>
                        <a:gd name="T15" fmla="*/ 12 h 55"/>
                        <a:gd name="T16" fmla="*/ 103 w 110"/>
                        <a:gd name="T17" fmla="*/ 20 h 55"/>
                        <a:gd name="T18" fmla="*/ 108 w 110"/>
                        <a:gd name="T19" fmla="*/ 32 h 55"/>
                        <a:gd name="T20" fmla="*/ 110 w 110"/>
                        <a:gd name="T21" fmla="*/ 45 h 55"/>
                        <a:gd name="T22" fmla="*/ 108 w 110"/>
                        <a:gd name="T23" fmla="*/ 55 h 55"/>
                        <a:gd name="T24" fmla="*/ 104 w 110"/>
                        <a:gd name="T25" fmla="*/ 39 h 55"/>
                        <a:gd name="T26" fmla="*/ 97 w 110"/>
                        <a:gd name="T27" fmla="*/ 29 h 55"/>
                        <a:gd name="T28" fmla="*/ 87 w 110"/>
                        <a:gd name="T29" fmla="*/ 18 h 55"/>
                        <a:gd name="T30" fmla="*/ 74 w 110"/>
                        <a:gd name="T31" fmla="*/ 15 h 55"/>
                        <a:gd name="T32" fmla="*/ 62 w 110"/>
                        <a:gd name="T33" fmla="*/ 17 h 55"/>
                        <a:gd name="T34" fmla="*/ 53 w 110"/>
                        <a:gd name="T35" fmla="*/ 16 h 55"/>
                        <a:gd name="T36" fmla="*/ 42 w 110"/>
                        <a:gd name="T37" fmla="*/ 16 h 55"/>
                        <a:gd name="T38" fmla="*/ 31 w 110"/>
                        <a:gd name="T39" fmla="*/ 20 h 55"/>
                        <a:gd name="T40" fmla="*/ 16 w 110"/>
                        <a:gd name="T41" fmla="*/ 27 h 55"/>
                        <a:gd name="T42" fmla="*/ 3 w 110"/>
                        <a:gd name="T43" fmla="*/ 28 h 55"/>
                        <a:gd name="T44" fmla="*/ 0 w 110"/>
                        <a:gd name="T45" fmla="*/ 23 h 5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</a:cxnLst>
                      <a:rect l="0" t="0" r="r" b="b"/>
                      <a:pathLst>
                        <a:path w="110" h="55">
                          <a:moveTo>
                            <a:pt x="0" y="23"/>
                          </a:moveTo>
                          <a:lnTo>
                            <a:pt x="4" y="18"/>
                          </a:lnTo>
                          <a:lnTo>
                            <a:pt x="15" y="11"/>
                          </a:lnTo>
                          <a:lnTo>
                            <a:pt x="31" y="3"/>
                          </a:lnTo>
                          <a:lnTo>
                            <a:pt x="44" y="0"/>
                          </a:lnTo>
                          <a:lnTo>
                            <a:pt x="62" y="0"/>
                          </a:lnTo>
                          <a:lnTo>
                            <a:pt x="79" y="2"/>
                          </a:lnTo>
                          <a:lnTo>
                            <a:pt x="96" y="12"/>
                          </a:lnTo>
                          <a:lnTo>
                            <a:pt x="103" y="20"/>
                          </a:lnTo>
                          <a:lnTo>
                            <a:pt x="108" y="32"/>
                          </a:lnTo>
                          <a:lnTo>
                            <a:pt x="110" y="45"/>
                          </a:lnTo>
                          <a:lnTo>
                            <a:pt x="108" y="55"/>
                          </a:lnTo>
                          <a:lnTo>
                            <a:pt x="104" y="39"/>
                          </a:lnTo>
                          <a:lnTo>
                            <a:pt x="97" y="29"/>
                          </a:lnTo>
                          <a:lnTo>
                            <a:pt x="87" y="18"/>
                          </a:lnTo>
                          <a:lnTo>
                            <a:pt x="74" y="15"/>
                          </a:lnTo>
                          <a:lnTo>
                            <a:pt x="62" y="17"/>
                          </a:lnTo>
                          <a:lnTo>
                            <a:pt x="53" y="16"/>
                          </a:lnTo>
                          <a:lnTo>
                            <a:pt x="42" y="16"/>
                          </a:lnTo>
                          <a:lnTo>
                            <a:pt x="31" y="20"/>
                          </a:lnTo>
                          <a:lnTo>
                            <a:pt x="16" y="27"/>
                          </a:lnTo>
                          <a:lnTo>
                            <a:pt x="3" y="28"/>
                          </a:lnTo>
                          <a:lnTo>
                            <a:pt x="0" y="23"/>
                          </a:lnTo>
                          <a:close/>
                        </a:path>
                      </a:pathLst>
                    </a:custGeom>
                    <a:solidFill>
                      <a:srgbClr val="5F3F1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405" name="Group 252"/>
                  <p:cNvGrpSpPr/>
                  <p:nvPr/>
                </p:nvGrpSpPr>
                <p:grpSpPr bwMode="auto">
                  <a:xfrm>
                    <a:off x="5115" y="2265"/>
                    <a:ext cx="13" cy="9"/>
                    <a:chOff x="5115" y="2265"/>
                    <a:chExt cx="13" cy="9"/>
                  </a:xfrm>
                </p:grpSpPr>
                <p:sp>
                  <p:nvSpPr>
                    <p:cNvPr id="413" name="Freeform 253"/>
                    <p:cNvSpPr/>
                    <p:nvPr/>
                  </p:nvSpPr>
                  <p:spPr bwMode="auto">
                    <a:xfrm>
                      <a:off x="5116" y="2265"/>
                      <a:ext cx="12" cy="7"/>
                    </a:xfrm>
                    <a:custGeom>
                      <a:avLst/>
                      <a:gdLst>
                        <a:gd name="T0" fmla="*/ 0 w 71"/>
                        <a:gd name="T1" fmla="*/ 16 h 35"/>
                        <a:gd name="T2" fmla="*/ 6 w 71"/>
                        <a:gd name="T3" fmla="*/ 8 h 35"/>
                        <a:gd name="T4" fmla="*/ 19 w 71"/>
                        <a:gd name="T5" fmla="*/ 1 h 35"/>
                        <a:gd name="T6" fmla="*/ 32 w 71"/>
                        <a:gd name="T7" fmla="*/ 0 h 35"/>
                        <a:gd name="T8" fmla="*/ 44 w 71"/>
                        <a:gd name="T9" fmla="*/ 3 h 35"/>
                        <a:gd name="T10" fmla="*/ 51 w 71"/>
                        <a:gd name="T11" fmla="*/ 5 h 35"/>
                        <a:gd name="T12" fmla="*/ 64 w 71"/>
                        <a:gd name="T13" fmla="*/ 14 h 35"/>
                        <a:gd name="T14" fmla="*/ 71 w 71"/>
                        <a:gd name="T15" fmla="*/ 27 h 35"/>
                        <a:gd name="T16" fmla="*/ 61 w 71"/>
                        <a:gd name="T17" fmla="*/ 29 h 35"/>
                        <a:gd name="T18" fmla="*/ 50 w 71"/>
                        <a:gd name="T19" fmla="*/ 32 h 35"/>
                        <a:gd name="T20" fmla="*/ 40 w 71"/>
                        <a:gd name="T21" fmla="*/ 35 h 35"/>
                        <a:gd name="T22" fmla="*/ 28 w 71"/>
                        <a:gd name="T23" fmla="*/ 35 h 35"/>
                        <a:gd name="T24" fmla="*/ 19 w 71"/>
                        <a:gd name="T25" fmla="*/ 31 h 35"/>
                        <a:gd name="T26" fmla="*/ 0 w 71"/>
                        <a:gd name="T27" fmla="*/ 16 h 3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</a:cxnLst>
                      <a:rect l="0" t="0" r="r" b="b"/>
                      <a:pathLst>
                        <a:path w="71" h="35">
                          <a:moveTo>
                            <a:pt x="0" y="16"/>
                          </a:moveTo>
                          <a:lnTo>
                            <a:pt x="6" y="8"/>
                          </a:lnTo>
                          <a:lnTo>
                            <a:pt x="19" y="1"/>
                          </a:lnTo>
                          <a:lnTo>
                            <a:pt x="32" y="0"/>
                          </a:lnTo>
                          <a:lnTo>
                            <a:pt x="44" y="3"/>
                          </a:lnTo>
                          <a:lnTo>
                            <a:pt x="51" y="5"/>
                          </a:lnTo>
                          <a:lnTo>
                            <a:pt x="64" y="14"/>
                          </a:lnTo>
                          <a:lnTo>
                            <a:pt x="71" y="27"/>
                          </a:lnTo>
                          <a:lnTo>
                            <a:pt x="61" y="29"/>
                          </a:lnTo>
                          <a:lnTo>
                            <a:pt x="50" y="32"/>
                          </a:lnTo>
                          <a:lnTo>
                            <a:pt x="40" y="35"/>
                          </a:lnTo>
                          <a:lnTo>
                            <a:pt x="28" y="35"/>
                          </a:lnTo>
                          <a:lnTo>
                            <a:pt x="19" y="31"/>
                          </a:lnTo>
                          <a:lnTo>
                            <a:pt x="0" y="16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grpSp>
                  <p:nvGrpSpPr>
                    <p:cNvPr id="414" name="Group 254"/>
                    <p:cNvGrpSpPr/>
                    <p:nvPr/>
                  </p:nvGrpSpPr>
                  <p:grpSpPr bwMode="auto">
                    <a:xfrm>
                      <a:off x="5118" y="2265"/>
                      <a:ext cx="9" cy="9"/>
                      <a:chOff x="5118" y="2265"/>
                      <a:chExt cx="9" cy="9"/>
                    </a:xfrm>
                  </p:grpSpPr>
                  <p:sp>
                    <p:nvSpPr>
                      <p:cNvPr id="416" name="Oval 25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118" y="2265"/>
                        <a:ext cx="9" cy="9"/>
                      </a:xfrm>
                      <a:prstGeom prst="ellipse">
                        <a:avLst/>
                      </a:prstGeom>
                      <a:solidFill>
                        <a:srgbClr val="7F3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417" name="Oval 25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120" y="2266"/>
                        <a:ext cx="6" cy="8"/>
                      </a:xfrm>
                      <a:prstGeom prst="ellipse">
                        <a:avLst/>
                      </a:pr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418" name="Oval 25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124" y="2268"/>
                        <a:ext cx="1" cy="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sp>
                  <p:nvSpPr>
                    <p:cNvPr id="415" name="Freeform 258"/>
                    <p:cNvSpPr/>
                    <p:nvPr/>
                  </p:nvSpPr>
                  <p:spPr bwMode="auto">
                    <a:xfrm>
                      <a:off x="5115" y="2265"/>
                      <a:ext cx="13" cy="5"/>
                    </a:xfrm>
                    <a:custGeom>
                      <a:avLst/>
                      <a:gdLst>
                        <a:gd name="T0" fmla="*/ 9 w 76"/>
                        <a:gd name="T1" fmla="*/ 22 h 26"/>
                        <a:gd name="T2" fmla="*/ 0 w 76"/>
                        <a:gd name="T3" fmla="*/ 23 h 26"/>
                        <a:gd name="T4" fmla="*/ 10 w 76"/>
                        <a:gd name="T5" fmla="*/ 13 h 26"/>
                        <a:gd name="T6" fmla="*/ 19 w 76"/>
                        <a:gd name="T7" fmla="*/ 5 h 26"/>
                        <a:gd name="T8" fmla="*/ 34 w 76"/>
                        <a:gd name="T9" fmla="*/ 0 h 26"/>
                        <a:gd name="T10" fmla="*/ 49 w 76"/>
                        <a:gd name="T11" fmla="*/ 0 h 26"/>
                        <a:gd name="T12" fmla="*/ 61 w 76"/>
                        <a:gd name="T13" fmla="*/ 6 h 26"/>
                        <a:gd name="T14" fmla="*/ 67 w 76"/>
                        <a:gd name="T15" fmla="*/ 13 h 26"/>
                        <a:gd name="T16" fmla="*/ 73 w 76"/>
                        <a:gd name="T17" fmla="*/ 22 h 26"/>
                        <a:gd name="T18" fmla="*/ 76 w 76"/>
                        <a:gd name="T19" fmla="*/ 26 h 2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</a:cxnLst>
                      <a:rect l="0" t="0" r="r" b="b"/>
                      <a:pathLst>
                        <a:path w="76" h="26">
                          <a:moveTo>
                            <a:pt x="9" y="22"/>
                          </a:moveTo>
                          <a:lnTo>
                            <a:pt x="0" y="23"/>
                          </a:lnTo>
                          <a:lnTo>
                            <a:pt x="10" y="13"/>
                          </a:lnTo>
                          <a:lnTo>
                            <a:pt x="19" y="5"/>
                          </a:lnTo>
                          <a:lnTo>
                            <a:pt x="34" y="0"/>
                          </a:lnTo>
                          <a:lnTo>
                            <a:pt x="49" y="0"/>
                          </a:lnTo>
                          <a:lnTo>
                            <a:pt x="61" y="6"/>
                          </a:lnTo>
                          <a:lnTo>
                            <a:pt x="67" y="13"/>
                          </a:lnTo>
                          <a:lnTo>
                            <a:pt x="73" y="22"/>
                          </a:lnTo>
                          <a:lnTo>
                            <a:pt x="76" y="26"/>
                          </a:lnTo>
                        </a:path>
                      </a:pathLst>
                    </a:custGeom>
                    <a:noFill/>
                    <a:ln w="1588">
                      <a:solidFill>
                        <a:srgbClr val="000000"/>
                      </a:solidFill>
                      <a:prstDash val="solid"/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406" name="Group 259"/>
                  <p:cNvGrpSpPr/>
                  <p:nvPr/>
                </p:nvGrpSpPr>
                <p:grpSpPr bwMode="auto">
                  <a:xfrm>
                    <a:off x="5088" y="2260"/>
                    <a:ext cx="14" cy="9"/>
                    <a:chOff x="5088" y="2260"/>
                    <a:chExt cx="14" cy="9"/>
                  </a:xfrm>
                </p:grpSpPr>
                <p:sp>
                  <p:nvSpPr>
                    <p:cNvPr id="407" name="Freeform 260"/>
                    <p:cNvSpPr/>
                    <p:nvPr/>
                  </p:nvSpPr>
                  <p:spPr bwMode="auto">
                    <a:xfrm>
                      <a:off x="5090" y="2260"/>
                      <a:ext cx="12" cy="7"/>
                    </a:xfrm>
                    <a:custGeom>
                      <a:avLst/>
                      <a:gdLst>
                        <a:gd name="T0" fmla="*/ 74 w 74"/>
                        <a:gd name="T1" fmla="*/ 23 h 33"/>
                        <a:gd name="T2" fmla="*/ 60 w 74"/>
                        <a:gd name="T3" fmla="*/ 12 h 33"/>
                        <a:gd name="T4" fmla="*/ 50 w 74"/>
                        <a:gd name="T5" fmla="*/ 4 h 33"/>
                        <a:gd name="T6" fmla="*/ 41 w 74"/>
                        <a:gd name="T7" fmla="*/ 2 h 33"/>
                        <a:gd name="T8" fmla="*/ 34 w 74"/>
                        <a:gd name="T9" fmla="*/ 0 h 33"/>
                        <a:gd name="T10" fmla="*/ 25 w 74"/>
                        <a:gd name="T11" fmla="*/ 0 h 33"/>
                        <a:gd name="T12" fmla="*/ 15 w 74"/>
                        <a:gd name="T13" fmla="*/ 4 h 33"/>
                        <a:gd name="T14" fmla="*/ 7 w 74"/>
                        <a:gd name="T15" fmla="*/ 11 h 33"/>
                        <a:gd name="T16" fmla="*/ 0 w 74"/>
                        <a:gd name="T17" fmla="*/ 18 h 33"/>
                        <a:gd name="T18" fmla="*/ 6 w 74"/>
                        <a:gd name="T19" fmla="*/ 22 h 33"/>
                        <a:gd name="T20" fmla="*/ 19 w 74"/>
                        <a:gd name="T21" fmla="*/ 29 h 33"/>
                        <a:gd name="T22" fmla="*/ 34 w 74"/>
                        <a:gd name="T23" fmla="*/ 33 h 33"/>
                        <a:gd name="T24" fmla="*/ 48 w 74"/>
                        <a:gd name="T25" fmla="*/ 32 h 33"/>
                        <a:gd name="T26" fmla="*/ 56 w 74"/>
                        <a:gd name="T27" fmla="*/ 27 h 33"/>
                        <a:gd name="T28" fmla="*/ 62 w 74"/>
                        <a:gd name="T29" fmla="*/ 25 h 33"/>
                        <a:gd name="T30" fmla="*/ 74 w 74"/>
                        <a:gd name="T31" fmla="*/ 23 h 3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</a:cxnLst>
                      <a:rect l="0" t="0" r="r" b="b"/>
                      <a:pathLst>
                        <a:path w="74" h="33">
                          <a:moveTo>
                            <a:pt x="74" y="23"/>
                          </a:moveTo>
                          <a:lnTo>
                            <a:pt x="60" y="12"/>
                          </a:lnTo>
                          <a:lnTo>
                            <a:pt x="50" y="4"/>
                          </a:lnTo>
                          <a:lnTo>
                            <a:pt x="41" y="2"/>
                          </a:lnTo>
                          <a:lnTo>
                            <a:pt x="34" y="0"/>
                          </a:lnTo>
                          <a:lnTo>
                            <a:pt x="25" y="0"/>
                          </a:lnTo>
                          <a:lnTo>
                            <a:pt x="15" y="4"/>
                          </a:lnTo>
                          <a:lnTo>
                            <a:pt x="7" y="11"/>
                          </a:lnTo>
                          <a:lnTo>
                            <a:pt x="0" y="18"/>
                          </a:lnTo>
                          <a:lnTo>
                            <a:pt x="6" y="22"/>
                          </a:lnTo>
                          <a:lnTo>
                            <a:pt x="19" y="29"/>
                          </a:lnTo>
                          <a:lnTo>
                            <a:pt x="34" y="33"/>
                          </a:lnTo>
                          <a:lnTo>
                            <a:pt x="48" y="32"/>
                          </a:lnTo>
                          <a:lnTo>
                            <a:pt x="56" y="27"/>
                          </a:lnTo>
                          <a:lnTo>
                            <a:pt x="62" y="25"/>
                          </a:lnTo>
                          <a:lnTo>
                            <a:pt x="74" y="23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grpSp>
                  <p:nvGrpSpPr>
                    <p:cNvPr id="408" name="Group 261"/>
                    <p:cNvGrpSpPr/>
                    <p:nvPr/>
                  </p:nvGrpSpPr>
                  <p:grpSpPr bwMode="auto">
                    <a:xfrm>
                      <a:off x="5093" y="2260"/>
                      <a:ext cx="9" cy="9"/>
                      <a:chOff x="5093" y="2260"/>
                      <a:chExt cx="9" cy="9"/>
                    </a:xfrm>
                  </p:grpSpPr>
                  <p:sp>
                    <p:nvSpPr>
                      <p:cNvPr id="410" name="Oval 26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093" y="2260"/>
                        <a:ext cx="9" cy="9"/>
                      </a:xfrm>
                      <a:prstGeom prst="ellipse">
                        <a:avLst/>
                      </a:prstGeom>
                      <a:solidFill>
                        <a:srgbClr val="7F3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411" name="Oval 26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095" y="2262"/>
                        <a:ext cx="5" cy="7"/>
                      </a:xfrm>
                      <a:prstGeom prst="ellipse">
                        <a:avLst/>
                      </a:pr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412" name="Oval 26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098" y="2263"/>
                        <a:ext cx="2" cy="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sp>
                  <p:nvSpPr>
                    <p:cNvPr id="409" name="Freeform 265"/>
                    <p:cNvSpPr/>
                    <p:nvPr/>
                  </p:nvSpPr>
                  <p:spPr bwMode="auto">
                    <a:xfrm>
                      <a:off x="5088" y="2260"/>
                      <a:ext cx="13" cy="4"/>
                    </a:xfrm>
                    <a:custGeom>
                      <a:avLst/>
                      <a:gdLst>
                        <a:gd name="T0" fmla="*/ 76 w 76"/>
                        <a:gd name="T1" fmla="*/ 19 h 21"/>
                        <a:gd name="T2" fmla="*/ 67 w 76"/>
                        <a:gd name="T3" fmla="*/ 10 h 21"/>
                        <a:gd name="T4" fmla="*/ 59 w 76"/>
                        <a:gd name="T5" fmla="*/ 4 h 21"/>
                        <a:gd name="T6" fmla="*/ 50 w 76"/>
                        <a:gd name="T7" fmla="*/ 0 h 21"/>
                        <a:gd name="T8" fmla="*/ 40 w 76"/>
                        <a:gd name="T9" fmla="*/ 0 h 21"/>
                        <a:gd name="T10" fmla="*/ 32 w 76"/>
                        <a:gd name="T11" fmla="*/ 2 h 21"/>
                        <a:gd name="T12" fmla="*/ 24 w 76"/>
                        <a:gd name="T13" fmla="*/ 8 h 21"/>
                        <a:gd name="T14" fmla="*/ 15 w 76"/>
                        <a:gd name="T15" fmla="*/ 13 h 21"/>
                        <a:gd name="T16" fmla="*/ 8 w 76"/>
                        <a:gd name="T17" fmla="*/ 20 h 21"/>
                        <a:gd name="T18" fmla="*/ 0 w 76"/>
                        <a:gd name="T19" fmla="*/ 21 h 2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</a:cxnLst>
                      <a:rect l="0" t="0" r="r" b="b"/>
                      <a:pathLst>
                        <a:path w="76" h="21">
                          <a:moveTo>
                            <a:pt x="76" y="19"/>
                          </a:moveTo>
                          <a:lnTo>
                            <a:pt x="67" y="10"/>
                          </a:lnTo>
                          <a:lnTo>
                            <a:pt x="59" y="4"/>
                          </a:lnTo>
                          <a:lnTo>
                            <a:pt x="50" y="0"/>
                          </a:lnTo>
                          <a:lnTo>
                            <a:pt x="40" y="0"/>
                          </a:lnTo>
                          <a:lnTo>
                            <a:pt x="32" y="2"/>
                          </a:lnTo>
                          <a:lnTo>
                            <a:pt x="24" y="8"/>
                          </a:lnTo>
                          <a:lnTo>
                            <a:pt x="15" y="13"/>
                          </a:lnTo>
                          <a:lnTo>
                            <a:pt x="8" y="20"/>
                          </a:lnTo>
                          <a:lnTo>
                            <a:pt x="0" y="21"/>
                          </a:lnTo>
                        </a:path>
                      </a:pathLst>
                    </a:custGeom>
                    <a:noFill/>
                    <a:ln w="1588">
                      <a:solidFill>
                        <a:srgbClr val="000000"/>
                      </a:solidFill>
                      <a:prstDash val="solid"/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</p:grpSp>
          <p:grpSp>
            <p:nvGrpSpPr>
              <p:cNvPr id="248" name="Group 266"/>
              <p:cNvGrpSpPr/>
              <p:nvPr/>
            </p:nvGrpSpPr>
            <p:grpSpPr bwMode="auto">
              <a:xfrm>
                <a:off x="5085" y="2258"/>
                <a:ext cx="261" cy="488"/>
                <a:chOff x="5085" y="2258"/>
                <a:chExt cx="261" cy="488"/>
              </a:xfrm>
            </p:grpSpPr>
            <p:grpSp>
              <p:nvGrpSpPr>
                <p:cNvPr id="317" name="Group 267"/>
                <p:cNvGrpSpPr/>
                <p:nvPr/>
              </p:nvGrpSpPr>
              <p:grpSpPr bwMode="auto">
                <a:xfrm>
                  <a:off x="5314" y="2616"/>
                  <a:ext cx="32" cy="121"/>
                  <a:chOff x="5314" y="2616"/>
                  <a:chExt cx="32" cy="121"/>
                </a:xfrm>
              </p:grpSpPr>
              <p:sp>
                <p:nvSpPr>
                  <p:cNvPr id="385" name="Freeform 268"/>
                  <p:cNvSpPr/>
                  <p:nvPr/>
                </p:nvSpPr>
                <p:spPr bwMode="auto">
                  <a:xfrm>
                    <a:off x="5314" y="2616"/>
                    <a:ext cx="32" cy="121"/>
                  </a:xfrm>
                  <a:custGeom>
                    <a:avLst/>
                    <a:gdLst>
                      <a:gd name="T0" fmla="*/ 141 w 191"/>
                      <a:gd name="T1" fmla="*/ 0 h 606"/>
                      <a:gd name="T2" fmla="*/ 136 w 191"/>
                      <a:gd name="T3" fmla="*/ 106 h 606"/>
                      <a:gd name="T4" fmla="*/ 134 w 191"/>
                      <a:gd name="T5" fmla="*/ 202 h 606"/>
                      <a:gd name="T6" fmla="*/ 125 w 191"/>
                      <a:gd name="T7" fmla="*/ 296 h 606"/>
                      <a:gd name="T8" fmla="*/ 136 w 191"/>
                      <a:gd name="T9" fmla="*/ 328 h 606"/>
                      <a:gd name="T10" fmla="*/ 149 w 191"/>
                      <a:gd name="T11" fmla="*/ 363 h 606"/>
                      <a:gd name="T12" fmla="*/ 166 w 191"/>
                      <a:gd name="T13" fmla="*/ 399 h 606"/>
                      <a:gd name="T14" fmla="*/ 171 w 191"/>
                      <a:gd name="T15" fmla="*/ 413 h 606"/>
                      <a:gd name="T16" fmla="*/ 177 w 191"/>
                      <a:gd name="T17" fmla="*/ 421 h 606"/>
                      <a:gd name="T18" fmla="*/ 182 w 191"/>
                      <a:gd name="T19" fmla="*/ 442 h 606"/>
                      <a:gd name="T20" fmla="*/ 191 w 191"/>
                      <a:gd name="T21" fmla="*/ 484 h 606"/>
                      <a:gd name="T22" fmla="*/ 185 w 191"/>
                      <a:gd name="T23" fmla="*/ 506 h 606"/>
                      <a:gd name="T24" fmla="*/ 177 w 191"/>
                      <a:gd name="T25" fmla="*/ 511 h 606"/>
                      <a:gd name="T26" fmla="*/ 173 w 191"/>
                      <a:gd name="T27" fmla="*/ 525 h 606"/>
                      <a:gd name="T28" fmla="*/ 167 w 191"/>
                      <a:gd name="T29" fmla="*/ 532 h 606"/>
                      <a:gd name="T30" fmla="*/ 153 w 191"/>
                      <a:gd name="T31" fmla="*/ 537 h 606"/>
                      <a:gd name="T32" fmla="*/ 155 w 191"/>
                      <a:gd name="T33" fmla="*/ 554 h 606"/>
                      <a:gd name="T34" fmla="*/ 152 w 191"/>
                      <a:gd name="T35" fmla="*/ 559 h 606"/>
                      <a:gd name="T36" fmla="*/ 129 w 191"/>
                      <a:gd name="T37" fmla="*/ 562 h 606"/>
                      <a:gd name="T38" fmla="*/ 123 w 191"/>
                      <a:gd name="T39" fmla="*/ 589 h 606"/>
                      <a:gd name="T40" fmla="*/ 80 w 191"/>
                      <a:gd name="T41" fmla="*/ 606 h 606"/>
                      <a:gd name="T42" fmla="*/ 57 w 191"/>
                      <a:gd name="T43" fmla="*/ 588 h 606"/>
                      <a:gd name="T44" fmla="*/ 47 w 191"/>
                      <a:gd name="T45" fmla="*/ 578 h 606"/>
                      <a:gd name="T46" fmla="*/ 45 w 191"/>
                      <a:gd name="T47" fmla="*/ 552 h 606"/>
                      <a:gd name="T48" fmla="*/ 69 w 191"/>
                      <a:gd name="T49" fmla="*/ 522 h 606"/>
                      <a:gd name="T50" fmla="*/ 55 w 191"/>
                      <a:gd name="T51" fmla="*/ 496 h 606"/>
                      <a:gd name="T52" fmla="*/ 36 w 191"/>
                      <a:gd name="T53" fmla="*/ 517 h 606"/>
                      <a:gd name="T54" fmla="*/ 35 w 191"/>
                      <a:gd name="T55" fmla="*/ 540 h 606"/>
                      <a:gd name="T56" fmla="*/ 27 w 191"/>
                      <a:gd name="T57" fmla="*/ 556 h 606"/>
                      <a:gd name="T58" fmla="*/ 19 w 191"/>
                      <a:gd name="T59" fmla="*/ 561 h 606"/>
                      <a:gd name="T60" fmla="*/ 10 w 191"/>
                      <a:gd name="T61" fmla="*/ 569 h 606"/>
                      <a:gd name="T62" fmla="*/ 0 w 191"/>
                      <a:gd name="T63" fmla="*/ 562 h 606"/>
                      <a:gd name="T64" fmla="*/ 4 w 191"/>
                      <a:gd name="T65" fmla="*/ 543 h 606"/>
                      <a:gd name="T66" fmla="*/ 2 w 191"/>
                      <a:gd name="T67" fmla="*/ 511 h 606"/>
                      <a:gd name="T68" fmla="*/ 10 w 191"/>
                      <a:gd name="T69" fmla="*/ 450 h 606"/>
                      <a:gd name="T70" fmla="*/ 18 w 191"/>
                      <a:gd name="T71" fmla="*/ 421 h 606"/>
                      <a:gd name="T72" fmla="*/ 32 w 191"/>
                      <a:gd name="T73" fmla="*/ 404 h 606"/>
                      <a:gd name="T74" fmla="*/ 50 w 191"/>
                      <a:gd name="T75" fmla="*/ 384 h 606"/>
                      <a:gd name="T76" fmla="*/ 54 w 191"/>
                      <a:gd name="T77" fmla="*/ 361 h 606"/>
                      <a:gd name="T78" fmla="*/ 57 w 191"/>
                      <a:gd name="T79" fmla="*/ 298 h 606"/>
                      <a:gd name="T80" fmla="*/ 29 w 191"/>
                      <a:gd name="T81" fmla="*/ 135 h 606"/>
                      <a:gd name="T82" fmla="*/ 13 w 191"/>
                      <a:gd name="T83" fmla="*/ 45 h 606"/>
                      <a:gd name="T84" fmla="*/ 141 w 191"/>
                      <a:gd name="T85" fmla="*/ 0 h 6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</a:cxnLst>
                    <a:rect l="0" t="0" r="r" b="b"/>
                    <a:pathLst>
                      <a:path w="191" h="606">
                        <a:moveTo>
                          <a:pt x="141" y="0"/>
                        </a:moveTo>
                        <a:lnTo>
                          <a:pt x="136" y="106"/>
                        </a:lnTo>
                        <a:lnTo>
                          <a:pt x="134" y="202"/>
                        </a:lnTo>
                        <a:lnTo>
                          <a:pt x="125" y="296"/>
                        </a:lnTo>
                        <a:lnTo>
                          <a:pt x="136" y="328"/>
                        </a:lnTo>
                        <a:lnTo>
                          <a:pt x="149" y="363"/>
                        </a:lnTo>
                        <a:lnTo>
                          <a:pt x="166" y="399"/>
                        </a:lnTo>
                        <a:lnTo>
                          <a:pt x="171" y="413"/>
                        </a:lnTo>
                        <a:lnTo>
                          <a:pt x="177" y="421"/>
                        </a:lnTo>
                        <a:lnTo>
                          <a:pt x="182" y="442"/>
                        </a:lnTo>
                        <a:lnTo>
                          <a:pt x="191" y="484"/>
                        </a:lnTo>
                        <a:lnTo>
                          <a:pt x="185" y="506"/>
                        </a:lnTo>
                        <a:lnTo>
                          <a:pt x="177" y="511"/>
                        </a:lnTo>
                        <a:lnTo>
                          <a:pt x="173" y="525"/>
                        </a:lnTo>
                        <a:lnTo>
                          <a:pt x="167" y="532"/>
                        </a:lnTo>
                        <a:lnTo>
                          <a:pt x="153" y="537"/>
                        </a:lnTo>
                        <a:lnTo>
                          <a:pt x="155" y="554"/>
                        </a:lnTo>
                        <a:lnTo>
                          <a:pt x="152" y="559"/>
                        </a:lnTo>
                        <a:lnTo>
                          <a:pt x="129" y="562"/>
                        </a:lnTo>
                        <a:lnTo>
                          <a:pt x="123" y="589"/>
                        </a:lnTo>
                        <a:lnTo>
                          <a:pt x="80" y="606"/>
                        </a:lnTo>
                        <a:lnTo>
                          <a:pt x="57" y="588"/>
                        </a:lnTo>
                        <a:lnTo>
                          <a:pt x="47" y="578"/>
                        </a:lnTo>
                        <a:lnTo>
                          <a:pt x="45" y="552"/>
                        </a:lnTo>
                        <a:lnTo>
                          <a:pt x="69" y="522"/>
                        </a:lnTo>
                        <a:lnTo>
                          <a:pt x="55" y="496"/>
                        </a:lnTo>
                        <a:lnTo>
                          <a:pt x="36" y="517"/>
                        </a:lnTo>
                        <a:lnTo>
                          <a:pt x="35" y="540"/>
                        </a:lnTo>
                        <a:lnTo>
                          <a:pt x="27" y="556"/>
                        </a:lnTo>
                        <a:lnTo>
                          <a:pt x="19" y="561"/>
                        </a:lnTo>
                        <a:lnTo>
                          <a:pt x="10" y="569"/>
                        </a:lnTo>
                        <a:lnTo>
                          <a:pt x="0" y="562"/>
                        </a:lnTo>
                        <a:lnTo>
                          <a:pt x="4" y="543"/>
                        </a:lnTo>
                        <a:lnTo>
                          <a:pt x="2" y="511"/>
                        </a:lnTo>
                        <a:lnTo>
                          <a:pt x="10" y="450"/>
                        </a:lnTo>
                        <a:lnTo>
                          <a:pt x="18" y="421"/>
                        </a:lnTo>
                        <a:lnTo>
                          <a:pt x="32" y="404"/>
                        </a:lnTo>
                        <a:lnTo>
                          <a:pt x="50" y="384"/>
                        </a:lnTo>
                        <a:lnTo>
                          <a:pt x="54" y="361"/>
                        </a:lnTo>
                        <a:lnTo>
                          <a:pt x="57" y="298"/>
                        </a:lnTo>
                        <a:lnTo>
                          <a:pt x="29" y="135"/>
                        </a:lnTo>
                        <a:lnTo>
                          <a:pt x="13" y="45"/>
                        </a:lnTo>
                        <a:lnTo>
                          <a:pt x="141" y="0"/>
                        </a:lnTo>
                        <a:close/>
                      </a:path>
                    </a:pathLst>
                  </a:custGeom>
                  <a:solidFill>
                    <a:srgbClr val="FF9F7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86" name="Freeform 269"/>
                  <p:cNvSpPr/>
                  <p:nvPr/>
                </p:nvSpPr>
                <p:spPr bwMode="auto">
                  <a:xfrm>
                    <a:off x="5322" y="2711"/>
                    <a:ext cx="7" cy="23"/>
                  </a:xfrm>
                  <a:custGeom>
                    <a:avLst/>
                    <a:gdLst>
                      <a:gd name="T0" fmla="*/ 0 w 45"/>
                      <a:gd name="T1" fmla="*/ 0 h 117"/>
                      <a:gd name="T2" fmla="*/ 14 w 45"/>
                      <a:gd name="T3" fmla="*/ 17 h 117"/>
                      <a:gd name="T4" fmla="*/ 28 w 45"/>
                      <a:gd name="T5" fmla="*/ 38 h 117"/>
                      <a:gd name="T6" fmla="*/ 35 w 45"/>
                      <a:gd name="T7" fmla="*/ 48 h 117"/>
                      <a:gd name="T8" fmla="*/ 39 w 45"/>
                      <a:gd name="T9" fmla="*/ 59 h 117"/>
                      <a:gd name="T10" fmla="*/ 40 w 45"/>
                      <a:gd name="T11" fmla="*/ 70 h 117"/>
                      <a:gd name="T12" fmla="*/ 41 w 45"/>
                      <a:gd name="T13" fmla="*/ 82 h 117"/>
                      <a:gd name="T14" fmla="*/ 41 w 45"/>
                      <a:gd name="T15" fmla="*/ 93 h 117"/>
                      <a:gd name="T16" fmla="*/ 42 w 45"/>
                      <a:gd name="T17" fmla="*/ 106 h 117"/>
                      <a:gd name="T18" fmla="*/ 43 w 45"/>
                      <a:gd name="T19" fmla="*/ 117 h 117"/>
                      <a:gd name="T20" fmla="*/ 45 w 45"/>
                      <a:gd name="T21" fmla="*/ 117 h 117"/>
                      <a:gd name="T22" fmla="*/ 35 w 45"/>
                      <a:gd name="T23" fmla="*/ 96 h 117"/>
                      <a:gd name="T24" fmla="*/ 12 w 45"/>
                      <a:gd name="T25" fmla="*/ 101 h 117"/>
                      <a:gd name="T26" fmla="*/ 28 w 45"/>
                      <a:gd name="T27" fmla="*/ 85 h 117"/>
                      <a:gd name="T28" fmla="*/ 34 w 45"/>
                      <a:gd name="T29" fmla="*/ 78 h 117"/>
                      <a:gd name="T30" fmla="*/ 28 w 45"/>
                      <a:gd name="T31" fmla="*/ 72 h 117"/>
                      <a:gd name="T32" fmla="*/ 15 w 45"/>
                      <a:gd name="T33" fmla="*/ 74 h 117"/>
                      <a:gd name="T34" fmla="*/ 24 w 45"/>
                      <a:gd name="T35" fmla="*/ 46 h 117"/>
                      <a:gd name="T36" fmla="*/ 4 w 45"/>
                      <a:gd name="T37" fmla="*/ 11 h 117"/>
                      <a:gd name="T38" fmla="*/ 0 w 45"/>
                      <a:gd name="T39" fmla="*/ 0 h 1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45" h="117">
                        <a:moveTo>
                          <a:pt x="0" y="0"/>
                        </a:moveTo>
                        <a:lnTo>
                          <a:pt x="14" y="17"/>
                        </a:lnTo>
                        <a:lnTo>
                          <a:pt x="28" y="38"/>
                        </a:lnTo>
                        <a:lnTo>
                          <a:pt x="35" y="48"/>
                        </a:lnTo>
                        <a:lnTo>
                          <a:pt x="39" y="59"/>
                        </a:lnTo>
                        <a:lnTo>
                          <a:pt x="40" y="70"/>
                        </a:lnTo>
                        <a:lnTo>
                          <a:pt x="41" y="82"/>
                        </a:lnTo>
                        <a:lnTo>
                          <a:pt x="41" y="93"/>
                        </a:lnTo>
                        <a:lnTo>
                          <a:pt x="42" y="106"/>
                        </a:lnTo>
                        <a:lnTo>
                          <a:pt x="43" y="117"/>
                        </a:lnTo>
                        <a:lnTo>
                          <a:pt x="45" y="117"/>
                        </a:lnTo>
                        <a:lnTo>
                          <a:pt x="35" y="96"/>
                        </a:lnTo>
                        <a:lnTo>
                          <a:pt x="12" y="101"/>
                        </a:lnTo>
                        <a:lnTo>
                          <a:pt x="28" y="85"/>
                        </a:lnTo>
                        <a:lnTo>
                          <a:pt x="34" y="78"/>
                        </a:lnTo>
                        <a:lnTo>
                          <a:pt x="28" y="72"/>
                        </a:lnTo>
                        <a:lnTo>
                          <a:pt x="15" y="74"/>
                        </a:lnTo>
                        <a:lnTo>
                          <a:pt x="24" y="46"/>
                        </a:lnTo>
                        <a:lnTo>
                          <a:pt x="4" y="1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BF3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  <p:grpSp>
              <p:nvGrpSpPr>
                <p:cNvPr id="318" name="Group 270"/>
                <p:cNvGrpSpPr/>
                <p:nvPr/>
              </p:nvGrpSpPr>
              <p:grpSpPr bwMode="auto">
                <a:xfrm>
                  <a:off x="5159" y="2399"/>
                  <a:ext cx="175" cy="347"/>
                  <a:chOff x="5159" y="2399"/>
                  <a:chExt cx="175" cy="347"/>
                </a:xfrm>
              </p:grpSpPr>
              <p:sp>
                <p:nvSpPr>
                  <p:cNvPr id="382" name="Freeform 271"/>
                  <p:cNvSpPr/>
                  <p:nvPr/>
                </p:nvSpPr>
                <p:spPr bwMode="auto">
                  <a:xfrm>
                    <a:off x="5159" y="2400"/>
                    <a:ext cx="175" cy="346"/>
                  </a:xfrm>
                  <a:custGeom>
                    <a:avLst/>
                    <a:gdLst>
                      <a:gd name="T0" fmla="*/ 373 w 1051"/>
                      <a:gd name="T1" fmla="*/ 11 h 1731"/>
                      <a:gd name="T2" fmla="*/ 251 w 1051"/>
                      <a:gd name="T3" fmla="*/ 22 h 1731"/>
                      <a:gd name="T4" fmla="*/ 187 w 1051"/>
                      <a:gd name="T5" fmla="*/ 89 h 1731"/>
                      <a:gd name="T6" fmla="*/ 36 w 1051"/>
                      <a:gd name="T7" fmla="*/ 258 h 1731"/>
                      <a:gd name="T8" fmla="*/ 51 w 1051"/>
                      <a:gd name="T9" fmla="*/ 332 h 1731"/>
                      <a:gd name="T10" fmla="*/ 97 w 1051"/>
                      <a:gd name="T11" fmla="*/ 408 h 1731"/>
                      <a:gd name="T12" fmla="*/ 194 w 1051"/>
                      <a:gd name="T13" fmla="*/ 393 h 1731"/>
                      <a:gd name="T14" fmla="*/ 212 w 1051"/>
                      <a:gd name="T15" fmla="*/ 453 h 1731"/>
                      <a:gd name="T16" fmla="*/ 248 w 1051"/>
                      <a:gd name="T17" fmla="*/ 572 h 1731"/>
                      <a:gd name="T18" fmla="*/ 287 w 1051"/>
                      <a:gd name="T19" fmla="*/ 638 h 1731"/>
                      <a:gd name="T20" fmla="*/ 301 w 1051"/>
                      <a:gd name="T21" fmla="*/ 749 h 1731"/>
                      <a:gd name="T22" fmla="*/ 294 w 1051"/>
                      <a:gd name="T23" fmla="*/ 912 h 1731"/>
                      <a:gd name="T24" fmla="*/ 237 w 1051"/>
                      <a:gd name="T25" fmla="*/ 1209 h 1731"/>
                      <a:gd name="T26" fmla="*/ 208 w 1051"/>
                      <a:gd name="T27" fmla="*/ 1470 h 1731"/>
                      <a:gd name="T28" fmla="*/ 965 w 1051"/>
                      <a:gd name="T29" fmla="*/ 1731 h 1731"/>
                      <a:gd name="T30" fmla="*/ 929 w 1051"/>
                      <a:gd name="T31" fmla="*/ 1470 h 1731"/>
                      <a:gd name="T32" fmla="*/ 822 w 1051"/>
                      <a:gd name="T33" fmla="*/ 1053 h 1731"/>
                      <a:gd name="T34" fmla="*/ 794 w 1051"/>
                      <a:gd name="T35" fmla="*/ 886 h 1731"/>
                      <a:gd name="T36" fmla="*/ 826 w 1051"/>
                      <a:gd name="T37" fmla="*/ 671 h 1731"/>
                      <a:gd name="T38" fmla="*/ 854 w 1051"/>
                      <a:gd name="T39" fmla="*/ 587 h 1731"/>
                      <a:gd name="T40" fmla="*/ 879 w 1051"/>
                      <a:gd name="T41" fmla="*/ 675 h 1731"/>
                      <a:gd name="T42" fmla="*/ 989 w 1051"/>
                      <a:gd name="T43" fmla="*/ 645 h 1731"/>
                      <a:gd name="T44" fmla="*/ 1033 w 1051"/>
                      <a:gd name="T45" fmla="*/ 517 h 1731"/>
                      <a:gd name="T46" fmla="*/ 989 w 1051"/>
                      <a:gd name="T47" fmla="*/ 262 h 1731"/>
                      <a:gd name="T48" fmla="*/ 886 w 1051"/>
                      <a:gd name="T49" fmla="*/ 141 h 1731"/>
                      <a:gd name="T50" fmla="*/ 685 w 1051"/>
                      <a:gd name="T51" fmla="*/ 18 h 1731"/>
                      <a:gd name="T52" fmla="*/ 689 w 1051"/>
                      <a:gd name="T53" fmla="*/ 97 h 1731"/>
                      <a:gd name="T54" fmla="*/ 674 w 1051"/>
                      <a:gd name="T55" fmla="*/ 151 h 1731"/>
                      <a:gd name="T56" fmla="*/ 648 w 1051"/>
                      <a:gd name="T57" fmla="*/ 190 h 1731"/>
                      <a:gd name="T58" fmla="*/ 605 w 1051"/>
                      <a:gd name="T59" fmla="*/ 217 h 1731"/>
                      <a:gd name="T60" fmla="*/ 561 w 1051"/>
                      <a:gd name="T61" fmla="*/ 219 h 1731"/>
                      <a:gd name="T62" fmla="*/ 506 w 1051"/>
                      <a:gd name="T63" fmla="*/ 200 h 1731"/>
                      <a:gd name="T64" fmla="*/ 462 w 1051"/>
                      <a:gd name="T65" fmla="*/ 169 h 1731"/>
                      <a:gd name="T66" fmla="*/ 432 w 1051"/>
                      <a:gd name="T67" fmla="*/ 137 h 1731"/>
                      <a:gd name="T68" fmla="*/ 415 w 1051"/>
                      <a:gd name="T69" fmla="*/ 96 h 1731"/>
                      <a:gd name="T70" fmla="*/ 434 w 1051"/>
                      <a:gd name="T71" fmla="*/ 0 h 17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</a:cxnLst>
                    <a:rect l="0" t="0" r="r" b="b"/>
                    <a:pathLst>
                      <a:path w="1051" h="1731">
                        <a:moveTo>
                          <a:pt x="434" y="0"/>
                        </a:moveTo>
                        <a:lnTo>
                          <a:pt x="373" y="11"/>
                        </a:lnTo>
                        <a:lnTo>
                          <a:pt x="301" y="22"/>
                        </a:lnTo>
                        <a:lnTo>
                          <a:pt x="251" y="22"/>
                        </a:lnTo>
                        <a:lnTo>
                          <a:pt x="237" y="26"/>
                        </a:lnTo>
                        <a:lnTo>
                          <a:pt x="187" y="89"/>
                        </a:lnTo>
                        <a:lnTo>
                          <a:pt x="94" y="199"/>
                        </a:lnTo>
                        <a:lnTo>
                          <a:pt x="36" y="258"/>
                        </a:lnTo>
                        <a:lnTo>
                          <a:pt x="0" y="299"/>
                        </a:lnTo>
                        <a:lnTo>
                          <a:pt x="51" y="332"/>
                        </a:lnTo>
                        <a:lnTo>
                          <a:pt x="76" y="369"/>
                        </a:lnTo>
                        <a:lnTo>
                          <a:pt x="97" y="408"/>
                        </a:lnTo>
                        <a:lnTo>
                          <a:pt x="111" y="461"/>
                        </a:lnTo>
                        <a:lnTo>
                          <a:pt x="194" y="393"/>
                        </a:lnTo>
                        <a:lnTo>
                          <a:pt x="205" y="411"/>
                        </a:lnTo>
                        <a:lnTo>
                          <a:pt x="212" y="453"/>
                        </a:lnTo>
                        <a:lnTo>
                          <a:pt x="230" y="531"/>
                        </a:lnTo>
                        <a:lnTo>
                          <a:pt x="248" y="572"/>
                        </a:lnTo>
                        <a:lnTo>
                          <a:pt x="262" y="606"/>
                        </a:lnTo>
                        <a:lnTo>
                          <a:pt x="287" y="638"/>
                        </a:lnTo>
                        <a:lnTo>
                          <a:pt x="298" y="697"/>
                        </a:lnTo>
                        <a:lnTo>
                          <a:pt x="301" y="749"/>
                        </a:lnTo>
                        <a:lnTo>
                          <a:pt x="294" y="801"/>
                        </a:lnTo>
                        <a:lnTo>
                          <a:pt x="294" y="912"/>
                        </a:lnTo>
                        <a:lnTo>
                          <a:pt x="284" y="1072"/>
                        </a:lnTo>
                        <a:lnTo>
                          <a:pt x="237" y="1209"/>
                        </a:lnTo>
                        <a:lnTo>
                          <a:pt x="219" y="1318"/>
                        </a:lnTo>
                        <a:lnTo>
                          <a:pt x="208" y="1470"/>
                        </a:lnTo>
                        <a:lnTo>
                          <a:pt x="201" y="1731"/>
                        </a:lnTo>
                        <a:lnTo>
                          <a:pt x="965" y="1731"/>
                        </a:lnTo>
                        <a:lnTo>
                          <a:pt x="954" y="1587"/>
                        </a:lnTo>
                        <a:lnTo>
                          <a:pt x="929" y="1470"/>
                        </a:lnTo>
                        <a:lnTo>
                          <a:pt x="886" y="1257"/>
                        </a:lnTo>
                        <a:lnTo>
                          <a:pt x="822" y="1053"/>
                        </a:lnTo>
                        <a:lnTo>
                          <a:pt x="805" y="964"/>
                        </a:lnTo>
                        <a:lnTo>
                          <a:pt x="794" y="886"/>
                        </a:lnTo>
                        <a:lnTo>
                          <a:pt x="801" y="786"/>
                        </a:lnTo>
                        <a:lnTo>
                          <a:pt x="826" y="671"/>
                        </a:lnTo>
                        <a:lnTo>
                          <a:pt x="840" y="634"/>
                        </a:lnTo>
                        <a:lnTo>
                          <a:pt x="854" y="587"/>
                        </a:lnTo>
                        <a:lnTo>
                          <a:pt x="871" y="623"/>
                        </a:lnTo>
                        <a:lnTo>
                          <a:pt x="879" y="675"/>
                        </a:lnTo>
                        <a:lnTo>
                          <a:pt x="932" y="656"/>
                        </a:lnTo>
                        <a:lnTo>
                          <a:pt x="989" y="645"/>
                        </a:lnTo>
                        <a:lnTo>
                          <a:pt x="1051" y="638"/>
                        </a:lnTo>
                        <a:lnTo>
                          <a:pt x="1033" y="517"/>
                        </a:lnTo>
                        <a:lnTo>
                          <a:pt x="1022" y="411"/>
                        </a:lnTo>
                        <a:lnTo>
                          <a:pt x="989" y="262"/>
                        </a:lnTo>
                        <a:lnTo>
                          <a:pt x="979" y="195"/>
                        </a:lnTo>
                        <a:lnTo>
                          <a:pt x="886" y="141"/>
                        </a:lnTo>
                        <a:lnTo>
                          <a:pt x="794" y="85"/>
                        </a:lnTo>
                        <a:lnTo>
                          <a:pt x="685" y="18"/>
                        </a:lnTo>
                        <a:lnTo>
                          <a:pt x="689" y="74"/>
                        </a:lnTo>
                        <a:lnTo>
                          <a:pt x="689" y="97"/>
                        </a:lnTo>
                        <a:lnTo>
                          <a:pt x="681" y="130"/>
                        </a:lnTo>
                        <a:lnTo>
                          <a:pt x="674" y="151"/>
                        </a:lnTo>
                        <a:lnTo>
                          <a:pt x="664" y="173"/>
                        </a:lnTo>
                        <a:lnTo>
                          <a:pt x="648" y="190"/>
                        </a:lnTo>
                        <a:lnTo>
                          <a:pt x="632" y="201"/>
                        </a:lnTo>
                        <a:lnTo>
                          <a:pt x="605" y="217"/>
                        </a:lnTo>
                        <a:lnTo>
                          <a:pt x="581" y="220"/>
                        </a:lnTo>
                        <a:lnTo>
                          <a:pt x="561" y="219"/>
                        </a:lnTo>
                        <a:lnTo>
                          <a:pt x="531" y="211"/>
                        </a:lnTo>
                        <a:lnTo>
                          <a:pt x="506" y="200"/>
                        </a:lnTo>
                        <a:lnTo>
                          <a:pt x="481" y="185"/>
                        </a:lnTo>
                        <a:lnTo>
                          <a:pt x="462" y="169"/>
                        </a:lnTo>
                        <a:lnTo>
                          <a:pt x="446" y="154"/>
                        </a:lnTo>
                        <a:lnTo>
                          <a:pt x="432" y="137"/>
                        </a:lnTo>
                        <a:lnTo>
                          <a:pt x="421" y="117"/>
                        </a:lnTo>
                        <a:lnTo>
                          <a:pt x="415" y="96"/>
                        </a:lnTo>
                        <a:lnTo>
                          <a:pt x="413" y="70"/>
                        </a:lnTo>
                        <a:lnTo>
                          <a:pt x="434" y="0"/>
                        </a:lnTo>
                        <a:close/>
                      </a:path>
                    </a:pathLst>
                  </a:custGeom>
                  <a:solidFill>
                    <a:srgbClr val="DFFFB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83" name="Freeform 272"/>
                  <p:cNvSpPr/>
                  <p:nvPr/>
                </p:nvSpPr>
                <p:spPr bwMode="auto">
                  <a:xfrm>
                    <a:off x="5159" y="2399"/>
                    <a:ext cx="78" cy="347"/>
                  </a:xfrm>
                  <a:custGeom>
                    <a:avLst/>
                    <a:gdLst>
                      <a:gd name="T0" fmla="*/ 374 w 471"/>
                      <a:gd name="T1" fmla="*/ 11 h 1735"/>
                      <a:gd name="T2" fmla="*/ 252 w 471"/>
                      <a:gd name="T3" fmla="*/ 22 h 1735"/>
                      <a:gd name="T4" fmla="*/ 188 w 471"/>
                      <a:gd name="T5" fmla="*/ 89 h 1735"/>
                      <a:gd name="T6" fmla="*/ 36 w 471"/>
                      <a:gd name="T7" fmla="*/ 258 h 1735"/>
                      <a:gd name="T8" fmla="*/ 51 w 471"/>
                      <a:gd name="T9" fmla="*/ 333 h 1735"/>
                      <a:gd name="T10" fmla="*/ 97 w 471"/>
                      <a:gd name="T11" fmla="*/ 408 h 1735"/>
                      <a:gd name="T12" fmla="*/ 195 w 471"/>
                      <a:gd name="T13" fmla="*/ 393 h 1735"/>
                      <a:gd name="T14" fmla="*/ 213 w 471"/>
                      <a:gd name="T15" fmla="*/ 454 h 1735"/>
                      <a:gd name="T16" fmla="*/ 249 w 471"/>
                      <a:gd name="T17" fmla="*/ 572 h 1735"/>
                      <a:gd name="T18" fmla="*/ 287 w 471"/>
                      <a:gd name="T19" fmla="*/ 638 h 1735"/>
                      <a:gd name="T20" fmla="*/ 301 w 471"/>
                      <a:gd name="T21" fmla="*/ 749 h 1735"/>
                      <a:gd name="T22" fmla="*/ 294 w 471"/>
                      <a:gd name="T23" fmla="*/ 912 h 1735"/>
                      <a:gd name="T24" fmla="*/ 238 w 471"/>
                      <a:gd name="T25" fmla="*/ 1209 h 1735"/>
                      <a:gd name="T26" fmla="*/ 209 w 471"/>
                      <a:gd name="T27" fmla="*/ 1470 h 1735"/>
                      <a:gd name="T28" fmla="*/ 294 w 471"/>
                      <a:gd name="T29" fmla="*/ 1735 h 1735"/>
                      <a:gd name="T30" fmla="*/ 309 w 471"/>
                      <a:gd name="T31" fmla="*/ 1610 h 1735"/>
                      <a:gd name="T32" fmla="*/ 344 w 471"/>
                      <a:gd name="T33" fmla="*/ 1558 h 1735"/>
                      <a:gd name="T34" fmla="*/ 385 w 471"/>
                      <a:gd name="T35" fmla="*/ 1545 h 1735"/>
                      <a:gd name="T36" fmla="*/ 403 w 471"/>
                      <a:gd name="T37" fmla="*/ 1491 h 1735"/>
                      <a:gd name="T38" fmla="*/ 399 w 471"/>
                      <a:gd name="T39" fmla="*/ 1428 h 1735"/>
                      <a:gd name="T40" fmla="*/ 399 w 471"/>
                      <a:gd name="T41" fmla="*/ 1361 h 1735"/>
                      <a:gd name="T42" fmla="*/ 396 w 471"/>
                      <a:gd name="T43" fmla="*/ 1297 h 1735"/>
                      <a:gd name="T44" fmla="*/ 407 w 471"/>
                      <a:gd name="T45" fmla="*/ 1208 h 1735"/>
                      <a:gd name="T46" fmla="*/ 421 w 471"/>
                      <a:gd name="T47" fmla="*/ 1089 h 1735"/>
                      <a:gd name="T48" fmla="*/ 435 w 471"/>
                      <a:gd name="T49" fmla="*/ 1019 h 1735"/>
                      <a:gd name="T50" fmla="*/ 439 w 471"/>
                      <a:gd name="T51" fmla="*/ 933 h 1735"/>
                      <a:gd name="T52" fmla="*/ 432 w 471"/>
                      <a:gd name="T53" fmla="*/ 870 h 1735"/>
                      <a:gd name="T54" fmla="*/ 410 w 471"/>
                      <a:gd name="T55" fmla="*/ 789 h 1735"/>
                      <a:gd name="T56" fmla="*/ 457 w 471"/>
                      <a:gd name="T57" fmla="*/ 778 h 1735"/>
                      <a:gd name="T58" fmla="*/ 471 w 471"/>
                      <a:gd name="T59" fmla="*/ 760 h 1735"/>
                      <a:gd name="T60" fmla="*/ 435 w 471"/>
                      <a:gd name="T61" fmla="*/ 598 h 1735"/>
                      <a:gd name="T62" fmla="*/ 460 w 471"/>
                      <a:gd name="T63" fmla="*/ 561 h 1735"/>
                      <a:gd name="T64" fmla="*/ 446 w 471"/>
                      <a:gd name="T65" fmla="*/ 454 h 1735"/>
                      <a:gd name="T66" fmla="*/ 442 w 471"/>
                      <a:gd name="T67" fmla="*/ 325 h 1735"/>
                      <a:gd name="T68" fmla="*/ 442 w 471"/>
                      <a:gd name="T69" fmla="*/ 198 h 1735"/>
                      <a:gd name="T70" fmla="*/ 447 w 471"/>
                      <a:gd name="T71" fmla="*/ 155 h 1735"/>
                      <a:gd name="T72" fmla="*/ 422 w 471"/>
                      <a:gd name="T73" fmla="*/ 118 h 1735"/>
                      <a:gd name="T74" fmla="*/ 414 w 471"/>
                      <a:gd name="T75" fmla="*/ 71 h 17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</a:cxnLst>
                    <a:rect l="0" t="0" r="r" b="b"/>
                    <a:pathLst>
                      <a:path w="471" h="1735">
                        <a:moveTo>
                          <a:pt x="435" y="0"/>
                        </a:moveTo>
                        <a:lnTo>
                          <a:pt x="374" y="11"/>
                        </a:lnTo>
                        <a:lnTo>
                          <a:pt x="301" y="22"/>
                        </a:lnTo>
                        <a:lnTo>
                          <a:pt x="252" y="22"/>
                        </a:lnTo>
                        <a:lnTo>
                          <a:pt x="238" y="26"/>
                        </a:lnTo>
                        <a:lnTo>
                          <a:pt x="188" y="89"/>
                        </a:lnTo>
                        <a:lnTo>
                          <a:pt x="94" y="199"/>
                        </a:lnTo>
                        <a:lnTo>
                          <a:pt x="36" y="258"/>
                        </a:lnTo>
                        <a:lnTo>
                          <a:pt x="0" y="299"/>
                        </a:lnTo>
                        <a:lnTo>
                          <a:pt x="51" y="333"/>
                        </a:lnTo>
                        <a:lnTo>
                          <a:pt x="76" y="370"/>
                        </a:lnTo>
                        <a:lnTo>
                          <a:pt x="97" y="408"/>
                        </a:lnTo>
                        <a:lnTo>
                          <a:pt x="111" y="461"/>
                        </a:lnTo>
                        <a:lnTo>
                          <a:pt x="195" y="393"/>
                        </a:lnTo>
                        <a:lnTo>
                          <a:pt x="206" y="412"/>
                        </a:lnTo>
                        <a:lnTo>
                          <a:pt x="213" y="454"/>
                        </a:lnTo>
                        <a:lnTo>
                          <a:pt x="231" y="532"/>
                        </a:lnTo>
                        <a:lnTo>
                          <a:pt x="249" y="572"/>
                        </a:lnTo>
                        <a:lnTo>
                          <a:pt x="263" y="606"/>
                        </a:lnTo>
                        <a:lnTo>
                          <a:pt x="287" y="638"/>
                        </a:lnTo>
                        <a:lnTo>
                          <a:pt x="298" y="697"/>
                        </a:lnTo>
                        <a:lnTo>
                          <a:pt x="301" y="749"/>
                        </a:lnTo>
                        <a:lnTo>
                          <a:pt x="294" y="801"/>
                        </a:lnTo>
                        <a:lnTo>
                          <a:pt x="294" y="912"/>
                        </a:lnTo>
                        <a:lnTo>
                          <a:pt x="284" y="1072"/>
                        </a:lnTo>
                        <a:lnTo>
                          <a:pt x="238" y="1209"/>
                        </a:lnTo>
                        <a:lnTo>
                          <a:pt x="220" y="1318"/>
                        </a:lnTo>
                        <a:lnTo>
                          <a:pt x="209" y="1470"/>
                        </a:lnTo>
                        <a:lnTo>
                          <a:pt x="202" y="1725"/>
                        </a:lnTo>
                        <a:lnTo>
                          <a:pt x="294" y="1735"/>
                        </a:lnTo>
                        <a:lnTo>
                          <a:pt x="301" y="1653"/>
                        </a:lnTo>
                        <a:lnTo>
                          <a:pt x="309" y="1610"/>
                        </a:lnTo>
                        <a:lnTo>
                          <a:pt x="327" y="1576"/>
                        </a:lnTo>
                        <a:lnTo>
                          <a:pt x="344" y="1558"/>
                        </a:lnTo>
                        <a:lnTo>
                          <a:pt x="371" y="1553"/>
                        </a:lnTo>
                        <a:lnTo>
                          <a:pt x="385" y="1545"/>
                        </a:lnTo>
                        <a:lnTo>
                          <a:pt x="396" y="1519"/>
                        </a:lnTo>
                        <a:lnTo>
                          <a:pt x="403" y="1491"/>
                        </a:lnTo>
                        <a:lnTo>
                          <a:pt x="399" y="1458"/>
                        </a:lnTo>
                        <a:lnTo>
                          <a:pt x="399" y="1428"/>
                        </a:lnTo>
                        <a:lnTo>
                          <a:pt x="396" y="1395"/>
                        </a:lnTo>
                        <a:lnTo>
                          <a:pt x="399" y="1361"/>
                        </a:lnTo>
                        <a:lnTo>
                          <a:pt x="396" y="1332"/>
                        </a:lnTo>
                        <a:lnTo>
                          <a:pt x="396" y="1297"/>
                        </a:lnTo>
                        <a:lnTo>
                          <a:pt x="403" y="1260"/>
                        </a:lnTo>
                        <a:lnTo>
                          <a:pt x="407" y="1208"/>
                        </a:lnTo>
                        <a:lnTo>
                          <a:pt x="414" y="1115"/>
                        </a:lnTo>
                        <a:lnTo>
                          <a:pt x="421" y="1089"/>
                        </a:lnTo>
                        <a:lnTo>
                          <a:pt x="439" y="1063"/>
                        </a:lnTo>
                        <a:lnTo>
                          <a:pt x="435" y="1019"/>
                        </a:lnTo>
                        <a:lnTo>
                          <a:pt x="435" y="978"/>
                        </a:lnTo>
                        <a:lnTo>
                          <a:pt x="439" y="933"/>
                        </a:lnTo>
                        <a:lnTo>
                          <a:pt x="439" y="900"/>
                        </a:lnTo>
                        <a:lnTo>
                          <a:pt x="432" y="870"/>
                        </a:lnTo>
                        <a:lnTo>
                          <a:pt x="417" y="826"/>
                        </a:lnTo>
                        <a:lnTo>
                          <a:pt x="410" y="789"/>
                        </a:lnTo>
                        <a:lnTo>
                          <a:pt x="414" y="763"/>
                        </a:lnTo>
                        <a:lnTo>
                          <a:pt x="457" y="778"/>
                        </a:lnTo>
                        <a:lnTo>
                          <a:pt x="471" y="770"/>
                        </a:lnTo>
                        <a:lnTo>
                          <a:pt x="471" y="760"/>
                        </a:lnTo>
                        <a:lnTo>
                          <a:pt x="468" y="742"/>
                        </a:lnTo>
                        <a:lnTo>
                          <a:pt x="435" y="598"/>
                        </a:lnTo>
                        <a:lnTo>
                          <a:pt x="468" y="623"/>
                        </a:lnTo>
                        <a:lnTo>
                          <a:pt x="460" y="561"/>
                        </a:lnTo>
                        <a:lnTo>
                          <a:pt x="450" y="506"/>
                        </a:lnTo>
                        <a:lnTo>
                          <a:pt x="446" y="454"/>
                        </a:lnTo>
                        <a:lnTo>
                          <a:pt x="439" y="397"/>
                        </a:lnTo>
                        <a:lnTo>
                          <a:pt x="442" y="325"/>
                        </a:lnTo>
                        <a:lnTo>
                          <a:pt x="439" y="246"/>
                        </a:lnTo>
                        <a:lnTo>
                          <a:pt x="442" y="198"/>
                        </a:lnTo>
                        <a:lnTo>
                          <a:pt x="463" y="169"/>
                        </a:lnTo>
                        <a:lnTo>
                          <a:pt x="447" y="155"/>
                        </a:lnTo>
                        <a:lnTo>
                          <a:pt x="433" y="137"/>
                        </a:lnTo>
                        <a:lnTo>
                          <a:pt x="422" y="118"/>
                        </a:lnTo>
                        <a:lnTo>
                          <a:pt x="416" y="96"/>
                        </a:lnTo>
                        <a:lnTo>
                          <a:pt x="414" y="71"/>
                        </a:lnTo>
                        <a:lnTo>
                          <a:pt x="435" y="0"/>
                        </a:lnTo>
                        <a:close/>
                      </a:path>
                    </a:pathLst>
                  </a:custGeom>
                  <a:solidFill>
                    <a:srgbClr val="BFFFB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84" name="Freeform 273"/>
                  <p:cNvSpPr/>
                  <p:nvPr/>
                </p:nvSpPr>
                <p:spPr bwMode="auto">
                  <a:xfrm>
                    <a:off x="5247" y="2402"/>
                    <a:ext cx="87" cy="342"/>
                  </a:xfrm>
                  <a:custGeom>
                    <a:avLst/>
                    <a:gdLst>
                      <a:gd name="T0" fmla="*/ 23 w 522"/>
                      <a:gd name="T1" fmla="*/ 737 h 1712"/>
                      <a:gd name="T2" fmla="*/ 34 w 522"/>
                      <a:gd name="T3" fmla="*/ 935 h 1712"/>
                      <a:gd name="T4" fmla="*/ 51 w 522"/>
                      <a:gd name="T5" fmla="*/ 1193 h 1712"/>
                      <a:gd name="T6" fmla="*/ 61 w 522"/>
                      <a:gd name="T7" fmla="*/ 1257 h 1712"/>
                      <a:gd name="T8" fmla="*/ 100 w 522"/>
                      <a:gd name="T9" fmla="*/ 1492 h 1712"/>
                      <a:gd name="T10" fmla="*/ 99 w 522"/>
                      <a:gd name="T11" fmla="*/ 1550 h 1712"/>
                      <a:gd name="T12" fmla="*/ 115 w 522"/>
                      <a:gd name="T13" fmla="*/ 1593 h 1712"/>
                      <a:gd name="T14" fmla="*/ 159 w 522"/>
                      <a:gd name="T15" fmla="*/ 1632 h 1712"/>
                      <a:gd name="T16" fmla="*/ 270 w 522"/>
                      <a:gd name="T17" fmla="*/ 1650 h 1712"/>
                      <a:gd name="T18" fmla="*/ 344 w 522"/>
                      <a:gd name="T19" fmla="*/ 1658 h 1712"/>
                      <a:gd name="T20" fmla="*/ 436 w 522"/>
                      <a:gd name="T21" fmla="*/ 1706 h 1712"/>
                      <a:gd name="T22" fmla="*/ 400 w 522"/>
                      <a:gd name="T23" fmla="*/ 1451 h 1712"/>
                      <a:gd name="T24" fmla="*/ 293 w 522"/>
                      <a:gd name="T25" fmla="*/ 1035 h 1712"/>
                      <a:gd name="T26" fmla="*/ 264 w 522"/>
                      <a:gd name="T27" fmla="*/ 868 h 1712"/>
                      <a:gd name="T28" fmla="*/ 296 w 522"/>
                      <a:gd name="T29" fmla="*/ 653 h 1712"/>
                      <a:gd name="T30" fmla="*/ 324 w 522"/>
                      <a:gd name="T31" fmla="*/ 569 h 1712"/>
                      <a:gd name="T32" fmla="*/ 349 w 522"/>
                      <a:gd name="T33" fmla="*/ 656 h 1712"/>
                      <a:gd name="T34" fmla="*/ 458 w 522"/>
                      <a:gd name="T35" fmla="*/ 627 h 1712"/>
                      <a:gd name="T36" fmla="*/ 504 w 522"/>
                      <a:gd name="T37" fmla="*/ 498 h 1712"/>
                      <a:gd name="T38" fmla="*/ 458 w 522"/>
                      <a:gd name="T39" fmla="*/ 243 h 1712"/>
                      <a:gd name="T40" fmla="*/ 356 w 522"/>
                      <a:gd name="T41" fmla="*/ 122 h 1712"/>
                      <a:gd name="T42" fmla="*/ 157 w 522"/>
                      <a:gd name="T43" fmla="*/ 0 h 1712"/>
                      <a:gd name="T44" fmla="*/ 160 w 522"/>
                      <a:gd name="T45" fmla="*/ 79 h 1712"/>
                      <a:gd name="T46" fmla="*/ 146 w 522"/>
                      <a:gd name="T47" fmla="*/ 132 h 1712"/>
                      <a:gd name="T48" fmla="*/ 122 w 522"/>
                      <a:gd name="T49" fmla="*/ 190 h 1712"/>
                      <a:gd name="T50" fmla="*/ 83 w 522"/>
                      <a:gd name="T51" fmla="*/ 284 h 1712"/>
                      <a:gd name="T52" fmla="*/ 50 w 522"/>
                      <a:gd name="T53" fmla="*/ 293 h 1712"/>
                      <a:gd name="T54" fmla="*/ 36 w 522"/>
                      <a:gd name="T55" fmla="*/ 325 h 1712"/>
                      <a:gd name="T56" fmla="*/ 29 w 522"/>
                      <a:gd name="T57" fmla="*/ 425 h 1712"/>
                      <a:gd name="T58" fmla="*/ 8 w 522"/>
                      <a:gd name="T59" fmla="*/ 489 h 1712"/>
                      <a:gd name="T60" fmla="*/ 0 w 522"/>
                      <a:gd name="T61" fmla="*/ 538 h 1712"/>
                      <a:gd name="T62" fmla="*/ 8 w 522"/>
                      <a:gd name="T63" fmla="*/ 617 h 17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</a:cxnLst>
                    <a:rect l="0" t="0" r="r" b="b"/>
                    <a:pathLst>
                      <a:path w="522" h="1712">
                        <a:moveTo>
                          <a:pt x="16" y="671"/>
                        </a:moveTo>
                        <a:lnTo>
                          <a:pt x="23" y="737"/>
                        </a:lnTo>
                        <a:lnTo>
                          <a:pt x="25" y="797"/>
                        </a:lnTo>
                        <a:lnTo>
                          <a:pt x="34" y="935"/>
                        </a:lnTo>
                        <a:lnTo>
                          <a:pt x="41" y="1061"/>
                        </a:lnTo>
                        <a:lnTo>
                          <a:pt x="51" y="1193"/>
                        </a:lnTo>
                        <a:lnTo>
                          <a:pt x="54" y="1228"/>
                        </a:lnTo>
                        <a:lnTo>
                          <a:pt x="61" y="1257"/>
                        </a:lnTo>
                        <a:lnTo>
                          <a:pt x="77" y="1298"/>
                        </a:lnTo>
                        <a:lnTo>
                          <a:pt x="100" y="1492"/>
                        </a:lnTo>
                        <a:lnTo>
                          <a:pt x="100" y="1533"/>
                        </a:lnTo>
                        <a:lnTo>
                          <a:pt x="99" y="1550"/>
                        </a:lnTo>
                        <a:lnTo>
                          <a:pt x="102" y="1571"/>
                        </a:lnTo>
                        <a:lnTo>
                          <a:pt x="115" y="1593"/>
                        </a:lnTo>
                        <a:lnTo>
                          <a:pt x="129" y="1616"/>
                        </a:lnTo>
                        <a:lnTo>
                          <a:pt x="159" y="1632"/>
                        </a:lnTo>
                        <a:lnTo>
                          <a:pt x="197" y="1642"/>
                        </a:lnTo>
                        <a:lnTo>
                          <a:pt x="270" y="1650"/>
                        </a:lnTo>
                        <a:lnTo>
                          <a:pt x="319" y="1655"/>
                        </a:lnTo>
                        <a:lnTo>
                          <a:pt x="344" y="1658"/>
                        </a:lnTo>
                        <a:lnTo>
                          <a:pt x="405" y="1712"/>
                        </a:lnTo>
                        <a:lnTo>
                          <a:pt x="436" y="1706"/>
                        </a:lnTo>
                        <a:lnTo>
                          <a:pt x="425" y="1569"/>
                        </a:lnTo>
                        <a:lnTo>
                          <a:pt x="400" y="1451"/>
                        </a:lnTo>
                        <a:lnTo>
                          <a:pt x="356" y="1239"/>
                        </a:lnTo>
                        <a:lnTo>
                          <a:pt x="293" y="1035"/>
                        </a:lnTo>
                        <a:lnTo>
                          <a:pt x="275" y="946"/>
                        </a:lnTo>
                        <a:lnTo>
                          <a:pt x="264" y="868"/>
                        </a:lnTo>
                        <a:lnTo>
                          <a:pt x="271" y="768"/>
                        </a:lnTo>
                        <a:lnTo>
                          <a:pt x="296" y="653"/>
                        </a:lnTo>
                        <a:lnTo>
                          <a:pt x="310" y="616"/>
                        </a:lnTo>
                        <a:lnTo>
                          <a:pt x="324" y="569"/>
                        </a:lnTo>
                        <a:lnTo>
                          <a:pt x="342" y="604"/>
                        </a:lnTo>
                        <a:lnTo>
                          <a:pt x="349" y="656"/>
                        </a:lnTo>
                        <a:lnTo>
                          <a:pt x="404" y="638"/>
                        </a:lnTo>
                        <a:lnTo>
                          <a:pt x="458" y="627"/>
                        </a:lnTo>
                        <a:lnTo>
                          <a:pt x="522" y="619"/>
                        </a:lnTo>
                        <a:lnTo>
                          <a:pt x="504" y="498"/>
                        </a:lnTo>
                        <a:lnTo>
                          <a:pt x="494" y="393"/>
                        </a:lnTo>
                        <a:lnTo>
                          <a:pt x="458" y="243"/>
                        </a:lnTo>
                        <a:lnTo>
                          <a:pt x="451" y="177"/>
                        </a:lnTo>
                        <a:lnTo>
                          <a:pt x="356" y="122"/>
                        </a:lnTo>
                        <a:lnTo>
                          <a:pt x="264" y="67"/>
                        </a:lnTo>
                        <a:lnTo>
                          <a:pt x="157" y="0"/>
                        </a:lnTo>
                        <a:lnTo>
                          <a:pt x="160" y="56"/>
                        </a:lnTo>
                        <a:lnTo>
                          <a:pt x="160" y="79"/>
                        </a:lnTo>
                        <a:lnTo>
                          <a:pt x="153" y="111"/>
                        </a:lnTo>
                        <a:lnTo>
                          <a:pt x="146" y="132"/>
                        </a:lnTo>
                        <a:lnTo>
                          <a:pt x="135" y="154"/>
                        </a:lnTo>
                        <a:lnTo>
                          <a:pt x="122" y="190"/>
                        </a:lnTo>
                        <a:lnTo>
                          <a:pt x="99" y="243"/>
                        </a:lnTo>
                        <a:lnTo>
                          <a:pt x="83" y="284"/>
                        </a:lnTo>
                        <a:lnTo>
                          <a:pt x="68" y="288"/>
                        </a:lnTo>
                        <a:lnTo>
                          <a:pt x="50" y="293"/>
                        </a:lnTo>
                        <a:lnTo>
                          <a:pt x="36" y="308"/>
                        </a:lnTo>
                        <a:lnTo>
                          <a:pt x="36" y="325"/>
                        </a:lnTo>
                        <a:lnTo>
                          <a:pt x="34" y="378"/>
                        </a:lnTo>
                        <a:lnTo>
                          <a:pt x="29" y="425"/>
                        </a:lnTo>
                        <a:lnTo>
                          <a:pt x="16" y="467"/>
                        </a:lnTo>
                        <a:lnTo>
                          <a:pt x="8" y="489"/>
                        </a:lnTo>
                        <a:lnTo>
                          <a:pt x="1" y="517"/>
                        </a:lnTo>
                        <a:lnTo>
                          <a:pt x="0" y="538"/>
                        </a:lnTo>
                        <a:lnTo>
                          <a:pt x="5" y="570"/>
                        </a:lnTo>
                        <a:lnTo>
                          <a:pt x="8" y="617"/>
                        </a:lnTo>
                        <a:lnTo>
                          <a:pt x="16" y="671"/>
                        </a:lnTo>
                        <a:close/>
                      </a:path>
                    </a:pathLst>
                  </a:custGeom>
                  <a:solidFill>
                    <a:srgbClr val="BFFFB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  <p:grpSp>
              <p:nvGrpSpPr>
                <p:cNvPr id="319" name="Group 274"/>
                <p:cNvGrpSpPr/>
                <p:nvPr/>
              </p:nvGrpSpPr>
              <p:grpSpPr bwMode="auto">
                <a:xfrm>
                  <a:off x="5204" y="2258"/>
                  <a:ext cx="90" cy="191"/>
                  <a:chOff x="5204" y="2258"/>
                  <a:chExt cx="90" cy="191"/>
                </a:xfrm>
              </p:grpSpPr>
              <p:grpSp>
                <p:nvGrpSpPr>
                  <p:cNvPr id="339" name="Group 275"/>
                  <p:cNvGrpSpPr/>
                  <p:nvPr/>
                </p:nvGrpSpPr>
                <p:grpSpPr bwMode="auto">
                  <a:xfrm>
                    <a:off x="5225" y="2354"/>
                    <a:ext cx="47" cy="95"/>
                    <a:chOff x="5225" y="2354"/>
                    <a:chExt cx="47" cy="95"/>
                  </a:xfrm>
                </p:grpSpPr>
                <p:sp>
                  <p:nvSpPr>
                    <p:cNvPr id="380" name="Freeform 276"/>
                    <p:cNvSpPr/>
                    <p:nvPr/>
                  </p:nvSpPr>
                  <p:spPr bwMode="auto">
                    <a:xfrm>
                      <a:off x="5225" y="2354"/>
                      <a:ext cx="47" cy="95"/>
                    </a:xfrm>
                    <a:custGeom>
                      <a:avLst/>
                      <a:gdLst>
                        <a:gd name="T0" fmla="*/ 240 w 278"/>
                        <a:gd name="T1" fmla="*/ 0 h 477"/>
                        <a:gd name="T2" fmla="*/ 253 w 278"/>
                        <a:gd name="T3" fmla="*/ 135 h 477"/>
                        <a:gd name="T4" fmla="*/ 261 w 278"/>
                        <a:gd name="T5" fmla="*/ 206 h 477"/>
                        <a:gd name="T6" fmla="*/ 268 w 278"/>
                        <a:gd name="T7" fmla="*/ 231 h 477"/>
                        <a:gd name="T8" fmla="*/ 278 w 278"/>
                        <a:gd name="T9" fmla="*/ 292 h 477"/>
                        <a:gd name="T10" fmla="*/ 272 w 278"/>
                        <a:gd name="T11" fmla="*/ 339 h 477"/>
                        <a:gd name="T12" fmla="*/ 261 w 278"/>
                        <a:gd name="T13" fmla="*/ 387 h 477"/>
                        <a:gd name="T14" fmla="*/ 243 w 278"/>
                        <a:gd name="T15" fmla="*/ 431 h 477"/>
                        <a:gd name="T16" fmla="*/ 224 w 278"/>
                        <a:gd name="T17" fmla="*/ 455 h 477"/>
                        <a:gd name="T18" fmla="*/ 191 w 278"/>
                        <a:gd name="T19" fmla="*/ 470 h 477"/>
                        <a:gd name="T20" fmla="*/ 148 w 278"/>
                        <a:gd name="T21" fmla="*/ 477 h 477"/>
                        <a:gd name="T22" fmla="*/ 102 w 278"/>
                        <a:gd name="T23" fmla="*/ 470 h 477"/>
                        <a:gd name="T24" fmla="*/ 65 w 278"/>
                        <a:gd name="T25" fmla="*/ 451 h 477"/>
                        <a:gd name="T26" fmla="*/ 43 w 278"/>
                        <a:gd name="T27" fmla="*/ 431 h 477"/>
                        <a:gd name="T28" fmla="*/ 22 w 278"/>
                        <a:gd name="T29" fmla="*/ 402 h 477"/>
                        <a:gd name="T30" fmla="*/ 3 w 278"/>
                        <a:gd name="T31" fmla="*/ 360 h 477"/>
                        <a:gd name="T32" fmla="*/ 0 w 278"/>
                        <a:gd name="T33" fmla="*/ 332 h 477"/>
                        <a:gd name="T34" fmla="*/ 3 w 278"/>
                        <a:gd name="T35" fmla="*/ 305 h 477"/>
                        <a:gd name="T36" fmla="*/ 12 w 278"/>
                        <a:gd name="T37" fmla="*/ 283 h 477"/>
                        <a:gd name="T38" fmla="*/ 25 w 278"/>
                        <a:gd name="T39" fmla="*/ 262 h 477"/>
                        <a:gd name="T40" fmla="*/ 51 w 278"/>
                        <a:gd name="T41" fmla="*/ 240 h 477"/>
                        <a:gd name="T42" fmla="*/ 53 w 278"/>
                        <a:gd name="T43" fmla="*/ 195 h 477"/>
                        <a:gd name="T44" fmla="*/ 51 w 278"/>
                        <a:gd name="T45" fmla="*/ 121 h 477"/>
                        <a:gd name="T46" fmla="*/ 92 w 278"/>
                        <a:gd name="T47" fmla="*/ 121 h 477"/>
                        <a:gd name="T48" fmla="*/ 120 w 278"/>
                        <a:gd name="T49" fmla="*/ 112 h 477"/>
                        <a:gd name="T50" fmla="*/ 148 w 278"/>
                        <a:gd name="T51" fmla="*/ 97 h 477"/>
                        <a:gd name="T52" fmla="*/ 167 w 278"/>
                        <a:gd name="T53" fmla="*/ 72 h 477"/>
                        <a:gd name="T54" fmla="*/ 192 w 278"/>
                        <a:gd name="T55" fmla="*/ 38 h 477"/>
                        <a:gd name="T56" fmla="*/ 240 w 278"/>
                        <a:gd name="T57" fmla="*/ 0 h 47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</a:cxnLst>
                      <a:rect l="0" t="0" r="r" b="b"/>
                      <a:pathLst>
                        <a:path w="278" h="477">
                          <a:moveTo>
                            <a:pt x="240" y="0"/>
                          </a:moveTo>
                          <a:lnTo>
                            <a:pt x="253" y="135"/>
                          </a:lnTo>
                          <a:lnTo>
                            <a:pt x="261" y="206"/>
                          </a:lnTo>
                          <a:lnTo>
                            <a:pt x="268" y="231"/>
                          </a:lnTo>
                          <a:lnTo>
                            <a:pt x="278" y="292"/>
                          </a:lnTo>
                          <a:lnTo>
                            <a:pt x="272" y="339"/>
                          </a:lnTo>
                          <a:lnTo>
                            <a:pt x="261" y="387"/>
                          </a:lnTo>
                          <a:lnTo>
                            <a:pt x="243" y="431"/>
                          </a:lnTo>
                          <a:lnTo>
                            <a:pt x="224" y="455"/>
                          </a:lnTo>
                          <a:lnTo>
                            <a:pt x="191" y="470"/>
                          </a:lnTo>
                          <a:lnTo>
                            <a:pt x="148" y="477"/>
                          </a:lnTo>
                          <a:lnTo>
                            <a:pt x="102" y="470"/>
                          </a:lnTo>
                          <a:lnTo>
                            <a:pt x="65" y="451"/>
                          </a:lnTo>
                          <a:lnTo>
                            <a:pt x="43" y="431"/>
                          </a:lnTo>
                          <a:lnTo>
                            <a:pt x="22" y="402"/>
                          </a:lnTo>
                          <a:lnTo>
                            <a:pt x="3" y="360"/>
                          </a:lnTo>
                          <a:lnTo>
                            <a:pt x="0" y="332"/>
                          </a:lnTo>
                          <a:lnTo>
                            <a:pt x="3" y="305"/>
                          </a:lnTo>
                          <a:lnTo>
                            <a:pt x="12" y="283"/>
                          </a:lnTo>
                          <a:lnTo>
                            <a:pt x="25" y="262"/>
                          </a:lnTo>
                          <a:lnTo>
                            <a:pt x="51" y="240"/>
                          </a:lnTo>
                          <a:lnTo>
                            <a:pt x="53" y="195"/>
                          </a:lnTo>
                          <a:lnTo>
                            <a:pt x="51" y="121"/>
                          </a:lnTo>
                          <a:lnTo>
                            <a:pt x="92" y="121"/>
                          </a:lnTo>
                          <a:lnTo>
                            <a:pt x="120" y="112"/>
                          </a:lnTo>
                          <a:lnTo>
                            <a:pt x="148" y="97"/>
                          </a:lnTo>
                          <a:lnTo>
                            <a:pt x="167" y="72"/>
                          </a:lnTo>
                          <a:lnTo>
                            <a:pt x="192" y="38"/>
                          </a:lnTo>
                          <a:lnTo>
                            <a:pt x="240" y="0"/>
                          </a:lnTo>
                          <a:close/>
                        </a:path>
                      </a:pathLst>
                    </a:custGeom>
                    <a:solidFill>
                      <a:srgbClr val="FF9F9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81" name="Freeform 277"/>
                    <p:cNvSpPr/>
                    <p:nvPr/>
                  </p:nvSpPr>
                  <p:spPr bwMode="auto">
                    <a:xfrm>
                      <a:off x="5225" y="2354"/>
                      <a:ext cx="46" cy="87"/>
                    </a:xfrm>
                    <a:custGeom>
                      <a:avLst/>
                      <a:gdLst>
                        <a:gd name="T0" fmla="*/ 240 w 279"/>
                        <a:gd name="T1" fmla="*/ 0 h 434"/>
                        <a:gd name="T2" fmla="*/ 254 w 279"/>
                        <a:gd name="T3" fmla="*/ 135 h 434"/>
                        <a:gd name="T4" fmla="*/ 262 w 279"/>
                        <a:gd name="T5" fmla="*/ 206 h 434"/>
                        <a:gd name="T6" fmla="*/ 269 w 279"/>
                        <a:gd name="T7" fmla="*/ 231 h 434"/>
                        <a:gd name="T8" fmla="*/ 279 w 279"/>
                        <a:gd name="T9" fmla="*/ 292 h 434"/>
                        <a:gd name="T10" fmla="*/ 273 w 279"/>
                        <a:gd name="T11" fmla="*/ 340 h 434"/>
                        <a:gd name="T12" fmla="*/ 262 w 279"/>
                        <a:gd name="T13" fmla="*/ 387 h 434"/>
                        <a:gd name="T14" fmla="*/ 245 w 279"/>
                        <a:gd name="T15" fmla="*/ 431 h 434"/>
                        <a:gd name="T16" fmla="*/ 234 w 279"/>
                        <a:gd name="T17" fmla="*/ 407 h 434"/>
                        <a:gd name="T18" fmla="*/ 214 w 279"/>
                        <a:gd name="T19" fmla="*/ 398 h 434"/>
                        <a:gd name="T20" fmla="*/ 199 w 279"/>
                        <a:gd name="T21" fmla="*/ 403 h 434"/>
                        <a:gd name="T22" fmla="*/ 185 w 279"/>
                        <a:gd name="T23" fmla="*/ 415 h 434"/>
                        <a:gd name="T24" fmla="*/ 163 w 279"/>
                        <a:gd name="T25" fmla="*/ 434 h 434"/>
                        <a:gd name="T26" fmla="*/ 133 w 279"/>
                        <a:gd name="T27" fmla="*/ 434 h 434"/>
                        <a:gd name="T28" fmla="*/ 146 w 279"/>
                        <a:gd name="T29" fmla="*/ 410 h 434"/>
                        <a:gd name="T30" fmla="*/ 173 w 279"/>
                        <a:gd name="T31" fmla="*/ 374 h 434"/>
                        <a:gd name="T32" fmla="*/ 201 w 279"/>
                        <a:gd name="T33" fmla="*/ 351 h 434"/>
                        <a:gd name="T34" fmla="*/ 217 w 279"/>
                        <a:gd name="T35" fmla="*/ 334 h 434"/>
                        <a:gd name="T36" fmla="*/ 224 w 279"/>
                        <a:gd name="T37" fmla="*/ 309 h 434"/>
                        <a:gd name="T38" fmla="*/ 227 w 279"/>
                        <a:gd name="T39" fmla="*/ 285 h 434"/>
                        <a:gd name="T40" fmla="*/ 228 w 279"/>
                        <a:gd name="T41" fmla="*/ 258 h 434"/>
                        <a:gd name="T42" fmla="*/ 225 w 279"/>
                        <a:gd name="T43" fmla="*/ 230 h 434"/>
                        <a:gd name="T44" fmla="*/ 227 w 279"/>
                        <a:gd name="T45" fmla="*/ 189 h 434"/>
                        <a:gd name="T46" fmla="*/ 213 w 279"/>
                        <a:gd name="T47" fmla="*/ 193 h 434"/>
                        <a:gd name="T48" fmla="*/ 177 w 279"/>
                        <a:gd name="T49" fmla="*/ 194 h 434"/>
                        <a:gd name="T50" fmla="*/ 147 w 279"/>
                        <a:gd name="T51" fmla="*/ 191 h 434"/>
                        <a:gd name="T52" fmla="*/ 116 w 279"/>
                        <a:gd name="T53" fmla="*/ 186 h 434"/>
                        <a:gd name="T54" fmla="*/ 93 w 279"/>
                        <a:gd name="T55" fmla="*/ 178 h 434"/>
                        <a:gd name="T56" fmla="*/ 76 w 279"/>
                        <a:gd name="T57" fmla="*/ 169 h 434"/>
                        <a:gd name="T58" fmla="*/ 76 w 279"/>
                        <a:gd name="T59" fmla="*/ 196 h 434"/>
                        <a:gd name="T60" fmla="*/ 76 w 279"/>
                        <a:gd name="T61" fmla="*/ 231 h 434"/>
                        <a:gd name="T62" fmla="*/ 68 w 279"/>
                        <a:gd name="T63" fmla="*/ 262 h 434"/>
                        <a:gd name="T64" fmla="*/ 67 w 279"/>
                        <a:gd name="T65" fmla="*/ 292 h 434"/>
                        <a:gd name="T66" fmla="*/ 78 w 279"/>
                        <a:gd name="T67" fmla="*/ 322 h 434"/>
                        <a:gd name="T68" fmla="*/ 90 w 279"/>
                        <a:gd name="T69" fmla="*/ 348 h 434"/>
                        <a:gd name="T70" fmla="*/ 107 w 279"/>
                        <a:gd name="T71" fmla="*/ 378 h 434"/>
                        <a:gd name="T72" fmla="*/ 98 w 279"/>
                        <a:gd name="T73" fmla="*/ 400 h 434"/>
                        <a:gd name="T74" fmla="*/ 84 w 279"/>
                        <a:gd name="T75" fmla="*/ 387 h 434"/>
                        <a:gd name="T76" fmla="*/ 59 w 279"/>
                        <a:gd name="T77" fmla="*/ 369 h 434"/>
                        <a:gd name="T78" fmla="*/ 43 w 279"/>
                        <a:gd name="T79" fmla="*/ 353 h 434"/>
                        <a:gd name="T80" fmla="*/ 22 w 279"/>
                        <a:gd name="T81" fmla="*/ 342 h 434"/>
                        <a:gd name="T82" fmla="*/ 0 w 279"/>
                        <a:gd name="T83" fmla="*/ 334 h 434"/>
                        <a:gd name="T84" fmla="*/ 4 w 279"/>
                        <a:gd name="T85" fmla="*/ 305 h 434"/>
                        <a:gd name="T86" fmla="*/ 12 w 279"/>
                        <a:gd name="T87" fmla="*/ 283 h 434"/>
                        <a:gd name="T88" fmla="*/ 25 w 279"/>
                        <a:gd name="T89" fmla="*/ 262 h 434"/>
                        <a:gd name="T90" fmla="*/ 52 w 279"/>
                        <a:gd name="T91" fmla="*/ 240 h 434"/>
                        <a:gd name="T92" fmla="*/ 54 w 279"/>
                        <a:gd name="T93" fmla="*/ 195 h 434"/>
                        <a:gd name="T94" fmla="*/ 52 w 279"/>
                        <a:gd name="T95" fmla="*/ 121 h 434"/>
                        <a:gd name="T96" fmla="*/ 92 w 279"/>
                        <a:gd name="T97" fmla="*/ 121 h 434"/>
                        <a:gd name="T98" fmla="*/ 121 w 279"/>
                        <a:gd name="T99" fmla="*/ 114 h 434"/>
                        <a:gd name="T100" fmla="*/ 148 w 279"/>
                        <a:gd name="T101" fmla="*/ 97 h 434"/>
                        <a:gd name="T102" fmla="*/ 168 w 279"/>
                        <a:gd name="T103" fmla="*/ 72 h 434"/>
                        <a:gd name="T104" fmla="*/ 193 w 279"/>
                        <a:gd name="T105" fmla="*/ 38 h 434"/>
                        <a:gd name="T106" fmla="*/ 240 w 279"/>
                        <a:gd name="T107" fmla="*/ 0 h 4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</a:cxnLst>
                      <a:rect l="0" t="0" r="r" b="b"/>
                      <a:pathLst>
                        <a:path w="279" h="434">
                          <a:moveTo>
                            <a:pt x="240" y="0"/>
                          </a:moveTo>
                          <a:lnTo>
                            <a:pt x="254" y="135"/>
                          </a:lnTo>
                          <a:lnTo>
                            <a:pt x="262" y="206"/>
                          </a:lnTo>
                          <a:lnTo>
                            <a:pt x="269" y="231"/>
                          </a:lnTo>
                          <a:lnTo>
                            <a:pt x="279" y="292"/>
                          </a:lnTo>
                          <a:lnTo>
                            <a:pt x="273" y="340"/>
                          </a:lnTo>
                          <a:lnTo>
                            <a:pt x="262" y="387"/>
                          </a:lnTo>
                          <a:lnTo>
                            <a:pt x="245" y="431"/>
                          </a:lnTo>
                          <a:lnTo>
                            <a:pt x="234" y="407"/>
                          </a:lnTo>
                          <a:lnTo>
                            <a:pt x="214" y="398"/>
                          </a:lnTo>
                          <a:lnTo>
                            <a:pt x="199" y="403"/>
                          </a:lnTo>
                          <a:lnTo>
                            <a:pt x="185" y="415"/>
                          </a:lnTo>
                          <a:lnTo>
                            <a:pt x="163" y="434"/>
                          </a:lnTo>
                          <a:lnTo>
                            <a:pt x="133" y="434"/>
                          </a:lnTo>
                          <a:lnTo>
                            <a:pt x="146" y="410"/>
                          </a:lnTo>
                          <a:lnTo>
                            <a:pt x="173" y="374"/>
                          </a:lnTo>
                          <a:lnTo>
                            <a:pt x="201" y="351"/>
                          </a:lnTo>
                          <a:lnTo>
                            <a:pt x="217" y="334"/>
                          </a:lnTo>
                          <a:lnTo>
                            <a:pt x="224" y="309"/>
                          </a:lnTo>
                          <a:lnTo>
                            <a:pt x="227" y="285"/>
                          </a:lnTo>
                          <a:lnTo>
                            <a:pt x="228" y="258"/>
                          </a:lnTo>
                          <a:lnTo>
                            <a:pt x="225" y="230"/>
                          </a:lnTo>
                          <a:lnTo>
                            <a:pt x="227" y="189"/>
                          </a:lnTo>
                          <a:lnTo>
                            <a:pt x="213" y="193"/>
                          </a:lnTo>
                          <a:lnTo>
                            <a:pt x="177" y="194"/>
                          </a:lnTo>
                          <a:lnTo>
                            <a:pt x="147" y="191"/>
                          </a:lnTo>
                          <a:lnTo>
                            <a:pt x="116" y="186"/>
                          </a:lnTo>
                          <a:lnTo>
                            <a:pt x="93" y="178"/>
                          </a:lnTo>
                          <a:lnTo>
                            <a:pt x="76" y="169"/>
                          </a:lnTo>
                          <a:lnTo>
                            <a:pt x="76" y="196"/>
                          </a:lnTo>
                          <a:lnTo>
                            <a:pt x="76" y="231"/>
                          </a:lnTo>
                          <a:lnTo>
                            <a:pt x="68" y="262"/>
                          </a:lnTo>
                          <a:lnTo>
                            <a:pt x="67" y="292"/>
                          </a:lnTo>
                          <a:lnTo>
                            <a:pt x="78" y="322"/>
                          </a:lnTo>
                          <a:lnTo>
                            <a:pt x="90" y="348"/>
                          </a:lnTo>
                          <a:lnTo>
                            <a:pt x="107" y="378"/>
                          </a:lnTo>
                          <a:lnTo>
                            <a:pt x="98" y="400"/>
                          </a:lnTo>
                          <a:lnTo>
                            <a:pt x="84" y="387"/>
                          </a:lnTo>
                          <a:lnTo>
                            <a:pt x="59" y="369"/>
                          </a:lnTo>
                          <a:lnTo>
                            <a:pt x="43" y="353"/>
                          </a:lnTo>
                          <a:lnTo>
                            <a:pt x="22" y="342"/>
                          </a:lnTo>
                          <a:lnTo>
                            <a:pt x="0" y="334"/>
                          </a:lnTo>
                          <a:lnTo>
                            <a:pt x="4" y="305"/>
                          </a:lnTo>
                          <a:lnTo>
                            <a:pt x="12" y="283"/>
                          </a:lnTo>
                          <a:lnTo>
                            <a:pt x="25" y="262"/>
                          </a:lnTo>
                          <a:lnTo>
                            <a:pt x="52" y="240"/>
                          </a:lnTo>
                          <a:lnTo>
                            <a:pt x="54" y="195"/>
                          </a:lnTo>
                          <a:lnTo>
                            <a:pt x="52" y="121"/>
                          </a:lnTo>
                          <a:lnTo>
                            <a:pt x="92" y="121"/>
                          </a:lnTo>
                          <a:lnTo>
                            <a:pt x="121" y="114"/>
                          </a:lnTo>
                          <a:lnTo>
                            <a:pt x="148" y="97"/>
                          </a:lnTo>
                          <a:lnTo>
                            <a:pt x="168" y="72"/>
                          </a:lnTo>
                          <a:lnTo>
                            <a:pt x="193" y="38"/>
                          </a:lnTo>
                          <a:lnTo>
                            <a:pt x="240" y="0"/>
                          </a:lnTo>
                          <a:close/>
                        </a:path>
                      </a:pathLst>
                    </a:custGeom>
                    <a:solidFill>
                      <a:srgbClr val="FF7F7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sp>
                <p:nvSpPr>
                  <p:cNvPr id="340" name="Freeform 278"/>
                  <p:cNvSpPr/>
                  <p:nvPr/>
                </p:nvSpPr>
                <p:spPr bwMode="auto">
                  <a:xfrm>
                    <a:off x="5214" y="2266"/>
                    <a:ext cx="63" cy="116"/>
                  </a:xfrm>
                  <a:custGeom>
                    <a:avLst/>
                    <a:gdLst>
                      <a:gd name="T0" fmla="*/ 34 w 376"/>
                      <a:gd name="T1" fmla="*/ 100 h 582"/>
                      <a:gd name="T2" fmla="*/ 19 w 376"/>
                      <a:gd name="T3" fmla="*/ 137 h 582"/>
                      <a:gd name="T4" fmla="*/ 8 w 376"/>
                      <a:gd name="T5" fmla="*/ 169 h 582"/>
                      <a:gd name="T6" fmla="*/ 1 w 376"/>
                      <a:gd name="T7" fmla="*/ 195 h 582"/>
                      <a:gd name="T8" fmla="*/ 0 w 376"/>
                      <a:gd name="T9" fmla="*/ 215 h 582"/>
                      <a:gd name="T10" fmla="*/ 2 w 376"/>
                      <a:gd name="T11" fmla="*/ 233 h 582"/>
                      <a:gd name="T12" fmla="*/ 6 w 376"/>
                      <a:gd name="T13" fmla="*/ 262 h 582"/>
                      <a:gd name="T14" fmla="*/ 4 w 376"/>
                      <a:gd name="T15" fmla="*/ 275 h 582"/>
                      <a:gd name="T16" fmla="*/ 6 w 376"/>
                      <a:gd name="T17" fmla="*/ 291 h 582"/>
                      <a:gd name="T18" fmla="*/ 13 w 376"/>
                      <a:gd name="T19" fmla="*/ 312 h 582"/>
                      <a:gd name="T20" fmla="*/ 15 w 376"/>
                      <a:gd name="T21" fmla="*/ 325 h 582"/>
                      <a:gd name="T22" fmla="*/ 12 w 376"/>
                      <a:gd name="T23" fmla="*/ 362 h 582"/>
                      <a:gd name="T24" fmla="*/ 15 w 376"/>
                      <a:gd name="T25" fmla="*/ 388 h 582"/>
                      <a:gd name="T26" fmla="*/ 22 w 376"/>
                      <a:gd name="T27" fmla="*/ 414 h 582"/>
                      <a:gd name="T28" fmla="*/ 34 w 376"/>
                      <a:gd name="T29" fmla="*/ 445 h 582"/>
                      <a:gd name="T30" fmla="*/ 49 w 376"/>
                      <a:gd name="T31" fmla="*/ 477 h 582"/>
                      <a:gd name="T32" fmla="*/ 62 w 376"/>
                      <a:gd name="T33" fmla="*/ 507 h 582"/>
                      <a:gd name="T34" fmla="*/ 70 w 376"/>
                      <a:gd name="T35" fmla="*/ 530 h 582"/>
                      <a:gd name="T36" fmla="*/ 77 w 376"/>
                      <a:gd name="T37" fmla="*/ 555 h 582"/>
                      <a:gd name="T38" fmla="*/ 88 w 376"/>
                      <a:gd name="T39" fmla="*/ 570 h 582"/>
                      <a:gd name="T40" fmla="*/ 104 w 376"/>
                      <a:gd name="T41" fmla="*/ 578 h 582"/>
                      <a:gd name="T42" fmla="*/ 129 w 376"/>
                      <a:gd name="T43" fmla="*/ 582 h 582"/>
                      <a:gd name="T44" fmla="*/ 163 w 376"/>
                      <a:gd name="T45" fmla="*/ 578 h 582"/>
                      <a:gd name="T46" fmla="*/ 193 w 376"/>
                      <a:gd name="T47" fmla="*/ 571 h 582"/>
                      <a:gd name="T48" fmla="*/ 210 w 376"/>
                      <a:gd name="T49" fmla="*/ 559 h 582"/>
                      <a:gd name="T50" fmla="*/ 235 w 376"/>
                      <a:gd name="T51" fmla="*/ 541 h 582"/>
                      <a:gd name="T52" fmla="*/ 261 w 376"/>
                      <a:gd name="T53" fmla="*/ 507 h 582"/>
                      <a:gd name="T54" fmla="*/ 304 w 376"/>
                      <a:gd name="T55" fmla="*/ 444 h 582"/>
                      <a:gd name="T56" fmla="*/ 315 w 376"/>
                      <a:gd name="T57" fmla="*/ 424 h 582"/>
                      <a:gd name="T58" fmla="*/ 324 w 376"/>
                      <a:gd name="T59" fmla="*/ 429 h 582"/>
                      <a:gd name="T60" fmla="*/ 337 w 376"/>
                      <a:gd name="T61" fmla="*/ 429 h 582"/>
                      <a:gd name="T62" fmla="*/ 344 w 376"/>
                      <a:gd name="T63" fmla="*/ 410 h 582"/>
                      <a:gd name="T64" fmla="*/ 356 w 376"/>
                      <a:gd name="T65" fmla="*/ 372 h 582"/>
                      <a:gd name="T66" fmla="*/ 365 w 376"/>
                      <a:gd name="T67" fmla="*/ 336 h 582"/>
                      <a:gd name="T68" fmla="*/ 363 w 376"/>
                      <a:gd name="T69" fmla="*/ 288 h 582"/>
                      <a:gd name="T70" fmla="*/ 373 w 376"/>
                      <a:gd name="T71" fmla="*/ 206 h 582"/>
                      <a:gd name="T72" fmla="*/ 376 w 376"/>
                      <a:gd name="T73" fmla="*/ 157 h 582"/>
                      <a:gd name="T74" fmla="*/ 374 w 376"/>
                      <a:gd name="T75" fmla="*/ 116 h 582"/>
                      <a:gd name="T76" fmla="*/ 365 w 376"/>
                      <a:gd name="T77" fmla="*/ 86 h 582"/>
                      <a:gd name="T78" fmla="*/ 340 w 376"/>
                      <a:gd name="T79" fmla="*/ 48 h 582"/>
                      <a:gd name="T80" fmla="*/ 304 w 376"/>
                      <a:gd name="T81" fmla="*/ 22 h 582"/>
                      <a:gd name="T82" fmla="*/ 265 w 376"/>
                      <a:gd name="T83" fmla="*/ 7 h 582"/>
                      <a:gd name="T84" fmla="*/ 222 w 376"/>
                      <a:gd name="T85" fmla="*/ 0 h 582"/>
                      <a:gd name="T86" fmla="*/ 178 w 376"/>
                      <a:gd name="T87" fmla="*/ 0 h 582"/>
                      <a:gd name="T88" fmla="*/ 136 w 376"/>
                      <a:gd name="T89" fmla="*/ 7 h 582"/>
                      <a:gd name="T90" fmla="*/ 95 w 376"/>
                      <a:gd name="T91" fmla="*/ 27 h 582"/>
                      <a:gd name="T92" fmla="*/ 65 w 376"/>
                      <a:gd name="T93" fmla="*/ 53 h 582"/>
                      <a:gd name="T94" fmla="*/ 34 w 376"/>
                      <a:gd name="T95" fmla="*/ 100 h 58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</a:cxnLst>
                    <a:rect l="0" t="0" r="r" b="b"/>
                    <a:pathLst>
                      <a:path w="376" h="582">
                        <a:moveTo>
                          <a:pt x="34" y="100"/>
                        </a:moveTo>
                        <a:lnTo>
                          <a:pt x="19" y="137"/>
                        </a:lnTo>
                        <a:lnTo>
                          <a:pt x="8" y="169"/>
                        </a:lnTo>
                        <a:lnTo>
                          <a:pt x="1" y="195"/>
                        </a:lnTo>
                        <a:lnTo>
                          <a:pt x="0" y="215"/>
                        </a:lnTo>
                        <a:lnTo>
                          <a:pt x="2" y="233"/>
                        </a:lnTo>
                        <a:lnTo>
                          <a:pt x="6" y="262"/>
                        </a:lnTo>
                        <a:lnTo>
                          <a:pt x="4" y="275"/>
                        </a:lnTo>
                        <a:lnTo>
                          <a:pt x="6" y="291"/>
                        </a:lnTo>
                        <a:lnTo>
                          <a:pt x="13" y="312"/>
                        </a:lnTo>
                        <a:lnTo>
                          <a:pt x="15" y="325"/>
                        </a:lnTo>
                        <a:lnTo>
                          <a:pt x="12" y="362"/>
                        </a:lnTo>
                        <a:lnTo>
                          <a:pt x="15" y="388"/>
                        </a:lnTo>
                        <a:lnTo>
                          <a:pt x="22" y="414"/>
                        </a:lnTo>
                        <a:lnTo>
                          <a:pt x="34" y="445"/>
                        </a:lnTo>
                        <a:lnTo>
                          <a:pt x="49" y="477"/>
                        </a:lnTo>
                        <a:lnTo>
                          <a:pt x="62" y="507"/>
                        </a:lnTo>
                        <a:lnTo>
                          <a:pt x="70" y="530"/>
                        </a:lnTo>
                        <a:lnTo>
                          <a:pt x="77" y="555"/>
                        </a:lnTo>
                        <a:lnTo>
                          <a:pt x="88" y="570"/>
                        </a:lnTo>
                        <a:lnTo>
                          <a:pt x="104" y="578"/>
                        </a:lnTo>
                        <a:lnTo>
                          <a:pt x="129" y="582"/>
                        </a:lnTo>
                        <a:lnTo>
                          <a:pt x="163" y="578"/>
                        </a:lnTo>
                        <a:lnTo>
                          <a:pt x="193" y="571"/>
                        </a:lnTo>
                        <a:lnTo>
                          <a:pt x="210" y="559"/>
                        </a:lnTo>
                        <a:lnTo>
                          <a:pt x="235" y="541"/>
                        </a:lnTo>
                        <a:lnTo>
                          <a:pt x="261" y="507"/>
                        </a:lnTo>
                        <a:lnTo>
                          <a:pt x="304" y="444"/>
                        </a:lnTo>
                        <a:lnTo>
                          <a:pt x="315" y="424"/>
                        </a:lnTo>
                        <a:lnTo>
                          <a:pt x="324" y="429"/>
                        </a:lnTo>
                        <a:lnTo>
                          <a:pt x="337" y="429"/>
                        </a:lnTo>
                        <a:lnTo>
                          <a:pt x="344" y="410"/>
                        </a:lnTo>
                        <a:lnTo>
                          <a:pt x="356" y="372"/>
                        </a:lnTo>
                        <a:lnTo>
                          <a:pt x="365" y="336"/>
                        </a:lnTo>
                        <a:lnTo>
                          <a:pt x="363" y="288"/>
                        </a:lnTo>
                        <a:lnTo>
                          <a:pt x="373" y="206"/>
                        </a:lnTo>
                        <a:lnTo>
                          <a:pt x="376" y="157"/>
                        </a:lnTo>
                        <a:lnTo>
                          <a:pt x="374" y="116"/>
                        </a:lnTo>
                        <a:lnTo>
                          <a:pt x="365" y="86"/>
                        </a:lnTo>
                        <a:lnTo>
                          <a:pt x="340" y="48"/>
                        </a:lnTo>
                        <a:lnTo>
                          <a:pt x="304" y="22"/>
                        </a:lnTo>
                        <a:lnTo>
                          <a:pt x="265" y="7"/>
                        </a:lnTo>
                        <a:lnTo>
                          <a:pt x="222" y="0"/>
                        </a:lnTo>
                        <a:lnTo>
                          <a:pt x="178" y="0"/>
                        </a:lnTo>
                        <a:lnTo>
                          <a:pt x="136" y="7"/>
                        </a:lnTo>
                        <a:lnTo>
                          <a:pt x="95" y="27"/>
                        </a:lnTo>
                        <a:lnTo>
                          <a:pt x="65" y="53"/>
                        </a:lnTo>
                        <a:lnTo>
                          <a:pt x="34" y="100"/>
                        </a:lnTo>
                        <a:close/>
                      </a:path>
                    </a:pathLst>
                  </a:custGeom>
                  <a:solidFill>
                    <a:srgbClr val="FF9F9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grpSp>
                <p:nvGrpSpPr>
                  <p:cNvPr id="341" name="Group 279"/>
                  <p:cNvGrpSpPr/>
                  <p:nvPr/>
                </p:nvGrpSpPr>
                <p:grpSpPr bwMode="auto">
                  <a:xfrm>
                    <a:off x="5204" y="2258"/>
                    <a:ext cx="90" cy="143"/>
                    <a:chOff x="5204" y="2258"/>
                    <a:chExt cx="90" cy="143"/>
                  </a:xfrm>
                </p:grpSpPr>
                <p:grpSp>
                  <p:nvGrpSpPr>
                    <p:cNvPr id="376" name="Group 280"/>
                    <p:cNvGrpSpPr/>
                    <p:nvPr/>
                  </p:nvGrpSpPr>
                  <p:grpSpPr bwMode="auto">
                    <a:xfrm>
                      <a:off x="5204" y="2258"/>
                      <a:ext cx="90" cy="143"/>
                      <a:chOff x="5204" y="2258"/>
                      <a:chExt cx="90" cy="143"/>
                    </a:xfrm>
                  </p:grpSpPr>
                  <p:sp>
                    <p:nvSpPr>
                      <p:cNvPr id="378" name="Freeform 281"/>
                      <p:cNvSpPr/>
                      <p:nvPr/>
                    </p:nvSpPr>
                    <p:spPr bwMode="auto">
                      <a:xfrm>
                        <a:off x="5225" y="2293"/>
                        <a:ext cx="7" cy="14"/>
                      </a:xfrm>
                      <a:custGeom>
                        <a:avLst/>
                        <a:gdLst>
                          <a:gd name="T0" fmla="*/ 7 w 45"/>
                          <a:gd name="T1" fmla="*/ 0 h 70"/>
                          <a:gd name="T2" fmla="*/ 1 w 45"/>
                          <a:gd name="T3" fmla="*/ 11 h 70"/>
                          <a:gd name="T4" fmla="*/ 0 w 45"/>
                          <a:gd name="T5" fmla="*/ 25 h 70"/>
                          <a:gd name="T6" fmla="*/ 4 w 45"/>
                          <a:gd name="T7" fmla="*/ 37 h 70"/>
                          <a:gd name="T8" fmla="*/ 12 w 45"/>
                          <a:gd name="T9" fmla="*/ 46 h 70"/>
                          <a:gd name="T10" fmla="*/ 24 w 45"/>
                          <a:gd name="T11" fmla="*/ 57 h 70"/>
                          <a:gd name="T12" fmla="*/ 45 w 45"/>
                          <a:gd name="T13" fmla="*/ 70 h 70"/>
                          <a:gd name="T14" fmla="*/ 26 w 45"/>
                          <a:gd name="T15" fmla="*/ 51 h 70"/>
                          <a:gd name="T16" fmla="*/ 19 w 45"/>
                          <a:gd name="T17" fmla="*/ 41 h 70"/>
                          <a:gd name="T18" fmla="*/ 14 w 45"/>
                          <a:gd name="T19" fmla="*/ 32 h 70"/>
                          <a:gd name="T20" fmla="*/ 10 w 45"/>
                          <a:gd name="T21" fmla="*/ 20 h 70"/>
                          <a:gd name="T22" fmla="*/ 7 w 45"/>
                          <a:gd name="T23" fmla="*/ 0 h 7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</a:cxnLst>
                        <a:rect l="0" t="0" r="r" b="b"/>
                        <a:pathLst>
                          <a:path w="45" h="70">
                            <a:moveTo>
                              <a:pt x="7" y="0"/>
                            </a:moveTo>
                            <a:lnTo>
                              <a:pt x="1" y="11"/>
                            </a:lnTo>
                            <a:lnTo>
                              <a:pt x="0" y="25"/>
                            </a:lnTo>
                            <a:lnTo>
                              <a:pt x="4" y="37"/>
                            </a:lnTo>
                            <a:lnTo>
                              <a:pt x="12" y="46"/>
                            </a:lnTo>
                            <a:lnTo>
                              <a:pt x="24" y="57"/>
                            </a:lnTo>
                            <a:lnTo>
                              <a:pt x="45" y="70"/>
                            </a:lnTo>
                            <a:lnTo>
                              <a:pt x="26" y="51"/>
                            </a:lnTo>
                            <a:lnTo>
                              <a:pt x="19" y="41"/>
                            </a:lnTo>
                            <a:lnTo>
                              <a:pt x="14" y="32"/>
                            </a:lnTo>
                            <a:lnTo>
                              <a:pt x="10" y="20"/>
                            </a:lnTo>
                            <a:lnTo>
                              <a:pt x="7" y="0"/>
                            </a:lnTo>
                            <a:close/>
                          </a:path>
                        </a:pathLst>
                      </a:custGeom>
                      <a:solidFill>
                        <a:srgbClr val="7F3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379" name="Freeform 282"/>
                      <p:cNvSpPr/>
                      <p:nvPr/>
                    </p:nvSpPr>
                    <p:spPr bwMode="auto">
                      <a:xfrm>
                        <a:off x="5204" y="2258"/>
                        <a:ext cx="90" cy="143"/>
                      </a:xfrm>
                      <a:custGeom>
                        <a:avLst/>
                        <a:gdLst>
                          <a:gd name="T0" fmla="*/ 49 w 540"/>
                          <a:gd name="T1" fmla="*/ 109 h 714"/>
                          <a:gd name="T2" fmla="*/ 7 w 540"/>
                          <a:gd name="T3" fmla="*/ 151 h 714"/>
                          <a:gd name="T4" fmla="*/ 12 w 540"/>
                          <a:gd name="T5" fmla="*/ 207 h 714"/>
                          <a:gd name="T6" fmla="*/ 13 w 540"/>
                          <a:gd name="T7" fmla="*/ 160 h 714"/>
                          <a:gd name="T8" fmla="*/ 49 w 540"/>
                          <a:gd name="T9" fmla="*/ 129 h 714"/>
                          <a:gd name="T10" fmla="*/ 20 w 540"/>
                          <a:gd name="T11" fmla="*/ 175 h 714"/>
                          <a:gd name="T12" fmla="*/ 55 w 540"/>
                          <a:gd name="T13" fmla="*/ 138 h 714"/>
                          <a:gd name="T14" fmla="*/ 28 w 540"/>
                          <a:gd name="T15" fmla="*/ 181 h 714"/>
                          <a:gd name="T16" fmla="*/ 51 w 540"/>
                          <a:gd name="T17" fmla="*/ 237 h 714"/>
                          <a:gd name="T18" fmla="*/ 36 w 540"/>
                          <a:gd name="T19" fmla="*/ 173 h 714"/>
                          <a:gd name="T20" fmla="*/ 54 w 540"/>
                          <a:gd name="T21" fmla="*/ 156 h 714"/>
                          <a:gd name="T22" fmla="*/ 57 w 540"/>
                          <a:gd name="T23" fmla="*/ 203 h 714"/>
                          <a:gd name="T24" fmla="*/ 63 w 540"/>
                          <a:gd name="T25" fmla="*/ 204 h 714"/>
                          <a:gd name="T26" fmla="*/ 71 w 540"/>
                          <a:gd name="T27" fmla="*/ 159 h 714"/>
                          <a:gd name="T28" fmla="*/ 79 w 540"/>
                          <a:gd name="T29" fmla="*/ 214 h 714"/>
                          <a:gd name="T30" fmla="*/ 77 w 540"/>
                          <a:gd name="T31" fmla="*/ 190 h 714"/>
                          <a:gd name="T32" fmla="*/ 89 w 540"/>
                          <a:gd name="T33" fmla="*/ 198 h 714"/>
                          <a:gd name="T34" fmla="*/ 97 w 540"/>
                          <a:gd name="T35" fmla="*/ 207 h 714"/>
                          <a:gd name="T36" fmla="*/ 111 w 540"/>
                          <a:gd name="T37" fmla="*/ 228 h 714"/>
                          <a:gd name="T38" fmla="*/ 134 w 540"/>
                          <a:gd name="T39" fmla="*/ 253 h 714"/>
                          <a:gd name="T40" fmla="*/ 101 w 540"/>
                          <a:gd name="T41" fmla="*/ 185 h 714"/>
                          <a:gd name="T42" fmla="*/ 117 w 540"/>
                          <a:gd name="T43" fmla="*/ 212 h 714"/>
                          <a:gd name="T44" fmla="*/ 118 w 540"/>
                          <a:gd name="T45" fmla="*/ 201 h 714"/>
                          <a:gd name="T46" fmla="*/ 149 w 540"/>
                          <a:gd name="T47" fmla="*/ 199 h 714"/>
                          <a:gd name="T48" fmla="*/ 153 w 540"/>
                          <a:gd name="T49" fmla="*/ 187 h 714"/>
                          <a:gd name="T50" fmla="*/ 175 w 540"/>
                          <a:gd name="T51" fmla="*/ 220 h 714"/>
                          <a:gd name="T52" fmla="*/ 175 w 540"/>
                          <a:gd name="T53" fmla="*/ 203 h 714"/>
                          <a:gd name="T54" fmla="*/ 185 w 540"/>
                          <a:gd name="T55" fmla="*/ 201 h 714"/>
                          <a:gd name="T56" fmla="*/ 192 w 540"/>
                          <a:gd name="T57" fmla="*/ 194 h 714"/>
                          <a:gd name="T58" fmla="*/ 224 w 540"/>
                          <a:gd name="T59" fmla="*/ 159 h 714"/>
                          <a:gd name="T60" fmla="*/ 242 w 540"/>
                          <a:gd name="T61" fmla="*/ 224 h 714"/>
                          <a:gd name="T62" fmla="*/ 346 w 540"/>
                          <a:gd name="T63" fmla="*/ 343 h 714"/>
                          <a:gd name="T64" fmla="*/ 376 w 540"/>
                          <a:gd name="T65" fmla="*/ 345 h 714"/>
                          <a:gd name="T66" fmla="*/ 389 w 540"/>
                          <a:gd name="T67" fmla="*/ 288 h 714"/>
                          <a:gd name="T68" fmla="*/ 426 w 540"/>
                          <a:gd name="T69" fmla="*/ 345 h 714"/>
                          <a:gd name="T70" fmla="*/ 353 w 540"/>
                          <a:gd name="T71" fmla="*/ 516 h 714"/>
                          <a:gd name="T72" fmla="*/ 339 w 540"/>
                          <a:gd name="T73" fmla="*/ 644 h 714"/>
                          <a:gd name="T74" fmla="*/ 393 w 540"/>
                          <a:gd name="T75" fmla="*/ 706 h 714"/>
                          <a:gd name="T76" fmla="*/ 480 w 540"/>
                          <a:gd name="T77" fmla="*/ 700 h 714"/>
                          <a:gd name="T78" fmla="*/ 518 w 540"/>
                          <a:gd name="T79" fmla="*/ 605 h 714"/>
                          <a:gd name="T80" fmla="*/ 536 w 540"/>
                          <a:gd name="T81" fmla="*/ 527 h 714"/>
                          <a:gd name="T82" fmla="*/ 484 w 540"/>
                          <a:gd name="T83" fmla="*/ 424 h 714"/>
                          <a:gd name="T84" fmla="*/ 493 w 540"/>
                          <a:gd name="T85" fmla="*/ 232 h 714"/>
                          <a:gd name="T86" fmla="*/ 451 w 540"/>
                          <a:gd name="T87" fmla="*/ 89 h 714"/>
                          <a:gd name="T88" fmla="*/ 386 w 540"/>
                          <a:gd name="T89" fmla="*/ 20 h 714"/>
                          <a:gd name="T90" fmla="*/ 300 w 540"/>
                          <a:gd name="T91" fmla="*/ 0 h 714"/>
                          <a:gd name="T92" fmla="*/ 204 w 540"/>
                          <a:gd name="T93" fmla="*/ 23 h 714"/>
                          <a:gd name="T94" fmla="*/ 146 w 540"/>
                          <a:gd name="T95" fmla="*/ 61 h 714"/>
                          <a:gd name="T96" fmla="*/ 125 w 540"/>
                          <a:gd name="T97" fmla="*/ 66 h 714"/>
                          <a:gd name="T98" fmla="*/ 101 w 540"/>
                          <a:gd name="T99" fmla="*/ 73 h 714"/>
                          <a:gd name="T100" fmla="*/ 94 w 540"/>
                          <a:gd name="T101" fmla="*/ 51 h 71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  <a:cxn ang="0">
                            <a:pos x="T78" y="T79"/>
                          </a:cxn>
                          <a:cxn ang="0">
                            <a:pos x="T80" y="T81"/>
                          </a:cxn>
                          <a:cxn ang="0">
                            <a:pos x="T82" y="T83"/>
                          </a:cxn>
                          <a:cxn ang="0">
                            <a:pos x="T84" y="T85"/>
                          </a:cxn>
                          <a:cxn ang="0">
                            <a:pos x="T86" y="T87"/>
                          </a:cxn>
                          <a:cxn ang="0">
                            <a:pos x="T88" y="T89"/>
                          </a:cxn>
                          <a:cxn ang="0">
                            <a:pos x="T90" y="T91"/>
                          </a:cxn>
                          <a:cxn ang="0">
                            <a:pos x="T92" y="T93"/>
                          </a:cxn>
                          <a:cxn ang="0">
                            <a:pos x="T94" y="T95"/>
                          </a:cxn>
                          <a:cxn ang="0">
                            <a:pos x="T96" y="T97"/>
                          </a:cxn>
                          <a:cxn ang="0">
                            <a:pos x="T98" y="T99"/>
                          </a:cxn>
                          <a:cxn ang="0">
                            <a:pos x="T100" y="T101"/>
                          </a:cxn>
                        </a:cxnLst>
                        <a:rect l="0" t="0" r="r" b="b"/>
                        <a:pathLst>
                          <a:path w="540" h="714">
                            <a:moveTo>
                              <a:pt x="71" y="71"/>
                            </a:moveTo>
                            <a:lnTo>
                              <a:pt x="60" y="80"/>
                            </a:lnTo>
                            <a:lnTo>
                              <a:pt x="54" y="88"/>
                            </a:lnTo>
                            <a:lnTo>
                              <a:pt x="50" y="99"/>
                            </a:lnTo>
                            <a:lnTo>
                              <a:pt x="49" y="109"/>
                            </a:lnTo>
                            <a:lnTo>
                              <a:pt x="49" y="120"/>
                            </a:lnTo>
                            <a:lnTo>
                              <a:pt x="32" y="125"/>
                            </a:lnTo>
                            <a:lnTo>
                              <a:pt x="20" y="133"/>
                            </a:lnTo>
                            <a:lnTo>
                              <a:pt x="12" y="141"/>
                            </a:lnTo>
                            <a:lnTo>
                              <a:pt x="7" y="151"/>
                            </a:lnTo>
                            <a:lnTo>
                              <a:pt x="5" y="165"/>
                            </a:lnTo>
                            <a:lnTo>
                              <a:pt x="0" y="175"/>
                            </a:lnTo>
                            <a:lnTo>
                              <a:pt x="5" y="186"/>
                            </a:lnTo>
                            <a:lnTo>
                              <a:pt x="8" y="197"/>
                            </a:lnTo>
                            <a:lnTo>
                              <a:pt x="12" y="207"/>
                            </a:lnTo>
                            <a:lnTo>
                              <a:pt x="18" y="217"/>
                            </a:lnTo>
                            <a:lnTo>
                              <a:pt x="13" y="199"/>
                            </a:lnTo>
                            <a:lnTo>
                              <a:pt x="11" y="186"/>
                            </a:lnTo>
                            <a:lnTo>
                              <a:pt x="11" y="173"/>
                            </a:lnTo>
                            <a:lnTo>
                              <a:pt x="13" y="160"/>
                            </a:lnTo>
                            <a:lnTo>
                              <a:pt x="18" y="148"/>
                            </a:lnTo>
                            <a:lnTo>
                              <a:pt x="24" y="141"/>
                            </a:lnTo>
                            <a:lnTo>
                              <a:pt x="32" y="136"/>
                            </a:lnTo>
                            <a:lnTo>
                              <a:pt x="39" y="133"/>
                            </a:lnTo>
                            <a:lnTo>
                              <a:pt x="49" y="129"/>
                            </a:lnTo>
                            <a:lnTo>
                              <a:pt x="34" y="139"/>
                            </a:lnTo>
                            <a:lnTo>
                              <a:pt x="27" y="146"/>
                            </a:lnTo>
                            <a:lnTo>
                              <a:pt x="22" y="155"/>
                            </a:lnTo>
                            <a:lnTo>
                              <a:pt x="20" y="162"/>
                            </a:lnTo>
                            <a:lnTo>
                              <a:pt x="20" y="175"/>
                            </a:lnTo>
                            <a:lnTo>
                              <a:pt x="24" y="162"/>
                            </a:lnTo>
                            <a:lnTo>
                              <a:pt x="28" y="152"/>
                            </a:lnTo>
                            <a:lnTo>
                              <a:pt x="37" y="145"/>
                            </a:lnTo>
                            <a:lnTo>
                              <a:pt x="46" y="140"/>
                            </a:lnTo>
                            <a:lnTo>
                              <a:pt x="55" y="138"/>
                            </a:lnTo>
                            <a:lnTo>
                              <a:pt x="44" y="144"/>
                            </a:lnTo>
                            <a:lnTo>
                              <a:pt x="38" y="150"/>
                            </a:lnTo>
                            <a:lnTo>
                              <a:pt x="32" y="160"/>
                            </a:lnTo>
                            <a:lnTo>
                              <a:pt x="30" y="170"/>
                            </a:lnTo>
                            <a:lnTo>
                              <a:pt x="28" y="181"/>
                            </a:lnTo>
                            <a:lnTo>
                              <a:pt x="28" y="191"/>
                            </a:lnTo>
                            <a:lnTo>
                              <a:pt x="30" y="198"/>
                            </a:lnTo>
                            <a:lnTo>
                              <a:pt x="33" y="207"/>
                            </a:lnTo>
                            <a:lnTo>
                              <a:pt x="38" y="217"/>
                            </a:lnTo>
                            <a:lnTo>
                              <a:pt x="51" y="237"/>
                            </a:lnTo>
                            <a:lnTo>
                              <a:pt x="40" y="214"/>
                            </a:lnTo>
                            <a:lnTo>
                              <a:pt x="36" y="204"/>
                            </a:lnTo>
                            <a:lnTo>
                              <a:pt x="33" y="194"/>
                            </a:lnTo>
                            <a:lnTo>
                              <a:pt x="34" y="183"/>
                            </a:lnTo>
                            <a:lnTo>
                              <a:pt x="36" y="173"/>
                            </a:lnTo>
                            <a:lnTo>
                              <a:pt x="37" y="165"/>
                            </a:lnTo>
                            <a:lnTo>
                              <a:pt x="44" y="154"/>
                            </a:lnTo>
                            <a:lnTo>
                              <a:pt x="56" y="145"/>
                            </a:lnTo>
                            <a:lnTo>
                              <a:pt x="60" y="148"/>
                            </a:lnTo>
                            <a:lnTo>
                              <a:pt x="54" y="156"/>
                            </a:lnTo>
                            <a:lnTo>
                              <a:pt x="50" y="164"/>
                            </a:lnTo>
                            <a:lnTo>
                              <a:pt x="49" y="172"/>
                            </a:lnTo>
                            <a:lnTo>
                              <a:pt x="50" y="182"/>
                            </a:lnTo>
                            <a:lnTo>
                              <a:pt x="52" y="192"/>
                            </a:lnTo>
                            <a:lnTo>
                              <a:pt x="57" y="203"/>
                            </a:lnTo>
                            <a:lnTo>
                              <a:pt x="64" y="215"/>
                            </a:lnTo>
                            <a:lnTo>
                              <a:pt x="75" y="232"/>
                            </a:lnTo>
                            <a:lnTo>
                              <a:pt x="86" y="246"/>
                            </a:lnTo>
                            <a:lnTo>
                              <a:pt x="69" y="218"/>
                            </a:lnTo>
                            <a:lnTo>
                              <a:pt x="63" y="204"/>
                            </a:lnTo>
                            <a:lnTo>
                              <a:pt x="60" y="193"/>
                            </a:lnTo>
                            <a:lnTo>
                              <a:pt x="62" y="183"/>
                            </a:lnTo>
                            <a:lnTo>
                              <a:pt x="63" y="169"/>
                            </a:lnTo>
                            <a:lnTo>
                              <a:pt x="68" y="156"/>
                            </a:lnTo>
                            <a:lnTo>
                              <a:pt x="71" y="159"/>
                            </a:lnTo>
                            <a:lnTo>
                              <a:pt x="70" y="167"/>
                            </a:lnTo>
                            <a:lnTo>
                              <a:pt x="70" y="181"/>
                            </a:lnTo>
                            <a:lnTo>
                              <a:pt x="71" y="191"/>
                            </a:lnTo>
                            <a:lnTo>
                              <a:pt x="75" y="203"/>
                            </a:lnTo>
                            <a:lnTo>
                              <a:pt x="79" y="214"/>
                            </a:lnTo>
                            <a:lnTo>
                              <a:pt x="87" y="225"/>
                            </a:lnTo>
                            <a:lnTo>
                              <a:pt x="97" y="237"/>
                            </a:lnTo>
                            <a:lnTo>
                              <a:pt x="85" y="215"/>
                            </a:lnTo>
                            <a:lnTo>
                              <a:pt x="80" y="203"/>
                            </a:lnTo>
                            <a:lnTo>
                              <a:pt x="77" y="190"/>
                            </a:lnTo>
                            <a:lnTo>
                              <a:pt x="77" y="172"/>
                            </a:lnTo>
                            <a:lnTo>
                              <a:pt x="80" y="162"/>
                            </a:lnTo>
                            <a:lnTo>
                              <a:pt x="86" y="167"/>
                            </a:lnTo>
                            <a:lnTo>
                              <a:pt x="87" y="183"/>
                            </a:lnTo>
                            <a:lnTo>
                              <a:pt x="89" y="198"/>
                            </a:lnTo>
                            <a:lnTo>
                              <a:pt x="94" y="211"/>
                            </a:lnTo>
                            <a:lnTo>
                              <a:pt x="99" y="223"/>
                            </a:lnTo>
                            <a:lnTo>
                              <a:pt x="106" y="237"/>
                            </a:lnTo>
                            <a:lnTo>
                              <a:pt x="100" y="218"/>
                            </a:lnTo>
                            <a:lnTo>
                              <a:pt x="97" y="207"/>
                            </a:lnTo>
                            <a:lnTo>
                              <a:pt x="94" y="198"/>
                            </a:lnTo>
                            <a:lnTo>
                              <a:pt x="93" y="187"/>
                            </a:lnTo>
                            <a:lnTo>
                              <a:pt x="99" y="207"/>
                            </a:lnTo>
                            <a:lnTo>
                              <a:pt x="104" y="218"/>
                            </a:lnTo>
                            <a:lnTo>
                              <a:pt x="111" y="228"/>
                            </a:lnTo>
                            <a:lnTo>
                              <a:pt x="119" y="240"/>
                            </a:lnTo>
                            <a:lnTo>
                              <a:pt x="129" y="253"/>
                            </a:lnTo>
                            <a:lnTo>
                              <a:pt x="140" y="261"/>
                            </a:lnTo>
                            <a:lnTo>
                              <a:pt x="148" y="267"/>
                            </a:lnTo>
                            <a:lnTo>
                              <a:pt x="134" y="253"/>
                            </a:lnTo>
                            <a:lnTo>
                              <a:pt x="124" y="240"/>
                            </a:lnTo>
                            <a:lnTo>
                              <a:pt x="116" y="227"/>
                            </a:lnTo>
                            <a:lnTo>
                              <a:pt x="108" y="211"/>
                            </a:lnTo>
                            <a:lnTo>
                              <a:pt x="104" y="197"/>
                            </a:lnTo>
                            <a:lnTo>
                              <a:pt x="101" y="185"/>
                            </a:lnTo>
                            <a:lnTo>
                              <a:pt x="104" y="173"/>
                            </a:lnTo>
                            <a:lnTo>
                              <a:pt x="111" y="173"/>
                            </a:lnTo>
                            <a:lnTo>
                              <a:pt x="111" y="187"/>
                            </a:lnTo>
                            <a:lnTo>
                              <a:pt x="112" y="198"/>
                            </a:lnTo>
                            <a:lnTo>
                              <a:pt x="117" y="212"/>
                            </a:lnTo>
                            <a:lnTo>
                              <a:pt x="122" y="224"/>
                            </a:lnTo>
                            <a:lnTo>
                              <a:pt x="132" y="239"/>
                            </a:lnTo>
                            <a:lnTo>
                              <a:pt x="126" y="224"/>
                            </a:lnTo>
                            <a:lnTo>
                              <a:pt x="120" y="211"/>
                            </a:lnTo>
                            <a:lnTo>
                              <a:pt x="118" y="201"/>
                            </a:lnTo>
                            <a:lnTo>
                              <a:pt x="117" y="188"/>
                            </a:lnTo>
                            <a:lnTo>
                              <a:pt x="119" y="176"/>
                            </a:lnTo>
                            <a:lnTo>
                              <a:pt x="137" y="175"/>
                            </a:lnTo>
                            <a:lnTo>
                              <a:pt x="143" y="188"/>
                            </a:lnTo>
                            <a:lnTo>
                              <a:pt x="149" y="199"/>
                            </a:lnTo>
                            <a:lnTo>
                              <a:pt x="154" y="209"/>
                            </a:lnTo>
                            <a:lnTo>
                              <a:pt x="178" y="244"/>
                            </a:lnTo>
                            <a:lnTo>
                              <a:pt x="162" y="212"/>
                            </a:lnTo>
                            <a:lnTo>
                              <a:pt x="157" y="202"/>
                            </a:lnTo>
                            <a:lnTo>
                              <a:pt x="153" y="187"/>
                            </a:lnTo>
                            <a:lnTo>
                              <a:pt x="149" y="172"/>
                            </a:lnTo>
                            <a:lnTo>
                              <a:pt x="154" y="175"/>
                            </a:lnTo>
                            <a:lnTo>
                              <a:pt x="162" y="196"/>
                            </a:lnTo>
                            <a:lnTo>
                              <a:pt x="167" y="207"/>
                            </a:lnTo>
                            <a:lnTo>
                              <a:pt x="175" y="220"/>
                            </a:lnTo>
                            <a:lnTo>
                              <a:pt x="189" y="232"/>
                            </a:lnTo>
                            <a:lnTo>
                              <a:pt x="206" y="239"/>
                            </a:lnTo>
                            <a:lnTo>
                              <a:pt x="190" y="224"/>
                            </a:lnTo>
                            <a:lnTo>
                              <a:pt x="181" y="213"/>
                            </a:lnTo>
                            <a:lnTo>
                              <a:pt x="175" y="203"/>
                            </a:lnTo>
                            <a:lnTo>
                              <a:pt x="172" y="191"/>
                            </a:lnTo>
                            <a:lnTo>
                              <a:pt x="171" y="176"/>
                            </a:lnTo>
                            <a:lnTo>
                              <a:pt x="180" y="172"/>
                            </a:lnTo>
                            <a:lnTo>
                              <a:pt x="180" y="186"/>
                            </a:lnTo>
                            <a:lnTo>
                              <a:pt x="185" y="201"/>
                            </a:lnTo>
                            <a:lnTo>
                              <a:pt x="190" y="211"/>
                            </a:lnTo>
                            <a:lnTo>
                              <a:pt x="208" y="228"/>
                            </a:lnTo>
                            <a:lnTo>
                              <a:pt x="199" y="218"/>
                            </a:lnTo>
                            <a:lnTo>
                              <a:pt x="193" y="206"/>
                            </a:lnTo>
                            <a:lnTo>
                              <a:pt x="192" y="194"/>
                            </a:lnTo>
                            <a:lnTo>
                              <a:pt x="191" y="181"/>
                            </a:lnTo>
                            <a:lnTo>
                              <a:pt x="193" y="170"/>
                            </a:lnTo>
                            <a:lnTo>
                              <a:pt x="198" y="166"/>
                            </a:lnTo>
                            <a:lnTo>
                              <a:pt x="211" y="164"/>
                            </a:lnTo>
                            <a:lnTo>
                              <a:pt x="224" y="159"/>
                            </a:lnTo>
                            <a:lnTo>
                              <a:pt x="241" y="144"/>
                            </a:lnTo>
                            <a:lnTo>
                              <a:pt x="223" y="176"/>
                            </a:lnTo>
                            <a:lnTo>
                              <a:pt x="226" y="193"/>
                            </a:lnTo>
                            <a:lnTo>
                              <a:pt x="233" y="211"/>
                            </a:lnTo>
                            <a:lnTo>
                              <a:pt x="242" y="224"/>
                            </a:lnTo>
                            <a:lnTo>
                              <a:pt x="259" y="241"/>
                            </a:lnTo>
                            <a:lnTo>
                              <a:pt x="283" y="258"/>
                            </a:lnTo>
                            <a:lnTo>
                              <a:pt x="314" y="282"/>
                            </a:lnTo>
                            <a:lnTo>
                              <a:pt x="346" y="322"/>
                            </a:lnTo>
                            <a:lnTo>
                              <a:pt x="346" y="343"/>
                            </a:lnTo>
                            <a:lnTo>
                              <a:pt x="347" y="355"/>
                            </a:lnTo>
                            <a:lnTo>
                              <a:pt x="356" y="363"/>
                            </a:lnTo>
                            <a:lnTo>
                              <a:pt x="367" y="365"/>
                            </a:lnTo>
                            <a:lnTo>
                              <a:pt x="371" y="358"/>
                            </a:lnTo>
                            <a:lnTo>
                              <a:pt x="376" y="345"/>
                            </a:lnTo>
                            <a:lnTo>
                              <a:pt x="375" y="332"/>
                            </a:lnTo>
                            <a:lnTo>
                              <a:pt x="375" y="319"/>
                            </a:lnTo>
                            <a:lnTo>
                              <a:pt x="376" y="303"/>
                            </a:lnTo>
                            <a:lnTo>
                              <a:pt x="381" y="293"/>
                            </a:lnTo>
                            <a:lnTo>
                              <a:pt x="389" y="288"/>
                            </a:lnTo>
                            <a:lnTo>
                              <a:pt x="399" y="288"/>
                            </a:lnTo>
                            <a:lnTo>
                              <a:pt x="412" y="296"/>
                            </a:lnTo>
                            <a:lnTo>
                              <a:pt x="422" y="311"/>
                            </a:lnTo>
                            <a:lnTo>
                              <a:pt x="425" y="326"/>
                            </a:lnTo>
                            <a:lnTo>
                              <a:pt x="426" y="345"/>
                            </a:lnTo>
                            <a:lnTo>
                              <a:pt x="425" y="364"/>
                            </a:lnTo>
                            <a:lnTo>
                              <a:pt x="423" y="387"/>
                            </a:lnTo>
                            <a:lnTo>
                              <a:pt x="411" y="429"/>
                            </a:lnTo>
                            <a:lnTo>
                              <a:pt x="356" y="492"/>
                            </a:lnTo>
                            <a:lnTo>
                              <a:pt x="353" y="516"/>
                            </a:lnTo>
                            <a:lnTo>
                              <a:pt x="357" y="569"/>
                            </a:lnTo>
                            <a:lnTo>
                              <a:pt x="358" y="600"/>
                            </a:lnTo>
                            <a:lnTo>
                              <a:pt x="350" y="616"/>
                            </a:lnTo>
                            <a:lnTo>
                              <a:pt x="343" y="632"/>
                            </a:lnTo>
                            <a:lnTo>
                              <a:pt x="339" y="644"/>
                            </a:lnTo>
                            <a:lnTo>
                              <a:pt x="337" y="664"/>
                            </a:lnTo>
                            <a:lnTo>
                              <a:pt x="342" y="679"/>
                            </a:lnTo>
                            <a:lnTo>
                              <a:pt x="353" y="695"/>
                            </a:lnTo>
                            <a:lnTo>
                              <a:pt x="371" y="705"/>
                            </a:lnTo>
                            <a:lnTo>
                              <a:pt x="393" y="706"/>
                            </a:lnTo>
                            <a:lnTo>
                              <a:pt x="407" y="710"/>
                            </a:lnTo>
                            <a:lnTo>
                              <a:pt x="428" y="714"/>
                            </a:lnTo>
                            <a:lnTo>
                              <a:pt x="447" y="711"/>
                            </a:lnTo>
                            <a:lnTo>
                              <a:pt x="462" y="708"/>
                            </a:lnTo>
                            <a:lnTo>
                              <a:pt x="480" y="700"/>
                            </a:lnTo>
                            <a:lnTo>
                              <a:pt x="493" y="690"/>
                            </a:lnTo>
                            <a:lnTo>
                              <a:pt x="503" y="675"/>
                            </a:lnTo>
                            <a:lnTo>
                              <a:pt x="511" y="662"/>
                            </a:lnTo>
                            <a:lnTo>
                              <a:pt x="517" y="644"/>
                            </a:lnTo>
                            <a:lnTo>
                              <a:pt x="518" y="605"/>
                            </a:lnTo>
                            <a:lnTo>
                              <a:pt x="526" y="598"/>
                            </a:lnTo>
                            <a:lnTo>
                              <a:pt x="534" y="585"/>
                            </a:lnTo>
                            <a:lnTo>
                              <a:pt x="536" y="572"/>
                            </a:lnTo>
                            <a:lnTo>
                              <a:pt x="540" y="549"/>
                            </a:lnTo>
                            <a:lnTo>
                              <a:pt x="536" y="527"/>
                            </a:lnTo>
                            <a:lnTo>
                              <a:pt x="532" y="511"/>
                            </a:lnTo>
                            <a:lnTo>
                              <a:pt x="524" y="501"/>
                            </a:lnTo>
                            <a:lnTo>
                              <a:pt x="510" y="476"/>
                            </a:lnTo>
                            <a:lnTo>
                              <a:pt x="496" y="455"/>
                            </a:lnTo>
                            <a:lnTo>
                              <a:pt x="484" y="424"/>
                            </a:lnTo>
                            <a:lnTo>
                              <a:pt x="485" y="347"/>
                            </a:lnTo>
                            <a:lnTo>
                              <a:pt x="490" y="316"/>
                            </a:lnTo>
                            <a:lnTo>
                              <a:pt x="494" y="281"/>
                            </a:lnTo>
                            <a:lnTo>
                              <a:pt x="494" y="259"/>
                            </a:lnTo>
                            <a:lnTo>
                              <a:pt x="493" y="232"/>
                            </a:lnTo>
                            <a:lnTo>
                              <a:pt x="488" y="207"/>
                            </a:lnTo>
                            <a:lnTo>
                              <a:pt x="486" y="186"/>
                            </a:lnTo>
                            <a:lnTo>
                              <a:pt x="480" y="162"/>
                            </a:lnTo>
                            <a:lnTo>
                              <a:pt x="465" y="117"/>
                            </a:lnTo>
                            <a:lnTo>
                              <a:pt x="451" y="89"/>
                            </a:lnTo>
                            <a:lnTo>
                              <a:pt x="418" y="54"/>
                            </a:lnTo>
                            <a:lnTo>
                              <a:pt x="399" y="46"/>
                            </a:lnTo>
                            <a:lnTo>
                              <a:pt x="399" y="36"/>
                            </a:lnTo>
                            <a:lnTo>
                              <a:pt x="393" y="28"/>
                            </a:lnTo>
                            <a:lnTo>
                              <a:pt x="386" y="20"/>
                            </a:lnTo>
                            <a:lnTo>
                              <a:pt x="374" y="14"/>
                            </a:lnTo>
                            <a:lnTo>
                              <a:pt x="359" y="9"/>
                            </a:lnTo>
                            <a:lnTo>
                              <a:pt x="343" y="5"/>
                            </a:lnTo>
                            <a:lnTo>
                              <a:pt x="328" y="3"/>
                            </a:lnTo>
                            <a:lnTo>
                              <a:pt x="300" y="0"/>
                            </a:lnTo>
                            <a:lnTo>
                              <a:pt x="279" y="0"/>
                            </a:lnTo>
                            <a:lnTo>
                              <a:pt x="250" y="3"/>
                            </a:lnTo>
                            <a:lnTo>
                              <a:pt x="233" y="8"/>
                            </a:lnTo>
                            <a:lnTo>
                              <a:pt x="218" y="14"/>
                            </a:lnTo>
                            <a:lnTo>
                              <a:pt x="204" y="23"/>
                            </a:lnTo>
                            <a:lnTo>
                              <a:pt x="192" y="30"/>
                            </a:lnTo>
                            <a:lnTo>
                              <a:pt x="178" y="42"/>
                            </a:lnTo>
                            <a:lnTo>
                              <a:pt x="166" y="54"/>
                            </a:lnTo>
                            <a:lnTo>
                              <a:pt x="156" y="58"/>
                            </a:lnTo>
                            <a:lnTo>
                              <a:pt x="146" y="61"/>
                            </a:lnTo>
                            <a:lnTo>
                              <a:pt x="138" y="61"/>
                            </a:lnTo>
                            <a:lnTo>
                              <a:pt x="131" y="57"/>
                            </a:lnTo>
                            <a:lnTo>
                              <a:pt x="126" y="47"/>
                            </a:lnTo>
                            <a:lnTo>
                              <a:pt x="125" y="57"/>
                            </a:lnTo>
                            <a:lnTo>
                              <a:pt x="125" y="66"/>
                            </a:lnTo>
                            <a:lnTo>
                              <a:pt x="118" y="65"/>
                            </a:lnTo>
                            <a:lnTo>
                              <a:pt x="111" y="61"/>
                            </a:lnTo>
                            <a:lnTo>
                              <a:pt x="116" y="70"/>
                            </a:lnTo>
                            <a:lnTo>
                              <a:pt x="108" y="76"/>
                            </a:lnTo>
                            <a:lnTo>
                              <a:pt x="101" y="73"/>
                            </a:lnTo>
                            <a:lnTo>
                              <a:pt x="98" y="70"/>
                            </a:lnTo>
                            <a:lnTo>
                              <a:pt x="95" y="63"/>
                            </a:lnTo>
                            <a:lnTo>
                              <a:pt x="98" y="55"/>
                            </a:lnTo>
                            <a:lnTo>
                              <a:pt x="106" y="49"/>
                            </a:lnTo>
                            <a:lnTo>
                              <a:pt x="94" y="51"/>
                            </a:lnTo>
                            <a:lnTo>
                              <a:pt x="83" y="55"/>
                            </a:lnTo>
                            <a:lnTo>
                              <a:pt x="76" y="62"/>
                            </a:lnTo>
                            <a:lnTo>
                              <a:pt x="71" y="71"/>
                            </a:lnTo>
                            <a:close/>
                          </a:path>
                        </a:pathLst>
                      </a:custGeom>
                      <a:solidFill>
                        <a:srgbClr val="7F3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sp>
                  <p:nvSpPr>
                    <p:cNvPr id="377" name="Freeform 283"/>
                    <p:cNvSpPr/>
                    <p:nvPr/>
                  </p:nvSpPr>
                  <p:spPr bwMode="auto">
                    <a:xfrm>
                      <a:off x="5241" y="2293"/>
                      <a:ext cx="41" cy="106"/>
                    </a:xfrm>
                    <a:custGeom>
                      <a:avLst/>
                      <a:gdLst>
                        <a:gd name="T0" fmla="*/ 26 w 245"/>
                        <a:gd name="T1" fmla="*/ 32 h 529"/>
                        <a:gd name="T2" fmla="*/ 0 w 245"/>
                        <a:gd name="T3" fmla="*/ 0 h 529"/>
                        <a:gd name="T4" fmla="*/ 10 w 245"/>
                        <a:gd name="T5" fmla="*/ 34 h 529"/>
                        <a:gd name="T6" fmla="*/ 36 w 245"/>
                        <a:gd name="T7" fmla="*/ 64 h 529"/>
                        <a:gd name="T8" fmla="*/ 92 w 245"/>
                        <a:gd name="T9" fmla="*/ 105 h 529"/>
                        <a:gd name="T10" fmla="*/ 124 w 245"/>
                        <a:gd name="T11" fmla="*/ 167 h 529"/>
                        <a:gd name="T12" fmla="*/ 134 w 245"/>
                        <a:gd name="T13" fmla="*/ 187 h 529"/>
                        <a:gd name="T14" fmla="*/ 149 w 245"/>
                        <a:gd name="T15" fmla="*/ 182 h 529"/>
                        <a:gd name="T16" fmla="*/ 153 w 245"/>
                        <a:gd name="T17" fmla="*/ 156 h 529"/>
                        <a:gd name="T18" fmla="*/ 154 w 245"/>
                        <a:gd name="T19" fmla="*/ 126 h 529"/>
                        <a:gd name="T20" fmla="*/ 167 w 245"/>
                        <a:gd name="T21" fmla="*/ 111 h 529"/>
                        <a:gd name="T22" fmla="*/ 190 w 245"/>
                        <a:gd name="T23" fmla="*/ 119 h 529"/>
                        <a:gd name="T24" fmla="*/ 203 w 245"/>
                        <a:gd name="T25" fmla="*/ 150 h 529"/>
                        <a:gd name="T26" fmla="*/ 203 w 245"/>
                        <a:gd name="T27" fmla="*/ 188 h 529"/>
                        <a:gd name="T28" fmla="*/ 189 w 245"/>
                        <a:gd name="T29" fmla="*/ 254 h 529"/>
                        <a:gd name="T30" fmla="*/ 131 w 245"/>
                        <a:gd name="T31" fmla="*/ 340 h 529"/>
                        <a:gd name="T32" fmla="*/ 136 w 245"/>
                        <a:gd name="T33" fmla="*/ 424 h 529"/>
                        <a:gd name="T34" fmla="*/ 121 w 245"/>
                        <a:gd name="T35" fmla="*/ 456 h 529"/>
                        <a:gd name="T36" fmla="*/ 115 w 245"/>
                        <a:gd name="T37" fmla="*/ 488 h 529"/>
                        <a:gd name="T38" fmla="*/ 131 w 245"/>
                        <a:gd name="T39" fmla="*/ 519 h 529"/>
                        <a:gd name="T40" fmla="*/ 167 w 245"/>
                        <a:gd name="T41" fmla="*/ 528 h 529"/>
                        <a:gd name="T42" fmla="*/ 177 w 245"/>
                        <a:gd name="T43" fmla="*/ 503 h 529"/>
                        <a:gd name="T44" fmla="*/ 159 w 245"/>
                        <a:gd name="T45" fmla="*/ 461 h 529"/>
                        <a:gd name="T46" fmla="*/ 196 w 245"/>
                        <a:gd name="T47" fmla="*/ 486 h 529"/>
                        <a:gd name="T48" fmla="*/ 243 w 245"/>
                        <a:gd name="T49" fmla="*/ 491 h 529"/>
                        <a:gd name="T50" fmla="*/ 200 w 245"/>
                        <a:gd name="T51" fmla="*/ 461 h 529"/>
                        <a:gd name="T52" fmla="*/ 166 w 245"/>
                        <a:gd name="T53" fmla="*/ 432 h 529"/>
                        <a:gd name="T54" fmla="*/ 169 w 245"/>
                        <a:gd name="T55" fmla="*/ 401 h 529"/>
                        <a:gd name="T56" fmla="*/ 206 w 245"/>
                        <a:gd name="T57" fmla="*/ 428 h 529"/>
                        <a:gd name="T58" fmla="*/ 173 w 245"/>
                        <a:gd name="T59" fmla="*/ 380 h 529"/>
                        <a:gd name="T60" fmla="*/ 212 w 245"/>
                        <a:gd name="T61" fmla="*/ 412 h 529"/>
                        <a:gd name="T62" fmla="*/ 222 w 245"/>
                        <a:gd name="T63" fmla="*/ 408 h 529"/>
                        <a:gd name="T64" fmla="*/ 197 w 245"/>
                        <a:gd name="T65" fmla="*/ 366 h 529"/>
                        <a:gd name="T66" fmla="*/ 192 w 245"/>
                        <a:gd name="T67" fmla="*/ 333 h 529"/>
                        <a:gd name="T68" fmla="*/ 200 w 245"/>
                        <a:gd name="T69" fmla="*/ 283 h 529"/>
                        <a:gd name="T70" fmla="*/ 234 w 245"/>
                        <a:gd name="T71" fmla="*/ 334 h 529"/>
                        <a:gd name="T72" fmla="*/ 209 w 245"/>
                        <a:gd name="T73" fmla="*/ 275 h 529"/>
                        <a:gd name="T74" fmla="*/ 245 w 245"/>
                        <a:gd name="T75" fmla="*/ 303 h 529"/>
                        <a:gd name="T76" fmla="*/ 225 w 245"/>
                        <a:gd name="T77" fmla="*/ 246 h 529"/>
                        <a:gd name="T78" fmla="*/ 212 w 245"/>
                        <a:gd name="T79" fmla="*/ 200 h 529"/>
                        <a:gd name="T80" fmla="*/ 209 w 245"/>
                        <a:gd name="T81" fmla="*/ 120 h 529"/>
                        <a:gd name="T82" fmla="*/ 186 w 245"/>
                        <a:gd name="T83" fmla="*/ 92 h 529"/>
                        <a:gd name="T84" fmla="*/ 141 w 245"/>
                        <a:gd name="T85" fmla="*/ 78 h 529"/>
                        <a:gd name="T86" fmla="*/ 130 w 245"/>
                        <a:gd name="T87" fmla="*/ 77 h 529"/>
                        <a:gd name="T88" fmla="*/ 104 w 245"/>
                        <a:gd name="T89" fmla="*/ 61 h 529"/>
                        <a:gd name="T90" fmla="*/ 94 w 245"/>
                        <a:gd name="T91" fmla="*/ 77 h 529"/>
                        <a:gd name="T92" fmla="*/ 88 w 245"/>
                        <a:gd name="T93" fmla="*/ 89 h 529"/>
                        <a:gd name="T94" fmla="*/ 55 w 245"/>
                        <a:gd name="T95" fmla="*/ 42 h 529"/>
                        <a:gd name="T96" fmla="*/ 43 w 245"/>
                        <a:gd name="T97" fmla="*/ 40 h 5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</a:cxnLst>
                      <a:rect l="0" t="0" r="r" b="b"/>
                      <a:pathLst>
                        <a:path w="245" h="529">
                          <a:moveTo>
                            <a:pt x="43" y="40"/>
                          </a:moveTo>
                          <a:lnTo>
                            <a:pt x="26" y="32"/>
                          </a:lnTo>
                          <a:lnTo>
                            <a:pt x="18" y="21"/>
                          </a:lnTo>
                          <a:lnTo>
                            <a:pt x="0" y="0"/>
                          </a:lnTo>
                          <a:lnTo>
                            <a:pt x="2" y="16"/>
                          </a:lnTo>
                          <a:lnTo>
                            <a:pt x="10" y="34"/>
                          </a:lnTo>
                          <a:lnTo>
                            <a:pt x="19" y="47"/>
                          </a:lnTo>
                          <a:lnTo>
                            <a:pt x="36" y="64"/>
                          </a:lnTo>
                          <a:lnTo>
                            <a:pt x="60" y="81"/>
                          </a:lnTo>
                          <a:lnTo>
                            <a:pt x="92" y="105"/>
                          </a:lnTo>
                          <a:lnTo>
                            <a:pt x="124" y="146"/>
                          </a:lnTo>
                          <a:lnTo>
                            <a:pt x="124" y="167"/>
                          </a:lnTo>
                          <a:lnTo>
                            <a:pt x="125" y="179"/>
                          </a:lnTo>
                          <a:lnTo>
                            <a:pt x="134" y="187"/>
                          </a:lnTo>
                          <a:lnTo>
                            <a:pt x="145" y="189"/>
                          </a:lnTo>
                          <a:lnTo>
                            <a:pt x="149" y="182"/>
                          </a:lnTo>
                          <a:lnTo>
                            <a:pt x="154" y="170"/>
                          </a:lnTo>
                          <a:lnTo>
                            <a:pt x="153" y="156"/>
                          </a:lnTo>
                          <a:lnTo>
                            <a:pt x="153" y="144"/>
                          </a:lnTo>
                          <a:lnTo>
                            <a:pt x="154" y="126"/>
                          </a:lnTo>
                          <a:lnTo>
                            <a:pt x="159" y="116"/>
                          </a:lnTo>
                          <a:lnTo>
                            <a:pt x="167" y="111"/>
                          </a:lnTo>
                          <a:lnTo>
                            <a:pt x="177" y="111"/>
                          </a:lnTo>
                          <a:lnTo>
                            <a:pt x="190" y="119"/>
                          </a:lnTo>
                          <a:lnTo>
                            <a:pt x="200" y="135"/>
                          </a:lnTo>
                          <a:lnTo>
                            <a:pt x="203" y="150"/>
                          </a:lnTo>
                          <a:lnTo>
                            <a:pt x="204" y="170"/>
                          </a:lnTo>
                          <a:lnTo>
                            <a:pt x="203" y="188"/>
                          </a:lnTo>
                          <a:lnTo>
                            <a:pt x="201" y="212"/>
                          </a:lnTo>
                          <a:lnTo>
                            <a:pt x="189" y="254"/>
                          </a:lnTo>
                          <a:lnTo>
                            <a:pt x="134" y="317"/>
                          </a:lnTo>
                          <a:lnTo>
                            <a:pt x="131" y="340"/>
                          </a:lnTo>
                          <a:lnTo>
                            <a:pt x="135" y="392"/>
                          </a:lnTo>
                          <a:lnTo>
                            <a:pt x="136" y="424"/>
                          </a:lnTo>
                          <a:lnTo>
                            <a:pt x="128" y="440"/>
                          </a:lnTo>
                          <a:lnTo>
                            <a:pt x="121" y="456"/>
                          </a:lnTo>
                          <a:lnTo>
                            <a:pt x="117" y="469"/>
                          </a:lnTo>
                          <a:lnTo>
                            <a:pt x="115" y="488"/>
                          </a:lnTo>
                          <a:lnTo>
                            <a:pt x="120" y="503"/>
                          </a:lnTo>
                          <a:lnTo>
                            <a:pt x="131" y="519"/>
                          </a:lnTo>
                          <a:lnTo>
                            <a:pt x="149" y="529"/>
                          </a:lnTo>
                          <a:lnTo>
                            <a:pt x="167" y="528"/>
                          </a:lnTo>
                          <a:lnTo>
                            <a:pt x="178" y="519"/>
                          </a:lnTo>
                          <a:lnTo>
                            <a:pt x="177" y="503"/>
                          </a:lnTo>
                          <a:lnTo>
                            <a:pt x="167" y="485"/>
                          </a:lnTo>
                          <a:lnTo>
                            <a:pt x="159" y="461"/>
                          </a:lnTo>
                          <a:lnTo>
                            <a:pt x="179" y="481"/>
                          </a:lnTo>
                          <a:lnTo>
                            <a:pt x="196" y="486"/>
                          </a:lnTo>
                          <a:lnTo>
                            <a:pt x="217" y="490"/>
                          </a:lnTo>
                          <a:lnTo>
                            <a:pt x="243" y="491"/>
                          </a:lnTo>
                          <a:lnTo>
                            <a:pt x="227" y="481"/>
                          </a:lnTo>
                          <a:lnTo>
                            <a:pt x="200" y="461"/>
                          </a:lnTo>
                          <a:lnTo>
                            <a:pt x="179" y="450"/>
                          </a:lnTo>
                          <a:lnTo>
                            <a:pt x="166" y="432"/>
                          </a:lnTo>
                          <a:lnTo>
                            <a:pt x="163" y="411"/>
                          </a:lnTo>
                          <a:lnTo>
                            <a:pt x="169" y="401"/>
                          </a:lnTo>
                          <a:lnTo>
                            <a:pt x="189" y="421"/>
                          </a:lnTo>
                          <a:lnTo>
                            <a:pt x="206" y="428"/>
                          </a:lnTo>
                          <a:lnTo>
                            <a:pt x="179" y="401"/>
                          </a:lnTo>
                          <a:lnTo>
                            <a:pt x="173" y="380"/>
                          </a:lnTo>
                          <a:lnTo>
                            <a:pt x="188" y="387"/>
                          </a:lnTo>
                          <a:lnTo>
                            <a:pt x="212" y="412"/>
                          </a:lnTo>
                          <a:lnTo>
                            <a:pt x="228" y="418"/>
                          </a:lnTo>
                          <a:lnTo>
                            <a:pt x="222" y="408"/>
                          </a:lnTo>
                          <a:lnTo>
                            <a:pt x="202" y="378"/>
                          </a:lnTo>
                          <a:lnTo>
                            <a:pt x="197" y="366"/>
                          </a:lnTo>
                          <a:lnTo>
                            <a:pt x="191" y="349"/>
                          </a:lnTo>
                          <a:lnTo>
                            <a:pt x="192" y="333"/>
                          </a:lnTo>
                          <a:lnTo>
                            <a:pt x="191" y="312"/>
                          </a:lnTo>
                          <a:lnTo>
                            <a:pt x="200" y="283"/>
                          </a:lnTo>
                          <a:lnTo>
                            <a:pt x="215" y="322"/>
                          </a:lnTo>
                          <a:lnTo>
                            <a:pt x="234" y="334"/>
                          </a:lnTo>
                          <a:lnTo>
                            <a:pt x="221" y="315"/>
                          </a:lnTo>
                          <a:lnTo>
                            <a:pt x="209" y="275"/>
                          </a:lnTo>
                          <a:lnTo>
                            <a:pt x="226" y="289"/>
                          </a:lnTo>
                          <a:lnTo>
                            <a:pt x="245" y="303"/>
                          </a:lnTo>
                          <a:lnTo>
                            <a:pt x="233" y="276"/>
                          </a:lnTo>
                          <a:lnTo>
                            <a:pt x="225" y="246"/>
                          </a:lnTo>
                          <a:lnTo>
                            <a:pt x="216" y="218"/>
                          </a:lnTo>
                          <a:lnTo>
                            <a:pt x="212" y="200"/>
                          </a:lnTo>
                          <a:lnTo>
                            <a:pt x="212" y="155"/>
                          </a:lnTo>
                          <a:lnTo>
                            <a:pt x="209" y="120"/>
                          </a:lnTo>
                          <a:lnTo>
                            <a:pt x="204" y="102"/>
                          </a:lnTo>
                          <a:lnTo>
                            <a:pt x="186" y="92"/>
                          </a:lnTo>
                          <a:lnTo>
                            <a:pt x="163" y="93"/>
                          </a:lnTo>
                          <a:lnTo>
                            <a:pt x="141" y="78"/>
                          </a:lnTo>
                          <a:lnTo>
                            <a:pt x="116" y="56"/>
                          </a:lnTo>
                          <a:lnTo>
                            <a:pt x="130" y="77"/>
                          </a:lnTo>
                          <a:lnTo>
                            <a:pt x="146" y="102"/>
                          </a:lnTo>
                          <a:lnTo>
                            <a:pt x="104" y="61"/>
                          </a:lnTo>
                          <a:lnTo>
                            <a:pt x="118" y="93"/>
                          </a:lnTo>
                          <a:lnTo>
                            <a:pt x="94" y="77"/>
                          </a:lnTo>
                          <a:lnTo>
                            <a:pt x="114" y="105"/>
                          </a:lnTo>
                          <a:lnTo>
                            <a:pt x="88" y="89"/>
                          </a:lnTo>
                          <a:lnTo>
                            <a:pt x="73" y="66"/>
                          </a:lnTo>
                          <a:lnTo>
                            <a:pt x="55" y="42"/>
                          </a:lnTo>
                          <a:lnTo>
                            <a:pt x="36" y="14"/>
                          </a:lnTo>
                          <a:lnTo>
                            <a:pt x="43" y="40"/>
                          </a:lnTo>
                          <a:close/>
                        </a:path>
                      </a:pathLst>
                    </a:custGeom>
                    <a:solidFill>
                      <a:srgbClr val="5F3F1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342" name="Group 284"/>
                  <p:cNvGrpSpPr/>
                  <p:nvPr/>
                </p:nvGrpSpPr>
                <p:grpSpPr bwMode="auto">
                  <a:xfrm>
                    <a:off x="5214" y="2316"/>
                    <a:ext cx="35" cy="53"/>
                    <a:chOff x="5214" y="2316"/>
                    <a:chExt cx="35" cy="53"/>
                  </a:xfrm>
                </p:grpSpPr>
                <p:grpSp>
                  <p:nvGrpSpPr>
                    <p:cNvPr id="346" name="Group 285"/>
                    <p:cNvGrpSpPr/>
                    <p:nvPr/>
                  </p:nvGrpSpPr>
                  <p:grpSpPr bwMode="auto">
                    <a:xfrm>
                      <a:off x="5217" y="2320"/>
                      <a:ext cx="21" cy="37"/>
                      <a:chOff x="5217" y="2320"/>
                      <a:chExt cx="21" cy="37"/>
                    </a:xfrm>
                  </p:grpSpPr>
                  <p:sp>
                    <p:nvSpPr>
                      <p:cNvPr id="373" name="Freeform 286"/>
                      <p:cNvSpPr/>
                      <p:nvPr/>
                    </p:nvSpPr>
                    <p:spPr bwMode="auto">
                      <a:xfrm>
                        <a:off x="5217" y="2321"/>
                        <a:ext cx="7" cy="20"/>
                      </a:xfrm>
                      <a:custGeom>
                        <a:avLst/>
                        <a:gdLst>
                          <a:gd name="T0" fmla="*/ 28 w 45"/>
                          <a:gd name="T1" fmla="*/ 0 h 103"/>
                          <a:gd name="T2" fmla="*/ 29 w 45"/>
                          <a:gd name="T3" fmla="*/ 10 h 103"/>
                          <a:gd name="T4" fmla="*/ 24 w 45"/>
                          <a:gd name="T5" fmla="*/ 19 h 103"/>
                          <a:gd name="T6" fmla="*/ 19 w 45"/>
                          <a:gd name="T7" fmla="*/ 23 h 103"/>
                          <a:gd name="T8" fmla="*/ 0 w 45"/>
                          <a:gd name="T9" fmla="*/ 25 h 103"/>
                          <a:gd name="T10" fmla="*/ 19 w 45"/>
                          <a:gd name="T11" fmla="*/ 28 h 103"/>
                          <a:gd name="T12" fmla="*/ 31 w 45"/>
                          <a:gd name="T13" fmla="*/ 30 h 103"/>
                          <a:gd name="T14" fmla="*/ 38 w 45"/>
                          <a:gd name="T15" fmla="*/ 37 h 103"/>
                          <a:gd name="T16" fmla="*/ 41 w 45"/>
                          <a:gd name="T17" fmla="*/ 47 h 103"/>
                          <a:gd name="T18" fmla="*/ 44 w 45"/>
                          <a:gd name="T19" fmla="*/ 65 h 103"/>
                          <a:gd name="T20" fmla="*/ 42 w 45"/>
                          <a:gd name="T21" fmla="*/ 103 h 103"/>
                          <a:gd name="T22" fmla="*/ 45 w 45"/>
                          <a:gd name="T23" fmla="*/ 57 h 103"/>
                          <a:gd name="T24" fmla="*/ 44 w 45"/>
                          <a:gd name="T25" fmla="*/ 37 h 103"/>
                          <a:gd name="T26" fmla="*/ 44 w 45"/>
                          <a:gd name="T27" fmla="*/ 18 h 103"/>
                          <a:gd name="T28" fmla="*/ 42 w 45"/>
                          <a:gd name="T29" fmla="*/ 7 h 103"/>
                          <a:gd name="T30" fmla="*/ 28 w 45"/>
                          <a:gd name="T31" fmla="*/ 0 h 10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</a:cxnLst>
                        <a:rect l="0" t="0" r="r" b="b"/>
                        <a:pathLst>
                          <a:path w="45" h="103">
                            <a:moveTo>
                              <a:pt x="28" y="0"/>
                            </a:moveTo>
                            <a:lnTo>
                              <a:pt x="29" y="10"/>
                            </a:lnTo>
                            <a:lnTo>
                              <a:pt x="24" y="19"/>
                            </a:lnTo>
                            <a:lnTo>
                              <a:pt x="19" y="23"/>
                            </a:lnTo>
                            <a:lnTo>
                              <a:pt x="0" y="25"/>
                            </a:lnTo>
                            <a:lnTo>
                              <a:pt x="19" y="28"/>
                            </a:lnTo>
                            <a:lnTo>
                              <a:pt x="31" y="30"/>
                            </a:lnTo>
                            <a:lnTo>
                              <a:pt x="38" y="37"/>
                            </a:lnTo>
                            <a:lnTo>
                              <a:pt x="41" y="47"/>
                            </a:lnTo>
                            <a:lnTo>
                              <a:pt x="44" y="65"/>
                            </a:lnTo>
                            <a:lnTo>
                              <a:pt x="42" y="103"/>
                            </a:lnTo>
                            <a:lnTo>
                              <a:pt x="45" y="57"/>
                            </a:lnTo>
                            <a:lnTo>
                              <a:pt x="44" y="37"/>
                            </a:lnTo>
                            <a:lnTo>
                              <a:pt x="44" y="18"/>
                            </a:lnTo>
                            <a:lnTo>
                              <a:pt x="42" y="7"/>
                            </a:lnTo>
                            <a:lnTo>
                              <a:pt x="28" y="0"/>
                            </a:lnTo>
                            <a:close/>
                          </a:path>
                        </a:pathLst>
                      </a:custGeom>
                      <a:solidFill>
                        <a:srgbClr val="FF7F7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374" name="Freeform 287"/>
                      <p:cNvSpPr/>
                      <p:nvPr/>
                    </p:nvSpPr>
                    <p:spPr bwMode="auto">
                      <a:xfrm>
                        <a:off x="5223" y="2349"/>
                        <a:ext cx="9" cy="8"/>
                      </a:xfrm>
                      <a:custGeom>
                        <a:avLst/>
                        <a:gdLst>
                          <a:gd name="T0" fmla="*/ 0 w 55"/>
                          <a:gd name="T1" fmla="*/ 0 h 41"/>
                          <a:gd name="T2" fmla="*/ 5 w 55"/>
                          <a:gd name="T3" fmla="*/ 4 h 41"/>
                          <a:gd name="T4" fmla="*/ 15 w 55"/>
                          <a:gd name="T5" fmla="*/ 7 h 41"/>
                          <a:gd name="T6" fmla="*/ 21 w 55"/>
                          <a:gd name="T7" fmla="*/ 7 h 41"/>
                          <a:gd name="T8" fmla="*/ 31 w 55"/>
                          <a:gd name="T9" fmla="*/ 5 h 41"/>
                          <a:gd name="T10" fmla="*/ 39 w 55"/>
                          <a:gd name="T11" fmla="*/ 3 h 41"/>
                          <a:gd name="T12" fmla="*/ 47 w 55"/>
                          <a:gd name="T13" fmla="*/ 4 h 41"/>
                          <a:gd name="T14" fmla="*/ 55 w 55"/>
                          <a:gd name="T15" fmla="*/ 11 h 41"/>
                          <a:gd name="T16" fmla="*/ 42 w 55"/>
                          <a:gd name="T17" fmla="*/ 13 h 41"/>
                          <a:gd name="T18" fmla="*/ 37 w 55"/>
                          <a:gd name="T19" fmla="*/ 14 h 41"/>
                          <a:gd name="T20" fmla="*/ 35 w 55"/>
                          <a:gd name="T21" fmla="*/ 23 h 41"/>
                          <a:gd name="T22" fmla="*/ 33 w 55"/>
                          <a:gd name="T23" fmla="*/ 41 h 41"/>
                          <a:gd name="T24" fmla="*/ 31 w 55"/>
                          <a:gd name="T25" fmla="*/ 23 h 41"/>
                          <a:gd name="T26" fmla="*/ 30 w 55"/>
                          <a:gd name="T27" fmla="*/ 13 h 41"/>
                          <a:gd name="T28" fmla="*/ 19 w 55"/>
                          <a:gd name="T29" fmla="*/ 15 h 41"/>
                          <a:gd name="T30" fmla="*/ 10 w 55"/>
                          <a:gd name="T31" fmla="*/ 14 h 41"/>
                          <a:gd name="T32" fmla="*/ 4 w 55"/>
                          <a:gd name="T33" fmla="*/ 7 h 41"/>
                          <a:gd name="T34" fmla="*/ 0 w 55"/>
                          <a:gd name="T35" fmla="*/ 0 h 41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</a:cxnLst>
                        <a:rect l="0" t="0" r="r" b="b"/>
                        <a:pathLst>
                          <a:path w="55" h="41">
                            <a:moveTo>
                              <a:pt x="0" y="0"/>
                            </a:moveTo>
                            <a:lnTo>
                              <a:pt x="5" y="4"/>
                            </a:lnTo>
                            <a:lnTo>
                              <a:pt x="15" y="7"/>
                            </a:lnTo>
                            <a:lnTo>
                              <a:pt x="21" y="7"/>
                            </a:lnTo>
                            <a:lnTo>
                              <a:pt x="31" y="5"/>
                            </a:lnTo>
                            <a:lnTo>
                              <a:pt x="39" y="3"/>
                            </a:lnTo>
                            <a:lnTo>
                              <a:pt x="47" y="4"/>
                            </a:lnTo>
                            <a:lnTo>
                              <a:pt x="55" y="11"/>
                            </a:lnTo>
                            <a:lnTo>
                              <a:pt x="42" y="13"/>
                            </a:lnTo>
                            <a:lnTo>
                              <a:pt x="37" y="14"/>
                            </a:lnTo>
                            <a:lnTo>
                              <a:pt x="35" y="23"/>
                            </a:lnTo>
                            <a:lnTo>
                              <a:pt x="33" y="41"/>
                            </a:lnTo>
                            <a:lnTo>
                              <a:pt x="31" y="23"/>
                            </a:lnTo>
                            <a:lnTo>
                              <a:pt x="30" y="13"/>
                            </a:lnTo>
                            <a:lnTo>
                              <a:pt x="19" y="15"/>
                            </a:lnTo>
                            <a:lnTo>
                              <a:pt x="10" y="14"/>
                            </a:lnTo>
                            <a:lnTo>
                              <a:pt x="4" y="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FF7F7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375" name="Freeform 288"/>
                      <p:cNvSpPr/>
                      <p:nvPr/>
                    </p:nvSpPr>
                    <p:spPr bwMode="auto">
                      <a:xfrm>
                        <a:off x="5234" y="2320"/>
                        <a:ext cx="4" cy="6"/>
                      </a:xfrm>
                      <a:custGeom>
                        <a:avLst/>
                        <a:gdLst>
                          <a:gd name="T0" fmla="*/ 14 w 27"/>
                          <a:gd name="T1" fmla="*/ 0 h 30"/>
                          <a:gd name="T2" fmla="*/ 12 w 27"/>
                          <a:gd name="T3" fmla="*/ 5 h 30"/>
                          <a:gd name="T4" fmla="*/ 12 w 27"/>
                          <a:gd name="T5" fmla="*/ 13 h 30"/>
                          <a:gd name="T6" fmla="*/ 14 w 27"/>
                          <a:gd name="T7" fmla="*/ 18 h 30"/>
                          <a:gd name="T8" fmla="*/ 27 w 27"/>
                          <a:gd name="T9" fmla="*/ 30 h 30"/>
                          <a:gd name="T10" fmla="*/ 12 w 27"/>
                          <a:gd name="T11" fmla="*/ 30 h 30"/>
                          <a:gd name="T12" fmla="*/ 4 w 27"/>
                          <a:gd name="T13" fmla="*/ 21 h 30"/>
                          <a:gd name="T14" fmla="*/ 1 w 27"/>
                          <a:gd name="T15" fmla="*/ 16 h 30"/>
                          <a:gd name="T16" fmla="*/ 0 w 27"/>
                          <a:gd name="T17" fmla="*/ 5 h 30"/>
                          <a:gd name="T18" fmla="*/ 14 w 27"/>
                          <a:gd name="T19" fmla="*/ 0 h 3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</a:cxnLst>
                        <a:rect l="0" t="0" r="r" b="b"/>
                        <a:pathLst>
                          <a:path w="27" h="30">
                            <a:moveTo>
                              <a:pt x="14" y="0"/>
                            </a:moveTo>
                            <a:lnTo>
                              <a:pt x="12" y="5"/>
                            </a:lnTo>
                            <a:lnTo>
                              <a:pt x="12" y="13"/>
                            </a:lnTo>
                            <a:lnTo>
                              <a:pt x="14" y="18"/>
                            </a:lnTo>
                            <a:lnTo>
                              <a:pt x="27" y="30"/>
                            </a:lnTo>
                            <a:lnTo>
                              <a:pt x="12" y="30"/>
                            </a:lnTo>
                            <a:lnTo>
                              <a:pt x="4" y="21"/>
                            </a:lnTo>
                            <a:lnTo>
                              <a:pt x="1" y="16"/>
                            </a:lnTo>
                            <a:lnTo>
                              <a:pt x="0" y="5"/>
                            </a:lnTo>
                            <a:lnTo>
                              <a:pt x="14" y="0"/>
                            </a:lnTo>
                            <a:close/>
                          </a:path>
                        </a:pathLst>
                      </a:custGeom>
                      <a:solidFill>
                        <a:srgbClr val="FF7F7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347" name="Group 289"/>
                    <p:cNvGrpSpPr/>
                    <p:nvPr/>
                  </p:nvGrpSpPr>
                  <p:grpSpPr bwMode="auto">
                    <a:xfrm>
                      <a:off x="5214" y="2316"/>
                      <a:ext cx="35" cy="17"/>
                      <a:chOff x="5214" y="2316"/>
                      <a:chExt cx="35" cy="17"/>
                    </a:xfrm>
                  </p:grpSpPr>
                  <p:grpSp>
                    <p:nvGrpSpPr>
                      <p:cNvPr id="358" name="Group 290"/>
                      <p:cNvGrpSpPr/>
                      <p:nvPr/>
                    </p:nvGrpSpPr>
                    <p:grpSpPr bwMode="auto">
                      <a:xfrm>
                        <a:off x="5215" y="2316"/>
                        <a:ext cx="33" cy="7"/>
                        <a:chOff x="5215" y="2316"/>
                        <a:chExt cx="33" cy="7"/>
                      </a:xfrm>
                    </p:grpSpPr>
                    <p:sp>
                      <p:nvSpPr>
                        <p:cNvPr id="371" name="Freeform 291"/>
                        <p:cNvSpPr/>
                        <p:nvPr/>
                      </p:nvSpPr>
                      <p:spPr bwMode="auto">
                        <a:xfrm>
                          <a:off x="5230" y="2317"/>
                          <a:ext cx="18" cy="6"/>
                        </a:xfrm>
                        <a:custGeom>
                          <a:avLst/>
                          <a:gdLst>
                            <a:gd name="T0" fmla="*/ 0 w 105"/>
                            <a:gd name="T1" fmla="*/ 18 h 28"/>
                            <a:gd name="T2" fmla="*/ 7 w 105"/>
                            <a:gd name="T3" fmla="*/ 11 h 28"/>
                            <a:gd name="T4" fmla="*/ 17 w 105"/>
                            <a:gd name="T5" fmla="*/ 5 h 28"/>
                            <a:gd name="T6" fmla="*/ 29 w 105"/>
                            <a:gd name="T7" fmla="*/ 1 h 28"/>
                            <a:gd name="T8" fmla="*/ 41 w 105"/>
                            <a:gd name="T9" fmla="*/ 0 h 28"/>
                            <a:gd name="T10" fmla="*/ 53 w 105"/>
                            <a:gd name="T11" fmla="*/ 0 h 28"/>
                            <a:gd name="T12" fmla="*/ 68 w 105"/>
                            <a:gd name="T13" fmla="*/ 2 h 28"/>
                            <a:gd name="T14" fmla="*/ 84 w 105"/>
                            <a:gd name="T15" fmla="*/ 8 h 28"/>
                            <a:gd name="T16" fmla="*/ 105 w 105"/>
                            <a:gd name="T17" fmla="*/ 14 h 28"/>
                            <a:gd name="T18" fmla="*/ 89 w 105"/>
                            <a:gd name="T19" fmla="*/ 14 h 28"/>
                            <a:gd name="T20" fmla="*/ 71 w 105"/>
                            <a:gd name="T21" fmla="*/ 13 h 28"/>
                            <a:gd name="T22" fmla="*/ 56 w 105"/>
                            <a:gd name="T23" fmla="*/ 12 h 28"/>
                            <a:gd name="T24" fmla="*/ 46 w 105"/>
                            <a:gd name="T25" fmla="*/ 14 h 28"/>
                            <a:gd name="T26" fmla="*/ 36 w 105"/>
                            <a:gd name="T27" fmla="*/ 18 h 28"/>
                            <a:gd name="T28" fmla="*/ 28 w 105"/>
                            <a:gd name="T29" fmla="*/ 24 h 28"/>
                            <a:gd name="T30" fmla="*/ 21 w 105"/>
                            <a:gd name="T31" fmla="*/ 28 h 28"/>
                            <a:gd name="T32" fmla="*/ 12 w 105"/>
                            <a:gd name="T33" fmla="*/ 28 h 28"/>
                            <a:gd name="T34" fmla="*/ 4 w 105"/>
                            <a:gd name="T35" fmla="*/ 26 h 28"/>
                            <a:gd name="T36" fmla="*/ 0 w 105"/>
                            <a:gd name="T37" fmla="*/ 18 h 2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  <a:cxn ang="0">
                              <a:pos x="T30" y="T31"/>
                            </a:cxn>
                            <a:cxn ang="0">
                              <a:pos x="T32" y="T33"/>
                            </a:cxn>
                            <a:cxn ang="0">
                              <a:pos x="T34" y="T35"/>
                            </a:cxn>
                            <a:cxn ang="0">
                              <a:pos x="T36" y="T37"/>
                            </a:cxn>
                          </a:cxnLst>
                          <a:rect l="0" t="0" r="r" b="b"/>
                          <a:pathLst>
                            <a:path w="105" h="28">
                              <a:moveTo>
                                <a:pt x="0" y="18"/>
                              </a:moveTo>
                              <a:lnTo>
                                <a:pt x="7" y="11"/>
                              </a:lnTo>
                              <a:lnTo>
                                <a:pt x="17" y="5"/>
                              </a:lnTo>
                              <a:lnTo>
                                <a:pt x="29" y="1"/>
                              </a:lnTo>
                              <a:lnTo>
                                <a:pt x="41" y="0"/>
                              </a:lnTo>
                              <a:lnTo>
                                <a:pt x="53" y="0"/>
                              </a:lnTo>
                              <a:lnTo>
                                <a:pt x="68" y="2"/>
                              </a:lnTo>
                              <a:lnTo>
                                <a:pt x="84" y="8"/>
                              </a:lnTo>
                              <a:lnTo>
                                <a:pt x="105" y="14"/>
                              </a:lnTo>
                              <a:lnTo>
                                <a:pt x="89" y="14"/>
                              </a:lnTo>
                              <a:lnTo>
                                <a:pt x="71" y="13"/>
                              </a:lnTo>
                              <a:lnTo>
                                <a:pt x="56" y="12"/>
                              </a:lnTo>
                              <a:lnTo>
                                <a:pt x="46" y="14"/>
                              </a:lnTo>
                              <a:lnTo>
                                <a:pt x="36" y="18"/>
                              </a:lnTo>
                              <a:lnTo>
                                <a:pt x="28" y="24"/>
                              </a:lnTo>
                              <a:lnTo>
                                <a:pt x="21" y="28"/>
                              </a:lnTo>
                              <a:lnTo>
                                <a:pt x="12" y="28"/>
                              </a:lnTo>
                              <a:lnTo>
                                <a:pt x="4" y="26"/>
                              </a:lnTo>
                              <a:lnTo>
                                <a:pt x="0" y="18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  <p:sp>
                      <p:nvSpPr>
                        <p:cNvPr id="372" name="Freeform 292"/>
                        <p:cNvSpPr/>
                        <p:nvPr/>
                      </p:nvSpPr>
                      <p:spPr bwMode="auto">
                        <a:xfrm>
                          <a:off x="5215" y="2316"/>
                          <a:ext cx="9" cy="7"/>
                        </a:xfrm>
                        <a:custGeom>
                          <a:avLst/>
                          <a:gdLst>
                            <a:gd name="T0" fmla="*/ 0 w 53"/>
                            <a:gd name="T1" fmla="*/ 0 h 35"/>
                            <a:gd name="T2" fmla="*/ 0 w 53"/>
                            <a:gd name="T3" fmla="*/ 5 h 35"/>
                            <a:gd name="T4" fmla="*/ 12 w 53"/>
                            <a:gd name="T5" fmla="*/ 7 h 35"/>
                            <a:gd name="T6" fmla="*/ 22 w 53"/>
                            <a:gd name="T7" fmla="*/ 16 h 35"/>
                            <a:gd name="T8" fmla="*/ 28 w 53"/>
                            <a:gd name="T9" fmla="*/ 23 h 35"/>
                            <a:gd name="T10" fmla="*/ 34 w 53"/>
                            <a:gd name="T11" fmla="*/ 31 h 35"/>
                            <a:gd name="T12" fmla="*/ 42 w 53"/>
                            <a:gd name="T13" fmla="*/ 35 h 35"/>
                            <a:gd name="T14" fmla="*/ 51 w 53"/>
                            <a:gd name="T15" fmla="*/ 33 h 35"/>
                            <a:gd name="T16" fmla="*/ 53 w 53"/>
                            <a:gd name="T17" fmla="*/ 25 h 35"/>
                            <a:gd name="T18" fmla="*/ 49 w 53"/>
                            <a:gd name="T19" fmla="*/ 18 h 35"/>
                            <a:gd name="T20" fmla="*/ 39 w 53"/>
                            <a:gd name="T21" fmla="*/ 12 h 35"/>
                            <a:gd name="T22" fmla="*/ 33 w 53"/>
                            <a:gd name="T23" fmla="*/ 7 h 35"/>
                            <a:gd name="T24" fmla="*/ 22 w 53"/>
                            <a:gd name="T25" fmla="*/ 4 h 35"/>
                            <a:gd name="T26" fmla="*/ 0 w 53"/>
                            <a:gd name="T27" fmla="*/ 0 h 35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</a:cxnLst>
                          <a:rect l="0" t="0" r="r" b="b"/>
                          <a:pathLst>
                            <a:path w="53" h="35">
                              <a:moveTo>
                                <a:pt x="0" y="0"/>
                              </a:moveTo>
                              <a:lnTo>
                                <a:pt x="0" y="5"/>
                              </a:lnTo>
                              <a:lnTo>
                                <a:pt x="12" y="7"/>
                              </a:lnTo>
                              <a:lnTo>
                                <a:pt x="22" y="16"/>
                              </a:lnTo>
                              <a:lnTo>
                                <a:pt x="28" y="23"/>
                              </a:lnTo>
                              <a:lnTo>
                                <a:pt x="34" y="31"/>
                              </a:lnTo>
                              <a:lnTo>
                                <a:pt x="42" y="35"/>
                              </a:lnTo>
                              <a:lnTo>
                                <a:pt x="51" y="33"/>
                              </a:lnTo>
                              <a:lnTo>
                                <a:pt x="53" y="25"/>
                              </a:lnTo>
                              <a:lnTo>
                                <a:pt x="49" y="18"/>
                              </a:lnTo>
                              <a:lnTo>
                                <a:pt x="39" y="12"/>
                              </a:lnTo>
                              <a:lnTo>
                                <a:pt x="33" y="7"/>
                              </a:lnTo>
                              <a:lnTo>
                                <a:pt x="22" y="4"/>
                              </a:lnTo>
                              <a:lnTo>
                                <a:pt x="0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</p:grpSp>
                  <p:sp>
                    <p:nvSpPr>
                      <p:cNvPr id="359" name="Freeform 293"/>
                      <p:cNvSpPr/>
                      <p:nvPr/>
                    </p:nvSpPr>
                    <p:spPr bwMode="auto">
                      <a:xfrm>
                        <a:off x="5234" y="2325"/>
                        <a:ext cx="12" cy="5"/>
                      </a:xfrm>
                      <a:custGeom>
                        <a:avLst/>
                        <a:gdLst>
                          <a:gd name="T0" fmla="*/ 0 w 75"/>
                          <a:gd name="T1" fmla="*/ 8 h 26"/>
                          <a:gd name="T2" fmla="*/ 3 w 75"/>
                          <a:gd name="T3" fmla="*/ 18 h 26"/>
                          <a:gd name="T4" fmla="*/ 5 w 75"/>
                          <a:gd name="T5" fmla="*/ 21 h 26"/>
                          <a:gd name="T6" fmla="*/ 8 w 75"/>
                          <a:gd name="T7" fmla="*/ 24 h 26"/>
                          <a:gd name="T8" fmla="*/ 20 w 75"/>
                          <a:gd name="T9" fmla="*/ 26 h 26"/>
                          <a:gd name="T10" fmla="*/ 34 w 75"/>
                          <a:gd name="T11" fmla="*/ 26 h 26"/>
                          <a:gd name="T12" fmla="*/ 45 w 75"/>
                          <a:gd name="T13" fmla="*/ 24 h 26"/>
                          <a:gd name="T14" fmla="*/ 57 w 75"/>
                          <a:gd name="T15" fmla="*/ 19 h 26"/>
                          <a:gd name="T16" fmla="*/ 75 w 75"/>
                          <a:gd name="T17" fmla="*/ 8 h 26"/>
                          <a:gd name="T18" fmla="*/ 48 w 75"/>
                          <a:gd name="T19" fmla="*/ 5 h 26"/>
                          <a:gd name="T20" fmla="*/ 25 w 75"/>
                          <a:gd name="T21" fmla="*/ 2 h 26"/>
                          <a:gd name="T22" fmla="*/ 12 w 75"/>
                          <a:gd name="T23" fmla="*/ 0 h 26"/>
                          <a:gd name="T24" fmla="*/ 0 w 75"/>
                          <a:gd name="T25" fmla="*/ 8 h 26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</a:cxnLst>
                        <a:rect l="0" t="0" r="r" b="b"/>
                        <a:pathLst>
                          <a:path w="75" h="26">
                            <a:moveTo>
                              <a:pt x="0" y="8"/>
                            </a:moveTo>
                            <a:lnTo>
                              <a:pt x="3" y="18"/>
                            </a:lnTo>
                            <a:lnTo>
                              <a:pt x="5" y="21"/>
                            </a:lnTo>
                            <a:lnTo>
                              <a:pt x="8" y="24"/>
                            </a:lnTo>
                            <a:lnTo>
                              <a:pt x="20" y="26"/>
                            </a:lnTo>
                            <a:lnTo>
                              <a:pt x="34" y="26"/>
                            </a:lnTo>
                            <a:lnTo>
                              <a:pt x="45" y="24"/>
                            </a:lnTo>
                            <a:lnTo>
                              <a:pt x="57" y="19"/>
                            </a:lnTo>
                            <a:lnTo>
                              <a:pt x="75" y="8"/>
                            </a:lnTo>
                            <a:lnTo>
                              <a:pt x="48" y="5"/>
                            </a:lnTo>
                            <a:lnTo>
                              <a:pt x="25" y="2"/>
                            </a:lnTo>
                            <a:lnTo>
                              <a:pt x="12" y="0"/>
                            </a:lnTo>
                            <a:lnTo>
                              <a:pt x="0" y="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360" name="Freeform 294"/>
                      <p:cNvSpPr/>
                      <p:nvPr/>
                    </p:nvSpPr>
                    <p:spPr bwMode="auto">
                      <a:xfrm>
                        <a:off x="5218" y="2326"/>
                        <a:ext cx="4" cy="5"/>
                      </a:xfrm>
                      <a:custGeom>
                        <a:avLst/>
                        <a:gdLst>
                          <a:gd name="T0" fmla="*/ 1 w 23"/>
                          <a:gd name="T1" fmla="*/ 0 h 25"/>
                          <a:gd name="T2" fmla="*/ 18 w 23"/>
                          <a:gd name="T3" fmla="*/ 3 h 25"/>
                          <a:gd name="T4" fmla="*/ 21 w 23"/>
                          <a:gd name="T5" fmla="*/ 13 h 25"/>
                          <a:gd name="T6" fmla="*/ 23 w 23"/>
                          <a:gd name="T7" fmla="*/ 25 h 25"/>
                          <a:gd name="T8" fmla="*/ 8 w 23"/>
                          <a:gd name="T9" fmla="*/ 23 h 25"/>
                          <a:gd name="T10" fmla="*/ 0 w 23"/>
                          <a:gd name="T11" fmla="*/ 21 h 25"/>
                          <a:gd name="T12" fmla="*/ 1 w 23"/>
                          <a:gd name="T13" fmla="*/ 0 h 25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23" h="25">
                            <a:moveTo>
                              <a:pt x="1" y="0"/>
                            </a:moveTo>
                            <a:lnTo>
                              <a:pt x="18" y="3"/>
                            </a:lnTo>
                            <a:lnTo>
                              <a:pt x="21" y="13"/>
                            </a:lnTo>
                            <a:lnTo>
                              <a:pt x="23" y="25"/>
                            </a:lnTo>
                            <a:lnTo>
                              <a:pt x="8" y="23"/>
                            </a:lnTo>
                            <a:lnTo>
                              <a:pt x="0" y="21"/>
                            </a:lnTo>
                            <a:lnTo>
                              <a:pt x="1" y="0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grpSp>
                    <p:nvGrpSpPr>
                      <p:cNvPr id="361" name="Group 295"/>
                      <p:cNvGrpSpPr/>
                      <p:nvPr/>
                    </p:nvGrpSpPr>
                    <p:grpSpPr bwMode="auto">
                      <a:xfrm>
                        <a:off x="5234" y="2325"/>
                        <a:ext cx="9" cy="7"/>
                        <a:chOff x="5234" y="2325"/>
                        <a:chExt cx="9" cy="7"/>
                      </a:xfrm>
                    </p:grpSpPr>
                    <p:sp>
                      <p:nvSpPr>
                        <p:cNvPr id="369" name="Oval 29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5234" y="2325"/>
                          <a:ext cx="9" cy="7"/>
                        </a:xfrm>
                        <a:prstGeom prst="ellipse">
                          <a:avLst/>
                        </a:prstGeom>
                        <a:solidFill>
                          <a:srgbClr val="7F3F0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  <p:sp>
                      <p:nvSpPr>
                        <p:cNvPr id="370" name="Oval 29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5236" y="2326"/>
                          <a:ext cx="4" cy="5"/>
                        </a:xfrm>
                        <a:prstGeom prst="ellipse">
                          <a:avLst/>
                        </a:prstGeom>
                        <a:solidFill>
                          <a:srgbClr val="00000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</p:grpSp>
                  <p:sp>
                    <p:nvSpPr>
                      <p:cNvPr id="362" name="Oval 29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235" y="2326"/>
                        <a:ext cx="3" cy="3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grpSp>
                    <p:nvGrpSpPr>
                      <p:cNvPr id="363" name="Group 299"/>
                      <p:cNvGrpSpPr/>
                      <p:nvPr/>
                    </p:nvGrpSpPr>
                    <p:grpSpPr bwMode="auto">
                      <a:xfrm>
                        <a:off x="5217" y="2326"/>
                        <a:ext cx="5" cy="7"/>
                        <a:chOff x="5217" y="2326"/>
                        <a:chExt cx="5" cy="7"/>
                      </a:xfrm>
                    </p:grpSpPr>
                    <p:sp>
                      <p:nvSpPr>
                        <p:cNvPr id="367" name="Oval 30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5217" y="2326"/>
                          <a:ext cx="5" cy="7"/>
                        </a:xfrm>
                        <a:prstGeom prst="ellipse">
                          <a:avLst/>
                        </a:prstGeom>
                        <a:solidFill>
                          <a:srgbClr val="7F3F0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  <p:sp>
                      <p:nvSpPr>
                        <p:cNvPr id="368" name="Oval 30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5217" y="2326"/>
                          <a:ext cx="4" cy="6"/>
                        </a:xfrm>
                        <a:prstGeom prst="ellipse">
                          <a:avLst/>
                        </a:prstGeom>
                        <a:solidFill>
                          <a:srgbClr val="00000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</p:grpSp>
                  <p:sp>
                    <p:nvSpPr>
                      <p:cNvPr id="364" name="Oval 30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217" y="2327"/>
                        <a:ext cx="2" cy="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365" name="Freeform 303"/>
                      <p:cNvSpPr/>
                      <p:nvPr/>
                    </p:nvSpPr>
                    <p:spPr bwMode="auto">
                      <a:xfrm>
                        <a:off x="5231" y="2324"/>
                        <a:ext cx="18" cy="5"/>
                      </a:xfrm>
                      <a:custGeom>
                        <a:avLst/>
                        <a:gdLst>
                          <a:gd name="T0" fmla="*/ 0 w 106"/>
                          <a:gd name="T1" fmla="*/ 1 h 24"/>
                          <a:gd name="T2" fmla="*/ 14 w 106"/>
                          <a:gd name="T3" fmla="*/ 8 h 24"/>
                          <a:gd name="T4" fmla="*/ 23 w 106"/>
                          <a:gd name="T5" fmla="*/ 3 h 24"/>
                          <a:gd name="T6" fmla="*/ 31 w 106"/>
                          <a:gd name="T7" fmla="*/ 0 h 24"/>
                          <a:gd name="T8" fmla="*/ 40 w 106"/>
                          <a:gd name="T9" fmla="*/ 0 h 24"/>
                          <a:gd name="T10" fmla="*/ 51 w 106"/>
                          <a:gd name="T11" fmla="*/ 3 h 24"/>
                          <a:gd name="T12" fmla="*/ 68 w 106"/>
                          <a:gd name="T13" fmla="*/ 8 h 24"/>
                          <a:gd name="T14" fmla="*/ 85 w 106"/>
                          <a:gd name="T15" fmla="*/ 8 h 24"/>
                          <a:gd name="T16" fmla="*/ 106 w 106"/>
                          <a:gd name="T17" fmla="*/ 5 h 24"/>
                          <a:gd name="T18" fmla="*/ 92 w 106"/>
                          <a:gd name="T19" fmla="*/ 16 h 24"/>
                          <a:gd name="T20" fmla="*/ 74 w 106"/>
                          <a:gd name="T21" fmla="*/ 24 h 24"/>
                          <a:gd name="T22" fmla="*/ 87 w 106"/>
                          <a:gd name="T23" fmla="*/ 15 h 24"/>
                          <a:gd name="T24" fmla="*/ 73 w 106"/>
                          <a:gd name="T25" fmla="*/ 13 h 24"/>
                          <a:gd name="T26" fmla="*/ 62 w 106"/>
                          <a:gd name="T27" fmla="*/ 12 h 24"/>
                          <a:gd name="T28" fmla="*/ 50 w 106"/>
                          <a:gd name="T29" fmla="*/ 10 h 24"/>
                          <a:gd name="T30" fmla="*/ 41 w 106"/>
                          <a:gd name="T31" fmla="*/ 10 h 24"/>
                          <a:gd name="T32" fmla="*/ 30 w 106"/>
                          <a:gd name="T33" fmla="*/ 8 h 24"/>
                          <a:gd name="T34" fmla="*/ 25 w 106"/>
                          <a:gd name="T35" fmla="*/ 8 h 24"/>
                          <a:gd name="T36" fmla="*/ 19 w 106"/>
                          <a:gd name="T37" fmla="*/ 12 h 24"/>
                          <a:gd name="T38" fmla="*/ 14 w 106"/>
                          <a:gd name="T39" fmla="*/ 13 h 24"/>
                          <a:gd name="T40" fmla="*/ 11 w 106"/>
                          <a:gd name="T41" fmla="*/ 13 h 24"/>
                          <a:gd name="T42" fmla="*/ 0 w 106"/>
                          <a:gd name="T43" fmla="*/ 1 h 2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</a:cxnLst>
                        <a:rect l="0" t="0" r="r" b="b"/>
                        <a:pathLst>
                          <a:path w="106" h="24">
                            <a:moveTo>
                              <a:pt x="0" y="1"/>
                            </a:moveTo>
                            <a:lnTo>
                              <a:pt x="14" y="8"/>
                            </a:lnTo>
                            <a:lnTo>
                              <a:pt x="23" y="3"/>
                            </a:lnTo>
                            <a:lnTo>
                              <a:pt x="31" y="0"/>
                            </a:lnTo>
                            <a:lnTo>
                              <a:pt x="40" y="0"/>
                            </a:lnTo>
                            <a:lnTo>
                              <a:pt x="51" y="3"/>
                            </a:lnTo>
                            <a:lnTo>
                              <a:pt x="68" y="8"/>
                            </a:lnTo>
                            <a:lnTo>
                              <a:pt x="85" y="8"/>
                            </a:lnTo>
                            <a:lnTo>
                              <a:pt x="106" y="5"/>
                            </a:lnTo>
                            <a:lnTo>
                              <a:pt x="92" y="16"/>
                            </a:lnTo>
                            <a:lnTo>
                              <a:pt x="74" y="24"/>
                            </a:lnTo>
                            <a:lnTo>
                              <a:pt x="87" y="15"/>
                            </a:lnTo>
                            <a:lnTo>
                              <a:pt x="73" y="13"/>
                            </a:lnTo>
                            <a:lnTo>
                              <a:pt x="62" y="12"/>
                            </a:lnTo>
                            <a:lnTo>
                              <a:pt x="50" y="10"/>
                            </a:lnTo>
                            <a:lnTo>
                              <a:pt x="41" y="10"/>
                            </a:lnTo>
                            <a:lnTo>
                              <a:pt x="30" y="8"/>
                            </a:lnTo>
                            <a:lnTo>
                              <a:pt x="25" y="8"/>
                            </a:lnTo>
                            <a:lnTo>
                              <a:pt x="19" y="12"/>
                            </a:lnTo>
                            <a:lnTo>
                              <a:pt x="14" y="13"/>
                            </a:lnTo>
                            <a:lnTo>
                              <a:pt x="11" y="13"/>
                            </a:lnTo>
                            <a:lnTo>
                              <a:pt x="0" y="1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366" name="Freeform 304"/>
                      <p:cNvSpPr/>
                      <p:nvPr/>
                    </p:nvSpPr>
                    <p:spPr bwMode="auto">
                      <a:xfrm>
                        <a:off x="5214" y="2325"/>
                        <a:ext cx="7" cy="4"/>
                      </a:xfrm>
                      <a:custGeom>
                        <a:avLst/>
                        <a:gdLst>
                          <a:gd name="T0" fmla="*/ 0 w 48"/>
                          <a:gd name="T1" fmla="*/ 0 h 21"/>
                          <a:gd name="T2" fmla="*/ 6 w 48"/>
                          <a:gd name="T3" fmla="*/ 8 h 21"/>
                          <a:gd name="T4" fmla="*/ 16 w 48"/>
                          <a:gd name="T5" fmla="*/ 6 h 21"/>
                          <a:gd name="T6" fmla="*/ 24 w 48"/>
                          <a:gd name="T7" fmla="*/ 6 h 21"/>
                          <a:gd name="T8" fmla="*/ 29 w 48"/>
                          <a:gd name="T9" fmla="*/ 6 h 21"/>
                          <a:gd name="T10" fmla="*/ 37 w 48"/>
                          <a:gd name="T11" fmla="*/ 6 h 21"/>
                          <a:gd name="T12" fmla="*/ 43 w 48"/>
                          <a:gd name="T13" fmla="*/ 10 h 21"/>
                          <a:gd name="T14" fmla="*/ 47 w 48"/>
                          <a:gd name="T15" fmla="*/ 13 h 21"/>
                          <a:gd name="T16" fmla="*/ 48 w 48"/>
                          <a:gd name="T17" fmla="*/ 21 h 21"/>
                          <a:gd name="T18" fmla="*/ 46 w 48"/>
                          <a:gd name="T19" fmla="*/ 14 h 21"/>
                          <a:gd name="T20" fmla="*/ 41 w 48"/>
                          <a:gd name="T21" fmla="*/ 11 h 21"/>
                          <a:gd name="T22" fmla="*/ 28 w 48"/>
                          <a:gd name="T23" fmla="*/ 10 h 21"/>
                          <a:gd name="T24" fmla="*/ 14 w 48"/>
                          <a:gd name="T25" fmla="*/ 10 h 21"/>
                          <a:gd name="T26" fmla="*/ 0 w 48"/>
                          <a:gd name="T27" fmla="*/ 0 h 21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</a:cxnLst>
                        <a:rect l="0" t="0" r="r" b="b"/>
                        <a:pathLst>
                          <a:path w="48" h="21">
                            <a:moveTo>
                              <a:pt x="0" y="0"/>
                            </a:moveTo>
                            <a:lnTo>
                              <a:pt x="6" y="8"/>
                            </a:lnTo>
                            <a:lnTo>
                              <a:pt x="16" y="6"/>
                            </a:lnTo>
                            <a:lnTo>
                              <a:pt x="24" y="6"/>
                            </a:lnTo>
                            <a:lnTo>
                              <a:pt x="29" y="6"/>
                            </a:lnTo>
                            <a:lnTo>
                              <a:pt x="37" y="6"/>
                            </a:lnTo>
                            <a:lnTo>
                              <a:pt x="43" y="10"/>
                            </a:lnTo>
                            <a:lnTo>
                              <a:pt x="47" y="13"/>
                            </a:lnTo>
                            <a:lnTo>
                              <a:pt x="48" y="21"/>
                            </a:lnTo>
                            <a:lnTo>
                              <a:pt x="46" y="14"/>
                            </a:lnTo>
                            <a:lnTo>
                              <a:pt x="41" y="11"/>
                            </a:lnTo>
                            <a:lnTo>
                              <a:pt x="28" y="10"/>
                            </a:lnTo>
                            <a:lnTo>
                              <a:pt x="14" y="1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348" name="Group 305"/>
                    <p:cNvGrpSpPr/>
                    <p:nvPr/>
                  </p:nvGrpSpPr>
                  <p:grpSpPr bwMode="auto">
                    <a:xfrm>
                      <a:off x="5223" y="2358"/>
                      <a:ext cx="18" cy="11"/>
                      <a:chOff x="5223" y="2358"/>
                      <a:chExt cx="18" cy="11"/>
                    </a:xfrm>
                  </p:grpSpPr>
                  <p:grpSp>
                    <p:nvGrpSpPr>
                      <p:cNvPr id="349" name="Group 306"/>
                      <p:cNvGrpSpPr/>
                      <p:nvPr/>
                    </p:nvGrpSpPr>
                    <p:grpSpPr bwMode="auto">
                      <a:xfrm>
                        <a:off x="5223" y="2358"/>
                        <a:ext cx="18" cy="11"/>
                        <a:chOff x="5223" y="2358"/>
                        <a:chExt cx="18" cy="11"/>
                      </a:xfrm>
                    </p:grpSpPr>
                    <p:sp>
                      <p:nvSpPr>
                        <p:cNvPr id="351" name="Freeform 307"/>
                        <p:cNvSpPr/>
                        <p:nvPr/>
                      </p:nvSpPr>
                      <p:spPr bwMode="auto">
                        <a:xfrm>
                          <a:off x="5223" y="2358"/>
                          <a:ext cx="18" cy="11"/>
                        </a:xfrm>
                        <a:custGeom>
                          <a:avLst/>
                          <a:gdLst>
                            <a:gd name="T0" fmla="*/ 11 w 107"/>
                            <a:gd name="T1" fmla="*/ 23 h 58"/>
                            <a:gd name="T2" fmla="*/ 5 w 107"/>
                            <a:gd name="T3" fmla="*/ 16 h 58"/>
                            <a:gd name="T4" fmla="*/ 1 w 107"/>
                            <a:gd name="T5" fmla="*/ 9 h 58"/>
                            <a:gd name="T6" fmla="*/ 0 w 107"/>
                            <a:gd name="T7" fmla="*/ 5 h 58"/>
                            <a:gd name="T8" fmla="*/ 5 w 107"/>
                            <a:gd name="T9" fmla="*/ 1 h 58"/>
                            <a:gd name="T10" fmla="*/ 13 w 107"/>
                            <a:gd name="T11" fmla="*/ 0 h 58"/>
                            <a:gd name="T12" fmla="*/ 25 w 107"/>
                            <a:gd name="T13" fmla="*/ 6 h 58"/>
                            <a:gd name="T14" fmla="*/ 36 w 107"/>
                            <a:gd name="T15" fmla="*/ 0 h 58"/>
                            <a:gd name="T16" fmla="*/ 48 w 107"/>
                            <a:gd name="T17" fmla="*/ 3 h 58"/>
                            <a:gd name="T18" fmla="*/ 61 w 107"/>
                            <a:gd name="T19" fmla="*/ 6 h 58"/>
                            <a:gd name="T20" fmla="*/ 75 w 107"/>
                            <a:gd name="T21" fmla="*/ 7 h 58"/>
                            <a:gd name="T22" fmla="*/ 107 w 107"/>
                            <a:gd name="T23" fmla="*/ 9 h 58"/>
                            <a:gd name="T24" fmla="*/ 88 w 107"/>
                            <a:gd name="T25" fmla="*/ 27 h 58"/>
                            <a:gd name="T26" fmla="*/ 78 w 107"/>
                            <a:gd name="T27" fmla="*/ 35 h 58"/>
                            <a:gd name="T28" fmla="*/ 68 w 107"/>
                            <a:gd name="T29" fmla="*/ 44 h 58"/>
                            <a:gd name="T30" fmla="*/ 58 w 107"/>
                            <a:gd name="T31" fmla="*/ 52 h 58"/>
                            <a:gd name="T32" fmla="*/ 43 w 107"/>
                            <a:gd name="T33" fmla="*/ 58 h 58"/>
                            <a:gd name="T34" fmla="*/ 30 w 107"/>
                            <a:gd name="T35" fmla="*/ 58 h 58"/>
                            <a:gd name="T36" fmla="*/ 18 w 107"/>
                            <a:gd name="T37" fmla="*/ 53 h 58"/>
                            <a:gd name="T38" fmla="*/ 13 w 107"/>
                            <a:gd name="T39" fmla="*/ 44 h 58"/>
                            <a:gd name="T40" fmla="*/ 11 w 107"/>
                            <a:gd name="T41" fmla="*/ 23 h 5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  <a:cxn ang="0">
                              <a:pos x="T30" y="T31"/>
                            </a:cxn>
                            <a:cxn ang="0">
                              <a:pos x="T32" y="T33"/>
                            </a:cxn>
                            <a:cxn ang="0">
                              <a:pos x="T34" y="T35"/>
                            </a:cxn>
                            <a:cxn ang="0">
                              <a:pos x="T36" y="T37"/>
                            </a:cxn>
                            <a:cxn ang="0">
                              <a:pos x="T38" y="T39"/>
                            </a:cxn>
                            <a:cxn ang="0">
                              <a:pos x="T40" y="T41"/>
                            </a:cxn>
                          </a:cxnLst>
                          <a:rect l="0" t="0" r="r" b="b"/>
                          <a:pathLst>
                            <a:path w="107" h="58">
                              <a:moveTo>
                                <a:pt x="11" y="23"/>
                              </a:moveTo>
                              <a:lnTo>
                                <a:pt x="5" y="16"/>
                              </a:lnTo>
                              <a:lnTo>
                                <a:pt x="1" y="9"/>
                              </a:lnTo>
                              <a:lnTo>
                                <a:pt x="0" y="5"/>
                              </a:lnTo>
                              <a:lnTo>
                                <a:pt x="5" y="1"/>
                              </a:lnTo>
                              <a:lnTo>
                                <a:pt x="13" y="0"/>
                              </a:lnTo>
                              <a:lnTo>
                                <a:pt x="25" y="6"/>
                              </a:lnTo>
                              <a:lnTo>
                                <a:pt x="36" y="0"/>
                              </a:lnTo>
                              <a:lnTo>
                                <a:pt x="48" y="3"/>
                              </a:lnTo>
                              <a:lnTo>
                                <a:pt x="61" y="6"/>
                              </a:lnTo>
                              <a:lnTo>
                                <a:pt x="75" y="7"/>
                              </a:lnTo>
                              <a:lnTo>
                                <a:pt x="107" y="9"/>
                              </a:lnTo>
                              <a:lnTo>
                                <a:pt x="88" y="27"/>
                              </a:lnTo>
                              <a:lnTo>
                                <a:pt x="78" y="35"/>
                              </a:lnTo>
                              <a:lnTo>
                                <a:pt x="68" y="44"/>
                              </a:lnTo>
                              <a:lnTo>
                                <a:pt x="58" y="52"/>
                              </a:lnTo>
                              <a:lnTo>
                                <a:pt x="43" y="58"/>
                              </a:lnTo>
                              <a:lnTo>
                                <a:pt x="30" y="58"/>
                              </a:lnTo>
                              <a:lnTo>
                                <a:pt x="18" y="53"/>
                              </a:lnTo>
                              <a:lnTo>
                                <a:pt x="13" y="44"/>
                              </a:lnTo>
                              <a:lnTo>
                                <a:pt x="11" y="2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7F000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  <p:grpSp>
                      <p:nvGrpSpPr>
                        <p:cNvPr id="352" name="Group 308"/>
                        <p:cNvGrpSpPr/>
                        <p:nvPr/>
                      </p:nvGrpSpPr>
                      <p:grpSpPr bwMode="auto">
                        <a:xfrm>
                          <a:off x="5223" y="2358"/>
                          <a:ext cx="18" cy="11"/>
                          <a:chOff x="5223" y="2358"/>
                          <a:chExt cx="18" cy="11"/>
                        </a:xfrm>
                      </p:grpSpPr>
                      <p:grpSp>
                        <p:nvGrpSpPr>
                          <p:cNvPr id="354" name="Group 309"/>
                          <p:cNvGrpSpPr/>
                          <p:nvPr/>
                        </p:nvGrpSpPr>
                        <p:grpSpPr bwMode="auto">
                          <a:xfrm>
                            <a:off x="5223" y="2358"/>
                            <a:ext cx="18" cy="5"/>
                            <a:chOff x="5223" y="2358"/>
                            <a:chExt cx="18" cy="5"/>
                          </a:xfrm>
                        </p:grpSpPr>
                        <p:sp>
                          <p:nvSpPr>
                            <p:cNvPr id="356" name="Freeform 310"/>
                            <p:cNvSpPr/>
                            <p:nvPr/>
                          </p:nvSpPr>
                          <p:spPr bwMode="auto">
                            <a:xfrm>
                              <a:off x="5225" y="2360"/>
                              <a:ext cx="12" cy="3"/>
                            </a:xfrm>
                            <a:custGeom>
                              <a:avLst/>
                              <a:gdLst>
                                <a:gd name="T0" fmla="*/ 0 w 77"/>
                                <a:gd name="T1" fmla="*/ 1 h 17"/>
                                <a:gd name="T2" fmla="*/ 7 w 77"/>
                                <a:gd name="T3" fmla="*/ 10 h 17"/>
                                <a:gd name="T4" fmla="*/ 14 w 77"/>
                                <a:gd name="T5" fmla="*/ 15 h 17"/>
                                <a:gd name="T6" fmla="*/ 25 w 77"/>
                                <a:gd name="T7" fmla="*/ 17 h 17"/>
                                <a:gd name="T8" fmla="*/ 36 w 77"/>
                                <a:gd name="T9" fmla="*/ 17 h 17"/>
                                <a:gd name="T10" fmla="*/ 44 w 77"/>
                                <a:gd name="T11" fmla="*/ 17 h 17"/>
                                <a:gd name="T12" fmla="*/ 63 w 77"/>
                                <a:gd name="T13" fmla="*/ 13 h 17"/>
                                <a:gd name="T14" fmla="*/ 77 w 77"/>
                                <a:gd name="T15" fmla="*/ 7 h 17"/>
                                <a:gd name="T16" fmla="*/ 45 w 77"/>
                                <a:gd name="T17" fmla="*/ 0 h 17"/>
                                <a:gd name="T18" fmla="*/ 0 w 77"/>
                                <a:gd name="T19" fmla="*/ 1 h 17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  <a:cxn ang="0">
                                  <a:pos x="T10" y="T11"/>
                                </a:cxn>
                                <a:cxn ang="0">
                                  <a:pos x="T12" y="T13"/>
                                </a:cxn>
                                <a:cxn ang="0">
                                  <a:pos x="T14" y="T15"/>
                                </a:cxn>
                                <a:cxn ang="0">
                                  <a:pos x="T16" y="T17"/>
                                </a:cxn>
                                <a:cxn ang="0">
                                  <a:pos x="T18" y="T19"/>
                                </a:cxn>
                              </a:cxnLst>
                              <a:rect l="0" t="0" r="r" b="b"/>
                              <a:pathLst>
                                <a:path w="77" h="17">
                                  <a:moveTo>
                                    <a:pt x="0" y="1"/>
                                  </a:moveTo>
                                  <a:lnTo>
                                    <a:pt x="7" y="10"/>
                                  </a:lnTo>
                                  <a:lnTo>
                                    <a:pt x="14" y="15"/>
                                  </a:lnTo>
                                  <a:lnTo>
                                    <a:pt x="25" y="17"/>
                                  </a:lnTo>
                                  <a:lnTo>
                                    <a:pt x="36" y="17"/>
                                  </a:lnTo>
                                  <a:lnTo>
                                    <a:pt x="44" y="17"/>
                                  </a:lnTo>
                                  <a:lnTo>
                                    <a:pt x="63" y="13"/>
                                  </a:lnTo>
                                  <a:lnTo>
                                    <a:pt x="77" y="7"/>
                                  </a:lnTo>
                                  <a:lnTo>
                                    <a:pt x="45" y="0"/>
                                  </a:lnTo>
                                  <a:lnTo>
                                    <a:pt x="0" y="1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 sz="3655"/>
                            </a:p>
                          </p:txBody>
                        </p:sp>
                        <p:sp>
                          <p:nvSpPr>
                            <p:cNvPr id="357" name="Freeform 311"/>
                            <p:cNvSpPr/>
                            <p:nvPr/>
                          </p:nvSpPr>
                          <p:spPr bwMode="auto">
                            <a:xfrm>
                              <a:off x="5223" y="2358"/>
                              <a:ext cx="18" cy="5"/>
                            </a:xfrm>
                            <a:custGeom>
                              <a:avLst/>
                              <a:gdLst>
                                <a:gd name="T0" fmla="*/ 10 w 107"/>
                                <a:gd name="T1" fmla="*/ 24 h 24"/>
                                <a:gd name="T2" fmla="*/ 4 w 107"/>
                                <a:gd name="T3" fmla="*/ 16 h 24"/>
                                <a:gd name="T4" fmla="*/ 1 w 107"/>
                                <a:gd name="T5" fmla="*/ 11 h 24"/>
                                <a:gd name="T6" fmla="*/ 0 w 107"/>
                                <a:gd name="T7" fmla="*/ 5 h 24"/>
                                <a:gd name="T8" fmla="*/ 4 w 107"/>
                                <a:gd name="T9" fmla="*/ 1 h 24"/>
                                <a:gd name="T10" fmla="*/ 13 w 107"/>
                                <a:gd name="T11" fmla="*/ 0 h 24"/>
                                <a:gd name="T12" fmla="*/ 25 w 107"/>
                                <a:gd name="T13" fmla="*/ 7 h 24"/>
                                <a:gd name="T14" fmla="*/ 36 w 107"/>
                                <a:gd name="T15" fmla="*/ 0 h 24"/>
                                <a:gd name="T16" fmla="*/ 47 w 107"/>
                                <a:gd name="T17" fmla="*/ 3 h 24"/>
                                <a:gd name="T18" fmla="*/ 61 w 107"/>
                                <a:gd name="T19" fmla="*/ 7 h 24"/>
                                <a:gd name="T20" fmla="*/ 75 w 107"/>
                                <a:gd name="T21" fmla="*/ 8 h 24"/>
                                <a:gd name="T22" fmla="*/ 107 w 107"/>
                                <a:gd name="T23" fmla="*/ 11 h 24"/>
                                <a:gd name="T24" fmla="*/ 98 w 107"/>
                                <a:gd name="T25" fmla="*/ 16 h 24"/>
                                <a:gd name="T26" fmla="*/ 88 w 107"/>
                                <a:gd name="T27" fmla="*/ 21 h 24"/>
                                <a:gd name="T28" fmla="*/ 77 w 107"/>
                                <a:gd name="T29" fmla="*/ 21 h 24"/>
                                <a:gd name="T30" fmla="*/ 68 w 107"/>
                                <a:gd name="T31" fmla="*/ 22 h 24"/>
                                <a:gd name="T32" fmla="*/ 55 w 107"/>
                                <a:gd name="T33" fmla="*/ 19 h 24"/>
                                <a:gd name="T34" fmla="*/ 41 w 107"/>
                                <a:gd name="T35" fmla="*/ 16 h 24"/>
                                <a:gd name="T36" fmla="*/ 33 w 107"/>
                                <a:gd name="T37" fmla="*/ 21 h 24"/>
                                <a:gd name="T38" fmla="*/ 22 w 107"/>
                                <a:gd name="T39" fmla="*/ 16 h 24"/>
                                <a:gd name="T40" fmla="*/ 12 w 107"/>
                                <a:gd name="T41" fmla="*/ 13 h 24"/>
                                <a:gd name="T42" fmla="*/ 10 w 107"/>
                                <a:gd name="T43" fmla="*/ 24 h 24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  <a:cxn ang="0">
                                  <a:pos x="T10" y="T11"/>
                                </a:cxn>
                                <a:cxn ang="0">
                                  <a:pos x="T12" y="T13"/>
                                </a:cxn>
                                <a:cxn ang="0">
                                  <a:pos x="T14" y="T15"/>
                                </a:cxn>
                                <a:cxn ang="0">
                                  <a:pos x="T16" y="T17"/>
                                </a:cxn>
                                <a:cxn ang="0">
                                  <a:pos x="T18" y="T19"/>
                                </a:cxn>
                                <a:cxn ang="0">
                                  <a:pos x="T20" y="T21"/>
                                </a:cxn>
                                <a:cxn ang="0">
                                  <a:pos x="T22" y="T23"/>
                                </a:cxn>
                                <a:cxn ang="0">
                                  <a:pos x="T24" y="T25"/>
                                </a:cxn>
                                <a:cxn ang="0">
                                  <a:pos x="T26" y="T27"/>
                                </a:cxn>
                                <a:cxn ang="0">
                                  <a:pos x="T28" y="T29"/>
                                </a:cxn>
                                <a:cxn ang="0">
                                  <a:pos x="T30" y="T31"/>
                                </a:cxn>
                                <a:cxn ang="0">
                                  <a:pos x="T32" y="T33"/>
                                </a:cxn>
                                <a:cxn ang="0">
                                  <a:pos x="T34" y="T35"/>
                                </a:cxn>
                                <a:cxn ang="0">
                                  <a:pos x="T36" y="T37"/>
                                </a:cxn>
                                <a:cxn ang="0">
                                  <a:pos x="T38" y="T39"/>
                                </a:cxn>
                                <a:cxn ang="0">
                                  <a:pos x="T40" y="T41"/>
                                </a:cxn>
                                <a:cxn ang="0">
                                  <a:pos x="T42" y="T43"/>
                                </a:cxn>
                              </a:cxnLst>
                              <a:rect l="0" t="0" r="r" b="b"/>
                              <a:pathLst>
                                <a:path w="107" h="24">
                                  <a:moveTo>
                                    <a:pt x="10" y="24"/>
                                  </a:moveTo>
                                  <a:lnTo>
                                    <a:pt x="4" y="16"/>
                                  </a:lnTo>
                                  <a:lnTo>
                                    <a:pt x="1" y="11"/>
                                  </a:lnTo>
                                  <a:lnTo>
                                    <a:pt x="0" y="5"/>
                                  </a:lnTo>
                                  <a:lnTo>
                                    <a:pt x="4" y="1"/>
                                  </a:lnTo>
                                  <a:lnTo>
                                    <a:pt x="13" y="0"/>
                                  </a:lnTo>
                                  <a:lnTo>
                                    <a:pt x="25" y="7"/>
                                  </a:lnTo>
                                  <a:lnTo>
                                    <a:pt x="36" y="0"/>
                                  </a:lnTo>
                                  <a:lnTo>
                                    <a:pt x="47" y="3"/>
                                  </a:lnTo>
                                  <a:lnTo>
                                    <a:pt x="61" y="7"/>
                                  </a:lnTo>
                                  <a:lnTo>
                                    <a:pt x="75" y="8"/>
                                  </a:lnTo>
                                  <a:lnTo>
                                    <a:pt x="107" y="11"/>
                                  </a:lnTo>
                                  <a:lnTo>
                                    <a:pt x="98" y="16"/>
                                  </a:lnTo>
                                  <a:lnTo>
                                    <a:pt x="88" y="21"/>
                                  </a:lnTo>
                                  <a:lnTo>
                                    <a:pt x="77" y="21"/>
                                  </a:lnTo>
                                  <a:lnTo>
                                    <a:pt x="68" y="22"/>
                                  </a:lnTo>
                                  <a:lnTo>
                                    <a:pt x="55" y="19"/>
                                  </a:lnTo>
                                  <a:lnTo>
                                    <a:pt x="41" y="16"/>
                                  </a:lnTo>
                                  <a:lnTo>
                                    <a:pt x="33" y="21"/>
                                  </a:lnTo>
                                  <a:lnTo>
                                    <a:pt x="22" y="16"/>
                                  </a:lnTo>
                                  <a:lnTo>
                                    <a:pt x="12" y="13"/>
                                  </a:lnTo>
                                  <a:lnTo>
                                    <a:pt x="10" y="24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001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 sz="3655"/>
                            </a:p>
                          </p:txBody>
                        </p:sp>
                      </p:grpSp>
                      <p:sp>
                        <p:nvSpPr>
                          <p:cNvPr id="355" name="Freeform 312"/>
                          <p:cNvSpPr/>
                          <p:nvPr/>
                        </p:nvSpPr>
                        <p:spPr bwMode="auto">
                          <a:xfrm>
                            <a:off x="5225" y="2360"/>
                            <a:ext cx="16" cy="9"/>
                          </a:xfrm>
                          <a:custGeom>
                            <a:avLst/>
                            <a:gdLst>
                              <a:gd name="T0" fmla="*/ 0 w 96"/>
                              <a:gd name="T1" fmla="*/ 14 h 49"/>
                              <a:gd name="T2" fmla="*/ 6 w 96"/>
                              <a:gd name="T3" fmla="*/ 18 h 49"/>
                              <a:gd name="T4" fmla="*/ 14 w 96"/>
                              <a:gd name="T5" fmla="*/ 22 h 49"/>
                              <a:gd name="T6" fmla="*/ 22 w 96"/>
                              <a:gd name="T7" fmla="*/ 23 h 49"/>
                              <a:gd name="T8" fmla="*/ 34 w 96"/>
                              <a:gd name="T9" fmla="*/ 23 h 49"/>
                              <a:gd name="T10" fmla="*/ 46 w 96"/>
                              <a:gd name="T11" fmla="*/ 22 h 49"/>
                              <a:gd name="T12" fmla="*/ 57 w 96"/>
                              <a:gd name="T13" fmla="*/ 19 h 49"/>
                              <a:gd name="T14" fmla="*/ 67 w 96"/>
                              <a:gd name="T15" fmla="*/ 17 h 49"/>
                              <a:gd name="T16" fmla="*/ 76 w 96"/>
                              <a:gd name="T17" fmla="*/ 14 h 49"/>
                              <a:gd name="T18" fmla="*/ 82 w 96"/>
                              <a:gd name="T19" fmla="*/ 8 h 49"/>
                              <a:gd name="T20" fmla="*/ 88 w 96"/>
                              <a:gd name="T21" fmla="*/ 5 h 49"/>
                              <a:gd name="T22" fmla="*/ 96 w 96"/>
                              <a:gd name="T23" fmla="*/ 0 h 49"/>
                              <a:gd name="T24" fmla="*/ 77 w 96"/>
                              <a:gd name="T25" fmla="*/ 18 h 49"/>
                              <a:gd name="T26" fmla="*/ 67 w 96"/>
                              <a:gd name="T27" fmla="*/ 26 h 49"/>
                              <a:gd name="T28" fmla="*/ 57 w 96"/>
                              <a:gd name="T29" fmla="*/ 34 h 49"/>
                              <a:gd name="T30" fmla="*/ 47 w 96"/>
                              <a:gd name="T31" fmla="*/ 43 h 49"/>
                              <a:gd name="T32" fmla="*/ 32 w 96"/>
                              <a:gd name="T33" fmla="*/ 49 h 49"/>
                              <a:gd name="T34" fmla="*/ 18 w 96"/>
                              <a:gd name="T35" fmla="*/ 49 h 49"/>
                              <a:gd name="T36" fmla="*/ 7 w 96"/>
                              <a:gd name="T37" fmla="*/ 44 h 49"/>
                              <a:gd name="T38" fmla="*/ 2 w 96"/>
                              <a:gd name="T39" fmla="*/ 34 h 49"/>
                              <a:gd name="T40" fmla="*/ 0 w 96"/>
                              <a:gd name="T41" fmla="*/ 14 h 49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  <a:cxn ang="0">
                                <a:pos x="T24" y="T25"/>
                              </a:cxn>
                              <a:cxn ang="0">
                                <a:pos x="T26" y="T27"/>
                              </a:cxn>
                              <a:cxn ang="0">
                                <a:pos x="T28" y="T29"/>
                              </a:cxn>
                              <a:cxn ang="0">
                                <a:pos x="T30" y="T31"/>
                              </a:cxn>
                              <a:cxn ang="0">
                                <a:pos x="T32" y="T33"/>
                              </a:cxn>
                              <a:cxn ang="0">
                                <a:pos x="T34" y="T35"/>
                              </a:cxn>
                              <a:cxn ang="0">
                                <a:pos x="T36" y="T37"/>
                              </a:cxn>
                              <a:cxn ang="0">
                                <a:pos x="T38" y="T39"/>
                              </a:cxn>
                              <a:cxn ang="0">
                                <a:pos x="T40" y="T41"/>
                              </a:cxn>
                            </a:cxnLst>
                            <a:rect l="0" t="0" r="r" b="b"/>
                            <a:pathLst>
                              <a:path w="96" h="49">
                                <a:moveTo>
                                  <a:pt x="0" y="14"/>
                                </a:moveTo>
                                <a:lnTo>
                                  <a:pt x="6" y="18"/>
                                </a:lnTo>
                                <a:lnTo>
                                  <a:pt x="14" y="22"/>
                                </a:lnTo>
                                <a:lnTo>
                                  <a:pt x="22" y="23"/>
                                </a:lnTo>
                                <a:lnTo>
                                  <a:pt x="34" y="23"/>
                                </a:lnTo>
                                <a:lnTo>
                                  <a:pt x="46" y="22"/>
                                </a:lnTo>
                                <a:lnTo>
                                  <a:pt x="57" y="19"/>
                                </a:lnTo>
                                <a:lnTo>
                                  <a:pt x="67" y="17"/>
                                </a:lnTo>
                                <a:lnTo>
                                  <a:pt x="76" y="14"/>
                                </a:lnTo>
                                <a:lnTo>
                                  <a:pt x="82" y="8"/>
                                </a:lnTo>
                                <a:lnTo>
                                  <a:pt x="88" y="5"/>
                                </a:lnTo>
                                <a:lnTo>
                                  <a:pt x="96" y="0"/>
                                </a:lnTo>
                                <a:lnTo>
                                  <a:pt x="77" y="18"/>
                                </a:lnTo>
                                <a:lnTo>
                                  <a:pt x="67" y="26"/>
                                </a:lnTo>
                                <a:lnTo>
                                  <a:pt x="57" y="34"/>
                                </a:lnTo>
                                <a:lnTo>
                                  <a:pt x="47" y="43"/>
                                </a:lnTo>
                                <a:lnTo>
                                  <a:pt x="32" y="49"/>
                                </a:lnTo>
                                <a:lnTo>
                                  <a:pt x="18" y="49"/>
                                </a:lnTo>
                                <a:lnTo>
                                  <a:pt x="7" y="44"/>
                                </a:lnTo>
                                <a:lnTo>
                                  <a:pt x="2" y="34"/>
                                </a:lnTo>
                                <a:lnTo>
                                  <a:pt x="0" y="14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FF001F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round/>
                              </a14:hiddenLine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3655"/>
                          </a:p>
                        </p:txBody>
                      </p:sp>
                    </p:grpSp>
                    <p:sp>
                      <p:nvSpPr>
                        <p:cNvPr id="353" name="Freeform 313"/>
                        <p:cNvSpPr/>
                        <p:nvPr/>
                      </p:nvSpPr>
                      <p:spPr bwMode="auto">
                        <a:xfrm>
                          <a:off x="5226" y="2363"/>
                          <a:ext cx="10" cy="5"/>
                        </a:xfrm>
                        <a:custGeom>
                          <a:avLst/>
                          <a:gdLst>
                            <a:gd name="T0" fmla="*/ 0 w 62"/>
                            <a:gd name="T1" fmla="*/ 0 h 23"/>
                            <a:gd name="T2" fmla="*/ 9 w 62"/>
                            <a:gd name="T3" fmla="*/ 7 h 23"/>
                            <a:gd name="T4" fmla="*/ 21 w 62"/>
                            <a:gd name="T5" fmla="*/ 8 h 23"/>
                            <a:gd name="T6" fmla="*/ 34 w 62"/>
                            <a:gd name="T7" fmla="*/ 8 h 23"/>
                            <a:gd name="T8" fmla="*/ 52 w 62"/>
                            <a:gd name="T9" fmla="*/ 5 h 23"/>
                            <a:gd name="T10" fmla="*/ 62 w 62"/>
                            <a:gd name="T11" fmla="*/ 0 h 23"/>
                            <a:gd name="T12" fmla="*/ 48 w 62"/>
                            <a:gd name="T13" fmla="*/ 13 h 23"/>
                            <a:gd name="T14" fmla="*/ 38 w 62"/>
                            <a:gd name="T15" fmla="*/ 21 h 23"/>
                            <a:gd name="T16" fmla="*/ 28 w 62"/>
                            <a:gd name="T17" fmla="*/ 23 h 23"/>
                            <a:gd name="T18" fmla="*/ 15 w 62"/>
                            <a:gd name="T19" fmla="*/ 23 h 23"/>
                            <a:gd name="T20" fmla="*/ 6 w 62"/>
                            <a:gd name="T21" fmla="*/ 20 h 23"/>
                            <a:gd name="T22" fmla="*/ 1 w 62"/>
                            <a:gd name="T23" fmla="*/ 13 h 23"/>
                            <a:gd name="T24" fmla="*/ 0 w 62"/>
                            <a:gd name="T25" fmla="*/ 0 h 23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</a:cxnLst>
                          <a:rect l="0" t="0" r="r" b="b"/>
                          <a:pathLst>
                            <a:path w="62" h="23">
                              <a:moveTo>
                                <a:pt x="0" y="0"/>
                              </a:moveTo>
                              <a:lnTo>
                                <a:pt x="9" y="7"/>
                              </a:lnTo>
                              <a:lnTo>
                                <a:pt x="21" y="8"/>
                              </a:lnTo>
                              <a:lnTo>
                                <a:pt x="34" y="8"/>
                              </a:lnTo>
                              <a:lnTo>
                                <a:pt x="52" y="5"/>
                              </a:lnTo>
                              <a:lnTo>
                                <a:pt x="62" y="0"/>
                              </a:lnTo>
                              <a:lnTo>
                                <a:pt x="48" y="13"/>
                              </a:lnTo>
                              <a:lnTo>
                                <a:pt x="38" y="21"/>
                              </a:lnTo>
                              <a:lnTo>
                                <a:pt x="28" y="23"/>
                              </a:lnTo>
                              <a:lnTo>
                                <a:pt x="15" y="23"/>
                              </a:lnTo>
                              <a:lnTo>
                                <a:pt x="6" y="20"/>
                              </a:lnTo>
                              <a:lnTo>
                                <a:pt x="1" y="13"/>
                              </a:lnTo>
                              <a:lnTo>
                                <a:pt x="0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1F3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</p:grpSp>
                  <p:sp>
                    <p:nvSpPr>
                      <p:cNvPr id="350" name="Oval 31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227" y="2365"/>
                        <a:ext cx="2" cy="1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</p:grpSp>
              <p:grpSp>
                <p:nvGrpSpPr>
                  <p:cNvPr id="343" name="Group 315"/>
                  <p:cNvGrpSpPr/>
                  <p:nvPr/>
                </p:nvGrpSpPr>
                <p:grpSpPr bwMode="auto">
                  <a:xfrm>
                    <a:off x="5261" y="2339"/>
                    <a:ext cx="12" cy="20"/>
                    <a:chOff x="5261" y="2339"/>
                    <a:chExt cx="12" cy="20"/>
                  </a:xfrm>
                </p:grpSpPr>
                <p:sp>
                  <p:nvSpPr>
                    <p:cNvPr id="344" name="Freeform 316"/>
                    <p:cNvSpPr/>
                    <p:nvPr/>
                  </p:nvSpPr>
                  <p:spPr bwMode="auto">
                    <a:xfrm>
                      <a:off x="5261" y="2339"/>
                      <a:ext cx="12" cy="20"/>
                    </a:xfrm>
                    <a:custGeom>
                      <a:avLst/>
                      <a:gdLst>
                        <a:gd name="T0" fmla="*/ 45 w 70"/>
                        <a:gd name="T1" fmla="*/ 0 h 98"/>
                        <a:gd name="T2" fmla="*/ 67 w 70"/>
                        <a:gd name="T3" fmla="*/ 8 h 98"/>
                        <a:gd name="T4" fmla="*/ 70 w 70"/>
                        <a:gd name="T5" fmla="*/ 11 h 98"/>
                        <a:gd name="T6" fmla="*/ 69 w 70"/>
                        <a:gd name="T7" fmla="*/ 50 h 98"/>
                        <a:gd name="T8" fmla="*/ 64 w 70"/>
                        <a:gd name="T9" fmla="*/ 71 h 98"/>
                        <a:gd name="T10" fmla="*/ 57 w 70"/>
                        <a:gd name="T11" fmla="*/ 88 h 98"/>
                        <a:gd name="T12" fmla="*/ 48 w 70"/>
                        <a:gd name="T13" fmla="*/ 95 h 98"/>
                        <a:gd name="T14" fmla="*/ 36 w 70"/>
                        <a:gd name="T15" fmla="*/ 98 h 98"/>
                        <a:gd name="T16" fmla="*/ 12 w 70"/>
                        <a:gd name="T17" fmla="*/ 90 h 98"/>
                        <a:gd name="T18" fmla="*/ 2 w 70"/>
                        <a:gd name="T19" fmla="*/ 80 h 98"/>
                        <a:gd name="T20" fmla="*/ 0 w 70"/>
                        <a:gd name="T21" fmla="*/ 72 h 98"/>
                        <a:gd name="T22" fmla="*/ 0 w 70"/>
                        <a:gd name="T23" fmla="*/ 67 h 98"/>
                        <a:gd name="T24" fmla="*/ 15 w 70"/>
                        <a:gd name="T25" fmla="*/ 37 h 98"/>
                        <a:gd name="T26" fmla="*/ 24 w 70"/>
                        <a:gd name="T27" fmla="*/ 11 h 98"/>
                        <a:gd name="T28" fmla="*/ 26 w 70"/>
                        <a:gd name="T29" fmla="*/ 4 h 98"/>
                        <a:gd name="T30" fmla="*/ 32 w 70"/>
                        <a:gd name="T31" fmla="*/ 0 h 98"/>
                        <a:gd name="T32" fmla="*/ 45 w 70"/>
                        <a:gd name="T33" fmla="*/ 0 h 9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</a:cxnLst>
                      <a:rect l="0" t="0" r="r" b="b"/>
                      <a:pathLst>
                        <a:path w="70" h="98">
                          <a:moveTo>
                            <a:pt x="45" y="0"/>
                          </a:moveTo>
                          <a:lnTo>
                            <a:pt x="67" y="8"/>
                          </a:lnTo>
                          <a:lnTo>
                            <a:pt x="70" y="11"/>
                          </a:lnTo>
                          <a:lnTo>
                            <a:pt x="69" y="50"/>
                          </a:lnTo>
                          <a:lnTo>
                            <a:pt x="64" y="71"/>
                          </a:lnTo>
                          <a:lnTo>
                            <a:pt x="57" y="88"/>
                          </a:lnTo>
                          <a:lnTo>
                            <a:pt x="48" y="95"/>
                          </a:lnTo>
                          <a:lnTo>
                            <a:pt x="36" y="98"/>
                          </a:lnTo>
                          <a:lnTo>
                            <a:pt x="12" y="90"/>
                          </a:lnTo>
                          <a:lnTo>
                            <a:pt x="2" y="80"/>
                          </a:lnTo>
                          <a:lnTo>
                            <a:pt x="0" y="72"/>
                          </a:lnTo>
                          <a:lnTo>
                            <a:pt x="0" y="67"/>
                          </a:lnTo>
                          <a:lnTo>
                            <a:pt x="15" y="37"/>
                          </a:lnTo>
                          <a:lnTo>
                            <a:pt x="24" y="11"/>
                          </a:lnTo>
                          <a:lnTo>
                            <a:pt x="26" y="4"/>
                          </a:lnTo>
                          <a:lnTo>
                            <a:pt x="32" y="0"/>
                          </a:lnTo>
                          <a:lnTo>
                            <a:pt x="45" y="0"/>
                          </a:lnTo>
                          <a:close/>
                        </a:path>
                      </a:pathLst>
                    </a:custGeom>
                    <a:solidFill>
                      <a:srgbClr val="FFBF1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45" name="Freeform 317"/>
                    <p:cNvSpPr/>
                    <p:nvPr/>
                  </p:nvSpPr>
                  <p:spPr bwMode="auto">
                    <a:xfrm>
                      <a:off x="5263" y="2339"/>
                      <a:ext cx="9" cy="19"/>
                    </a:xfrm>
                    <a:custGeom>
                      <a:avLst/>
                      <a:gdLst>
                        <a:gd name="T0" fmla="*/ 48 w 50"/>
                        <a:gd name="T1" fmla="*/ 5 h 94"/>
                        <a:gd name="T2" fmla="*/ 50 w 50"/>
                        <a:gd name="T3" fmla="*/ 12 h 94"/>
                        <a:gd name="T4" fmla="*/ 49 w 50"/>
                        <a:gd name="T5" fmla="*/ 35 h 94"/>
                        <a:gd name="T6" fmla="*/ 43 w 50"/>
                        <a:gd name="T7" fmla="*/ 57 h 94"/>
                        <a:gd name="T8" fmla="*/ 35 w 50"/>
                        <a:gd name="T9" fmla="*/ 74 h 94"/>
                        <a:gd name="T10" fmla="*/ 25 w 50"/>
                        <a:gd name="T11" fmla="*/ 87 h 94"/>
                        <a:gd name="T12" fmla="*/ 15 w 50"/>
                        <a:gd name="T13" fmla="*/ 94 h 94"/>
                        <a:gd name="T14" fmla="*/ 0 w 50"/>
                        <a:gd name="T15" fmla="*/ 90 h 94"/>
                        <a:gd name="T16" fmla="*/ 9 w 50"/>
                        <a:gd name="T17" fmla="*/ 77 h 94"/>
                        <a:gd name="T18" fmla="*/ 15 w 50"/>
                        <a:gd name="T19" fmla="*/ 66 h 94"/>
                        <a:gd name="T20" fmla="*/ 20 w 50"/>
                        <a:gd name="T21" fmla="*/ 52 h 94"/>
                        <a:gd name="T22" fmla="*/ 24 w 50"/>
                        <a:gd name="T23" fmla="*/ 38 h 94"/>
                        <a:gd name="T24" fmla="*/ 26 w 50"/>
                        <a:gd name="T25" fmla="*/ 29 h 94"/>
                        <a:gd name="T26" fmla="*/ 27 w 50"/>
                        <a:gd name="T27" fmla="*/ 17 h 94"/>
                        <a:gd name="T28" fmla="*/ 27 w 50"/>
                        <a:gd name="T29" fmla="*/ 0 h 94"/>
                        <a:gd name="T30" fmla="*/ 48 w 50"/>
                        <a:gd name="T31" fmla="*/ 5 h 9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</a:cxnLst>
                      <a:rect l="0" t="0" r="r" b="b"/>
                      <a:pathLst>
                        <a:path w="50" h="94">
                          <a:moveTo>
                            <a:pt x="48" y="5"/>
                          </a:moveTo>
                          <a:lnTo>
                            <a:pt x="50" y="12"/>
                          </a:lnTo>
                          <a:lnTo>
                            <a:pt x="49" y="35"/>
                          </a:lnTo>
                          <a:lnTo>
                            <a:pt x="43" y="57"/>
                          </a:lnTo>
                          <a:lnTo>
                            <a:pt x="35" y="74"/>
                          </a:lnTo>
                          <a:lnTo>
                            <a:pt x="25" y="87"/>
                          </a:lnTo>
                          <a:lnTo>
                            <a:pt x="15" y="94"/>
                          </a:lnTo>
                          <a:lnTo>
                            <a:pt x="0" y="90"/>
                          </a:lnTo>
                          <a:lnTo>
                            <a:pt x="9" y="77"/>
                          </a:lnTo>
                          <a:lnTo>
                            <a:pt x="15" y="66"/>
                          </a:lnTo>
                          <a:lnTo>
                            <a:pt x="20" y="52"/>
                          </a:lnTo>
                          <a:lnTo>
                            <a:pt x="24" y="38"/>
                          </a:lnTo>
                          <a:lnTo>
                            <a:pt x="26" y="29"/>
                          </a:lnTo>
                          <a:lnTo>
                            <a:pt x="27" y="17"/>
                          </a:lnTo>
                          <a:lnTo>
                            <a:pt x="27" y="0"/>
                          </a:lnTo>
                          <a:lnTo>
                            <a:pt x="48" y="5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  <p:sp>
              <p:nvSpPr>
                <p:cNvPr id="320" name="Freeform 318"/>
                <p:cNvSpPr/>
                <p:nvPr/>
              </p:nvSpPr>
              <p:spPr bwMode="auto">
                <a:xfrm>
                  <a:off x="5150" y="2439"/>
                  <a:ext cx="44" cy="55"/>
                </a:xfrm>
                <a:custGeom>
                  <a:avLst/>
                  <a:gdLst>
                    <a:gd name="T0" fmla="*/ 249 w 264"/>
                    <a:gd name="T1" fmla="*/ 97 h 272"/>
                    <a:gd name="T2" fmla="*/ 202 w 264"/>
                    <a:gd name="T3" fmla="*/ 21 h 272"/>
                    <a:gd name="T4" fmla="*/ 166 w 264"/>
                    <a:gd name="T5" fmla="*/ 0 h 272"/>
                    <a:gd name="T6" fmla="*/ 233 w 264"/>
                    <a:gd name="T7" fmla="*/ 113 h 272"/>
                    <a:gd name="T8" fmla="*/ 249 w 264"/>
                    <a:gd name="T9" fmla="*/ 171 h 272"/>
                    <a:gd name="T10" fmla="*/ 61 w 264"/>
                    <a:gd name="T11" fmla="*/ 196 h 272"/>
                    <a:gd name="T12" fmla="*/ 239 w 264"/>
                    <a:gd name="T13" fmla="*/ 191 h 272"/>
                    <a:gd name="T14" fmla="*/ 0 w 264"/>
                    <a:gd name="T15" fmla="*/ 272 h 272"/>
                    <a:gd name="T16" fmla="*/ 264 w 264"/>
                    <a:gd name="T17" fmla="*/ 208 h 272"/>
                    <a:gd name="T18" fmla="*/ 249 w 264"/>
                    <a:gd name="T19" fmla="*/ 97 h 2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64" h="272">
                      <a:moveTo>
                        <a:pt x="249" y="97"/>
                      </a:moveTo>
                      <a:lnTo>
                        <a:pt x="202" y="21"/>
                      </a:lnTo>
                      <a:lnTo>
                        <a:pt x="166" y="0"/>
                      </a:lnTo>
                      <a:lnTo>
                        <a:pt x="233" y="113"/>
                      </a:lnTo>
                      <a:lnTo>
                        <a:pt x="249" y="171"/>
                      </a:lnTo>
                      <a:lnTo>
                        <a:pt x="61" y="196"/>
                      </a:lnTo>
                      <a:lnTo>
                        <a:pt x="239" y="191"/>
                      </a:lnTo>
                      <a:lnTo>
                        <a:pt x="0" y="272"/>
                      </a:lnTo>
                      <a:lnTo>
                        <a:pt x="264" y="208"/>
                      </a:lnTo>
                      <a:lnTo>
                        <a:pt x="249" y="97"/>
                      </a:lnTo>
                      <a:close/>
                    </a:path>
                  </a:pathLst>
                </a:custGeom>
                <a:solidFill>
                  <a:srgbClr val="10ADD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3655"/>
                </a:p>
              </p:txBody>
            </p:sp>
            <p:grpSp>
              <p:nvGrpSpPr>
                <p:cNvPr id="321" name="Group 319"/>
                <p:cNvGrpSpPr/>
                <p:nvPr/>
              </p:nvGrpSpPr>
              <p:grpSpPr bwMode="auto">
                <a:xfrm>
                  <a:off x="5085" y="2483"/>
                  <a:ext cx="63" cy="66"/>
                  <a:chOff x="5085" y="2483"/>
                  <a:chExt cx="63" cy="66"/>
                </a:xfrm>
              </p:grpSpPr>
              <p:sp>
                <p:nvSpPr>
                  <p:cNvPr id="337" name="Freeform 320"/>
                  <p:cNvSpPr/>
                  <p:nvPr/>
                </p:nvSpPr>
                <p:spPr bwMode="auto">
                  <a:xfrm>
                    <a:off x="5142" y="2483"/>
                    <a:ext cx="6" cy="23"/>
                  </a:xfrm>
                  <a:custGeom>
                    <a:avLst/>
                    <a:gdLst>
                      <a:gd name="T0" fmla="*/ 17 w 35"/>
                      <a:gd name="T1" fmla="*/ 15 h 114"/>
                      <a:gd name="T2" fmla="*/ 35 w 35"/>
                      <a:gd name="T3" fmla="*/ 59 h 114"/>
                      <a:gd name="T4" fmla="*/ 29 w 35"/>
                      <a:gd name="T5" fmla="*/ 92 h 114"/>
                      <a:gd name="T6" fmla="*/ 17 w 35"/>
                      <a:gd name="T7" fmla="*/ 114 h 114"/>
                      <a:gd name="T8" fmla="*/ 12 w 35"/>
                      <a:gd name="T9" fmla="*/ 114 h 114"/>
                      <a:gd name="T10" fmla="*/ 12 w 35"/>
                      <a:gd name="T11" fmla="*/ 53 h 114"/>
                      <a:gd name="T12" fmla="*/ 0 w 35"/>
                      <a:gd name="T13" fmla="*/ 38 h 114"/>
                      <a:gd name="T14" fmla="*/ 6 w 35"/>
                      <a:gd name="T15" fmla="*/ 26 h 114"/>
                      <a:gd name="T16" fmla="*/ 17 w 35"/>
                      <a:gd name="T17" fmla="*/ 0 h 114"/>
                      <a:gd name="T18" fmla="*/ 17 w 35"/>
                      <a:gd name="T19" fmla="*/ 15 h 1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35" h="114">
                        <a:moveTo>
                          <a:pt x="17" y="15"/>
                        </a:moveTo>
                        <a:lnTo>
                          <a:pt x="35" y="59"/>
                        </a:lnTo>
                        <a:lnTo>
                          <a:pt x="29" y="92"/>
                        </a:lnTo>
                        <a:lnTo>
                          <a:pt x="17" y="114"/>
                        </a:lnTo>
                        <a:lnTo>
                          <a:pt x="12" y="114"/>
                        </a:lnTo>
                        <a:lnTo>
                          <a:pt x="12" y="53"/>
                        </a:lnTo>
                        <a:lnTo>
                          <a:pt x="0" y="38"/>
                        </a:lnTo>
                        <a:lnTo>
                          <a:pt x="6" y="26"/>
                        </a:lnTo>
                        <a:lnTo>
                          <a:pt x="17" y="0"/>
                        </a:lnTo>
                        <a:lnTo>
                          <a:pt x="17" y="15"/>
                        </a:lnTo>
                        <a:close/>
                      </a:path>
                    </a:pathLst>
                  </a:custGeom>
                  <a:solidFill>
                    <a:srgbClr val="10ADD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38" name="Freeform 321"/>
                  <p:cNvSpPr/>
                  <p:nvPr/>
                </p:nvSpPr>
                <p:spPr bwMode="auto">
                  <a:xfrm>
                    <a:off x="5085" y="2508"/>
                    <a:ext cx="25" cy="41"/>
                  </a:xfrm>
                  <a:custGeom>
                    <a:avLst/>
                    <a:gdLst>
                      <a:gd name="T0" fmla="*/ 36 w 147"/>
                      <a:gd name="T1" fmla="*/ 0 h 204"/>
                      <a:gd name="T2" fmla="*/ 89 w 147"/>
                      <a:gd name="T3" fmla="*/ 32 h 204"/>
                      <a:gd name="T4" fmla="*/ 121 w 147"/>
                      <a:gd name="T5" fmla="*/ 76 h 204"/>
                      <a:gd name="T6" fmla="*/ 137 w 147"/>
                      <a:gd name="T7" fmla="*/ 108 h 204"/>
                      <a:gd name="T8" fmla="*/ 141 w 147"/>
                      <a:gd name="T9" fmla="*/ 134 h 204"/>
                      <a:gd name="T10" fmla="*/ 147 w 147"/>
                      <a:gd name="T11" fmla="*/ 163 h 204"/>
                      <a:gd name="T12" fmla="*/ 147 w 147"/>
                      <a:gd name="T13" fmla="*/ 188 h 204"/>
                      <a:gd name="T14" fmla="*/ 94 w 147"/>
                      <a:gd name="T15" fmla="*/ 204 h 204"/>
                      <a:gd name="T16" fmla="*/ 84 w 147"/>
                      <a:gd name="T17" fmla="*/ 157 h 204"/>
                      <a:gd name="T18" fmla="*/ 79 w 147"/>
                      <a:gd name="T19" fmla="*/ 129 h 204"/>
                      <a:gd name="T20" fmla="*/ 53 w 147"/>
                      <a:gd name="T21" fmla="*/ 92 h 204"/>
                      <a:gd name="T22" fmla="*/ 36 w 147"/>
                      <a:gd name="T23" fmla="*/ 71 h 204"/>
                      <a:gd name="T24" fmla="*/ 21 w 147"/>
                      <a:gd name="T25" fmla="*/ 50 h 204"/>
                      <a:gd name="T26" fmla="*/ 0 w 147"/>
                      <a:gd name="T27" fmla="*/ 32 h 204"/>
                      <a:gd name="T28" fmla="*/ 36 w 147"/>
                      <a:gd name="T29" fmla="*/ 0 h 20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147" h="204">
                        <a:moveTo>
                          <a:pt x="36" y="0"/>
                        </a:moveTo>
                        <a:lnTo>
                          <a:pt x="89" y="32"/>
                        </a:lnTo>
                        <a:lnTo>
                          <a:pt x="121" y="76"/>
                        </a:lnTo>
                        <a:lnTo>
                          <a:pt x="137" y="108"/>
                        </a:lnTo>
                        <a:lnTo>
                          <a:pt x="141" y="134"/>
                        </a:lnTo>
                        <a:lnTo>
                          <a:pt x="147" y="163"/>
                        </a:lnTo>
                        <a:lnTo>
                          <a:pt x="147" y="188"/>
                        </a:lnTo>
                        <a:lnTo>
                          <a:pt x="94" y="204"/>
                        </a:lnTo>
                        <a:lnTo>
                          <a:pt x="84" y="157"/>
                        </a:lnTo>
                        <a:lnTo>
                          <a:pt x="79" y="129"/>
                        </a:lnTo>
                        <a:lnTo>
                          <a:pt x="53" y="92"/>
                        </a:lnTo>
                        <a:lnTo>
                          <a:pt x="36" y="71"/>
                        </a:lnTo>
                        <a:lnTo>
                          <a:pt x="21" y="50"/>
                        </a:lnTo>
                        <a:lnTo>
                          <a:pt x="0" y="32"/>
                        </a:lnTo>
                        <a:lnTo>
                          <a:pt x="36" y="0"/>
                        </a:lnTo>
                        <a:close/>
                      </a:path>
                    </a:pathLst>
                  </a:custGeom>
                  <a:solidFill>
                    <a:srgbClr val="007F9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  <p:grpSp>
              <p:nvGrpSpPr>
                <p:cNvPr id="322" name="Group 322"/>
                <p:cNvGrpSpPr/>
                <p:nvPr/>
              </p:nvGrpSpPr>
              <p:grpSpPr bwMode="auto">
                <a:xfrm>
                  <a:off x="5085" y="2397"/>
                  <a:ext cx="259" cy="316"/>
                  <a:chOff x="5085" y="2397"/>
                  <a:chExt cx="259" cy="316"/>
                </a:xfrm>
              </p:grpSpPr>
              <p:sp>
                <p:nvSpPr>
                  <p:cNvPr id="323" name="Freeform 323"/>
                  <p:cNvSpPr/>
                  <p:nvPr/>
                </p:nvSpPr>
                <p:spPr bwMode="auto">
                  <a:xfrm>
                    <a:off x="5256" y="2397"/>
                    <a:ext cx="88" cy="316"/>
                  </a:xfrm>
                  <a:custGeom>
                    <a:avLst/>
                    <a:gdLst>
                      <a:gd name="T0" fmla="*/ 78 w 527"/>
                      <a:gd name="T1" fmla="*/ 0 h 1580"/>
                      <a:gd name="T2" fmla="*/ 103 w 527"/>
                      <a:gd name="T3" fmla="*/ 16 h 1580"/>
                      <a:gd name="T4" fmla="*/ 132 w 527"/>
                      <a:gd name="T5" fmla="*/ 37 h 1580"/>
                      <a:gd name="T6" fmla="*/ 164 w 527"/>
                      <a:gd name="T7" fmla="*/ 58 h 1580"/>
                      <a:gd name="T8" fmla="*/ 211 w 527"/>
                      <a:gd name="T9" fmla="*/ 84 h 1580"/>
                      <a:gd name="T10" fmla="*/ 315 w 527"/>
                      <a:gd name="T11" fmla="*/ 151 h 1580"/>
                      <a:gd name="T12" fmla="*/ 360 w 527"/>
                      <a:gd name="T13" fmla="*/ 170 h 1580"/>
                      <a:gd name="T14" fmla="*/ 383 w 527"/>
                      <a:gd name="T15" fmla="*/ 180 h 1580"/>
                      <a:gd name="T16" fmla="*/ 406 w 527"/>
                      <a:gd name="T17" fmla="*/ 201 h 1580"/>
                      <a:gd name="T18" fmla="*/ 463 w 527"/>
                      <a:gd name="T19" fmla="*/ 463 h 1580"/>
                      <a:gd name="T20" fmla="*/ 471 w 527"/>
                      <a:gd name="T21" fmla="*/ 567 h 1580"/>
                      <a:gd name="T22" fmla="*/ 461 w 527"/>
                      <a:gd name="T23" fmla="*/ 596 h 1580"/>
                      <a:gd name="T24" fmla="*/ 486 w 527"/>
                      <a:gd name="T25" fmla="*/ 708 h 1580"/>
                      <a:gd name="T26" fmla="*/ 492 w 527"/>
                      <a:gd name="T27" fmla="*/ 892 h 1580"/>
                      <a:gd name="T28" fmla="*/ 504 w 527"/>
                      <a:gd name="T29" fmla="*/ 976 h 1580"/>
                      <a:gd name="T30" fmla="*/ 511 w 527"/>
                      <a:gd name="T31" fmla="*/ 1033 h 1580"/>
                      <a:gd name="T32" fmla="*/ 522 w 527"/>
                      <a:gd name="T33" fmla="*/ 1026 h 1580"/>
                      <a:gd name="T34" fmla="*/ 527 w 527"/>
                      <a:gd name="T35" fmla="*/ 1080 h 1580"/>
                      <a:gd name="T36" fmla="*/ 502 w 527"/>
                      <a:gd name="T37" fmla="*/ 1099 h 1580"/>
                      <a:gd name="T38" fmla="*/ 467 w 527"/>
                      <a:gd name="T39" fmla="*/ 1115 h 1580"/>
                      <a:gd name="T40" fmla="*/ 436 w 527"/>
                      <a:gd name="T41" fmla="*/ 1127 h 1580"/>
                      <a:gd name="T42" fmla="*/ 403 w 527"/>
                      <a:gd name="T43" fmla="*/ 1140 h 1580"/>
                      <a:gd name="T44" fmla="*/ 376 w 527"/>
                      <a:gd name="T45" fmla="*/ 1148 h 1580"/>
                      <a:gd name="T46" fmla="*/ 346 w 527"/>
                      <a:gd name="T47" fmla="*/ 1148 h 1580"/>
                      <a:gd name="T48" fmla="*/ 325 w 527"/>
                      <a:gd name="T49" fmla="*/ 1143 h 1580"/>
                      <a:gd name="T50" fmla="*/ 312 w 527"/>
                      <a:gd name="T51" fmla="*/ 1130 h 1580"/>
                      <a:gd name="T52" fmla="*/ 308 w 527"/>
                      <a:gd name="T53" fmla="*/ 1085 h 1580"/>
                      <a:gd name="T54" fmla="*/ 343 w 527"/>
                      <a:gd name="T55" fmla="*/ 1091 h 1580"/>
                      <a:gd name="T56" fmla="*/ 331 w 527"/>
                      <a:gd name="T57" fmla="*/ 1058 h 1580"/>
                      <a:gd name="T58" fmla="*/ 333 w 527"/>
                      <a:gd name="T59" fmla="*/ 995 h 1580"/>
                      <a:gd name="T60" fmla="*/ 325 w 527"/>
                      <a:gd name="T61" fmla="*/ 958 h 1580"/>
                      <a:gd name="T62" fmla="*/ 318 w 527"/>
                      <a:gd name="T63" fmla="*/ 915 h 1580"/>
                      <a:gd name="T64" fmla="*/ 307 w 527"/>
                      <a:gd name="T65" fmla="*/ 854 h 1580"/>
                      <a:gd name="T66" fmla="*/ 287 w 527"/>
                      <a:gd name="T67" fmla="*/ 788 h 1580"/>
                      <a:gd name="T68" fmla="*/ 270 w 527"/>
                      <a:gd name="T69" fmla="*/ 625 h 1580"/>
                      <a:gd name="T70" fmla="*/ 240 w 527"/>
                      <a:gd name="T71" fmla="*/ 860 h 1580"/>
                      <a:gd name="T72" fmla="*/ 252 w 527"/>
                      <a:gd name="T73" fmla="*/ 1004 h 1580"/>
                      <a:gd name="T74" fmla="*/ 294 w 527"/>
                      <a:gd name="T75" fmla="*/ 1154 h 1580"/>
                      <a:gd name="T76" fmla="*/ 386 w 527"/>
                      <a:gd name="T77" fmla="*/ 1436 h 1580"/>
                      <a:gd name="T78" fmla="*/ 313 w 527"/>
                      <a:gd name="T79" fmla="*/ 1491 h 1580"/>
                      <a:gd name="T80" fmla="*/ 264 w 527"/>
                      <a:gd name="T81" fmla="*/ 1520 h 1580"/>
                      <a:gd name="T82" fmla="*/ 227 w 527"/>
                      <a:gd name="T83" fmla="*/ 1539 h 1580"/>
                      <a:gd name="T84" fmla="*/ 203 w 527"/>
                      <a:gd name="T85" fmla="*/ 1545 h 1580"/>
                      <a:gd name="T86" fmla="*/ 173 w 527"/>
                      <a:gd name="T87" fmla="*/ 1555 h 1580"/>
                      <a:gd name="T88" fmla="*/ 142 w 527"/>
                      <a:gd name="T89" fmla="*/ 1566 h 1580"/>
                      <a:gd name="T90" fmla="*/ 103 w 527"/>
                      <a:gd name="T91" fmla="*/ 1580 h 1580"/>
                      <a:gd name="T92" fmla="*/ 56 w 527"/>
                      <a:gd name="T93" fmla="*/ 1283 h 1580"/>
                      <a:gd name="T94" fmla="*/ 26 w 527"/>
                      <a:gd name="T95" fmla="*/ 1080 h 1580"/>
                      <a:gd name="T96" fmla="*/ 9 w 527"/>
                      <a:gd name="T97" fmla="*/ 887 h 1580"/>
                      <a:gd name="T98" fmla="*/ 0 w 527"/>
                      <a:gd name="T99" fmla="*/ 625 h 1580"/>
                      <a:gd name="T100" fmla="*/ 1 w 527"/>
                      <a:gd name="T101" fmla="*/ 519 h 1580"/>
                      <a:gd name="T102" fmla="*/ 8 w 527"/>
                      <a:gd name="T103" fmla="*/ 414 h 1580"/>
                      <a:gd name="T104" fmla="*/ 29 w 527"/>
                      <a:gd name="T105" fmla="*/ 262 h 1580"/>
                      <a:gd name="T106" fmla="*/ 40 w 527"/>
                      <a:gd name="T107" fmla="*/ 226 h 1580"/>
                      <a:gd name="T108" fmla="*/ 56 w 527"/>
                      <a:gd name="T109" fmla="*/ 183 h 1580"/>
                      <a:gd name="T110" fmla="*/ 67 w 527"/>
                      <a:gd name="T111" fmla="*/ 138 h 1580"/>
                      <a:gd name="T112" fmla="*/ 73 w 527"/>
                      <a:gd name="T113" fmla="*/ 106 h 1580"/>
                      <a:gd name="T114" fmla="*/ 80 w 527"/>
                      <a:gd name="T115" fmla="*/ 62 h 1580"/>
                      <a:gd name="T116" fmla="*/ 78 w 527"/>
                      <a:gd name="T117" fmla="*/ 0 h 158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</a:cxnLst>
                    <a:rect l="0" t="0" r="r" b="b"/>
                    <a:pathLst>
                      <a:path w="527" h="1580">
                        <a:moveTo>
                          <a:pt x="78" y="0"/>
                        </a:moveTo>
                        <a:lnTo>
                          <a:pt x="103" y="16"/>
                        </a:lnTo>
                        <a:lnTo>
                          <a:pt x="132" y="37"/>
                        </a:lnTo>
                        <a:lnTo>
                          <a:pt x="164" y="58"/>
                        </a:lnTo>
                        <a:lnTo>
                          <a:pt x="211" y="84"/>
                        </a:lnTo>
                        <a:lnTo>
                          <a:pt x="315" y="151"/>
                        </a:lnTo>
                        <a:lnTo>
                          <a:pt x="360" y="170"/>
                        </a:lnTo>
                        <a:lnTo>
                          <a:pt x="383" y="180"/>
                        </a:lnTo>
                        <a:lnTo>
                          <a:pt x="406" y="201"/>
                        </a:lnTo>
                        <a:lnTo>
                          <a:pt x="463" y="463"/>
                        </a:lnTo>
                        <a:lnTo>
                          <a:pt x="471" y="567"/>
                        </a:lnTo>
                        <a:lnTo>
                          <a:pt x="461" y="596"/>
                        </a:lnTo>
                        <a:lnTo>
                          <a:pt x="486" y="708"/>
                        </a:lnTo>
                        <a:lnTo>
                          <a:pt x="492" y="892"/>
                        </a:lnTo>
                        <a:lnTo>
                          <a:pt x="504" y="976"/>
                        </a:lnTo>
                        <a:lnTo>
                          <a:pt x="511" y="1033"/>
                        </a:lnTo>
                        <a:lnTo>
                          <a:pt x="522" y="1026"/>
                        </a:lnTo>
                        <a:lnTo>
                          <a:pt x="527" y="1080"/>
                        </a:lnTo>
                        <a:lnTo>
                          <a:pt x="502" y="1099"/>
                        </a:lnTo>
                        <a:lnTo>
                          <a:pt x="467" y="1115"/>
                        </a:lnTo>
                        <a:lnTo>
                          <a:pt x="436" y="1127"/>
                        </a:lnTo>
                        <a:lnTo>
                          <a:pt x="403" y="1140"/>
                        </a:lnTo>
                        <a:lnTo>
                          <a:pt x="376" y="1148"/>
                        </a:lnTo>
                        <a:lnTo>
                          <a:pt x="346" y="1148"/>
                        </a:lnTo>
                        <a:lnTo>
                          <a:pt x="325" y="1143"/>
                        </a:lnTo>
                        <a:lnTo>
                          <a:pt x="312" y="1130"/>
                        </a:lnTo>
                        <a:lnTo>
                          <a:pt x="308" y="1085"/>
                        </a:lnTo>
                        <a:lnTo>
                          <a:pt x="343" y="1091"/>
                        </a:lnTo>
                        <a:lnTo>
                          <a:pt x="331" y="1058"/>
                        </a:lnTo>
                        <a:lnTo>
                          <a:pt x="333" y="995"/>
                        </a:lnTo>
                        <a:lnTo>
                          <a:pt x="325" y="958"/>
                        </a:lnTo>
                        <a:lnTo>
                          <a:pt x="318" y="915"/>
                        </a:lnTo>
                        <a:lnTo>
                          <a:pt x="307" y="854"/>
                        </a:lnTo>
                        <a:lnTo>
                          <a:pt x="287" y="788"/>
                        </a:lnTo>
                        <a:lnTo>
                          <a:pt x="270" y="625"/>
                        </a:lnTo>
                        <a:lnTo>
                          <a:pt x="240" y="860"/>
                        </a:lnTo>
                        <a:lnTo>
                          <a:pt x="252" y="1004"/>
                        </a:lnTo>
                        <a:lnTo>
                          <a:pt x="294" y="1154"/>
                        </a:lnTo>
                        <a:lnTo>
                          <a:pt x="386" y="1436"/>
                        </a:lnTo>
                        <a:lnTo>
                          <a:pt x="313" y="1491"/>
                        </a:lnTo>
                        <a:lnTo>
                          <a:pt x="264" y="1520"/>
                        </a:lnTo>
                        <a:lnTo>
                          <a:pt x="227" y="1539"/>
                        </a:lnTo>
                        <a:lnTo>
                          <a:pt x="203" y="1545"/>
                        </a:lnTo>
                        <a:lnTo>
                          <a:pt x="173" y="1555"/>
                        </a:lnTo>
                        <a:lnTo>
                          <a:pt x="142" y="1566"/>
                        </a:lnTo>
                        <a:lnTo>
                          <a:pt x="103" y="1580"/>
                        </a:lnTo>
                        <a:lnTo>
                          <a:pt x="56" y="1283"/>
                        </a:lnTo>
                        <a:lnTo>
                          <a:pt x="26" y="1080"/>
                        </a:lnTo>
                        <a:lnTo>
                          <a:pt x="9" y="887"/>
                        </a:lnTo>
                        <a:lnTo>
                          <a:pt x="0" y="625"/>
                        </a:lnTo>
                        <a:lnTo>
                          <a:pt x="1" y="519"/>
                        </a:lnTo>
                        <a:lnTo>
                          <a:pt x="8" y="414"/>
                        </a:lnTo>
                        <a:lnTo>
                          <a:pt x="29" y="262"/>
                        </a:lnTo>
                        <a:lnTo>
                          <a:pt x="40" y="226"/>
                        </a:lnTo>
                        <a:lnTo>
                          <a:pt x="56" y="183"/>
                        </a:lnTo>
                        <a:lnTo>
                          <a:pt x="67" y="138"/>
                        </a:lnTo>
                        <a:lnTo>
                          <a:pt x="73" y="106"/>
                        </a:lnTo>
                        <a:lnTo>
                          <a:pt x="80" y="62"/>
                        </a:lnTo>
                        <a:lnTo>
                          <a:pt x="78" y="0"/>
                        </a:lnTo>
                        <a:close/>
                      </a:path>
                    </a:pathLst>
                  </a:custGeom>
                  <a:solidFill>
                    <a:srgbClr val="00D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24" name="Freeform 324"/>
                  <p:cNvSpPr/>
                  <p:nvPr/>
                </p:nvSpPr>
                <p:spPr bwMode="auto">
                  <a:xfrm>
                    <a:off x="5085" y="2397"/>
                    <a:ext cx="149" cy="293"/>
                  </a:xfrm>
                  <a:custGeom>
                    <a:avLst/>
                    <a:gdLst>
                      <a:gd name="T0" fmla="*/ 875 w 896"/>
                      <a:gd name="T1" fmla="*/ 17 h 1465"/>
                      <a:gd name="T2" fmla="*/ 795 w 896"/>
                      <a:gd name="T3" fmla="*/ 19 h 1465"/>
                      <a:gd name="T4" fmla="*/ 716 w 896"/>
                      <a:gd name="T5" fmla="*/ 31 h 1465"/>
                      <a:gd name="T6" fmla="*/ 689 w 896"/>
                      <a:gd name="T7" fmla="*/ 29 h 1465"/>
                      <a:gd name="T8" fmla="*/ 661 w 896"/>
                      <a:gd name="T9" fmla="*/ 44 h 1465"/>
                      <a:gd name="T10" fmla="*/ 645 w 896"/>
                      <a:gd name="T11" fmla="*/ 62 h 1465"/>
                      <a:gd name="T12" fmla="*/ 623 w 896"/>
                      <a:gd name="T13" fmla="*/ 99 h 1465"/>
                      <a:gd name="T14" fmla="*/ 547 w 896"/>
                      <a:gd name="T15" fmla="*/ 188 h 1465"/>
                      <a:gd name="T16" fmla="*/ 513 w 896"/>
                      <a:gd name="T17" fmla="*/ 223 h 1465"/>
                      <a:gd name="T18" fmla="*/ 360 w 896"/>
                      <a:gd name="T19" fmla="*/ 414 h 1465"/>
                      <a:gd name="T20" fmla="*/ 349 w 896"/>
                      <a:gd name="T21" fmla="*/ 432 h 1465"/>
                      <a:gd name="T22" fmla="*/ 219 w 896"/>
                      <a:gd name="T23" fmla="*/ 481 h 1465"/>
                      <a:gd name="T24" fmla="*/ 56 w 896"/>
                      <a:gd name="T25" fmla="*/ 566 h 1465"/>
                      <a:gd name="T26" fmla="*/ 0 w 896"/>
                      <a:gd name="T27" fmla="*/ 589 h 1465"/>
                      <a:gd name="T28" fmla="*/ 48 w 896"/>
                      <a:gd name="T29" fmla="*/ 635 h 1465"/>
                      <a:gd name="T30" fmla="*/ 81 w 896"/>
                      <a:gd name="T31" fmla="*/ 688 h 1465"/>
                      <a:gd name="T32" fmla="*/ 98 w 896"/>
                      <a:gd name="T33" fmla="*/ 758 h 1465"/>
                      <a:gd name="T34" fmla="*/ 146 w 896"/>
                      <a:gd name="T35" fmla="*/ 715 h 1465"/>
                      <a:gd name="T36" fmla="*/ 373 w 896"/>
                      <a:gd name="T37" fmla="*/ 625 h 1465"/>
                      <a:gd name="T38" fmla="*/ 635 w 896"/>
                      <a:gd name="T39" fmla="*/ 426 h 1465"/>
                      <a:gd name="T40" fmla="*/ 667 w 896"/>
                      <a:gd name="T41" fmla="*/ 589 h 1465"/>
                      <a:gd name="T42" fmla="*/ 728 w 896"/>
                      <a:gd name="T43" fmla="*/ 772 h 1465"/>
                      <a:gd name="T44" fmla="*/ 679 w 896"/>
                      <a:gd name="T45" fmla="*/ 927 h 1465"/>
                      <a:gd name="T46" fmla="*/ 600 w 896"/>
                      <a:gd name="T47" fmla="*/ 1096 h 1465"/>
                      <a:gd name="T48" fmla="*/ 528 w 896"/>
                      <a:gd name="T49" fmla="*/ 1271 h 1465"/>
                      <a:gd name="T50" fmla="*/ 531 w 896"/>
                      <a:gd name="T51" fmla="*/ 1325 h 1465"/>
                      <a:gd name="T52" fmla="*/ 639 w 896"/>
                      <a:gd name="T53" fmla="*/ 1465 h 1465"/>
                      <a:gd name="T54" fmla="*/ 715 w 896"/>
                      <a:gd name="T55" fmla="*/ 1293 h 1465"/>
                      <a:gd name="T56" fmla="*/ 737 w 896"/>
                      <a:gd name="T57" fmla="*/ 1183 h 1465"/>
                      <a:gd name="T58" fmla="*/ 760 w 896"/>
                      <a:gd name="T59" fmla="*/ 968 h 1465"/>
                      <a:gd name="T60" fmla="*/ 780 w 896"/>
                      <a:gd name="T61" fmla="*/ 486 h 1465"/>
                      <a:gd name="T62" fmla="*/ 844 w 896"/>
                      <a:gd name="T63" fmla="*/ 142 h 1465"/>
                      <a:gd name="T64" fmla="*/ 860 w 896"/>
                      <a:gd name="T65" fmla="*/ 92 h 1465"/>
                      <a:gd name="T66" fmla="*/ 883 w 896"/>
                      <a:gd name="T67" fmla="*/ 37 h 1465"/>
                      <a:gd name="T68" fmla="*/ 896 w 896"/>
                      <a:gd name="T69" fmla="*/ 0 h 146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</a:cxnLst>
                    <a:rect l="0" t="0" r="r" b="b"/>
                    <a:pathLst>
                      <a:path w="896" h="1465">
                        <a:moveTo>
                          <a:pt x="896" y="0"/>
                        </a:moveTo>
                        <a:lnTo>
                          <a:pt x="875" y="17"/>
                        </a:lnTo>
                        <a:lnTo>
                          <a:pt x="829" y="17"/>
                        </a:lnTo>
                        <a:lnTo>
                          <a:pt x="795" y="19"/>
                        </a:lnTo>
                        <a:lnTo>
                          <a:pt x="760" y="23"/>
                        </a:lnTo>
                        <a:lnTo>
                          <a:pt x="716" y="31"/>
                        </a:lnTo>
                        <a:lnTo>
                          <a:pt x="703" y="28"/>
                        </a:lnTo>
                        <a:lnTo>
                          <a:pt x="689" y="29"/>
                        </a:lnTo>
                        <a:lnTo>
                          <a:pt x="676" y="34"/>
                        </a:lnTo>
                        <a:lnTo>
                          <a:pt x="661" y="44"/>
                        </a:lnTo>
                        <a:lnTo>
                          <a:pt x="655" y="54"/>
                        </a:lnTo>
                        <a:lnTo>
                          <a:pt x="645" y="62"/>
                        </a:lnTo>
                        <a:lnTo>
                          <a:pt x="632" y="76"/>
                        </a:lnTo>
                        <a:lnTo>
                          <a:pt x="623" y="99"/>
                        </a:lnTo>
                        <a:lnTo>
                          <a:pt x="612" y="115"/>
                        </a:lnTo>
                        <a:lnTo>
                          <a:pt x="547" y="188"/>
                        </a:lnTo>
                        <a:lnTo>
                          <a:pt x="532" y="191"/>
                        </a:lnTo>
                        <a:lnTo>
                          <a:pt x="513" y="223"/>
                        </a:lnTo>
                        <a:lnTo>
                          <a:pt x="357" y="405"/>
                        </a:lnTo>
                        <a:lnTo>
                          <a:pt x="360" y="414"/>
                        </a:lnTo>
                        <a:lnTo>
                          <a:pt x="343" y="421"/>
                        </a:lnTo>
                        <a:lnTo>
                          <a:pt x="349" y="432"/>
                        </a:lnTo>
                        <a:lnTo>
                          <a:pt x="292" y="455"/>
                        </a:lnTo>
                        <a:lnTo>
                          <a:pt x="219" y="481"/>
                        </a:lnTo>
                        <a:lnTo>
                          <a:pt x="179" y="505"/>
                        </a:lnTo>
                        <a:lnTo>
                          <a:pt x="56" y="566"/>
                        </a:lnTo>
                        <a:lnTo>
                          <a:pt x="37" y="561"/>
                        </a:lnTo>
                        <a:lnTo>
                          <a:pt x="0" y="589"/>
                        </a:lnTo>
                        <a:lnTo>
                          <a:pt x="23" y="607"/>
                        </a:lnTo>
                        <a:lnTo>
                          <a:pt x="48" y="635"/>
                        </a:lnTo>
                        <a:lnTo>
                          <a:pt x="66" y="661"/>
                        </a:lnTo>
                        <a:lnTo>
                          <a:pt x="81" y="688"/>
                        </a:lnTo>
                        <a:lnTo>
                          <a:pt x="93" y="733"/>
                        </a:lnTo>
                        <a:lnTo>
                          <a:pt x="98" y="758"/>
                        </a:lnTo>
                        <a:lnTo>
                          <a:pt x="146" y="745"/>
                        </a:lnTo>
                        <a:lnTo>
                          <a:pt x="146" y="715"/>
                        </a:lnTo>
                        <a:lnTo>
                          <a:pt x="299" y="664"/>
                        </a:lnTo>
                        <a:lnTo>
                          <a:pt x="373" y="625"/>
                        </a:lnTo>
                        <a:lnTo>
                          <a:pt x="468" y="575"/>
                        </a:lnTo>
                        <a:lnTo>
                          <a:pt x="635" y="426"/>
                        </a:lnTo>
                        <a:lnTo>
                          <a:pt x="657" y="531"/>
                        </a:lnTo>
                        <a:lnTo>
                          <a:pt x="667" y="589"/>
                        </a:lnTo>
                        <a:lnTo>
                          <a:pt x="683" y="647"/>
                        </a:lnTo>
                        <a:lnTo>
                          <a:pt x="728" y="772"/>
                        </a:lnTo>
                        <a:lnTo>
                          <a:pt x="706" y="848"/>
                        </a:lnTo>
                        <a:lnTo>
                          <a:pt x="679" y="927"/>
                        </a:lnTo>
                        <a:lnTo>
                          <a:pt x="638" y="1020"/>
                        </a:lnTo>
                        <a:lnTo>
                          <a:pt x="600" y="1096"/>
                        </a:lnTo>
                        <a:lnTo>
                          <a:pt x="532" y="1240"/>
                        </a:lnTo>
                        <a:lnTo>
                          <a:pt x="528" y="1271"/>
                        </a:lnTo>
                        <a:lnTo>
                          <a:pt x="529" y="1298"/>
                        </a:lnTo>
                        <a:lnTo>
                          <a:pt x="531" y="1325"/>
                        </a:lnTo>
                        <a:lnTo>
                          <a:pt x="601" y="1428"/>
                        </a:lnTo>
                        <a:lnTo>
                          <a:pt x="639" y="1465"/>
                        </a:lnTo>
                        <a:lnTo>
                          <a:pt x="700" y="1363"/>
                        </a:lnTo>
                        <a:lnTo>
                          <a:pt x="715" y="1293"/>
                        </a:lnTo>
                        <a:lnTo>
                          <a:pt x="730" y="1233"/>
                        </a:lnTo>
                        <a:lnTo>
                          <a:pt x="737" y="1183"/>
                        </a:lnTo>
                        <a:lnTo>
                          <a:pt x="750" y="1095"/>
                        </a:lnTo>
                        <a:lnTo>
                          <a:pt x="760" y="968"/>
                        </a:lnTo>
                        <a:lnTo>
                          <a:pt x="773" y="751"/>
                        </a:lnTo>
                        <a:lnTo>
                          <a:pt x="780" y="486"/>
                        </a:lnTo>
                        <a:lnTo>
                          <a:pt x="834" y="174"/>
                        </a:lnTo>
                        <a:lnTo>
                          <a:pt x="844" y="142"/>
                        </a:lnTo>
                        <a:lnTo>
                          <a:pt x="851" y="123"/>
                        </a:lnTo>
                        <a:lnTo>
                          <a:pt x="860" y="92"/>
                        </a:lnTo>
                        <a:lnTo>
                          <a:pt x="870" y="65"/>
                        </a:lnTo>
                        <a:lnTo>
                          <a:pt x="883" y="37"/>
                        </a:lnTo>
                        <a:lnTo>
                          <a:pt x="894" y="13"/>
                        </a:lnTo>
                        <a:lnTo>
                          <a:pt x="896" y="0"/>
                        </a:lnTo>
                        <a:close/>
                      </a:path>
                    </a:pathLst>
                  </a:custGeom>
                  <a:solidFill>
                    <a:srgbClr val="00D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grpSp>
                <p:nvGrpSpPr>
                  <p:cNvPr id="325" name="Group 325"/>
                  <p:cNvGrpSpPr/>
                  <p:nvPr/>
                </p:nvGrpSpPr>
                <p:grpSpPr bwMode="auto">
                  <a:xfrm>
                    <a:off x="5256" y="2397"/>
                    <a:ext cx="31" cy="259"/>
                    <a:chOff x="5256" y="2397"/>
                    <a:chExt cx="31" cy="259"/>
                  </a:xfrm>
                </p:grpSpPr>
                <p:sp>
                  <p:nvSpPr>
                    <p:cNvPr id="335" name="Freeform 326"/>
                    <p:cNvSpPr/>
                    <p:nvPr/>
                  </p:nvSpPr>
                  <p:spPr bwMode="auto">
                    <a:xfrm>
                      <a:off x="5257" y="2400"/>
                      <a:ext cx="30" cy="256"/>
                    </a:xfrm>
                    <a:custGeom>
                      <a:avLst/>
                      <a:gdLst>
                        <a:gd name="T0" fmla="*/ 79 w 179"/>
                        <a:gd name="T1" fmla="*/ 0 h 1283"/>
                        <a:gd name="T2" fmla="*/ 104 w 179"/>
                        <a:gd name="T3" fmla="*/ 16 h 1283"/>
                        <a:gd name="T4" fmla="*/ 133 w 179"/>
                        <a:gd name="T5" fmla="*/ 37 h 1283"/>
                        <a:gd name="T6" fmla="*/ 142 w 179"/>
                        <a:gd name="T7" fmla="*/ 48 h 1283"/>
                        <a:gd name="T8" fmla="*/ 155 w 179"/>
                        <a:gd name="T9" fmla="*/ 81 h 1283"/>
                        <a:gd name="T10" fmla="*/ 159 w 179"/>
                        <a:gd name="T11" fmla="*/ 112 h 1283"/>
                        <a:gd name="T12" fmla="*/ 163 w 179"/>
                        <a:gd name="T13" fmla="*/ 143 h 1283"/>
                        <a:gd name="T14" fmla="*/ 165 w 179"/>
                        <a:gd name="T15" fmla="*/ 174 h 1283"/>
                        <a:gd name="T16" fmla="*/ 170 w 179"/>
                        <a:gd name="T17" fmla="*/ 204 h 1283"/>
                        <a:gd name="T18" fmla="*/ 173 w 179"/>
                        <a:gd name="T19" fmla="*/ 230 h 1283"/>
                        <a:gd name="T20" fmla="*/ 176 w 179"/>
                        <a:gd name="T21" fmla="*/ 256 h 1283"/>
                        <a:gd name="T22" fmla="*/ 179 w 179"/>
                        <a:gd name="T23" fmla="*/ 273 h 1283"/>
                        <a:gd name="T24" fmla="*/ 178 w 179"/>
                        <a:gd name="T25" fmla="*/ 287 h 1283"/>
                        <a:gd name="T26" fmla="*/ 177 w 179"/>
                        <a:gd name="T27" fmla="*/ 298 h 1283"/>
                        <a:gd name="T28" fmla="*/ 173 w 179"/>
                        <a:gd name="T29" fmla="*/ 308 h 1283"/>
                        <a:gd name="T30" fmla="*/ 165 w 179"/>
                        <a:gd name="T31" fmla="*/ 316 h 1283"/>
                        <a:gd name="T32" fmla="*/ 143 w 179"/>
                        <a:gd name="T33" fmla="*/ 327 h 1283"/>
                        <a:gd name="T34" fmla="*/ 60 w 179"/>
                        <a:gd name="T35" fmla="*/ 368 h 1283"/>
                        <a:gd name="T36" fmla="*/ 130 w 179"/>
                        <a:gd name="T37" fmla="*/ 452 h 1283"/>
                        <a:gd name="T38" fmla="*/ 160 w 179"/>
                        <a:gd name="T39" fmla="*/ 486 h 1283"/>
                        <a:gd name="T40" fmla="*/ 171 w 179"/>
                        <a:gd name="T41" fmla="*/ 508 h 1283"/>
                        <a:gd name="T42" fmla="*/ 158 w 179"/>
                        <a:gd name="T43" fmla="*/ 540 h 1283"/>
                        <a:gd name="T44" fmla="*/ 122 w 179"/>
                        <a:gd name="T45" fmla="*/ 619 h 1283"/>
                        <a:gd name="T46" fmla="*/ 88 w 179"/>
                        <a:gd name="T47" fmla="*/ 677 h 1283"/>
                        <a:gd name="T48" fmla="*/ 61 w 179"/>
                        <a:gd name="T49" fmla="*/ 742 h 1283"/>
                        <a:gd name="T50" fmla="*/ 47 w 179"/>
                        <a:gd name="T51" fmla="*/ 790 h 1283"/>
                        <a:gd name="T52" fmla="*/ 27 w 179"/>
                        <a:gd name="T53" fmla="*/ 838 h 1283"/>
                        <a:gd name="T54" fmla="*/ 20 w 179"/>
                        <a:gd name="T55" fmla="*/ 875 h 1283"/>
                        <a:gd name="T56" fmla="*/ 20 w 179"/>
                        <a:gd name="T57" fmla="*/ 923 h 1283"/>
                        <a:gd name="T58" fmla="*/ 57 w 179"/>
                        <a:gd name="T59" fmla="*/ 1283 h 1283"/>
                        <a:gd name="T60" fmla="*/ 26 w 179"/>
                        <a:gd name="T61" fmla="*/ 1081 h 1283"/>
                        <a:gd name="T62" fmla="*/ 10 w 179"/>
                        <a:gd name="T63" fmla="*/ 887 h 1283"/>
                        <a:gd name="T64" fmla="*/ 0 w 179"/>
                        <a:gd name="T65" fmla="*/ 625 h 1283"/>
                        <a:gd name="T66" fmla="*/ 1 w 179"/>
                        <a:gd name="T67" fmla="*/ 519 h 1283"/>
                        <a:gd name="T68" fmla="*/ 8 w 179"/>
                        <a:gd name="T69" fmla="*/ 414 h 1283"/>
                        <a:gd name="T70" fmla="*/ 29 w 179"/>
                        <a:gd name="T71" fmla="*/ 262 h 1283"/>
                        <a:gd name="T72" fmla="*/ 41 w 179"/>
                        <a:gd name="T73" fmla="*/ 226 h 1283"/>
                        <a:gd name="T74" fmla="*/ 57 w 179"/>
                        <a:gd name="T75" fmla="*/ 183 h 1283"/>
                        <a:gd name="T76" fmla="*/ 68 w 179"/>
                        <a:gd name="T77" fmla="*/ 138 h 1283"/>
                        <a:gd name="T78" fmla="*/ 74 w 179"/>
                        <a:gd name="T79" fmla="*/ 106 h 1283"/>
                        <a:gd name="T80" fmla="*/ 81 w 179"/>
                        <a:gd name="T81" fmla="*/ 62 h 1283"/>
                        <a:gd name="T82" fmla="*/ 79 w 179"/>
                        <a:gd name="T83" fmla="*/ 0 h 128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</a:cxnLst>
                      <a:rect l="0" t="0" r="r" b="b"/>
                      <a:pathLst>
                        <a:path w="179" h="1283">
                          <a:moveTo>
                            <a:pt x="79" y="0"/>
                          </a:moveTo>
                          <a:lnTo>
                            <a:pt x="104" y="16"/>
                          </a:lnTo>
                          <a:lnTo>
                            <a:pt x="133" y="37"/>
                          </a:lnTo>
                          <a:lnTo>
                            <a:pt x="142" y="48"/>
                          </a:lnTo>
                          <a:lnTo>
                            <a:pt x="155" y="81"/>
                          </a:lnTo>
                          <a:lnTo>
                            <a:pt x="159" y="112"/>
                          </a:lnTo>
                          <a:lnTo>
                            <a:pt x="163" y="143"/>
                          </a:lnTo>
                          <a:lnTo>
                            <a:pt x="165" y="174"/>
                          </a:lnTo>
                          <a:lnTo>
                            <a:pt x="170" y="204"/>
                          </a:lnTo>
                          <a:lnTo>
                            <a:pt x="173" y="230"/>
                          </a:lnTo>
                          <a:lnTo>
                            <a:pt x="176" y="256"/>
                          </a:lnTo>
                          <a:lnTo>
                            <a:pt x="179" y="273"/>
                          </a:lnTo>
                          <a:lnTo>
                            <a:pt x="178" y="287"/>
                          </a:lnTo>
                          <a:lnTo>
                            <a:pt x="177" y="298"/>
                          </a:lnTo>
                          <a:lnTo>
                            <a:pt x="173" y="308"/>
                          </a:lnTo>
                          <a:lnTo>
                            <a:pt x="165" y="316"/>
                          </a:lnTo>
                          <a:lnTo>
                            <a:pt x="143" y="327"/>
                          </a:lnTo>
                          <a:lnTo>
                            <a:pt x="60" y="368"/>
                          </a:lnTo>
                          <a:lnTo>
                            <a:pt x="130" y="452"/>
                          </a:lnTo>
                          <a:lnTo>
                            <a:pt x="160" y="486"/>
                          </a:lnTo>
                          <a:lnTo>
                            <a:pt x="171" y="508"/>
                          </a:lnTo>
                          <a:lnTo>
                            <a:pt x="158" y="540"/>
                          </a:lnTo>
                          <a:lnTo>
                            <a:pt x="122" y="619"/>
                          </a:lnTo>
                          <a:lnTo>
                            <a:pt x="88" y="677"/>
                          </a:lnTo>
                          <a:lnTo>
                            <a:pt x="61" y="742"/>
                          </a:lnTo>
                          <a:lnTo>
                            <a:pt x="47" y="790"/>
                          </a:lnTo>
                          <a:lnTo>
                            <a:pt x="27" y="838"/>
                          </a:lnTo>
                          <a:lnTo>
                            <a:pt x="20" y="875"/>
                          </a:lnTo>
                          <a:lnTo>
                            <a:pt x="20" y="923"/>
                          </a:lnTo>
                          <a:lnTo>
                            <a:pt x="57" y="1283"/>
                          </a:lnTo>
                          <a:lnTo>
                            <a:pt x="26" y="1081"/>
                          </a:lnTo>
                          <a:lnTo>
                            <a:pt x="10" y="887"/>
                          </a:lnTo>
                          <a:lnTo>
                            <a:pt x="0" y="625"/>
                          </a:lnTo>
                          <a:lnTo>
                            <a:pt x="1" y="519"/>
                          </a:lnTo>
                          <a:lnTo>
                            <a:pt x="8" y="414"/>
                          </a:lnTo>
                          <a:lnTo>
                            <a:pt x="29" y="262"/>
                          </a:lnTo>
                          <a:lnTo>
                            <a:pt x="41" y="226"/>
                          </a:lnTo>
                          <a:lnTo>
                            <a:pt x="57" y="183"/>
                          </a:lnTo>
                          <a:lnTo>
                            <a:pt x="68" y="138"/>
                          </a:lnTo>
                          <a:lnTo>
                            <a:pt x="74" y="106"/>
                          </a:lnTo>
                          <a:lnTo>
                            <a:pt x="81" y="62"/>
                          </a:lnTo>
                          <a:lnTo>
                            <a:pt x="79" y="0"/>
                          </a:lnTo>
                          <a:close/>
                        </a:path>
                      </a:pathLst>
                    </a:custGeom>
                    <a:solidFill>
                      <a:srgbClr val="009FB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36" name="Freeform 327"/>
                    <p:cNvSpPr/>
                    <p:nvPr/>
                  </p:nvSpPr>
                  <p:spPr bwMode="auto">
                    <a:xfrm>
                      <a:off x="5256" y="2397"/>
                      <a:ext cx="30" cy="256"/>
                    </a:xfrm>
                    <a:custGeom>
                      <a:avLst/>
                      <a:gdLst>
                        <a:gd name="T0" fmla="*/ 79 w 179"/>
                        <a:gd name="T1" fmla="*/ 0 h 1283"/>
                        <a:gd name="T2" fmla="*/ 104 w 179"/>
                        <a:gd name="T3" fmla="*/ 16 h 1283"/>
                        <a:gd name="T4" fmla="*/ 132 w 179"/>
                        <a:gd name="T5" fmla="*/ 37 h 1283"/>
                        <a:gd name="T6" fmla="*/ 142 w 179"/>
                        <a:gd name="T7" fmla="*/ 48 h 1283"/>
                        <a:gd name="T8" fmla="*/ 155 w 179"/>
                        <a:gd name="T9" fmla="*/ 82 h 1283"/>
                        <a:gd name="T10" fmla="*/ 159 w 179"/>
                        <a:gd name="T11" fmla="*/ 112 h 1283"/>
                        <a:gd name="T12" fmla="*/ 162 w 179"/>
                        <a:gd name="T13" fmla="*/ 143 h 1283"/>
                        <a:gd name="T14" fmla="*/ 165 w 179"/>
                        <a:gd name="T15" fmla="*/ 174 h 1283"/>
                        <a:gd name="T16" fmla="*/ 170 w 179"/>
                        <a:gd name="T17" fmla="*/ 204 h 1283"/>
                        <a:gd name="T18" fmla="*/ 173 w 179"/>
                        <a:gd name="T19" fmla="*/ 230 h 1283"/>
                        <a:gd name="T20" fmla="*/ 175 w 179"/>
                        <a:gd name="T21" fmla="*/ 256 h 1283"/>
                        <a:gd name="T22" fmla="*/ 179 w 179"/>
                        <a:gd name="T23" fmla="*/ 273 h 1283"/>
                        <a:gd name="T24" fmla="*/ 178 w 179"/>
                        <a:gd name="T25" fmla="*/ 287 h 1283"/>
                        <a:gd name="T26" fmla="*/ 177 w 179"/>
                        <a:gd name="T27" fmla="*/ 298 h 1283"/>
                        <a:gd name="T28" fmla="*/ 173 w 179"/>
                        <a:gd name="T29" fmla="*/ 308 h 1283"/>
                        <a:gd name="T30" fmla="*/ 165 w 179"/>
                        <a:gd name="T31" fmla="*/ 316 h 1283"/>
                        <a:gd name="T32" fmla="*/ 143 w 179"/>
                        <a:gd name="T33" fmla="*/ 328 h 1283"/>
                        <a:gd name="T34" fmla="*/ 60 w 179"/>
                        <a:gd name="T35" fmla="*/ 368 h 1283"/>
                        <a:gd name="T36" fmla="*/ 130 w 179"/>
                        <a:gd name="T37" fmla="*/ 452 h 1283"/>
                        <a:gd name="T38" fmla="*/ 160 w 179"/>
                        <a:gd name="T39" fmla="*/ 486 h 1283"/>
                        <a:gd name="T40" fmla="*/ 171 w 179"/>
                        <a:gd name="T41" fmla="*/ 508 h 1283"/>
                        <a:gd name="T42" fmla="*/ 158 w 179"/>
                        <a:gd name="T43" fmla="*/ 540 h 1283"/>
                        <a:gd name="T44" fmla="*/ 122 w 179"/>
                        <a:gd name="T45" fmla="*/ 621 h 1283"/>
                        <a:gd name="T46" fmla="*/ 88 w 179"/>
                        <a:gd name="T47" fmla="*/ 677 h 1283"/>
                        <a:gd name="T48" fmla="*/ 61 w 179"/>
                        <a:gd name="T49" fmla="*/ 742 h 1283"/>
                        <a:gd name="T50" fmla="*/ 46 w 179"/>
                        <a:gd name="T51" fmla="*/ 790 h 1283"/>
                        <a:gd name="T52" fmla="*/ 27 w 179"/>
                        <a:gd name="T53" fmla="*/ 838 h 1283"/>
                        <a:gd name="T54" fmla="*/ 20 w 179"/>
                        <a:gd name="T55" fmla="*/ 875 h 1283"/>
                        <a:gd name="T56" fmla="*/ 20 w 179"/>
                        <a:gd name="T57" fmla="*/ 923 h 1283"/>
                        <a:gd name="T58" fmla="*/ 57 w 179"/>
                        <a:gd name="T59" fmla="*/ 1283 h 1283"/>
                        <a:gd name="T60" fmla="*/ 26 w 179"/>
                        <a:gd name="T61" fmla="*/ 1082 h 1283"/>
                        <a:gd name="T62" fmla="*/ 9 w 179"/>
                        <a:gd name="T63" fmla="*/ 888 h 1283"/>
                        <a:gd name="T64" fmla="*/ 0 w 179"/>
                        <a:gd name="T65" fmla="*/ 625 h 1283"/>
                        <a:gd name="T66" fmla="*/ 1 w 179"/>
                        <a:gd name="T67" fmla="*/ 519 h 1283"/>
                        <a:gd name="T68" fmla="*/ 8 w 179"/>
                        <a:gd name="T69" fmla="*/ 414 h 1283"/>
                        <a:gd name="T70" fmla="*/ 29 w 179"/>
                        <a:gd name="T71" fmla="*/ 262 h 1283"/>
                        <a:gd name="T72" fmla="*/ 40 w 179"/>
                        <a:gd name="T73" fmla="*/ 226 h 1283"/>
                        <a:gd name="T74" fmla="*/ 57 w 179"/>
                        <a:gd name="T75" fmla="*/ 183 h 1283"/>
                        <a:gd name="T76" fmla="*/ 68 w 179"/>
                        <a:gd name="T77" fmla="*/ 138 h 1283"/>
                        <a:gd name="T78" fmla="*/ 74 w 179"/>
                        <a:gd name="T79" fmla="*/ 106 h 1283"/>
                        <a:gd name="T80" fmla="*/ 81 w 179"/>
                        <a:gd name="T81" fmla="*/ 62 h 1283"/>
                        <a:gd name="T82" fmla="*/ 79 w 179"/>
                        <a:gd name="T83" fmla="*/ 0 h 128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</a:cxnLst>
                      <a:rect l="0" t="0" r="r" b="b"/>
                      <a:pathLst>
                        <a:path w="179" h="1283">
                          <a:moveTo>
                            <a:pt x="79" y="0"/>
                          </a:moveTo>
                          <a:lnTo>
                            <a:pt x="104" y="16"/>
                          </a:lnTo>
                          <a:lnTo>
                            <a:pt x="132" y="37"/>
                          </a:lnTo>
                          <a:lnTo>
                            <a:pt x="142" y="48"/>
                          </a:lnTo>
                          <a:lnTo>
                            <a:pt x="155" y="82"/>
                          </a:lnTo>
                          <a:lnTo>
                            <a:pt x="159" y="112"/>
                          </a:lnTo>
                          <a:lnTo>
                            <a:pt x="162" y="143"/>
                          </a:lnTo>
                          <a:lnTo>
                            <a:pt x="165" y="174"/>
                          </a:lnTo>
                          <a:lnTo>
                            <a:pt x="170" y="204"/>
                          </a:lnTo>
                          <a:lnTo>
                            <a:pt x="173" y="230"/>
                          </a:lnTo>
                          <a:lnTo>
                            <a:pt x="175" y="256"/>
                          </a:lnTo>
                          <a:lnTo>
                            <a:pt x="179" y="273"/>
                          </a:lnTo>
                          <a:lnTo>
                            <a:pt x="178" y="287"/>
                          </a:lnTo>
                          <a:lnTo>
                            <a:pt x="177" y="298"/>
                          </a:lnTo>
                          <a:lnTo>
                            <a:pt x="173" y="308"/>
                          </a:lnTo>
                          <a:lnTo>
                            <a:pt x="165" y="316"/>
                          </a:lnTo>
                          <a:lnTo>
                            <a:pt x="143" y="328"/>
                          </a:lnTo>
                          <a:lnTo>
                            <a:pt x="60" y="368"/>
                          </a:lnTo>
                          <a:lnTo>
                            <a:pt x="130" y="452"/>
                          </a:lnTo>
                          <a:lnTo>
                            <a:pt x="160" y="486"/>
                          </a:lnTo>
                          <a:lnTo>
                            <a:pt x="171" y="508"/>
                          </a:lnTo>
                          <a:lnTo>
                            <a:pt x="158" y="540"/>
                          </a:lnTo>
                          <a:lnTo>
                            <a:pt x="122" y="621"/>
                          </a:lnTo>
                          <a:lnTo>
                            <a:pt x="88" y="677"/>
                          </a:lnTo>
                          <a:lnTo>
                            <a:pt x="61" y="742"/>
                          </a:lnTo>
                          <a:lnTo>
                            <a:pt x="46" y="790"/>
                          </a:lnTo>
                          <a:lnTo>
                            <a:pt x="27" y="838"/>
                          </a:lnTo>
                          <a:lnTo>
                            <a:pt x="20" y="875"/>
                          </a:lnTo>
                          <a:lnTo>
                            <a:pt x="20" y="923"/>
                          </a:lnTo>
                          <a:lnTo>
                            <a:pt x="57" y="1283"/>
                          </a:lnTo>
                          <a:lnTo>
                            <a:pt x="26" y="1082"/>
                          </a:lnTo>
                          <a:lnTo>
                            <a:pt x="9" y="888"/>
                          </a:lnTo>
                          <a:lnTo>
                            <a:pt x="0" y="625"/>
                          </a:lnTo>
                          <a:lnTo>
                            <a:pt x="1" y="519"/>
                          </a:lnTo>
                          <a:lnTo>
                            <a:pt x="8" y="414"/>
                          </a:lnTo>
                          <a:lnTo>
                            <a:pt x="29" y="262"/>
                          </a:lnTo>
                          <a:lnTo>
                            <a:pt x="40" y="226"/>
                          </a:lnTo>
                          <a:lnTo>
                            <a:pt x="57" y="183"/>
                          </a:lnTo>
                          <a:lnTo>
                            <a:pt x="68" y="138"/>
                          </a:lnTo>
                          <a:lnTo>
                            <a:pt x="74" y="106"/>
                          </a:lnTo>
                          <a:lnTo>
                            <a:pt x="81" y="62"/>
                          </a:lnTo>
                          <a:lnTo>
                            <a:pt x="79" y="0"/>
                          </a:lnTo>
                          <a:close/>
                        </a:path>
                      </a:pathLst>
                    </a:custGeom>
                    <a:solidFill>
                      <a:srgbClr val="00BFD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326" name="Group 328"/>
                  <p:cNvGrpSpPr/>
                  <p:nvPr/>
                </p:nvGrpSpPr>
                <p:grpSpPr bwMode="auto">
                  <a:xfrm>
                    <a:off x="5194" y="2397"/>
                    <a:ext cx="40" cy="250"/>
                    <a:chOff x="5194" y="2397"/>
                    <a:chExt cx="40" cy="250"/>
                  </a:xfrm>
                </p:grpSpPr>
                <p:sp>
                  <p:nvSpPr>
                    <p:cNvPr id="333" name="Freeform 329"/>
                    <p:cNvSpPr/>
                    <p:nvPr/>
                  </p:nvSpPr>
                  <p:spPr bwMode="auto">
                    <a:xfrm>
                      <a:off x="5194" y="2400"/>
                      <a:ext cx="40" cy="247"/>
                    </a:xfrm>
                    <a:custGeom>
                      <a:avLst/>
                      <a:gdLst>
                        <a:gd name="T0" fmla="*/ 241 w 241"/>
                        <a:gd name="T1" fmla="*/ 0 h 1234"/>
                        <a:gd name="T2" fmla="*/ 220 w 241"/>
                        <a:gd name="T3" fmla="*/ 17 h 1234"/>
                        <a:gd name="T4" fmla="*/ 206 w 241"/>
                        <a:gd name="T5" fmla="*/ 30 h 1234"/>
                        <a:gd name="T6" fmla="*/ 191 w 241"/>
                        <a:gd name="T7" fmla="*/ 43 h 1234"/>
                        <a:gd name="T8" fmla="*/ 176 w 241"/>
                        <a:gd name="T9" fmla="*/ 56 h 1234"/>
                        <a:gd name="T10" fmla="*/ 163 w 241"/>
                        <a:gd name="T11" fmla="*/ 69 h 1234"/>
                        <a:gd name="T12" fmla="*/ 147 w 241"/>
                        <a:gd name="T13" fmla="*/ 79 h 1234"/>
                        <a:gd name="T14" fmla="*/ 133 w 241"/>
                        <a:gd name="T15" fmla="*/ 96 h 1234"/>
                        <a:gd name="T16" fmla="*/ 118 w 241"/>
                        <a:gd name="T17" fmla="*/ 116 h 1234"/>
                        <a:gd name="T18" fmla="*/ 108 w 241"/>
                        <a:gd name="T19" fmla="*/ 131 h 1234"/>
                        <a:gd name="T20" fmla="*/ 94 w 241"/>
                        <a:gd name="T21" fmla="*/ 150 h 1234"/>
                        <a:gd name="T22" fmla="*/ 86 w 241"/>
                        <a:gd name="T23" fmla="*/ 166 h 1234"/>
                        <a:gd name="T24" fmla="*/ 69 w 241"/>
                        <a:gd name="T25" fmla="*/ 199 h 1234"/>
                        <a:gd name="T26" fmla="*/ 56 w 241"/>
                        <a:gd name="T27" fmla="*/ 232 h 1234"/>
                        <a:gd name="T28" fmla="*/ 66 w 241"/>
                        <a:gd name="T29" fmla="*/ 251 h 1234"/>
                        <a:gd name="T30" fmla="*/ 86 w 241"/>
                        <a:gd name="T31" fmla="*/ 265 h 1234"/>
                        <a:gd name="T32" fmla="*/ 125 w 241"/>
                        <a:gd name="T33" fmla="*/ 318 h 1234"/>
                        <a:gd name="T34" fmla="*/ 32 w 241"/>
                        <a:gd name="T35" fmla="*/ 352 h 1234"/>
                        <a:gd name="T36" fmla="*/ 14 w 241"/>
                        <a:gd name="T37" fmla="*/ 357 h 1234"/>
                        <a:gd name="T38" fmla="*/ 5 w 241"/>
                        <a:gd name="T39" fmla="*/ 368 h 1234"/>
                        <a:gd name="T40" fmla="*/ 0 w 241"/>
                        <a:gd name="T41" fmla="*/ 393 h 1234"/>
                        <a:gd name="T42" fmla="*/ 12 w 241"/>
                        <a:gd name="T43" fmla="*/ 476 h 1234"/>
                        <a:gd name="T44" fmla="*/ 32 w 241"/>
                        <a:gd name="T45" fmla="*/ 575 h 1234"/>
                        <a:gd name="T46" fmla="*/ 48 w 241"/>
                        <a:gd name="T47" fmla="*/ 640 h 1234"/>
                        <a:gd name="T48" fmla="*/ 79 w 241"/>
                        <a:gd name="T49" fmla="*/ 780 h 1234"/>
                        <a:gd name="T50" fmla="*/ 85 w 241"/>
                        <a:gd name="T51" fmla="*/ 830 h 1234"/>
                        <a:gd name="T52" fmla="*/ 90 w 241"/>
                        <a:gd name="T53" fmla="*/ 872 h 1234"/>
                        <a:gd name="T54" fmla="*/ 93 w 241"/>
                        <a:gd name="T55" fmla="*/ 928 h 1234"/>
                        <a:gd name="T56" fmla="*/ 74 w 241"/>
                        <a:gd name="T57" fmla="*/ 1234 h 1234"/>
                        <a:gd name="T58" fmla="*/ 81 w 241"/>
                        <a:gd name="T59" fmla="*/ 1183 h 1234"/>
                        <a:gd name="T60" fmla="*/ 94 w 241"/>
                        <a:gd name="T61" fmla="*/ 1097 h 1234"/>
                        <a:gd name="T62" fmla="*/ 104 w 241"/>
                        <a:gd name="T63" fmla="*/ 969 h 1234"/>
                        <a:gd name="T64" fmla="*/ 117 w 241"/>
                        <a:gd name="T65" fmla="*/ 752 h 1234"/>
                        <a:gd name="T66" fmla="*/ 124 w 241"/>
                        <a:gd name="T67" fmla="*/ 486 h 1234"/>
                        <a:gd name="T68" fmla="*/ 178 w 241"/>
                        <a:gd name="T69" fmla="*/ 174 h 1234"/>
                        <a:gd name="T70" fmla="*/ 189 w 241"/>
                        <a:gd name="T71" fmla="*/ 142 h 1234"/>
                        <a:gd name="T72" fmla="*/ 196 w 241"/>
                        <a:gd name="T73" fmla="*/ 124 h 1234"/>
                        <a:gd name="T74" fmla="*/ 206 w 241"/>
                        <a:gd name="T75" fmla="*/ 93 h 1234"/>
                        <a:gd name="T76" fmla="*/ 215 w 241"/>
                        <a:gd name="T77" fmla="*/ 66 h 1234"/>
                        <a:gd name="T78" fmla="*/ 228 w 241"/>
                        <a:gd name="T79" fmla="*/ 37 h 1234"/>
                        <a:gd name="T80" fmla="*/ 239 w 241"/>
                        <a:gd name="T81" fmla="*/ 14 h 1234"/>
                        <a:gd name="T82" fmla="*/ 241 w 241"/>
                        <a:gd name="T83" fmla="*/ 0 h 12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</a:cxnLst>
                      <a:rect l="0" t="0" r="r" b="b"/>
                      <a:pathLst>
                        <a:path w="241" h="1234">
                          <a:moveTo>
                            <a:pt x="241" y="0"/>
                          </a:moveTo>
                          <a:lnTo>
                            <a:pt x="220" y="17"/>
                          </a:lnTo>
                          <a:lnTo>
                            <a:pt x="206" y="30"/>
                          </a:lnTo>
                          <a:lnTo>
                            <a:pt x="191" y="43"/>
                          </a:lnTo>
                          <a:lnTo>
                            <a:pt x="176" y="56"/>
                          </a:lnTo>
                          <a:lnTo>
                            <a:pt x="163" y="69"/>
                          </a:lnTo>
                          <a:lnTo>
                            <a:pt x="147" y="79"/>
                          </a:lnTo>
                          <a:lnTo>
                            <a:pt x="133" y="96"/>
                          </a:lnTo>
                          <a:lnTo>
                            <a:pt x="118" y="116"/>
                          </a:lnTo>
                          <a:lnTo>
                            <a:pt x="108" y="131"/>
                          </a:lnTo>
                          <a:lnTo>
                            <a:pt x="94" y="150"/>
                          </a:lnTo>
                          <a:lnTo>
                            <a:pt x="86" y="166"/>
                          </a:lnTo>
                          <a:lnTo>
                            <a:pt x="69" y="199"/>
                          </a:lnTo>
                          <a:lnTo>
                            <a:pt x="56" y="232"/>
                          </a:lnTo>
                          <a:lnTo>
                            <a:pt x="66" y="251"/>
                          </a:lnTo>
                          <a:lnTo>
                            <a:pt x="86" y="265"/>
                          </a:lnTo>
                          <a:lnTo>
                            <a:pt x="125" y="318"/>
                          </a:lnTo>
                          <a:lnTo>
                            <a:pt x="32" y="352"/>
                          </a:lnTo>
                          <a:lnTo>
                            <a:pt x="14" y="357"/>
                          </a:lnTo>
                          <a:lnTo>
                            <a:pt x="5" y="368"/>
                          </a:lnTo>
                          <a:lnTo>
                            <a:pt x="0" y="393"/>
                          </a:lnTo>
                          <a:lnTo>
                            <a:pt x="12" y="476"/>
                          </a:lnTo>
                          <a:lnTo>
                            <a:pt x="32" y="575"/>
                          </a:lnTo>
                          <a:lnTo>
                            <a:pt x="48" y="640"/>
                          </a:lnTo>
                          <a:lnTo>
                            <a:pt x="79" y="780"/>
                          </a:lnTo>
                          <a:lnTo>
                            <a:pt x="85" y="830"/>
                          </a:lnTo>
                          <a:lnTo>
                            <a:pt x="90" y="872"/>
                          </a:lnTo>
                          <a:lnTo>
                            <a:pt x="93" y="928"/>
                          </a:lnTo>
                          <a:lnTo>
                            <a:pt x="74" y="1234"/>
                          </a:lnTo>
                          <a:lnTo>
                            <a:pt x="81" y="1183"/>
                          </a:lnTo>
                          <a:lnTo>
                            <a:pt x="94" y="1097"/>
                          </a:lnTo>
                          <a:lnTo>
                            <a:pt x="104" y="969"/>
                          </a:lnTo>
                          <a:lnTo>
                            <a:pt x="117" y="752"/>
                          </a:lnTo>
                          <a:lnTo>
                            <a:pt x="124" y="486"/>
                          </a:lnTo>
                          <a:lnTo>
                            <a:pt x="178" y="174"/>
                          </a:lnTo>
                          <a:lnTo>
                            <a:pt x="189" y="142"/>
                          </a:lnTo>
                          <a:lnTo>
                            <a:pt x="196" y="124"/>
                          </a:lnTo>
                          <a:lnTo>
                            <a:pt x="206" y="93"/>
                          </a:lnTo>
                          <a:lnTo>
                            <a:pt x="215" y="66"/>
                          </a:lnTo>
                          <a:lnTo>
                            <a:pt x="228" y="37"/>
                          </a:lnTo>
                          <a:lnTo>
                            <a:pt x="239" y="14"/>
                          </a:lnTo>
                          <a:lnTo>
                            <a:pt x="241" y="0"/>
                          </a:lnTo>
                          <a:close/>
                        </a:path>
                      </a:pathLst>
                    </a:custGeom>
                    <a:solidFill>
                      <a:srgbClr val="009FB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34" name="Freeform 330"/>
                    <p:cNvSpPr/>
                    <p:nvPr/>
                  </p:nvSpPr>
                  <p:spPr bwMode="auto">
                    <a:xfrm>
                      <a:off x="5194" y="2397"/>
                      <a:ext cx="40" cy="246"/>
                    </a:xfrm>
                    <a:custGeom>
                      <a:avLst/>
                      <a:gdLst>
                        <a:gd name="T0" fmla="*/ 241 w 241"/>
                        <a:gd name="T1" fmla="*/ 0 h 1233"/>
                        <a:gd name="T2" fmla="*/ 220 w 241"/>
                        <a:gd name="T3" fmla="*/ 17 h 1233"/>
                        <a:gd name="T4" fmla="*/ 205 w 241"/>
                        <a:gd name="T5" fmla="*/ 29 h 1233"/>
                        <a:gd name="T6" fmla="*/ 191 w 241"/>
                        <a:gd name="T7" fmla="*/ 43 h 1233"/>
                        <a:gd name="T8" fmla="*/ 175 w 241"/>
                        <a:gd name="T9" fmla="*/ 55 h 1233"/>
                        <a:gd name="T10" fmla="*/ 162 w 241"/>
                        <a:gd name="T11" fmla="*/ 69 h 1233"/>
                        <a:gd name="T12" fmla="*/ 147 w 241"/>
                        <a:gd name="T13" fmla="*/ 79 h 1233"/>
                        <a:gd name="T14" fmla="*/ 132 w 241"/>
                        <a:gd name="T15" fmla="*/ 96 h 1233"/>
                        <a:gd name="T16" fmla="*/ 118 w 241"/>
                        <a:gd name="T17" fmla="*/ 116 h 1233"/>
                        <a:gd name="T18" fmla="*/ 107 w 241"/>
                        <a:gd name="T19" fmla="*/ 131 h 1233"/>
                        <a:gd name="T20" fmla="*/ 94 w 241"/>
                        <a:gd name="T21" fmla="*/ 149 h 1233"/>
                        <a:gd name="T22" fmla="*/ 86 w 241"/>
                        <a:gd name="T23" fmla="*/ 167 h 1233"/>
                        <a:gd name="T24" fmla="*/ 69 w 241"/>
                        <a:gd name="T25" fmla="*/ 199 h 1233"/>
                        <a:gd name="T26" fmla="*/ 56 w 241"/>
                        <a:gd name="T27" fmla="*/ 232 h 1233"/>
                        <a:gd name="T28" fmla="*/ 62 w 241"/>
                        <a:gd name="T29" fmla="*/ 251 h 1233"/>
                        <a:gd name="T30" fmla="*/ 86 w 241"/>
                        <a:gd name="T31" fmla="*/ 264 h 1233"/>
                        <a:gd name="T32" fmla="*/ 125 w 241"/>
                        <a:gd name="T33" fmla="*/ 317 h 1233"/>
                        <a:gd name="T34" fmla="*/ 32 w 241"/>
                        <a:gd name="T35" fmla="*/ 352 h 1233"/>
                        <a:gd name="T36" fmla="*/ 14 w 241"/>
                        <a:gd name="T37" fmla="*/ 357 h 1233"/>
                        <a:gd name="T38" fmla="*/ 5 w 241"/>
                        <a:gd name="T39" fmla="*/ 368 h 1233"/>
                        <a:gd name="T40" fmla="*/ 0 w 241"/>
                        <a:gd name="T41" fmla="*/ 384 h 1233"/>
                        <a:gd name="T42" fmla="*/ 12 w 241"/>
                        <a:gd name="T43" fmla="*/ 476 h 1233"/>
                        <a:gd name="T44" fmla="*/ 32 w 241"/>
                        <a:gd name="T45" fmla="*/ 575 h 1233"/>
                        <a:gd name="T46" fmla="*/ 48 w 241"/>
                        <a:gd name="T47" fmla="*/ 640 h 1233"/>
                        <a:gd name="T48" fmla="*/ 79 w 241"/>
                        <a:gd name="T49" fmla="*/ 780 h 1233"/>
                        <a:gd name="T50" fmla="*/ 85 w 241"/>
                        <a:gd name="T51" fmla="*/ 829 h 1233"/>
                        <a:gd name="T52" fmla="*/ 89 w 241"/>
                        <a:gd name="T53" fmla="*/ 871 h 1233"/>
                        <a:gd name="T54" fmla="*/ 93 w 241"/>
                        <a:gd name="T55" fmla="*/ 928 h 1233"/>
                        <a:gd name="T56" fmla="*/ 74 w 241"/>
                        <a:gd name="T57" fmla="*/ 1233 h 1233"/>
                        <a:gd name="T58" fmla="*/ 81 w 241"/>
                        <a:gd name="T59" fmla="*/ 1183 h 1233"/>
                        <a:gd name="T60" fmla="*/ 94 w 241"/>
                        <a:gd name="T61" fmla="*/ 1096 h 1233"/>
                        <a:gd name="T62" fmla="*/ 104 w 241"/>
                        <a:gd name="T63" fmla="*/ 969 h 1233"/>
                        <a:gd name="T64" fmla="*/ 117 w 241"/>
                        <a:gd name="T65" fmla="*/ 751 h 1233"/>
                        <a:gd name="T66" fmla="*/ 124 w 241"/>
                        <a:gd name="T67" fmla="*/ 486 h 1233"/>
                        <a:gd name="T68" fmla="*/ 178 w 241"/>
                        <a:gd name="T69" fmla="*/ 174 h 1233"/>
                        <a:gd name="T70" fmla="*/ 189 w 241"/>
                        <a:gd name="T71" fmla="*/ 142 h 1233"/>
                        <a:gd name="T72" fmla="*/ 196 w 241"/>
                        <a:gd name="T73" fmla="*/ 123 h 1233"/>
                        <a:gd name="T74" fmla="*/ 205 w 241"/>
                        <a:gd name="T75" fmla="*/ 92 h 1233"/>
                        <a:gd name="T76" fmla="*/ 215 w 241"/>
                        <a:gd name="T77" fmla="*/ 65 h 1233"/>
                        <a:gd name="T78" fmla="*/ 228 w 241"/>
                        <a:gd name="T79" fmla="*/ 37 h 1233"/>
                        <a:gd name="T80" fmla="*/ 239 w 241"/>
                        <a:gd name="T81" fmla="*/ 13 h 1233"/>
                        <a:gd name="T82" fmla="*/ 241 w 241"/>
                        <a:gd name="T83" fmla="*/ 0 h 123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</a:cxnLst>
                      <a:rect l="0" t="0" r="r" b="b"/>
                      <a:pathLst>
                        <a:path w="241" h="1233">
                          <a:moveTo>
                            <a:pt x="241" y="0"/>
                          </a:moveTo>
                          <a:lnTo>
                            <a:pt x="220" y="17"/>
                          </a:lnTo>
                          <a:lnTo>
                            <a:pt x="205" y="29"/>
                          </a:lnTo>
                          <a:lnTo>
                            <a:pt x="191" y="43"/>
                          </a:lnTo>
                          <a:lnTo>
                            <a:pt x="175" y="55"/>
                          </a:lnTo>
                          <a:lnTo>
                            <a:pt x="162" y="69"/>
                          </a:lnTo>
                          <a:lnTo>
                            <a:pt x="147" y="79"/>
                          </a:lnTo>
                          <a:lnTo>
                            <a:pt x="132" y="96"/>
                          </a:lnTo>
                          <a:lnTo>
                            <a:pt x="118" y="116"/>
                          </a:lnTo>
                          <a:lnTo>
                            <a:pt x="107" y="131"/>
                          </a:lnTo>
                          <a:lnTo>
                            <a:pt x="94" y="149"/>
                          </a:lnTo>
                          <a:lnTo>
                            <a:pt x="86" y="167"/>
                          </a:lnTo>
                          <a:lnTo>
                            <a:pt x="69" y="199"/>
                          </a:lnTo>
                          <a:lnTo>
                            <a:pt x="56" y="232"/>
                          </a:lnTo>
                          <a:lnTo>
                            <a:pt x="62" y="251"/>
                          </a:lnTo>
                          <a:lnTo>
                            <a:pt x="86" y="264"/>
                          </a:lnTo>
                          <a:lnTo>
                            <a:pt x="125" y="317"/>
                          </a:lnTo>
                          <a:lnTo>
                            <a:pt x="32" y="352"/>
                          </a:lnTo>
                          <a:lnTo>
                            <a:pt x="14" y="357"/>
                          </a:lnTo>
                          <a:lnTo>
                            <a:pt x="5" y="368"/>
                          </a:lnTo>
                          <a:lnTo>
                            <a:pt x="0" y="384"/>
                          </a:lnTo>
                          <a:lnTo>
                            <a:pt x="12" y="476"/>
                          </a:lnTo>
                          <a:lnTo>
                            <a:pt x="32" y="575"/>
                          </a:lnTo>
                          <a:lnTo>
                            <a:pt x="48" y="640"/>
                          </a:lnTo>
                          <a:lnTo>
                            <a:pt x="79" y="780"/>
                          </a:lnTo>
                          <a:lnTo>
                            <a:pt x="85" y="829"/>
                          </a:lnTo>
                          <a:lnTo>
                            <a:pt x="89" y="871"/>
                          </a:lnTo>
                          <a:lnTo>
                            <a:pt x="93" y="928"/>
                          </a:lnTo>
                          <a:lnTo>
                            <a:pt x="74" y="1233"/>
                          </a:lnTo>
                          <a:lnTo>
                            <a:pt x="81" y="1183"/>
                          </a:lnTo>
                          <a:lnTo>
                            <a:pt x="94" y="1096"/>
                          </a:lnTo>
                          <a:lnTo>
                            <a:pt x="104" y="969"/>
                          </a:lnTo>
                          <a:lnTo>
                            <a:pt x="117" y="751"/>
                          </a:lnTo>
                          <a:lnTo>
                            <a:pt x="124" y="486"/>
                          </a:lnTo>
                          <a:lnTo>
                            <a:pt x="178" y="174"/>
                          </a:lnTo>
                          <a:lnTo>
                            <a:pt x="189" y="142"/>
                          </a:lnTo>
                          <a:lnTo>
                            <a:pt x="196" y="123"/>
                          </a:lnTo>
                          <a:lnTo>
                            <a:pt x="205" y="92"/>
                          </a:lnTo>
                          <a:lnTo>
                            <a:pt x="215" y="65"/>
                          </a:lnTo>
                          <a:lnTo>
                            <a:pt x="228" y="37"/>
                          </a:lnTo>
                          <a:lnTo>
                            <a:pt x="239" y="13"/>
                          </a:lnTo>
                          <a:lnTo>
                            <a:pt x="241" y="0"/>
                          </a:lnTo>
                          <a:close/>
                        </a:path>
                      </a:pathLst>
                    </a:custGeom>
                    <a:solidFill>
                      <a:srgbClr val="00BFD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327" name="Group 331"/>
                  <p:cNvGrpSpPr/>
                  <p:nvPr/>
                </p:nvGrpSpPr>
                <p:grpSpPr bwMode="auto">
                  <a:xfrm>
                    <a:off x="5142" y="2441"/>
                    <a:ext cx="182" cy="78"/>
                    <a:chOff x="5142" y="2441"/>
                    <a:chExt cx="182" cy="78"/>
                  </a:xfrm>
                </p:grpSpPr>
                <p:sp>
                  <p:nvSpPr>
                    <p:cNvPr id="328" name="Freeform 332"/>
                    <p:cNvSpPr/>
                    <p:nvPr/>
                  </p:nvSpPr>
                  <p:spPr bwMode="auto">
                    <a:xfrm>
                      <a:off x="5151" y="2441"/>
                      <a:ext cx="44" cy="52"/>
                    </a:xfrm>
                    <a:custGeom>
                      <a:avLst/>
                      <a:gdLst>
                        <a:gd name="T0" fmla="*/ 235 w 263"/>
                        <a:gd name="T1" fmla="*/ 205 h 260"/>
                        <a:gd name="T2" fmla="*/ 0 w 263"/>
                        <a:gd name="T3" fmla="*/ 260 h 260"/>
                        <a:gd name="T4" fmla="*/ 232 w 263"/>
                        <a:gd name="T5" fmla="*/ 189 h 260"/>
                        <a:gd name="T6" fmla="*/ 79 w 263"/>
                        <a:gd name="T7" fmla="*/ 188 h 260"/>
                        <a:gd name="T8" fmla="*/ 235 w 263"/>
                        <a:gd name="T9" fmla="*/ 167 h 260"/>
                        <a:gd name="T10" fmla="*/ 235 w 263"/>
                        <a:gd name="T11" fmla="*/ 136 h 260"/>
                        <a:gd name="T12" fmla="*/ 227 w 263"/>
                        <a:gd name="T13" fmla="*/ 105 h 260"/>
                        <a:gd name="T14" fmla="*/ 209 w 263"/>
                        <a:gd name="T15" fmla="*/ 68 h 260"/>
                        <a:gd name="T16" fmla="*/ 181 w 263"/>
                        <a:gd name="T17" fmla="*/ 27 h 260"/>
                        <a:gd name="T18" fmla="*/ 165 w 263"/>
                        <a:gd name="T19" fmla="*/ 0 h 260"/>
                        <a:gd name="T20" fmla="*/ 187 w 263"/>
                        <a:gd name="T21" fmla="*/ 11 h 260"/>
                        <a:gd name="T22" fmla="*/ 209 w 263"/>
                        <a:gd name="T23" fmla="*/ 42 h 260"/>
                        <a:gd name="T24" fmla="*/ 227 w 263"/>
                        <a:gd name="T25" fmla="*/ 77 h 260"/>
                        <a:gd name="T26" fmla="*/ 238 w 263"/>
                        <a:gd name="T27" fmla="*/ 102 h 260"/>
                        <a:gd name="T28" fmla="*/ 239 w 263"/>
                        <a:gd name="T29" fmla="*/ 139 h 260"/>
                        <a:gd name="T30" fmla="*/ 263 w 263"/>
                        <a:gd name="T31" fmla="*/ 84 h 260"/>
                        <a:gd name="T32" fmla="*/ 239 w 263"/>
                        <a:gd name="T33" fmla="*/ 167 h 260"/>
                        <a:gd name="T34" fmla="*/ 235 w 263"/>
                        <a:gd name="T35" fmla="*/ 205 h 26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</a:cxnLst>
                      <a:rect l="0" t="0" r="r" b="b"/>
                      <a:pathLst>
                        <a:path w="263" h="260">
                          <a:moveTo>
                            <a:pt x="235" y="205"/>
                          </a:moveTo>
                          <a:lnTo>
                            <a:pt x="0" y="260"/>
                          </a:lnTo>
                          <a:lnTo>
                            <a:pt x="232" y="189"/>
                          </a:lnTo>
                          <a:lnTo>
                            <a:pt x="79" y="188"/>
                          </a:lnTo>
                          <a:lnTo>
                            <a:pt x="235" y="167"/>
                          </a:lnTo>
                          <a:lnTo>
                            <a:pt x="235" y="136"/>
                          </a:lnTo>
                          <a:lnTo>
                            <a:pt x="227" y="105"/>
                          </a:lnTo>
                          <a:lnTo>
                            <a:pt x="209" y="68"/>
                          </a:lnTo>
                          <a:lnTo>
                            <a:pt x="181" y="27"/>
                          </a:lnTo>
                          <a:lnTo>
                            <a:pt x="165" y="0"/>
                          </a:lnTo>
                          <a:lnTo>
                            <a:pt x="187" y="11"/>
                          </a:lnTo>
                          <a:lnTo>
                            <a:pt x="209" y="42"/>
                          </a:lnTo>
                          <a:lnTo>
                            <a:pt x="227" y="77"/>
                          </a:lnTo>
                          <a:lnTo>
                            <a:pt x="238" y="102"/>
                          </a:lnTo>
                          <a:lnTo>
                            <a:pt x="239" y="139"/>
                          </a:lnTo>
                          <a:lnTo>
                            <a:pt x="263" y="84"/>
                          </a:lnTo>
                          <a:lnTo>
                            <a:pt x="239" y="167"/>
                          </a:lnTo>
                          <a:lnTo>
                            <a:pt x="235" y="205"/>
                          </a:lnTo>
                          <a:close/>
                        </a:path>
                      </a:pathLst>
                    </a:custGeom>
                    <a:solidFill>
                      <a:srgbClr val="007F9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29" name="Freeform 333"/>
                    <p:cNvSpPr/>
                    <p:nvPr/>
                  </p:nvSpPr>
                  <p:spPr bwMode="auto">
                    <a:xfrm>
                      <a:off x="5142" y="2484"/>
                      <a:ext cx="6" cy="23"/>
                    </a:xfrm>
                    <a:custGeom>
                      <a:avLst/>
                      <a:gdLst>
                        <a:gd name="T0" fmla="*/ 16 w 33"/>
                        <a:gd name="T1" fmla="*/ 0 h 114"/>
                        <a:gd name="T2" fmla="*/ 19 w 33"/>
                        <a:gd name="T3" fmla="*/ 25 h 114"/>
                        <a:gd name="T4" fmla="*/ 33 w 33"/>
                        <a:gd name="T5" fmla="*/ 50 h 114"/>
                        <a:gd name="T6" fmla="*/ 33 w 33"/>
                        <a:gd name="T7" fmla="*/ 74 h 114"/>
                        <a:gd name="T8" fmla="*/ 28 w 33"/>
                        <a:gd name="T9" fmla="*/ 95 h 114"/>
                        <a:gd name="T10" fmla="*/ 10 w 33"/>
                        <a:gd name="T11" fmla="*/ 114 h 114"/>
                        <a:gd name="T12" fmla="*/ 7 w 33"/>
                        <a:gd name="T13" fmla="*/ 45 h 114"/>
                        <a:gd name="T14" fmla="*/ 0 w 33"/>
                        <a:gd name="T15" fmla="*/ 37 h 114"/>
                        <a:gd name="T16" fmla="*/ 2 w 33"/>
                        <a:gd name="T17" fmla="*/ 21 h 114"/>
                        <a:gd name="T18" fmla="*/ 16 w 33"/>
                        <a:gd name="T19" fmla="*/ 0 h 11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</a:cxnLst>
                      <a:rect l="0" t="0" r="r" b="b"/>
                      <a:pathLst>
                        <a:path w="33" h="114">
                          <a:moveTo>
                            <a:pt x="16" y="0"/>
                          </a:moveTo>
                          <a:lnTo>
                            <a:pt x="19" y="25"/>
                          </a:lnTo>
                          <a:lnTo>
                            <a:pt x="33" y="50"/>
                          </a:lnTo>
                          <a:lnTo>
                            <a:pt x="33" y="74"/>
                          </a:lnTo>
                          <a:lnTo>
                            <a:pt x="28" y="95"/>
                          </a:lnTo>
                          <a:lnTo>
                            <a:pt x="10" y="114"/>
                          </a:lnTo>
                          <a:lnTo>
                            <a:pt x="7" y="45"/>
                          </a:lnTo>
                          <a:lnTo>
                            <a:pt x="0" y="37"/>
                          </a:lnTo>
                          <a:lnTo>
                            <a:pt x="2" y="21"/>
                          </a:lnTo>
                          <a:lnTo>
                            <a:pt x="16" y="0"/>
                          </a:lnTo>
                          <a:close/>
                        </a:path>
                      </a:pathLst>
                    </a:custGeom>
                    <a:solidFill>
                      <a:srgbClr val="007F9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30" name="Freeform 334"/>
                    <p:cNvSpPr/>
                    <p:nvPr/>
                  </p:nvSpPr>
                  <p:spPr bwMode="auto">
                    <a:xfrm>
                      <a:off x="5300" y="2493"/>
                      <a:ext cx="23" cy="26"/>
                    </a:xfrm>
                    <a:custGeom>
                      <a:avLst/>
                      <a:gdLst>
                        <a:gd name="T0" fmla="*/ 0 w 139"/>
                        <a:gd name="T1" fmla="*/ 129 h 129"/>
                        <a:gd name="T2" fmla="*/ 51 w 139"/>
                        <a:gd name="T3" fmla="*/ 90 h 129"/>
                        <a:gd name="T4" fmla="*/ 98 w 139"/>
                        <a:gd name="T5" fmla="*/ 57 h 129"/>
                        <a:gd name="T6" fmla="*/ 124 w 139"/>
                        <a:gd name="T7" fmla="*/ 19 h 129"/>
                        <a:gd name="T8" fmla="*/ 139 w 139"/>
                        <a:gd name="T9" fmla="*/ 0 h 129"/>
                        <a:gd name="T10" fmla="*/ 98 w 139"/>
                        <a:gd name="T11" fmla="*/ 26 h 129"/>
                        <a:gd name="T12" fmla="*/ 73 w 139"/>
                        <a:gd name="T13" fmla="*/ 46 h 129"/>
                        <a:gd name="T14" fmla="*/ 51 w 139"/>
                        <a:gd name="T15" fmla="*/ 61 h 129"/>
                        <a:gd name="T16" fmla="*/ 32 w 139"/>
                        <a:gd name="T17" fmla="*/ 83 h 129"/>
                        <a:gd name="T18" fmla="*/ 0 w 139"/>
                        <a:gd name="T19" fmla="*/ 129 h 1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</a:cxnLst>
                      <a:rect l="0" t="0" r="r" b="b"/>
                      <a:pathLst>
                        <a:path w="139" h="129">
                          <a:moveTo>
                            <a:pt x="0" y="129"/>
                          </a:moveTo>
                          <a:lnTo>
                            <a:pt x="51" y="90"/>
                          </a:lnTo>
                          <a:lnTo>
                            <a:pt x="98" y="57"/>
                          </a:lnTo>
                          <a:lnTo>
                            <a:pt x="124" y="19"/>
                          </a:lnTo>
                          <a:lnTo>
                            <a:pt x="139" y="0"/>
                          </a:lnTo>
                          <a:lnTo>
                            <a:pt x="98" y="26"/>
                          </a:lnTo>
                          <a:lnTo>
                            <a:pt x="73" y="46"/>
                          </a:lnTo>
                          <a:lnTo>
                            <a:pt x="51" y="61"/>
                          </a:lnTo>
                          <a:lnTo>
                            <a:pt x="32" y="83"/>
                          </a:lnTo>
                          <a:lnTo>
                            <a:pt x="0" y="129"/>
                          </a:lnTo>
                          <a:close/>
                        </a:path>
                      </a:pathLst>
                    </a:custGeom>
                    <a:solidFill>
                      <a:srgbClr val="007F9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31" name="Freeform 335"/>
                    <p:cNvSpPr/>
                    <p:nvPr/>
                  </p:nvSpPr>
                  <p:spPr bwMode="auto">
                    <a:xfrm>
                      <a:off x="5312" y="2503"/>
                      <a:ext cx="12" cy="15"/>
                    </a:xfrm>
                    <a:custGeom>
                      <a:avLst/>
                      <a:gdLst>
                        <a:gd name="T0" fmla="*/ 0 w 74"/>
                        <a:gd name="T1" fmla="*/ 77 h 77"/>
                        <a:gd name="T2" fmla="*/ 74 w 74"/>
                        <a:gd name="T3" fmla="*/ 0 h 77"/>
                        <a:gd name="T4" fmla="*/ 52 w 74"/>
                        <a:gd name="T5" fmla="*/ 50 h 77"/>
                        <a:gd name="T6" fmla="*/ 0 w 74"/>
                        <a:gd name="T7" fmla="*/ 77 h 7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</a:cxnLst>
                      <a:rect l="0" t="0" r="r" b="b"/>
                      <a:pathLst>
                        <a:path w="74" h="77">
                          <a:moveTo>
                            <a:pt x="0" y="77"/>
                          </a:moveTo>
                          <a:lnTo>
                            <a:pt x="74" y="0"/>
                          </a:lnTo>
                          <a:lnTo>
                            <a:pt x="52" y="50"/>
                          </a:lnTo>
                          <a:lnTo>
                            <a:pt x="0" y="77"/>
                          </a:lnTo>
                          <a:close/>
                        </a:path>
                      </a:pathLst>
                    </a:custGeom>
                    <a:solidFill>
                      <a:srgbClr val="007F9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32" name="Freeform 336"/>
                    <p:cNvSpPr/>
                    <p:nvPr/>
                  </p:nvSpPr>
                  <p:spPr bwMode="auto">
                    <a:xfrm>
                      <a:off x="5302" y="2464"/>
                      <a:ext cx="11" cy="45"/>
                    </a:xfrm>
                    <a:custGeom>
                      <a:avLst/>
                      <a:gdLst>
                        <a:gd name="T0" fmla="*/ 0 w 67"/>
                        <a:gd name="T1" fmla="*/ 226 h 226"/>
                        <a:gd name="T2" fmla="*/ 3 w 67"/>
                        <a:gd name="T3" fmla="*/ 132 h 226"/>
                        <a:gd name="T4" fmla="*/ 23 w 67"/>
                        <a:gd name="T5" fmla="*/ 37 h 226"/>
                        <a:gd name="T6" fmla="*/ 37 w 67"/>
                        <a:gd name="T7" fmla="*/ 0 h 226"/>
                        <a:gd name="T8" fmla="*/ 14 w 67"/>
                        <a:gd name="T9" fmla="*/ 121 h 226"/>
                        <a:gd name="T10" fmla="*/ 11 w 67"/>
                        <a:gd name="T11" fmla="*/ 186 h 226"/>
                        <a:gd name="T12" fmla="*/ 67 w 67"/>
                        <a:gd name="T13" fmla="*/ 129 h 226"/>
                        <a:gd name="T14" fmla="*/ 0 w 67"/>
                        <a:gd name="T15" fmla="*/ 226 h 22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</a:cxnLst>
                      <a:rect l="0" t="0" r="r" b="b"/>
                      <a:pathLst>
                        <a:path w="67" h="226">
                          <a:moveTo>
                            <a:pt x="0" y="226"/>
                          </a:moveTo>
                          <a:lnTo>
                            <a:pt x="3" y="132"/>
                          </a:lnTo>
                          <a:lnTo>
                            <a:pt x="23" y="37"/>
                          </a:lnTo>
                          <a:lnTo>
                            <a:pt x="37" y="0"/>
                          </a:lnTo>
                          <a:lnTo>
                            <a:pt x="14" y="121"/>
                          </a:lnTo>
                          <a:lnTo>
                            <a:pt x="11" y="186"/>
                          </a:lnTo>
                          <a:lnTo>
                            <a:pt x="67" y="129"/>
                          </a:lnTo>
                          <a:lnTo>
                            <a:pt x="0" y="226"/>
                          </a:lnTo>
                          <a:close/>
                        </a:path>
                      </a:pathLst>
                    </a:custGeom>
                    <a:solidFill>
                      <a:srgbClr val="007F9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</p:grpSp>
          <p:grpSp>
            <p:nvGrpSpPr>
              <p:cNvPr id="249" name="Group 337"/>
              <p:cNvGrpSpPr/>
              <p:nvPr/>
            </p:nvGrpSpPr>
            <p:grpSpPr bwMode="auto">
              <a:xfrm>
                <a:off x="4779" y="2242"/>
                <a:ext cx="222" cy="504"/>
                <a:chOff x="4779" y="2242"/>
                <a:chExt cx="222" cy="504"/>
              </a:xfrm>
            </p:grpSpPr>
            <p:grpSp>
              <p:nvGrpSpPr>
                <p:cNvPr id="269" name="Group 338"/>
                <p:cNvGrpSpPr/>
                <p:nvPr/>
              </p:nvGrpSpPr>
              <p:grpSpPr bwMode="auto">
                <a:xfrm>
                  <a:off x="4779" y="2327"/>
                  <a:ext cx="222" cy="419"/>
                  <a:chOff x="4779" y="2327"/>
                  <a:chExt cx="222" cy="419"/>
                </a:xfrm>
              </p:grpSpPr>
              <p:sp>
                <p:nvSpPr>
                  <p:cNvPr id="302" name="Freeform 339"/>
                  <p:cNvSpPr/>
                  <p:nvPr/>
                </p:nvSpPr>
                <p:spPr bwMode="auto">
                  <a:xfrm>
                    <a:off x="4971" y="2544"/>
                    <a:ext cx="30" cy="44"/>
                  </a:xfrm>
                  <a:custGeom>
                    <a:avLst/>
                    <a:gdLst>
                      <a:gd name="T0" fmla="*/ 67 w 179"/>
                      <a:gd name="T1" fmla="*/ 0 h 220"/>
                      <a:gd name="T2" fmla="*/ 179 w 179"/>
                      <a:gd name="T3" fmla="*/ 7 h 220"/>
                      <a:gd name="T4" fmla="*/ 166 w 179"/>
                      <a:gd name="T5" fmla="*/ 173 h 220"/>
                      <a:gd name="T6" fmla="*/ 159 w 179"/>
                      <a:gd name="T7" fmla="*/ 220 h 220"/>
                      <a:gd name="T8" fmla="*/ 0 w 179"/>
                      <a:gd name="T9" fmla="*/ 206 h 220"/>
                      <a:gd name="T10" fmla="*/ 67 w 179"/>
                      <a:gd name="T11" fmla="*/ 0 h 2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179" h="220">
                        <a:moveTo>
                          <a:pt x="67" y="0"/>
                        </a:moveTo>
                        <a:lnTo>
                          <a:pt x="179" y="7"/>
                        </a:lnTo>
                        <a:lnTo>
                          <a:pt x="166" y="173"/>
                        </a:lnTo>
                        <a:lnTo>
                          <a:pt x="159" y="220"/>
                        </a:lnTo>
                        <a:lnTo>
                          <a:pt x="0" y="206"/>
                        </a:lnTo>
                        <a:lnTo>
                          <a:pt x="67" y="0"/>
                        </a:lnTo>
                        <a:close/>
                      </a:path>
                    </a:pathLst>
                  </a:custGeom>
                  <a:solidFill>
                    <a:srgbClr val="F9F9F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03" name="Freeform 340"/>
                  <p:cNvSpPr/>
                  <p:nvPr/>
                </p:nvSpPr>
                <p:spPr bwMode="auto">
                  <a:xfrm>
                    <a:off x="4844" y="2336"/>
                    <a:ext cx="51" cy="161"/>
                  </a:xfrm>
                  <a:custGeom>
                    <a:avLst/>
                    <a:gdLst>
                      <a:gd name="T0" fmla="*/ 0 w 311"/>
                      <a:gd name="T1" fmla="*/ 0 h 804"/>
                      <a:gd name="T2" fmla="*/ 109 w 311"/>
                      <a:gd name="T3" fmla="*/ 409 h 804"/>
                      <a:gd name="T4" fmla="*/ 188 w 311"/>
                      <a:gd name="T5" fmla="*/ 804 h 804"/>
                      <a:gd name="T6" fmla="*/ 311 w 311"/>
                      <a:gd name="T7" fmla="*/ 796 h 804"/>
                      <a:gd name="T8" fmla="*/ 296 w 311"/>
                      <a:gd name="T9" fmla="*/ 446 h 804"/>
                      <a:gd name="T10" fmla="*/ 246 w 311"/>
                      <a:gd name="T11" fmla="*/ 171 h 804"/>
                      <a:gd name="T12" fmla="*/ 0 w 311"/>
                      <a:gd name="T13" fmla="*/ 0 h 80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311" h="804">
                        <a:moveTo>
                          <a:pt x="0" y="0"/>
                        </a:moveTo>
                        <a:lnTo>
                          <a:pt x="109" y="409"/>
                        </a:lnTo>
                        <a:lnTo>
                          <a:pt x="188" y="804"/>
                        </a:lnTo>
                        <a:lnTo>
                          <a:pt x="311" y="796"/>
                        </a:lnTo>
                        <a:lnTo>
                          <a:pt x="296" y="446"/>
                        </a:lnTo>
                        <a:lnTo>
                          <a:pt x="246" y="17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grpSp>
                <p:nvGrpSpPr>
                  <p:cNvPr id="304" name="Group 341"/>
                  <p:cNvGrpSpPr/>
                  <p:nvPr/>
                </p:nvGrpSpPr>
                <p:grpSpPr bwMode="auto">
                  <a:xfrm>
                    <a:off x="4904" y="2700"/>
                    <a:ext cx="24" cy="44"/>
                    <a:chOff x="4904" y="2700"/>
                    <a:chExt cx="24" cy="44"/>
                  </a:xfrm>
                </p:grpSpPr>
                <p:sp>
                  <p:nvSpPr>
                    <p:cNvPr id="315" name="Freeform 342"/>
                    <p:cNvSpPr/>
                    <p:nvPr/>
                  </p:nvSpPr>
                  <p:spPr bwMode="auto">
                    <a:xfrm>
                      <a:off x="4907" y="2712"/>
                      <a:ext cx="16" cy="32"/>
                    </a:xfrm>
                    <a:custGeom>
                      <a:avLst/>
                      <a:gdLst>
                        <a:gd name="T0" fmla="*/ 0 w 97"/>
                        <a:gd name="T1" fmla="*/ 163 h 163"/>
                        <a:gd name="T2" fmla="*/ 97 w 97"/>
                        <a:gd name="T3" fmla="*/ 163 h 163"/>
                        <a:gd name="T4" fmla="*/ 80 w 97"/>
                        <a:gd name="T5" fmla="*/ 0 h 163"/>
                        <a:gd name="T6" fmla="*/ 3 w 97"/>
                        <a:gd name="T7" fmla="*/ 5 h 163"/>
                        <a:gd name="T8" fmla="*/ 0 w 97"/>
                        <a:gd name="T9" fmla="*/ 163 h 16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97" h="163">
                          <a:moveTo>
                            <a:pt x="0" y="163"/>
                          </a:moveTo>
                          <a:lnTo>
                            <a:pt x="97" y="163"/>
                          </a:lnTo>
                          <a:lnTo>
                            <a:pt x="80" y="0"/>
                          </a:lnTo>
                          <a:lnTo>
                            <a:pt x="3" y="5"/>
                          </a:lnTo>
                          <a:lnTo>
                            <a:pt x="0" y="163"/>
                          </a:lnTo>
                          <a:close/>
                        </a:path>
                      </a:pathLst>
                    </a:custGeom>
                    <a:solidFill>
                      <a:srgbClr val="FF9F9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16" name="Freeform 343"/>
                    <p:cNvSpPr/>
                    <p:nvPr/>
                  </p:nvSpPr>
                  <p:spPr bwMode="auto">
                    <a:xfrm>
                      <a:off x="4904" y="2700"/>
                      <a:ext cx="24" cy="18"/>
                    </a:xfrm>
                    <a:custGeom>
                      <a:avLst/>
                      <a:gdLst>
                        <a:gd name="T0" fmla="*/ 126 w 140"/>
                        <a:gd name="T1" fmla="*/ 0 h 90"/>
                        <a:gd name="T2" fmla="*/ 140 w 140"/>
                        <a:gd name="T3" fmla="*/ 76 h 90"/>
                        <a:gd name="T4" fmla="*/ 4 w 140"/>
                        <a:gd name="T5" fmla="*/ 90 h 90"/>
                        <a:gd name="T6" fmla="*/ 0 w 140"/>
                        <a:gd name="T7" fmla="*/ 12 h 90"/>
                        <a:gd name="T8" fmla="*/ 126 w 140"/>
                        <a:gd name="T9" fmla="*/ 0 h 9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40" h="90">
                          <a:moveTo>
                            <a:pt x="126" y="0"/>
                          </a:moveTo>
                          <a:lnTo>
                            <a:pt x="140" y="76"/>
                          </a:lnTo>
                          <a:lnTo>
                            <a:pt x="4" y="90"/>
                          </a:lnTo>
                          <a:lnTo>
                            <a:pt x="0" y="12"/>
                          </a:lnTo>
                          <a:lnTo>
                            <a:pt x="126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sp>
                <p:nvSpPr>
                  <p:cNvPr id="305" name="Freeform 344"/>
                  <p:cNvSpPr/>
                  <p:nvPr/>
                </p:nvSpPr>
                <p:spPr bwMode="auto">
                  <a:xfrm>
                    <a:off x="4779" y="2327"/>
                    <a:ext cx="150" cy="419"/>
                  </a:xfrm>
                  <a:custGeom>
                    <a:avLst/>
                    <a:gdLst>
                      <a:gd name="T0" fmla="*/ 361 w 899"/>
                      <a:gd name="T1" fmla="*/ 34 h 2097"/>
                      <a:gd name="T2" fmla="*/ 287 w 899"/>
                      <a:gd name="T3" fmla="*/ 126 h 2097"/>
                      <a:gd name="T4" fmla="*/ 183 w 899"/>
                      <a:gd name="T5" fmla="*/ 227 h 2097"/>
                      <a:gd name="T6" fmla="*/ 109 w 899"/>
                      <a:gd name="T7" fmla="*/ 367 h 2097"/>
                      <a:gd name="T8" fmla="*/ 58 w 899"/>
                      <a:gd name="T9" fmla="*/ 552 h 2097"/>
                      <a:gd name="T10" fmla="*/ 52 w 899"/>
                      <a:gd name="T11" fmla="*/ 646 h 2097"/>
                      <a:gd name="T12" fmla="*/ 30 w 899"/>
                      <a:gd name="T13" fmla="*/ 833 h 2097"/>
                      <a:gd name="T14" fmla="*/ 29 w 899"/>
                      <a:gd name="T15" fmla="*/ 986 h 2097"/>
                      <a:gd name="T16" fmla="*/ 53 w 899"/>
                      <a:gd name="T17" fmla="*/ 1116 h 2097"/>
                      <a:gd name="T18" fmla="*/ 47 w 899"/>
                      <a:gd name="T19" fmla="*/ 1439 h 2097"/>
                      <a:gd name="T20" fmla="*/ 0 w 899"/>
                      <a:gd name="T21" fmla="*/ 2097 h 2097"/>
                      <a:gd name="T22" fmla="*/ 773 w 899"/>
                      <a:gd name="T23" fmla="*/ 1889 h 2097"/>
                      <a:gd name="T24" fmla="*/ 829 w 899"/>
                      <a:gd name="T25" fmla="*/ 1273 h 2097"/>
                      <a:gd name="T26" fmla="*/ 892 w 899"/>
                      <a:gd name="T27" fmla="*/ 721 h 2097"/>
                      <a:gd name="T28" fmla="*/ 893 w 899"/>
                      <a:gd name="T29" fmla="*/ 582 h 2097"/>
                      <a:gd name="T30" fmla="*/ 883 w 899"/>
                      <a:gd name="T31" fmla="*/ 508 h 2097"/>
                      <a:gd name="T32" fmla="*/ 870 w 899"/>
                      <a:gd name="T33" fmla="*/ 466 h 2097"/>
                      <a:gd name="T34" fmla="*/ 844 w 899"/>
                      <a:gd name="T35" fmla="*/ 426 h 2097"/>
                      <a:gd name="T36" fmla="*/ 794 w 899"/>
                      <a:gd name="T37" fmla="*/ 372 h 2097"/>
                      <a:gd name="T38" fmla="*/ 665 w 899"/>
                      <a:gd name="T39" fmla="*/ 263 h 2097"/>
                      <a:gd name="T40" fmla="*/ 626 w 899"/>
                      <a:gd name="T41" fmla="*/ 255 h 2097"/>
                      <a:gd name="T42" fmla="*/ 625 w 899"/>
                      <a:gd name="T43" fmla="*/ 330 h 2097"/>
                      <a:gd name="T44" fmla="*/ 638 w 899"/>
                      <a:gd name="T45" fmla="*/ 486 h 2097"/>
                      <a:gd name="T46" fmla="*/ 645 w 899"/>
                      <a:gd name="T47" fmla="*/ 865 h 2097"/>
                      <a:gd name="T48" fmla="*/ 593 w 899"/>
                      <a:gd name="T49" fmla="*/ 739 h 2097"/>
                      <a:gd name="T50" fmla="*/ 577 w 899"/>
                      <a:gd name="T51" fmla="*/ 666 h 2097"/>
                      <a:gd name="T52" fmla="*/ 563 w 899"/>
                      <a:gd name="T53" fmla="*/ 567 h 2097"/>
                      <a:gd name="T54" fmla="*/ 543 w 899"/>
                      <a:gd name="T55" fmla="*/ 472 h 2097"/>
                      <a:gd name="T56" fmla="*/ 509 w 899"/>
                      <a:gd name="T57" fmla="*/ 382 h 2097"/>
                      <a:gd name="T58" fmla="*/ 447 w 899"/>
                      <a:gd name="T59" fmla="*/ 246 h 2097"/>
                      <a:gd name="T60" fmla="*/ 381 w 899"/>
                      <a:gd name="T61" fmla="*/ 93 h 2097"/>
                      <a:gd name="T62" fmla="*/ 379 w 899"/>
                      <a:gd name="T63" fmla="*/ 43 h 2097"/>
                      <a:gd name="T64" fmla="*/ 391 w 899"/>
                      <a:gd name="T65" fmla="*/ 0 h 209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</a:cxnLst>
                    <a:rect l="0" t="0" r="r" b="b"/>
                    <a:pathLst>
                      <a:path w="899" h="2097">
                        <a:moveTo>
                          <a:pt x="391" y="0"/>
                        </a:moveTo>
                        <a:lnTo>
                          <a:pt x="361" y="34"/>
                        </a:lnTo>
                        <a:lnTo>
                          <a:pt x="325" y="80"/>
                        </a:lnTo>
                        <a:lnTo>
                          <a:pt x="287" y="126"/>
                        </a:lnTo>
                        <a:lnTo>
                          <a:pt x="210" y="201"/>
                        </a:lnTo>
                        <a:lnTo>
                          <a:pt x="183" y="227"/>
                        </a:lnTo>
                        <a:lnTo>
                          <a:pt x="164" y="258"/>
                        </a:lnTo>
                        <a:lnTo>
                          <a:pt x="109" y="367"/>
                        </a:lnTo>
                        <a:lnTo>
                          <a:pt x="80" y="440"/>
                        </a:lnTo>
                        <a:lnTo>
                          <a:pt x="58" y="552"/>
                        </a:lnTo>
                        <a:lnTo>
                          <a:pt x="52" y="611"/>
                        </a:lnTo>
                        <a:lnTo>
                          <a:pt x="52" y="646"/>
                        </a:lnTo>
                        <a:lnTo>
                          <a:pt x="36" y="772"/>
                        </a:lnTo>
                        <a:lnTo>
                          <a:pt x="30" y="833"/>
                        </a:lnTo>
                        <a:lnTo>
                          <a:pt x="30" y="894"/>
                        </a:lnTo>
                        <a:lnTo>
                          <a:pt x="29" y="986"/>
                        </a:lnTo>
                        <a:lnTo>
                          <a:pt x="52" y="1087"/>
                        </a:lnTo>
                        <a:lnTo>
                          <a:pt x="53" y="1116"/>
                        </a:lnTo>
                        <a:lnTo>
                          <a:pt x="54" y="1205"/>
                        </a:lnTo>
                        <a:lnTo>
                          <a:pt x="47" y="1439"/>
                        </a:lnTo>
                        <a:lnTo>
                          <a:pt x="29" y="1748"/>
                        </a:lnTo>
                        <a:lnTo>
                          <a:pt x="0" y="2097"/>
                        </a:lnTo>
                        <a:lnTo>
                          <a:pt x="773" y="2089"/>
                        </a:lnTo>
                        <a:lnTo>
                          <a:pt x="773" y="1889"/>
                        </a:lnTo>
                        <a:lnTo>
                          <a:pt x="899" y="1873"/>
                        </a:lnTo>
                        <a:lnTo>
                          <a:pt x="829" y="1273"/>
                        </a:lnTo>
                        <a:lnTo>
                          <a:pt x="871" y="821"/>
                        </a:lnTo>
                        <a:lnTo>
                          <a:pt x="892" y="721"/>
                        </a:lnTo>
                        <a:lnTo>
                          <a:pt x="893" y="615"/>
                        </a:lnTo>
                        <a:lnTo>
                          <a:pt x="893" y="582"/>
                        </a:lnTo>
                        <a:lnTo>
                          <a:pt x="889" y="547"/>
                        </a:lnTo>
                        <a:lnTo>
                          <a:pt x="883" y="508"/>
                        </a:lnTo>
                        <a:lnTo>
                          <a:pt x="877" y="487"/>
                        </a:lnTo>
                        <a:lnTo>
                          <a:pt x="870" y="466"/>
                        </a:lnTo>
                        <a:lnTo>
                          <a:pt x="861" y="449"/>
                        </a:lnTo>
                        <a:lnTo>
                          <a:pt x="844" y="426"/>
                        </a:lnTo>
                        <a:lnTo>
                          <a:pt x="810" y="400"/>
                        </a:lnTo>
                        <a:lnTo>
                          <a:pt x="794" y="372"/>
                        </a:lnTo>
                        <a:lnTo>
                          <a:pt x="696" y="266"/>
                        </a:lnTo>
                        <a:lnTo>
                          <a:pt x="665" y="263"/>
                        </a:lnTo>
                        <a:lnTo>
                          <a:pt x="644" y="259"/>
                        </a:lnTo>
                        <a:lnTo>
                          <a:pt x="626" y="255"/>
                        </a:lnTo>
                        <a:lnTo>
                          <a:pt x="606" y="250"/>
                        </a:lnTo>
                        <a:lnTo>
                          <a:pt x="625" y="330"/>
                        </a:lnTo>
                        <a:lnTo>
                          <a:pt x="635" y="408"/>
                        </a:lnTo>
                        <a:lnTo>
                          <a:pt x="638" y="486"/>
                        </a:lnTo>
                        <a:lnTo>
                          <a:pt x="653" y="634"/>
                        </a:lnTo>
                        <a:lnTo>
                          <a:pt x="645" y="865"/>
                        </a:lnTo>
                        <a:lnTo>
                          <a:pt x="602" y="784"/>
                        </a:lnTo>
                        <a:lnTo>
                          <a:pt x="593" y="739"/>
                        </a:lnTo>
                        <a:lnTo>
                          <a:pt x="586" y="697"/>
                        </a:lnTo>
                        <a:lnTo>
                          <a:pt x="577" y="666"/>
                        </a:lnTo>
                        <a:lnTo>
                          <a:pt x="570" y="615"/>
                        </a:lnTo>
                        <a:lnTo>
                          <a:pt x="563" y="567"/>
                        </a:lnTo>
                        <a:lnTo>
                          <a:pt x="553" y="519"/>
                        </a:lnTo>
                        <a:lnTo>
                          <a:pt x="543" y="472"/>
                        </a:lnTo>
                        <a:lnTo>
                          <a:pt x="530" y="430"/>
                        </a:lnTo>
                        <a:lnTo>
                          <a:pt x="509" y="382"/>
                        </a:lnTo>
                        <a:lnTo>
                          <a:pt x="472" y="303"/>
                        </a:lnTo>
                        <a:lnTo>
                          <a:pt x="447" y="246"/>
                        </a:lnTo>
                        <a:lnTo>
                          <a:pt x="414" y="167"/>
                        </a:lnTo>
                        <a:lnTo>
                          <a:pt x="381" y="93"/>
                        </a:lnTo>
                        <a:lnTo>
                          <a:pt x="371" y="64"/>
                        </a:lnTo>
                        <a:lnTo>
                          <a:pt x="379" y="43"/>
                        </a:lnTo>
                        <a:lnTo>
                          <a:pt x="394" y="13"/>
                        </a:lnTo>
                        <a:lnTo>
                          <a:pt x="391" y="0"/>
                        </a:lnTo>
                        <a:close/>
                      </a:path>
                    </a:pathLst>
                  </a:custGeom>
                  <a:solidFill>
                    <a:srgbClr val="7F7F7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06" name="Freeform 345"/>
                  <p:cNvSpPr/>
                  <p:nvPr/>
                </p:nvSpPr>
                <p:spPr bwMode="auto">
                  <a:xfrm>
                    <a:off x="4908" y="2401"/>
                    <a:ext cx="21" cy="303"/>
                  </a:xfrm>
                  <a:custGeom>
                    <a:avLst/>
                    <a:gdLst>
                      <a:gd name="T0" fmla="*/ 64 w 128"/>
                      <a:gd name="T1" fmla="*/ 147 h 1517"/>
                      <a:gd name="T2" fmla="*/ 75 w 128"/>
                      <a:gd name="T3" fmla="*/ 313 h 1517"/>
                      <a:gd name="T4" fmla="*/ 46 w 128"/>
                      <a:gd name="T5" fmla="*/ 691 h 1517"/>
                      <a:gd name="T6" fmla="*/ 0 w 128"/>
                      <a:gd name="T7" fmla="*/ 1061 h 1517"/>
                      <a:gd name="T8" fmla="*/ 0 w 128"/>
                      <a:gd name="T9" fmla="*/ 1517 h 1517"/>
                      <a:gd name="T10" fmla="*/ 128 w 128"/>
                      <a:gd name="T11" fmla="*/ 1501 h 1517"/>
                      <a:gd name="T12" fmla="*/ 57 w 128"/>
                      <a:gd name="T13" fmla="*/ 901 h 1517"/>
                      <a:gd name="T14" fmla="*/ 100 w 128"/>
                      <a:gd name="T15" fmla="*/ 449 h 1517"/>
                      <a:gd name="T16" fmla="*/ 121 w 128"/>
                      <a:gd name="T17" fmla="*/ 347 h 1517"/>
                      <a:gd name="T18" fmla="*/ 122 w 128"/>
                      <a:gd name="T19" fmla="*/ 242 h 1517"/>
                      <a:gd name="T20" fmla="*/ 122 w 128"/>
                      <a:gd name="T21" fmla="*/ 209 h 1517"/>
                      <a:gd name="T22" fmla="*/ 118 w 128"/>
                      <a:gd name="T23" fmla="*/ 174 h 1517"/>
                      <a:gd name="T24" fmla="*/ 112 w 128"/>
                      <a:gd name="T25" fmla="*/ 136 h 1517"/>
                      <a:gd name="T26" fmla="*/ 106 w 128"/>
                      <a:gd name="T27" fmla="*/ 115 h 1517"/>
                      <a:gd name="T28" fmla="*/ 99 w 128"/>
                      <a:gd name="T29" fmla="*/ 94 h 1517"/>
                      <a:gd name="T30" fmla="*/ 88 w 128"/>
                      <a:gd name="T31" fmla="*/ 77 h 1517"/>
                      <a:gd name="T32" fmla="*/ 72 w 128"/>
                      <a:gd name="T33" fmla="*/ 54 h 1517"/>
                      <a:gd name="T34" fmla="*/ 38 w 128"/>
                      <a:gd name="T35" fmla="*/ 28 h 1517"/>
                      <a:gd name="T36" fmla="*/ 20 w 128"/>
                      <a:gd name="T37" fmla="*/ 0 h 1517"/>
                      <a:gd name="T38" fmla="*/ 64 w 128"/>
                      <a:gd name="T39" fmla="*/ 147 h 15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28" h="1517">
                        <a:moveTo>
                          <a:pt x="64" y="147"/>
                        </a:moveTo>
                        <a:lnTo>
                          <a:pt x="75" y="313"/>
                        </a:lnTo>
                        <a:lnTo>
                          <a:pt x="46" y="691"/>
                        </a:lnTo>
                        <a:lnTo>
                          <a:pt x="0" y="1061"/>
                        </a:lnTo>
                        <a:lnTo>
                          <a:pt x="0" y="1517"/>
                        </a:lnTo>
                        <a:lnTo>
                          <a:pt x="128" y="1501"/>
                        </a:lnTo>
                        <a:lnTo>
                          <a:pt x="57" y="901"/>
                        </a:lnTo>
                        <a:lnTo>
                          <a:pt x="100" y="449"/>
                        </a:lnTo>
                        <a:lnTo>
                          <a:pt x="121" y="347"/>
                        </a:lnTo>
                        <a:lnTo>
                          <a:pt x="122" y="242"/>
                        </a:lnTo>
                        <a:lnTo>
                          <a:pt x="122" y="209"/>
                        </a:lnTo>
                        <a:lnTo>
                          <a:pt x="118" y="174"/>
                        </a:lnTo>
                        <a:lnTo>
                          <a:pt x="112" y="136"/>
                        </a:lnTo>
                        <a:lnTo>
                          <a:pt x="106" y="115"/>
                        </a:lnTo>
                        <a:lnTo>
                          <a:pt x="99" y="94"/>
                        </a:lnTo>
                        <a:lnTo>
                          <a:pt x="88" y="77"/>
                        </a:lnTo>
                        <a:lnTo>
                          <a:pt x="72" y="54"/>
                        </a:lnTo>
                        <a:lnTo>
                          <a:pt x="38" y="28"/>
                        </a:lnTo>
                        <a:lnTo>
                          <a:pt x="20" y="0"/>
                        </a:lnTo>
                        <a:lnTo>
                          <a:pt x="64" y="147"/>
                        </a:lnTo>
                        <a:close/>
                      </a:path>
                    </a:pathLst>
                  </a:custGeom>
                  <a:solidFill>
                    <a:srgbClr val="7F7F7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07" name="Freeform 346"/>
                  <p:cNvSpPr/>
                  <p:nvPr/>
                </p:nvSpPr>
                <p:spPr bwMode="auto">
                  <a:xfrm>
                    <a:off x="4810" y="2473"/>
                    <a:ext cx="87" cy="210"/>
                  </a:xfrm>
                  <a:custGeom>
                    <a:avLst/>
                    <a:gdLst>
                      <a:gd name="T0" fmla="*/ 0 w 525"/>
                      <a:gd name="T1" fmla="*/ 0 h 1048"/>
                      <a:gd name="T2" fmla="*/ 47 w 525"/>
                      <a:gd name="T3" fmla="*/ 135 h 1048"/>
                      <a:gd name="T4" fmla="*/ 100 w 525"/>
                      <a:gd name="T5" fmla="*/ 245 h 1048"/>
                      <a:gd name="T6" fmla="*/ 121 w 525"/>
                      <a:gd name="T7" fmla="*/ 298 h 1048"/>
                      <a:gd name="T8" fmla="*/ 128 w 525"/>
                      <a:gd name="T9" fmla="*/ 354 h 1048"/>
                      <a:gd name="T10" fmla="*/ 151 w 525"/>
                      <a:gd name="T11" fmla="*/ 376 h 1048"/>
                      <a:gd name="T12" fmla="*/ 233 w 525"/>
                      <a:gd name="T13" fmla="*/ 557 h 1048"/>
                      <a:gd name="T14" fmla="*/ 269 w 525"/>
                      <a:gd name="T15" fmla="*/ 621 h 1048"/>
                      <a:gd name="T16" fmla="*/ 330 w 525"/>
                      <a:gd name="T17" fmla="*/ 750 h 1048"/>
                      <a:gd name="T18" fmla="*/ 366 w 525"/>
                      <a:gd name="T19" fmla="*/ 822 h 1048"/>
                      <a:gd name="T20" fmla="*/ 399 w 525"/>
                      <a:gd name="T21" fmla="*/ 911 h 1048"/>
                      <a:gd name="T22" fmla="*/ 406 w 525"/>
                      <a:gd name="T23" fmla="*/ 952 h 1048"/>
                      <a:gd name="T24" fmla="*/ 489 w 525"/>
                      <a:gd name="T25" fmla="*/ 1048 h 1048"/>
                      <a:gd name="T26" fmla="*/ 517 w 525"/>
                      <a:gd name="T27" fmla="*/ 826 h 1048"/>
                      <a:gd name="T28" fmla="*/ 525 w 525"/>
                      <a:gd name="T29" fmla="*/ 710 h 1048"/>
                      <a:gd name="T30" fmla="*/ 514 w 525"/>
                      <a:gd name="T31" fmla="*/ 569 h 1048"/>
                      <a:gd name="T32" fmla="*/ 492 w 525"/>
                      <a:gd name="T33" fmla="*/ 409 h 1048"/>
                      <a:gd name="T34" fmla="*/ 464 w 525"/>
                      <a:gd name="T35" fmla="*/ 394 h 1048"/>
                      <a:gd name="T36" fmla="*/ 464 w 525"/>
                      <a:gd name="T37" fmla="*/ 491 h 1048"/>
                      <a:gd name="T38" fmla="*/ 478 w 525"/>
                      <a:gd name="T39" fmla="*/ 576 h 1048"/>
                      <a:gd name="T40" fmla="*/ 489 w 525"/>
                      <a:gd name="T41" fmla="*/ 669 h 1048"/>
                      <a:gd name="T42" fmla="*/ 485 w 525"/>
                      <a:gd name="T43" fmla="*/ 717 h 1048"/>
                      <a:gd name="T44" fmla="*/ 453 w 525"/>
                      <a:gd name="T45" fmla="*/ 565 h 1048"/>
                      <a:gd name="T46" fmla="*/ 428 w 525"/>
                      <a:gd name="T47" fmla="*/ 454 h 1048"/>
                      <a:gd name="T48" fmla="*/ 384 w 525"/>
                      <a:gd name="T49" fmla="*/ 383 h 1048"/>
                      <a:gd name="T50" fmla="*/ 110 w 525"/>
                      <a:gd name="T51" fmla="*/ 83 h 1048"/>
                      <a:gd name="T52" fmla="*/ 0 w 525"/>
                      <a:gd name="T53" fmla="*/ 0 h 104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</a:cxnLst>
                    <a:rect l="0" t="0" r="r" b="b"/>
                    <a:pathLst>
                      <a:path w="525" h="1048">
                        <a:moveTo>
                          <a:pt x="0" y="0"/>
                        </a:moveTo>
                        <a:lnTo>
                          <a:pt x="47" y="135"/>
                        </a:lnTo>
                        <a:lnTo>
                          <a:pt x="100" y="245"/>
                        </a:lnTo>
                        <a:lnTo>
                          <a:pt x="121" y="298"/>
                        </a:lnTo>
                        <a:lnTo>
                          <a:pt x="128" y="354"/>
                        </a:lnTo>
                        <a:lnTo>
                          <a:pt x="151" y="376"/>
                        </a:lnTo>
                        <a:lnTo>
                          <a:pt x="233" y="557"/>
                        </a:lnTo>
                        <a:lnTo>
                          <a:pt x="269" y="621"/>
                        </a:lnTo>
                        <a:lnTo>
                          <a:pt x="330" y="750"/>
                        </a:lnTo>
                        <a:lnTo>
                          <a:pt x="366" y="822"/>
                        </a:lnTo>
                        <a:lnTo>
                          <a:pt x="399" y="911"/>
                        </a:lnTo>
                        <a:lnTo>
                          <a:pt x="406" y="952"/>
                        </a:lnTo>
                        <a:lnTo>
                          <a:pt x="489" y="1048"/>
                        </a:lnTo>
                        <a:lnTo>
                          <a:pt x="517" y="826"/>
                        </a:lnTo>
                        <a:lnTo>
                          <a:pt x="525" y="710"/>
                        </a:lnTo>
                        <a:lnTo>
                          <a:pt x="514" y="569"/>
                        </a:lnTo>
                        <a:lnTo>
                          <a:pt x="492" y="409"/>
                        </a:lnTo>
                        <a:lnTo>
                          <a:pt x="464" y="394"/>
                        </a:lnTo>
                        <a:lnTo>
                          <a:pt x="464" y="491"/>
                        </a:lnTo>
                        <a:lnTo>
                          <a:pt x="478" y="576"/>
                        </a:lnTo>
                        <a:lnTo>
                          <a:pt x="489" y="669"/>
                        </a:lnTo>
                        <a:lnTo>
                          <a:pt x="485" y="717"/>
                        </a:lnTo>
                        <a:lnTo>
                          <a:pt x="453" y="565"/>
                        </a:lnTo>
                        <a:lnTo>
                          <a:pt x="428" y="454"/>
                        </a:lnTo>
                        <a:lnTo>
                          <a:pt x="384" y="383"/>
                        </a:lnTo>
                        <a:lnTo>
                          <a:pt x="110" y="8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3F3F3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08" name="Freeform 347"/>
                  <p:cNvSpPr/>
                  <p:nvPr/>
                </p:nvSpPr>
                <p:spPr bwMode="auto">
                  <a:xfrm>
                    <a:off x="4791" y="2375"/>
                    <a:ext cx="199" cy="223"/>
                  </a:xfrm>
                  <a:custGeom>
                    <a:avLst/>
                    <a:gdLst>
                      <a:gd name="T0" fmla="*/ 355 w 1198"/>
                      <a:gd name="T1" fmla="*/ 85 h 1114"/>
                      <a:gd name="T2" fmla="*/ 305 w 1198"/>
                      <a:gd name="T3" fmla="*/ 41 h 1114"/>
                      <a:gd name="T4" fmla="*/ 261 w 1198"/>
                      <a:gd name="T5" fmla="*/ 18 h 1114"/>
                      <a:gd name="T6" fmla="*/ 208 w 1198"/>
                      <a:gd name="T7" fmla="*/ 4 h 1114"/>
                      <a:gd name="T8" fmla="*/ 165 w 1198"/>
                      <a:gd name="T9" fmla="*/ 0 h 1114"/>
                      <a:gd name="T10" fmla="*/ 147 w 1198"/>
                      <a:gd name="T11" fmla="*/ 7 h 1114"/>
                      <a:gd name="T12" fmla="*/ 108 w 1198"/>
                      <a:gd name="T13" fmla="*/ 44 h 1114"/>
                      <a:gd name="T14" fmla="*/ 68 w 1198"/>
                      <a:gd name="T15" fmla="*/ 93 h 1114"/>
                      <a:gd name="T16" fmla="*/ 50 w 1198"/>
                      <a:gd name="T17" fmla="*/ 119 h 1114"/>
                      <a:gd name="T18" fmla="*/ 43 w 1198"/>
                      <a:gd name="T19" fmla="*/ 167 h 1114"/>
                      <a:gd name="T20" fmla="*/ 50 w 1198"/>
                      <a:gd name="T21" fmla="*/ 234 h 1114"/>
                      <a:gd name="T22" fmla="*/ 65 w 1198"/>
                      <a:gd name="T23" fmla="*/ 304 h 1114"/>
                      <a:gd name="T24" fmla="*/ 97 w 1198"/>
                      <a:gd name="T25" fmla="*/ 363 h 1114"/>
                      <a:gd name="T26" fmla="*/ 115 w 1198"/>
                      <a:gd name="T27" fmla="*/ 419 h 1114"/>
                      <a:gd name="T28" fmla="*/ 0 w 1198"/>
                      <a:gd name="T29" fmla="*/ 438 h 1114"/>
                      <a:gd name="T30" fmla="*/ 97 w 1198"/>
                      <a:gd name="T31" fmla="*/ 438 h 1114"/>
                      <a:gd name="T32" fmla="*/ 15 w 1198"/>
                      <a:gd name="T33" fmla="*/ 572 h 1114"/>
                      <a:gd name="T34" fmla="*/ 104 w 1198"/>
                      <a:gd name="T35" fmla="*/ 464 h 1114"/>
                      <a:gd name="T36" fmla="*/ 108 w 1198"/>
                      <a:gd name="T37" fmla="*/ 498 h 1114"/>
                      <a:gd name="T38" fmla="*/ 43 w 1198"/>
                      <a:gd name="T39" fmla="*/ 756 h 1114"/>
                      <a:gd name="T40" fmla="*/ 126 w 1198"/>
                      <a:gd name="T41" fmla="*/ 520 h 1114"/>
                      <a:gd name="T42" fmla="*/ 176 w 1198"/>
                      <a:gd name="T43" fmla="*/ 561 h 1114"/>
                      <a:gd name="T44" fmla="*/ 243 w 1198"/>
                      <a:gd name="T45" fmla="*/ 665 h 1114"/>
                      <a:gd name="T46" fmla="*/ 301 w 1198"/>
                      <a:gd name="T47" fmla="*/ 728 h 1114"/>
                      <a:gd name="T48" fmla="*/ 326 w 1198"/>
                      <a:gd name="T49" fmla="*/ 756 h 1114"/>
                      <a:gd name="T50" fmla="*/ 359 w 1198"/>
                      <a:gd name="T51" fmla="*/ 790 h 1114"/>
                      <a:gd name="T52" fmla="*/ 373 w 1198"/>
                      <a:gd name="T53" fmla="*/ 801 h 1114"/>
                      <a:gd name="T54" fmla="*/ 377 w 1198"/>
                      <a:gd name="T55" fmla="*/ 827 h 1114"/>
                      <a:gd name="T56" fmla="*/ 395 w 1198"/>
                      <a:gd name="T57" fmla="*/ 843 h 1114"/>
                      <a:gd name="T58" fmla="*/ 427 w 1198"/>
                      <a:gd name="T59" fmla="*/ 850 h 1114"/>
                      <a:gd name="T60" fmla="*/ 459 w 1198"/>
                      <a:gd name="T61" fmla="*/ 854 h 1114"/>
                      <a:gd name="T62" fmla="*/ 495 w 1198"/>
                      <a:gd name="T63" fmla="*/ 873 h 1114"/>
                      <a:gd name="T64" fmla="*/ 552 w 1198"/>
                      <a:gd name="T65" fmla="*/ 914 h 1114"/>
                      <a:gd name="T66" fmla="*/ 617 w 1198"/>
                      <a:gd name="T67" fmla="*/ 954 h 1114"/>
                      <a:gd name="T68" fmla="*/ 717 w 1198"/>
                      <a:gd name="T69" fmla="*/ 999 h 1114"/>
                      <a:gd name="T70" fmla="*/ 813 w 1198"/>
                      <a:gd name="T71" fmla="*/ 1032 h 1114"/>
                      <a:gd name="T72" fmla="*/ 900 w 1198"/>
                      <a:gd name="T73" fmla="*/ 1054 h 1114"/>
                      <a:gd name="T74" fmla="*/ 1018 w 1198"/>
                      <a:gd name="T75" fmla="*/ 1088 h 1114"/>
                      <a:gd name="T76" fmla="*/ 1137 w 1198"/>
                      <a:gd name="T77" fmla="*/ 1114 h 1114"/>
                      <a:gd name="T78" fmla="*/ 1158 w 1198"/>
                      <a:gd name="T79" fmla="*/ 1114 h 1114"/>
                      <a:gd name="T80" fmla="*/ 1155 w 1198"/>
                      <a:gd name="T81" fmla="*/ 1025 h 1114"/>
                      <a:gd name="T82" fmla="*/ 1165 w 1198"/>
                      <a:gd name="T83" fmla="*/ 984 h 1114"/>
                      <a:gd name="T84" fmla="*/ 1172 w 1198"/>
                      <a:gd name="T85" fmla="*/ 925 h 1114"/>
                      <a:gd name="T86" fmla="*/ 1190 w 1198"/>
                      <a:gd name="T87" fmla="*/ 850 h 1114"/>
                      <a:gd name="T88" fmla="*/ 1198 w 1198"/>
                      <a:gd name="T89" fmla="*/ 834 h 1114"/>
                      <a:gd name="T90" fmla="*/ 1097 w 1198"/>
                      <a:gd name="T91" fmla="*/ 812 h 1114"/>
                      <a:gd name="T92" fmla="*/ 1011 w 1198"/>
                      <a:gd name="T93" fmla="*/ 775 h 1114"/>
                      <a:gd name="T94" fmla="*/ 922 w 1198"/>
                      <a:gd name="T95" fmla="*/ 738 h 1114"/>
                      <a:gd name="T96" fmla="*/ 900 w 1198"/>
                      <a:gd name="T97" fmla="*/ 713 h 1114"/>
                      <a:gd name="T98" fmla="*/ 859 w 1198"/>
                      <a:gd name="T99" fmla="*/ 702 h 1114"/>
                      <a:gd name="T100" fmla="*/ 809 w 1198"/>
                      <a:gd name="T101" fmla="*/ 698 h 1114"/>
                      <a:gd name="T102" fmla="*/ 721 w 1198"/>
                      <a:gd name="T103" fmla="*/ 672 h 1114"/>
                      <a:gd name="T104" fmla="*/ 667 w 1198"/>
                      <a:gd name="T105" fmla="*/ 624 h 1114"/>
                      <a:gd name="T106" fmla="*/ 581 w 1198"/>
                      <a:gd name="T107" fmla="*/ 535 h 1114"/>
                      <a:gd name="T108" fmla="*/ 524 w 1198"/>
                      <a:gd name="T109" fmla="*/ 438 h 1114"/>
                      <a:gd name="T110" fmla="*/ 491 w 1198"/>
                      <a:gd name="T111" fmla="*/ 408 h 1114"/>
                      <a:gd name="T112" fmla="*/ 430 w 1198"/>
                      <a:gd name="T113" fmla="*/ 304 h 1114"/>
                      <a:gd name="T114" fmla="*/ 423 w 1198"/>
                      <a:gd name="T115" fmla="*/ 260 h 1114"/>
                      <a:gd name="T116" fmla="*/ 413 w 1198"/>
                      <a:gd name="T117" fmla="*/ 219 h 1114"/>
                      <a:gd name="T118" fmla="*/ 398 w 1198"/>
                      <a:gd name="T119" fmla="*/ 189 h 1114"/>
                      <a:gd name="T120" fmla="*/ 380 w 1198"/>
                      <a:gd name="T121" fmla="*/ 137 h 1114"/>
                      <a:gd name="T122" fmla="*/ 355 w 1198"/>
                      <a:gd name="T123" fmla="*/ 85 h 11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  <a:cxn ang="0">
                        <a:pos x="T120" y="T121"/>
                      </a:cxn>
                      <a:cxn ang="0">
                        <a:pos x="T122" y="T123"/>
                      </a:cxn>
                    </a:cxnLst>
                    <a:rect l="0" t="0" r="r" b="b"/>
                    <a:pathLst>
                      <a:path w="1198" h="1114">
                        <a:moveTo>
                          <a:pt x="355" y="85"/>
                        </a:moveTo>
                        <a:lnTo>
                          <a:pt x="305" y="41"/>
                        </a:lnTo>
                        <a:lnTo>
                          <a:pt x="261" y="18"/>
                        </a:lnTo>
                        <a:lnTo>
                          <a:pt x="208" y="4"/>
                        </a:lnTo>
                        <a:lnTo>
                          <a:pt x="165" y="0"/>
                        </a:lnTo>
                        <a:lnTo>
                          <a:pt x="147" y="7"/>
                        </a:lnTo>
                        <a:lnTo>
                          <a:pt x="108" y="44"/>
                        </a:lnTo>
                        <a:lnTo>
                          <a:pt x="68" y="93"/>
                        </a:lnTo>
                        <a:lnTo>
                          <a:pt x="50" y="119"/>
                        </a:lnTo>
                        <a:lnTo>
                          <a:pt x="43" y="167"/>
                        </a:lnTo>
                        <a:lnTo>
                          <a:pt x="50" y="234"/>
                        </a:lnTo>
                        <a:lnTo>
                          <a:pt x="65" y="304"/>
                        </a:lnTo>
                        <a:lnTo>
                          <a:pt x="97" y="363"/>
                        </a:lnTo>
                        <a:lnTo>
                          <a:pt x="115" y="419"/>
                        </a:lnTo>
                        <a:lnTo>
                          <a:pt x="0" y="438"/>
                        </a:lnTo>
                        <a:lnTo>
                          <a:pt x="97" y="438"/>
                        </a:lnTo>
                        <a:lnTo>
                          <a:pt x="15" y="572"/>
                        </a:lnTo>
                        <a:lnTo>
                          <a:pt x="104" y="464"/>
                        </a:lnTo>
                        <a:lnTo>
                          <a:pt x="108" y="498"/>
                        </a:lnTo>
                        <a:lnTo>
                          <a:pt x="43" y="756"/>
                        </a:lnTo>
                        <a:lnTo>
                          <a:pt x="126" y="520"/>
                        </a:lnTo>
                        <a:lnTo>
                          <a:pt x="176" y="561"/>
                        </a:lnTo>
                        <a:lnTo>
                          <a:pt x="243" y="665"/>
                        </a:lnTo>
                        <a:lnTo>
                          <a:pt x="301" y="728"/>
                        </a:lnTo>
                        <a:lnTo>
                          <a:pt x="326" y="756"/>
                        </a:lnTo>
                        <a:lnTo>
                          <a:pt x="359" y="790"/>
                        </a:lnTo>
                        <a:lnTo>
                          <a:pt x="373" y="801"/>
                        </a:lnTo>
                        <a:lnTo>
                          <a:pt x="377" y="827"/>
                        </a:lnTo>
                        <a:lnTo>
                          <a:pt x="395" y="843"/>
                        </a:lnTo>
                        <a:lnTo>
                          <a:pt x="427" y="850"/>
                        </a:lnTo>
                        <a:lnTo>
                          <a:pt x="459" y="854"/>
                        </a:lnTo>
                        <a:lnTo>
                          <a:pt x="495" y="873"/>
                        </a:lnTo>
                        <a:lnTo>
                          <a:pt x="552" y="914"/>
                        </a:lnTo>
                        <a:lnTo>
                          <a:pt x="617" y="954"/>
                        </a:lnTo>
                        <a:lnTo>
                          <a:pt x="717" y="999"/>
                        </a:lnTo>
                        <a:lnTo>
                          <a:pt x="813" y="1032"/>
                        </a:lnTo>
                        <a:lnTo>
                          <a:pt x="900" y="1054"/>
                        </a:lnTo>
                        <a:lnTo>
                          <a:pt x="1018" y="1088"/>
                        </a:lnTo>
                        <a:lnTo>
                          <a:pt x="1137" y="1114"/>
                        </a:lnTo>
                        <a:lnTo>
                          <a:pt x="1158" y="1114"/>
                        </a:lnTo>
                        <a:lnTo>
                          <a:pt x="1155" y="1025"/>
                        </a:lnTo>
                        <a:lnTo>
                          <a:pt x="1165" y="984"/>
                        </a:lnTo>
                        <a:lnTo>
                          <a:pt x="1172" y="925"/>
                        </a:lnTo>
                        <a:lnTo>
                          <a:pt x="1190" y="850"/>
                        </a:lnTo>
                        <a:lnTo>
                          <a:pt x="1198" y="834"/>
                        </a:lnTo>
                        <a:lnTo>
                          <a:pt x="1097" y="812"/>
                        </a:lnTo>
                        <a:lnTo>
                          <a:pt x="1011" y="775"/>
                        </a:lnTo>
                        <a:lnTo>
                          <a:pt x="922" y="738"/>
                        </a:lnTo>
                        <a:lnTo>
                          <a:pt x="900" y="713"/>
                        </a:lnTo>
                        <a:lnTo>
                          <a:pt x="859" y="702"/>
                        </a:lnTo>
                        <a:lnTo>
                          <a:pt x="809" y="698"/>
                        </a:lnTo>
                        <a:lnTo>
                          <a:pt x="721" y="672"/>
                        </a:lnTo>
                        <a:lnTo>
                          <a:pt x="667" y="624"/>
                        </a:lnTo>
                        <a:lnTo>
                          <a:pt x="581" y="535"/>
                        </a:lnTo>
                        <a:lnTo>
                          <a:pt x="524" y="438"/>
                        </a:lnTo>
                        <a:lnTo>
                          <a:pt x="491" y="408"/>
                        </a:lnTo>
                        <a:lnTo>
                          <a:pt x="430" y="304"/>
                        </a:lnTo>
                        <a:lnTo>
                          <a:pt x="423" y="260"/>
                        </a:lnTo>
                        <a:lnTo>
                          <a:pt x="413" y="219"/>
                        </a:lnTo>
                        <a:lnTo>
                          <a:pt x="398" y="189"/>
                        </a:lnTo>
                        <a:lnTo>
                          <a:pt x="380" y="137"/>
                        </a:lnTo>
                        <a:lnTo>
                          <a:pt x="355" y="85"/>
                        </a:lnTo>
                        <a:close/>
                      </a:path>
                    </a:pathLst>
                  </a:custGeom>
                  <a:solidFill>
                    <a:srgbClr val="7F7F7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09" name="Freeform 348"/>
                  <p:cNvSpPr/>
                  <p:nvPr/>
                </p:nvSpPr>
                <p:spPr bwMode="auto">
                  <a:xfrm>
                    <a:off x="4810" y="2406"/>
                    <a:ext cx="49" cy="50"/>
                  </a:xfrm>
                  <a:custGeom>
                    <a:avLst/>
                    <a:gdLst>
                      <a:gd name="T0" fmla="*/ 84 w 292"/>
                      <a:gd name="T1" fmla="*/ 167 h 251"/>
                      <a:gd name="T2" fmla="*/ 238 w 292"/>
                      <a:gd name="T3" fmla="*/ 3 h 251"/>
                      <a:gd name="T4" fmla="*/ 214 w 292"/>
                      <a:gd name="T5" fmla="*/ 5 h 251"/>
                      <a:gd name="T6" fmla="*/ 175 w 292"/>
                      <a:gd name="T7" fmla="*/ 15 h 251"/>
                      <a:gd name="T8" fmla="*/ 143 w 292"/>
                      <a:gd name="T9" fmla="*/ 34 h 251"/>
                      <a:gd name="T10" fmla="*/ 107 w 292"/>
                      <a:gd name="T11" fmla="*/ 71 h 251"/>
                      <a:gd name="T12" fmla="*/ 72 w 292"/>
                      <a:gd name="T13" fmla="*/ 106 h 251"/>
                      <a:gd name="T14" fmla="*/ 51 w 292"/>
                      <a:gd name="T15" fmla="*/ 141 h 251"/>
                      <a:gd name="T16" fmla="*/ 36 w 292"/>
                      <a:gd name="T17" fmla="*/ 174 h 251"/>
                      <a:gd name="T18" fmla="*/ 14 w 292"/>
                      <a:gd name="T19" fmla="*/ 210 h 251"/>
                      <a:gd name="T20" fmla="*/ 60 w 292"/>
                      <a:gd name="T21" fmla="*/ 214 h 251"/>
                      <a:gd name="T22" fmla="*/ 98 w 292"/>
                      <a:gd name="T23" fmla="*/ 209 h 251"/>
                      <a:gd name="T24" fmla="*/ 133 w 292"/>
                      <a:gd name="T25" fmla="*/ 195 h 251"/>
                      <a:gd name="T26" fmla="*/ 176 w 292"/>
                      <a:gd name="T27" fmla="*/ 168 h 251"/>
                      <a:gd name="T28" fmla="*/ 211 w 292"/>
                      <a:gd name="T29" fmla="*/ 134 h 251"/>
                      <a:gd name="T30" fmla="*/ 233 w 292"/>
                      <a:gd name="T31" fmla="*/ 120 h 251"/>
                      <a:gd name="T32" fmla="*/ 258 w 292"/>
                      <a:gd name="T33" fmla="*/ 102 h 251"/>
                      <a:gd name="T34" fmla="*/ 278 w 292"/>
                      <a:gd name="T35" fmla="*/ 97 h 251"/>
                      <a:gd name="T36" fmla="*/ 292 w 292"/>
                      <a:gd name="T37" fmla="*/ 106 h 251"/>
                      <a:gd name="T38" fmla="*/ 291 w 292"/>
                      <a:gd name="T39" fmla="*/ 129 h 251"/>
                      <a:gd name="T40" fmla="*/ 278 w 292"/>
                      <a:gd name="T41" fmla="*/ 163 h 251"/>
                      <a:gd name="T42" fmla="*/ 258 w 292"/>
                      <a:gd name="T43" fmla="*/ 183 h 251"/>
                      <a:gd name="T44" fmla="*/ 237 w 292"/>
                      <a:gd name="T45" fmla="*/ 199 h 251"/>
                      <a:gd name="T46" fmla="*/ 212 w 292"/>
                      <a:gd name="T47" fmla="*/ 214 h 251"/>
                      <a:gd name="T48" fmla="*/ 172 w 292"/>
                      <a:gd name="T49" fmla="*/ 232 h 251"/>
                      <a:gd name="T50" fmla="*/ 129 w 292"/>
                      <a:gd name="T51" fmla="*/ 247 h 251"/>
                      <a:gd name="T52" fmla="*/ 104 w 292"/>
                      <a:gd name="T53" fmla="*/ 251 h 251"/>
                      <a:gd name="T54" fmla="*/ 77 w 292"/>
                      <a:gd name="T55" fmla="*/ 246 h 251"/>
                      <a:gd name="T56" fmla="*/ 36 w 292"/>
                      <a:gd name="T57" fmla="*/ 232 h 251"/>
                      <a:gd name="T58" fmla="*/ 14 w 292"/>
                      <a:gd name="T59" fmla="*/ 221 h 251"/>
                      <a:gd name="T60" fmla="*/ 0 w 292"/>
                      <a:gd name="T61" fmla="*/ 209 h 251"/>
                      <a:gd name="T62" fmla="*/ 4 w 292"/>
                      <a:gd name="T63" fmla="*/ 168 h 251"/>
                      <a:gd name="T64" fmla="*/ 21 w 292"/>
                      <a:gd name="T65" fmla="*/ 133 h 251"/>
                      <a:gd name="T66" fmla="*/ 40 w 292"/>
                      <a:gd name="T67" fmla="*/ 102 h 251"/>
                      <a:gd name="T68" fmla="*/ 65 w 292"/>
                      <a:gd name="T69" fmla="*/ 75 h 251"/>
                      <a:gd name="T70" fmla="*/ 97 w 292"/>
                      <a:gd name="T71" fmla="*/ 49 h 251"/>
                      <a:gd name="T72" fmla="*/ 129 w 292"/>
                      <a:gd name="T73" fmla="*/ 29 h 251"/>
                      <a:gd name="T74" fmla="*/ 165 w 292"/>
                      <a:gd name="T75" fmla="*/ 15 h 251"/>
                      <a:gd name="T76" fmla="*/ 223 w 292"/>
                      <a:gd name="T77" fmla="*/ 0 h 251"/>
                      <a:gd name="T78" fmla="*/ 270 w 292"/>
                      <a:gd name="T79" fmla="*/ 1 h 251"/>
                      <a:gd name="T80" fmla="*/ 84 w 292"/>
                      <a:gd name="T81" fmla="*/ 167 h 25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</a:cxnLst>
                    <a:rect l="0" t="0" r="r" b="b"/>
                    <a:pathLst>
                      <a:path w="292" h="251">
                        <a:moveTo>
                          <a:pt x="84" y="167"/>
                        </a:moveTo>
                        <a:lnTo>
                          <a:pt x="238" y="3"/>
                        </a:lnTo>
                        <a:lnTo>
                          <a:pt x="214" y="5"/>
                        </a:lnTo>
                        <a:lnTo>
                          <a:pt x="175" y="15"/>
                        </a:lnTo>
                        <a:lnTo>
                          <a:pt x="143" y="34"/>
                        </a:lnTo>
                        <a:lnTo>
                          <a:pt x="107" y="71"/>
                        </a:lnTo>
                        <a:lnTo>
                          <a:pt x="72" y="106"/>
                        </a:lnTo>
                        <a:lnTo>
                          <a:pt x="51" y="141"/>
                        </a:lnTo>
                        <a:lnTo>
                          <a:pt x="36" y="174"/>
                        </a:lnTo>
                        <a:lnTo>
                          <a:pt x="14" y="210"/>
                        </a:lnTo>
                        <a:lnTo>
                          <a:pt x="60" y="214"/>
                        </a:lnTo>
                        <a:lnTo>
                          <a:pt x="98" y="209"/>
                        </a:lnTo>
                        <a:lnTo>
                          <a:pt x="133" y="195"/>
                        </a:lnTo>
                        <a:lnTo>
                          <a:pt x="176" y="168"/>
                        </a:lnTo>
                        <a:lnTo>
                          <a:pt x="211" y="134"/>
                        </a:lnTo>
                        <a:lnTo>
                          <a:pt x="233" y="120"/>
                        </a:lnTo>
                        <a:lnTo>
                          <a:pt x="258" y="102"/>
                        </a:lnTo>
                        <a:lnTo>
                          <a:pt x="278" y="97"/>
                        </a:lnTo>
                        <a:lnTo>
                          <a:pt x="292" y="106"/>
                        </a:lnTo>
                        <a:lnTo>
                          <a:pt x="291" y="129"/>
                        </a:lnTo>
                        <a:lnTo>
                          <a:pt x="278" y="163"/>
                        </a:lnTo>
                        <a:lnTo>
                          <a:pt x="258" y="183"/>
                        </a:lnTo>
                        <a:lnTo>
                          <a:pt x="237" y="199"/>
                        </a:lnTo>
                        <a:lnTo>
                          <a:pt x="212" y="214"/>
                        </a:lnTo>
                        <a:lnTo>
                          <a:pt x="172" y="232"/>
                        </a:lnTo>
                        <a:lnTo>
                          <a:pt x="129" y="247"/>
                        </a:lnTo>
                        <a:lnTo>
                          <a:pt x="104" y="251"/>
                        </a:lnTo>
                        <a:lnTo>
                          <a:pt x="77" y="246"/>
                        </a:lnTo>
                        <a:lnTo>
                          <a:pt x="36" y="232"/>
                        </a:lnTo>
                        <a:lnTo>
                          <a:pt x="14" y="221"/>
                        </a:lnTo>
                        <a:lnTo>
                          <a:pt x="0" y="209"/>
                        </a:lnTo>
                        <a:lnTo>
                          <a:pt x="4" y="168"/>
                        </a:lnTo>
                        <a:lnTo>
                          <a:pt x="21" y="133"/>
                        </a:lnTo>
                        <a:lnTo>
                          <a:pt x="40" y="102"/>
                        </a:lnTo>
                        <a:lnTo>
                          <a:pt x="65" y="75"/>
                        </a:lnTo>
                        <a:lnTo>
                          <a:pt x="97" y="49"/>
                        </a:lnTo>
                        <a:lnTo>
                          <a:pt x="129" y="29"/>
                        </a:lnTo>
                        <a:lnTo>
                          <a:pt x="165" y="15"/>
                        </a:lnTo>
                        <a:lnTo>
                          <a:pt x="223" y="0"/>
                        </a:lnTo>
                        <a:lnTo>
                          <a:pt x="270" y="1"/>
                        </a:lnTo>
                        <a:lnTo>
                          <a:pt x="84" y="167"/>
                        </a:lnTo>
                        <a:close/>
                      </a:path>
                    </a:pathLst>
                  </a:custGeom>
                  <a:solidFill>
                    <a:srgbClr val="5F5F5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10" name="Freeform 349"/>
                  <p:cNvSpPr/>
                  <p:nvPr/>
                </p:nvSpPr>
                <p:spPr bwMode="auto">
                  <a:xfrm>
                    <a:off x="4791" y="2409"/>
                    <a:ext cx="193" cy="189"/>
                  </a:xfrm>
                  <a:custGeom>
                    <a:avLst/>
                    <a:gdLst>
                      <a:gd name="T0" fmla="*/ 50 w 1158"/>
                      <a:gd name="T1" fmla="*/ 66 h 946"/>
                      <a:gd name="T2" fmla="*/ 97 w 1158"/>
                      <a:gd name="T3" fmla="*/ 195 h 946"/>
                      <a:gd name="T4" fmla="*/ 0 w 1158"/>
                      <a:gd name="T5" fmla="*/ 270 h 946"/>
                      <a:gd name="T6" fmla="*/ 15 w 1158"/>
                      <a:gd name="T7" fmla="*/ 405 h 946"/>
                      <a:gd name="T8" fmla="*/ 108 w 1158"/>
                      <a:gd name="T9" fmla="*/ 338 h 946"/>
                      <a:gd name="T10" fmla="*/ 126 w 1158"/>
                      <a:gd name="T11" fmla="*/ 353 h 946"/>
                      <a:gd name="T12" fmla="*/ 243 w 1158"/>
                      <a:gd name="T13" fmla="*/ 498 h 946"/>
                      <a:gd name="T14" fmla="*/ 326 w 1158"/>
                      <a:gd name="T15" fmla="*/ 589 h 946"/>
                      <a:gd name="T16" fmla="*/ 373 w 1158"/>
                      <a:gd name="T17" fmla="*/ 634 h 946"/>
                      <a:gd name="T18" fmla="*/ 395 w 1158"/>
                      <a:gd name="T19" fmla="*/ 675 h 946"/>
                      <a:gd name="T20" fmla="*/ 459 w 1158"/>
                      <a:gd name="T21" fmla="*/ 686 h 946"/>
                      <a:gd name="T22" fmla="*/ 552 w 1158"/>
                      <a:gd name="T23" fmla="*/ 746 h 946"/>
                      <a:gd name="T24" fmla="*/ 717 w 1158"/>
                      <a:gd name="T25" fmla="*/ 832 h 946"/>
                      <a:gd name="T26" fmla="*/ 900 w 1158"/>
                      <a:gd name="T27" fmla="*/ 887 h 946"/>
                      <a:gd name="T28" fmla="*/ 1137 w 1158"/>
                      <a:gd name="T29" fmla="*/ 946 h 946"/>
                      <a:gd name="T30" fmla="*/ 1112 w 1158"/>
                      <a:gd name="T31" fmla="*/ 921 h 946"/>
                      <a:gd name="T32" fmla="*/ 1033 w 1158"/>
                      <a:gd name="T33" fmla="*/ 880 h 946"/>
                      <a:gd name="T34" fmla="*/ 904 w 1158"/>
                      <a:gd name="T35" fmla="*/ 846 h 946"/>
                      <a:gd name="T36" fmla="*/ 838 w 1158"/>
                      <a:gd name="T37" fmla="*/ 806 h 946"/>
                      <a:gd name="T38" fmla="*/ 795 w 1158"/>
                      <a:gd name="T39" fmla="*/ 776 h 946"/>
                      <a:gd name="T40" fmla="*/ 717 w 1158"/>
                      <a:gd name="T41" fmla="*/ 761 h 946"/>
                      <a:gd name="T42" fmla="*/ 692 w 1158"/>
                      <a:gd name="T43" fmla="*/ 728 h 946"/>
                      <a:gd name="T44" fmla="*/ 620 w 1158"/>
                      <a:gd name="T45" fmla="*/ 713 h 946"/>
                      <a:gd name="T46" fmla="*/ 588 w 1158"/>
                      <a:gd name="T47" fmla="*/ 671 h 946"/>
                      <a:gd name="T48" fmla="*/ 552 w 1158"/>
                      <a:gd name="T49" fmla="*/ 652 h 946"/>
                      <a:gd name="T50" fmla="*/ 527 w 1158"/>
                      <a:gd name="T51" fmla="*/ 623 h 946"/>
                      <a:gd name="T52" fmla="*/ 473 w 1158"/>
                      <a:gd name="T53" fmla="*/ 611 h 946"/>
                      <a:gd name="T54" fmla="*/ 466 w 1158"/>
                      <a:gd name="T55" fmla="*/ 557 h 946"/>
                      <a:gd name="T56" fmla="*/ 398 w 1158"/>
                      <a:gd name="T57" fmla="*/ 557 h 946"/>
                      <a:gd name="T58" fmla="*/ 366 w 1158"/>
                      <a:gd name="T59" fmla="*/ 501 h 946"/>
                      <a:gd name="T60" fmla="*/ 309 w 1158"/>
                      <a:gd name="T61" fmla="*/ 479 h 946"/>
                      <a:gd name="T62" fmla="*/ 250 w 1158"/>
                      <a:gd name="T63" fmla="*/ 427 h 946"/>
                      <a:gd name="T64" fmla="*/ 225 w 1158"/>
                      <a:gd name="T65" fmla="*/ 372 h 946"/>
                      <a:gd name="T66" fmla="*/ 190 w 1158"/>
                      <a:gd name="T67" fmla="*/ 322 h 946"/>
                      <a:gd name="T68" fmla="*/ 133 w 1158"/>
                      <a:gd name="T69" fmla="*/ 267 h 946"/>
                      <a:gd name="T70" fmla="*/ 115 w 1158"/>
                      <a:gd name="T71" fmla="*/ 195 h 946"/>
                      <a:gd name="T72" fmla="*/ 79 w 1158"/>
                      <a:gd name="T73" fmla="*/ 110 h 946"/>
                      <a:gd name="T74" fmla="*/ 43 w 1158"/>
                      <a:gd name="T75" fmla="*/ 0 h 94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</a:cxnLst>
                    <a:rect l="0" t="0" r="r" b="b"/>
                    <a:pathLst>
                      <a:path w="1158" h="946">
                        <a:moveTo>
                          <a:pt x="43" y="0"/>
                        </a:moveTo>
                        <a:lnTo>
                          <a:pt x="50" y="66"/>
                        </a:lnTo>
                        <a:lnTo>
                          <a:pt x="65" y="135"/>
                        </a:lnTo>
                        <a:lnTo>
                          <a:pt x="97" y="195"/>
                        </a:lnTo>
                        <a:lnTo>
                          <a:pt x="115" y="252"/>
                        </a:lnTo>
                        <a:lnTo>
                          <a:pt x="0" y="270"/>
                        </a:lnTo>
                        <a:lnTo>
                          <a:pt x="97" y="270"/>
                        </a:lnTo>
                        <a:lnTo>
                          <a:pt x="15" y="405"/>
                        </a:lnTo>
                        <a:lnTo>
                          <a:pt x="104" y="296"/>
                        </a:lnTo>
                        <a:lnTo>
                          <a:pt x="108" y="338"/>
                        </a:lnTo>
                        <a:lnTo>
                          <a:pt x="43" y="589"/>
                        </a:lnTo>
                        <a:lnTo>
                          <a:pt x="126" y="353"/>
                        </a:lnTo>
                        <a:lnTo>
                          <a:pt x="176" y="394"/>
                        </a:lnTo>
                        <a:lnTo>
                          <a:pt x="243" y="498"/>
                        </a:lnTo>
                        <a:lnTo>
                          <a:pt x="301" y="560"/>
                        </a:lnTo>
                        <a:lnTo>
                          <a:pt x="326" y="589"/>
                        </a:lnTo>
                        <a:lnTo>
                          <a:pt x="359" y="623"/>
                        </a:lnTo>
                        <a:lnTo>
                          <a:pt x="373" y="634"/>
                        </a:lnTo>
                        <a:lnTo>
                          <a:pt x="377" y="660"/>
                        </a:lnTo>
                        <a:lnTo>
                          <a:pt x="395" y="675"/>
                        </a:lnTo>
                        <a:lnTo>
                          <a:pt x="427" y="682"/>
                        </a:lnTo>
                        <a:lnTo>
                          <a:pt x="459" y="686"/>
                        </a:lnTo>
                        <a:lnTo>
                          <a:pt x="495" y="704"/>
                        </a:lnTo>
                        <a:lnTo>
                          <a:pt x="552" y="746"/>
                        </a:lnTo>
                        <a:lnTo>
                          <a:pt x="617" y="787"/>
                        </a:lnTo>
                        <a:lnTo>
                          <a:pt x="717" y="832"/>
                        </a:lnTo>
                        <a:lnTo>
                          <a:pt x="813" y="865"/>
                        </a:lnTo>
                        <a:lnTo>
                          <a:pt x="900" y="887"/>
                        </a:lnTo>
                        <a:lnTo>
                          <a:pt x="1018" y="921"/>
                        </a:lnTo>
                        <a:lnTo>
                          <a:pt x="1137" y="946"/>
                        </a:lnTo>
                        <a:lnTo>
                          <a:pt x="1158" y="946"/>
                        </a:lnTo>
                        <a:lnTo>
                          <a:pt x="1112" y="921"/>
                        </a:lnTo>
                        <a:lnTo>
                          <a:pt x="1072" y="898"/>
                        </a:lnTo>
                        <a:lnTo>
                          <a:pt x="1033" y="880"/>
                        </a:lnTo>
                        <a:lnTo>
                          <a:pt x="990" y="846"/>
                        </a:lnTo>
                        <a:lnTo>
                          <a:pt x="904" y="846"/>
                        </a:lnTo>
                        <a:lnTo>
                          <a:pt x="859" y="824"/>
                        </a:lnTo>
                        <a:lnTo>
                          <a:pt x="838" y="806"/>
                        </a:lnTo>
                        <a:lnTo>
                          <a:pt x="834" y="776"/>
                        </a:lnTo>
                        <a:lnTo>
                          <a:pt x="795" y="776"/>
                        </a:lnTo>
                        <a:lnTo>
                          <a:pt x="767" y="772"/>
                        </a:lnTo>
                        <a:lnTo>
                          <a:pt x="717" y="761"/>
                        </a:lnTo>
                        <a:lnTo>
                          <a:pt x="703" y="754"/>
                        </a:lnTo>
                        <a:lnTo>
                          <a:pt x="692" y="728"/>
                        </a:lnTo>
                        <a:lnTo>
                          <a:pt x="656" y="724"/>
                        </a:lnTo>
                        <a:lnTo>
                          <a:pt x="620" y="713"/>
                        </a:lnTo>
                        <a:lnTo>
                          <a:pt x="599" y="697"/>
                        </a:lnTo>
                        <a:lnTo>
                          <a:pt x="588" y="671"/>
                        </a:lnTo>
                        <a:lnTo>
                          <a:pt x="534" y="682"/>
                        </a:lnTo>
                        <a:lnTo>
                          <a:pt x="552" y="652"/>
                        </a:lnTo>
                        <a:lnTo>
                          <a:pt x="542" y="634"/>
                        </a:lnTo>
                        <a:lnTo>
                          <a:pt x="527" y="623"/>
                        </a:lnTo>
                        <a:lnTo>
                          <a:pt x="499" y="619"/>
                        </a:lnTo>
                        <a:lnTo>
                          <a:pt x="473" y="611"/>
                        </a:lnTo>
                        <a:lnTo>
                          <a:pt x="477" y="571"/>
                        </a:lnTo>
                        <a:lnTo>
                          <a:pt x="466" y="557"/>
                        </a:lnTo>
                        <a:lnTo>
                          <a:pt x="423" y="557"/>
                        </a:lnTo>
                        <a:lnTo>
                          <a:pt x="398" y="557"/>
                        </a:lnTo>
                        <a:lnTo>
                          <a:pt x="384" y="524"/>
                        </a:lnTo>
                        <a:lnTo>
                          <a:pt x="366" y="501"/>
                        </a:lnTo>
                        <a:lnTo>
                          <a:pt x="337" y="494"/>
                        </a:lnTo>
                        <a:lnTo>
                          <a:pt x="309" y="479"/>
                        </a:lnTo>
                        <a:lnTo>
                          <a:pt x="279" y="457"/>
                        </a:lnTo>
                        <a:lnTo>
                          <a:pt x="250" y="427"/>
                        </a:lnTo>
                        <a:lnTo>
                          <a:pt x="236" y="398"/>
                        </a:lnTo>
                        <a:lnTo>
                          <a:pt x="225" y="372"/>
                        </a:lnTo>
                        <a:lnTo>
                          <a:pt x="205" y="353"/>
                        </a:lnTo>
                        <a:lnTo>
                          <a:pt x="190" y="322"/>
                        </a:lnTo>
                        <a:lnTo>
                          <a:pt x="158" y="296"/>
                        </a:lnTo>
                        <a:lnTo>
                          <a:pt x="133" y="267"/>
                        </a:lnTo>
                        <a:lnTo>
                          <a:pt x="126" y="228"/>
                        </a:lnTo>
                        <a:lnTo>
                          <a:pt x="115" y="195"/>
                        </a:lnTo>
                        <a:lnTo>
                          <a:pt x="93" y="158"/>
                        </a:lnTo>
                        <a:lnTo>
                          <a:pt x="79" y="110"/>
                        </a:lnTo>
                        <a:lnTo>
                          <a:pt x="68" y="66"/>
                        </a:lnTo>
                        <a:lnTo>
                          <a:pt x="43" y="0"/>
                        </a:lnTo>
                        <a:close/>
                      </a:path>
                    </a:pathLst>
                  </a:custGeom>
                  <a:solidFill>
                    <a:srgbClr val="5F5F5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11" name="Freeform 350"/>
                  <p:cNvSpPr/>
                  <p:nvPr/>
                </p:nvSpPr>
                <p:spPr bwMode="auto">
                  <a:xfrm>
                    <a:off x="4871" y="2497"/>
                    <a:ext cx="33" cy="46"/>
                  </a:xfrm>
                  <a:custGeom>
                    <a:avLst/>
                    <a:gdLst>
                      <a:gd name="T0" fmla="*/ 186 w 199"/>
                      <a:gd name="T1" fmla="*/ 69 h 231"/>
                      <a:gd name="T2" fmla="*/ 126 w 199"/>
                      <a:gd name="T3" fmla="*/ 169 h 231"/>
                      <a:gd name="T4" fmla="*/ 107 w 199"/>
                      <a:gd name="T5" fmla="*/ 217 h 231"/>
                      <a:gd name="T6" fmla="*/ 100 w 199"/>
                      <a:gd name="T7" fmla="*/ 231 h 231"/>
                      <a:gd name="T8" fmla="*/ 94 w 199"/>
                      <a:gd name="T9" fmla="*/ 231 h 231"/>
                      <a:gd name="T10" fmla="*/ 94 w 199"/>
                      <a:gd name="T11" fmla="*/ 183 h 231"/>
                      <a:gd name="T12" fmla="*/ 107 w 199"/>
                      <a:gd name="T13" fmla="*/ 116 h 231"/>
                      <a:gd name="T14" fmla="*/ 133 w 199"/>
                      <a:gd name="T15" fmla="*/ 75 h 231"/>
                      <a:gd name="T16" fmla="*/ 159 w 199"/>
                      <a:gd name="T17" fmla="*/ 40 h 231"/>
                      <a:gd name="T18" fmla="*/ 186 w 199"/>
                      <a:gd name="T19" fmla="*/ 33 h 231"/>
                      <a:gd name="T20" fmla="*/ 193 w 199"/>
                      <a:gd name="T21" fmla="*/ 27 h 231"/>
                      <a:gd name="T22" fmla="*/ 139 w 199"/>
                      <a:gd name="T23" fmla="*/ 27 h 231"/>
                      <a:gd name="T24" fmla="*/ 107 w 199"/>
                      <a:gd name="T25" fmla="*/ 53 h 231"/>
                      <a:gd name="T26" fmla="*/ 54 w 199"/>
                      <a:gd name="T27" fmla="*/ 89 h 231"/>
                      <a:gd name="T28" fmla="*/ 27 w 199"/>
                      <a:gd name="T29" fmla="*/ 128 h 231"/>
                      <a:gd name="T30" fmla="*/ 8 w 199"/>
                      <a:gd name="T31" fmla="*/ 162 h 231"/>
                      <a:gd name="T32" fmla="*/ 0 w 199"/>
                      <a:gd name="T33" fmla="*/ 178 h 231"/>
                      <a:gd name="T34" fmla="*/ 27 w 199"/>
                      <a:gd name="T35" fmla="*/ 121 h 231"/>
                      <a:gd name="T36" fmla="*/ 60 w 199"/>
                      <a:gd name="T37" fmla="*/ 61 h 231"/>
                      <a:gd name="T38" fmla="*/ 107 w 199"/>
                      <a:gd name="T39" fmla="*/ 19 h 231"/>
                      <a:gd name="T40" fmla="*/ 126 w 199"/>
                      <a:gd name="T41" fmla="*/ 6 h 231"/>
                      <a:gd name="T42" fmla="*/ 159 w 199"/>
                      <a:gd name="T43" fmla="*/ 0 h 231"/>
                      <a:gd name="T44" fmla="*/ 180 w 199"/>
                      <a:gd name="T45" fmla="*/ 6 h 231"/>
                      <a:gd name="T46" fmla="*/ 199 w 199"/>
                      <a:gd name="T47" fmla="*/ 19 h 231"/>
                      <a:gd name="T48" fmla="*/ 186 w 199"/>
                      <a:gd name="T49" fmla="*/ 69 h 2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</a:cxnLst>
                    <a:rect l="0" t="0" r="r" b="b"/>
                    <a:pathLst>
                      <a:path w="199" h="231">
                        <a:moveTo>
                          <a:pt x="186" y="69"/>
                        </a:moveTo>
                        <a:lnTo>
                          <a:pt x="126" y="169"/>
                        </a:lnTo>
                        <a:lnTo>
                          <a:pt x="107" y="217"/>
                        </a:lnTo>
                        <a:lnTo>
                          <a:pt x="100" y="231"/>
                        </a:lnTo>
                        <a:lnTo>
                          <a:pt x="94" y="231"/>
                        </a:lnTo>
                        <a:lnTo>
                          <a:pt x="94" y="183"/>
                        </a:lnTo>
                        <a:lnTo>
                          <a:pt x="107" y="116"/>
                        </a:lnTo>
                        <a:lnTo>
                          <a:pt x="133" y="75"/>
                        </a:lnTo>
                        <a:lnTo>
                          <a:pt x="159" y="40"/>
                        </a:lnTo>
                        <a:lnTo>
                          <a:pt x="186" y="33"/>
                        </a:lnTo>
                        <a:lnTo>
                          <a:pt x="193" y="27"/>
                        </a:lnTo>
                        <a:lnTo>
                          <a:pt x="139" y="27"/>
                        </a:lnTo>
                        <a:lnTo>
                          <a:pt x="107" y="53"/>
                        </a:lnTo>
                        <a:lnTo>
                          <a:pt x="54" y="89"/>
                        </a:lnTo>
                        <a:lnTo>
                          <a:pt x="27" y="128"/>
                        </a:lnTo>
                        <a:lnTo>
                          <a:pt x="8" y="162"/>
                        </a:lnTo>
                        <a:lnTo>
                          <a:pt x="0" y="178"/>
                        </a:lnTo>
                        <a:lnTo>
                          <a:pt x="27" y="121"/>
                        </a:lnTo>
                        <a:lnTo>
                          <a:pt x="60" y="61"/>
                        </a:lnTo>
                        <a:lnTo>
                          <a:pt x="107" y="19"/>
                        </a:lnTo>
                        <a:lnTo>
                          <a:pt x="126" y="6"/>
                        </a:lnTo>
                        <a:lnTo>
                          <a:pt x="159" y="0"/>
                        </a:lnTo>
                        <a:lnTo>
                          <a:pt x="180" y="6"/>
                        </a:lnTo>
                        <a:lnTo>
                          <a:pt x="199" y="19"/>
                        </a:lnTo>
                        <a:lnTo>
                          <a:pt x="186" y="69"/>
                        </a:lnTo>
                        <a:close/>
                      </a:path>
                    </a:pathLst>
                  </a:custGeom>
                  <a:solidFill>
                    <a:srgbClr val="5F5F5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grpSp>
                <p:nvGrpSpPr>
                  <p:cNvPr id="312" name="Group 351"/>
                  <p:cNvGrpSpPr/>
                  <p:nvPr/>
                </p:nvGrpSpPr>
                <p:grpSpPr bwMode="auto">
                  <a:xfrm>
                    <a:off x="4842" y="2328"/>
                    <a:ext cx="46" cy="158"/>
                    <a:chOff x="4842" y="2328"/>
                    <a:chExt cx="46" cy="158"/>
                  </a:xfrm>
                </p:grpSpPr>
                <p:sp>
                  <p:nvSpPr>
                    <p:cNvPr id="313" name="Freeform 352"/>
                    <p:cNvSpPr/>
                    <p:nvPr/>
                  </p:nvSpPr>
                  <p:spPr bwMode="auto">
                    <a:xfrm>
                      <a:off x="4863" y="2379"/>
                      <a:ext cx="25" cy="107"/>
                    </a:xfrm>
                    <a:custGeom>
                      <a:avLst/>
                      <a:gdLst>
                        <a:gd name="T0" fmla="*/ 0 w 153"/>
                        <a:gd name="T1" fmla="*/ 111 h 534"/>
                        <a:gd name="T2" fmla="*/ 46 w 153"/>
                        <a:gd name="T3" fmla="*/ 63 h 534"/>
                        <a:gd name="T4" fmla="*/ 61 w 153"/>
                        <a:gd name="T5" fmla="*/ 93 h 534"/>
                        <a:gd name="T6" fmla="*/ 75 w 153"/>
                        <a:gd name="T7" fmla="*/ 130 h 534"/>
                        <a:gd name="T8" fmla="*/ 101 w 153"/>
                        <a:gd name="T9" fmla="*/ 402 h 534"/>
                        <a:gd name="T10" fmla="*/ 94 w 153"/>
                        <a:gd name="T11" fmla="*/ 454 h 534"/>
                        <a:gd name="T12" fmla="*/ 145 w 153"/>
                        <a:gd name="T13" fmla="*/ 534 h 534"/>
                        <a:gd name="T14" fmla="*/ 153 w 153"/>
                        <a:gd name="T15" fmla="*/ 365 h 534"/>
                        <a:gd name="T16" fmla="*/ 138 w 153"/>
                        <a:gd name="T17" fmla="*/ 302 h 534"/>
                        <a:gd name="T18" fmla="*/ 112 w 153"/>
                        <a:gd name="T19" fmla="*/ 192 h 534"/>
                        <a:gd name="T20" fmla="*/ 94 w 153"/>
                        <a:gd name="T21" fmla="*/ 105 h 534"/>
                        <a:gd name="T22" fmla="*/ 101 w 153"/>
                        <a:gd name="T23" fmla="*/ 42 h 534"/>
                        <a:gd name="T24" fmla="*/ 76 w 153"/>
                        <a:gd name="T25" fmla="*/ 0 h 534"/>
                        <a:gd name="T26" fmla="*/ 2 w 153"/>
                        <a:gd name="T27" fmla="*/ 90 h 534"/>
                        <a:gd name="T28" fmla="*/ 0 w 153"/>
                        <a:gd name="T29" fmla="*/ 111 h 5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</a:cxnLst>
                      <a:rect l="0" t="0" r="r" b="b"/>
                      <a:pathLst>
                        <a:path w="153" h="534">
                          <a:moveTo>
                            <a:pt x="0" y="111"/>
                          </a:moveTo>
                          <a:lnTo>
                            <a:pt x="46" y="63"/>
                          </a:lnTo>
                          <a:lnTo>
                            <a:pt x="61" y="93"/>
                          </a:lnTo>
                          <a:lnTo>
                            <a:pt x="75" y="130"/>
                          </a:lnTo>
                          <a:lnTo>
                            <a:pt x="101" y="402"/>
                          </a:lnTo>
                          <a:lnTo>
                            <a:pt x="94" y="454"/>
                          </a:lnTo>
                          <a:lnTo>
                            <a:pt x="145" y="534"/>
                          </a:lnTo>
                          <a:lnTo>
                            <a:pt x="153" y="365"/>
                          </a:lnTo>
                          <a:lnTo>
                            <a:pt x="138" y="302"/>
                          </a:lnTo>
                          <a:lnTo>
                            <a:pt x="112" y="192"/>
                          </a:lnTo>
                          <a:lnTo>
                            <a:pt x="94" y="105"/>
                          </a:lnTo>
                          <a:lnTo>
                            <a:pt x="101" y="42"/>
                          </a:lnTo>
                          <a:lnTo>
                            <a:pt x="76" y="0"/>
                          </a:lnTo>
                          <a:lnTo>
                            <a:pt x="2" y="90"/>
                          </a:lnTo>
                          <a:lnTo>
                            <a:pt x="0" y="111"/>
                          </a:lnTo>
                          <a:close/>
                        </a:path>
                      </a:pathLst>
                    </a:custGeom>
                    <a:solidFill>
                      <a:srgbClr val="00007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14" name="Freeform 353"/>
                    <p:cNvSpPr/>
                    <p:nvPr/>
                  </p:nvSpPr>
                  <p:spPr bwMode="auto">
                    <a:xfrm>
                      <a:off x="4842" y="2328"/>
                      <a:ext cx="42" cy="72"/>
                    </a:xfrm>
                    <a:custGeom>
                      <a:avLst/>
                      <a:gdLst>
                        <a:gd name="T0" fmla="*/ 15 w 254"/>
                        <a:gd name="T1" fmla="*/ 0 h 359"/>
                        <a:gd name="T2" fmla="*/ 34 w 254"/>
                        <a:gd name="T3" fmla="*/ 56 h 359"/>
                        <a:gd name="T4" fmla="*/ 51 w 254"/>
                        <a:gd name="T5" fmla="*/ 91 h 359"/>
                        <a:gd name="T6" fmla="*/ 70 w 254"/>
                        <a:gd name="T7" fmla="*/ 120 h 359"/>
                        <a:gd name="T8" fmla="*/ 94 w 254"/>
                        <a:gd name="T9" fmla="*/ 158 h 359"/>
                        <a:gd name="T10" fmla="*/ 123 w 254"/>
                        <a:gd name="T11" fmla="*/ 202 h 359"/>
                        <a:gd name="T12" fmla="*/ 152 w 254"/>
                        <a:gd name="T13" fmla="*/ 227 h 359"/>
                        <a:gd name="T14" fmla="*/ 181 w 254"/>
                        <a:gd name="T15" fmla="*/ 247 h 359"/>
                        <a:gd name="T16" fmla="*/ 230 w 254"/>
                        <a:gd name="T17" fmla="*/ 245 h 359"/>
                        <a:gd name="T18" fmla="*/ 254 w 254"/>
                        <a:gd name="T19" fmla="*/ 336 h 359"/>
                        <a:gd name="T20" fmla="*/ 202 w 254"/>
                        <a:gd name="T21" fmla="*/ 258 h 359"/>
                        <a:gd name="T22" fmla="*/ 127 w 254"/>
                        <a:gd name="T23" fmla="*/ 359 h 359"/>
                        <a:gd name="T24" fmla="*/ 100 w 254"/>
                        <a:gd name="T25" fmla="*/ 304 h 359"/>
                        <a:gd name="T26" fmla="*/ 73 w 254"/>
                        <a:gd name="T27" fmla="*/ 256 h 359"/>
                        <a:gd name="T28" fmla="*/ 59 w 254"/>
                        <a:gd name="T29" fmla="*/ 229 h 359"/>
                        <a:gd name="T30" fmla="*/ 47 w 254"/>
                        <a:gd name="T31" fmla="*/ 194 h 359"/>
                        <a:gd name="T32" fmla="*/ 37 w 254"/>
                        <a:gd name="T33" fmla="*/ 162 h 359"/>
                        <a:gd name="T34" fmla="*/ 29 w 254"/>
                        <a:gd name="T35" fmla="*/ 135 h 359"/>
                        <a:gd name="T36" fmla="*/ 8 w 254"/>
                        <a:gd name="T37" fmla="*/ 94 h 359"/>
                        <a:gd name="T38" fmla="*/ 2 w 254"/>
                        <a:gd name="T39" fmla="*/ 67 h 359"/>
                        <a:gd name="T40" fmla="*/ 0 w 254"/>
                        <a:gd name="T41" fmla="*/ 45 h 359"/>
                        <a:gd name="T42" fmla="*/ 15 w 254"/>
                        <a:gd name="T43" fmla="*/ 0 h 35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</a:cxnLst>
                      <a:rect l="0" t="0" r="r" b="b"/>
                      <a:pathLst>
                        <a:path w="254" h="359">
                          <a:moveTo>
                            <a:pt x="15" y="0"/>
                          </a:moveTo>
                          <a:lnTo>
                            <a:pt x="34" y="56"/>
                          </a:lnTo>
                          <a:lnTo>
                            <a:pt x="51" y="91"/>
                          </a:lnTo>
                          <a:lnTo>
                            <a:pt x="70" y="120"/>
                          </a:lnTo>
                          <a:lnTo>
                            <a:pt x="94" y="158"/>
                          </a:lnTo>
                          <a:lnTo>
                            <a:pt x="123" y="202"/>
                          </a:lnTo>
                          <a:lnTo>
                            <a:pt x="152" y="227"/>
                          </a:lnTo>
                          <a:lnTo>
                            <a:pt x="181" y="247"/>
                          </a:lnTo>
                          <a:lnTo>
                            <a:pt x="230" y="245"/>
                          </a:lnTo>
                          <a:lnTo>
                            <a:pt x="254" y="336"/>
                          </a:lnTo>
                          <a:lnTo>
                            <a:pt x="202" y="258"/>
                          </a:lnTo>
                          <a:lnTo>
                            <a:pt x="127" y="359"/>
                          </a:lnTo>
                          <a:lnTo>
                            <a:pt x="100" y="304"/>
                          </a:lnTo>
                          <a:lnTo>
                            <a:pt x="73" y="256"/>
                          </a:lnTo>
                          <a:lnTo>
                            <a:pt x="59" y="229"/>
                          </a:lnTo>
                          <a:lnTo>
                            <a:pt x="47" y="194"/>
                          </a:lnTo>
                          <a:lnTo>
                            <a:pt x="37" y="162"/>
                          </a:lnTo>
                          <a:lnTo>
                            <a:pt x="29" y="135"/>
                          </a:lnTo>
                          <a:lnTo>
                            <a:pt x="8" y="94"/>
                          </a:lnTo>
                          <a:lnTo>
                            <a:pt x="2" y="67"/>
                          </a:lnTo>
                          <a:lnTo>
                            <a:pt x="0" y="45"/>
                          </a:lnTo>
                          <a:lnTo>
                            <a:pt x="15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  <p:grpSp>
              <p:nvGrpSpPr>
                <p:cNvPr id="270" name="Group 354"/>
                <p:cNvGrpSpPr/>
                <p:nvPr/>
              </p:nvGrpSpPr>
              <p:grpSpPr bwMode="auto">
                <a:xfrm>
                  <a:off x="4840" y="2242"/>
                  <a:ext cx="86" cy="141"/>
                  <a:chOff x="4840" y="2242"/>
                  <a:chExt cx="86" cy="141"/>
                </a:xfrm>
              </p:grpSpPr>
              <p:sp>
                <p:nvSpPr>
                  <p:cNvPr id="271" name="Freeform 355"/>
                  <p:cNvSpPr/>
                  <p:nvPr/>
                </p:nvSpPr>
                <p:spPr bwMode="auto">
                  <a:xfrm>
                    <a:off x="4842" y="2244"/>
                    <a:ext cx="83" cy="139"/>
                  </a:xfrm>
                  <a:custGeom>
                    <a:avLst/>
                    <a:gdLst>
                      <a:gd name="T0" fmla="*/ 201 w 502"/>
                      <a:gd name="T1" fmla="*/ 682 h 693"/>
                      <a:gd name="T2" fmla="*/ 224 w 502"/>
                      <a:gd name="T3" fmla="*/ 673 h 693"/>
                      <a:gd name="T4" fmla="*/ 269 w 502"/>
                      <a:gd name="T5" fmla="*/ 684 h 693"/>
                      <a:gd name="T6" fmla="*/ 302 w 502"/>
                      <a:gd name="T7" fmla="*/ 691 h 693"/>
                      <a:gd name="T8" fmla="*/ 317 w 502"/>
                      <a:gd name="T9" fmla="*/ 691 h 693"/>
                      <a:gd name="T10" fmla="*/ 336 w 502"/>
                      <a:gd name="T11" fmla="*/ 693 h 693"/>
                      <a:gd name="T12" fmla="*/ 355 w 502"/>
                      <a:gd name="T13" fmla="*/ 693 h 693"/>
                      <a:gd name="T14" fmla="*/ 371 w 502"/>
                      <a:gd name="T15" fmla="*/ 688 h 693"/>
                      <a:gd name="T16" fmla="*/ 381 w 502"/>
                      <a:gd name="T17" fmla="*/ 674 h 693"/>
                      <a:gd name="T18" fmla="*/ 390 w 502"/>
                      <a:gd name="T19" fmla="*/ 659 h 693"/>
                      <a:gd name="T20" fmla="*/ 396 w 502"/>
                      <a:gd name="T21" fmla="*/ 643 h 693"/>
                      <a:gd name="T22" fmla="*/ 403 w 502"/>
                      <a:gd name="T23" fmla="*/ 617 h 693"/>
                      <a:gd name="T24" fmla="*/ 406 w 502"/>
                      <a:gd name="T25" fmla="*/ 606 h 693"/>
                      <a:gd name="T26" fmla="*/ 422 w 502"/>
                      <a:gd name="T27" fmla="*/ 569 h 693"/>
                      <a:gd name="T28" fmla="*/ 433 w 502"/>
                      <a:gd name="T29" fmla="*/ 537 h 693"/>
                      <a:gd name="T30" fmla="*/ 445 w 502"/>
                      <a:gd name="T31" fmla="*/ 505 h 693"/>
                      <a:gd name="T32" fmla="*/ 448 w 502"/>
                      <a:gd name="T33" fmla="*/ 484 h 693"/>
                      <a:gd name="T34" fmla="*/ 461 w 502"/>
                      <a:gd name="T35" fmla="*/ 453 h 693"/>
                      <a:gd name="T36" fmla="*/ 472 w 502"/>
                      <a:gd name="T37" fmla="*/ 424 h 693"/>
                      <a:gd name="T38" fmla="*/ 475 w 502"/>
                      <a:gd name="T39" fmla="*/ 390 h 693"/>
                      <a:gd name="T40" fmla="*/ 475 w 502"/>
                      <a:gd name="T41" fmla="*/ 368 h 693"/>
                      <a:gd name="T42" fmla="*/ 500 w 502"/>
                      <a:gd name="T43" fmla="*/ 347 h 693"/>
                      <a:gd name="T44" fmla="*/ 498 w 502"/>
                      <a:gd name="T45" fmla="*/ 297 h 693"/>
                      <a:gd name="T46" fmla="*/ 502 w 502"/>
                      <a:gd name="T47" fmla="*/ 219 h 693"/>
                      <a:gd name="T48" fmla="*/ 498 w 502"/>
                      <a:gd name="T49" fmla="*/ 180 h 693"/>
                      <a:gd name="T50" fmla="*/ 488 w 502"/>
                      <a:gd name="T51" fmla="*/ 134 h 693"/>
                      <a:gd name="T52" fmla="*/ 472 w 502"/>
                      <a:gd name="T53" fmla="*/ 110 h 693"/>
                      <a:gd name="T54" fmla="*/ 451 w 502"/>
                      <a:gd name="T55" fmla="*/ 81 h 693"/>
                      <a:gd name="T56" fmla="*/ 406 w 502"/>
                      <a:gd name="T57" fmla="*/ 47 h 693"/>
                      <a:gd name="T58" fmla="*/ 348 w 502"/>
                      <a:gd name="T59" fmla="*/ 20 h 693"/>
                      <a:gd name="T60" fmla="*/ 298 w 502"/>
                      <a:gd name="T61" fmla="*/ 8 h 693"/>
                      <a:gd name="T62" fmla="*/ 245 w 502"/>
                      <a:gd name="T63" fmla="*/ 0 h 693"/>
                      <a:gd name="T64" fmla="*/ 191 w 502"/>
                      <a:gd name="T65" fmla="*/ 0 h 693"/>
                      <a:gd name="T66" fmla="*/ 152 w 502"/>
                      <a:gd name="T67" fmla="*/ 4 h 693"/>
                      <a:gd name="T68" fmla="*/ 117 w 502"/>
                      <a:gd name="T69" fmla="*/ 15 h 693"/>
                      <a:gd name="T70" fmla="*/ 81 w 502"/>
                      <a:gd name="T71" fmla="*/ 34 h 693"/>
                      <a:gd name="T72" fmla="*/ 60 w 502"/>
                      <a:gd name="T73" fmla="*/ 56 h 693"/>
                      <a:gd name="T74" fmla="*/ 36 w 502"/>
                      <a:gd name="T75" fmla="*/ 81 h 693"/>
                      <a:gd name="T76" fmla="*/ 24 w 502"/>
                      <a:gd name="T77" fmla="*/ 115 h 693"/>
                      <a:gd name="T78" fmla="*/ 11 w 502"/>
                      <a:gd name="T79" fmla="*/ 156 h 693"/>
                      <a:gd name="T80" fmla="*/ 3 w 502"/>
                      <a:gd name="T81" fmla="*/ 209 h 693"/>
                      <a:gd name="T82" fmla="*/ 0 w 502"/>
                      <a:gd name="T83" fmla="*/ 260 h 693"/>
                      <a:gd name="T84" fmla="*/ 4 w 502"/>
                      <a:gd name="T85" fmla="*/ 328 h 693"/>
                      <a:gd name="T86" fmla="*/ 7 w 502"/>
                      <a:gd name="T87" fmla="*/ 380 h 693"/>
                      <a:gd name="T88" fmla="*/ 18 w 502"/>
                      <a:gd name="T89" fmla="*/ 407 h 693"/>
                      <a:gd name="T90" fmla="*/ 28 w 502"/>
                      <a:gd name="T91" fmla="*/ 432 h 693"/>
                      <a:gd name="T92" fmla="*/ 40 w 502"/>
                      <a:gd name="T93" fmla="*/ 471 h 693"/>
                      <a:gd name="T94" fmla="*/ 62 w 502"/>
                      <a:gd name="T95" fmla="*/ 517 h 693"/>
                      <a:gd name="T96" fmla="*/ 89 w 502"/>
                      <a:gd name="T97" fmla="*/ 564 h 693"/>
                      <a:gd name="T98" fmla="*/ 107 w 502"/>
                      <a:gd name="T99" fmla="*/ 596 h 693"/>
                      <a:gd name="T100" fmla="*/ 129 w 502"/>
                      <a:gd name="T101" fmla="*/ 627 h 693"/>
                      <a:gd name="T102" fmla="*/ 146 w 502"/>
                      <a:gd name="T103" fmla="*/ 644 h 693"/>
                      <a:gd name="T104" fmla="*/ 163 w 502"/>
                      <a:gd name="T105" fmla="*/ 662 h 693"/>
                      <a:gd name="T106" fmla="*/ 181 w 502"/>
                      <a:gd name="T107" fmla="*/ 674 h 693"/>
                      <a:gd name="T108" fmla="*/ 201 w 502"/>
                      <a:gd name="T109" fmla="*/ 682 h 69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</a:cxnLst>
                    <a:rect l="0" t="0" r="r" b="b"/>
                    <a:pathLst>
                      <a:path w="502" h="693">
                        <a:moveTo>
                          <a:pt x="201" y="682"/>
                        </a:moveTo>
                        <a:lnTo>
                          <a:pt x="224" y="673"/>
                        </a:lnTo>
                        <a:lnTo>
                          <a:pt x="269" y="684"/>
                        </a:lnTo>
                        <a:lnTo>
                          <a:pt x="302" y="691"/>
                        </a:lnTo>
                        <a:lnTo>
                          <a:pt x="317" y="691"/>
                        </a:lnTo>
                        <a:lnTo>
                          <a:pt x="336" y="693"/>
                        </a:lnTo>
                        <a:lnTo>
                          <a:pt x="355" y="693"/>
                        </a:lnTo>
                        <a:lnTo>
                          <a:pt x="371" y="688"/>
                        </a:lnTo>
                        <a:lnTo>
                          <a:pt x="381" y="674"/>
                        </a:lnTo>
                        <a:lnTo>
                          <a:pt x="390" y="659"/>
                        </a:lnTo>
                        <a:lnTo>
                          <a:pt x="396" y="643"/>
                        </a:lnTo>
                        <a:lnTo>
                          <a:pt x="403" y="617"/>
                        </a:lnTo>
                        <a:lnTo>
                          <a:pt x="406" y="606"/>
                        </a:lnTo>
                        <a:lnTo>
                          <a:pt x="422" y="569"/>
                        </a:lnTo>
                        <a:lnTo>
                          <a:pt x="433" y="537"/>
                        </a:lnTo>
                        <a:lnTo>
                          <a:pt x="445" y="505"/>
                        </a:lnTo>
                        <a:lnTo>
                          <a:pt x="448" y="484"/>
                        </a:lnTo>
                        <a:lnTo>
                          <a:pt x="461" y="453"/>
                        </a:lnTo>
                        <a:lnTo>
                          <a:pt x="472" y="424"/>
                        </a:lnTo>
                        <a:lnTo>
                          <a:pt x="475" y="390"/>
                        </a:lnTo>
                        <a:lnTo>
                          <a:pt x="475" y="368"/>
                        </a:lnTo>
                        <a:lnTo>
                          <a:pt x="500" y="347"/>
                        </a:lnTo>
                        <a:lnTo>
                          <a:pt x="498" y="297"/>
                        </a:lnTo>
                        <a:lnTo>
                          <a:pt x="502" y="219"/>
                        </a:lnTo>
                        <a:lnTo>
                          <a:pt x="498" y="180"/>
                        </a:lnTo>
                        <a:lnTo>
                          <a:pt x="488" y="134"/>
                        </a:lnTo>
                        <a:lnTo>
                          <a:pt x="472" y="110"/>
                        </a:lnTo>
                        <a:lnTo>
                          <a:pt x="451" y="81"/>
                        </a:lnTo>
                        <a:lnTo>
                          <a:pt x="406" y="47"/>
                        </a:lnTo>
                        <a:lnTo>
                          <a:pt x="348" y="20"/>
                        </a:lnTo>
                        <a:lnTo>
                          <a:pt x="298" y="8"/>
                        </a:lnTo>
                        <a:lnTo>
                          <a:pt x="245" y="0"/>
                        </a:lnTo>
                        <a:lnTo>
                          <a:pt x="191" y="0"/>
                        </a:lnTo>
                        <a:lnTo>
                          <a:pt x="152" y="4"/>
                        </a:lnTo>
                        <a:lnTo>
                          <a:pt x="117" y="15"/>
                        </a:lnTo>
                        <a:lnTo>
                          <a:pt x="81" y="34"/>
                        </a:lnTo>
                        <a:lnTo>
                          <a:pt x="60" y="56"/>
                        </a:lnTo>
                        <a:lnTo>
                          <a:pt x="36" y="81"/>
                        </a:lnTo>
                        <a:lnTo>
                          <a:pt x="24" y="115"/>
                        </a:lnTo>
                        <a:lnTo>
                          <a:pt x="11" y="156"/>
                        </a:lnTo>
                        <a:lnTo>
                          <a:pt x="3" y="209"/>
                        </a:lnTo>
                        <a:lnTo>
                          <a:pt x="0" y="260"/>
                        </a:lnTo>
                        <a:lnTo>
                          <a:pt x="4" y="328"/>
                        </a:lnTo>
                        <a:lnTo>
                          <a:pt x="7" y="380"/>
                        </a:lnTo>
                        <a:lnTo>
                          <a:pt x="18" y="407"/>
                        </a:lnTo>
                        <a:lnTo>
                          <a:pt x="28" y="432"/>
                        </a:lnTo>
                        <a:lnTo>
                          <a:pt x="40" y="471"/>
                        </a:lnTo>
                        <a:lnTo>
                          <a:pt x="62" y="517"/>
                        </a:lnTo>
                        <a:lnTo>
                          <a:pt x="89" y="564"/>
                        </a:lnTo>
                        <a:lnTo>
                          <a:pt x="107" y="596"/>
                        </a:lnTo>
                        <a:lnTo>
                          <a:pt x="129" y="627"/>
                        </a:lnTo>
                        <a:lnTo>
                          <a:pt x="146" y="644"/>
                        </a:lnTo>
                        <a:lnTo>
                          <a:pt x="163" y="662"/>
                        </a:lnTo>
                        <a:lnTo>
                          <a:pt x="181" y="674"/>
                        </a:lnTo>
                        <a:lnTo>
                          <a:pt x="201" y="682"/>
                        </a:lnTo>
                        <a:close/>
                      </a:path>
                    </a:pathLst>
                  </a:custGeom>
                  <a:solidFill>
                    <a:srgbClr val="FF9F9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grpSp>
                <p:nvGrpSpPr>
                  <p:cNvPr id="272" name="Group 356"/>
                  <p:cNvGrpSpPr/>
                  <p:nvPr/>
                </p:nvGrpSpPr>
                <p:grpSpPr bwMode="auto">
                  <a:xfrm>
                    <a:off x="4842" y="2244"/>
                    <a:ext cx="76" cy="139"/>
                    <a:chOff x="4842" y="2244"/>
                    <a:chExt cx="76" cy="139"/>
                  </a:xfrm>
                </p:grpSpPr>
                <p:sp>
                  <p:nvSpPr>
                    <p:cNvPr id="296" name="Freeform 357"/>
                    <p:cNvSpPr/>
                    <p:nvPr/>
                  </p:nvSpPr>
                  <p:spPr bwMode="auto">
                    <a:xfrm>
                      <a:off x="4842" y="2244"/>
                      <a:ext cx="61" cy="139"/>
                    </a:xfrm>
                    <a:custGeom>
                      <a:avLst/>
                      <a:gdLst>
                        <a:gd name="T0" fmla="*/ 224 w 368"/>
                        <a:gd name="T1" fmla="*/ 673 h 693"/>
                        <a:gd name="T2" fmla="*/ 304 w 368"/>
                        <a:gd name="T3" fmla="*/ 691 h 693"/>
                        <a:gd name="T4" fmla="*/ 329 w 368"/>
                        <a:gd name="T5" fmla="*/ 691 h 693"/>
                        <a:gd name="T6" fmla="*/ 356 w 368"/>
                        <a:gd name="T7" fmla="*/ 691 h 693"/>
                        <a:gd name="T8" fmla="*/ 356 w 368"/>
                        <a:gd name="T9" fmla="*/ 683 h 693"/>
                        <a:gd name="T10" fmla="*/ 340 w 368"/>
                        <a:gd name="T11" fmla="*/ 683 h 693"/>
                        <a:gd name="T12" fmla="*/ 313 w 368"/>
                        <a:gd name="T13" fmla="*/ 679 h 693"/>
                        <a:gd name="T14" fmla="*/ 291 w 368"/>
                        <a:gd name="T15" fmla="*/ 668 h 693"/>
                        <a:gd name="T16" fmla="*/ 267 w 368"/>
                        <a:gd name="T17" fmla="*/ 646 h 693"/>
                        <a:gd name="T18" fmla="*/ 251 w 368"/>
                        <a:gd name="T19" fmla="*/ 623 h 693"/>
                        <a:gd name="T20" fmla="*/ 264 w 368"/>
                        <a:gd name="T21" fmla="*/ 607 h 693"/>
                        <a:gd name="T22" fmla="*/ 258 w 368"/>
                        <a:gd name="T23" fmla="*/ 595 h 693"/>
                        <a:gd name="T24" fmla="*/ 263 w 368"/>
                        <a:gd name="T25" fmla="*/ 552 h 693"/>
                        <a:gd name="T26" fmla="*/ 246 w 368"/>
                        <a:gd name="T27" fmla="*/ 512 h 693"/>
                        <a:gd name="T28" fmla="*/ 222 w 368"/>
                        <a:gd name="T29" fmla="*/ 468 h 693"/>
                        <a:gd name="T30" fmla="*/ 232 w 368"/>
                        <a:gd name="T31" fmla="*/ 445 h 693"/>
                        <a:gd name="T32" fmla="*/ 249 w 368"/>
                        <a:gd name="T33" fmla="*/ 428 h 693"/>
                        <a:gd name="T34" fmla="*/ 236 w 368"/>
                        <a:gd name="T35" fmla="*/ 415 h 693"/>
                        <a:gd name="T36" fmla="*/ 219 w 368"/>
                        <a:gd name="T37" fmla="*/ 397 h 693"/>
                        <a:gd name="T38" fmla="*/ 201 w 368"/>
                        <a:gd name="T39" fmla="*/ 376 h 693"/>
                        <a:gd name="T40" fmla="*/ 189 w 368"/>
                        <a:gd name="T41" fmla="*/ 338 h 693"/>
                        <a:gd name="T42" fmla="*/ 202 w 368"/>
                        <a:gd name="T43" fmla="*/ 309 h 693"/>
                        <a:gd name="T44" fmla="*/ 219 w 368"/>
                        <a:gd name="T45" fmla="*/ 298 h 693"/>
                        <a:gd name="T46" fmla="*/ 240 w 368"/>
                        <a:gd name="T47" fmla="*/ 317 h 693"/>
                        <a:gd name="T48" fmla="*/ 255 w 368"/>
                        <a:gd name="T49" fmla="*/ 337 h 693"/>
                        <a:gd name="T50" fmla="*/ 267 w 368"/>
                        <a:gd name="T51" fmla="*/ 316 h 693"/>
                        <a:gd name="T52" fmla="*/ 262 w 368"/>
                        <a:gd name="T53" fmla="*/ 288 h 693"/>
                        <a:gd name="T54" fmla="*/ 267 w 368"/>
                        <a:gd name="T55" fmla="*/ 235 h 693"/>
                        <a:gd name="T56" fmla="*/ 281 w 368"/>
                        <a:gd name="T57" fmla="*/ 175 h 693"/>
                        <a:gd name="T58" fmla="*/ 273 w 368"/>
                        <a:gd name="T59" fmla="*/ 112 h 693"/>
                        <a:gd name="T60" fmla="*/ 286 w 368"/>
                        <a:gd name="T61" fmla="*/ 58 h 693"/>
                        <a:gd name="T62" fmla="*/ 349 w 368"/>
                        <a:gd name="T63" fmla="*/ 20 h 693"/>
                        <a:gd name="T64" fmla="*/ 245 w 368"/>
                        <a:gd name="T65" fmla="*/ 0 h 693"/>
                        <a:gd name="T66" fmla="*/ 152 w 368"/>
                        <a:gd name="T67" fmla="*/ 4 h 693"/>
                        <a:gd name="T68" fmla="*/ 81 w 368"/>
                        <a:gd name="T69" fmla="*/ 34 h 693"/>
                        <a:gd name="T70" fmla="*/ 36 w 368"/>
                        <a:gd name="T71" fmla="*/ 81 h 693"/>
                        <a:gd name="T72" fmla="*/ 11 w 368"/>
                        <a:gd name="T73" fmla="*/ 156 h 693"/>
                        <a:gd name="T74" fmla="*/ 0 w 368"/>
                        <a:gd name="T75" fmla="*/ 260 h 693"/>
                        <a:gd name="T76" fmla="*/ 7 w 368"/>
                        <a:gd name="T77" fmla="*/ 380 h 693"/>
                        <a:gd name="T78" fmla="*/ 28 w 368"/>
                        <a:gd name="T79" fmla="*/ 432 h 693"/>
                        <a:gd name="T80" fmla="*/ 62 w 368"/>
                        <a:gd name="T81" fmla="*/ 517 h 693"/>
                        <a:gd name="T82" fmla="*/ 108 w 368"/>
                        <a:gd name="T83" fmla="*/ 596 h 693"/>
                        <a:gd name="T84" fmla="*/ 146 w 368"/>
                        <a:gd name="T85" fmla="*/ 644 h 693"/>
                        <a:gd name="T86" fmla="*/ 181 w 368"/>
                        <a:gd name="T87" fmla="*/ 674 h 69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</a:cxnLst>
                      <a:rect l="0" t="0" r="r" b="b"/>
                      <a:pathLst>
                        <a:path w="368" h="693">
                          <a:moveTo>
                            <a:pt x="201" y="682"/>
                          </a:moveTo>
                          <a:lnTo>
                            <a:pt x="224" y="673"/>
                          </a:lnTo>
                          <a:lnTo>
                            <a:pt x="269" y="684"/>
                          </a:lnTo>
                          <a:lnTo>
                            <a:pt x="304" y="691"/>
                          </a:lnTo>
                          <a:lnTo>
                            <a:pt x="318" y="691"/>
                          </a:lnTo>
                          <a:lnTo>
                            <a:pt x="329" y="691"/>
                          </a:lnTo>
                          <a:lnTo>
                            <a:pt x="345" y="693"/>
                          </a:lnTo>
                          <a:lnTo>
                            <a:pt x="356" y="691"/>
                          </a:lnTo>
                          <a:lnTo>
                            <a:pt x="368" y="683"/>
                          </a:lnTo>
                          <a:lnTo>
                            <a:pt x="356" y="683"/>
                          </a:lnTo>
                          <a:lnTo>
                            <a:pt x="348" y="679"/>
                          </a:lnTo>
                          <a:lnTo>
                            <a:pt x="340" y="683"/>
                          </a:lnTo>
                          <a:lnTo>
                            <a:pt x="325" y="682"/>
                          </a:lnTo>
                          <a:lnTo>
                            <a:pt x="313" y="679"/>
                          </a:lnTo>
                          <a:lnTo>
                            <a:pt x="299" y="673"/>
                          </a:lnTo>
                          <a:lnTo>
                            <a:pt x="291" y="668"/>
                          </a:lnTo>
                          <a:lnTo>
                            <a:pt x="277" y="656"/>
                          </a:lnTo>
                          <a:lnTo>
                            <a:pt x="267" y="646"/>
                          </a:lnTo>
                          <a:lnTo>
                            <a:pt x="257" y="633"/>
                          </a:lnTo>
                          <a:lnTo>
                            <a:pt x="251" y="623"/>
                          </a:lnTo>
                          <a:lnTo>
                            <a:pt x="259" y="615"/>
                          </a:lnTo>
                          <a:lnTo>
                            <a:pt x="264" y="607"/>
                          </a:lnTo>
                          <a:lnTo>
                            <a:pt x="261" y="601"/>
                          </a:lnTo>
                          <a:lnTo>
                            <a:pt x="258" y="595"/>
                          </a:lnTo>
                          <a:lnTo>
                            <a:pt x="270" y="569"/>
                          </a:lnTo>
                          <a:lnTo>
                            <a:pt x="263" y="552"/>
                          </a:lnTo>
                          <a:lnTo>
                            <a:pt x="253" y="528"/>
                          </a:lnTo>
                          <a:lnTo>
                            <a:pt x="246" y="512"/>
                          </a:lnTo>
                          <a:lnTo>
                            <a:pt x="228" y="486"/>
                          </a:lnTo>
                          <a:lnTo>
                            <a:pt x="222" y="468"/>
                          </a:lnTo>
                          <a:lnTo>
                            <a:pt x="226" y="457"/>
                          </a:lnTo>
                          <a:lnTo>
                            <a:pt x="232" y="445"/>
                          </a:lnTo>
                          <a:lnTo>
                            <a:pt x="242" y="437"/>
                          </a:lnTo>
                          <a:lnTo>
                            <a:pt x="249" y="428"/>
                          </a:lnTo>
                          <a:lnTo>
                            <a:pt x="244" y="419"/>
                          </a:lnTo>
                          <a:lnTo>
                            <a:pt x="236" y="415"/>
                          </a:lnTo>
                          <a:lnTo>
                            <a:pt x="226" y="405"/>
                          </a:lnTo>
                          <a:lnTo>
                            <a:pt x="219" y="397"/>
                          </a:lnTo>
                          <a:lnTo>
                            <a:pt x="208" y="389"/>
                          </a:lnTo>
                          <a:lnTo>
                            <a:pt x="201" y="376"/>
                          </a:lnTo>
                          <a:lnTo>
                            <a:pt x="196" y="364"/>
                          </a:lnTo>
                          <a:lnTo>
                            <a:pt x="189" y="338"/>
                          </a:lnTo>
                          <a:lnTo>
                            <a:pt x="196" y="317"/>
                          </a:lnTo>
                          <a:lnTo>
                            <a:pt x="202" y="309"/>
                          </a:lnTo>
                          <a:lnTo>
                            <a:pt x="210" y="301"/>
                          </a:lnTo>
                          <a:lnTo>
                            <a:pt x="219" y="298"/>
                          </a:lnTo>
                          <a:lnTo>
                            <a:pt x="228" y="306"/>
                          </a:lnTo>
                          <a:lnTo>
                            <a:pt x="240" y="317"/>
                          </a:lnTo>
                          <a:lnTo>
                            <a:pt x="245" y="327"/>
                          </a:lnTo>
                          <a:lnTo>
                            <a:pt x="255" y="337"/>
                          </a:lnTo>
                          <a:lnTo>
                            <a:pt x="264" y="328"/>
                          </a:lnTo>
                          <a:lnTo>
                            <a:pt x="267" y="316"/>
                          </a:lnTo>
                          <a:lnTo>
                            <a:pt x="268" y="302"/>
                          </a:lnTo>
                          <a:lnTo>
                            <a:pt x="262" y="288"/>
                          </a:lnTo>
                          <a:lnTo>
                            <a:pt x="258" y="271"/>
                          </a:lnTo>
                          <a:lnTo>
                            <a:pt x="267" y="235"/>
                          </a:lnTo>
                          <a:lnTo>
                            <a:pt x="273" y="201"/>
                          </a:lnTo>
                          <a:lnTo>
                            <a:pt x="281" y="175"/>
                          </a:lnTo>
                          <a:lnTo>
                            <a:pt x="273" y="141"/>
                          </a:lnTo>
                          <a:lnTo>
                            <a:pt x="273" y="112"/>
                          </a:lnTo>
                          <a:lnTo>
                            <a:pt x="270" y="81"/>
                          </a:lnTo>
                          <a:lnTo>
                            <a:pt x="286" y="58"/>
                          </a:lnTo>
                          <a:lnTo>
                            <a:pt x="317" y="36"/>
                          </a:lnTo>
                          <a:lnTo>
                            <a:pt x="349" y="20"/>
                          </a:lnTo>
                          <a:lnTo>
                            <a:pt x="299" y="8"/>
                          </a:lnTo>
                          <a:lnTo>
                            <a:pt x="245" y="0"/>
                          </a:lnTo>
                          <a:lnTo>
                            <a:pt x="191" y="0"/>
                          </a:lnTo>
                          <a:lnTo>
                            <a:pt x="152" y="4"/>
                          </a:lnTo>
                          <a:lnTo>
                            <a:pt x="118" y="15"/>
                          </a:lnTo>
                          <a:lnTo>
                            <a:pt x="81" y="34"/>
                          </a:lnTo>
                          <a:lnTo>
                            <a:pt x="60" y="56"/>
                          </a:lnTo>
                          <a:lnTo>
                            <a:pt x="36" y="81"/>
                          </a:lnTo>
                          <a:lnTo>
                            <a:pt x="24" y="115"/>
                          </a:lnTo>
                          <a:lnTo>
                            <a:pt x="11" y="156"/>
                          </a:lnTo>
                          <a:lnTo>
                            <a:pt x="3" y="209"/>
                          </a:lnTo>
                          <a:lnTo>
                            <a:pt x="0" y="260"/>
                          </a:lnTo>
                          <a:lnTo>
                            <a:pt x="4" y="328"/>
                          </a:lnTo>
                          <a:lnTo>
                            <a:pt x="7" y="380"/>
                          </a:lnTo>
                          <a:lnTo>
                            <a:pt x="18" y="407"/>
                          </a:lnTo>
                          <a:lnTo>
                            <a:pt x="28" y="432"/>
                          </a:lnTo>
                          <a:lnTo>
                            <a:pt x="40" y="471"/>
                          </a:lnTo>
                          <a:lnTo>
                            <a:pt x="62" y="517"/>
                          </a:lnTo>
                          <a:lnTo>
                            <a:pt x="89" y="564"/>
                          </a:lnTo>
                          <a:lnTo>
                            <a:pt x="108" y="596"/>
                          </a:lnTo>
                          <a:lnTo>
                            <a:pt x="129" y="627"/>
                          </a:lnTo>
                          <a:lnTo>
                            <a:pt x="146" y="644"/>
                          </a:lnTo>
                          <a:lnTo>
                            <a:pt x="163" y="662"/>
                          </a:lnTo>
                          <a:lnTo>
                            <a:pt x="181" y="674"/>
                          </a:lnTo>
                          <a:lnTo>
                            <a:pt x="201" y="682"/>
                          </a:lnTo>
                          <a:close/>
                        </a:path>
                      </a:pathLst>
                    </a:custGeom>
                    <a:solidFill>
                      <a:srgbClr val="FF7F7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grpSp>
                  <p:nvGrpSpPr>
                    <p:cNvPr id="297" name="Group 358"/>
                    <p:cNvGrpSpPr/>
                    <p:nvPr/>
                  </p:nvGrpSpPr>
                  <p:grpSpPr bwMode="auto">
                    <a:xfrm>
                      <a:off x="4882" y="2310"/>
                      <a:ext cx="17" cy="16"/>
                      <a:chOff x="4882" y="2310"/>
                      <a:chExt cx="17" cy="16"/>
                    </a:xfrm>
                  </p:grpSpPr>
                  <p:sp>
                    <p:nvSpPr>
                      <p:cNvPr id="300" name="Freeform 359"/>
                      <p:cNvSpPr/>
                      <p:nvPr/>
                    </p:nvSpPr>
                    <p:spPr bwMode="auto">
                      <a:xfrm>
                        <a:off x="4882" y="2310"/>
                        <a:ext cx="15" cy="15"/>
                      </a:xfrm>
                      <a:custGeom>
                        <a:avLst/>
                        <a:gdLst>
                          <a:gd name="T0" fmla="*/ 86 w 86"/>
                          <a:gd name="T1" fmla="*/ 6 h 78"/>
                          <a:gd name="T2" fmla="*/ 76 w 86"/>
                          <a:gd name="T3" fmla="*/ 12 h 78"/>
                          <a:gd name="T4" fmla="*/ 61 w 86"/>
                          <a:gd name="T5" fmla="*/ 18 h 78"/>
                          <a:gd name="T6" fmla="*/ 45 w 86"/>
                          <a:gd name="T7" fmla="*/ 24 h 78"/>
                          <a:gd name="T8" fmla="*/ 31 w 86"/>
                          <a:gd name="T9" fmla="*/ 28 h 78"/>
                          <a:gd name="T10" fmla="*/ 24 w 86"/>
                          <a:gd name="T11" fmla="*/ 32 h 78"/>
                          <a:gd name="T12" fmla="*/ 27 w 86"/>
                          <a:gd name="T13" fmla="*/ 38 h 78"/>
                          <a:gd name="T14" fmla="*/ 24 w 86"/>
                          <a:gd name="T15" fmla="*/ 42 h 78"/>
                          <a:gd name="T16" fmla="*/ 31 w 86"/>
                          <a:gd name="T17" fmla="*/ 55 h 78"/>
                          <a:gd name="T18" fmla="*/ 38 w 86"/>
                          <a:gd name="T19" fmla="*/ 64 h 78"/>
                          <a:gd name="T20" fmla="*/ 47 w 86"/>
                          <a:gd name="T21" fmla="*/ 70 h 78"/>
                          <a:gd name="T22" fmla="*/ 60 w 86"/>
                          <a:gd name="T23" fmla="*/ 78 h 78"/>
                          <a:gd name="T24" fmla="*/ 31 w 86"/>
                          <a:gd name="T25" fmla="*/ 67 h 78"/>
                          <a:gd name="T26" fmla="*/ 20 w 86"/>
                          <a:gd name="T27" fmla="*/ 59 h 78"/>
                          <a:gd name="T28" fmla="*/ 11 w 86"/>
                          <a:gd name="T29" fmla="*/ 47 h 78"/>
                          <a:gd name="T30" fmla="*/ 8 w 86"/>
                          <a:gd name="T31" fmla="*/ 39 h 78"/>
                          <a:gd name="T32" fmla="*/ 5 w 86"/>
                          <a:gd name="T33" fmla="*/ 32 h 78"/>
                          <a:gd name="T34" fmla="*/ 0 w 86"/>
                          <a:gd name="T35" fmla="*/ 26 h 78"/>
                          <a:gd name="T36" fmla="*/ 15 w 86"/>
                          <a:gd name="T37" fmla="*/ 16 h 78"/>
                          <a:gd name="T38" fmla="*/ 38 w 86"/>
                          <a:gd name="T39" fmla="*/ 1 h 78"/>
                          <a:gd name="T40" fmla="*/ 51 w 86"/>
                          <a:gd name="T41" fmla="*/ 0 h 78"/>
                          <a:gd name="T42" fmla="*/ 66 w 86"/>
                          <a:gd name="T43" fmla="*/ 1 h 78"/>
                          <a:gd name="T44" fmla="*/ 86 w 86"/>
                          <a:gd name="T45" fmla="*/ 6 h 78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</a:cxnLst>
                        <a:rect l="0" t="0" r="r" b="b"/>
                        <a:pathLst>
                          <a:path w="86" h="78">
                            <a:moveTo>
                              <a:pt x="86" y="6"/>
                            </a:moveTo>
                            <a:lnTo>
                              <a:pt x="76" y="12"/>
                            </a:lnTo>
                            <a:lnTo>
                              <a:pt x="61" y="18"/>
                            </a:lnTo>
                            <a:lnTo>
                              <a:pt x="45" y="24"/>
                            </a:lnTo>
                            <a:lnTo>
                              <a:pt x="31" y="28"/>
                            </a:lnTo>
                            <a:lnTo>
                              <a:pt x="24" y="32"/>
                            </a:lnTo>
                            <a:lnTo>
                              <a:pt x="27" y="38"/>
                            </a:lnTo>
                            <a:lnTo>
                              <a:pt x="24" y="42"/>
                            </a:lnTo>
                            <a:lnTo>
                              <a:pt x="31" y="55"/>
                            </a:lnTo>
                            <a:lnTo>
                              <a:pt x="38" y="64"/>
                            </a:lnTo>
                            <a:lnTo>
                              <a:pt x="47" y="70"/>
                            </a:lnTo>
                            <a:lnTo>
                              <a:pt x="60" y="78"/>
                            </a:lnTo>
                            <a:lnTo>
                              <a:pt x="31" y="67"/>
                            </a:lnTo>
                            <a:lnTo>
                              <a:pt x="20" y="59"/>
                            </a:lnTo>
                            <a:lnTo>
                              <a:pt x="11" y="47"/>
                            </a:lnTo>
                            <a:lnTo>
                              <a:pt x="8" y="39"/>
                            </a:lnTo>
                            <a:lnTo>
                              <a:pt x="5" y="32"/>
                            </a:lnTo>
                            <a:lnTo>
                              <a:pt x="0" y="26"/>
                            </a:lnTo>
                            <a:lnTo>
                              <a:pt x="15" y="16"/>
                            </a:lnTo>
                            <a:lnTo>
                              <a:pt x="38" y="1"/>
                            </a:lnTo>
                            <a:lnTo>
                              <a:pt x="51" y="0"/>
                            </a:lnTo>
                            <a:lnTo>
                              <a:pt x="66" y="1"/>
                            </a:lnTo>
                            <a:lnTo>
                              <a:pt x="86" y="6"/>
                            </a:lnTo>
                            <a:close/>
                          </a:path>
                        </a:pathLst>
                      </a:custGeom>
                      <a:solidFill>
                        <a:srgbClr val="FF7F7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301" name="Freeform 360"/>
                      <p:cNvSpPr/>
                      <p:nvPr/>
                    </p:nvSpPr>
                    <p:spPr bwMode="auto">
                      <a:xfrm>
                        <a:off x="4888" y="2316"/>
                        <a:ext cx="11" cy="10"/>
                      </a:xfrm>
                      <a:custGeom>
                        <a:avLst/>
                        <a:gdLst>
                          <a:gd name="T0" fmla="*/ 10 w 65"/>
                          <a:gd name="T1" fmla="*/ 2 h 51"/>
                          <a:gd name="T2" fmla="*/ 26 w 65"/>
                          <a:gd name="T3" fmla="*/ 14 h 51"/>
                          <a:gd name="T4" fmla="*/ 37 w 65"/>
                          <a:gd name="T5" fmla="*/ 19 h 51"/>
                          <a:gd name="T6" fmla="*/ 46 w 65"/>
                          <a:gd name="T7" fmla="*/ 19 h 51"/>
                          <a:gd name="T8" fmla="*/ 53 w 65"/>
                          <a:gd name="T9" fmla="*/ 18 h 51"/>
                          <a:gd name="T10" fmla="*/ 65 w 65"/>
                          <a:gd name="T11" fmla="*/ 18 h 51"/>
                          <a:gd name="T12" fmla="*/ 64 w 65"/>
                          <a:gd name="T13" fmla="*/ 23 h 51"/>
                          <a:gd name="T14" fmla="*/ 65 w 65"/>
                          <a:gd name="T15" fmla="*/ 29 h 51"/>
                          <a:gd name="T16" fmla="*/ 61 w 65"/>
                          <a:gd name="T17" fmla="*/ 38 h 51"/>
                          <a:gd name="T18" fmla="*/ 52 w 65"/>
                          <a:gd name="T19" fmla="*/ 46 h 51"/>
                          <a:gd name="T20" fmla="*/ 43 w 65"/>
                          <a:gd name="T21" fmla="*/ 49 h 51"/>
                          <a:gd name="T22" fmla="*/ 33 w 65"/>
                          <a:gd name="T23" fmla="*/ 51 h 51"/>
                          <a:gd name="T24" fmla="*/ 50 w 65"/>
                          <a:gd name="T25" fmla="*/ 40 h 51"/>
                          <a:gd name="T26" fmla="*/ 57 w 65"/>
                          <a:gd name="T27" fmla="*/ 31 h 51"/>
                          <a:gd name="T28" fmla="*/ 39 w 65"/>
                          <a:gd name="T29" fmla="*/ 33 h 51"/>
                          <a:gd name="T30" fmla="*/ 32 w 65"/>
                          <a:gd name="T31" fmla="*/ 35 h 51"/>
                          <a:gd name="T32" fmla="*/ 20 w 65"/>
                          <a:gd name="T33" fmla="*/ 29 h 51"/>
                          <a:gd name="T34" fmla="*/ 8 w 65"/>
                          <a:gd name="T35" fmla="*/ 19 h 51"/>
                          <a:gd name="T36" fmla="*/ 2 w 65"/>
                          <a:gd name="T37" fmla="*/ 12 h 51"/>
                          <a:gd name="T38" fmla="*/ 0 w 65"/>
                          <a:gd name="T39" fmla="*/ 3 h 51"/>
                          <a:gd name="T40" fmla="*/ 3 w 65"/>
                          <a:gd name="T41" fmla="*/ 0 h 51"/>
                          <a:gd name="T42" fmla="*/ 10 w 65"/>
                          <a:gd name="T43" fmla="*/ 2 h 51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</a:cxnLst>
                        <a:rect l="0" t="0" r="r" b="b"/>
                        <a:pathLst>
                          <a:path w="65" h="51">
                            <a:moveTo>
                              <a:pt x="10" y="2"/>
                            </a:moveTo>
                            <a:lnTo>
                              <a:pt x="26" y="14"/>
                            </a:lnTo>
                            <a:lnTo>
                              <a:pt x="37" y="19"/>
                            </a:lnTo>
                            <a:lnTo>
                              <a:pt x="46" y="19"/>
                            </a:lnTo>
                            <a:lnTo>
                              <a:pt x="53" y="18"/>
                            </a:lnTo>
                            <a:lnTo>
                              <a:pt x="65" y="18"/>
                            </a:lnTo>
                            <a:lnTo>
                              <a:pt x="64" y="23"/>
                            </a:lnTo>
                            <a:lnTo>
                              <a:pt x="65" y="29"/>
                            </a:lnTo>
                            <a:lnTo>
                              <a:pt x="61" y="38"/>
                            </a:lnTo>
                            <a:lnTo>
                              <a:pt x="52" y="46"/>
                            </a:lnTo>
                            <a:lnTo>
                              <a:pt x="43" y="49"/>
                            </a:lnTo>
                            <a:lnTo>
                              <a:pt x="33" y="51"/>
                            </a:lnTo>
                            <a:lnTo>
                              <a:pt x="50" y="40"/>
                            </a:lnTo>
                            <a:lnTo>
                              <a:pt x="57" y="31"/>
                            </a:lnTo>
                            <a:lnTo>
                              <a:pt x="39" y="33"/>
                            </a:lnTo>
                            <a:lnTo>
                              <a:pt x="32" y="35"/>
                            </a:lnTo>
                            <a:lnTo>
                              <a:pt x="20" y="29"/>
                            </a:lnTo>
                            <a:lnTo>
                              <a:pt x="8" y="19"/>
                            </a:lnTo>
                            <a:lnTo>
                              <a:pt x="2" y="12"/>
                            </a:lnTo>
                            <a:lnTo>
                              <a:pt x="0" y="3"/>
                            </a:lnTo>
                            <a:lnTo>
                              <a:pt x="3" y="0"/>
                            </a:lnTo>
                            <a:lnTo>
                              <a:pt x="10" y="2"/>
                            </a:lnTo>
                            <a:close/>
                          </a:path>
                        </a:pathLst>
                      </a:custGeom>
                      <a:solidFill>
                        <a:srgbClr val="FF7F7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sp>
                  <p:nvSpPr>
                    <p:cNvPr id="298" name="Freeform 361"/>
                    <p:cNvSpPr/>
                    <p:nvPr/>
                  </p:nvSpPr>
                  <p:spPr bwMode="auto">
                    <a:xfrm>
                      <a:off x="4911" y="2319"/>
                      <a:ext cx="7" cy="11"/>
                    </a:xfrm>
                    <a:custGeom>
                      <a:avLst/>
                      <a:gdLst>
                        <a:gd name="T0" fmla="*/ 0 w 42"/>
                        <a:gd name="T1" fmla="*/ 0 h 52"/>
                        <a:gd name="T2" fmla="*/ 12 w 42"/>
                        <a:gd name="T3" fmla="*/ 14 h 52"/>
                        <a:gd name="T4" fmla="*/ 22 w 42"/>
                        <a:gd name="T5" fmla="*/ 15 h 52"/>
                        <a:gd name="T6" fmla="*/ 35 w 42"/>
                        <a:gd name="T7" fmla="*/ 14 h 52"/>
                        <a:gd name="T8" fmla="*/ 42 w 42"/>
                        <a:gd name="T9" fmla="*/ 14 h 52"/>
                        <a:gd name="T10" fmla="*/ 35 w 42"/>
                        <a:gd name="T11" fmla="*/ 25 h 52"/>
                        <a:gd name="T12" fmla="*/ 30 w 42"/>
                        <a:gd name="T13" fmla="*/ 28 h 52"/>
                        <a:gd name="T14" fmla="*/ 21 w 42"/>
                        <a:gd name="T15" fmla="*/ 28 h 52"/>
                        <a:gd name="T16" fmla="*/ 13 w 42"/>
                        <a:gd name="T17" fmla="*/ 33 h 52"/>
                        <a:gd name="T18" fmla="*/ 19 w 42"/>
                        <a:gd name="T19" fmla="*/ 37 h 52"/>
                        <a:gd name="T20" fmla="*/ 28 w 42"/>
                        <a:gd name="T21" fmla="*/ 40 h 52"/>
                        <a:gd name="T22" fmla="*/ 25 w 42"/>
                        <a:gd name="T23" fmla="*/ 47 h 52"/>
                        <a:gd name="T24" fmla="*/ 16 w 42"/>
                        <a:gd name="T25" fmla="*/ 52 h 52"/>
                        <a:gd name="T26" fmla="*/ 10 w 42"/>
                        <a:gd name="T27" fmla="*/ 52 h 52"/>
                        <a:gd name="T28" fmla="*/ 4 w 42"/>
                        <a:gd name="T29" fmla="*/ 40 h 52"/>
                        <a:gd name="T30" fmla="*/ 1 w 42"/>
                        <a:gd name="T31" fmla="*/ 21 h 52"/>
                        <a:gd name="T32" fmla="*/ 0 w 42"/>
                        <a:gd name="T33" fmla="*/ 0 h 5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</a:cxnLst>
                      <a:rect l="0" t="0" r="r" b="b"/>
                      <a:pathLst>
                        <a:path w="42" h="52">
                          <a:moveTo>
                            <a:pt x="0" y="0"/>
                          </a:moveTo>
                          <a:lnTo>
                            <a:pt x="12" y="14"/>
                          </a:lnTo>
                          <a:lnTo>
                            <a:pt x="22" y="15"/>
                          </a:lnTo>
                          <a:lnTo>
                            <a:pt x="35" y="14"/>
                          </a:lnTo>
                          <a:lnTo>
                            <a:pt x="42" y="14"/>
                          </a:lnTo>
                          <a:lnTo>
                            <a:pt x="35" y="25"/>
                          </a:lnTo>
                          <a:lnTo>
                            <a:pt x="30" y="28"/>
                          </a:lnTo>
                          <a:lnTo>
                            <a:pt x="21" y="28"/>
                          </a:lnTo>
                          <a:lnTo>
                            <a:pt x="13" y="33"/>
                          </a:lnTo>
                          <a:lnTo>
                            <a:pt x="19" y="37"/>
                          </a:lnTo>
                          <a:lnTo>
                            <a:pt x="28" y="40"/>
                          </a:lnTo>
                          <a:lnTo>
                            <a:pt x="25" y="47"/>
                          </a:lnTo>
                          <a:lnTo>
                            <a:pt x="16" y="52"/>
                          </a:lnTo>
                          <a:lnTo>
                            <a:pt x="10" y="52"/>
                          </a:lnTo>
                          <a:lnTo>
                            <a:pt x="4" y="40"/>
                          </a:lnTo>
                          <a:lnTo>
                            <a:pt x="1" y="2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7F7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99" name="Freeform 362"/>
                    <p:cNvSpPr/>
                    <p:nvPr/>
                  </p:nvSpPr>
                  <p:spPr bwMode="auto">
                    <a:xfrm>
                      <a:off x="4890" y="2361"/>
                      <a:ext cx="16" cy="13"/>
                    </a:xfrm>
                    <a:custGeom>
                      <a:avLst/>
                      <a:gdLst>
                        <a:gd name="T0" fmla="*/ 6 w 94"/>
                        <a:gd name="T1" fmla="*/ 2 h 63"/>
                        <a:gd name="T2" fmla="*/ 21 w 94"/>
                        <a:gd name="T3" fmla="*/ 7 h 63"/>
                        <a:gd name="T4" fmla="*/ 38 w 94"/>
                        <a:gd name="T5" fmla="*/ 12 h 63"/>
                        <a:gd name="T6" fmla="*/ 49 w 94"/>
                        <a:gd name="T7" fmla="*/ 15 h 63"/>
                        <a:gd name="T8" fmla="*/ 59 w 94"/>
                        <a:gd name="T9" fmla="*/ 15 h 63"/>
                        <a:gd name="T10" fmla="*/ 75 w 94"/>
                        <a:gd name="T11" fmla="*/ 11 h 63"/>
                        <a:gd name="T12" fmla="*/ 86 w 94"/>
                        <a:gd name="T13" fmla="*/ 5 h 63"/>
                        <a:gd name="T14" fmla="*/ 94 w 94"/>
                        <a:gd name="T15" fmla="*/ 0 h 63"/>
                        <a:gd name="T16" fmla="*/ 80 w 94"/>
                        <a:gd name="T17" fmla="*/ 23 h 63"/>
                        <a:gd name="T18" fmla="*/ 86 w 94"/>
                        <a:gd name="T19" fmla="*/ 33 h 63"/>
                        <a:gd name="T20" fmla="*/ 86 w 94"/>
                        <a:gd name="T21" fmla="*/ 42 h 63"/>
                        <a:gd name="T22" fmla="*/ 78 w 94"/>
                        <a:gd name="T23" fmla="*/ 37 h 63"/>
                        <a:gd name="T24" fmla="*/ 74 w 94"/>
                        <a:gd name="T25" fmla="*/ 40 h 63"/>
                        <a:gd name="T26" fmla="*/ 66 w 94"/>
                        <a:gd name="T27" fmla="*/ 55 h 63"/>
                        <a:gd name="T28" fmla="*/ 63 w 94"/>
                        <a:gd name="T29" fmla="*/ 63 h 63"/>
                        <a:gd name="T30" fmla="*/ 63 w 94"/>
                        <a:gd name="T31" fmla="*/ 49 h 63"/>
                        <a:gd name="T32" fmla="*/ 57 w 94"/>
                        <a:gd name="T33" fmla="*/ 38 h 63"/>
                        <a:gd name="T34" fmla="*/ 49 w 94"/>
                        <a:gd name="T35" fmla="*/ 32 h 63"/>
                        <a:gd name="T36" fmla="*/ 37 w 94"/>
                        <a:gd name="T37" fmla="*/ 29 h 63"/>
                        <a:gd name="T38" fmla="*/ 16 w 94"/>
                        <a:gd name="T39" fmla="*/ 31 h 63"/>
                        <a:gd name="T40" fmla="*/ 0 w 94"/>
                        <a:gd name="T41" fmla="*/ 36 h 63"/>
                        <a:gd name="T42" fmla="*/ 19 w 94"/>
                        <a:gd name="T43" fmla="*/ 21 h 63"/>
                        <a:gd name="T44" fmla="*/ 6 w 94"/>
                        <a:gd name="T45" fmla="*/ 2 h 6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</a:cxnLst>
                      <a:rect l="0" t="0" r="r" b="b"/>
                      <a:pathLst>
                        <a:path w="94" h="63">
                          <a:moveTo>
                            <a:pt x="6" y="2"/>
                          </a:moveTo>
                          <a:lnTo>
                            <a:pt x="21" y="7"/>
                          </a:lnTo>
                          <a:lnTo>
                            <a:pt x="38" y="12"/>
                          </a:lnTo>
                          <a:lnTo>
                            <a:pt x="49" y="15"/>
                          </a:lnTo>
                          <a:lnTo>
                            <a:pt x="59" y="15"/>
                          </a:lnTo>
                          <a:lnTo>
                            <a:pt x="75" y="11"/>
                          </a:lnTo>
                          <a:lnTo>
                            <a:pt x="86" y="5"/>
                          </a:lnTo>
                          <a:lnTo>
                            <a:pt x="94" y="0"/>
                          </a:lnTo>
                          <a:lnTo>
                            <a:pt x="80" y="23"/>
                          </a:lnTo>
                          <a:lnTo>
                            <a:pt x="86" y="33"/>
                          </a:lnTo>
                          <a:lnTo>
                            <a:pt x="86" y="42"/>
                          </a:lnTo>
                          <a:lnTo>
                            <a:pt x="78" y="37"/>
                          </a:lnTo>
                          <a:lnTo>
                            <a:pt x="74" y="40"/>
                          </a:lnTo>
                          <a:lnTo>
                            <a:pt x="66" y="55"/>
                          </a:lnTo>
                          <a:lnTo>
                            <a:pt x="63" y="63"/>
                          </a:lnTo>
                          <a:lnTo>
                            <a:pt x="63" y="49"/>
                          </a:lnTo>
                          <a:lnTo>
                            <a:pt x="57" y="38"/>
                          </a:lnTo>
                          <a:lnTo>
                            <a:pt x="49" y="32"/>
                          </a:lnTo>
                          <a:lnTo>
                            <a:pt x="37" y="29"/>
                          </a:lnTo>
                          <a:lnTo>
                            <a:pt x="16" y="31"/>
                          </a:lnTo>
                          <a:lnTo>
                            <a:pt x="0" y="36"/>
                          </a:lnTo>
                          <a:lnTo>
                            <a:pt x="19" y="21"/>
                          </a:lnTo>
                          <a:lnTo>
                            <a:pt x="6" y="2"/>
                          </a:lnTo>
                          <a:close/>
                        </a:path>
                      </a:pathLst>
                    </a:custGeom>
                    <a:solidFill>
                      <a:srgbClr val="FF7F7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sp>
                <p:nvSpPr>
                  <p:cNvPr id="273" name="Freeform 363"/>
                  <p:cNvSpPr/>
                  <p:nvPr/>
                </p:nvSpPr>
                <p:spPr bwMode="auto">
                  <a:xfrm>
                    <a:off x="4886" y="2349"/>
                    <a:ext cx="23" cy="11"/>
                  </a:xfrm>
                  <a:custGeom>
                    <a:avLst/>
                    <a:gdLst>
                      <a:gd name="T0" fmla="*/ 23 w 138"/>
                      <a:gd name="T1" fmla="*/ 0 h 56"/>
                      <a:gd name="T2" fmla="*/ 5 w 138"/>
                      <a:gd name="T3" fmla="*/ 15 h 56"/>
                      <a:gd name="T4" fmla="*/ 0 w 138"/>
                      <a:gd name="T5" fmla="*/ 24 h 56"/>
                      <a:gd name="T6" fmla="*/ 0 w 138"/>
                      <a:gd name="T7" fmla="*/ 35 h 56"/>
                      <a:gd name="T8" fmla="*/ 5 w 138"/>
                      <a:gd name="T9" fmla="*/ 45 h 56"/>
                      <a:gd name="T10" fmla="*/ 5 w 138"/>
                      <a:gd name="T11" fmla="*/ 32 h 56"/>
                      <a:gd name="T12" fmla="*/ 13 w 138"/>
                      <a:gd name="T13" fmla="*/ 26 h 56"/>
                      <a:gd name="T14" fmla="*/ 28 w 138"/>
                      <a:gd name="T15" fmla="*/ 26 h 56"/>
                      <a:gd name="T16" fmla="*/ 47 w 138"/>
                      <a:gd name="T17" fmla="*/ 34 h 56"/>
                      <a:gd name="T18" fmla="*/ 65 w 138"/>
                      <a:gd name="T19" fmla="*/ 41 h 56"/>
                      <a:gd name="T20" fmla="*/ 81 w 138"/>
                      <a:gd name="T21" fmla="*/ 46 h 56"/>
                      <a:gd name="T22" fmla="*/ 95 w 138"/>
                      <a:gd name="T23" fmla="*/ 47 h 56"/>
                      <a:gd name="T24" fmla="*/ 99 w 138"/>
                      <a:gd name="T25" fmla="*/ 50 h 56"/>
                      <a:gd name="T26" fmla="*/ 101 w 138"/>
                      <a:gd name="T27" fmla="*/ 56 h 56"/>
                      <a:gd name="T28" fmla="*/ 108 w 138"/>
                      <a:gd name="T29" fmla="*/ 50 h 56"/>
                      <a:gd name="T30" fmla="*/ 120 w 138"/>
                      <a:gd name="T31" fmla="*/ 45 h 56"/>
                      <a:gd name="T32" fmla="*/ 123 w 138"/>
                      <a:gd name="T33" fmla="*/ 44 h 56"/>
                      <a:gd name="T34" fmla="*/ 127 w 138"/>
                      <a:gd name="T35" fmla="*/ 41 h 56"/>
                      <a:gd name="T36" fmla="*/ 138 w 138"/>
                      <a:gd name="T37" fmla="*/ 32 h 56"/>
                      <a:gd name="T38" fmla="*/ 128 w 138"/>
                      <a:gd name="T39" fmla="*/ 23 h 56"/>
                      <a:gd name="T40" fmla="*/ 120 w 138"/>
                      <a:gd name="T41" fmla="*/ 23 h 56"/>
                      <a:gd name="T42" fmla="*/ 107 w 138"/>
                      <a:gd name="T43" fmla="*/ 25 h 56"/>
                      <a:gd name="T44" fmla="*/ 93 w 138"/>
                      <a:gd name="T45" fmla="*/ 26 h 56"/>
                      <a:gd name="T46" fmla="*/ 86 w 138"/>
                      <a:gd name="T47" fmla="*/ 25 h 56"/>
                      <a:gd name="T48" fmla="*/ 79 w 138"/>
                      <a:gd name="T49" fmla="*/ 21 h 56"/>
                      <a:gd name="T50" fmla="*/ 67 w 138"/>
                      <a:gd name="T51" fmla="*/ 21 h 56"/>
                      <a:gd name="T52" fmla="*/ 50 w 138"/>
                      <a:gd name="T53" fmla="*/ 23 h 56"/>
                      <a:gd name="T54" fmla="*/ 38 w 138"/>
                      <a:gd name="T55" fmla="*/ 20 h 56"/>
                      <a:gd name="T56" fmla="*/ 28 w 138"/>
                      <a:gd name="T57" fmla="*/ 18 h 56"/>
                      <a:gd name="T58" fmla="*/ 19 w 138"/>
                      <a:gd name="T59" fmla="*/ 11 h 56"/>
                      <a:gd name="T60" fmla="*/ 23 w 138"/>
                      <a:gd name="T61" fmla="*/ 0 h 5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</a:cxnLst>
                    <a:rect l="0" t="0" r="r" b="b"/>
                    <a:pathLst>
                      <a:path w="138" h="56">
                        <a:moveTo>
                          <a:pt x="23" y="0"/>
                        </a:moveTo>
                        <a:lnTo>
                          <a:pt x="5" y="15"/>
                        </a:lnTo>
                        <a:lnTo>
                          <a:pt x="0" y="24"/>
                        </a:lnTo>
                        <a:lnTo>
                          <a:pt x="0" y="35"/>
                        </a:lnTo>
                        <a:lnTo>
                          <a:pt x="5" y="45"/>
                        </a:lnTo>
                        <a:lnTo>
                          <a:pt x="5" y="32"/>
                        </a:lnTo>
                        <a:lnTo>
                          <a:pt x="13" y="26"/>
                        </a:lnTo>
                        <a:lnTo>
                          <a:pt x="28" y="26"/>
                        </a:lnTo>
                        <a:lnTo>
                          <a:pt x="47" y="34"/>
                        </a:lnTo>
                        <a:lnTo>
                          <a:pt x="65" y="41"/>
                        </a:lnTo>
                        <a:lnTo>
                          <a:pt x="81" y="46"/>
                        </a:lnTo>
                        <a:lnTo>
                          <a:pt x="95" y="47"/>
                        </a:lnTo>
                        <a:lnTo>
                          <a:pt x="99" y="50"/>
                        </a:lnTo>
                        <a:lnTo>
                          <a:pt x="101" y="56"/>
                        </a:lnTo>
                        <a:lnTo>
                          <a:pt x="108" y="50"/>
                        </a:lnTo>
                        <a:lnTo>
                          <a:pt x="120" y="45"/>
                        </a:lnTo>
                        <a:lnTo>
                          <a:pt x="123" y="44"/>
                        </a:lnTo>
                        <a:lnTo>
                          <a:pt x="127" y="41"/>
                        </a:lnTo>
                        <a:lnTo>
                          <a:pt x="138" y="32"/>
                        </a:lnTo>
                        <a:lnTo>
                          <a:pt x="128" y="23"/>
                        </a:lnTo>
                        <a:lnTo>
                          <a:pt x="120" y="23"/>
                        </a:lnTo>
                        <a:lnTo>
                          <a:pt x="107" y="25"/>
                        </a:lnTo>
                        <a:lnTo>
                          <a:pt x="93" y="26"/>
                        </a:lnTo>
                        <a:lnTo>
                          <a:pt x="86" y="25"/>
                        </a:lnTo>
                        <a:lnTo>
                          <a:pt x="79" y="21"/>
                        </a:lnTo>
                        <a:lnTo>
                          <a:pt x="67" y="21"/>
                        </a:lnTo>
                        <a:lnTo>
                          <a:pt x="50" y="23"/>
                        </a:lnTo>
                        <a:lnTo>
                          <a:pt x="38" y="20"/>
                        </a:lnTo>
                        <a:lnTo>
                          <a:pt x="28" y="18"/>
                        </a:lnTo>
                        <a:lnTo>
                          <a:pt x="19" y="11"/>
                        </a:lnTo>
                        <a:lnTo>
                          <a:pt x="23" y="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274" name="Freeform 364"/>
                  <p:cNvSpPr/>
                  <p:nvPr/>
                </p:nvSpPr>
                <p:spPr bwMode="auto">
                  <a:xfrm>
                    <a:off x="4893" y="2334"/>
                    <a:ext cx="20" cy="16"/>
                  </a:xfrm>
                  <a:custGeom>
                    <a:avLst/>
                    <a:gdLst>
                      <a:gd name="T0" fmla="*/ 32 w 120"/>
                      <a:gd name="T1" fmla="*/ 0 h 81"/>
                      <a:gd name="T2" fmla="*/ 13 w 120"/>
                      <a:gd name="T3" fmla="*/ 31 h 81"/>
                      <a:gd name="T4" fmla="*/ 0 w 120"/>
                      <a:gd name="T5" fmla="*/ 37 h 81"/>
                      <a:gd name="T6" fmla="*/ 18 w 120"/>
                      <a:gd name="T7" fmla="*/ 39 h 81"/>
                      <a:gd name="T8" fmla="*/ 32 w 120"/>
                      <a:gd name="T9" fmla="*/ 43 h 81"/>
                      <a:gd name="T10" fmla="*/ 44 w 120"/>
                      <a:gd name="T11" fmla="*/ 53 h 81"/>
                      <a:gd name="T12" fmla="*/ 55 w 120"/>
                      <a:gd name="T13" fmla="*/ 81 h 81"/>
                      <a:gd name="T14" fmla="*/ 51 w 120"/>
                      <a:gd name="T15" fmla="*/ 61 h 81"/>
                      <a:gd name="T16" fmla="*/ 55 w 120"/>
                      <a:gd name="T17" fmla="*/ 54 h 81"/>
                      <a:gd name="T18" fmla="*/ 62 w 120"/>
                      <a:gd name="T19" fmla="*/ 58 h 81"/>
                      <a:gd name="T20" fmla="*/ 78 w 120"/>
                      <a:gd name="T21" fmla="*/ 59 h 81"/>
                      <a:gd name="T22" fmla="*/ 87 w 120"/>
                      <a:gd name="T23" fmla="*/ 49 h 81"/>
                      <a:gd name="T24" fmla="*/ 103 w 120"/>
                      <a:gd name="T25" fmla="*/ 47 h 81"/>
                      <a:gd name="T26" fmla="*/ 120 w 120"/>
                      <a:gd name="T27" fmla="*/ 38 h 81"/>
                      <a:gd name="T28" fmla="*/ 103 w 120"/>
                      <a:gd name="T29" fmla="*/ 38 h 81"/>
                      <a:gd name="T30" fmla="*/ 92 w 120"/>
                      <a:gd name="T31" fmla="*/ 38 h 81"/>
                      <a:gd name="T32" fmla="*/ 80 w 120"/>
                      <a:gd name="T33" fmla="*/ 32 h 81"/>
                      <a:gd name="T34" fmla="*/ 55 w 120"/>
                      <a:gd name="T35" fmla="*/ 31 h 81"/>
                      <a:gd name="T36" fmla="*/ 41 w 120"/>
                      <a:gd name="T37" fmla="*/ 34 h 81"/>
                      <a:gd name="T38" fmla="*/ 34 w 120"/>
                      <a:gd name="T39" fmla="*/ 32 h 81"/>
                      <a:gd name="T40" fmla="*/ 26 w 120"/>
                      <a:gd name="T41" fmla="*/ 26 h 81"/>
                      <a:gd name="T42" fmla="*/ 25 w 120"/>
                      <a:gd name="T43" fmla="*/ 18 h 81"/>
                      <a:gd name="T44" fmla="*/ 32 w 120"/>
                      <a:gd name="T45" fmla="*/ 0 h 8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</a:cxnLst>
                    <a:rect l="0" t="0" r="r" b="b"/>
                    <a:pathLst>
                      <a:path w="120" h="81">
                        <a:moveTo>
                          <a:pt x="32" y="0"/>
                        </a:moveTo>
                        <a:lnTo>
                          <a:pt x="13" y="31"/>
                        </a:lnTo>
                        <a:lnTo>
                          <a:pt x="0" y="37"/>
                        </a:lnTo>
                        <a:lnTo>
                          <a:pt x="18" y="39"/>
                        </a:lnTo>
                        <a:lnTo>
                          <a:pt x="32" y="43"/>
                        </a:lnTo>
                        <a:lnTo>
                          <a:pt x="44" y="53"/>
                        </a:lnTo>
                        <a:lnTo>
                          <a:pt x="55" y="81"/>
                        </a:lnTo>
                        <a:lnTo>
                          <a:pt x="51" y="61"/>
                        </a:lnTo>
                        <a:lnTo>
                          <a:pt x="55" y="54"/>
                        </a:lnTo>
                        <a:lnTo>
                          <a:pt x="62" y="58"/>
                        </a:lnTo>
                        <a:lnTo>
                          <a:pt x="78" y="59"/>
                        </a:lnTo>
                        <a:lnTo>
                          <a:pt x="87" y="49"/>
                        </a:lnTo>
                        <a:lnTo>
                          <a:pt x="103" y="47"/>
                        </a:lnTo>
                        <a:lnTo>
                          <a:pt x="120" y="38"/>
                        </a:lnTo>
                        <a:lnTo>
                          <a:pt x="103" y="38"/>
                        </a:lnTo>
                        <a:lnTo>
                          <a:pt x="92" y="38"/>
                        </a:lnTo>
                        <a:lnTo>
                          <a:pt x="80" y="32"/>
                        </a:lnTo>
                        <a:lnTo>
                          <a:pt x="55" y="31"/>
                        </a:lnTo>
                        <a:lnTo>
                          <a:pt x="41" y="34"/>
                        </a:lnTo>
                        <a:lnTo>
                          <a:pt x="34" y="32"/>
                        </a:lnTo>
                        <a:lnTo>
                          <a:pt x="26" y="26"/>
                        </a:lnTo>
                        <a:lnTo>
                          <a:pt x="25" y="18"/>
                        </a:lnTo>
                        <a:lnTo>
                          <a:pt x="32" y="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275" name="Freeform 365"/>
                  <p:cNvSpPr/>
                  <p:nvPr/>
                </p:nvSpPr>
                <p:spPr bwMode="auto">
                  <a:xfrm>
                    <a:off x="4889" y="2354"/>
                    <a:ext cx="18" cy="9"/>
                  </a:xfrm>
                  <a:custGeom>
                    <a:avLst/>
                    <a:gdLst>
                      <a:gd name="T0" fmla="*/ 0 w 110"/>
                      <a:gd name="T1" fmla="*/ 1 h 47"/>
                      <a:gd name="T2" fmla="*/ 13 w 110"/>
                      <a:gd name="T3" fmla="*/ 0 h 47"/>
                      <a:gd name="T4" fmla="*/ 25 w 110"/>
                      <a:gd name="T5" fmla="*/ 5 h 47"/>
                      <a:gd name="T6" fmla="*/ 42 w 110"/>
                      <a:gd name="T7" fmla="*/ 10 h 47"/>
                      <a:gd name="T8" fmla="*/ 52 w 110"/>
                      <a:gd name="T9" fmla="*/ 15 h 47"/>
                      <a:gd name="T10" fmla="*/ 63 w 110"/>
                      <a:gd name="T11" fmla="*/ 19 h 47"/>
                      <a:gd name="T12" fmla="*/ 74 w 110"/>
                      <a:gd name="T13" fmla="*/ 20 h 47"/>
                      <a:gd name="T14" fmla="*/ 84 w 110"/>
                      <a:gd name="T15" fmla="*/ 21 h 47"/>
                      <a:gd name="T16" fmla="*/ 98 w 110"/>
                      <a:gd name="T17" fmla="*/ 19 h 47"/>
                      <a:gd name="T18" fmla="*/ 107 w 110"/>
                      <a:gd name="T19" fmla="*/ 14 h 47"/>
                      <a:gd name="T20" fmla="*/ 110 w 110"/>
                      <a:gd name="T21" fmla="*/ 10 h 47"/>
                      <a:gd name="T22" fmla="*/ 107 w 110"/>
                      <a:gd name="T23" fmla="*/ 26 h 47"/>
                      <a:gd name="T24" fmla="*/ 99 w 110"/>
                      <a:gd name="T25" fmla="*/ 38 h 47"/>
                      <a:gd name="T26" fmla="*/ 89 w 110"/>
                      <a:gd name="T27" fmla="*/ 45 h 47"/>
                      <a:gd name="T28" fmla="*/ 75 w 110"/>
                      <a:gd name="T29" fmla="*/ 47 h 47"/>
                      <a:gd name="T30" fmla="*/ 59 w 110"/>
                      <a:gd name="T31" fmla="*/ 46 h 47"/>
                      <a:gd name="T32" fmla="*/ 48 w 110"/>
                      <a:gd name="T33" fmla="*/ 42 h 47"/>
                      <a:gd name="T34" fmla="*/ 36 w 110"/>
                      <a:gd name="T35" fmla="*/ 33 h 47"/>
                      <a:gd name="T36" fmla="*/ 29 w 110"/>
                      <a:gd name="T37" fmla="*/ 27 h 47"/>
                      <a:gd name="T38" fmla="*/ 16 w 110"/>
                      <a:gd name="T39" fmla="*/ 17 h 47"/>
                      <a:gd name="T40" fmla="*/ 0 w 110"/>
                      <a:gd name="T41" fmla="*/ 1 h 4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</a:cxnLst>
                    <a:rect l="0" t="0" r="r" b="b"/>
                    <a:pathLst>
                      <a:path w="110" h="47">
                        <a:moveTo>
                          <a:pt x="0" y="1"/>
                        </a:moveTo>
                        <a:lnTo>
                          <a:pt x="13" y="0"/>
                        </a:lnTo>
                        <a:lnTo>
                          <a:pt x="25" y="5"/>
                        </a:lnTo>
                        <a:lnTo>
                          <a:pt x="42" y="10"/>
                        </a:lnTo>
                        <a:lnTo>
                          <a:pt x="52" y="15"/>
                        </a:lnTo>
                        <a:lnTo>
                          <a:pt x="63" y="19"/>
                        </a:lnTo>
                        <a:lnTo>
                          <a:pt x="74" y="20"/>
                        </a:lnTo>
                        <a:lnTo>
                          <a:pt x="84" y="21"/>
                        </a:lnTo>
                        <a:lnTo>
                          <a:pt x="98" y="19"/>
                        </a:lnTo>
                        <a:lnTo>
                          <a:pt x="107" y="14"/>
                        </a:lnTo>
                        <a:lnTo>
                          <a:pt x="110" y="10"/>
                        </a:lnTo>
                        <a:lnTo>
                          <a:pt x="107" y="26"/>
                        </a:lnTo>
                        <a:lnTo>
                          <a:pt x="99" y="38"/>
                        </a:lnTo>
                        <a:lnTo>
                          <a:pt x="89" y="45"/>
                        </a:lnTo>
                        <a:lnTo>
                          <a:pt x="75" y="47"/>
                        </a:lnTo>
                        <a:lnTo>
                          <a:pt x="59" y="46"/>
                        </a:lnTo>
                        <a:lnTo>
                          <a:pt x="48" y="42"/>
                        </a:lnTo>
                        <a:lnTo>
                          <a:pt x="36" y="33"/>
                        </a:lnTo>
                        <a:lnTo>
                          <a:pt x="29" y="27"/>
                        </a:lnTo>
                        <a:lnTo>
                          <a:pt x="16" y="17"/>
                        </a:lnTo>
                        <a:lnTo>
                          <a:pt x="0" y="1"/>
                        </a:lnTo>
                        <a:close/>
                      </a:path>
                    </a:pathLst>
                  </a:custGeom>
                  <a:solidFill>
                    <a:srgbClr val="BF7F3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276" name="Freeform 366"/>
                  <p:cNvSpPr/>
                  <p:nvPr/>
                </p:nvSpPr>
                <p:spPr bwMode="auto">
                  <a:xfrm>
                    <a:off x="4890" y="2354"/>
                    <a:ext cx="16" cy="4"/>
                  </a:xfrm>
                  <a:custGeom>
                    <a:avLst/>
                    <a:gdLst>
                      <a:gd name="T0" fmla="*/ 0 w 94"/>
                      <a:gd name="T1" fmla="*/ 0 h 21"/>
                      <a:gd name="T2" fmla="*/ 13 w 94"/>
                      <a:gd name="T3" fmla="*/ 1 h 21"/>
                      <a:gd name="T4" fmla="*/ 32 w 94"/>
                      <a:gd name="T5" fmla="*/ 2 h 21"/>
                      <a:gd name="T6" fmla="*/ 45 w 94"/>
                      <a:gd name="T7" fmla="*/ 4 h 21"/>
                      <a:gd name="T8" fmla="*/ 57 w 94"/>
                      <a:gd name="T9" fmla="*/ 10 h 21"/>
                      <a:gd name="T10" fmla="*/ 64 w 94"/>
                      <a:gd name="T11" fmla="*/ 12 h 21"/>
                      <a:gd name="T12" fmla="*/ 80 w 94"/>
                      <a:gd name="T13" fmla="*/ 8 h 21"/>
                      <a:gd name="T14" fmla="*/ 92 w 94"/>
                      <a:gd name="T15" fmla="*/ 8 h 21"/>
                      <a:gd name="T16" fmla="*/ 94 w 94"/>
                      <a:gd name="T17" fmla="*/ 20 h 21"/>
                      <a:gd name="T18" fmla="*/ 82 w 94"/>
                      <a:gd name="T19" fmla="*/ 18 h 21"/>
                      <a:gd name="T20" fmla="*/ 72 w 94"/>
                      <a:gd name="T21" fmla="*/ 20 h 21"/>
                      <a:gd name="T22" fmla="*/ 61 w 94"/>
                      <a:gd name="T23" fmla="*/ 21 h 21"/>
                      <a:gd name="T24" fmla="*/ 54 w 94"/>
                      <a:gd name="T25" fmla="*/ 21 h 21"/>
                      <a:gd name="T26" fmla="*/ 45 w 94"/>
                      <a:gd name="T27" fmla="*/ 13 h 21"/>
                      <a:gd name="T28" fmla="*/ 38 w 94"/>
                      <a:gd name="T29" fmla="*/ 7 h 21"/>
                      <a:gd name="T30" fmla="*/ 27 w 94"/>
                      <a:gd name="T31" fmla="*/ 6 h 21"/>
                      <a:gd name="T32" fmla="*/ 12 w 94"/>
                      <a:gd name="T33" fmla="*/ 4 h 21"/>
                      <a:gd name="T34" fmla="*/ 0 w 94"/>
                      <a:gd name="T35" fmla="*/ 0 h 2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</a:cxnLst>
                    <a:rect l="0" t="0" r="r" b="b"/>
                    <a:pathLst>
                      <a:path w="94" h="21">
                        <a:moveTo>
                          <a:pt x="0" y="0"/>
                        </a:moveTo>
                        <a:lnTo>
                          <a:pt x="13" y="1"/>
                        </a:lnTo>
                        <a:lnTo>
                          <a:pt x="32" y="2"/>
                        </a:lnTo>
                        <a:lnTo>
                          <a:pt x="45" y="4"/>
                        </a:lnTo>
                        <a:lnTo>
                          <a:pt x="57" y="10"/>
                        </a:lnTo>
                        <a:lnTo>
                          <a:pt x="64" y="12"/>
                        </a:lnTo>
                        <a:lnTo>
                          <a:pt x="80" y="8"/>
                        </a:lnTo>
                        <a:lnTo>
                          <a:pt x="92" y="8"/>
                        </a:lnTo>
                        <a:lnTo>
                          <a:pt x="94" y="20"/>
                        </a:lnTo>
                        <a:lnTo>
                          <a:pt x="82" y="18"/>
                        </a:lnTo>
                        <a:lnTo>
                          <a:pt x="72" y="20"/>
                        </a:lnTo>
                        <a:lnTo>
                          <a:pt x="61" y="21"/>
                        </a:lnTo>
                        <a:lnTo>
                          <a:pt x="54" y="21"/>
                        </a:lnTo>
                        <a:lnTo>
                          <a:pt x="45" y="13"/>
                        </a:lnTo>
                        <a:lnTo>
                          <a:pt x="38" y="7"/>
                        </a:lnTo>
                        <a:lnTo>
                          <a:pt x="27" y="6"/>
                        </a:lnTo>
                        <a:lnTo>
                          <a:pt x="12" y="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grpSp>
                <p:nvGrpSpPr>
                  <p:cNvPr id="277" name="Group 367"/>
                  <p:cNvGrpSpPr/>
                  <p:nvPr/>
                </p:nvGrpSpPr>
                <p:grpSpPr bwMode="auto">
                  <a:xfrm>
                    <a:off x="4840" y="2242"/>
                    <a:ext cx="86" cy="92"/>
                    <a:chOff x="4840" y="2242"/>
                    <a:chExt cx="86" cy="92"/>
                  </a:xfrm>
                </p:grpSpPr>
                <p:sp>
                  <p:nvSpPr>
                    <p:cNvPr id="294" name="Freeform 368"/>
                    <p:cNvSpPr/>
                    <p:nvPr/>
                  </p:nvSpPr>
                  <p:spPr bwMode="auto">
                    <a:xfrm>
                      <a:off x="4840" y="2242"/>
                      <a:ext cx="86" cy="92"/>
                    </a:xfrm>
                    <a:custGeom>
                      <a:avLst/>
                      <a:gdLst>
                        <a:gd name="T0" fmla="*/ 21 w 518"/>
                        <a:gd name="T1" fmla="*/ 463 h 463"/>
                        <a:gd name="T2" fmla="*/ 6 w 518"/>
                        <a:gd name="T3" fmla="*/ 326 h 463"/>
                        <a:gd name="T4" fmla="*/ 0 w 518"/>
                        <a:gd name="T5" fmla="*/ 248 h 463"/>
                        <a:gd name="T6" fmla="*/ 5 w 518"/>
                        <a:gd name="T7" fmla="*/ 164 h 463"/>
                        <a:gd name="T8" fmla="*/ 21 w 518"/>
                        <a:gd name="T9" fmla="*/ 90 h 463"/>
                        <a:gd name="T10" fmla="*/ 57 w 518"/>
                        <a:gd name="T11" fmla="*/ 54 h 463"/>
                        <a:gd name="T12" fmla="*/ 118 w 518"/>
                        <a:gd name="T13" fmla="*/ 18 h 463"/>
                        <a:gd name="T14" fmla="*/ 159 w 518"/>
                        <a:gd name="T15" fmla="*/ 6 h 463"/>
                        <a:gd name="T16" fmla="*/ 188 w 518"/>
                        <a:gd name="T17" fmla="*/ 4 h 463"/>
                        <a:gd name="T18" fmla="*/ 270 w 518"/>
                        <a:gd name="T19" fmla="*/ 1 h 463"/>
                        <a:gd name="T20" fmla="*/ 323 w 518"/>
                        <a:gd name="T21" fmla="*/ 10 h 463"/>
                        <a:gd name="T22" fmla="*/ 374 w 518"/>
                        <a:gd name="T23" fmla="*/ 25 h 463"/>
                        <a:gd name="T24" fmla="*/ 421 w 518"/>
                        <a:gd name="T25" fmla="*/ 41 h 463"/>
                        <a:gd name="T26" fmla="*/ 472 w 518"/>
                        <a:gd name="T27" fmla="*/ 68 h 463"/>
                        <a:gd name="T28" fmla="*/ 508 w 518"/>
                        <a:gd name="T29" fmla="*/ 96 h 463"/>
                        <a:gd name="T30" fmla="*/ 518 w 518"/>
                        <a:gd name="T31" fmla="*/ 148 h 463"/>
                        <a:gd name="T32" fmla="*/ 509 w 518"/>
                        <a:gd name="T33" fmla="*/ 210 h 463"/>
                        <a:gd name="T34" fmla="*/ 469 w 518"/>
                        <a:gd name="T35" fmla="*/ 167 h 463"/>
                        <a:gd name="T36" fmla="*/ 411 w 518"/>
                        <a:gd name="T37" fmla="*/ 151 h 463"/>
                        <a:gd name="T38" fmla="*/ 385 w 518"/>
                        <a:gd name="T39" fmla="*/ 138 h 463"/>
                        <a:gd name="T40" fmla="*/ 356 w 518"/>
                        <a:gd name="T41" fmla="*/ 135 h 463"/>
                        <a:gd name="T42" fmla="*/ 328 w 518"/>
                        <a:gd name="T43" fmla="*/ 117 h 463"/>
                        <a:gd name="T44" fmla="*/ 299 w 518"/>
                        <a:gd name="T45" fmla="*/ 94 h 463"/>
                        <a:gd name="T46" fmla="*/ 242 w 518"/>
                        <a:gd name="T47" fmla="*/ 60 h 463"/>
                        <a:gd name="T48" fmla="*/ 261 w 518"/>
                        <a:gd name="T49" fmla="*/ 90 h 463"/>
                        <a:gd name="T50" fmla="*/ 262 w 518"/>
                        <a:gd name="T51" fmla="*/ 139 h 463"/>
                        <a:gd name="T52" fmla="*/ 255 w 518"/>
                        <a:gd name="T53" fmla="*/ 189 h 463"/>
                        <a:gd name="T54" fmla="*/ 235 w 518"/>
                        <a:gd name="T55" fmla="*/ 229 h 463"/>
                        <a:gd name="T56" fmla="*/ 208 w 518"/>
                        <a:gd name="T57" fmla="*/ 257 h 463"/>
                        <a:gd name="T58" fmla="*/ 183 w 518"/>
                        <a:gd name="T59" fmla="*/ 295 h 463"/>
                        <a:gd name="T60" fmla="*/ 174 w 518"/>
                        <a:gd name="T61" fmla="*/ 322 h 463"/>
                        <a:gd name="T62" fmla="*/ 161 w 518"/>
                        <a:gd name="T63" fmla="*/ 356 h 463"/>
                        <a:gd name="T64" fmla="*/ 161 w 518"/>
                        <a:gd name="T65" fmla="*/ 392 h 463"/>
                        <a:gd name="T66" fmla="*/ 123 w 518"/>
                        <a:gd name="T67" fmla="*/ 407 h 463"/>
                        <a:gd name="T68" fmla="*/ 114 w 518"/>
                        <a:gd name="T69" fmla="*/ 372 h 463"/>
                        <a:gd name="T70" fmla="*/ 110 w 518"/>
                        <a:gd name="T71" fmla="*/ 337 h 463"/>
                        <a:gd name="T72" fmla="*/ 101 w 518"/>
                        <a:gd name="T73" fmla="*/ 288 h 463"/>
                        <a:gd name="T74" fmla="*/ 85 w 518"/>
                        <a:gd name="T75" fmla="*/ 262 h 463"/>
                        <a:gd name="T76" fmla="*/ 59 w 518"/>
                        <a:gd name="T77" fmla="*/ 253 h 463"/>
                        <a:gd name="T78" fmla="*/ 35 w 518"/>
                        <a:gd name="T79" fmla="*/ 274 h 463"/>
                        <a:gd name="T80" fmla="*/ 24 w 518"/>
                        <a:gd name="T81" fmla="*/ 311 h 463"/>
                        <a:gd name="T82" fmla="*/ 21 w 518"/>
                        <a:gd name="T83" fmla="*/ 348 h 463"/>
                        <a:gd name="T84" fmla="*/ 29 w 518"/>
                        <a:gd name="T85" fmla="*/ 408 h 463"/>
                        <a:gd name="T86" fmla="*/ 46 w 518"/>
                        <a:gd name="T87" fmla="*/ 439 h 46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</a:cxnLst>
                      <a:rect l="0" t="0" r="r" b="b"/>
                      <a:pathLst>
                        <a:path w="518" h="463">
                          <a:moveTo>
                            <a:pt x="46" y="439"/>
                          </a:moveTo>
                          <a:lnTo>
                            <a:pt x="21" y="463"/>
                          </a:lnTo>
                          <a:lnTo>
                            <a:pt x="6" y="426"/>
                          </a:lnTo>
                          <a:lnTo>
                            <a:pt x="6" y="326"/>
                          </a:lnTo>
                          <a:lnTo>
                            <a:pt x="3" y="284"/>
                          </a:lnTo>
                          <a:lnTo>
                            <a:pt x="0" y="248"/>
                          </a:lnTo>
                          <a:lnTo>
                            <a:pt x="3" y="204"/>
                          </a:lnTo>
                          <a:lnTo>
                            <a:pt x="5" y="164"/>
                          </a:lnTo>
                          <a:lnTo>
                            <a:pt x="12" y="109"/>
                          </a:lnTo>
                          <a:lnTo>
                            <a:pt x="21" y="90"/>
                          </a:lnTo>
                          <a:lnTo>
                            <a:pt x="37" y="73"/>
                          </a:lnTo>
                          <a:lnTo>
                            <a:pt x="57" y="54"/>
                          </a:lnTo>
                          <a:lnTo>
                            <a:pt x="82" y="36"/>
                          </a:lnTo>
                          <a:lnTo>
                            <a:pt x="118" y="18"/>
                          </a:lnTo>
                          <a:lnTo>
                            <a:pt x="141" y="10"/>
                          </a:lnTo>
                          <a:lnTo>
                            <a:pt x="159" y="6"/>
                          </a:lnTo>
                          <a:lnTo>
                            <a:pt x="174" y="5"/>
                          </a:lnTo>
                          <a:lnTo>
                            <a:pt x="188" y="4"/>
                          </a:lnTo>
                          <a:lnTo>
                            <a:pt x="235" y="0"/>
                          </a:lnTo>
                          <a:lnTo>
                            <a:pt x="270" y="1"/>
                          </a:lnTo>
                          <a:lnTo>
                            <a:pt x="302" y="6"/>
                          </a:lnTo>
                          <a:lnTo>
                            <a:pt x="323" y="10"/>
                          </a:lnTo>
                          <a:lnTo>
                            <a:pt x="349" y="16"/>
                          </a:lnTo>
                          <a:lnTo>
                            <a:pt x="374" y="25"/>
                          </a:lnTo>
                          <a:lnTo>
                            <a:pt x="398" y="32"/>
                          </a:lnTo>
                          <a:lnTo>
                            <a:pt x="421" y="41"/>
                          </a:lnTo>
                          <a:lnTo>
                            <a:pt x="444" y="49"/>
                          </a:lnTo>
                          <a:lnTo>
                            <a:pt x="472" y="68"/>
                          </a:lnTo>
                          <a:lnTo>
                            <a:pt x="496" y="84"/>
                          </a:lnTo>
                          <a:lnTo>
                            <a:pt x="508" y="96"/>
                          </a:lnTo>
                          <a:lnTo>
                            <a:pt x="515" y="121"/>
                          </a:lnTo>
                          <a:lnTo>
                            <a:pt x="518" y="148"/>
                          </a:lnTo>
                          <a:lnTo>
                            <a:pt x="514" y="191"/>
                          </a:lnTo>
                          <a:lnTo>
                            <a:pt x="509" y="210"/>
                          </a:lnTo>
                          <a:lnTo>
                            <a:pt x="499" y="185"/>
                          </a:lnTo>
                          <a:lnTo>
                            <a:pt x="469" y="167"/>
                          </a:lnTo>
                          <a:lnTo>
                            <a:pt x="433" y="158"/>
                          </a:lnTo>
                          <a:lnTo>
                            <a:pt x="411" y="151"/>
                          </a:lnTo>
                          <a:lnTo>
                            <a:pt x="397" y="143"/>
                          </a:lnTo>
                          <a:lnTo>
                            <a:pt x="385" y="138"/>
                          </a:lnTo>
                          <a:lnTo>
                            <a:pt x="372" y="138"/>
                          </a:lnTo>
                          <a:lnTo>
                            <a:pt x="356" y="135"/>
                          </a:lnTo>
                          <a:lnTo>
                            <a:pt x="345" y="128"/>
                          </a:lnTo>
                          <a:lnTo>
                            <a:pt x="328" y="117"/>
                          </a:lnTo>
                          <a:lnTo>
                            <a:pt x="317" y="107"/>
                          </a:lnTo>
                          <a:lnTo>
                            <a:pt x="299" y="94"/>
                          </a:lnTo>
                          <a:lnTo>
                            <a:pt x="278" y="79"/>
                          </a:lnTo>
                          <a:lnTo>
                            <a:pt x="242" y="60"/>
                          </a:lnTo>
                          <a:lnTo>
                            <a:pt x="255" y="75"/>
                          </a:lnTo>
                          <a:lnTo>
                            <a:pt x="261" y="90"/>
                          </a:lnTo>
                          <a:lnTo>
                            <a:pt x="263" y="110"/>
                          </a:lnTo>
                          <a:lnTo>
                            <a:pt x="262" y="139"/>
                          </a:lnTo>
                          <a:lnTo>
                            <a:pt x="259" y="162"/>
                          </a:lnTo>
                          <a:lnTo>
                            <a:pt x="255" y="189"/>
                          </a:lnTo>
                          <a:lnTo>
                            <a:pt x="244" y="215"/>
                          </a:lnTo>
                          <a:lnTo>
                            <a:pt x="235" y="229"/>
                          </a:lnTo>
                          <a:lnTo>
                            <a:pt x="223" y="243"/>
                          </a:lnTo>
                          <a:lnTo>
                            <a:pt x="208" y="257"/>
                          </a:lnTo>
                          <a:lnTo>
                            <a:pt x="199" y="269"/>
                          </a:lnTo>
                          <a:lnTo>
                            <a:pt x="183" y="295"/>
                          </a:lnTo>
                          <a:lnTo>
                            <a:pt x="177" y="310"/>
                          </a:lnTo>
                          <a:lnTo>
                            <a:pt x="174" y="322"/>
                          </a:lnTo>
                          <a:lnTo>
                            <a:pt x="167" y="340"/>
                          </a:lnTo>
                          <a:lnTo>
                            <a:pt x="161" y="356"/>
                          </a:lnTo>
                          <a:lnTo>
                            <a:pt x="163" y="374"/>
                          </a:lnTo>
                          <a:lnTo>
                            <a:pt x="161" y="392"/>
                          </a:lnTo>
                          <a:lnTo>
                            <a:pt x="152" y="408"/>
                          </a:lnTo>
                          <a:lnTo>
                            <a:pt x="123" y="407"/>
                          </a:lnTo>
                          <a:lnTo>
                            <a:pt x="118" y="387"/>
                          </a:lnTo>
                          <a:lnTo>
                            <a:pt x="114" y="372"/>
                          </a:lnTo>
                          <a:lnTo>
                            <a:pt x="110" y="356"/>
                          </a:lnTo>
                          <a:lnTo>
                            <a:pt x="110" y="337"/>
                          </a:lnTo>
                          <a:lnTo>
                            <a:pt x="108" y="319"/>
                          </a:lnTo>
                          <a:lnTo>
                            <a:pt x="101" y="288"/>
                          </a:lnTo>
                          <a:lnTo>
                            <a:pt x="95" y="272"/>
                          </a:lnTo>
                          <a:lnTo>
                            <a:pt x="85" y="262"/>
                          </a:lnTo>
                          <a:lnTo>
                            <a:pt x="69" y="252"/>
                          </a:lnTo>
                          <a:lnTo>
                            <a:pt x="59" y="253"/>
                          </a:lnTo>
                          <a:lnTo>
                            <a:pt x="43" y="261"/>
                          </a:lnTo>
                          <a:lnTo>
                            <a:pt x="35" y="274"/>
                          </a:lnTo>
                          <a:lnTo>
                            <a:pt x="28" y="292"/>
                          </a:lnTo>
                          <a:lnTo>
                            <a:pt x="24" y="311"/>
                          </a:lnTo>
                          <a:lnTo>
                            <a:pt x="22" y="326"/>
                          </a:lnTo>
                          <a:lnTo>
                            <a:pt x="21" y="348"/>
                          </a:lnTo>
                          <a:lnTo>
                            <a:pt x="24" y="386"/>
                          </a:lnTo>
                          <a:lnTo>
                            <a:pt x="29" y="408"/>
                          </a:lnTo>
                          <a:lnTo>
                            <a:pt x="39" y="426"/>
                          </a:lnTo>
                          <a:lnTo>
                            <a:pt x="46" y="439"/>
                          </a:lnTo>
                          <a:close/>
                        </a:path>
                      </a:pathLst>
                    </a:custGeom>
                    <a:solidFill>
                      <a:srgbClr val="3F1F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95" name="Freeform 369"/>
                    <p:cNvSpPr/>
                    <p:nvPr/>
                  </p:nvSpPr>
                  <p:spPr bwMode="auto">
                    <a:xfrm>
                      <a:off x="4860" y="2245"/>
                      <a:ext cx="65" cy="67"/>
                    </a:xfrm>
                    <a:custGeom>
                      <a:avLst/>
                      <a:gdLst>
                        <a:gd name="T0" fmla="*/ 40 w 388"/>
                        <a:gd name="T1" fmla="*/ 309 h 335"/>
                        <a:gd name="T2" fmla="*/ 16 w 388"/>
                        <a:gd name="T3" fmla="*/ 335 h 335"/>
                        <a:gd name="T4" fmla="*/ 17 w 388"/>
                        <a:gd name="T5" fmla="*/ 298 h 335"/>
                        <a:gd name="T6" fmla="*/ 14 w 388"/>
                        <a:gd name="T7" fmla="*/ 278 h 335"/>
                        <a:gd name="T8" fmla="*/ 22 w 388"/>
                        <a:gd name="T9" fmla="*/ 214 h 335"/>
                        <a:gd name="T10" fmla="*/ 23 w 388"/>
                        <a:gd name="T11" fmla="*/ 184 h 335"/>
                        <a:gd name="T12" fmla="*/ 32 w 388"/>
                        <a:gd name="T13" fmla="*/ 188 h 335"/>
                        <a:gd name="T14" fmla="*/ 36 w 388"/>
                        <a:gd name="T15" fmla="*/ 210 h 335"/>
                        <a:gd name="T16" fmla="*/ 26 w 388"/>
                        <a:gd name="T17" fmla="*/ 241 h 335"/>
                        <a:gd name="T18" fmla="*/ 36 w 388"/>
                        <a:gd name="T19" fmla="*/ 255 h 335"/>
                        <a:gd name="T20" fmla="*/ 63 w 388"/>
                        <a:gd name="T21" fmla="*/ 257 h 335"/>
                        <a:gd name="T22" fmla="*/ 99 w 388"/>
                        <a:gd name="T23" fmla="*/ 194 h 335"/>
                        <a:gd name="T24" fmla="*/ 75 w 388"/>
                        <a:gd name="T25" fmla="*/ 193 h 335"/>
                        <a:gd name="T26" fmla="*/ 78 w 388"/>
                        <a:gd name="T27" fmla="*/ 179 h 335"/>
                        <a:gd name="T28" fmla="*/ 83 w 388"/>
                        <a:gd name="T29" fmla="*/ 190 h 335"/>
                        <a:gd name="T30" fmla="*/ 104 w 388"/>
                        <a:gd name="T31" fmla="*/ 158 h 335"/>
                        <a:gd name="T32" fmla="*/ 116 w 388"/>
                        <a:gd name="T33" fmla="*/ 126 h 335"/>
                        <a:gd name="T34" fmla="*/ 124 w 388"/>
                        <a:gd name="T35" fmla="*/ 121 h 335"/>
                        <a:gd name="T36" fmla="*/ 129 w 388"/>
                        <a:gd name="T37" fmla="*/ 80 h 335"/>
                        <a:gd name="T38" fmla="*/ 127 w 388"/>
                        <a:gd name="T39" fmla="*/ 55 h 335"/>
                        <a:gd name="T40" fmla="*/ 109 w 388"/>
                        <a:gd name="T41" fmla="*/ 41 h 335"/>
                        <a:gd name="T42" fmla="*/ 75 w 388"/>
                        <a:gd name="T43" fmla="*/ 26 h 335"/>
                        <a:gd name="T44" fmla="*/ 41 w 388"/>
                        <a:gd name="T45" fmla="*/ 9 h 335"/>
                        <a:gd name="T46" fmla="*/ 49 w 388"/>
                        <a:gd name="T47" fmla="*/ 0 h 335"/>
                        <a:gd name="T48" fmla="*/ 92 w 388"/>
                        <a:gd name="T49" fmla="*/ 5 h 335"/>
                        <a:gd name="T50" fmla="*/ 123 w 388"/>
                        <a:gd name="T51" fmla="*/ 11 h 335"/>
                        <a:gd name="T52" fmla="*/ 109 w 388"/>
                        <a:gd name="T53" fmla="*/ 16 h 335"/>
                        <a:gd name="T54" fmla="*/ 143 w 388"/>
                        <a:gd name="T55" fmla="*/ 16 h 335"/>
                        <a:gd name="T56" fmla="*/ 173 w 388"/>
                        <a:gd name="T57" fmla="*/ 21 h 335"/>
                        <a:gd name="T58" fmla="*/ 147 w 388"/>
                        <a:gd name="T59" fmla="*/ 28 h 335"/>
                        <a:gd name="T60" fmla="*/ 176 w 388"/>
                        <a:gd name="T61" fmla="*/ 30 h 335"/>
                        <a:gd name="T62" fmla="*/ 133 w 388"/>
                        <a:gd name="T63" fmla="*/ 36 h 335"/>
                        <a:gd name="T64" fmla="*/ 165 w 388"/>
                        <a:gd name="T65" fmla="*/ 47 h 335"/>
                        <a:gd name="T66" fmla="*/ 218 w 388"/>
                        <a:gd name="T67" fmla="*/ 59 h 335"/>
                        <a:gd name="T68" fmla="*/ 204 w 388"/>
                        <a:gd name="T69" fmla="*/ 41 h 335"/>
                        <a:gd name="T70" fmla="*/ 246 w 388"/>
                        <a:gd name="T71" fmla="*/ 52 h 335"/>
                        <a:gd name="T72" fmla="*/ 276 w 388"/>
                        <a:gd name="T73" fmla="*/ 67 h 335"/>
                        <a:gd name="T74" fmla="*/ 312 w 388"/>
                        <a:gd name="T75" fmla="*/ 93 h 335"/>
                        <a:gd name="T76" fmla="*/ 314 w 388"/>
                        <a:gd name="T77" fmla="*/ 100 h 335"/>
                        <a:gd name="T78" fmla="*/ 350 w 388"/>
                        <a:gd name="T79" fmla="*/ 122 h 335"/>
                        <a:gd name="T80" fmla="*/ 375 w 388"/>
                        <a:gd name="T81" fmla="*/ 149 h 335"/>
                        <a:gd name="T82" fmla="*/ 388 w 388"/>
                        <a:gd name="T83" fmla="*/ 194 h 335"/>
                        <a:gd name="T84" fmla="*/ 348 w 388"/>
                        <a:gd name="T85" fmla="*/ 151 h 335"/>
                        <a:gd name="T86" fmla="*/ 289 w 388"/>
                        <a:gd name="T87" fmla="*/ 135 h 335"/>
                        <a:gd name="T88" fmla="*/ 264 w 388"/>
                        <a:gd name="T89" fmla="*/ 122 h 335"/>
                        <a:gd name="T90" fmla="*/ 235 w 388"/>
                        <a:gd name="T91" fmla="*/ 119 h 335"/>
                        <a:gd name="T92" fmla="*/ 207 w 388"/>
                        <a:gd name="T93" fmla="*/ 101 h 335"/>
                        <a:gd name="T94" fmla="*/ 178 w 388"/>
                        <a:gd name="T95" fmla="*/ 78 h 335"/>
                        <a:gd name="T96" fmla="*/ 121 w 388"/>
                        <a:gd name="T97" fmla="*/ 44 h 335"/>
                        <a:gd name="T98" fmla="*/ 140 w 388"/>
                        <a:gd name="T99" fmla="*/ 74 h 335"/>
                        <a:gd name="T100" fmla="*/ 141 w 388"/>
                        <a:gd name="T101" fmla="*/ 123 h 335"/>
                        <a:gd name="T102" fmla="*/ 134 w 388"/>
                        <a:gd name="T103" fmla="*/ 173 h 335"/>
                        <a:gd name="T104" fmla="*/ 114 w 388"/>
                        <a:gd name="T105" fmla="*/ 213 h 335"/>
                        <a:gd name="T106" fmla="*/ 86 w 388"/>
                        <a:gd name="T107" fmla="*/ 241 h 335"/>
                        <a:gd name="T108" fmla="*/ 61 w 388"/>
                        <a:gd name="T109" fmla="*/ 280 h 335"/>
                        <a:gd name="T110" fmla="*/ 51 w 388"/>
                        <a:gd name="T111" fmla="*/ 308 h 33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</a:cxnLst>
                      <a:rect l="0" t="0" r="r" b="b"/>
                      <a:pathLst>
                        <a:path w="388" h="335">
                          <a:moveTo>
                            <a:pt x="50" y="297"/>
                          </a:moveTo>
                          <a:lnTo>
                            <a:pt x="40" y="309"/>
                          </a:lnTo>
                          <a:lnTo>
                            <a:pt x="46" y="285"/>
                          </a:lnTo>
                          <a:lnTo>
                            <a:pt x="16" y="335"/>
                          </a:lnTo>
                          <a:lnTo>
                            <a:pt x="38" y="277"/>
                          </a:lnTo>
                          <a:lnTo>
                            <a:pt x="17" y="298"/>
                          </a:lnTo>
                          <a:lnTo>
                            <a:pt x="25" y="257"/>
                          </a:lnTo>
                          <a:lnTo>
                            <a:pt x="14" y="278"/>
                          </a:lnTo>
                          <a:lnTo>
                            <a:pt x="17" y="241"/>
                          </a:lnTo>
                          <a:lnTo>
                            <a:pt x="22" y="214"/>
                          </a:lnTo>
                          <a:lnTo>
                            <a:pt x="0" y="247"/>
                          </a:lnTo>
                          <a:lnTo>
                            <a:pt x="23" y="184"/>
                          </a:lnTo>
                          <a:lnTo>
                            <a:pt x="54" y="152"/>
                          </a:lnTo>
                          <a:lnTo>
                            <a:pt x="32" y="188"/>
                          </a:lnTo>
                          <a:lnTo>
                            <a:pt x="71" y="148"/>
                          </a:lnTo>
                          <a:lnTo>
                            <a:pt x="36" y="210"/>
                          </a:lnTo>
                          <a:lnTo>
                            <a:pt x="63" y="187"/>
                          </a:lnTo>
                          <a:lnTo>
                            <a:pt x="26" y="241"/>
                          </a:lnTo>
                          <a:lnTo>
                            <a:pt x="62" y="211"/>
                          </a:lnTo>
                          <a:lnTo>
                            <a:pt x="36" y="255"/>
                          </a:lnTo>
                          <a:lnTo>
                            <a:pt x="71" y="221"/>
                          </a:lnTo>
                          <a:lnTo>
                            <a:pt x="63" y="257"/>
                          </a:lnTo>
                          <a:lnTo>
                            <a:pt x="84" y="220"/>
                          </a:lnTo>
                          <a:lnTo>
                            <a:pt x="99" y="194"/>
                          </a:lnTo>
                          <a:lnTo>
                            <a:pt x="75" y="211"/>
                          </a:lnTo>
                          <a:lnTo>
                            <a:pt x="75" y="193"/>
                          </a:lnTo>
                          <a:lnTo>
                            <a:pt x="56" y="208"/>
                          </a:lnTo>
                          <a:lnTo>
                            <a:pt x="78" y="179"/>
                          </a:lnTo>
                          <a:lnTo>
                            <a:pt x="87" y="170"/>
                          </a:lnTo>
                          <a:lnTo>
                            <a:pt x="83" y="190"/>
                          </a:lnTo>
                          <a:lnTo>
                            <a:pt x="94" y="172"/>
                          </a:lnTo>
                          <a:lnTo>
                            <a:pt x="104" y="158"/>
                          </a:lnTo>
                          <a:lnTo>
                            <a:pt x="111" y="138"/>
                          </a:lnTo>
                          <a:lnTo>
                            <a:pt x="116" y="126"/>
                          </a:lnTo>
                          <a:lnTo>
                            <a:pt x="122" y="105"/>
                          </a:lnTo>
                          <a:lnTo>
                            <a:pt x="124" y="121"/>
                          </a:lnTo>
                          <a:lnTo>
                            <a:pt x="129" y="96"/>
                          </a:lnTo>
                          <a:lnTo>
                            <a:pt x="129" y="80"/>
                          </a:lnTo>
                          <a:lnTo>
                            <a:pt x="128" y="68"/>
                          </a:lnTo>
                          <a:lnTo>
                            <a:pt x="127" y="55"/>
                          </a:lnTo>
                          <a:lnTo>
                            <a:pt x="118" y="48"/>
                          </a:lnTo>
                          <a:lnTo>
                            <a:pt x="109" y="41"/>
                          </a:lnTo>
                          <a:lnTo>
                            <a:pt x="92" y="32"/>
                          </a:lnTo>
                          <a:lnTo>
                            <a:pt x="75" y="26"/>
                          </a:lnTo>
                          <a:lnTo>
                            <a:pt x="60" y="20"/>
                          </a:lnTo>
                          <a:lnTo>
                            <a:pt x="41" y="9"/>
                          </a:lnTo>
                          <a:lnTo>
                            <a:pt x="63" y="16"/>
                          </a:lnTo>
                          <a:lnTo>
                            <a:pt x="49" y="0"/>
                          </a:lnTo>
                          <a:lnTo>
                            <a:pt x="65" y="2"/>
                          </a:lnTo>
                          <a:lnTo>
                            <a:pt x="92" y="5"/>
                          </a:lnTo>
                          <a:lnTo>
                            <a:pt x="106" y="6"/>
                          </a:lnTo>
                          <a:lnTo>
                            <a:pt x="123" y="11"/>
                          </a:lnTo>
                          <a:lnTo>
                            <a:pt x="100" y="15"/>
                          </a:lnTo>
                          <a:lnTo>
                            <a:pt x="109" y="16"/>
                          </a:lnTo>
                          <a:lnTo>
                            <a:pt x="122" y="16"/>
                          </a:lnTo>
                          <a:lnTo>
                            <a:pt x="143" y="16"/>
                          </a:lnTo>
                          <a:lnTo>
                            <a:pt x="160" y="16"/>
                          </a:lnTo>
                          <a:lnTo>
                            <a:pt x="173" y="21"/>
                          </a:lnTo>
                          <a:lnTo>
                            <a:pt x="133" y="25"/>
                          </a:lnTo>
                          <a:lnTo>
                            <a:pt x="147" y="28"/>
                          </a:lnTo>
                          <a:lnTo>
                            <a:pt x="161" y="30"/>
                          </a:lnTo>
                          <a:lnTo>
                            <a:pt x="176" y="30"/>
                          </a:lnTo>
                          <a:lnTo>
                            <a:pt x="147" y="34"/>
                          </a:lnTo>
                          <a:lnTo>
                            <a:pt x="133" y="36"/>
                          </a:lnTo>
                          <a:lnTo>
                            <a:pt x="152" y="43"/>
                          </a:lnTo>
                          <a:lnTo>
                            <a:pt x="165" y="47"/>
                          </a:lnTo>
                          <a:lnTo>
                            <a:pt x="179" y="51"/>
                          </a:lnTo>
                          <a:lnTo>
                            <a:pt x="218" y="59"/>
                          </a:lnTo>
                          <a:lnTo>
                            <a:pt x="177" y="39"/>
                          </a:lnTo>
                          <a:lnTo>
                            <a:pt x="204" y="41"/>
                          </a:lnTo>
                          <a:lnTo>
                            <a:pt x="226" y="46"/>
                          </a:lnTo>
                          <a:lnTo>
                            <a:pt x="246" y="52"/>
                          </a:lnTo>
                          <a:lnTo>
                            <a:pt x="264" y="60"/>
                          </a:lnTo>
                          <a:lnTo>
                            <a:pt x="276" y="67"/>
                          </a:lnTo>
                          <a:lnTo>
                            <a:pt x="294" y="78"/>
                          </a:lnTo>
                          <a:lnTo>
                            <a:pt x="312" y="93"/>
                          </a:lnTo>
                          <a:lnTo>
                            <a:pt x="269" y="81"/>
                          </a:lnTo>
                          <a:lnTo>
                            <a:pt x="314" y="100"/>
                          </a:lnTo>
                          <a:lnTo>
                            <a:pt x="336" y="111"/>
                          </a:lnTo>
                          <a:lnTo>
                            <a:pt x="350" y="122"/>
                          </a:lnTo>
                          <a:lnTo>
                            <a:pt x="363" y="135"/>
                          </a:lnTo>
                          <a:lnTo>
                            <a:pt x="375" y="149"/>
                          </a:lnTo>
                          <a:lnTo>
                            <a:pt x="382" y="166"/>
                          </a:lnTo>
                          <a:lnTo>
                            <a:pt x="388" y="194"/>
                          </a:lnTo>
                          <a:lnTo>
                            <a:pt x="378" y="169"/>
                          </a:lnTo>
                          <a:lnTo>
                            <a:pt x="348" y="151"/>
                          </a:lnTo>
                          <a:lnTo>
                            <a:pt x="312" y="142"/>
                          </a:lnTo>
                          <a:lnTo>
                            <a:pt x="289" y="135"/>
                          </a:lnTo>
                          <a:lnTo>
                            <a:pt x="275" y="127"/>
                          </a:lnTo>
                          <a:lnTo>
                            <a:pt x="264" y="122"/>
                          </a:lnTo>
                          <a:lnTo>
                            <a:pt x="251" y="122"/>
                          </a:lnTo>
                          <a:lnTo>
                            <a:pt x="235" y="119"/>
                          </a:lnTo>
                          <a:lnTo>
                            <a:pt x="224" y="112"/>
                          </a:lnTo>
                          <a:lnTo>
                            <a:pt x="207" y="101"/>
                          </a:lnTo>
                          <a:lnTo>
                            <a:pt x="196" y="93"/>
                          </a:lnTo>
                          <a:lnTo>
                            <a:pt x="178" y="78"/>
                          </a:lnTo>
                          <a:lnTo>
                            <a:pt x="157" y="63"/>
                          </a:lnTo>
                          <a:lnTo>
                            <a:pt x="121" y="44"/>
                          </a:lnTo>
                          <a:lnTo>
                            <a:pt x="134" y="59"/>
                          </a:lnTo>
                          <a:lnTo>
                            <a:pt x="140" y="74"/>
                          </a:lnTo>
                          <a:lnTo>
                            <a:pt x="142" y="95"/>
                          </a:lnTo>
                          <a:lnTo>
                            <a:pt x="141" y="123"/>
                          </a:lnTo>
                          <a:lnTo>
                            <a:pt x="138" y="146"/>
                          </a:lnTo>
                          <a:lnTo>
                            <a:pt x="134" y="173"/>
                          </a:lnTo>
                          <a:lnTo>
                            <a:pt x="123" y="199"/>
                          </a:lnTo>
                          <a:lnTo>
                            <a:pt x="114" y="213"/>
                          </a:lnTo>
                          <a:lnTo>
                            <a:pt x="102" y="227"/>
                          </a:lnTo>
                          <a:lnTo>
                            <a:pt x="86" y="241"/>
                          </a:lnTo>
                          <a:lnTo>
                            <a:pt x="77" y="255"/>
                          </a:lnTo>
                          <a:lnTo>
                            <a:pt x="61" y="280"/>
                          </a:lnTo>
                          <a:lnTo>
                            <a:pt x="55" y="295"/>
                          </a:lnTo>
                          <a:lnTo>
                            <a:pt x="51" y="308"/>
                          </a:lnTo>
                          <a:lnTo>
                            <a:pt x="50" y="297"/>
                          </a:lnTo>
                          <a:close/>
                        </a:path>
                      </a:pathLst>
                    </a:custGeom>
                    <a:solidFill>
                      <a:srgbClr val="7F3F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278" name="Group 370"/>
                  <p:cNvGrpSpPr/>
                  <p:nvPr/>
                </p:nvGrpSpPr>
                <p:grpSpPr bwMode="auto">
                  <a:xfrm>
                    <a:off x="4845" y="2298"/>
                    <a:ext cx="35" cy="77"/>
                    <a:chOff x="4845" y="2298"/>
                    <a:chExt cx="35" cy="77"/>
                  </a:xfrm>
                </p:grpSpPr>
                <p:sp>
                  <p:nvSpPr>
                    <p:cNvPr id="292" name="Freeform 371"/>
                    <p:cNvSpPr/>
                    <p:nvPr/>
                  </p:nvSpPr>
                  <p:spPr bwMode="auto">
                    <a:xfrm>
                      <a:off x="4848" y="2330"/>
                      <a:ext cx="32" cy="45"/>
                    </a:xfrm>
                    <a:custGeom>
                      <a:avLst/>
                      <a:gdLst>
                        <a:gd name="T0" fmla="*/ 0 w 194"/>
                        <a:gd name="T1" fmla="*/ 0 h 223"/>
                        <a:gd name="T2" fmla="*/ 11 w 194"/>
                        <a:gd name="T3" fmla="*/ 13 h 223"/>
                        <a:gd name="T4" fmla="*/ 20 w 194"/>
                        <a:gd name="T5" fmla="*/ 18 h 223"/>
                        <a:gd name="T6" fmla="*/ 31 w 194"/>
                        <a:gd name="T7" fmla="*/ 19 h 223"/>
                        <a:gd name="T8" fmla="*/ 41 w 194"/>
                        <a:gd name="T9" fmla="*/ 12 h 223"/>
                        <a:gd name="T10" fmla="*/ 42 w 194"/>
                        <a:gd name="T11" fmla="*/ 0 h 223"/>
                        <a:gd name="T12" fmla="*/ 43 w 194"/>
                        <a:gd name="T13" fmla="*/ 24 h 223"/>
                        <a:gd name="T14" fmla="*/ 51 w 194"/>
                        <a:gd name="T15" fmla="*/ 37 h 223"/>
                        <a:gd name="T16" fmla="*/ 58 w 194"/>
                        <a:gd name="T17" fmla="*/ 50 h 223"/>
                        <a:gd name="T18" fmla="*/ 69 w 194"/>
                        <a:gd name="T19" fmla="*/ 70 h 223"/>
                        <a:gd name="T20" fmla="*/ 76 w 194"/>
                        <a:gd name="T21" fmla="*/ 84 h 223"/>
                        <a:gd name="T22" fmla="*/ 82 w 194"/>
                        <a:gd name="T23" fmla="*/ 96 h 223"/>
                        <a:gd name="T24" fmla="*/ 91 w 194"/>
                        <a:gd name="T25" fmla="*/ 108 h 223"/>
                        <a:gd name="T26" fmla="*/ 108 w 194"/>
                        <a:gd name="T27" fmla="*/ 124 h 223"/>
                        <a:gd name="T28" fmla="*/ 119 w 194"/>
                        <a:gd name="T29" fmla="*/ 136 h 223"/>
                        <a:gd name="T30" fmla="*/ 128 w 194"/>
                        <a:gd name="T31" fmla="*/ 145 h 223"/>
                        <a:gd name="T32" fmla="*/ 133 w 194"/>
                        <a:gd name="T33" fmla="*/ 151 h 223"/>
                        <a:gd name="T34" fmla="*/ 139 w 194"/>
                        <a:gd name="T35" fmla="*/ 166 h 223"/>
                        <a:gd name="T36" fmla="*/ 146 w 194"/>
                        <a:gd name="T37" fmla="*/ 178 h 223"/>
                        <a:gd name="T38" fmla="*/ 156 w 194"/>
                        <a:gd name="T39" fmla="*/ 191 h 223"/>
                        <a:gd name="T40" fmla="*/ 163 w 194"/>
                        <a:gd name="T41" fmla="*/ 203 h 223"/>
                        <a:gd name="T42" fmla="*/ 172 w 194"/>
                        <a:gd name="T43" fmla="*/ 212 h 223"/>
                        <a:gd name="T44" fmla="*/ 182 w 194"/>
                        <a:gd name="T45" fmla="*/ 218 h 223"/>
                        <a:gd name="T46" fmla="*/ 194 w 194"/>
                        <a:gd name="T47" fmla="*/ 223 h 223"/>
                        <a:gd name="T48" fmla="*/ 176 w 194"/>
                        <a:gd name="T49" fmla="*/ 222 h 223"/>
                        <a:gd name="T50" fmla="*/ 159 w 194"/>
                        <a:gd name="T51" fmla="*/ 219 h 223"/>
                        <a:gd name="T52" fmla="*/ 149 w 194"/>
                        <a:gd name="T53" fmla="*/ 214 h 223"/>
                        <a:gd name="T54" fmla="*/ 137 w 194"/>
                        <a:gd name="T55" fmla="*/ 204 h 223"/>
                        <a:gd name="T56" fmla="*/ 129 w 194"/>
                        <a:gd name="T57" fmla="*/ 196 h 223"/>
                        <a:gd name="T58" fmla="*/ 123 w 194"/>
                        <a:gd name="T59" fmla="*/ 188 h 223"/>
                        <a:gd name="T60" fmla="*/ 116 w 194"/>
                        <a:gd name="T61" fmla="*/ 181 h 223"/>
                        <a:gd name="T62" fmla="*/ 113 w 194"/>
                        <a:gd name="T63" fmla="*/ 181 h 223"/>
                        <a:gd name="T64" fmla="*/ 106 w 194"/>
                        <a:gd name="T65" fmla="*/ 178 h 223"/>
                        <a:gd name="T66" fmla="*/ 94 w 194"/>
                        <a:gd name="T67" fmla="*/ 171 h 223"/>
                        <a:gd name="T68" fmla="*/ 83 w 194"/>
                        <a:gd name="T69" fmla="*/ 160 h 223"/>
                        <a:gd name="T70" fmla="*/ 69 w 194"/>
                        <a:gd name="T71" fmla="*/ 145 h 223"/>
                        <a:gd name="T72" fmla="*/ 54 w 194"/>
                        <a:gd name="T73" fmla="*/ 125 h 223"/>
                        <a:gd name="T74" fmla="*/ 42 w 194"/>
                        <a:gd name="T75" fmla="*/ 109 h 223"/>
                        <a:gd name="T76" fmla="*/ 31 w 194"/>
                        <a:gd name="T77" fmla="*/ 92 h 223"/>
                        <a:gd name="T78" fmla="*/ 22 w 194"/>
                        <a:gd name="T79" fmla="*/ 76 h 223"/>
                        <a:gd name="T80" fmla="*/ 17 w 194"/>
                        <a:gd name="T81" fmla="*/ 62 h 223"/>
                        <a:gd name="T82" fmla="*/ 14 w 194"/>
                        <a:gd name="T83" fmla="*/ 46 h 223"/>
                        <a:gd name="T84" fmla="*/ 9 w 194"/>
                        <a:gd name="T85" fmla="*/ 28 h 223"/>
                        <a:gd name="T86" fmla="*/ 0 w 194"/>
                        <a:gd name="T87" fmla="*/ 0 h 22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</a:cxnLst>
                      <a:rect l="0" t="0" r="r" b="b"/>
                      <a:pathLst>
                        <a:path w="194" h="223">
                          <a:moveTo>
                            <a:pt x="0" y="0"/>
                          </a:moveTo>
                          <a:lnTo>
                            <a:pt x="11" y="13"/>
                          </a:lnTo>
                          <a:lnTo>
                            <a:pt x="20" y="18"/>
                          </a:lnTo>
                          <a:lnTo>
                            <a:pt x="31" y="19"/>
                          </a:lnTo>
                          <a:lnTo>
                            <a:pt x="41" y="12"/>
                          </a:lnTo>
                          <a:lnTo>
                            <a:pt x="42" y="0"/>
                          </a:lnTo>
                          <a:lnTo>
                            <a:pt x="43" y="24"/>
                          </a:lnTo>
                          <a:lnTo>
                            <a:pt x="51" y="37"/>
                          </a:lnTo>
                          <a:lnTo>
                            <a:pt x="58" y="50"/>
                          </a:lnTo>
                          <a:lnTo>
                            <a:pt x="69" y="70"/>
                          </a:lnTo>
                          <a:lnTo>
                            <a:pt x="76" y="84"/>
                          </a:lnTo>
                          <a:lnTo>
                            <a:pt x="82" y="96"/>
                          </a:lnTo>
                          <a:lnTo>
                            <a:pt x="91" y="108"/>
                          </a:lnTo>
                          <a:lnTo>
                            <a:pt x="108" y="124"/>
                          </a:lnTo>
                          <a:lnTo>
                            <a:pt x="119" y="136"/>
                          </a:lnTo>
                          <a:lnTo>
                            <a:pt x="128" y="145"/>
                          </a:lnTo>
                          <a:lnTo>
                            <a:pt x="133" y="151"/>
                          </a:lnTo>
                          <a:lnTo>
                            <a:pt x="139" y="166"/>
                          </a:lnTo>
                          <a:lnTo>
                            <a:pt x="146" y="178"/>
                          </a:lnTo>
                          <a:lnTo>
                            <a:pt x="156" y="191"/>
                          </a:lnTo>
                          <a:lnTo>
                            <a:pt x="163" y="203"/>
                          </a:lnTo>
                          <a:lnTo>
                            <a:pt x="172" y="212"/>
                          </a:lnTo>
                          <a:lnTo>
                            <a:pt x="182" y="218"/>
                          </a:lnTo>
                          <a:lnTo>
                            <a:pt x="194" y="223"/>
                          </a:lnTo>
                          <a:lnTo>
                            <a:pt x="176" y="222"/>
                          </a:lnTo>
                          <a:lnTo>
                            <a:pt x="159" y="219"/>
                          </a:lnTo>
                          <a:lnTo>
                            <a:pt x="149" y="214"/>
                          </a:lnTo>
                          <a:lnTo>
                            <a:pt x="137" y="204"/>
                          </a:lnTo>
                          <a:lnTo>
                            <a:pt x="129" y="196"/>
                          </a:lnTo>
                          <a:lnTo>
                            <a:pt x="123" y="188"/>
                          </a:lnTo>
                          <a:lnTo>
                            <a:pt x="116" y="181"/>
                          </a:lnTo>
                          <a:lnTo>
                            <a:pt x="113" y="181"/>
                          </a:lnTo>
                          <a:lnTo>
                            <a:pt x="106" y="178"/>
                          </a:lnTo>
                          <a:lnTo>
                            <a:pt x="94" y="171"/>
                          </a:lnTo>
                          <a:lnTo>
                            <a:pt x="83" y="160"/>
                          </a:lnTo>
                          <a:lnTo>
                            <a:pt x="69" y="145"/>
                          </a:lnTo>
                          <a:lnTo>
                            <a:pt x="54" y="125"/>
                          </a:lnTo>
                          <a:lnTo>
                            <a:pt x="42" y="109"/>
                          </a:lnTo>
                          <a:lnTo>
                            <a:pt x="31" y="92"/>
                          </a:lnTo>
                          <a:lnTo>
                            <a:pt x="22" y="76"/>
                          </a:lnTo>
                          <a:lnTo>
                            <a:pt x="17" y="62"/>
                          </a:lnTo>
                          <a:lnTo>
                            <a:pt x="14" y="46"/>
                          </a:lnTo>
                          <a:lnTo>
                            <a:pt x="9" y="2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5F3F1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93" name="Freeform 372"/>
                    <p:cNvSpPr/>
                    <p:nvPr/>
                  </p:nvSpPr>
                  <p:spPr bwMode="auto">
                    <a:xfrm>
                      <a:off x="4845" y="2298"/>
                      <a:ext cx="9" cy="28"/>
                    </a:xfrm>
                    <a:custGeom>
                      <a:avLst/>
                      <a:gdLst>
                        <a:gd name="T0" fmla="*/ 22 w 59"/>
                        <a:gd name="T1" fmla="*/ 130 h 140"/>
                        <a:gd name="T2" fmla="*/ 13 w 59"/>
                        <a:gd name="T3" fmla="*/ 119 h 140"/>
                        <a:gd name="T4" fmla="*/ 11 w 59"/>
                        <a:gd name="T5" fmla="*/ 109 h 140"/>
                        <a:gd name="T6" fmla="*/ 8 w 59"/>
                        <a:gd name="T7" fmla="*/ 101 h 140"/>
                        <a:gd name="T8" fmla="*/ 8 w 59"/>
                        <a:gd name="T9" fmla="*/ 91 h 140"/>
                        <a:gd name="T10" fmla="*/ 12 w 59"/>
                        <a:gd name="T11" fmla="*/ 84 h 140"/>
                        <a:gd name="T12" fmla="*/ 12 w 59"/>
                        <a:gd name="T13" fmla="*/ 78 h 140"/>
                        <a:gd name="T14" fmla="*/ 8 w 59"/>
                        <a:gd name="T15" fmla="*/ 73 h 140"/>
                        <a:gd name="T16" fmla="*/ 11 w 59"/>
                        <a:gd name="T17" fmla="*/ 67 h 140"/>
                        <a:gd name="T18" fmla="*/ 13 w 59"/>
                        <a:gd name="T19" fmla="*/ 63 h 140"/>
                        <a:gd name="T20" fmla="*/ 13 w 59"/>
                        <a:gd name="T21" fmla="*/ 56 h 140"/>
                        <a:gd name="T22" fmla="*/ 13 w 59"/>
                        <a:gd name="T23" fmla="*/ 45 h 140"/>
                        <a:gd name="T24" fmla="*/ 18 w 59"/>
                        <a:gd name="T25" fmla="*/ 38 h 140"/>
                        <a:gd name="T26" fmla="*/ 22 w 59"/>
                        <a:gd name="T27" fmla="*/ 29 h 140"/>
                        <a:gd name="T28" fmla="*/ 24 w 59"/>
                        <a:gd name="T29" fmla="*/ 21 h 140"/>
                        <a:gd name="T30" fmla="*/ 26 w 59"/>
                        <a:gd name="T31" fmla="*/ 16 h 140"/>
                        <a:gd name="T32" fmla="*/ 31 w 59"/>
                        <a:gd name="T33" fmla="*/ 12 h 140"/>
                        <a:gd name="T34" fmla="*/ 37 w 59"/>
                        <a:gd name="T35" fmla="*/ 10 h 140"/>
                        <a:gd name="T36" fmla="*/ 45 w 59"/>
                        <a:gd name="T37" fmla="*/ 15 h 140"/>
                        <a:gd name="T38" fmla="*/ 50 w 59"/>
                        <a:gd name="T39" fmla="*/ 23 h 140"/>
                        <a:gd name="T40" fmla="*/ 54 w 59"/>
                        <a:gd name="T41" fmla="*/ 34 h 140"/>
                        <a:gd name="T42" fmla="*/ 55 w 59"/>
                        <a:gd name="T43" fmla="*/ 47 h 140"/>
                        <a:gd name="T44" fmla="*/ 54 w 59"/>
                        <a:gd name="T45" fmla="*/ 60 h 140"/>
                        <a:gd name="T46" fmla="*/ 47 w 59"/>
                        <a:gd name="T47" fmla="*/ 65 h 140"/>
                        <a:gd name="T48" fmla="*/ 38 w 59"/>
                        <a:gd name="T49" fmla="*/ 68 h 140"/>
                        <a:gd name="T50" fmla="*/ 34 w 59"/>
                        <a:gd name="T51" fmla="*/ 71 h 140"/>
                        <a:gd name="T52" fmla="*/ 28 w 59"/>
                        <a:gd name="T53" fmla="*/ 78 h 140"/>
                        <a:gd name="T54" fmla="*/ 25 w 59"/>
                        <a:gd name="T55" fmla="*/ 84 h 140"/>
                        <a:gd name="T56" fmla="*/ 22 w 59"/>
                        <a:gd name="T57" fmla="*/ 96 h 140"/>
                        <a:gd name="T58" fmla="*/ 23 w 59"/>
                        <a:gd name="T59" fmla="*/ 110 h 140"/>
                        <a:gd name="T60" fmla="*/ 24 w 59"/>
                        <a:gd name="T61" fmla="*/ 118 h 140"/>
                        <a:gd name="T62" fmla="*/ 30 w 59"/>
                        <a:gd name="T63" fmla="*/ 125 h 140"/>
                        <a:gd name="T64" fmla="*/ 38 w 59"/>
                        <a:gd name="T65" fmla="*/ 123 h 140"/>
                        <a:gd name="T66" fmla="*/ 38 w 59"/>
                        <a:gd name="T67" fmla="*/ 94 h 140"/>
                        <a:gd name="T68" fmla="*/ 42 w 59"/>
                        <a:gd name="T69" fmla="*/ 86 h 140"/>
                        <a:gd name="T70" fmla="*/ 51 w 59"/>
                        <a:gd name="T71" fmla="*/ 82 h 140"/>
                        <a:gd name="T72" fmla="*/ 57 w 59"/>
                        <a:gd name="T73" fmla="*/ 73 h 140"/>
                        <a:gd name="T74" fmla="*/ 59 w 59"/>
                        <a:gd name="T75" fmla="*/ 63 h 140"/>
                        <a:gd name="T76" fmla="*/ 59 w 59"/>
                        <a:gd name="T77" fmla="*/ 50 h 140"/>
                        <a:gd name="T78" fmla="*/ 56 w 59"/>
                        <a:gd name="T79" fmla="*/ 29 h 140"/>
                        <a:gd name="T80" fmla="*/ 49 w 59"/>
                        <a:gd name="T81" fmla="*/ 15 h 140"/>
                        <a:gd name="T82" fmla="*/ 38 w 59"/>
                        <a:gd name="T83" fmla="*/ 7 h 140"/>
                        <a:gd name="T84" fmla="*/ 31 w 59"/>
                        <a:gd name="T85" fmla="*/ 2 h 140"/>
                        <a:gd name="T86" fmla="*/ 24 w 59"/>
                        <a:gd name="T87" fmla="*/ 0 h 140"/>
                        <a:gd name="T88" fmla="*/ 19 w 59"/>
                        <a:gd name="T89" fmla="*/ 9 h 140"/>
                        <a:gd name="T90" fmla="*/ 12 w 59"/>
                        <a:gd name="T91" fmla="*/ 19 h 140"/>
                        <a:gd name="T92" fmla="*/ 8 w 59"/>
                        <a:gd name="T93" fmla="*/ 33 h 140"/>
                        <a:gd name="T94" fmla="*/ 4 w 59"/>
                        <a:gd name="T95" fmla="*/ 45 h 140"/>
                        <a:gd name="T96" fmla="*/ 1 w 59"/>
                        <a:gd name="T97" fmla="*/ 59 h 140"/>
                        <a:gd name="T98" fmla="*/ 0 w 59"/>
                        <a:gd name="T99" fmla="*/ 70 h 140"/>
                        <a:gd name="T100" fmla="*/ 1 w 59"/>
                        <a:gd name="T101" fmla="*/ 84 h 140"/>
                        <a:gd name="T102" fmla="*/ 2 w 59"/>
                        <a:gd name="T103" fmla="*/ 97 h 140"/>
                        <a:gd name="T104" fmla="*/ 8 w 59"/>
                        <a:gd name="T105" fmla="*/ 117 h 140"/>
                        <a:gd name="T106" fmla="*/ 12 w 59"/>
                        <a:gd name="T107" fmla="*/ 128 h 140"/>
                        <a:gd name="T108" fmla="*/ 22 w 59"/>
                        <a:gd name="T109" fmla="*/ 140 h 140"/>
                        <a:gd name="T110" fmla="*/ 22 w 59"/>
                        <a:gd name="T111" fmla="*/ 130 h 14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</a:cxnLst>
                      <a:rect l="0" t="0" r="r" b="b"/>
                      <a:pathLst>
                        <a:path w="59" h="140">
                          <a:moveTo>
                            <a:pt x="22" y="130"/>
                          </a:moveTo>
                          <a:lnTo>
                            <a:pt x="13" y="119"/>
                          </a:lnTo>
                          <a:lnTo>
                            <a:pt x="11" y="109"/>
                          </a:lnTo>
                          <a:lnTo>
                            <a:pt x="8" y="101"/>
                          </a:lnTo>
                          <a:lnTo>
                            <a:pt x="8" y="91"/>
                          </a:lnTo>
                          <a:lnTo>
                            <a:pt x="12" y="84"/>
                          </a:lnTo>
                          <a:lnTo>
                            <a:pt x="12" y="78"/>
                          </a:lnTo>
                          <a:lnTo>
                            <a:pt x="8" y="73"/>
                          </a:lnTo>
                          <a:lnTo>
                            <a:pt x="11" y="67"/>
                          </a:lnTo>
                          <a:lnTo>
                            <a:pt x="13" y="63"/>
                          </a:lnTo>
                          <a:lnTo>
                            <a:pt x="13" y="56"/>
                          </a:lnTo>
                          <a:lnTo>
                            <a:pt x="13" y="45"/>
                          </a:lnTo>
                          <a:lnTo>
                            <a:pt x="18" y="38"/>
                          </a:lnTo>
                          <a:lnTo>
                            <a:pt x="22" y="29"/>
                          </a:lnTo>
                          <a:lnTo>
                            <a:pt x="24" y="21"/>
                          </a:lnTo>
                          <a:lnTo>
                            <a:pt x="26" y="16"/>
                          </a:lnTo>
                          <a:lnTo>
                            <a:pt x="31" y="12"/>
                          </a:lnTo>
                          <a:lnTo>
                            <a:pt x="37" y="10"/>
                          </a:lnTo>
                          <a:lnTo>
                            <a:pt x="45" y="15"/>
                          </a:lnTo>
                          <a:lnTo>
                            <a:pt x="50" y="23"/>
                          </a:lnTo>
                          <a:lnTo>
                            <a:pt x="54" y="34"/>
                          </a:lnTo>
                          <a:lnTo>
                            <a:pt x="55" y="47"/>
                          </a:lnTo>
                          <a:lnTo>
                            <a:pt x="54" y="60"/>
                          </a:lnTo>
                          <a:lnTo>
                            <a:pt x="47" y="65"/>
                          </a:lnTo>
                          <a:lnTo>
                            <a:pt x="38" y="68"/>
                          </a:lnTo>
                          <a:lnTo>
                            <a:pt x="34" y="71"/>
                          </a:lnTo>
                          <a:lnTo>
                            <a:pt x="28" y="78"/>
                          </a:lnTo>
                          <a:lnTo>
                            <a:pt x="25" y="84"/>
                          </a:lnTo>
                          <a:lnTo>
                            <a:pt x="22" y="96"/>
                          </a:lnTo>
                          <a:lnTo>
                            <a:pt x="23" y="110"/>
                          </a:lnTo>
                          <a:lnTo>
                            <a:pt x="24" y="118"/>
                          </a:lnTo>
                          <a:lnTo>
                            <a:pt x="30" y="125"/>
                          </a:lnTo>
                          <a:lnTo>
                            <a:pt x="38" y="123"/>
                          </a:lnTo>
                          <a:lnTo>
                            <a:pt x="38" y="94"/>
                          </a:lnTo>
                          <a:lnTo>
                            <a:pt x="42" y="86"/>
                          </a:lnTo>
                          <a:lnTo>
                            <a:pt x="51" y="82"/>
                          </a:lnTo>
                          <a:lnTo>
                            <a:pt x="57" y="73"/>
                          </a:lnTo>
                          <a:lnTo>
                            <a:pt x="59" y="63"/>
                          </a:lnTo>
                          <a:lnTo>
                            <a:pt x="59" y="50"/>
                          </a:lnTo>
                          <a:lnTo>
                            <a:pt x="56" y="29"/>
                          </a:lnTo>
                          <a:lnTo>
                            <a:pt x="49" y="15"/>
                          </a:lnTo>
                          <a:lnTo>
                            <a:pt x="38" y="7"/>
                          </a:lnTo>
                          <a:lnTo>
                            <a:pt x="31" y="2"/>
                          </a:lnTo>
                          <a:lnTo>
                            <a:pt x="24" y="0"/>
                          </a:lnTo>
                          <a:lnTo>
                            <a:pt x="19" y="9"/>
                          </a:lnTo>
                          <a:lnTo>
                            <a:pt x="12" y="19"/>
                          </a:lnTo>
                          <a:lnTo>
                            <a:pt x="8" y="33"/>
                          </a:lnTo>
                          <a:lnTo>
                            <a:pt x="4" y="45"/>
                          </a:lnTo>
                          <a:lnTo>
                            <a:pt x="1" y="59"/>
                          </a:lnTo>
                          <a:lnTo>
                            <a:pt x="0" y="70"/>
                          </a:lnTo>
                          <a:lnTo>
                            <a:pt x="1" y="84"/>
                          </a:lnTo>
                          <a:lnTo>
                            <a:pt x="2" y="97"/>
                          </a:lnTo>
                          <a:lnTo>
                            <a:pt x="8" y="117"/>
                          </a:lnTo>
                          <a:lnTo>
                            <a:pt x="12" y="128"/>
                          </a:lnTo>
                          <a:lnTo>
                            <a:pt x="22" y="140"/>
                          </a:lnTo>
                          <a:lnTo>
                            <a:pt x="22" y="130"/>
                          </a:lnTo>
                          <a:close/>
                        </a:path>
                      </a:pathLst>
                    </a:custGeom>
                    <a:solidFill>
                      <a:srgbClr val="5F3F1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279" name="Group 373"/>
                  <p:cNvGrpSpPr/>
                  <p:nvPr/>
                </p:nvGrpSpPr>
                <p:grpSpPr bwMode="auto">
                  <a:xfrm>
                    <a:off x="4887" y="2308"/>
                    <a:ext cx="39" cy="8"/>
                    <a:chOff x="4887" y="2308"/>
                    <a:chExt cx="39" cy="8"/>
                  </a:xfrm>
                </p:grpSpPr>
                <p:sp>
                  <p:nvSpPr>
                    <p:cNvPr id="290" name="Freeform 374"/>
                    <p:cNvSpPr/>
                    <p:nvPr/>
                  </p:nvSpPr>
                  <p:spPr bwMode="auto">
                    <a:xfrm>
                      <a:off x="4913" y="2311"/>
                      <a:ext cx="13" cy="5"/>
                    </a:xfrm>
                    <a:custGeom>
                      <a:avLst/>
                      <a:gdLst>
                        <a:gd name="T0" fmla="*/ 0 w 77"/>
                        <a:gd name="T1" fmla="*/ 14 h 21"/>
                        <a:gd name="T2" fmla="*/ 14 w 77"/>
                        <a:gd name="T3" fmla="*/ 2 h 21"/>
                        <a:gd name="T4" fmla="*/ 26 w 77"/>
                        <a:gd name="T5" fmla="*/ 2 h 21"/>
                        <a:gd name="T6" fmla="*/ 34 w 77"/>
                        <a:gd name="T7" fmla="*/ 2 h 21"/>
                        <a:gd name="T8" fmla="*/ 45 w 77"/>
                        <a:gd name="T9" fmla="*/ 0 h 21"/>
                        <a:gd name="T10" fmla="*/ 43 w 77"/>
                        <a:gd name="T11" fmla="*/ 9 h 21"/>
                        <a:gd name="T12" fmla="*/ 55 w 77"/>
                        <a:gd name="T13" fmla="*/ 4 h 21"/>
                        <a:gd name="T14" fmla="*/ 63 w 77"/>
                        <a:gd name="T15" fmla="*/ 2 h 21"/>
                        <a:gd name="T16" fmla="*/ 55 w 77"/>
                        <a:gd name="T17" fmla="*/ 9 h 21"/>
                        <a:gd name="T18" fmla="*/ 71 w 77"/>
                        <a:gd name="T19" fmla="*/ 2 h 21"/>
                        <a:gd name="T20" fmla="*/ 69 w 77"/>
                        <a:gd name="T21" fmla="*/ 8 h 21"/>
                        <a:gd name="T22" fmla="*/ 77 w 77"/>
                        <a:gd name="T23" fmla="*/ 3 h 21"/>
                        <a:gd name="T24" fmla="*/ 75 w 77"/>
                        <a:gd name="T25" fmla="*/ 13 h 21"/>
                        <a:gd name="T26" fmla="*/ 70 w 77"/>
                        <a:gd name="T27" fmla="*/ 19 h 21"/>
                        <a:gd name="T28" fmla="*/ 61 w 77"/>
                        <a:gd name="T29" fmla="*/ 21 h 21"/>
                        <a:gd name="T30" fmla="*/ 48 w 77"/>
                        <a:gd name="T31" fmla="*/ 21 h 21"/>
                        <a:gd name="T32" fmla="*/ 42 w 77"/>
                        <a:gd name="T33" fmla="*/ 19 h 21"/>
                        <a:gd name="T34" fmla="*/ 36 w 77"/>
                        <a:gd name="T35" fmla="*/ 18 h 21"/>
                        <a:gd name="T36" fmla="*/ 30 w 77"/>
                        <a:gd name="T37" fmla="*/ 15 h 21"/>
                        <a:gd name="T38" fmla="*/ 21 w 77"/>
                        <a:gd name="T39" fmla="*/ 13 h 21"/>
                        <a:gd name="T40" fmla="*/ 11 w 77"/>
                        <a:gd name="T41" fmla="*/ 9 h 21"/>
                        <a:gd name="T42" fmla="*/ 0 w 77"/>
                        <a:gd name="T43" fmla="*/ 14 h 2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</a:cxnLst>
                      <a:rect l="0" t="0" r="r" b="b"/>
                      <a:pathLst>
                        <a:path w="77" h="21">
                          <a:moveTo>
                            <a:pt x="0" y="14"/>
                          </a:moveTo>
                          <a:lnTo>
                            <a:pt x="14" y="2"/>
                          </a:lnTo>
                          <a:lnTo>
                            <a:pt x="26" y="2"/>
                          </a:lnTo>
                          <a:lnTo>
                            <a:pt x="34" y="2"/>
                          </a:lnTo>
                          <a:lnTo>
                            <a:pt x="45" y="0"/>
                          </a:lnTo>
                          <a:lnTo>
                            <a:pt x="43" y="9"/>
                          </a:lnTo>
                          <a:lnTo>
                            <a:pt x="55" y="4"/>
                          </a:lnTo>
                          <a:lnTo>
                            <a:pt x="63" y="2"/>
                          </a:lnTo>
                          <a:lnTo>
                            <a:pt x="55" y="9"/>
                          </a:lnTo>
                          <a:lnTo>
                            <a:pt x="71" y="2"/>
                          </a:lnTo>
                          <a:lnTo>
                            <a:pt x="69" y="8"/>
                          </a:lnTo>
                          <a:lnTo>
                            <a:pt x="77" y="3"/>
                          </a:lnTo>
                          <a:lnTo>
                            <a:pt x="75" y="13"/>
                          </a:lnTo>
                          <a:lnTo>
                            <a:pt x="70" y="19"/>
                          </a:lnTo>
                          <a:lnTo>
                            <a:pt x="61" y="21"/>
                          </a:lnTo>
                          <a:lnTo>
                            <a:pt x="48" y="21"/>
                          </a:lnTo>
                          <a:lnTo>
                            <a:pt x="42" y="19"/>
                          </a:lnTo>
                          <a:lnTo>
                            <a:pt x="36" y="18"/>
                          </a:lnTo>
                          <a:lnTo>
                            <a:pt x="30" y="15"/>
                          </a:lnTo>
                          <a:lnTo>
                            <a:pt x="21" y="13"/>
                          </a:lnTo>
                          <a:lnTo>
                            <a:pt x="11" y="9"/>
                          </a:lnTo>
                          <a:lnTo>
                            <a:pt x="0" y="14"/>
                          </a:lnTo>
                          <a:close/>
                        </a:path>
                      </a:pathLst>
                    </a:custGeom>
                    <a:solidFill>
                      <a:srgbClr val="3F1F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91" name="Freeform 375"/>
                    <p:cNvSpPr/>
                    <p:nvPr/>
                  </p:nvSpPr>
                  <p:spPr bwMode="auto">
                    <a:xfrm>
                      <a:off x="4887" y="2308"/>
                      <a:ext cx="18" cy="5"/>
                    </a:xfrm>
                    <a:custGeom>
                      <a:avLst/>
                      <a:gdLst>
                        <a:gd name="T0" fmla="*/ 0 w 110"/>
                        <a:gd name="T1" fmla="*/ 20 h 24"/>
                        <a:gd name="T2" fmla="*/ 8 w 110"/>
                        <a:gd name="T3" fmla="*/ 11 h 24"/>
                        <a:gd name="T4" fmla="*/ 21 w 110"/>
                        <a:gd name="T5" fmla="*/ 8 h 24"/>
                        <a:gd name="T6" fmla="*/ 34 w 110"/>
                        <a:gd name="T7" fmla="*/ 4 h 24"/>
                        <a:gd name="T8" fmla="*/ 49 w 110"/>
                        <a:gd name="T9" fmla="*/ 4 h 24"/>
                        <a:gd name="T10" fmla="*/ 63 w 110"/>
                        <a:gd name="T11" fmla="*/ 5 h 24"/>
                        <a:gd name="T12" fmla="*/ 71 w 110"/>
                        <a:gd name="T13" fmla="*/ 0 h 24"/>
                        <a:gd name="T14" fmla="*/ 73 w 110"/>
                        <a:gd name="T15" fmla="*/ 8 h 24"/>
                        <a:gd name="T16" fmla="*/ 89 w 110"/>
                        <a:gd name="T17" fmla="*/ 3 h 24"/>
                        <a:gd name="T18" fmla="*/ 84 w 110"/>
                        <a:gd name="T19" fmla="*/ 12 h 24"/>
                        <a:gd name="T20" fmla="*/ 96 w 110"/>
                        <a:gd name="T21" fmla="*/ 10 h 24"/>
                        <a:gd name="T22" fmla="*/ 107 w 110"/>
                        <a:gd name="T23" fmla="*/ 4 h 24"/>
                        <a:gd name="T24" fmla="*/ 98 w 110"/>
                        <a:gd name="T25" fmla="*/ 20 h 24"/>
                        <a:gd name="T26" fmla="*/ 109 w 110"/>
                        <a:gd name="T27" fmla="*/ 14 h 24"/>
                        <a:gd name="T28" fmla="*/ 110 w 110"/>
                        <a:gd name="T29" fmla="*/ 21 h 24"/>
                        <a:gd name="T30" fmla="*/ 94 w 110"/>
                        <a:gd name="T31" fmla="*/ 24 h 24"/>
                        <a:gd name="T32" fmla="*/ 82 w 110"/>
                        <a:gd name="T33" fmla="*/ 21 h 24"/>
                        <a:gd name="T34" fmla="*/ 72 w 110"/>
                        <a:gd name="T35" fmla="*/ 16 h 24"/>
                        <a:gd name="T36" fmla="*/ 59 w 110"/>
                        <a:gd name="T37" fmla="*/ 15 h 24"/>
                        <a:gd name="T38" fmla="*/ 47 w 110"/>
                        <a:gd name="T39" fmla="*/ 15 h 24"/>
                        <a:gd name="T40" fmla="*/ 34 w 110"/>
                        <a:gd name="T41" fmla="*/ 15 h 24"/>
                        <a:gd name="T42" fmla="*/ 24 w 110"/>
                        <a:gd name="T43" fmla="*/ 11 h 24"/>
                        <a:gd name="T44" fmla="*/ 16 w 110"/>
                        <a:gd name="T45" fmla="*/ 11 h 24"/>
                        <a:gd name="T46" fmla="*/ 0 w 110"/>
                        <a:gd name="T47" fmla="*/ 20 h 2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</a:cxnLst>
                      <a:rect l="0" t="0" r="r" b="b"/>
                      <a:pathLst>
                        <a:path w="110" h="24">
                          <a:moveTo>
                            <a:pt x="0" y="20"/>
                          </a:moveTo>
                          <a:lnTo>
                            <a:pt x="8" y="11"/>
                          </a:lnTo>
                          <a:lnTo>
                            <a:pt x="21" y="8"/>
                          </a:lnTo>
                          <a:lnTo>
                            <a:pt x="34" y="4"/>
                          </a:lnTo>
                          <a:lnTo>
                            <a:pt x="49" y="4"/>
                          </a:lnTo>
                          <a:lnTo>
                            <a:pt x="63" y="5"/>
                          </a:lnTo>
                          <a:lnTo>
                            <a:pt x="71" y="0"/>
                          </a:lnTo>
                          <a:lnTo>
                            <a:pt x="73" y="8"/>
                          </a:lnTo>
                          <a:lnTo>
                            <a:pt x="89" y="3"/>
                          </a:lnTo>
                          <a:lnTo>
                            <a:pt x="84" y="12"/>
                          </a:lnTo>
                          <a:lnTo>
                            <a:pt x="96" y="10"/>
                          </a:lnTo>
                          <a:lnTo>
                            <a:pt x="107" y="4"/>
                          </a:lnTo>
                          <a:lnTo>
                            <a:pt x="98" y="20"/>
                          </a:lnTo>
                          <a:lnTo>
                            <a:pt x="109" y="14"/>
                          </a:lnTo>
                          <a:lnTo>
                            <a:pt x="110" y="21"/>
                          </a:lnTo>
                          <a:lnTo>
                            <a:pt x="94" y="24"/>
                          </a:lnTo>
                          <a:lnTo>
                            <a:pt x="82" y="21"/>
                          </a:lnTo>
                          <a:lnTo>
                            <a:pt x="72" y="16"/>
                          </a:lnTo>
                          <a:lnTo>
                            <a:pt x="59" y="15"/>
                          </a:lnTo>
                          <a:lnTo>
                            <a:pt x="47" y="15"/>
                          </a:lnTo>
                          <a:lnTo>
                            <a:pt x="34" y="15"/>
                          </a:lnTo>
                          <a:lnTo>
                            <a:pt x="24" y="11"/>
                          </a:lnTo>
                          <a:lnTo>
                            <a:pt x="16" y="11"/>
                          </a:lnTo>
                          <a:lnTo>
                            <a:pt x="0" y="20"/>
                          </a:lnTo>
                          <a:close/>
                        </a:path>
                      </a:pathLst>
                    </a:custGeom>
                    <a:solidFill>
                      <a:srgbClr val="3F1F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280" name="Group 376"/>
                  <p:cNvGrpSpPr/>
                  <p:nvPr/>
                </p:nvGrpSpPr>
                <p:grpSpPr bwMode="auto">
                  <a:xfrm>
                    <a:off x="4889" y="2310"/>
                    <a:ext cx="17" cy="11"/>
                    <a:chOff x="4889" y="2310"/>
                    <a:chExt cx="17" cy="11"/>
                  </a:xfrm>
                </p:grpSpPr>
                <p:sp>
                  <p:nvSpPr>
                    <p:cNvPr id="286" name="Freeform 377"/>
                    <p:cNvSpPr/>
                    <p:nvPr/>
                  </p:nvSpPr>
                  <p:spPr bwMode="auto">
                    <a:xfrm>
                      <a:off x="4889" y="2315"/>
                      <a:ext cx="11" cy="5"/>
                    </a:xfrm>
                    <a:custGeom>
                      <a:avLst/>
                      <a:gdLst>
                        <a:gd name="T0" fmla="*/ 0 w 64"/>
                        <a:gd name="T1" fmla="*/ 0 h 22"/>
                        <a:gd name="T2" fmla="*/ 12 w 64"/>
                        <a:gd name="T3" fmla="*/ 10 h 22"/>
                        <a:gd name="T4" fmla="*/ 26 w 64"/>
                        <a:gd name="T5" fmla="*/ 21 h 22"/>
                        <a:gd name="T6" fmla="*/ 45 w 64"/>
                        <a:gd name="T7" fmla="*/ 22 h 22"/>
                        <a:gd name="T8" fmla="*/ 58 w 64"/>
                        <a:gd name="T9" fmla="*/ 9 h 22"/>
                        <a:gd name="T10" fmla="*/ 64 w 64"/>
                        <a:gd name="T11" fmla="*/ 7 h 22"/>
                        <a:gd name="T12" fmla="*/ 61 w 64"/>
                        <a:gd name="T13" fmla="*/ 0 h 22"/>
                        <a:gd name="T14" fmla="*/ 0 w 64"/>
                        <a:gd name="T15" fmla="*/ 0 h 2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</a:cxnLst>
                      <a:rect l="0" t="0" r="r" b="b"/>
                      <a:pathLst>
                        <a:path w="64" h="22">
                          <a:moveTo>
                            <a:pt x="0" y="0"/>
                          </a:moveTo>
                          <a:lnTo>
                            <a:pt x="12" y="10"/>
                          </a:lnTo>
                          <a:lnTo>
                            <a:pt x="26" y="21"/>
                          </a:lnTo>
                          <a:lnTo>
                            <a:pt x="45" y="22"/>
                          </a:lnTo>
                          <a:lnTo>
                            <a:pt x="58" y="9"/>
                          </a:lnTo>
                          <a:lnTo>
                            <a:pt x="64" y="7"/>
                          </a:lnTo>
                          <a:lnTo>
                            <a:pt x="61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87" name="Freeform 378"/>
                    <p:cNvSpPr/>
                    <p:nvPr/>
                  </p:nvSpPr>
                  <p:spPr bwMode="auto">
                    <a:xfrm>
                      <a:off x="4889" y="2310"/>
                      <a:ext cx="17" cy="11"/>
                    </a:xfrm>
                    <a:custGeom>
                      <a:avLst/>
                      <a:gdLst>
                        <a:gd name="T0" fmla="*/ 25 w 98"/>
                        <a:gd name="T1" fmla="*/ 0 h 56"/>
                        <a:gd name="T2" fmla="*/ 43 w 98"/>
                        <a:gd name="T3" fmla="*/ 4 h 56"/>
                        <a:gd name="T4" fmla="*/ 55 w 98"/>
                        <a:gd name="T5" fmla="*/ 6 h 56"/>
                        <a:gd name="T6" fmla="*/ 68 w 98"/>
                        <a:gd name="T7" fmla="*/ 11 h 56"/>
                        <a:gd name="T8" fmla="*/ 75 w 98"/>
                        <a:gd name="T9" fmla="*/ 15 h 56"/>
                        <a:gd name="T10" fmla="*/ 81 w 98"/>
                        <a:gd name="T11" fmla="*/ 16 h 56"/>
                        <a:gd name="T12" fmla="*/ 92 w 98"/>
                        <a:gd name="T13" fmla="*/ 17 h 56"/>
                        <a:gd name="T14" fmla="*/ 98 w 98"/>
                        <a:gd name="T15" fmla="*/ 20 h 56"/>
                        <a:gd name="T16" fmla="*/ 98 w 98"/>
                        <a:gd name="T17" fmla="*/ 33 h 56"/>
                        <a:gd name="T18" fmla="*/ 93 w 98"/>
                        <a:gd name="T19" fmla="*/ 41 h 56"/>
                        <a:gd name="T20" fmla="*/ 89 w 98"/>
                        <a:gd name="T21" fmla="*/ 47 h 56"/>
                        <a:gd name="T22" fmla="*/ 86 w 98"/>
                        <a:gd name="T23" fmla="*/ 52 h 56"/>
                        <a:gd name="T24" fmla="*/ 77 w 98"/>
                        <a:gd name="T25" fmla="*/ 56 h 56"/>
                        <a:gd name="T26" fmla="*/ 69 w 98"/>
                        <a:gd name="T27" fmla="*/ 56 h 56"/>
                        <a:gd name="T28" fmla="*/ 63 w 98"/>
                        <a:gd name="T29" fmla="*/ 53 h 56"/>
                        <a:gd name="T30" fmla="*/ 64 w 98"/>
                        <a:gd name="T31" fmla="*/ 47 h 56"/>
                        <a:gd name="T32" fmla="*/ 63 w 98"/>
                        <a:gd name="T33" fmla="*/ 38 h 56"/>
                        <a:gd name="T34" fmla="*/ 57 w 98"/>
                        <a:gd name="T35" fmla="*/ 38 h 56"/>
                        <a:gd name="T36" fmla="*/ 49 w 98"/>
                        <a:gd name="T37" fmla="*/ 30 h 56"/>
                        <a:gd name="T38" fmla="*/ 50 w 98"/>
                        <a:gd name="T39" fmla="*/ 37 h 56"/>
                        <a:gd name="T40" fmla="*/ 45 w 98"/>
                        <a:gd name="T41" fmla="*/ 47 h 56"/>
                        <a:gd name="T42" fmla="*/ 34 w 98"/>
                        <a:gd name="T43" fmla="*/ 49 h 56"/>
                        <a:gd name="T44" fmla="*/ 22 w 98"/>
                        <a:gd name="T45" fmla="*/ 47 h 56"/>
                        <a:gd name="T46" fmla="*/ 19 w 98"/>
                        <a:gd name="T47" fmla="*/ 40 h 56"/>
                        <a:gd name="T48" fmla="*/ 16 w 98"/>
                        <a:gd name="T49" fmla="*/ 32 h 56"/>
                        <a:gd name="T50" fmla="*/ 16 w 98"/>
                        <a:gd name="T51" fmla="*/ 27 h 56"/>
                        <a:gd name="T52" fmla="*/ 0 w 98"/>
                        <a:gd name="T53" fmla="*/ 27 h 56"/>
                        <a:gd name="T54" fmla="*/ 6 w 98"/>
                        <a:gd name="T55" fmla="*/ 23 h 56"/>
                        <a:gd name="T56" fmla="*/ 55 w 98"/>
                        <a:gd name="T57" fmla="*/ 23 h 56"/>
                        <a:gd name="T58" fmla="*/ 56 w 98"/>
                        <a:gd name="T59" fmla="*/ 11 h 56"/>
                        <a:gd name="T60" fmla="*/ 45 w 98"/>
                        <a:gd name="T61" fmla="*/ 10 h 56"/>
                        <a:gd name="T62" fmla="*/ 25 w 98"/>
                        <a:gd name="T63" fmla="*/ 0 h 5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</a:cxnLst>
                      <a:rect l="0" t="0" r="r" b="b"/>
                      <a:pathLst>
                        <a:path w="98" h="56">
                          <a:moveTo>
                            <a:pt x="25" y="0"/>
                          </a:moveTo>
                          <a:lnTo>
                            <a:pt x="43" y="4"/>
                          </a:lnTo>
                          <a:lnTo>
                            <a:pt x="55" y="6"/>
                          </a:lnTo>
                          <a:lnTo>
                            <a:pt x="68" y="11"/>
                          </a:lnTo>
                          <a:lnTo>
                            <a:pt x="75" y="15"/>
                          </a:lnTo>
                          <a:lnTo>
                            <a:pt x="81" y="16"/>
                          </a:lnTo>
                          <a:lnTo>
                            <a:pt x="92" y="17"/>
                          </a:lnTo>
                          <a:lnTo>
                            <a:pt x="98" y="20"/>
                          </a:lnTo>
                          <a:lnTo>
                            <a:pt x="98" y="33"/>
                          </a:lnTo>
                          <a:lnTo>
                            <a:pt x="93" y="41"/>
                          </a:lnTo>
                          <a:lnTo>
                            <a:pt x="89" y="47"/>
                          </a:lnTo>
                          <a:lnTo>
                            <a:pt x="86" y="52"/>
                          </a:lnTo>
                          <a:lnTo>
                            <a:pt x="77" y="56"/>
                          </a:lnTo>
                          <a:lnTo>
                            <a:pt x="69" y="56"/>
                          </a:lnTo>
                          <a:lnTo>
                            <a:pt x="63" y="53"/>
                          </a:lnTo>
                          <a:lnTo>
                            <a:pt x="64" y="47"/>
                          </a:lnTo>
                          <a:lnTo>
                            <a:pt x="63" y="38"/>
                          </a:lnTo>
                          <a:lnTo>
                            <a:pt x="57" y="38"/>
                          </a:lnTo>
                          <a:lnTo>
                            <a:pt x="49" y="30"/>
                          </a:lnTo>
                          <a:lnTo>
                            <a:pt x="50" y="37"/>
                          </a:lnTo>
                          <a:lnTo>
                            <a:pt x="45" y="47"/>
                          </a:lnTo>
                          <a:lnTo>
                            <a:pt x="34" y="49"/>
                          </a:lnTo>
                          <a:lnTo>
                            <a:pt x="22" y="47"/>
                          </a:lnTo>
                          <a:lnTo>
                            <a:pt x="19" y="40"/>
                          </a:lnTo>
                          <a:lnTo>
                            <a:pt x="16" y="32"/>
                          </a:lnTo>
                          <a:lnTo>
                            <a:pt x="16" y="27"/>
                          </a:lnTo>
                          <a:lnTo>
                            <a:pt x="0" y="27"/>
                          </a:lnTo>
                          <a:lnTo>
                            <a:pt x="6" y="23"/>
                          </a:lnTo>
                          <a:lnTo>
                            <a:pt x="55" y="23"/>
                          </a:lnTo>
                          <a:lnTo>
                            <a:pt x="56" y="11"/>
                          </a:lnTo>
                          <a:lnTo>
                            <a:pt x="45" y="10"/>
                          </a:lnTo>
                          <a:lnTo>
                            <a:pt x="25" y="0"/>
                          </a:lnTo>
                          <a:close/>
                        </a:path>
                      </a:pathLst>
                    </a:custGeom>
                    <a:solidFill>
                      <a:srgbClr val="5F3F1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88" name="Oval 37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894" y="2315"/>
                      <a:ext cx="3" cy="5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89" name="Oval 38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896" y="2315"/>
                      <a:ext cx="2" cy="3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281" name="Group 381"/>
                  <p:cNvGrpSpPr/>
                  <p:nvPr/>
                </p:nvGrpSpPr>
                <p:grpSpPr bwMode="auto">
                  <a:xfrm>
                    <a:off x="4910" y="2314"/>
                    <a:ext cx="12" cy="8"/>
                    <a:chOff x="4910" y="2314"/>
                    <a:chExt cx="12" cy="8"/>
                  </a:xfrm>
                </p:grpSpPr>
                <p:sp>
                  <p:nvSpPr>
                    <p:cNvPr id="282" name="Freeform 382"/>
                    <p:cNvSpPr/>
                    <p:nvPr/>
                  </p:nvSpPr>
                  <p:spPr bwMode="auto">
                    <a:xfrm>
                      <a:off x="4912" y="2317"/>
                      <a:ext cx="8" cy="5"/>
                    </a:xfrm>
                    <a:custGeom>
                      <a:avLst/>
                      <a:gdLst>
                        <a:gd name="T0" fmla="*/ 50 w 50"/>
                        <a:gd name="T1" fmla="*/ 0 h 22"/>
                        <a:gd name="T2" fmla="*/ 48 w 50"/>
                        <a:gd name="T3" fmla="*/ 11 h 22"/>
                        <a:gd name="T4" fmla="*/ 39 w 50"/>
                        <a:gd name="T5" fmla="*/ 21 h 22"/>
                        <a:gd name="T6" fmla="*/ 19 w 50"/>
                        <a:gd name="T7" fmla="*/ 22 h 22"/>
                        <a:gd name="T8" fmla="*/ 6 w 50"/>
                        <a:gd name="T9" fmla="*/ 7 h 22"/>
                        <a:gd name="T10" fmla="*/ 0 w 50"/>
                        <a:gd name="T11" fmla="*/ 7 h 22"/>
                        <a:gd name="T12" fmla="*/ 4 w 50"/>
                        <a:gd name="T13" fmla="*/ 0 h 22"/>
                        <a:gd name="T14" fmla="*/ 50 w 50"/>
                        <a:gd name="T15" fmla="*/ 0 h 2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</a:cxnLst>
                      <a:rect l="0" t="0" r="r" b="b"/>
                      <a:pathLst>
                        <a:path w="50" h="22">
                          <a:moveTo>
                            <a:pt x="50" y="0"/>
                          </a:moveTo>
                          <a:lnTo>
                            <a:pt x="48" y="11"/>
                          </a:lnTo>
                          <a:lnTo>
                            <a:pt x="39" y="21"/>
                          </a:lnTo>
                          <a:lnTo>
                            <a:pt x="19" y="22"/>
                          </a:lnTo>
                          <a:lnTo>
                            <a:pt x="6" y="7"/>
                          </a:lnTo>
                          <a:lnTo>
                            <a:pt x="0" y="7"/>
                          </a:lnTo>
                          <a:lnTo>
                            <a:pt x="4" y="0"/>
                          </a:lnTo>
                          <a:lnTo>
                            <a:pt x="50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83" name="Freeform 383"/>
                    <p:cNvSpPr/>
                    <p:nvPr/>
                  </p:nvSpPr>
                  <p:spPr bwMode="auto">
                    <a:xfrm>
                      <a:off x="4910" y="2314"/>
                      <a:ext cx="12" cy="8"/>
                    </a:xfrm>
                    <a:custGeom>
                      <a:avLst/>
                      <a:gdLst>
                        <a:gd name="T0" fmla="*/ 47 w 70"/>
                        <a:gd name="T1" fmla="*/ 0 h 40"/>
                        <a:gd name="T2" fmla="*/ 28 w 70"/>
                        <a:gd name="T3" fmla="*/ 1 h 40"/>
                        <a:gd name="T4" fmla="*/ 18 w 70"/>
                        <a:gd name="T5" fmla="*/ 3 h 40"/>
                        <a:gd name="T6" fmla="*/ 7 w 70"/>
                        <a:gd name="T7" fmla="*/ 7 h 40"/>
                        <a:gd name="T8" fmla="*/ 0 w 70"/>
                        <a:gd name="T9" fmla="*/ 17 h 40"/>
                        <a:gd name="T10" fmla="*/ 4 w 70"/>
                        <a:gd name="T11" fmla="*/ 35 h 40"/>
                        <a:gd name="T12" fmla="*/ 15 w 70"/>
                        <a:gd name="T13" fmla="*/ 34 h 40"/>
                        <a:gd name="T14" fmla="*/ 22 w 70"/>
                        <a:gd name="T15" fmla="*/ 23 h 40"/>
                        <a:gd name="T16" fmla="*/ 29 w 70"/>
                        <a:gd name="T17" fmla="*/ 22 h 40"/>
                        <a:gd name="T18" fmla="*/ 25 w 70"/>
                        <a:gd name="T19" fmla="*/ 29 h 40"/>
                        <a:gd name="T20" fmla="*/ 29 w 70"/>
                        <a:gd name="T21" fmla="*/ 39 h 40"/>
                        <a:gd name="T22" fmla="*/ 37 w 70"/>
                        <a:gd name="T23" fmla="*/ 40 h 40"/>
                        <a:gd name="T24" fmla="*/ 46 w 70"/>
                        <a:gd name="T25" fmla="*/ 40 h 40"/>
                        <a:gd name="T26" fmla="*/ 53 w 70"/>
                        <a:gd name="T27" fmla="*/ 34 h 40"/>
                        <a:gd name="T28" fmla="*/ 54 w 70"/>
                        <a:gd name="T29" fmla="*/ 27 h 40"/>
                        <a:gd name="T30" fmla="*/ 59 w 70"/>
                        <a:gd name="T31" fmla="*/ 26 h 40"/>
                        <a:gd name="T32" fmla="*/ 70 w 70"/>
                        <a:gd name="T33" fmla="*/ 21 h 40"/>
                        <a:gd name="T34" fmla="*/ 61 w 70"/>
                        <a:gd name="T35" fmla="*/ 18 h 40"/>
                        <a:gd name="T36" fmla="*/ 55 w 70"/>
                        <a:gd name="T37" fmla="*/ 16 h 40"/>
                        <a:gd name="T38" fmla="*/ 41 w 70"/>
                        <a:gd name="T39" fmla="*/ 16 h 40"/>
                        <a:gd name="T40" fmla="*/ 36 w 70"/>
                        <a:gd name="T41" fmla="*/ 17 h 40"/>
                        <a:gd name="T42" fmla="*/ 47 w 70"/>
                        <a:gd name="T43" fmla="*/ 0 h 4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</a:cxnLst>
                      <a:rect l="0" t="0" r="r" b="b"/>
                      <a:pathLst>
                        <a:path w="70" h="40">
                          <a:moveTo>
                            <a:pt x="47" y="0"/>
                          </a:moveTo>
                          <a:lnTo>
                            <a:pt x="28" y="1"/>
                          </a:lnTo>
                          <a:lnTo>
                            <a:pt x="18" y="3"/>
                          </a:lnTo>
                          <a:lnTo>
                            <a:pt x="7" y="7"/>
                          </a:lnTo>
                          <a:lnTo>
                            <a:pt x="0" y="17"/>
                          </a:lnTo>
                          <a:lnTo>
                            <a:pt x="4" y="35"/>
                          </a:lnTo>
                          <a:lnTo>
                            <a:pt x="15" y="34"/>
                          </a:lnTo>
                          <a:lnTo>
                            <a:pt x="22" y="23"/>
                          </a:lnTo>
                          <a:lnTo>
                            <a:pt x="29" y="22"/>
                          </a:lnTo>
                          <a:lnTo>
                            <a:pt x="25" y="29"/>
                          </a:lnTo>
                          <a:lnTo>
                            <a:pt x="29" y="39"/>
                          </a:lnTo>
                          <a:lnTo>
                            <a:pt x="37" y="40"/>
                          </a:lnTo>
                          <a:lnTo>
                            <a:pt x="46" y="40"/>
                          </a:lnTo>
                          <a:lnTo>
                            <a:pt x="53" y="34"/>
                          </a:lnTo>
                          <a:lnTo>
                            <a:pt x="54" y="27"/>
                          </a:lnTo>
                          <a:lnTo>
                            <a:pt x="59" y="26"/>
                          </a:lnTo>
                          <a:lnTo>
                            <a:pt x="70" y="21"/>
                          </a:lnTo>
                          <a:lnTo>
                            <a:pt x="61" y="18"/>
                          </a:lnTo>
                          <a:lnTo>
                            <a:pt x="55" y="16"/>
                          </a:lnTo>
                          <a:lnTo>
                            <a:pt x="41" y="16"/>
                          </a:lnTo>
                          <a:lnTo>
                            <a:pt x="36" y="17"/>
                          </a:lnTo>
                          <a:lnTo>
                            <a:pt x="47" y="0"/>
                          </a:lnTo>
                          <a:close/>
                        </a:path>
                      </a:pathLst>
                    </a:custGeom>
                    <a:solidFill>
                      <a:srgbClr val="5F3F1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84" name="Oval 38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916" y="2317"/>
                      <a:ext cx="3" cy="5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85" name="Oval 38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918" y="2318"/>
                      <a:ext cx="2" cy="2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</p:grpSp>
          <p:grpSp>
            <p:nvGrpSpPr>
              <p:cNvPr id="250" name="Group 386"/>
              <p:cNvGrpSpPr/>
              <p:nvPr/>
            </p:nvGrpSpPr>
            <p:grpSpPr bwMode="auto">
              <a:xfrm>
                <a:off x="4981" y="2517"/>
                <a:ext cx="120" cy="72"/>
                <a:chOff x="4981" y="2517"/>
                <a:chExt cx="120" cy="72"/>
              </a:xfrm>
            </p:grpSpPr>
            <p:sp>
              <p:nvSpPr>
                <p:cNvPr id="251" name="Freeform 387"/>
                <p:cNvSpPr/>
                <p:nvPr/>
              </p:nvSpPr>
              <p:spPr bwMode="auto">
                <a:xfrm>
                  <a:off x="5031" y="2517"/>
                  <a:ext cx="70" cy="60"/>
                </a:xfrm>
                <a:custGeom>
                  <a:avLst/>
                  <a:gdLst>
                    <a:gd name="T0" fmla="*/ 355 w 420"/>
                    <a:gd name="T1" fmla="*/ 0 h 299"/>
                    <a:gd name="T2" fmla="*/ 148 w 420"/>
                    <a:gd name="T3" fmla="*/ 100 h 299"/>
                    <a:gd name="T4" fmla="*/ 112 w 420"/>
                    <a:gd name="T5" fmla="*/ 116 h 299"/>
                    <a:gd name="T6" fmla="*/ 52 w 420"/>
                    <a:gd name="T7" fmla="*/ 127 h 299"/>
                    <a:gd name="T8" fmla="*/ 25 w 420"/>
                    <a:gd name="T9" fmla="*/ 129 h 299"/>
                    <a:gd name="T10" fmla="*/ 0 w 420"/>
                    <a:gd name="T11" fmla="*/ 155 h 299"/>
                    <a:gd name="T12" fmla="*/ 0 w 420"/>
                    <a:gd name="T13" fmla="*/ 299 h 299"/>
                    <a:gd name="T14" fmla="*/ 34 w 420"/>
                    <a:gd name="T15" fmla="*/ 291 h 299"/>
                    <a:gd name="T16" fmla="*/ 55 w 420"/>
                    <a:gd name="T17" fmla="*/ 291 h 299"/>
                    <a:gd name="T18" fmla="*/ 114 w 420"/>
                    <a:gd name="T19" fmla="*/ 247 h 299"/>
                    <a:gd name="T20" fmla="*/ 153 w 420"/>
                    <a:gd name="T21" fmla="*/ 185 h 299"/>
                    <a:gd name="T22" fmla="*/ 236 w 420"/>
                    <a:gd name="T23" fmla="*/ 171 h 299"/>
                    <a:gd name="T24" fmla="*/ 420 w 420"/>
                    <a:gd name="T25" fmla="*/ 127 h 299"/>
                    <a:gd name="T26" fmla="*/ 411 w 420"/>
                    <a:gd name="T27" fmla="*/ 65 h 299"/>
                    <a:gd name="T28" fmla="*/ 383 w 420"/>
                    <a:gd name="T29" fmla="*/ 18 h 299"/>
                    <a:gd name="T30" fmla="*/ 355 w 420"/>
                    <a:gd name="T31" fmla="*/ 0 h 2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420" h="299">
                      <a:moveTo>
                        <a:pt x="355" y="0"/>
                      </a:moveTo>
                      <a:lnTo>
                        <a:pt x="148" y="100"/>
                      </a:lnTo>
                      <a:lnTo>
                        <a:pt x="112" y="116"/>
                      </a:lnTo>
                      <a:lnTo>
                        <a:pt x="52" y="127"/>
                      </a:lnTo>
                      <a:lnTo>
                        <a:pt x="25" y="129"/>
                      </a:lnTo>
                      <a:lnTo>
                        <a:pt x="0" y="155"/>
                      </a:lnTo>
                      <a:lnTo>
                        <a:pt x="0" y="299"/>
                      </a:lnTo>
                      <a:lnTo>
                        <a:pt x="34" y="291"/>
                      </a:lnTo>
                      <a:lnTo>
                        <a:pt x="55" y="291"/>
                      </a:lnTo>
                      <a:lnTo>
                        <a:pt x="114" y="247"/>
                      </a:lnTo>
                      <a:lnTo>
                        <a:pt x="153" y="185"/>
                      </a:lnTo>
                      <a:lnTo>
                        <a:pt x="236" y="171"/>
                      </a:lnTo>
                      <a:lnTo>
                        <a:pt x="420" y="127"/>
                      </a:lnTo>
                      <a:lnTo>
                        <a:pt x="411" y="65"/>
                      </a:lnTo>
                      <a:lnTo>
                        <a:pt x="383" y="18"/>
                      </a:lnTo>
                      <a:lnTo>
                        <a:pt x="355" y="0"/>
                      </a:lnTo>
                      <a:close/>
                    </a:path>
                  </a:pathLst>
                </a:custGeom>
                <a:solidFill>
                  <a:srgbClr val="FF9F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3655"/>
                </a:p>
              </p:txBody>
            </p:sp>
            <p:grpSp>
              <p:nvGrpSpPr>
                <p:cNvPr id="252" name="Group 388"/>
                <p:cNvGrpSpPr/>
                <p:nvPr/>
              </p:nvGrpSpPr>
              <p:grpSpPr bwMode="auto">
                <a:xfrm>
                  <a:off x="4981" y="2534"/>
                  <a:ext cx="81" cy="55"/>
                  <a:chOff x="4981" y="2534"/>
                  <a:chExt cx="81" cy="55"/>
                </a:xfrm>
              </p:grpSpPr>
              <p:grpSp>
                <p:nvGrpSpPr>
                  <p:cNvPr id="260" name="Group 389"/>
                  <p:cNvGrpSpPr/>
                  <p:nvPr/>
                </p:nvGrpSpPr>
                <p:grpSpPr bwMode="auto">
                  <a:xfrm>
                    <a:off x="4981" y="2534"/>
                    <a:ext cx="81" cy="55"/>
                    <a:chOff x="4981" y="2534"/>
                    <a:chExt cx="81" cy="55"/>
                  </a:xfrm>
                </p:grpSpPr>
                <p:sp>
                  <p:nvSpPr>
                    <p:cNvPr id="265" name="Freeform 390"/>
                    <p:cNvSpPr/>
                    <p:nvPr/>
                  </p:nvSpPr>
                  <p:spPr bwMode="auto">
                    <a:xfrm>
                      <a:off x="4995" y="2534"/>
                      <a:ext cx="67" cy="55"/>
                    </a:xfrm>
                    <a:custGeom>
                      <a:avLst/>
                      <a:gdLst>
                        <a:gd name="T0" fmla="*/ 25 w 403"/>
                        <a:gd name="T1" fmla="*/ 63 h 277"/>
                        <a:gd name="T2" fmla="*/ 96 w 403"/>
                        <a:gd name="T3" fmla="*/ 63 h 277"/>
                        <a:gd name="T4" fmla="*/ 221 w 403"/>
                        <a:gd name="T5" fmla="*/ 0 h 277"/>
                        <a:gd name="T6" fmla="*/ 250 w 403"/>
                        <a:gd name="T7" fmla="*/ 7 h 277"/>
                        <a:gd name="T8" fmla="*/ 297 w 403"/>
                        <a:gd name="T9" fmla="*/ 39 h 277"/>
                        <a:gd name="T10" fmla="*/ 341 w 403"/>
                        <a:gd name="T11" fmla="*/ 82 h 277"/>
                        <a:gd name="T12" fmla="*/ 385 w 403"/>
                        <a:gd name="T13" fmla="*/ 129 h 277"/>
                        <a:gd name="T14" fmla="*/ 403 w 403"/>
                        <a:gd name="T15" fmla="*/ 166 h 277"/>
                        <a:gd name="T16" fmla="*/ 399 w 403"/>
                        <a:gd name="T17" fmla="*/ 181 h 277"/>
                        <a:gd name="T18" fmla="*/ 387 w 403"/>
                        <a:gd name="T19" fmla="*/ 190 h 277"/>
                        <a:gd name="T20" fmla="*/ 371 w 403"/>
                        <a:gd name="T21" fmla="*/ 186 h 277"/>
                        <a:gd name="T22" fmla="*/ 353 w 403"/>
                        <a:gd name="T23" fmla="*/ 175 h 277"/>
                        <a:gd name="T24" fmla="*/ 378 w 403"/>
                        <a:gd name="T25" fmla="*/ 205 h 277"/>
                        <a:gd name="T26" fmla="*/ 374 w 403"/>
                        <a:gd name="T27" fmla="*/ 228 h 277"/>
                        <a:gd name="T28" fmla="*/ 356 w 403"/>
                        <a:gd name="T29" fmla="*/ 238 h 277"/>
                        <a:gd name="T30" fmla="*/ 330 w 403"/>
                        <a:gd name="T31" fmla="*/ 232 h 277"/>
                        <a:gd name="T32" fmla="*/ 309 w 403"/>
                        <a:gd name="T33" fmla="*/ 220 h 277"/>
                        <a:gd name="T34" fmla="*/ 291 w 403"/>
                        <a:gd name="T35" fmla="*/ 210 h 277"/>
                        <a:gd name="T36" fmla="*/ 309 w 403"/>
                        <a:gd name="T37" fmla="*/ 234 h 277"/>
                        <a:gd name="T38" fmla="*/ 310 w 403"/>
                        <a:gd name="T39" fmla="*/ 254 h 277"/>
                        <a:gd name="T40" fmla="*/ 298 w 403"/>
                        <a:gd name="T41" fmla="*/ 265 h 277"/>
                        <a:gd name="T42" fmla="*/ 282 w 403"/>
                        <a:gd name="T43" fmla="*/ 268 h 277"/>
                        <a:gd name="T44" fmla="*/ 269 w 403"/>
                        <a:gd name="T45" fmla="*/ 262 h 277"/>
                        <a:gd name="T46" fmla="*/ 257 w 403"/>
                        <a:gd name="T47" fmla="*/ 253 h 277"/>
                        <a:gd name="T48" fmla="*/ 254 w 403"/>
                        <a:gd name="T49" fmla="*/ 268 h 277"/>
                        <a:gd name="T50" fmla="*/ 240 w 403"/>
                        <a:gd name="T51" fmla="*/ 277 h 277"/>
                        <a:gd name="T52" fmla="*/ 221 w 403"/>
                        <a:gd name="T53" fmla="*/ 275 h 277"/>
                        <a:gd name="T54" fmla="*/ 203 w 403"/>
                        <a:gd name="T55" fmla="*/ 264 h 277"/>
                        <a:gd name="T56" fmla="*/ 190 w 403"/>
                        <a:gd name="T57" fmla="*/ 258 h 277"/>
                        <a:gd name="T58" fmla="*/ 168 w 403"/>
                        <a:gd name="T59" fmla="*/ 258 h 277"/>
                        <a:gd name="T60" fmla="*/ 146 w 403"/>
                        <a:gd name="T61" fmla="*/ 253 h 277"/>
                        <a:gd name="T62" fmla="*/ 113 w 403"/>
                        <a:gd name="T63" fmla="*/ 246 h 277"/>
                        <a:gd name="T64" fmla="*/ 79 w 403"/>
                        <a:gd name="T65" fmla="*/ 236 h 277"/>
                        <a:gd name="T66" fmla="*/ 60 w 403"/>
                        <a:gd name="T67" fmla="*/ 232 h 277"/>
                        <a:gd name="T68" fmla="*/ 29 w 403"/>
                        <a:gd name="T69" fmla="*/ 228 h 277"/>
                        <a:gd name="T70" fmla="*/ 0 w 403"/>
                        <a:gd name="T71" fmla="*/ 225 h 277"/>
                        <a:gd name="T72" fmla="*/ 25 w 403"/>
                        <a:gd name="T73" fmla="*/ 63 h 27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</a:cxnLst>
                      <a:rect l="0" t="0" r="r" b="b"/>
                      <a:pathLst>
                        <a:path w="403" h="277">
                          <a:moveTo>
                            <a:pt x="25" y="63"/>
                          </a:moveTo>
                          <a:lnTo>
                            <a:pt x="96" y="63"/>
                          </a:lnTo>
                          <a:lnTo>
                            <a:pt x="221" y="0"/>
                          </a:lnTo>
                          <a:lnTo>
                            <a:pt x="250" y="7"/>
                          </a:lnTo>
                          <a:lnTo>
                            <a:pt x="297" y="39"/>
                          </a:lnTo>
                          <a:lnTo>
                            <a:pt x="341" y="82"/>
                          </a:lnTo>
                          <a:lnTo>
                            <a:pt x="385" y="129"/>
                          </a:lnTo>
                          <a:lnTo>
                            <a:pt x="403" y="166"/>
                          </a:lnTo>
                          <a:lnTo>
                            <a:pt x="399" y="181"/>
                          </a:lnTo>
                          <a:lnTo>
                            <a:pt x="387" y="190"/>
                          </a:lnTo>
                          <a:lnTo>
                            <a:pt x="371" y="186"/>
                          </a:lnTo>
                          <a:lnTo>
                            <a:pt x="353" y="175"/>
                          </a:lnTo>
                          <a:lnTo>
                            <a:pt x="378" y="205"/>
                          </a:lnTo>
                          <a:lnTo>
                            <a:pt x="374" y="228"/>
                          </a:lnTo>
                          <a:lnTo>
                            <a:pt x="356" y="238"/>
                          </a:lnTo>
                          <a:lnTo>
                            <a:pt x="330" y="232"/>
                          </a:lnTo>
                          <a:lnTo>
                            <a:pt x="309" y="220"/>
                          </a:lnTo>
                          <a:lnTo>
                            <a:pt x="291" y="210"/>
                          </a:lnTo>
                          <a:lnTo>
                            <a:pt x="309" y="234"/>
                          </a:lnTo>
                          <a:lnTo>
                            <a:pt x="310" y="254"/>
                          </a:lnTo>
                          <a:lnTo>
                            <a:pt x="298" y="265"/>
                          </a:lnTo>
                          <a:lnTo>
                            <a:pt x="282" y="268"/>
                          </a:lnTo>
                          <a:lnTo>
                            <a:pt x="269" y="262"/>
                          </a:lnTo>
                          <a:lnTo>
                            <a:pt x="257" y="253"/>
                          </a:lnTo>
                          <a:lnTo>
                            <a:pt x="254" y="268"/>
                          </a:lnTo>
                          <a:lnTo>
                            <a:pt x="240" y="277"/>
                          </a:lnTo>
                          <a:lnTo>
                            <a:pt x="221" y="275"/>
                          </a:lnTo>
                          <a:lnTo>
                            <a:pt x="203" y="264"/>
                          </a:lnTo>
                          <a:lnTo>
                            <a:pt x="190" y="258"/>
                          </a:lnTo>
                          <a:lnTo>
                            <a:pt x="168" y="258"/>
                          </a:lnTo>
                          <a:lnTo>
                            <a:pt x="146" y="253"/>
                          </a:lnTo>
                          <a:lnTo>
                            <a:pt x="113" y="246"/>
                          </a:lnTo>
                          <a:lnTo>
                            <a:pt x="79" y="236"/>
                          </a:lnTo>
                          <a:lnTo>
                            <a:pt x="60" y="232"/>
                          </a:lnTo>
                          <a:lnTo>
                            <a:pt x="29" y="228"/>
                          </a:lnTo>
                          <a:lnTo>
                            <a:pt x="0" y="225"/>
                          </a:lnTo>
                          <a:lnTo>
                            <a:pt x="25" y="63"/>
                          </a:lnTo>
                          <a:close/>
                        </a:path>
                      </a:pathLst>
                    </a:custGeom>
                    <a:solidFill>
                      <a:srgbClr val="FF9F9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grpSp>
                  <p:nvGrpSpPr>
                    <p:cNvPr id="266" name="Group 391"/>
                    <p:cNvGrpSpPr/>
                    <p:nvPr/>
                  </p:nvGrpSpPr>
                  <p:grpSpPr bwMode="auto">
                    <a:xfrm>
                      <a:off x="4981" y="2544"/>
                      <a:ext cx="21" cy="44"/>
                      <a:chOff x="4981" y="2544"/>
                      <a:chExt cx="21" cy="44"/>
                    </a:xfrm>
                  </p:grpSpPr>
                  <p:sp>
                    <p:nvSpPr>
                      <p:cNvPr id="267" name="Freeform 392"/>
                      <p:cNvSpPr/>
                      <p:nvPr/>
                    </p:nvSpPr>
                    <p:spPr bwMode="auto">
                      <a:xfrm>
                        <a:off x="4983" y="2545"/>
                        <a:ext cx="19" cy="40"/>
                      </a:xfrm>
                      <a:custGeom>
                        <a:avLst/>
                        <a:gdLst>
                          <a:gd name="T0" fmla="*/ 33 w 113"/>
                          <a:gd name="T1" fmla="*/ 0 h 203"/>
                          <a:gd name="T2" fmla="*/ 113 w 113"/>
                          <a:gd name="T3" fmla="*/ 10 h 203"/>
                          <a:gd name="T4" fmla="*/ 98 w 113"/>
                          <a:gd name="T5" fmla="*/ 176 h 203"/>
                          <a:gd name="T6" fmla="*/ 0 w 113"/>
                          <a:gd name="T7" fmla="*/ 203 h 203"/>
                          <a:gd name="T8" fmla="*/ 33 w 113"/>
                          <a:gd name="T9" fmla="*/ 0 h 20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113" h="203">
                            <a:moveTo>
                              <a:pt x="33" y="0"/>
                            </a:moveTo>
                            <a:lnTo>
                              <a:pt x="113" y="10"/>
                            </a:lnTo>
                            <a:lnTo>
                              <a:pt x="98" y="176"/>
                            </a:lnTo>
                            <a:lnTo>
                              <a:pt x="0" y="203"/>
                            </a:lnTo>
                            <a:lnTo>
                              <a:pt x="33" y="0"/>
                            </a:lnTo>
                            <a:close/>
                          </a:path>
                        </a:pathLst>
                      </a:custGeom>
                      <a:solidFill>
                        <a:srgbClr val="7F7F7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268" name="Freeform 393"/>
                      <p:cNvSpPr/>
                      <p:nvPr/>
                    </p:nvSpPr>
                    <p:spPr bwMode="auto">
                      <a:xfrm>
                        <a:off x="4981" y="2544"/>
                        <a:ext cx="20" cy="44"/>
                      </a:xfrm>
                      <a:custGeom>
                        <a:avLst/>
                        <a:gdLst>
                          <a:gd name="T0" fmla="*/ 43 w 123"/>
                          <a:gd name="T1" fmla="*/ 0 h 221"/>
                          <a:gd name="T2" fmla="*/ 123 w 123"/>
                          <a:gd name="T3" fmla="*/ 9 h 221"/>
                          <a:gd name="T4" fmla="*/ 103 w 123"/>
                          <a:gd name="T5" fmla="*/ 221 h 221"/>
                          <a:gd name="T6" fmla="*/ 0 w 123"/>
                          <a:gd name="T7" fmla="*/ 212 h 221"/>
                          <a:gd name="T8" fmla="*/ 43 w 123"/>
                          <a:gd name="T9" fmla="*/ 0 h 221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123" h="221">
                            <a:moveTo>
                              <a:pt x="43" y="0"/>
                            </a:moveTo>
                            <a:lnTo>
                              <a:pt x="123" y="9"/>
                            </a:lnTo>
                            <a:lnTo>
                              <a:pt x="103" y="221"/>
                            </a:lnTo>
                            <a:lnTo>
                              <a:pt x="0" y="212"/>
                            </a:lnTo>
                            <a:lnTo>
                              <a:pt x="43" y="0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</p:grpSp>
              <p:grpSp>
                <p:nvGrpSpPr>
                  <p:cNvPr id="261" name="Group 394"/>
                  <p:cNvGrpSpPr/>
                  <p:nvPr/>
                </p:nvGrpSpPr>
                <p:grpSpPr bwMode="auto">
                  <a:xfrm>
                    <a:off x="5029" y="2558"/>
                    <a:ext cx="25" cy="26"/>
                    <a:chOff x="5029" y="2558"/>
                    <a:chExt cx="25" cy="26"/>
                  </a:xfrm>
                </p:grpSpPr>
                <p:sp>
                  <p:nvSpPr>
                    <p:cNvPr id="262" name="Freeform 395"/>
                    <p:cNvSpPr/>
                    <p:nvPr/>
                  </p:nvSpPr>
                  <p:spPr bwMode="auto">
                    <a:xfrm>
                      <a:off x="5045" y="2558"/>
                      <a:ext cx="9" cy="10"/>
                    </a:xfrm>
                    <a:custGeom>
                      <a:avLst/>
                      <a:gdLst>
                        <a:gd name="T0" fmla="*/ 52 w 52"/>
                        <a:gd name="T1" fmla="*/ 54 h 54"/>
                        <a:gd name="T2" fmla="*/ 0 w 52"/>
                        <a:gd name="T3" fmla="*/ 0 h 54"/>
                        <a:gd name="T4" fmla="*/ 41 w 52"/>
                        <a:gd name="T5" fmla="*/ 54 h 54"/>
                        <a:gd name="T6" fmla="*/ 52 w 52"/>
                        <a:gd name="T7" fmla="*/ 54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</a:cxnLst>
                      <a:rect l="0" t="0" r="r" b="b"/>
                      <a:pathLst>
                        <a:path w="52" h="54">
                          <a:moveTo>
                            <a:pt x="52" y="54"/>
                          </a:moveTo>
                          <a:lnTo>
                            <a:pt x="0" y="0"/>
                          </a:lnTo>
                          <a:lnTo>
                            <a:pt x="41" y="54"/>
                          </a:lnTo>
                          <a:lnTo>
                            <a:pt x="52" y="54"/>
                          </a:lnTo>
                          <a:close/>
                        </a:path>
                      </a:pathLst>
                    </a:custGeom>
                    <a:solidFill>
                      <a:srgbClr val="BF7F3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63" name="Freeform 396"/>
                    <p:cNvSpPr/>
                    <p:nvPr/>
                  </p:nvSpPr>
                  <p:spPr bwMode="auto">
                    <a:xfrm>
                      <a:off x="5034" y="2565"/>
                      <a:ext cx="12" cy="12"/>
                    </a:xfrm>
                    <a:custGeom>
                      <a:avLst/>
                      <a:gdLst>
                        <a:gd name="T0" fmla="*/ 0 w 69"/>
                        <a:gd name="T1" fmla="*/ 0 h 58"/>
                        <a:gd name="T2" fmla="*/ 39 w 69"/>
                        <a:gd name="T3" fmla="*/ 32 h 58"/>
                        <a:gd name="T4" fmla="*/ 69 w 69"/>
                        <a:gd name="T5" fmla="*/ 54 h 58"/>
                        <a:gd name="T6" fmla="*/ 58 w 69"/>
                        <a:gd name="T7" fmla="*/ 58 h 58"/>
                        <a:gd name="T8" fmla="*/ 30 w 69"/>
                        <a:gd name="T9" fmla="*/ 34 h 58"/>
                        <a:gd name="T10" fmla="*/ 0 w 69"/>
                        <a:gd name="T11" fmla="*/ 0 h 5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69" h="58">
                          <a:moveTo>
                            <a:pt x="0" y="0"/>
                          </a:moveTo>
                          <a:lnTo>
                            <a:pt x="39" y="32"/>
                          </a:lnTo>
                          <a:lnTo>
                            <a:pt x="69" y="54"/>
                          </a:lnTo>
                          <a:lnTo>
                            <a:pt x="58" y="58"/>
                          </a:lnTo>
                          <a:lnTo>
                            <a:pt x="30" y="34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F7F3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64" name="Freeform 397"/>
                    <p:cNvSpPr/>
                    <p:nvPr/>
                  </p:nvSpPr>
                  <p:spPr bwMode="auto">
                    <a:xfrm>
                      <a:off x="5029" y="2578"/>
                      <a:ext cx="8" cy="6"/>
                    </a:xfrm>
                    <a:custGeom>
                      <a:avLst/>
                      <a:gdLst>
                        <a:gd name="T0" fmla="*/ 48 w 48"/>
                        <a:gd name="T1" fmla="*/ 29 h 29"/>
                        <a:gd name="T2" fmla="*/ 0 w 48"/>
                        <a:gd name="T3" fmla="*/ 2 h 29"/>
                        <a:gd name="T4" fmla="*/ 11 w 48"/>
                        <a:gd name="T5" fmla="*/ 0 h 29"/>
                        <a:gd name="T6" fmla="*/ 48 w 48"/>
                        <a:gd name="T7" fmla="*/ 29 h 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</a:cxnLst>
                      <a:rect l="0" t="0" r="r" b="b"/>
                      <a:pathLst>
                        <a:path w="48" h="29">
                          <a:moveTo>
                            <a:pt x="48" y="29"/>
                          </a:moveTo>
                          <a:lnTo>
                            <a:pt x="0" y="2"/>
                          </a:lnTo>
                          <a:lnTo>
                            <a:pt x="11" y="0"/>
                          </a:lnTo>
                          <a:lnTo>
                            <a:pt x="48" y="29"/>
                          </a:lnTo>
                          <a:close/>
                        </a:path>
                      </a:pathLst>
                    </a:custGeom>
                    <a:solidFill>
                      <a:srgbClr val="BF7F3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  <p:grpSp>
              <p:nvGrpSpPr>
                <p:cNvPr id="253" name="Group 398"/>
                <p:cNvGrpSpPr/>
                <p:nvPr/>
              </p:nvGrpSpPr>
              <p:grpSpPr bwMode="auto">
                <a:xfrm>
                  <a:off x="5016" y="2519"/>
                  <a:ext cx="48" cy="49"/>
                  <a:chOff x="5016" y="2519"/>
                  <a:chExt cx="48" cy="49"/>
                </a:xfrm>
              </p:grpSpPr>
              <p:grpSp>
                <p:nvGrpSpPr>
                  <p:cNvPr id="254" name="Group 399"/>
                  <p:cNvGrpSpPr/>
                  <p:nvPr/>
                </p:nvGrpSpPr>
                <p:grpSpPr bwMode="auto">
                  <a:xfrm>
                    <a:off x="5016" y="2519"/>
                    <a:ext cx="48" cy="49"/>
                    <a:chOff x="5016" y="2519"/>
                    <a:chExt cx="48" cy="49"/>
                  </a:xfrm>
                </p:grpSpPr>
                <p:sp>
                  <p:nvSpPr>
                    <p:cNvPr id="258" name="Freeform 400"/>
                    <p:cNvSpPr/>
                    <p:nvPr/>
                  </p:nvSpPr>
                  <p:spPr bwMode="auto">
                    <a:xfrm>
                      <a:off x="5016" y="2519"/>
                      <a:ext cx="44" cy="49"/>
                    </a:xfrm>
                    <a:custGeom>
                      <a:avLst/>
                      <a:gdLst>
                        <a:gd name="T0" fmla="*/ 104 w 262"/>
                        <a:gd name="T1" fmla="*/ 15 h 244"/>
                        <a:gd name="T2" fmla="*/ 118 w 262"/>
                        <a:gd name="T3" fmla="*/ 11 h 244"/>
                        <a:gd name="T4" fmla="*/ 137 w 262"/>
                        <a:gd name="T5" fmla="*/ 17 h 244"/>
                        <a:gd name="T6" fmla="*/ 165 w 262"/>
                        <a:gd name="T7" fmla="*/ 0 h 244"/>
                        <a:gd name="T8" fmla="*/ 179 w 262"/>
                        <a:gd name="T9" fmla="*/ 5 h 244"/>
                        <a:gd name="T10" fmla="*/ 192 w 262"/>
                        <a:gd name="T11" fmla="*/ 24 h 244"/>
                        <a:gd name="T12" fmla="*/ 210 w 262"/>
                        <a:gd name="T13" fmla="*/ 30 h 244"/>
                        <a:gd name="T14" fmla="*/ 229 w 262"/>
                        <a:gd name="T15" fmla="*/ 36 h 244"/>
                        <a:gd name="T16" fmla="*/ 246 w 262"/>
                        <a:gd name="T17" fmla="*/ 83 h 244"/>
                        <a:gd name="T18" fmla="*/ 258 w 262"/>
                        <a:gd name="T19" fmla="*/ 157 h 244"/>
                        <a:gd name="T20" fmla="*/ 245 w 262"/>
                        <a:gd name="T21" fmla="*/ 176 h 244"/>
                        <a:gd name="T22" fmla="*/ 227 w 262"/>
                        <a:gd name="T23" fmla="*/ 161 h 244"/>
                        <a:gd name="T24" fmla="*/ 221 w 262"/>
                        <a:gd name="T25" fmla="*/ 141 h 244"/>
                        <a:gd name="T26" fmla="*/ 204 w 262"/>
                        <a:gd name="T27" fmla="*/ 100 h 244"/>
                        <a:gd name="T28" fmla="*/ 195 w 262"/>
                        <a:gd name="T29" fmla="*/ 73 h 244"/>
                        <a:gd name="T30" fmla="*/ 188 w 262"/>
                        <a:gd name="T31" fmla="*/ 153 h 244"/>
                        <a:gd name="T32" fmla="*/ 189 w 262"/>
                        <a:gd name="T33" fmla="*/ 228 h 244"/>
                        <a:gd name="T34" fmla="*/ 170 w 262"/>
                        <a:gd name="T35" fmla="*/ 244 h 244"/>
                        <a:gd name="T36" fmla="*/ 152 w 262"/>
                        <a:gd name="T37" fmla="*/ 236 h 244"/>
                        <a:gd name="T38" fmla="*/ 141 w 262"/>
                        <a:gd name="T39" fmla="*/ 205 h 244"/>
                        <a:gd name="T40" fmla="*/ 137 w 262"/>
                        <a:gd name="T41" fmla="*/ 105 h 244"/>
                        <a:gd name="T42" fmla="*/ 128 w 262"/>
                        <a:gd name="T43" fmla="*/ 90 h 244"/>
                        <a:gd name="T44" fmla="*/ 113 w 262"/>
                        <a:gd name="T45" fmla="*/ 123 h 244"/>
                        <a:gd name="T46" fmla="*/ 117 w 262"/>
                        <a:gd name="T47" fmla="*/ 167 h 244"/>
                        <a:gd name="T48" fmla="*/ 121 w 262"/>
                        <a:gd name="T49" fmla="*/ 212 h 244"/>
                        <a:gd name="T50" fmla="*/ 109 w 262"/>
                        <a:gd name="T51" fmla="*/ 229 h 244"/>
                        <a:gd name="T52" fmla="*/ 87 w 262"/>
                        <a:gd name="T53" fmla="*/ 231 h 244"/>
                        <a:gd name="T54" fmla="*/ 74 w 262"/>
                        <a:gd name="T55" fmla="*/ 199 h 244"/>
                        <a:gd name="T56" fmla="*/ 74 w 262"/>
                        <a:gd name="T57" fmla="*/ 98 h 244"/>
                        <a:gd name="T58" fmla="*/ 57 w 262"/>
                        <a:gd name="T59" fmla="*/ 115 h 244"/>
                        <a:gd name="T60" fmla="*/ 48 w 262"/>
                        <a:gd name="T61" fmla="*/ 145 h 244"/>
                        <a:gd name="T62" fmla="*/ 41 w 262"/>
                        <a:gd name="T63" fmla="*/ 188 h 244"/>
                        <a:gd name="T64" fmla="*/ 29 w 262"/>
                        <a:gd name="T65" fmla="*/ 202 h 244"/>
                        <a:gd name="T66" fmla="*/ 6 w 262"/>
                        <a:gd name="T67" fmla="*/ 199 h 244"/>
                        <a:gd name="T68" fmla="*/ 1 w 262"/>
                        <a:gd name="T69" fmla="*/ 160 h 244"/>
                        <a:gd name="T70" fmla="*/ 14 w 262"/>
                        <a:gd name="T71" fmla="*/ 103 h 244"/>
                        <a:gd name="T72" fmla="*/ 55 w 262"/>
                        <a:gd name="T73" fmla="*/ 25 h 244"/>
                        <a:gd name="T74" fmla="*/ 70 w 262"/>
                        <a:gd name="T75" fmla="*/ 24 h 244"/>
                        <a:gd name="T76" fmla="*/ 91 w 262"/>
                        <a:gd name="T77" fmla="*/ 33 h 24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</a:cxnLst>
                      <a:rect l="0" t="0" r="r" b="b"/>
                      <a:pathLst>
                        <a:path w="262" h="244">
                          <a:moveTo>
                            <a:pt x="91" y="33"/>
                          </a:moveTo>
                          <a:lnTo>
                            <a:pt x="104" y="15"/>
                          </a:lnTo>
                          <a:lnTo>
                            <a:pt x="110" y="10"/>
                          </a:lnTo>
                          <a:lnTo>
                            <a:pt x="118" y="11"/>
                          </a:lnTo>
                          <a:lnTo>
                            <a:pt x="127" y="15"/>
                          </a:lnTo>
                          <a:lnTo>
                            <a:pt x="137" y="17"/>
                          </a:lnTo>
                          <a:lnTo>
                            <a:pt x="159" y="3"/>
                          </a:lnTo>
                          <a:lnTo>
                            <a:pt x="165" y="0"/>
                          </a:lnTo>
                          <a:lnTo>
                            <a:pt x="174" y="1"/>
                          </a:lnTo>
                          <a:lnTo>
                            <a:pt x="179" y="5"/>
                          </a:lnTo>
                          <a:lnTo>
                            <a:pt x="186" y="12"/>
                          </a:lnTo>
                          <a:lnTo>
                            <a:pt x="192" y="24"/>
                          </a:lnTo>
                          <a:lnTo>
                            <a:pt x="201" y="27"/>
                          </a:lnTo>
                          <a:lnTo>
                            <a:pt x="210" y="30"/>
                          </a:lnTo>
                          <a:lnTo>
                            <a:pt x="222" y="32"/>
                          </a:lnTo>
                          <a:lnTo>
                            <a:pt x="229" y="36"/>
                          </a:lnTo>
                          <a:lnTo>
                            <a:pt x="237" y="59"/>
                          </a:lnTo>
                          <a:lnTo>
                            <a:pt x="246" y="83"/>
                          </a:lnTo>
                          <a:lnTo>
                            <a:pt x="262" y="113"/>
                          </a:lnTo>
                          <a:lnTo>
                            <a:pt x="258" y="157"/>
                          </a:lnTo>
                          <a:lnTo>
                            <a:pt x="258" y="173"/>
                          </a:lnTo>
                          <a:lnTo>
                            <a:pt x="245" y="176"/>
                          </a:lnTo>
                          <a:lnTo>
                            <a:pt x="235" y="171"/>
                          </a:lnTo>
                          <a:lnTo>
                            <a:pt x="227" y="161"/>
                          </a:lnTo>
                          <a:lnTo>
                            <a:pt x="223" y="151"/>
                          </a:lnTo>
                          <a:lnTo>
                            <a:pt x="221" y="141"/>
                          </a:lnTo>
                          <a:lnTo>
                            <a:pt x="219" y="126"/>
                          </a:lnTo>
                          <a:lnTo>
                            <a:pt x="204" y="100"/>
                          </a:lnTo>
                          <a:lnTo>
                            <a:pt x="201" y="92"/>
                          </a:lnTo>
                          <a:lnTo>
                            <a:pt x="195" y="73"/>
                          </a:lnTo>
                          <a:lnTo>
                            <a:pt x="186" y="113"/>
                          </a:lnTo>
                          <a:lnTo>
                            <a:pt x="188" y="153"/>
                          </a:lnTo>
                          <a:lnTo>
                            <a:pt x="188" y="213"/>
                          </a:lnTo>
                          <a:lnTo>
                            <a:pt x="189" y="228"/>
                          </a:lnTo>
                          <a:lnTo>
                            <a:pt x="182" y="240"/>
                          </a:lnTo>
                          <a:lnTo>
                            <a:pt x="170" y="244"/>
                          </a:lnTo>
                          <a:lnTo>
                            <a:pt x="159" y="242"/>
                          </a:lnTo>
                          <a:lnTo>
                            <a:pt x="152" y="236"/>
                          </a:lnTo>
                          <a:lnTo>
                            <a:pt x="146" y="224"/>
                          </a:lnTo>
                          <a:lnTo>
                            <a:pt x="141" y="205"/>
                          </a:lnTo>
                          <a:lnTo>
                            <a:pt x="141" y="145"/>
                          </a:lnTo>
                          <a:lnTo>
                            <a:pt x="137" y="105"/>
                          </a:lnTo>
                          <a:lnTo>
                            <a:pt x="139" y="68"/>
                          </a:lnTo>
                          <a:lnTo>
                            <a:pt x="128" y="90"/>
                          </a:lnTo>
                          <a:lnTo>
                            <a:pt x="118" y="108"/>
                          </a:lnTo>
                          <a:lnTo>
                            <a:pt x="113" y="123"/>
                          </a:lnTo>
                          <a:lnTo>
                            <a:pt x="115" y="141"/>
                          </a:lnTo>
                          <a:lnTo>
                            <a:pt x="117" y="167"/>
                          </a:lnTo>
                          <a:lnTo>
                            <a:pt x="121" y="202"/>
                          </a:lnTo>
                          <a:lnTo>
                            <a:pt x="121" y="212"/>
                          </a:lnTo>
                          <a:lnTo>
                            <a:pt x="117" y="220"/>
                          </a:lnTo>
                          <a:lnTo>
                            <a:pt x="109" y="229"/>
                          </a:lnTo>
                          <a:lnTo>
                            <a:pt x="98" y="234"/>
                          </a:lnTo>
                          <a:lnTo>
                            <a:pt x="87" y="231"/>
                          </a:lnTo>
                          <a:lnTo>
                            <a:pt x="81" y="220"/>
                          </a:lnTo>
                          <a:lnTo>
                            <a:pt x="74" y="199"/>
                          </a:lnTo>
                          <a:lnTo>
                            <a:pt x="69" y="126"/>
                          </a:lnTo>
                          <a:lnTo>
                            <a:pt x="74" y="98"/>
                          </a:lnTo>
                          <a:lnTo>
                            <a:pt x="63" y="106"/>
                          </a:lnTo>
                          <a:lnTo>
                            <a:pt x="57" y="115"/>
                          </a:lnTo>
                          <a:lnTo>
                            <a:pt x="51" y="131"/>
                          </a:lnTo>
                          <a:lnTo>
                            <a:pt x="48" y="145"/>
                          </a:lnTo>
                          <a:lnTo>
                            <a:pt x="44" y="163"/>
                          </a:lnTo>
                          <a:lnTo>
                            <a:pt x="41" y="188"/>
                          </a:lnTo>
                          <a:lnTo>
                            <a:pt x="37" y="197"/>
                          </a:lnTo>
                          <a:lnTo>
                            <a:pt x="29" y="202"/>
                          </a:lnTo>
                          <a:lnTo>
                            <a:pt x="17" y="203"/>
                          </a:lnTo>
                          <a:lnTo>
                            <a:pt x="6" y="199"/>
                          </a:lnTo>
                          <a:lnTo>
                            <a:pt x="0" y="192"/>
                          </a:lnTo>
                          <a:lnTo>
                            <a:pt x="1" y="160"/>
                          </a:lnTo>
                          <a:lnTo>
                            <a:pt x="8" y="127"/>
                          </a:lnTo>
                          <a:lnTo>
                            <a:pt x="14" y="103"/>
                          </a:lnTo>
                          <a:lnTo>
                            <a:pt x="30" y="67"/>
                          </a:lnTo>
                          <a:lnTo>
                            <a:pt x="55" y="25"/>
                          </a:lnTo>
                          <a:lnTo>
                            <a:pt x="62" y="24"/>
                          </a:lnTo>
                          <a:lnTo>
                            <a:pt x="70" y="24"/>
                          </a:lnTo>
                          <a:lnTo>
                            <a:pt x="80" y="27"/>
                          </a:lnTo>
                          <a:lnTo>
                            <a:pt x="91" y="33"/>
                          </a:lnTo>
                          <a:close/>
                        </a:path>
                      </a:pathLst>
                    </a:custGeom>
                    <a:solidFill>
                      <a:srgbClr val="FF9F7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59" name="Freeform 401"/>
                    <p:cNvSpPr/>
                    <p:nvPr/>
                  </p:nvSpPr>
                  <p:spPr bwMode="auto">
                    <a:xfrm>
                      <a:off x="5054" y="2525"/>
                      <a:ext cx="10" cy="14"/>
                    </a:xfrm>
                    <a:custGeom>
                      <a:avLst/>
                      <a:gdLst>
                        <a:gd name="T0" fmla="*/ 0 w 61"/>
                        <a:gd name="T1" fmla="*/ 29 h 73"/>
                        <a:gd name="T2" fmla="*/ 5 w 61"/>
                        <a:gd name="T3" fmla="*/ 20 h 73"/>
                        <a:gd name="T4" fmla="*/ 15 w 61"/>
                        <a:gd name="T5" fmla="*/ 5 h 73"/>
                        <a:gd name="T6" fmla="*/ 25 w 61"/>
                        <a:gd name="T7" fmla="*/ 0 h 73"/>
                        <a:gd name="T8" fmla="*/ 38 w 61"/>
                        <a:gd name="T9" fmla="*/ 2 h 73"/>
                        <a:gd name="T10" fmla="*/ 47 w 61"/>
                        <a:gd name="T11" fmla="*/ 6 h 73"/>
                        <a:gd name="T12" fmla="*/ 59 w 61"/>
                        <a:gd name="T13" fmla="*/ 15 h 73"/>
                        <a:gd name="T14" fmla="*/ 61 w 61"/>
                        <a:gd name="T15" fmla="*/ 24 h 73"/>
                        <a:gd name="T16" fmla="*/ 61 w 61"/>
                        <a:gd name="T17" fmla="*/ 37 h 73"/>
                        <a:gd name="T18" fmla="*/ 59 w 61"/>
                        <a:gd name="T19" fmla="*/ 46 h 73"/>
                        <a:gd name="T20" fmla="*/ 55 w 61"/>
                        <a:gd name="T21" fmla="*/ 56 h 73"/>
                        <a:gd name="T22" fmla="*/ 42 w 61"/>
                        <a:gd name="T23" fmla="*/ 62 h 73"/>
                        <a:gd name="T24" fmla="*/ 18 w 61"/>
                        <a:gd name="T25" fmla="*/ 73 h 73"/>
                        <a:gd name="T26" fmla="*/ 0 w 61"/>
                        <a:gd name="T27" fmla="*/ 29 h 7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</a:cxnLst>
                      <a:rect l="0" t="0" r="r" b="b"/>
                      <a:pathLst>
                        <a:path w="61" h="73">
                          <a:moveTo>
                            <a:pt x="0" y="29"/>
                          </a:moveTo>
                          <a:lnTo>
                            <a:pt x="5" y="20"/>
                          </a:lnTo>
                          <a:lnTo>
                            <a:pt x="15" y="5"/>
                          </a:lnTo>
                          <a:lnTo>
                            <a:pt x="25" y="0"/>
                          </a:lnTo>
                          <a:lnTo>
                            <a:pt x="38" y="2"/>
                          </a:lnTo>
                          <a:lnTo>
                            <a:pt x="47" y="6"/>
                          </a:lnTo>
                          <a:lnTo>
                            <a:pt x="59" y="15"/>
                          </a:lnTo>
                          <a:lnTo>
                            <a:pt x="61" y="24"/>
                          </a:lnTo>
                          <a:lnTo>
                            <a:pt x="61" y="37"/>
                          </a:lnTo>
                          <a:lnTo>
                            <a:pt x="59" y="46"/>
                          </a:lnTo>
                          <a:lnTo>
                            <a:pt x="55" y="56"/>
                          </a:lnTo>
                          <a:lnTo>
                            <a:pt x="42" y="62"/>
                          </a:lnTo>
                          <a:lnTo>
                            <a:pt x="18" y="73"/>
                          </a:lnTo>
                          <a:lnTo>
                            <a:pt x="0" y="29"/>
                          </a:lnTo>
                          <a:close/>
                        </a:path>
                      </a:pathLst>
                    </a:custGeom>
                    <a:solidFill>
                      <a:srgbClr val="FF9F7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255" name="Group 402"/>
                  <p:cNvGrpSpPr/>
                  <p:nvPr/>
                </p:nvGrpSpPr>
                <p:grpSpPr bwMode="auto">
                  <a:xfrm>
                    <a:off x="5016" y="2519"/>
                    <a:ext cx="48" cy="48"/>
                    <a:chOff x="5016" y="2519"/>
                    <a:chExt cx="48" cy="48"/>
                  </a:xfrm>
                </p:grpSpPr>
                <p:sp>
                  <p:nvSpPr>
                    <p:cNvPr id="256" name="Freeform 403"/>
                    <p:cNvSpPr/>
                    <p:nvPr/>
                  </p:nvSpPr>
                  <p:spPr bwMode="auto">
                    <a:xfrm>
                      <a:off x="5016" y="2519"/>
                      <a:ext cx="43" cy="48"/>
                    </a:xfrm>
                    <a:custGeom>
                      <a:avLst/>
                      <a:gdLst>
                        <a:gd name="T0" fmla="*/ 103 w 261"/>
                        <a:gd name="T1" fmla="*/ 15 h 244"/>
                        <a:gd name="T2" fmla="*/ 118 w 261"/>
                        <a:gd name="T3" fmla="*/ 12 h 244"/>
                        <a:gd name="T4" fmla="*/ 137 w 261"/>
                        <a:gd name="T5" fmla="*/ 18 h 244"/>
                        <a:gd name="T6" fmla="*/ 164 w 261"/>
                        <a:gd name="T7" fmla="*/ 0 h 244"/>
                        <a:gd name="T8" fmla="*/ 179 w 261"/>
                        <a:gd name="T9" fmla="*/ 5 h 244"/>
                        <a:gd name="T10" fmla="*/ 192 w 261"/>
                        <a:gd name="T11" fmla="*/ 24 h 244"/>
                        <a:gd name="T12" fmla="*/ 210 w 261"/>
                        <a:gd name="T13" fmla="*/ 30 h 244"/>
                        <a:gd name="T14" fmla="*/ 229 w 261"/>
                        <a:gd name="T15" fmla="*/ 36 h 244"/>
                        <a:gd name="T16" fmla="*/ 246 w 261"/>
                        <a:gd name="T17" fmla="*/ 83 h 244"/>
                        <a:gd name="T18" fmla="*/ 258 w 261"/>
                        <a:gd name="T19" fmla="*/ 157 h 244"/>
                        <a:gd name="T20" fmla="*/ 245 w 261"/>
                        <a:gd name="T21" fmla="*/ 176 h 244"/>
                        <a:gd name="T22" fmla="*/ 227 w 261"/>
                        <a:gd name="T23" fmla="*/ 161 h 244"/>
                        <a:gd name="T24" fmla="*/ 221 w 261"/>
                        <a:gd name="T25" fmla="*/ 141 h 244"/>
                        <a:gd name="T26" fmla="*/ 204 w 261"/>
                        <a:gd name="T27" fmla="*/ 101 h 244"/>
                        <a:gd name="T28" fmla="*/ 194 w 261"/>
                        <a:gd name="T29" fmla="*/ 73 h 244"/>
                        <a:gd name="T30" fmla="*/ 187 w 261"/>
                        <a:gd name="T31" fmla="*/ 154 h 244"/>
                        <a:gd name="T32" fmla="*/ 188 w 261"/>
                        <a:gd name="T33" fmla="*/ 228 h 244"/>
                        <a:gd name="T34" fmla="*/ 169 w 261"/>
                        <a:gd name="T35" fmla="*/ 244 h 244"/>
                        <a:gd name="T36" fmla="*/ 151 w 261"/>
                        <a:gd name="T37" fmla="*/ 237 h 244"/>
                        <a:gd name="T38" fmla="*/ 141 w 261"/>
                        <a:gd name="T39" fmla="*/ 206 h 244"/>
                        <a:gd name="T40" fmla="*/ 137 w 261"/>
                        <a:gd name="T41" fmla="*/ 105 h 244"/>
                        <a:gd name="T42" fmla="*/ 127 w 261"/>
                        <a:gd name="T43" fmla="*/ 91 h 244"/>
                        <a:gd name="T44" fmla="*/ 113 w 261"/>
                        <a:gd name="T45" fmla="*/ 123 h 244"/>
                        <a:gd name="T46" fmla="*/ 117 w 261"/>
                        <a:gd name="T47" fmla="*/ 167 h 244"/>
                        <a:gd name="T48" fmla="*/ 120 w 261"/>
                        <a:gd name="T49" fmla="*/ 212 h 244"/>
                        <a:gd name="T50" fmla="*/ 108 w 261"/>
                        <a:gd name="T51" fmla="*/ 229 h 244"/>
                        <a:gd name="T52" fmla="*/ 87 w 261"/>
                        <a:gd name="T53" fmla="*/ 232 h 244"/>
                        <a:gd name="T54" fmla="*/ 74 w 261"/>
                        <a:gd name="T55" fmla="*/ 199 h 244"/>
                        <a:gd name="T56" fmla="*/ 74 w 261"/>
                        <a:gd name="T57" fmla="*/ 98 h 244"/>
                        <a:gd name="T58" fmla="*/ 57 w 261"/>
                        <a:gd name="T59" fmla="*/ 115 h 244"/>
                        <a:gd name="T60" fmla="*/ 47 w 261"/>
                        <a:gd name="T61" fmla="*/ 145 h 244"/>
                        <a:gd name="T62" fmla="*/ 40 w 261"/>
                        <a:gd name="T63" fmla="*/ 188 h 244"/>
                        <a:gd name="T64" fmla="*/ 28 w 261"/>
                        <a:gd name="T65" fmla="*/ 202 h 244"/>
                        <a:gd name="T66" fmla="*/ 6 w 261"/>
                        <a:gd name="T67" fmla="*/ 199 h 244"/>
                        <a:gd name="T68" fmla="*/ 1 w 261"/>
                        <a:gd name="T69" fmla="*/ 160 h 244"/>
                        <a:gd name="T70" fmla="*/ 14 w 261"/>
                        <a:gd name="T71" fmla="*/ 103 h 244"/>
                        <a:gd name="T72" fmla="*/ 55 w 261"/>
                        <a:gd name="T73" fmla="*/ 25 h 244"/>
                        <a:gd name="T74" fmla="*/ 70 w 261"/>
                        <a:gd name="T75" fmla="*/ 24 h 244"/>
                        <a:gd name="T76" fmla="*/ 90 w 261"/>
                        <a:gd name="T77" fmla="*/ 34 h 24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</a:cxnLst>
                      <a:rect l="0" t="0" r="r" b="b"/>
                      <a:pathLst>
                        <a:path w="261" h="244">
                          <a:moveTo>
                            <a:pt x="90" y="34"/>
                          </a:moveTo>
                          <a:lnTo>
                            <a:pt x="103" y="15"/>
                          </a:lnTo>
                          <a:lnTo>
                            <a:pt x="109" y="10"/>
                          </a:lnTo>
                          <a:lnTo>
                            <a:pt x="118" y="12"/>
                          </a:lnTo>
                          <a:lnTo>
                            <a:pt x="126" y="15"/>
                          </a:lnTo>
                          <a:lnTo>
                            <a:pt x="137" y="18"/>
                          </a:lnTo>
                          <a:lnTo>
                            <a:pt x="158" y="3"/>
                          </a:lnTo>
                          <a:lnTo>
                            <a:pt x="164" y="0"/>
                          </a:lnTo>
                          <a:lnTo>
                            <a:pt x="174" y="2"/>
                          </a:lnTo>
                          <a:lnTo>
                            <a:pt x="179" y="5"/>
                          </a:lnTo>
                          <a:lnTo>
                            <a:pt x="186" y="13"/>
                          </a:lnTo>
                          <a:lnTo>
                            <a:pt x="192" y="24"/>
                          </a:lnTo>
                          <a:lnTo>
                            <a:pt x="200" y="28"/>
                          </a:lnTo>
                          <a:lnTo>
                            <a:pt x="210" y="30"/>
                          </a:lnTo>
                          <a:lnTo>
                            <a:pt x="222" y="33"/>
                          </a:lnTo>
                          <a:lnTo>
                            <a:pt x="229" y="36"/>
                          </a:lnTo>
                          <a:lnTo>
                            <a:pt x="236" y="60"/>
                          </a:lnTo>
                          <a:lnTo>
                            <a:pt x="246" y="83"/>
                          </a:lnTo>
                          <a:lnTo>
                            <a:pt x="261" y="113"/>
                          </a:lnTo>
                          <a:lnTo>
                            <a:pt x="258" y="157"/>
                          </a:lnTo>
                          <a:lnTo>
                            <a:pt x="258" y="173"/>
                          </a:lnTo>
                          <a:lnTo>
                            <a:pt x="245" y="176"/>
                          </a:lnTo>
                          <a:lnTo>
                            <a:pt x="235" y="171"/>
                          </a:lnTo>
                          <a:lnTo>
                            <a:pt x="227" y="161"/>
                          </a:lnTo>
                          <a:lnTo>
                            <a:pt x="223" y="151"/>
                          </a:lnTo>
                          <a:lnTo>
                            <a:pt x="221" y="141"/>
                          </a:lnTo>
                          <a:lnTo>
                            <a:pt x="218" y="127"/>
                          </a:lnTo>
                          <a:lnTo>
                            <a:pt x="204" y="101"/>
                          </a:lnTo>
                          <a:lnTo>
                            <a:pt x="200" y="92"/>
                          </a:lnTo>
                          <a:lnTo>
                            <a:pt x="194" y="73"/>
                          </a:lnTo>
                          <a:lnTo>
                            <a:pt x="186" y="113"/>
                          </a:lnTo>
                          <a:lnTo>
                            <a:pt x="187" y="154"/>
                          </a:lnTo>
                          <a:lnTo>
                            <a:pt x="187" y="213"/>
                          </a:lnTo>
                          <a:lnTo>
                            <a:pt x="188" y="228"/>
                          </a:lnTo>
                          <a:lnTo>
                            <a:pt x="181" y="240"/>
                          </a:lnTo>
                          <a:lnTo>
                            <a:pt x="169" y="244"/>
                          </a:lnTo>
                          <a:lnTo>
                            <a:pt x="158" y="243"/>
                          </a:lnTo>
                          <a:lnTo>
                            <a:pt x="151" y="237"/>
                          </a:lnTo>
                          <a:lnTo>
                            <a:pt x="145" y="224"/>
                          </a:lnTo>
                          <a:lnTo>
                            <a:pt x="141" y="206"/>
                          </a:lnTo>
                          <a:lnTo>
                            <a:pt x="141" y="145"/>
                          </a:lnTo>
                          <a:lnTo>
                            <a:pt x="137" y="105"/>
                          </a:lnTo>
                          <a:lnTo>
                            <a:pt x="138" y="68"/>
                          </a:lnTo>
                          <a:lnTo>
                            <a:pt x="127" y="91"/>
                          </a:lnTo>
                          <a:lnTo>
                            <a:pt x="118" y="108"/>
                          </a:lnTo>
                          <a:lnTo>
                            <a:pt x="113" y="123"/>
                          </a:lnTo>
                          <a:lnTo>
                            <a:pt x="114" y="141"/>
                          </a:lnTo>
                          <a:lnTo>
                            <a:pt x="117" y="167"/>
                          </a:lnTo>
                          <a:lnTo>
                            <a:pt x="120" y="202"/>
                          </a:lnTo>
                          <a:lnTo>
                            <a:pt x="120" y="212"/>
                          </a:lnTo>
                          <a:lnTo>
                            <a:pt x="117" y="220"/>
                          </a:lnTo>
                          <a:lnTo>
                            <a:pt x="108" y="229"/>
                          </a:lnTo>
                          <a:lnTo>
                            <a:pt x="98" y="234"/>
                          </a:lnTo>
                          <a:lnTo>
                            <a:pt x="87" y="232"/>
                          </a:lnTo>
                          <a:lnTo>
                            <a:pt x="81" y="220"/>
                          </a:lnTo>
                          <a:lnTo>
                            <a:pt x="74" y="199"/>
                          </a:lnTo>
                          <a:lnTo>
                            <a:pt x="69" y="127"/>
                          </a:lnTo>
                          <a:lnTo>
                            <a:pt x="74" y="98"/>
                          </a:lnTo>
                          <a:lnTo>
                            <a:pt x="63" y="107"/>
                          </a:lnTo>
                          <a:lnTo>
                            <a:pt x="57" y="115"/>
                          </a:lnTo>
                          <a:lnTo>
                            <a:pt x="51" y="131"/>
                          </a:lnTo>
                          <a:lnTo>
                            <a:pt x="47" y="145"/>
                          </a:lnTo>
                          <a:lnTo>
                            <a:pt x="44" y="164"/>
                          </a:lnTo>
                          <a:lnTo>
                            <a:pt x="40" y="188"/>
                          </a:lnTo>
                          <a:lnTo>
                            <a:pt x="37" y="197"/>
                          </a:lnTo>
                          <a:lnTo>
                            <a:pt x="28" y="202"/>
                          </a:lnTo>
                          <a:lnTo>
                            <a:pt x="16" y="203"/>
                          </a:lnTo>
                          <a:lnTo>
                            <a:pt x="6" y="199"/>
                          </a:lnTo>
                          <a:lnTo>
                            <a:pt x="0" y="192"/>
                          </a:lnTo>
                          <a:lnTo>
                            <a:pt x="1" y="160"/>
                          </a:lnTo>
                          <a:lnTo>
                            <a:pt x="8" y="128"/>
                          </a:lnTo>
                          <a:lnTo>
                            <a:pt x="14" y="103"/>
                          </a:lnTo>
                          <a:lnTo>
                            <a:pt x="29" y="67"/>
                          </a:lnTo>
                          <a:lnTo>
                            <a:pt x="55" y="25"/>
                          </a:lnTo>
                          <a:lnTo>
                            <a:pt x="62" y="24"/>
                          </a:lnTo>
                          <a:lnTo>
                            <a:pt x="70" y="24"/>
                          </a:lnTo>
                          <a:lnTo>
                            <a:pt x="80" y="28"/>
                          </a:lnTo>
                          <a:lnTo>
                            <a:pt x="90" y="34"/>
                          </a:lnTo>
                          <a:close/>
                        </a:path>
                      </a:pathLst>
                    </a:custGeom>
                    <a:solidFill>
                      <a:srgbClr val="FF9F7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57" name="Freeform 404"/>
                    <p:cNvSpPr/>
                    <p:nvPr/>
                  </p:nvSpPr>
                  <p:spPr bwMode="auto">
                    <a:xfrm>
                      <a:off x="5054" y="2524"/>
                      <a:ext cx="10" cy="15"/>
                    </a:xfrm>
                    <a:custGeom>
                      <a:avLst/>
                      <a:gdLst>
                        <a:gd name="T0" fmla="*/ 0 w 61"/>
                        <a:gd name="T1" fmla="*/ 28 h 73"/>
                        <a:gd name="T2" fmla="*/ 5 w 61"/>
                        <a:gd name="T3" fmla="*/ 19 h 73"/>
                        <a:gd name="T4" fmla="*/ 14 w 61"/>
                        <a:gd name="T5" fmla="*/ 5 h 73"/>
                        <a:gd name="T6" fmla="*/ 25 w 61"/>
                        <a:gd name="T7" fmla="*/ 0 h 73"/>
                        <a:gd name="T8" fmla="*/ 38 w 61"/>
                        <a:gd name="T9" fmla="*/ 1 h 73"/>
                        <a:gd name="T10" fmla="*/ 46 w 61"/>
                        <a:gd name="T11" fmla="*/ 6 h 73"/>
                        <a:gd name="T12" fmla="*/ 58 w 61"/>
                        <a:gd name="T13" fmla="*/ 14 h 73"/>
                        <a:gd name="T14" fmla="*/ 61 w 61"/>
                        <a:gd name="T15" fmla="*/ 23 h 73"/>
                        <a:gd name="T16" fmla="*/ 61 w 61"/>
                        <a:gd name="T17" fmla="*/ 37 h 73"/>
                        <a:gd name="T18" fmla="*/ 58 w 61"/>
                        <a:gd name="T19" fmla="*/ 45 h 73"/>
                        <a:gd name="T20" fmla="*/ 55 w 61"/>
                        <a:gd name="T21" fmla="*/ 55 h 73"/>
                        <a:gd name="T22" fmla="*/ 42 w 61"/>
                        <a:gd name="T23" fmla="*/ 61 h 73"/>
                        <a:gd name="T24" fmla="*/ 18 w 61"/>
                        <a:gd name="T25" fmla="*/ 73 h 73"/>
                        <a:gd name="T26" fmla="*/ 0 w 61"/>
                        <a:gd name="T27" fmla="*/ 28 h 7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</a:cxnLst>
                      <a:rect l="0" t="0" r="r" b="b"/>
                      <a:pathLst>
                        <a:path w="61" h="73">
                          <a:moveTo>
                            <a:pt x="0" y="28"/>
                          </a:moveTo>
                          <a:lnTo>
                            <a:pt x="5" y="19"/>
                          </a:lnTo>
                          <a:lnTo>
                            <a:pt x="14" y="5"/>
                          </a:lnTo>
                          <a:lnTo>
                            <a:pt x="25" y="0"/>
                          </a:lnTo>
                          <a:lnTo>
                            <a:pt x="38" y="1"/>
                          </a:lnTo>
                          <a:lnTo>
                            <a:pt x="46" y="6"/>
                          </a:lnTo>
                          <a:lnTo>
                            <a:pt x="58" y="14"/>
                          </a:lnTo>
                          <a:lnTo>
                            <a:pt x="61" y="23"/>
                          </a:lnTo>
                          <a:lnTo>
                            <a:pt x="61" y="37"/>
                          </a:lnTo>
                          <a:lnTo>
                            <a:pt x="58" y="45"/>
                          </a:lnTo>
                          <a:lnTo>
                            <a:pt x="55" y="55"/>
                          </a:lnTo>
                          <a:lnTo>
                            <a:pt x="42" y="61"/>
                          </a:lnTo>
                          <a:lnTo>
                            <a:pt x="18" y="73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9F7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</p:grpSp>
        </p:grpSp>
        <p:grpSp>
          <p:nvGrpSpPr>
            <p:cNvPr id="25" name="Group 405"/>
            <p:cNvGrpSpPr/>
            <p:nvPr/>
          </p:nvGrpSpPr>
          <p:grpSpPr bwMode="auto">
            <a:xfrm>
              <a:off x="1632" y="2256"/>
              <a:ext cx="660" cy="356"/>
              <a:chOff x="546" y="2289"/>
              <a:chExt cx="708" cy="452"/>
            </a:xfrm>
          </p:grpSpPr>
          <p:grpSp>
            <p:nvGrpSpPr>
              <p:cNvPr id="145" name="Group 406"/>
              <p:cNvGrpSpPr/>
              <p:nvPr/>
            </p:nvGrpSpPr>
            <p:grpSpPr bwMode="auto">
              <a:xfrm>
                <a:off x="1071" y="2289"/>
                <a:ext cx="76" cy="358"/>
                <a:chOff x="1071" y="2289"/>
                <a:chExt cx="76" cy="358"/>
              </a:xfrm>
            </p:grpSpPr>
            <p:sp>
              <p:nvSpPr>
                <p:cNvPr id="245" name="Freeform 407"/>
                <p:cNvSpPr/>
                <p:nvPr/>
              </p:nvSpPr>
              <p:spPr bwMode="auto">
                <a:xfrm>
                  <a:off x="1071" y="2289"/>
                  <a:ext cx="27" cy="358"/>
                </a:xfrm>
                <a:custGeom>
                  <a:avLst/>
                  <a:gdLst>
                    <a:gd name="T0" fmla="*/ 42 w 161"/>
                    <a:gd name="T1" fmla="*/ 0 h 1791"/>
                    <a:gd name="T2" fmla="*/ 42 w 161"/>
                    <a:gd name="T3" fmla="*/ 284 h 1791"/>
                    <a:gd name="T4" fmla="*/ 29 w 161"/>
                    <a:gd name="T5" fmla="*/ 284 h 1791"/>
                    <a:gd name="T6" fmla="*/ 29 w 161"/>
                    <a:gd name="T7" fmla="*/ 569 h 1791"/>
                    <a:gd name="T8" fmla="*/ 17 w 161"/>
                    <a:gd name="T9" fmla="*/ 569 h 1791"/>
                    <a:gd name="T10" fmla="*/ 17 w 161"/>
                    <a:gd name="T11" fmla="*/ 836 h 1791"/>
                    <a:gd name="T12" fmla="*/ 8 w 161"/>
                    <a:gd name="T13" fmla="*/ 836 h 1791"/>
                    <a:gd name="T14" fmla="*/ 8 w 161"/>
                    <a:gd name="T15" fmla="*/ 1195 h 1791"/>
                    <a:gd name="T16" fmla="*/ 0 w 161"/>
                    <a:gd name="T17" fmla="*/ 1195 h 1791"/>
                    <a:gd name="T18" fmla="*/ 0 w 161"/>
                    <a:gd name="T19" fmla="*/ 1791 h 1791"/>
                    <a:gd name="T20" fmla="*/ 88 w 161"/>
                    <a:gd name="T21" fmla="*/ 1791 h 1791"/>
                    <a:gd name="T22" fmla="*/ 161 w 161"/>
                    <a:gd name="T23" fmla="*/ 1190 h 1791"/>
                    <a:gd name="T24" fmla="*/ 161 w 161"/>
                    <a:gd name="T25" fmla="*/ 835 h 1791"/>
                    <a:gd name="T26" fmla="*/ 153 w 161"/>
                    <a:gd name="T27" fmla="*/ 835 h 1791"/>
                    <a:gd name="T28" fmla="*/ 153 w 161"/>
                    <a:gd name="T29" fmla="*/ 569 h 1791"/>
                    <a:gd name="T30" fmla="*/ 143 w 161"/>
                    <a:gd name="T31" fmla="*/ 569 h 1791"/>
                    <a:gd name="T32" fmla="*/ 143 w 161"/>
                    <a:gd name="T33" fmla="*/ 284 h 1791"/>
                    <a:gd name="T34" fmla="*/ 130 w 161"/>
                    <a:gd name="T35" fmla="*/ 284 h 1791"/>
                    <a:gd name="T36" fmla="*/ 130 w 161"/>
                    <a:gd name="T37" fmla="*/ 0 h 1791"/>
                    <a:gd name="T38" fmla="*/ 42 w 161"/>
                    <a:gd name="T39" fmla="*/ 0 h 17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61" h="1791">
                      <a:moveTo>
                        <a:pt x="42" y="0"/>
                      </a:moveTo>
                      <a:lnTo>
                        <a:pt x="42" y="284"/>
                      </a:lnTo>
                      <a:lnTo>
                        <a:pt x="29" y="284"/>
                      </a:lnTo>
                      <a:lnTo>
                        <a:pt x="29" y="569"/>
                      </a:lnTo>
                      <a:lnTo>
                        <a:pt x="17" y="569"/>
                      </a:lnTo>
                      <a:lnTo>
                        <a:pt x="17" y="836"/>
                      </a:lnTo>
                      <a:lnTo>
                        <a:pt x="8" y="836"/>
                      </a:lnTo>
                      <a:lnTo>
                        <a:pt x="8" y="1195"/>
                      </a:lnTo>
                      <a:lnTo>
                        <a:pt x="0" y="1195"/>
                      </a:lnTo>
                      <a:lnTo>
                        <a:pt x="0" y="1791"/>
                      </a:lnTo>
                      <a:lnTo>
                        <a:pt x="88" y="1791"/>
                      </a:lnTo>
                      <a:lnTo>
                        <a:pt x="161" y="1190"/>
                      </a:lnTo>
                      <a:lnTo>
                        <a:pt x="161" y="835"/>
                      </a:lnTo>
                      <a:lnTo>
                        <a:pt x="153" y="835"/>
                      </a:lnTo>
                      <a:lnTo>
                        <a:pt x="153" y="569"/>
                      </a:lnTo>
                      <a:lnTo>
                        <a:pt x="143" y="569"/>
                      </a:lnTo>
                      <a:lnTo>
                        <a:pt x="143" y="284"/>
                      </a:lnTo>
                      <a:lnTo>
                        <a:pt x="130" y="284"/>
                      </a:lnTo>
                      <a:lnTo>
                        <a:pt x="130" y="0"/>
                      </a:lnTo>
                      <a:lnTo>
                        <a:pt x="4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w="3175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 sz="3655"/>
                </a:p>
              </p:txBody>
            </p:sp>
            <p:sp>
              <p:nvSpPr>
                <p:cNvPr id="246" name="Freeform 408"/>
                <p:cNvSpPr/>
                <p:nvPr/>
              </p:nvSpPr>
              <p:spPr bwMode="auto">
                <a:xfrm>
                  <a:off x="1119" y="2289"/>
                  <a:ext cx="28" cy="358"/>
                </a:xfrm>
                <a:custGeom>
                  <a:avLst/>
                  <a:gdLst>
                    <a:gd name="T0" fmla="*/ 41 w 169"/>
                    <a:gd name="T1" fmla="*/ 0 h 1791"/>
                    <a:gd name="T2" fmla="*/ 41 w 169"/>
                    <a:gd name="T3" fmla="*/ 284 h 1791"/>
                    <a:gd name="T4" fmla="*/ 28 w 169"/>
                    <a:gd name="T5" fmla="*/ 284 h 1791"/>
                    <a:gd name="T6" fmla="*/ 28 w 169"/>
                    <a:gd name="T7" fmla="*/ 569 h 1791"/>
                    <a:gd name="T8" fmla="*/ 16 w 169"/>
                    <a:gd name="T9" fmla="*/ 569 h 1791"/>
                    <a:gd name="T10" fmla="*/ 16 w 169"/>
                    <a:gd name="T11" fmla="*/ 836 h 1791"/>
                    <a:gd name="T12" fmla="*/ 8 w 169"/>
                    <a:gd name="T13" fmla="*/ 836 h 1791"/>
                    <a:gd name="T14" fmla="*/ 8 w 169"/>
                    <a:gd name="T15" fmla="*/ 1195 h 1791"/>
                    <a:gd name="T16" fmla="*/ 0 w 169"/>
                    <a:gd name="T17" fmla="*/ 1195 h 1791"/>
                    <a:gd name="T18" fmla="*/ 0 w 169"/>
                    <a:gd name="T19" fmla="*/ 1791 h 1791"/>
                    <a:gd name="T20" fmla="*/ 169 w 169"/>
                    <a:gd name="T21" fmla="*/ 1791 h 1791"/>
                    <a:gd name="T22" fmla="*/ 169 w 169"/>
                    <a:gd name="T23" fmla="*/ 1193 h 1791"/>
                    <a:gd name="T24" fmla="*/ 161 w 169"/>
                    <a:gd name="T25" fmla="*/ 1193 h 1791"/>
                    <a:gd name="T26" fmla="*/ 160 w 169"/>
                    <a:gd name="T27" fmla="*/ 835 h 1791"/>
                    <a:gd name="T28" fmla="*/ 151 w 169"/>
                    <a:gd name="T29" fmla="*/ 835 h 1791"/>
                    <a:gd name="T30" fmla="*/ 151 w 169"/>
                    <a:gd name="T31" fmla="*/ 569 h 1791"/>
                    <a:gd name="T32" fmla="*/ 140 w 169"/>
                    <a:gd name="T33" fmla="*/ 569 h 1791"/>
                    <a:gd name="T34" fmla="*/ 140 w 169"/>
                    <a:gd name="T35" fmla="*/ 284 h 1791"/>
                    <a:gd name="T36" fmla="*/ 128 w 169"/>
                    <a:gd name="T37" fmla="*/ 284 h 1791"/>
                    <a:gd name="T38" fmla="*/ 128 w 169"/>
                    <a:gd name="T39" fmla="*/ 0 h 1791"/>
                    <a:gd name="T40" fmla="*/ 41 w 169"/>
                    <a:gd name="T41" fmla="*/ 0 h 17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69" h="1791">
                      <a:moveTo>
                        <a:pt x="41" y="0"/>
                      </a:moveTo>
                      <a:lnTo>
                        <a:pt x="41" y="284"/>
                      </a:lnTo>
                      <a:lnTo>
                        <a:pt x="28" y="284"/>
                      </a:lnTo>
                      <a:lnTo>
                        <a:pt x="28" y="569"/>
                      </a:lnTo>
                      <a:lnTo>
                        <a:pt x="16" y="569"/>
                      </a:lnTo>
                      <a:lnTo>
                        <a:pt x="16" y="836"/>
                      </a:lnTo>
                      <a:lnTo>
                        <a:pt x="8" y="836"/>
                      </a:lnTo>
                      <a:lnTo>
                        <a:pt x="8" y="1195"/>
                      </a:lnTo>
                      <a:lnTo>
                        <a:pt x="0" y="1195"/>
                      </a:lnTo>
                      <a:lnTo>
                        <a:pt x="0" y="1791"/>
                      </a:lnTo>
                      <a:lnTo>
                        <a:pt x="169" y="1791"/>
                      </a:lnTo>
                      <a:lnTo>
                        <a:pt x="169" y="1193"/>
                      </a:lnTo>
                      <a:lnTo>
                        <a:pt x="161" y="1193"/>
                      </a:lnTo>
                      <a:lnTo>
                        <a:pt x="160" y="835"/>
                      </a:lnTo>
                      <a:lnTo>
                        <a:pt x="151" y="835"/>
                      </a:lnTo>
                      <a:lnTo>
                        <a:pt x="151" y="569"/>
                      </a:lnTo>
                      <a:lnTo>
                        <a:pt x="140" y="569"/>
                      </a:lnTo>
                      <a:lnTo>
                        <a:pt x="140" y="284"/>
                      </a:lnTo>
                      <a:lnTo>
                        <a:pt x="128" y="284"/>
                      </a:lnTo>
                      <a:lnTo>
                        <a:pt x="128" y="0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w="3175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 sz="3655"/>
                </a:p>
              </p:txBody>
            </p:sp>
          </p:grpSp>
          <p:grpSp>
            <p:nvGrpSpPr>
              <p:cNvPr id="146" name="Group 409"/>
              <p:cNvGrpSpPr/>
              <p:nvPr/>
            </p:nvGrpSpPr>
            <p:grpSpPr bwMode="auto">
              <a:xfrm>
                <a:off x="1130" y="2574"/>
                <a:ext cx="124" cy="153"/>
                <a:chOff x="1130" y="2574"/>
                <a:chExt cx="124" cy="153"/>
              </a:xfrm>
            </p:grpSpPr>
            <p:grpSp>
              <p:nvGrpSpPr>
                <p:cNvPr id="234" name="Group 410"/>
                <p:cNvGrpSpPr/>
                <p:nvPr/>
              </p:nvGrpSpPr>
              <p:grpSpPr bwMode="auto">
                <a:xfrm>
                  <a:off x="1130" y="2574"/>
                  <a:ext cx="124" cy="153"/>
                  <a:chOff x="1130" y="2574"/>
                  <a:chExt cx="124" cy="153"/>
                </a:xfrm>
              </p:grpSpPr>
              <p:grpSp>
                <p:nvGrpSpPr>
                  <p:cNvPr id="239" name="Group 411"/>
                  <p:cNvGrpSpPr/>
                  <p:nvPr/>
                </p:nvGrpSpPr>
                <p:grpSpPr bwMode="auto">
                  <a:xfrm>
                    <a:off x="1161" y="2574"/>
                    <a:ext cx="35" cy="74"/>
                    <a:chOff x="1161" y="2574"/>
                    <a:chExt cx="35" cy="74"/>
                  </a:xfrm>
                </p:grpSpPr>
                <p:sp>
                  <p:nvSpPr>
                    <p:cNvPr id="243" name="Rectangle 41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68" y="2574"/>
                      <a:ext cx="21" cy="16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44" name="Rectangle 4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61" y="2586"/>
                      <a:ext cx="35" cy="62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240" name="Group 414"/>
                  <p:cNvGrpSpPr/>
                  <p:nvPr/>
                </p:nvGrpSpPr>
                <p:grpSpPr bwMode="auto">
                  <a:xfrm>
                    <a:off x="1130" y="2644"/>
                    <a:ext cx="124" cy="83"/>
                    <a:chOff x="1130" y="2644"/>
                    <a:chExt cx="124" cy="83"/>
                  </a:xfrm>
                </p:grpSpPr>
                <p:sp>
                  <p:nvSpPr>
                    <p:cNvPr id="241" name="Rectangle 41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34" y="2653"/>
                      <a:ext cx="116" cy="74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42" name="Rectangle 41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30" y="2644"/>
                      <a:ext cx="124" cy="12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  <p:grpSp>
              <p:nvGrpSpPr>
                <p:cNvPr id="235" name="Group 417"/>
                <p:cNvGrpSpPr/>
                <p:nvPr/>
              </p:nvGrpSpPr>
              <p:grpSpPr bwMode="auto">
                <a:xfrm>
                  <a:off x="1143" y="2664"/>
                  <a:ext cx="94" cy="50"/>
                  <a:chOff x="1143" y="2664"/>
                  <a:chExt cx="94" cy="50"/>
                </a:xfrm>
              </p:grpSpPr>
              <p:sp>
                <p:nvSpPr>
                  <p:cNvPr id="236" name="Rectangle 418"/>
                  <p:cNvSpPr>
                    <a:spLocks noChangeArrowheads="1"/>
                  </p:cNvSpPr>
                  <p:nvPr/>
                </p:nvSpPr>
                <p:spPr bwMode="auto">
                  <a:xfrm>
                    <a:off x="1143" y="2664"/>
                    <a:ext cx="23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237" name="Rectangle 419"/>
                  <p:cNvSpPr>
                    <a:spLocks noChangeArrowheads="1"/>
                  </p:cNvSpPr>
                  <p:nvPr/>
                </p:nvSpPr>
                <p:spPr bwMode="auto">
                  <a:xfrm>
                    <a:off x="1214" y="2664"/>
                    <a:ext cx="23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238" name="Rectangle 420"/>
                  <p:cNvSpPr>
                    <a:spLocks noChangeArrowheads="1"/>
                  </p:cNvSpPr>
                  <p:nvPr/>
                </p:nvSpPr>
                <p:spPr bwMode="auto">
                  <a:xfrm>
                    <a:off x="1179" y="2664"/>
                    <a:ext cx="23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</p:grpSp>
          <p:grpSp>
            <p:nvGrpSpPr>
              <p:cNvPr id="147" name="Group 421"/>
              <p:cNvGrpSpPr/>
              <p:nvPr/>
            </p:nvGrpSpPr>
            <p:grpSpPr bwMode="auto">
              <a:xfrm>
                <a:off x="546" y="2618"/>
                <a:ext cx="124" cy="109"/>
                <a:chOff x="546" y="2618"/>
                <a:chExt cx="124" cy="109"/>
              </a:xfrm>
            </p:grpSpPr>
            <p:grpSp>
              <p:nvGrpSpPr>
                <p:cNvPr id="225" name="Group 422"/>
                <p:cNvGrpSpPr/>
                <p:nvPr/>
              </p:nvGrpSpPr>
              <p:grpSpPr bwMode="auto">
                <a:xfrm>
                  <a:off x="546" y="2618"/>
                  <a:ext cx="124" cy="109"/>
                  <a:chOff x="546" y="2618"/>
                  <a:chExt cx="124" cy="109"/>
                </a:xfrm>
              </p:grpSpPr>
              <p:sp>
                <p:nvSpPr>
                  <p:cNvPr id="230" name="Rectangle 423"/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618"/>
                    <a:ext cx="38" cy="30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grpSp>
                <p:nvGrpSpPr>
                  <p:cNvPr id="231" name="Group 424"/>
                  <p:cNvGrpSpPr/>
                  <p:nvPr/>
                </p:nvGrpSpPr>
                <p:grpSpPr bwMode="auto">
                  <a:xfrm>
                    <a:off x="546" y="2644"/>
                    <a:ext cx="124" cy="83"/>
                    <a:chOff x="546" y="2644"/>
                    <a:chExt cx="124" cy="83"/>
                  </a:xfrm>
                </p:grpSpPr>
                <p:sp>
                  <p:nvSpPr>
                    <p:cNvPr id="232" name="Rectangle 42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50" y="2653"/>
                      <a:ext cx="116" cy="74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33" name="Rectangle 42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6" y="2644"/>
                      <a:ext cx="124" cy="12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  <p:grpSp>
              <p:nvGrpSpPr>
                <p:cNvPr id="226" name="Group 427"/>
                <p:cNvGrpSpPr/>
                <p:nvPr/>
              </p:nvGrpSpPr>
              <p:grpSpPr bwMode="auto">
                <a:xfrm>
                  <a:off x="558" y="2664"/>
                  <a:ext cx="98" cy="50"/>
                  <a:chOff x="558" y="2664"/>
                  <a:chExt cx="98" cy="50"/>
                </a:xfrm>
              </p:grpSpPr>
              <p:sp>
                <p:nvSpPr>
                  <p:cNvPr id="227" name="Rectangle 428"/>
                  <p:cNvSpPr>
                    <a:spLocks noChangeArrowheads="1"/>
                  </p:cNvSpPr>
                  <p:nvPr/>
                </p:nvSpPr>
                <p:spPr bwMode="auto">
                  <a:xfrm>
                    <a:off x="629" y="2664"/>
                    <a:ext cx="27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228" name="Rectangle 429"/>
                  <p:cNvSpPr>
                    <a:spLocks noChangeArrowheads="1"/>
                  </p:cNvSpPr>
                  <p:nvPr/>
                </p:nvSpPr>
                <p:spPr bwMode="auto">
                  <a:xfrm>
                    <a:off x="558" y="2664"/>
                    <a:ext cx="27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229" name="Rectangle 430"/>
                  <p:cNvSpPr>
                    <a:spLocks noChangeArrowheads="1"/>
                  </p:cNvSpPr>
                  <p:nvPr/>
                </p:nvSpPr>
                <p:spPr bwMode="auto">
                  <a:xfrm>
                    <a:off x="594" y="2664"/>
                    <a:ext cx="27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</p:grpSp>
          <p:grpSp>
            <p:nvGrpSpPr>
              <p:cNvPr id="148" name="Group 431"/>
              <p:cNvGrpSpPr/>
              <p:nvPr/>
            </p:nvGrpSpPr>
            <p:grpSpPr bwMode="auto">
              <a:xfrm>
                <a:off x="654" y="2479"/>
                <a:ext cx="488" cy="262"/>
                <a:chOff x="654" y="2479"/>
                <a:chExt cx="488" cy="262"/>
              </a:xfrm>
            </p:grpSpPr>
            <p:grpSp>
              <p:nvGrpSpPr>
                <p:cNvPr id="149" name="Group 432"/>
                <p:cNvGrpSpPr/>
                <p:nvPr/>
              </p:nvGrpSpPr>
              <p:grpSpPr bwMode="auto">
                <a:xfrm>
                  <a:off x="654" y="2479"/>
                  <a:ext cx="488" cy="262"/>
                  <a:chOff x="654" y="2479"/>
                  <a:chExt cx="488" cy="262"/>
                </a:xfrm>
              </p:grpSpPr>
              <p:sp>
                <p:nvSpPr>
                  <p:cNvPr id="220" name="Rectangle 433"/>
                  <p:cNvSpPr>
                    <a:spLocks noChangeArrowheads="1"/>
                  </p:cNvSpPr>
                  <p:nvPr/>
                </p:nvSpPr>
                <p:spPr bwMode="auto">
                  <a:xfrm>
                    <a:off x="662" y="2522"/>
                    <a:ext cx="471" cy="219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221" name="Rectangle 434"/>
                  <p:cNvSpPr>
                    <a:spLocks noChangeArrowheads="1"/>
                  </p:cNvSpPr>
                  <p:nvPr/>
                </p:nvSpPr>
                <p:spPr bwMode="auto">
                  <a:xfrm>
                    <a:off x="780" y="2486"/>
                    <a:ext cx="34" cy="26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222" name="Rectangle 435"/>
                  <p:cNvSpPr>
                    <a:spLocks noChangeArrowheads="1"/>
                  </p:cNvSpPr>
                  <p:nvPr/>
                </p:nvSpPr>
                <p:spPr bwMode="auto">
                  <a:xfrm>
                    <a:off x="866" y="2479"/>
                    <a:ext cx="46" cy="36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223" name="Rectangle 436"/>
                  <p:cNvSpPr>
                    <a:spLocks noChangeArrowheads="1"/>
                  </p:cNvSpPr>
                  <p:nvPr/>
                </p:nvSpPr>
                <p:spPr bwMode="auto">
                  <a:xfrm>
                    <a:off x="654" y="2510"/>
                    <a:ext cx="488" cy="17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224" name="Rectangle 437"/>
                  <p:cNvSpPr>
                    <a:spLocks noChangeArrowheads="1"/>
                  </p:cNvSpPr>
                  <p:nvPr/>
                </p:nvSpPr>
                <p:spPr bwMode="auto">
                  <a:xfrm>
                    <a:off x="662" y="2629"/>
                    <a:ext cx="471" cy="8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  <p:grpSp>
              <p:nvGrpSpPr>
                <p:cNvPr id="150" name="Group 438"/>
                <p:cNvGrpSpPr/>
                <p:nvPr/>
              </p:nvGrpSpPr>
              <p:grpSpPr bwMode="auto">
                <a:xfrm>
                  <a:off x="670" y="2542"/>
                  <a:ext cx="449" cy="178"/>
                  <a:chOff x="670" y="2542"/>
                  <a:chExt cx="449" cy="178"/>
                </a:xfrm>
              </p:grpSpPr>
              <p:grpSp>
                <p:nvGrpSpPr>
                  <p:cNvPr id="155" name="Group 439"/>
                  <p:cNvGrpSpPr/>
                  <p:nvPr/>
                </p:nvGrpSpPr>
                <p:grpSpPr bwMode="auto">
                  <a:xfrm>
                    <a:off x="736" y="2649"/>
                    <a:ext cx="57" cy="71"/>
                    <a:chOff x="736" y="2649"/>
                    <a:chExt cx="57" cy="71"/>
                  </a:xfrm>
                </p:grpSpPr>
                <p:sp>
                  <p:nvSpPr>
                    <p:cNvPr id="216" name="Rectangle 44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39" y="2649"/>
                      <a:ext cx="51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17" name="Rectangle 44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36" y="2715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18" name="Line 44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64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19" name="Line 44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38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156" name="Group 444"/>
                  <p:cNvGrpSpPr/>
                  <p:nvPr/>
                </p:nvGrpSpPr>
                <p:grpSpPr bwMode="auto">
                  <a:xfrm>
                    <a:off x="801" y="2649"/>
                    <a:ext cx="57" cy="71"/>
                    <a:chOff x="801" y="2649"/>
                    <a:chExt cx="57" cy="71"/>
                  </a:xfrm>
                </p:grpSpPr>
                <p:sp>
                  <p:nvSpPr>
                    <p:cNvPr id="212" name="Rectangle 44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04" y="2649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13" name="Rectangle 44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01" y="2715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14" name="Line 44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29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15" name="Line 44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04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157" name="Group 449"/>
                  <p:cNvGrpSpPr/>
                  <p:nvPr/>
                </p:nvGrpSpPr>
                <p:grpSpPr bwMode="auto">
                  <a:xfrm>
                    <a:off x="1061" y="2649"/>
                    <a:ext cx="57" cy="71"/>
                    <a:chOff x="1061" y="2649"/>
                    <a:chExt cx="57" cy="71"/>
                  </a:xfrm>
                </p:grpSpPr>
                <p:sp>
                  <p:nvSpPr>
                    <p:cNvPr id="208" name="Rectangle 45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63" y="2649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09" name="Rectangle 45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61" y="2715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10" name="Line 45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89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11" name="Line 45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63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158" name="Group 454"/>
                  <p:cNvGrpSpPr/>
                  <p:nvPr/>
                </p:nvGrpSpPr>
                <p:grpSpPr bwMode="auto">
                  <a:xfrm>
                    <a:off x="670" y="2649"/>
                    <a:ext cx="58" cy="71"/>
                    <a:chOff x="670" y="2649"/>
                    <a:chExt cx="58" cy="71"/>
                  </a:xfrm>
                </p:grpSpPr>
                <p:sp>
                  <p:nvSpPr>
                    <p:cNvPr id="204" name="Rectangle 45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3" y="2649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05" name="Rectangle 45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0" y="2715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06" name="Line 45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99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07" name="Line 45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3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159" name="Group 459"/>
                  <p:cNvGrpSpPr/>
                  <p:nvPr/>
                </p:nvGrpSpPr>
                <p:grpSpPr bwMode="auto">
                  <a:xfrm>
                    <a:off x="867" y="2542"/>
                    <a:ext cx="58" cy="71"/>
                    <a:chOff x="867" y="2542"/>
                    <a:chExt cx="58" cy="71"/>
                  </a:xfrm>
                </p:grpSpPr>
                <p:sp>
                  <p:nvSpPr>
                    <p:cNvPr id="200" name="Rectangle 46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70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01" name="Rectangle 46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67" y="2608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02" name="Line 46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96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03" name="Line 46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70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160" name="Group 464"/>
                  <p:cNvGrpSpPr/>
                  <p:nvPr/>
                </p:nvGrpSpPr>
                <p:grpSpPr bwMode="auto">
                  <a:xfrm>
                    <a:off x="931" y="2649"/>
                    <a:ext cx="57" cy="71"/>
                    <a:chOff x="931" y="2649"/>
                    <a:chExt cx="57" cy="71"/>
                  </a:xfrm>
                </p:grpSpPr>
                <p:sp>
                  <p:nvSpPr>
                    <p:cNvPr id="196" name="Rectangle 46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4" y="2649"/>
                      <a:ext cx="51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97" name="Rectangle 46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1" y="2715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98" name="Line 46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59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99" name="Line 46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33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161" name="Group 469"/>
                  <p:cNvGrpSpPr/>
                  <p:nvPr/>
                </p:nvGrpSpPr>
                <p:grpSpPr bwMode="auto">
                  <a:xfrm>
                    <a:off x="996" y="2649"/>
                    <a:ext cx="57" cy="71"/>
                    <a:chOff x="996" y="2649"/>
                    <a:chExt cx="57" cy="71"/>
                  </a:xfrm>
                </p:grpSpPr>
                <p:sp>
                  <p:nvSpPr>
                    <p:cNvPr id="192" name="Rectangle 47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98" y="2649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93" name="Rectangle 47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96" y="2715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94" name="Line 47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24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95" name="Line 47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98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162" name="Group 474"/>
                  <p:cNvGrpSpPr/>
                  <p:nvPr/>
                </p:nvGrpSpPr>
                <p:grpSpPr bwMode="auto">
                  <a:xfrm>
                    <a:off x="736" y="2542"/>
                    <a:ext cx="58" cy="71"/>
                    <a:chOff x="736" y="2542"/>
                    <a:chExt cx="58" cy="71"/>
                  </a:xfrm>
                </p:grpSpPr>
                <p:sp>
                  <p:nvSpPr>
                    <p:cNvPr id="188" name="Rectangle 47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39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89" name="Rectangle 47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36" y="2608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90" name="Line 47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65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91" name="Line 47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39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163" name="Group 479"/>
                  <p:cNvGrpSpPr/>
                  <p:nvPr/>
                </p:nvGrpSpPr>
                <p:grpSpPr bwMode="auto">
                  <a:xfrm>
                    <a:off x="802" y="2542"/>
                    <a:ext cx="57" cy="71"/>
                    <a:chOff x="802" y="2542"/>
                    <a:chExt cx="57" cy="71"/>
                  </a:xfrm>
                </p:grpSpPr>
                <p:sp>
                  <p:nvSpPr>
                    <p:cNvPr id="184" name="Rectangle 48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05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85" name="Rectangle 48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02" y="2608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86" name="Line 48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30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87" name="Line 48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04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164" name="Group 484"/>
                  <p:cNvGrpSpPr/>
                  <p:nvPr/>
                </p:nvGrpSpPr>
                <p:grpSpPr bwMode="auto">
                  <a:xfrm>
                    <a:off x="1061" y="2542"/>
                    <a:ext cx="58" cy="71"/>
                    <a:chOff x="1061" y="2542"/>
                    <a:chExt cx="58" cy="71"/>
                  </a:xfrm>
                </p:grpSpPr>
                <p:sp>
                  <p:nvSpPr>
                    <p:cNvPr id="180" name="Rectangle 48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64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81" name="Rectangle 48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61" y="2608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82" name="Line 48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90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83" name="Line 48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64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165" name="Group 489"/>
                  <p:cNvGrpSpPr/>
                  <p:nvPr/>
                </p:nvGrpSpPr>
                <p:grpSpPr bwMode="auto">
                  <a:xfrm>
                    <a:off x="671" y="2542"/>
                    <a:ext cx="58" cy="71"/>
                    <a:chOff x="671" y="2542"/>
                    <a:chExt cx="58" cy="71"/>
                  </a:xfrm>
                </p:grpSpPr>
                <p:sp>
                  <p:nvSpPr>
                    <p:cNvPr id="176" name="Rectangle 49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4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77" name="Rectangle 49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1" y="2608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78" name="Line 49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99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79" name="Line 49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4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166" name="Group 494"/>
                  <p:cNvGrpSpPr/>
                  <p:nvPr/>
                </p:nvGrpSpPr>
                <p:grpSpPr bwMode="auto">
                  <a:xfrm>
                    <a:off x="931" y="2542"/>
                    <a:ext cx="58" cy="71"/>
                    <a:chOff x="931" y="2542"/>
                    <a:chExt cx="58" cy="71"/>
                  </a:xfrm>
                </p:grpSpPr>
                <p:sp>
                  <p:nvSpPr>
                    <p:cNvPr id="172" name="Rectangle 49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4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73" name="Rectangle 49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1" y="2608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74" name="Line 49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60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75" name="Line 49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34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167" name="Group 499"/>
                  <p:cNvGrpSpPr/>
                  <p:nvPr/>
                </p:nvGrpSpPr>
                <p:grpSpPr bwMode="auto">
                  <a:xfrm>
                    <a:off x="997" y="2542"/>
                    <a:ext cx="57" cy="71"/>
                    <a:chOff x="997" y="2542"/>
                    <a:chExt cx="57" cy="71"/>
                  </a:xfrm>
                </p:grpSpPr>
                <p:sp>
                  <p:nvSpPr>
                    <p:cNvPr id="168" name="Rectangle 50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99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69" name="Rectangle 50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97" y="2608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70" name="Line 50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25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71" name="Line 50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99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  <p:grpSp>
              <p:nvGrpSpPr>
                <p:cNvPr id="151" name="Group 504"/>
                <p:cNvGrpSpPr/>
                <p:nvPr/>
              </p:nvGrpSpPr>
              <p:grpSpPr bwMode="auto">
                <a:xfrm>
                  <a:off x="868" y="2643"/>
                  <a:ext cx="54" cy="97"/>
                  <a:chOff x="868" y="2643"/>
                  <a:chExt cx="54" cy="97"/>
                </a:xfrm>
              </p:grpSpPr>
              <p:sp>
                <p:nvSpPr>
                  <p:cNvPr id="152" name="Rectangle 505"/>
                  <p:cNvSpPr>
                    <a:spLocks noChangeArrowheads="1"/>
                  </p:cNvSpPr>
                  <p:nvPr/>
                </p:nvSpPr>
                <p:spPr bwMode="auto">
                  <a:xfrm>
                    <a:off x="868" y="2643"/>
                    <a:ext cx="54" cy="97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153" name="Rectangle 506"/>
                  <p:cNvSpPr>
                    <a:spLocks noChangeArrowheads="1"/>
                  </p:cNvSpPr>
                  <p:nvPr/>
                </p:nvSpPr>
                <p:spPr bwMode="auto">
                  <a:xfrm>
                    <a:off x="874" y="2653"/>
                    <a:ext cx="41" cy="81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154" name="Oval 507"/>
                  <p:cNvSpPr>
                    <a:spLocks noChangeArrowheads="1"/>
                  </p:cNvSpPr>
                  <p:nvPr/>
                </p:nvSpPr>
                <p:spPr bwMode="auto">
                  <a:xfrm>
                    <a:off x="908" y="2693"/>
                    <a:ext cx="2" cy="3"/>
                  </a:xfrm>
                  <a:prstGeom prst="ellipse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</p:grpSp>
        </p:grpSp>
        <p:grpSp>
          <p:nvGrpSpPr>
            <p:cNvPr id="26" name="Group 508"/>
            <p:cNvGrpSpPr/>
            <p:nvPr/>
          </p:nvGrpSpPr>
          <p:grpSpPr bwMode="auto">
            <a:xfrm>
              <a:off x="2688" y="2256"/>
              <a:ext cx="612" cy="356"/>
              <a:chOff x="546" y="2289"/>
              <a:chExt cx="708" cy="452"/>
            </a:xfrm>
          </p:grpSpPr>
          <p:grpSp>
            <p:nvGrpSpPr>
              <p:cNvPr id="43" name="Group 509"/>
              <p:cNvGrpSpPr/>
              <p:nvPr/>
            </p:nvGrpSpPr>
            <p:grpSpPr bwMode="auto">
              <a:xfrm>
                <a:off x="1071" y="2289"/>
                <a:ext cx="76" cy="358"/>
                <a:chOff x="1071" y="2289"/>
                <a:chExt cx="76" cy="358"/>
              </a:xfrm>
            </p:grpSpPr>
            <p:sp>
              <p:nvSpPr>
                <p:cNvPr id="143" name="Freeform 510"/>
                <p:cNvSpPr/>
                <p:nvPr/>
              </p:nvSpPr>
              <p:spPr bwMode="auto">
                <a:xfrm>
                  <a:off x="1071" y="2289"/>
                  <a:ext cx="27" cy="358"/>
                </a:xfrm>
                <a:custGeom>
                  <a:avLst/>
                  <a:gdLst>
                    <a:gd name="T0" fmla="*/ 42 w 161"/>
                    <a:gd name="T1" fmla="*/ 0 h 1791"/>
                    <a:gd name="T2" fmla="*/ 42 w 161"/>
                    <a:gd name="T3" fmla="*/ 284 h 1791"/>
                    <a:gd name="T4" fmla="*/ 29 w 161"/>
                    <a:gd name="T5" fmla="*/ 284 h 1791"/>
                    <a:gd name="T6" fmla="*/ 29 w 161"/>
                    <a:gd name="T7" fmla="*/ 569 h 1791"/>
                    <a:gd name="T8" fmla="*/ 17 w 161"/>
                    <a:gd name="T9" fmla="*/ 569 h 1791"/>
                    <a:gd name="T10" fmla="*/ 17 w 161"/>
                    <a:gd name="T11" fmla="*/ 836 h 1791"/>
                    <a:gd name="T12" fmla="*/ 8 w 161"/>
                    <a:gd name="T13" fmla="*/ 836 h 1791"/>
                    <a:gd name="T14" fmla="*/ 8 w 161"/>
                    <a:gd name="T15" fmla="*/ 1195 h 1791"/>
                    <a:gd name="T16" fmla="*/ 0 w 161"/>
                    <a:gd name="T17" fmla="*/ 1195 h 1791"/>
                    <a:gd name="T18" fmla="*/ 0 w 161"/>
                    <a:gd name="T19" fmla="*/ 1791 h 1791"/>
                    <a:gd name="T20" fmla="*/ 88 w 161"/>
                    <a:gd name="T21" fmla="*/ 1791 h 1791"/>
                    <a:gd name="T22" fmla="*/ 161 w 161"/>
                    <a:gd name="T23" fmla="*/ 1190 h 1791"/>
                    <a:gd name="T24" fmla="*/ 161 w 161"/>
                    <a:gd name="T25" fmla="*/ 835 h 1791"/>
                    <a:gd name="T26" fmla="*/ 153 w 161"/>
                    <a:gd name="T27" fmla="*/ 835 h 1791"/>
                    <a:gd name="T28" fmla="*/ 153 w 161"/>
                    <a:gd name="T29" fmla="*/ 569 h 1791"/>
                    <a:gd name="T30" fmla="*/ 143 w 161"/>
                    <a:gd name="T31" fmla="*/ 569 h 1791"/>
                    <a:gd name="T32" fmla="*/ 143 w 161"/>
                    <a:gd name="T33" fmla="*/ 284 h 1791"/>
                    <a:gd name="T34" fmla="*/ 130 w 161"/>
                    <a:gd name="T35" fmla="*/ 284 h 1791"/>
                    <a:gd name="T36" fmla="*/ 130 w 161"/>
                    <a:gd name="T37" fmla="*/ 0 h 1791"/>
                    <a:gd name="T38" fmla="*/ 42 w 161"/>
                    <a:gd name="T39" fmla="*/ 0 h 17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61" h="1791">
                      <a:moveTo>
                        <a:pt x="42" y="0"/>
                      </a:moveTo>
                      <a:lnTo>
                        <a:pt x="42" y="284"/>
                      </a:lnTo>
                      <a:lnTo>
                        <a:pt x="29" y="284"/>
                      </a:lnTo>
                      <a:lnTo>
                        <a:pt x="29" y="569"/>
                      </a:lnTo>
                      <a:lnTo>
                        <a:pt x="17" y="569"/>
                      </a:lnTo>
                      <a:lnTo>
                        <a:pt x="17" y="836"/>
                      </a:lnTo>
                      <a:lnTo>
                        <a:pt x="8" y="836"/>
                      </a:lnTo>
                      <a:lnTo>
                        <a:pt x="8" y="1195"/>
                      </a:lnTo>
                      <a:lnTo>
                        <a:pt x="0" y="1195"/>
                      </a:lnTo>
                      <a:lnTo>
                        <a:pt x="0" y="1791"/>
                      </a:lnTo>
                      <a:lnTo>
                        <a:pt x="88" y="1791"/>
                      </a:lnTo>
                      <a:lnTo>
                        <a:pt x="161" y="1190"/>
                      </a:lnTo>
                      <a:lnTo>
                        <a:pt x="161" y="835"/>
                      </a:lnTo>
                      <a:lnTo>
                        <a:pt x="153" y="835"/>
                      </a:lnTo>
                      <a:lnTo>
                        <a:pt x="153" y="569"/>
                      </a:lnTo>
                      <a:lnTo>
                        <a:pt x="143" y="569"/>
                      </a:lnTo>
                      <a:lnTo>
                        <a:pt x="143" y="284"/>
                      </a:lnTo>
                      <a:lnTo>
                        <a:pt x="130" y="284"/>
                      </a:lnTo>
                      <a:lnTo>
                        <a:pt x="130" y="0"/>
                      </a:lnTo>
                      <a:lnTo>
                        <a:pt x="4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w="3175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 sz="3655"/>
                </a:p>
              </p:txBody>
            </p:sp>
            <p:sp>
              <p:nvSpPr>
                <p:cNvPr id="144" name="Freeform 511"/>
                <p:cNvSpPr/>
                <p:nvPr/>
              </p:nvSpPr>
              <p:spPr bwMode="auto">
                <a:xfrm>
                  <a:off x="1119" y="2289"/>
                  <a:ext cx="28" cy="358"/>
                </a:xfrm>
                <a:custGeom>
                  <a:avLst/>
                  <a:gdLst>
                    <a:gd name="T0" fmla="*/ 41 w 169"/>
                    <a:gd name="T1" fmla="*/ 0 h 1791"/>
                    <a:gd name="T2" fmla="*/ 41 w 169"/>
                    <a:gd name="T3" fmla="*/ 284 h 1791"/>
                    <a:gd name="T4" fmla="*/ 28 w 169"/>
                    <a:gd name="T5" fmla="*/ 284 h 1791"/>
                    <a:gd name="T6" fmla="*/ 28 w 169"/>
                    <a:gd name="T7" fmla="*/ 569 h 1791"/>
                    <a:gd name="T8" fmla="*/ 16 w 169"/>
                    <a:gd name="T9" fmla="*/ 569 h 1791"/>
                    <a:gd name="T10" fmla="*/ 16 w 169"/>
                    <a:gd name="T11" fmla="*/ 836 h 1791"/>
                    <a:gd name="T12" fmla="*/ 8 w 169"/>
                    <a:gd name="T13" fmla="*/ 836 h 1791"/>
                    <a:gd name="T14" fmla="*/ 8 w 169"/>
                    <a:gd name="T15" fmla="*/ 1195 h 1791"/>
                    <a:gd name="T16" fmla="*/ 0 w 169"/>
                    <a:gd name="T17" fmla="*/ 1195 h 1791"/>
                    <a:gd name="T18" fmla="*/ 0 w 169"/>
                    <a:gd name="T19" fmla="*/ 1791 h 1791"/>
                    <a:gd name="T20" fmla="*/ 169 w 169"/>
                    <a:gd name="T21" fmla="*/ 1791 h 1791"/>
                    <a:gd name="T22" fmla="*/ 169 w 169"/>
                    <a:gd name="T23" fmla="*/ 1193 h 1791"/>
                    <a:gd name="T24" fmla="*/ 161 w 169"/>
                    <a:gd name="T25" fmla="*/ 1193 h 1791"/>
                    <a:gd name="T26" fmla="*/ 160 w 169"/>
                    <a:gd name="T27" fmla="*/ 835 h 1791"/>
                    <a:gd name="T28" fmla="*/ 151 w 169"/>
                    <a:gd name="T29" fmla="*/ 835 h 1791"/>
                    <a:gd name="T30" fmla="*/ 151 w 169"/>
                    <a:gd name="T31" fmla="*/ 569 h 1791"/>
                    <a:gd name="T32" fmla="*/ 140 w 169"/>
                    <a:gd name="T33" fmla="*/ 569 h 1791"/>
                    <a:gd name="T34" fmla="*/ 140 w 169"/>
                    <a:gd name="T35" fmla="*/ 284 h 1791"/>
                    <a:gd name="T36" fmla="*/ 128 w 169"/>
                    <a:gd name="T37" fmla="*/ 284 h 1791"/>
                    <a:gd name="T38" fmla="*/ 128 w 169"/>
                    <a:gd name="T39" fmla="*/ 0 h 1791"/>
                    <a:gd name="T40" fmla="*/ 41 w 169"/>
                    <a:gd name="T41" fmla="*/ 0 h 17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69" h="1791">
                      <a:moveTo>
                        <a:pt x="41" y="0"/>
                      </a:moveTo>
                      <a:lnTo>
                        <a:pt x="41" y="284"/>
                      </a:lnTo>
                      <a:lnTo>
                        <a:pt x="28" y="284"/>
                      </a:lnTo>
                      <a:lnTo>
                        <a:pt x="28" y="569"/>
                      </a:lnTo>
                      <a:lnTo>
                        <a:pt x="16" y="569"/>
                      </a:lnTo>
                      <a:lnTo>
                        <a:pt x="16" y="836"/>
                      </a:lnTo>
                      <a:lnTo>
                        <a:pt x="8" y="836"/>
                      </a:lnTo>
                      <a:lnTo>
                        <a:pt x="8" y="1195"/>
                      </a:lnTo>
                      <a:lnTo>
                        <a:pt x="0" y="1195"/>
                      </a:lnTo>
                      <a:lnTo>
                        <a:pt x="0" y="1791"/>
                      </a:lnTo>
                      <a:lnTo>
                        <a:pt x="169" y="1791"/>
                      </a:lnTo>
                      <a:lnTo>
                        <a:pt x="169" y="1193"/>
                      </a:lnTo>
                      <a:lnTo>
                        <a:pt x="161" y="1193"/>
                      </a:lnTo>
                      <a:lnTo>
                        <a:pt x="160" y="835"/>
                      </a:lnTo>
                      <a:lnTo>
                        <a:pt x="151" y="835"/>
                      </a:lnTo>
                      <a:lnTo>
                        <a:pt x="151" y="569"/>
                      </a:lnTo>
                      <a:lnTo>
                        <a:pt x="140" y="569"/>
                      </a:lnTo>
                      <a:lnTo>
                        <a:pt x="140" y="284"/>
                      </a:lnTo>
                      <a:lnTo>
                        <a:pt x="128" y="284"/>
                      </a:lnTo>
                      <a:lnTo>
                        <a:pt x="128" y="0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w="3175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 sz="3655"/>
                </a:p>
              </p:txBody>
            </p:sp>
          </p:grpSp>
          <p:grpSp>
            <p:nvGrpSpPr>
              <p:cNvPr id="44" name="Group 512"/>
              <p:cNvGrpSpPr/>
              <p:nvPr/>
            </p:nvGrpSpPr>
            <p:grpSpPr bwMode="auto">
              <a:xfrm>
                <a:off x="1130" y="2574"/>
                <a:ext cx="124" cy="153"/>
                <a:chOff x="1130" y="2574"/>
                <a:chExt cx="124" cy="153"/>
              </a:xfrm>
            </p:grpSpPr>
            <p:grpSp>
              <p:nvGrpSpPr>
                <p:cNvPr id="132" name="Group 513"/>
                <p:cNvGrpSpPr/>
                <p:nvPr/>
              </p:nvGrpSpPr>
              <p:grpSpPr bwMode="auto">
                <a:xfrm>
                  <a:off x="1130" y="2574"/>
                  <a:ext cx="124" cy="153"/>
                  <a:chOff x="1130" y="2574"/>
                  <a:chExt cx="124" cy="153"/>
                </a:xfrm>
              </p:grpSpPr>
              <p:grpSp>
                <p:nvGrpSpPr>
                  <p:cNvPr id="137" name="Group 514"/>
                  <p:cNvGrpSpPr/>
                  <p:nvPr/>
                </p:nvGrpSpPr>
                <p:grpSpPr bwMode="auto">
                  <a:xfrm>
                    <a:off x="1161" y="2574"/>
                    <a:ext cx="35" cy="74"/>
                    <a:chOff x="1161" y="2574"/>
                    <a:chExt cx="35" cy="74"/>
                  </a:xfrm>
                </p:grpSpPr>
                <p:sp>
                  <p:nvSpPr>
                    <p:cNvPr id="141" name="Rectangle 51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68" y="2574"/>
                      <a:ext cx="21" cy="16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42" name="Rectangle 51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61" y="2586"/>
                      <a:ext cx="35" cy="62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138" name="Group 517"/>
                  <p:cNvGrpSpPr/>
                  <p:nvPr/>
                </p:nvGrpSpPr>
                <p:grpSpPr bwMode="auto">
                  <a:xfrm>
                    <a:off x="1130" y="2644"/>
                    <a:ext cx="124" cy="83"/>
                    <a:chOff x="1130" y="2644"/>
                    <a:chExt cx="124" cy="83"/>
                  </a:xfrm>
                </p:grpSpPr>
                <p:sp>
                  <p:nvSpPr>
                    <p:cNvPr id="139" name="Rectangle 51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34" y="2653"/>
                      <a:ext cx="116" cy="74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40" name="Rectangle 51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30" y="2644"/>
                      <a:ext cx="124" cy="12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  <p:grpSp>
              <p:nvGrpSpPr>
                <p:cNvPr id="133" name="Group 520"/>
                <p:cNvGrpSpPr/>
                <p:nvPr/>
              </p:nvGrpSpPr>
              <p:grpSpPr bwMode="auto">
                <a:xfrm>
                  <a:off x="1143" y="2664"/>
                  <a:ext cx="94" cy="50"/>
                  <a:chOff x="1143" y="2664"/>
                  <a:chExt cx="94" cy="50"/>
                </a:xfrm>
              </p:grpSpPr>
              <p:sp>
                <p:nvSpPr>
                  <p:cNvPr id="134" name="Rectangle 521"/>
                  <p:cNvSpPr>
                    <a:spLocks noChangeArrowheads="1"/>
                  </p:cNvSpPr>
                  <p:nvPr/>
                </p:nvSpPr>
                <p:spPr bwMode="auto">
                  <a:xfrm>
                    <a:off x="1143" y="2664"/>
                    <a:ext cx="23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135" name="Rectangle 522"/>
                  <p:cNvSpPr>
                    <a:spLocks noChangeArrowheads="1"/>
                  </p:cNvSpPr>
                  <p:nvPr/>
                </p:nvSpPr>
                <p:spPr bwMode="auto">
                  <a:xfrm>
                    <a:off x="1214" y="2664"/>
                    <a:ext cx="23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136" name="Rectangle 523"/>
                  <p:cNvSpPr>
                    <a:spLocks noChangeArrowheads="1"/>
                  </p:cNvSpPr>
                  <p:nvPr/>
                </p:nvSpPr>
                <p:spPr bwMode="auto">
                  <a:xfrm>
                    <a:off x="1179" y="2664"/>
                    <a:ext cx="23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</p:grpSp>
          <p:grpSp>
            <p:nvGrpSpPr>
              <p:cNvPr id="45" name="Group 524"/>
              <p:cNvGrpSpPr/>
              <p:nvPr/>
            </p:nvGrpSpPr>
            <p:grpSpPr bwMode="auto">
              <a:xfrm>
                <a:off x="546" y="2618"/>
                <a:ext cx="124" cy="109"/>
                <a:chOff x="546" y="2618"/>
                <a:chExt cx="124" cy="109"/>
              </a:xfrm>
            </p:grpSpPr>
            <p:grpSp>
              <p:nvGrpSpPr>
                <p:cNvPr id="123" name="Group 525"/>
                <p:cNvGrpSpPr/>
                <p:nvPr/>
              </p:nvGrpSpPr>
              <p:grpSpPr bwMode="auto">
                <a:xfrm>
                  <a:off x="546" y="2618"/>
                  <a:ext cx="124" cy="109"/>
                  <a:chOff x="546" y="2618"/>
                  <a:chExt cx="124" cy="109"/>
                </a:xfrm>
              </p:grpSpPr>
              <p:sp>
                <p:nvSpPr>
                  <p:cNvPr id="128" name="Rectangle 526"/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618"/>
                    <a:ext cx="38" cy="30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grpSp>
                <p:nvGrpSpPr>
                  <p:cNvPr id="129" name="Group 527"/>
                  <p:cNvGrpSpPr/>
                  <p:nvPr/>
                </p:nvGrpSpPr>
                <p:grpSpPr bwMode="auto">
                  <a:xfrm>
                    <a:off x="546" y="2644"/>
                    <a:ext cx="124" cy="83"/>
                    <a:chOff x="546" y="2644"/>
                    <a:chExt cx="124" cy="83"/>
                  </a:xfrm>
                </p:grpSpPr>
                <p:sp>
                  <p:nvSpPr>
                    <p:cNvPr id="130" name="Rectangle 52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50" y="2653"/>
                      <a:ext cx="116" cy="74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31" name="Rectangle 52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6" y="2644"/>
                      <a:ext cx="124" cy="12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  <p:grpSp>
              <p:nvGrpSpPr>
                <p:cNvPr id="124" name="Group 530"/>
                <p:cNvGrpSpPr/>
                <p:nvPr/>
              </p:nvGrpSpPr>
              <p:grpSpPr bwMode="auto">
                <a:xfrm>
                  <a:off x="558" y="2664"/>
                  <a:ext cx="98" cy="50"/>
                  <a:chOff x="558" y="2664"/>
                  <a:chExt cx="98" cy="50"/>
                </a:xfrm>
              </p:grpSpPr>
              <p:sp>
                <p:nvSpPr>
                  <p:cNvPr id="125" name="Rectangle 531"/>
                  <p:cNvSpPr>
                    <a:spLocks noChangeArrowheads="1"/>
                  </p:cNvSpPr>
                  <p:nvPr/>
                </p:nvSpPr>
                <p:spPr bwMode="auto">
                  <a:xfrm>
                    <a:off x="629" y="2664"/>
                    <a:ext cx="27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126" name="Rectangle 532"/>
                  <p:cNvSpPr>
                    <a:spLocks noChangeArrowheads="1"/>
                  </p:cNvSpPr>
                  <p:nvPr/>
                </p:nvSpPr>
                <p:spPr bwMode="auto">
                  <a:xfrm>
                    <a:off x="558" y="2664"/>
                    <a:ext cx="27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127" name="Rectangle 533"/>
                  <p:cNvSpPr>
                    <a:spLocks noChangeArrowheads="1"/>
                  </p:cNvSpPr>
                  <p:nvPr/>
                </p:nvSpPr>
                <p:spPr bwMode="auto">
                  <a:xfrm>
                    <a:off x="594" y="2664"/>
                    <a:ext cx="27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</p:grpSp>
          <p:grpSp>
            <p:nvGrpSpPr>
              <p:cNvPr id="46" name="Group 534"/>
              <p:cNvGrpSpPr/>
              <p:nvPr/>
            </p:nvGrpSpPr>
            <p:grpSpPr bwMode="auto">
              <a:xfrm>
                <a:off x="654" y="2479"/>
                <a:ext cx="488" cy="262"/>
                <a:chOff x="654" y="2479"/>
                <a:chExt cx="488" cy="262"/>
              </a:xfrm>
            </p:grpSpPr>
            <p:grpSp>
              <p:nvGrpSpPr>
                <p:cNvPr id="47" name="Group 535"/>
                <p:cNvGrpSpPr/>
                <p:nvPr/>
              </p:nvGrpSpPr>
              <p:grpSpPr bwMode="auto">
                <a:xfrm>
                  <a:off x="654" y="2479"/>
                  <a:ext cx="488" cy="262"/>
                  <a:chOff x="654" y="2479"/>
                  <a:chExt cx="488" cy="262"/>
                </a:xfrm>
              </p:grpSpPr>
              <p:sp>
                <p:nvSpPr>
                  <p:cNvPr id="118" name="Rectangle 536"/>
                  <p:cNvSpPr>
                    <a:spLocks noChangeArrowheads="1"/>
                  </p:cNvSpPr>
                  <p:nvPr/>
                </p:nvSpPr>
                <p:spPr bwMode="auto">
                  <a:xfrm>
                    <a:off x="662" y="2522"/>
                    <a:ext cx="471" cy="219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119" name="Rectangle 537"/>
                  <p:cNvSpPr>
                    <a:spLocks noChangeArrowheads="1"/>
                  </p:cNvSpPr>
                  <p:nvPr/>
                </p:nvSpPr>
                <p:spPr bwMode="auto">
                  <a:xfrm>
                    <a:off x="780" y="2486"/>
                    <a:ext cx="34" cy="26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120" name="Rectangle 538"/>
                  <p:cNvSpPr>
                    <a:spLocks noChangeArrowheads="1"/>
                  </p:cNvSpPr>
                  <p:nvPr/>
                </p:nvSpPr>
                <p:spPr bwMode="auto">
                  <a:xfrm>
                    <a:off x="866" y="2479"/>
                    <a:ext cx="46" cy="36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121" name="Rectangle 539"/>
                  <p:cNvSpPr>
                    <a:spLocks noChangeArrowheads="1"/>
                  </p:cNvSpPr>
                  <p:nvPr/>
                </p:nvSpPr>
                <p:spPr bwMode="auto">
                  <a:xfrm>
                    <a:off x="654" y="2510"/>
                    <a:ext cx="488" cy="17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122" name="Rectangle 540"/>
                  <p:cNvSpPr>
                    <a:spLocks noChangeArrowheads="1"/>
                  </p:cNvSpPr>
                  <p:nvPr/>
                </p:nvSpPr>
                <p:spPr bwMode="auto">
                  <a:xfrm>
                    <a:off x="662" y="2629"/>
                    <a:ext cx="471" cy="8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  <p:grpSp>
              <p:nvGrpSpPr>
                <p:cNvPr id="48" name="Group 541"/>
                <p:cNvGrpSpPr/>
                <p:nvPr/>
              </p:nvGrpSpPr>
              <p:grpSpPr bwMode="auto">
                <a:xfrm>
                  <a:off x="670" y="2542"/>
                  <a:ext cx="449" cy="178"/>
                  <a:chOff x="670" y="2542"/>
                  <a:chExt cx="449" cy="178"/>
                </a:xfrm>
              </p:grpSpPr>
              <p:grpSp>
                <p:nvGrpSpPr>
                  <p:cNvPr id="53" name="Group 542"/>
                  <p:cNvGrpSpPr/>
                  <p:nvPr/>
                </p:nvGrpSpPr>
                <p:grpSpPr bwMode="auto">
                  <a:xfrm>
                    <a:off x="736" y="2649"/>
                    <a:ext cx="57" cy="71"/>
                    <a:chOff x="736" y="2649"/>
                    <a:chExt cx="57" cy="71"/>
                  </a:xfrm>
                </p:grpSpPr>
                <p:sp>
                  <p:nvSpPr>
                    <p:cNvPr id="114" name="Rectangle 54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39" y="2649"/>
                      <a:ext cx="51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15" name="Rectangle 54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36" y="2715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16" name="Line 54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64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17" name="Line 54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38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54" name="Group 547"/>
                  <p:cNvGrpSpPr/>
                  <p:nvPr/>
                </p:nvGrpSpPr>
                <p:grpSpPr bwMode="auto">
                  <a:xfrm>
                    <a:off x="801" y="2649"/>
                    <a:ext cx="57" cy="71"/>
                    <a:chOff x="801" y="2649"/>
                    <a:chExt cx="57" cy="71"/>
                  </a:xfrm>
                </p:grpSpPr>
                <p:sp>
                  <p:nvSpPr>
                    <p:cNvPr id="110" name="Rectangle 54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04" y="2649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11" name="Rectangle 54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01" y="2715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12" name="Line 55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29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13" name="Line 55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04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55" name="Group 552"/>
                  <p:cNvGrpSpPr/>
                  <p:nvPr/>
                </p:nvGrpSpPr>
                <p:grpSpPr bwMode="auto">
                  <a:xfrm>
                    <a:off x="1061" y="2649"/>
                    <a:ext cx="57" cy="71"/>
                    <a:chOff x="1061" y="2649"/>
                    <a:chExt cx="57" cy="71"/>
                  </a:xfrm>
                </p:grpSpPr>
                <p:sp>
                  <p:nvSpPr>
                    <p:cNvPr id="106" name="Rectangle 55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63" y="2649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07" name="Rectangle 55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61" y="2715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08" name="Line 55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89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09" name="Line 55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63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56" name="Group 557"/>
                  <p:cNvGrpSpPr/>
                  <p:nvPr/>
                </p:nvGrpSpPr>
                <p:grpSpPr bwMode="auto">
                  <a:xfrm>
                    <a:off x="670" y="2649"/>
                    <a:ext cx="58" cy="71"/>
                    <a:chOff x="670" y="2649"/>
                    <a:chExt cx="58" cy="71"/>
                  </a:xfrm>
                </p:grpSpPr>
                <p:sp>
                  <p:nvSpPr>
                    <p:cNvPr id="102" name="Rectangle 55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3" y="2649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03" name="Rectangle 55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0" y="2715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04" name="Line 56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99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05" name="Line 56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3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57" name="Group 562"/>
                  <p:cNvGrpSpPr/>
                  <p:nvPr/>
                </p:nvGrpSpPr>
                <p:grpSpPr bwMode="auto">
                  <a:xfrm>
                    <a:off x="867" y="2542"/>
                    <a:ext cx="58" cy="71"/>
                    <a:chOff x="867" y="2542"/>
                    <a:chExt cx="58" cy="71"/>
                  </a:xfrm>
                </p:grpSpPr>
                <p:sp>
                  <p:nvSpPr>
                    <p:cNvPr id="98" name="Rectangle 56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70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99" name="Rectangle 56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67" y="2608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00" name="Line 56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96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01" name="Line 56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70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58" name="Group 567"/>
                  <p:cNvGrpSpPr/>
                  <p:nvPr/>
                </p:nvGrpSpPr>
                <p:grpSpPr bwMode="auto">
                  <a:xfrm>
                    <a:off x="931" y="2649"/>
                    <a:ext cx="57" cy="71"/>
                    <a:chOff x="931" y="2649"/>
                    <a:chExt cx="57" cy="71"/>
                  </a:xfrm>
                </p:grpSpPr>
                <p:sp>
                  <p:nvSpPr>
                    <p:cNvPr id="94" name="Rectangle 56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4" y="2649"/>
                      <a:ext cx="51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95" name="Rectangle 56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1" y="2715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96" name="Line 57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59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97" name="Line 57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33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59" name="Group 572"/>
                  <p:cNvGrpSpPr/>
                  <p:nvPr/>
                </p:nvGrpSpPr>
                <p:grpSpPr bwMode="auto">
                  <a:xfrm>
                    <a:off x="996" y="2649"/>
                    <a:ext cx="57" cy="71"/>
                    <a:chOff x="996" y="2649"/>
                    <a:chExt cx="57" cy="71"/>
                  </a:xfrm>
                </p:grpSpPr>
                <p:sp>
                  <p:nvSpPr>
                    <p:cNvPr id="90" name="Rectangle 57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98" y="2649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91" name="Rectangle 57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96" y="2715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92" name="Line 57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24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93" name="Line 57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98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60" name="Group 577"/>
                  <p:cNvGrpSpPr/>
                  <p:nvPr/>
                </p:nvGrpSpPr>
                <p:grpSpPr bwMode="auto">
                  <a:xfrm>
                    <a:off x="736" y="2542"/>
                    <a:ext cx="58" cy="71"/>
                    <a:chOff x="736" y="2542"/>
                    <a:chExt cx="58" cy="71"/>
                  </a:xfrm>
                </p:grpSpPr>
                <p:sp>
                  <p:nvSpPr>
                    <p:cNvPr id="86" name="Rectangle 57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39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87" name="Rectangle 57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36" y="2608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88" name="Line 58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65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89" name="Line 58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39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61" name="Group 582"/>
                  <p:cNvGrpSpPr/>
                  <p:nvPr/>
                </p:nvGrpSpPr>
                <p:grpSpPr bwMode="auto">
                  <a:xfrm>
                    <a:off x="802" y="2542"/>
                    <a:ext cx="57" cy="71"/>
                    <a:chOff x="802" y="2542"/>
                    <a:chExt cx="57" cy="71"/>
                  </a:xfrm>
                </p:grpSpPr>
                <p:sp>
                  <p:nvSpPr>
                    <p:cNvPr id="82" name="Rectangle 58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05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83" name="Rectangle 58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02" y="2608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84" name="Line 58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30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85" name="Line 58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04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62" name="Group 587"/>
                  <p:cNvGrpSpPr/>
                  <p:nvPr/>
                </p:nvGrpSpPr>
                <p:grpSpPr bwMode="auto">
                  <a:xfrm>
                    <a:off x="1061" y="2542"/>
                    <a:ext cx="58" cy="71"/>
                    <a:chOff x="1061" y="2542"/>
                    <a:chExt cx="58" cy="71"/>
                  </a:xfrm>
                </p:grpSpPr>
                <p:sp>
                  <p:nvSpPr>
                    <p:cNvPr id="78" name="Rectangle 5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64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79" name="Rectangle 5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61" y="2608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80" name="Line 59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90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81" name="Line 59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64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63" name="Group 592"/>
                  <p:cNvGrpSpPr/>
                  <p:nvPr/>
                </p:nvGrpSpPr>
                <p:grpSpPr bwMode="auto">
                  <a:xfrm>
                    <a:off x="671" y="2542"/>
                    <a:ext cx="58" cy="71"/>
                    <a:chOff x="671" y="2542"/>
                    <a:chExt cx="58" cy="71"/>
                  </a:xfrm>
                </p:grpSpPr>
                <p:sp>
                  <p:nvSpPr>
                    <p:cNvPr id="74" name="Rectangle 59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4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75" name="Rectangle 59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1" y="2608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76" name="Line 59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99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77" name="Line 59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4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64" name="Group 597"/>
                  <p:cNvGrpSpPr/>
                  <p:nvPr/>
                </p:nvGrpSpPr>
                <p:grpSpPr bwMode="auto">
                  <a:xfrm>
                    <a:off x="931" y="2542"/>
                    <a:ext cx="58" cy="71"/>
                    <a:chOff x="931" y="2542"/>
                    <a:chExt cx="58" cy="71"/>
                  </a:xfrm>
                </p:grpSpPr>
                <p:sp>
                  <p:nvSpPr>
                    <p:cNvPr id="70" name="Rectangle 59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4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71" name="Rectangle 59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1" y="2608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72" name="Line 60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60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73" name="Line 60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34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65" name="Group 602"/>
                  <p:cNvGrpSpPr/>
                  <p:nvPr/>
                </p:nvGrpSpPr>
                <p:grpSpPr bwMode="auto">
                  <a:xfrm>
                    <a:off x="997" y="2542"/>
                    <a:ext cx="57" cy="71"/>
                    <a:chOff x="997" y="2542"/>
                    <a:chExt cx="57" cy="71"/>
                  </a:xfrm>
                </p:grpSpPr>
                <p:sp>
                  <p:nvSpPr>
                    <p:cNvPr id="66" name="Rectangle 60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99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7" name="Rectangle 60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97" y="2608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8" name="Line 60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25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9" name="Line 60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99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  <p:grpSp>
              <p:nvGrpSpPr>
                <p:cNvPr id="49" name="Group 607"/>
                <p:cNvGrpSpPr/>
                <p:nvPr/>
              </p:nvGrpSpPr>
              <p:grpSpPr bwMode="auto">
                <a:xfrm>
                  <a:off x="868" y="2643"/>
                  <a:ext cx="54" cy="97"/>
                  <a:chOff x="868" y="2643"/>
                  <a:chExt cx="54" cy="97"/>
                </a:xfrm>
              </p:grpSpPr>
              <p:sp>
                <p:nvSpPr>
                  <p:cNvPr id="50" name="Rectangle 608"/>
                  <p:cNvSpPr>
                    <a:spLocks noChangeArrowheads="1"/>
                  </p:cNvSpPr>
                  <p:nvPr/>
                </p:nvSpPr>
                <p:spPr bwMode="auto">
                  <a:xfrm>
                    <a:off x="868" y="2643"/>
                    <a:ext cx="54" cy="97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51" name="Rectangle 609"/>
                  <p:cNvSpPr>
                    <a:spLocks noChangeArrowheads="1"/>
                  </p:cNvSpPr>
                  <p:nvPr/>
                </p:nvSpPr>
                <p:spPr bwMode="auto">
                  <a:xfrm>
                    <a:off x="874" y="2653"/>
                    <a:ext cx="41" cy="81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52" name="Oval 610"/>
                  <p:cNvSpPr>
                    <a:spLocks noChangeArrowheads="1"/>
                  </p:cNvSpPr>
                  <p:nvPr/>
                </p:nvSpPr>
                <p:spPr bwMode="auto">
                  <a:xfrm>
                    <a:off x="908" y="2693"/>
                    <a:ext cx="2" cy="3"/>
                  </a:xfrm>
                  <a:prstGeom prst="ellipse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</p:grpSp>
        </p:grpSp>
        <p:sp>
          <p:nvSpPr>
            <p:cNvPr id="27" name="Line 611"/>
            <p:cNvSpPr>
              <a:spLocks noChangeShapeType="1"/>
            </p:cNvSpPr>
            <p:nvPr/>
          </p:nvSpPr>
          <p:spPr bwMode="auto">
            <a:xfrm flipV="1">
              <a:off x="1298" y="2530"/>
              <a:ext cx="274" cy="5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28" name="Line 612"/>
            <p:cNvSpPr>
              <a:spLocks noChangeShapeType="1"/>
            </p:cNvSpPr>
            <p:nvPr/>
          </p:nvSpPr>
          <p:spPr bwMode="auto">
            <a:xfrm>
              <a:off x="2352" y="2544"/>
              <a:ext cx="288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29" name="Line 613"/>
            <p:cNvSpPr>
              <a:spLocks noChangeShapeType="1"/>
            </p:cNvSpPr>
            <p:nvPr/>
          </p:nvSpPr>
          <p:spPr bwMode="auto">
            <a:xfrm>
              <a:off x="3360" y="2496"/>
              <a:ext cx="288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30" name="Line 614"/>
            <p:cNvSpPr>
              <a:spLocks noChangeShapeType="1"/>
            </p:cNvSpPr>
            <p:nvPr/>
          </p:nvSpPr>
          <p:spPr bwMode="auto">
            <a:xfrm>
              <a:off x="4422" y="2480"/>
              <a:ext cx="365" cy="5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31" name="Freeform 615"/>
            <p:cNvSpPr/>
            <p:nvPr/>
          </p:nvSpPr>
          <p:spPr bwMode="auto">
            <a:xfrm>
              <a:off x="912" y="2064"/>
              <a:ext cx="912" cy="336"/>
            </a:xfrm>
            <a:custGeom>
              <a:avLst/>
              <a:gdLst>
                <a:gd name="T0" fmla="*/ 912 w 912"/>
                <a:gd name="T1" fmla="*/ 288 h 336"/>
                <a:gd name="T2" fmla="*/ 912 w 912"/>
                <a:gd name="T3" fmla="*/ 0 h 336"/>
                <a:gd name="T4" fmla="*/ 0 w 912"/>
                <a:gd name="T5" fmla="*/ 0 h 336"/>
                <a:gd name="T6" fmla="*/ 0 w 912"/>
                <a:gd name="T7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12" h="336">
                  <a:moveTo>
                    <a:pt x="912" y="288"/>
                  </a:moveTo>
                  <a:lnTo>
                    <a:pt x="912" y="0"/>
                  </a:lnTo>
                  <a:lnTo>
                    <a:pt x="0" y="0"/>
                  </a:lnTo>
                  <a:lnTo>
                    <a:pt x="0" y="336"/>
                  </a:lnTo>
                </a:path>
              </a:pathLst>
            </a:custGeom>
            <a:noFill/>
            <a:ln w="76200" cap="flat">
              <a:solidFill>
                <a:schemeClr val="tx1"/>
              </a:solidFill>
              <a:prstDash val="dash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32" name="Freeform 616"/>
            <p:cNvSpPr/>
            <p:nvPr/>
          </p:nvSpPr>
          <p:spPr bwMode="auto">
            <a:xfrm>
              <a:off x="1968" y="2064"/>
              <a:ext cx="912" cy="336"/>
            </a:xfrm>
            <a:custGeom>
              <a:avLst/>
              <a:gdLst>
                <a:gd name="T0" fmla="*/ 912 w 912"/>
                <a:gd name="T1" fmla="*/ 288 h 336"/>
                <a:gd name="T2" fmla="*/ 912 w 912"/>
                <a:gd name="T3" fmla="*/ 0 h 336"/>
                <a:gd name="T4" fmla="*/ 0 w 912"/>
                <a:gd name="T5" fmla="*/ 0 h 336"/>
                <a:gd name="T6" fmla="*/ 0 w 912"/>
                <a:gd name="T7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12" h="336">
                  <a:moveTo>
                    <a:pt x="912" y="288"/>
                  </a:moveTo>
                  <a:lnTo>
                    <a:pt x="912" y="0"/>
                  </a:lnTo>
                  <a:lnTo>
                    <a:pt x="0" y="0"/>
                  </a:lnTo>
                  <a:lnTo>
                    <a:pt x="0" y="336"/>
                  </a:lnTo>
                </a:path>
              </a:pathLst>
            </a:custGeom>
            <a:noFill/>
            <a:ln w="76200" cap="flat">
              <a:solidFill>
                <a:schemeClr val="tx1"/>
              </a:solidFill>
              <a:prstDash val="dash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33" name="Freeform 617"/>
            <p:cNvSpPr/>
            <p:nvPr/>
          </p:nvSpPr>
          <p:spPr bwMode="auto">
            <a:xfrm>
              <a:off x="3024" y="2064"/>
              <a:ext cx="912" cy="336"/>
            </a:xfrm>
            <a:custGeom>
              <a:avLst/>
              <a:gdLst>
                <a:gd name="T0" fmla="*/ 912 w 912"/>
                <a:gd name="T1" fmla="*/ 288 h 336"/>
                <a:gd name="T2" fmla="*/ 912 w 912"/>
                <a:gd name="T3" fmla="*/ 0 h 336"/>
                <a:gd name="T4" fmla="*/ 0 w 912"/>
                <a:gd name="T5" fmla="*/ 0 h 336"/>
                <a:gd name="T6" fmla="*/ 0 w 912"/>
                <a:gd name="T7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12" h="336">
                  <a:moveTo>
                    <a:pt x="912" y="288"/>
                  </a:moveTo>
                  <a:lnTo>
                    <a:pt x="912" y="0"/>
                  </a:lnTo>
                  <a:lnTo>
                    <a:pt x="0" y="0"/>
                  </a:lnTo>
                  <a:lnTo>
                    <a:pt x="0" y="336"/>
                  </a:lnTo>
                </a:path>
              </a:pathLst>
            </a:custGeom>
            <a:noFill/>
            <a:ln w="76200" cap="flat">
              <a:solidFill>
                <a:schemeClr val="tx1"/>
              </a:solidFill>
              <a:prstDash val="dash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34" name="Line 618"/>
            <p:cNvSpPr>
              <a:spLocks noChangeShapeType="1"/>
            </p:cNvSpPr>
            <p:nvPr/>
          </p:nvSpPr>
          <p:spPr bwMode="auto">
            <a:xfrm flipH="1">
              <a:off x="4368" y="2352"/>
              <a:ext cx="432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prstDash val="dash"/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35" name="Text Box 619"/>
            <p:cNvSpPr txBox="1">
              <a:spLocks noChangeArrowheads="1"/>
            </p:cNvSpPr>
            <p:nvPr/>
          </p:nvSpPr>
          <p:spPr bwMode="auto">
            <a:xfrm>
              <a:off x="4495" y="2112"/>
              <a:ext cx="327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3655" dirty="0"/>
                <a:t>用户需求</a:t>
              </a:r>
              <a:endParaRPr lang="zh-CN" altLang="en-US" sz="3655" dirty="0"/>
            </a:p>
          </p:txBody>
        </p:sp>
        <p:sp>
          <p:nvSpPr>
            <p:cNvPr id="36" name="Text Box 620"/>
            <p:cNvSpPr txBox="1">
              <a:spLocks noChangeArrowheads="1"/>
            </p:cNvSpPr>
            <p:nvPr/>
          </p:nvSpPr>
          <p:spPr bwMode="auto">
            <a:xfrm>
              <a:off x="3216" y="1872"/>
              <a:ext cx="402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3655"/>
                <a:t>零售商需求</a:t>
              </a:r>
              <a:endParaRPr lang="zh-CN" altLang="en-US" sz="3655"/>
            </a:p>
          </p:txBody>
        </p:sp>
        <p:sp>
          <p:nvSpPr>
            <p:cNvPr id="37" name="Text Box 621"/>
            <p:cNvSpPr txBox="1">
              <a:spLocks noChangeArrowheads="1"/>
            </p:cNvSpPr>
            <p:nvPr/>
          </p:nvSpPr>
          <p:spPr bwMode="auto">
            <a:xfrm>
              <a:off x="2064" y="1872"/>
              <a:ext cx="476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3655" dirty="0"/>
                <a:t>分销商户需求</a:t>
              </a:r>
              <a:endParaRPr lang="zh-CN" altLang="en-US" sz="3655" dirty="0"/>
            </a:p>
          </p:txBody>
        </p:sp>
        <p:sp>
          <p:nvSpPr>
            <p:cNvPr id="38" name="Text Box 622"/>
            <p:cNvSpPr txBox="1">
              <a:spLocks noChangeArrowheads="1"/>
            </p:cNvSpPr>
            <p:nvPr/>
          </p:nvSpPr>
          <p:spPr bwMode="auto">
            <a:xfrm>
              <a:off x="1104" y="1872"/>
              <a:ext cx="327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3655" dirty="0"/>
                <a:t>总装需求</a:t>
              </a:r>
              <a:endParaRPr lang="zh-CN" altLang="en-US" sz="3655" dirty="0"/>
            </a:p>
          </p:txBody>
        </p:sp>
        <p:sp>
          <p:nvSpPr>
            <p:cNvPr id="39" name="Text Box 623"/>
            <p:cNvSpPr txBox="1">
              <a:spLocks noChangeArrowheads="1"/>
            </p:cNvSpPr>
            <p:nvPr/>
          </p:nvSpPr>
          <p:spPr bwMode="auto">
            <a:xfrm>
              <a:off x="4509" y="2496"/>
              <a:ext cx="178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3655" dirty="0"/>
                <a:t>推动</a:t>
              </a:r>
              <a:endParaRPr lang="zh-CN" altLang="en-US" sz="3655" dirty="0"/>
            </a:p>
          </p:txBody>
        </p:sp>
        <p:sp>
          <p:nvSpPr>
            <p:cNvPr id="40" name="Text Box 624"/>
            <p:cNvSpPr txBox="1">
              <a:spLocks noChangeArrowheads="1"/>
            </p:cNvSpPr>
            <p:nvPr/>
          </p:nvSpPr>
          <p:spPr bwMode="auto">
            <a:xfrm>
              <a:off x="2396" y="2352"/>
              <a:ext cx="178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3655" dirty="0"/>
                <a:t>推动</a:t>
              </a:r>
              <a:endParaRPr lang="zh-CN" altLang="en-US" sz="3655" dirty="0"/>
            </a:p>
          </p:txBody>
        </p:sp>
        <p:sp>
          <p:nvSpPr>
            <p:cNvPr id="41" name="Text Box 625"/>
            <p:cNvSpPr txBox="1">
              <a:spLocks noChangeArrowheads="1"/>
            </p:cNvSpPr>
            <p:nvPr/>
          </p:nvSpPr>
          <p:spPr bwMode="auto">
            <a:xfrm>
              <a:off x="3404" y="2304"/>
              <a:ext cx="178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3655" dirty="0"/>
                <a:t>推动</a:t>
              </a:r>
              <a:endParaRPr lang="zh-CN" altLang="en-US" sz="3655" dirty="0"/>
            </a:p>
          </p:txBody>
        </p:sp>
        <p:sp>
          <p:nvSpPr>
            <p:cNvPr id="42" name="Text Box 626"/>
            <p:cNvSpPr txBox="1">
              <a:spLocks noChangeArrowheads="1"/>
            </p:cNvSpPr>
            <p:nvPr/>
          </p:nvSpPr>
          <p:spPr bwMode="auto">
            <a:xfrm>
              <a:off x="1340" y="2352"/>
              <a:ext cx="178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3655" dirty="0"/>
                <a:t>推动</a:t>
              </a:r>
              <a:endParaRPr lang="zh-CN" altLang="en-US" sz="3655" dirty="0"/>
            </a:p>
          </p:txBody>
        </p:sp>
        <p:sp>
          <p:nvSpPr>
            <p:cNvPr id="643" name="Text Box 622"/>
            <p:cNvSpPr txBox="1">
              <a:spLocks noChangeArrowheads="1"/>
            </p:cNvSpPr>
            <p:nvPr/>
          </p:nvSpPr>
          <p:spPr bwMode="auto">
            <a:xfrm>
              <a:off x="589" y="2811"/>
              <a:ext cx="476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3655" dirty="0"/>
                <a:t>原材料供应商</a:t>
              </a:r>
              <a:endParaRPr lang="zh-CN" altLang="en-US" sz="3655" dirty="0"/>
            </a:p>
          </p:txBody>
        </p:sp>
        <p:sp>
          <p:nvSpPr>
            <p:cNvPr id="644" name="Text Box 622"/>
            <p:cNvSpPr txBox="1">
              <a:spLocks noChangeArrowheads="1"/>
            </p:cNvSpPr>
            <p:nvPr/>
          </p:nvSpPr>
          <p:spPr bwMode="auto">
            <a:xfrm>
              <a:off x="1836" y="2811"/>
              <a:ext cx="253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3655" dirty="0"/>
                <a:t>生产商</a:t>
              </a:r>
              <a:endParaRPr lang="zh-CN" altLang="en-US" sz="3655" dirty="0"/>
            </a:p>
          </p:txBody>
        </p:sp>
        <p:sp>
          <p:nvSpPr>
            <p:cNvPr id="645" name="Text Box 622"/>
            <p:cNvSpPr txBox="1">
              <a:spLocks noChangeArrowheads="1"/>
            </p:cNvSpPr>
            <p:nvPr/>
          </p:nvSpPr>
          <p:spPr bwMode="auto">
            <a:xfrm>
              <a:off x="2878" y="2820"/>
              <a:ext cx="253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3655" dirty="0"/>
                <a:t>分销商</a:t>
              </a:r>
              <a:endParaRPr lang="zh-CN" altLang="en-US" sz="3655" dirty="0"/>
            </a:p>
          </p:txBody>
        </p:sp>
        <p:sp>
          <p:nvSpPr>
            <p:cNvPr id="646" name="Text Box 622"/>
            <p:cNvSpPr txBox="1">
              <a:spLocks noChangeArrowheads="1"/>
            </p:cNvSpPr>
            <p:nvPr/>
          </p:nvSpPr>
          <p:spPr bwMode="auto">
            <a:xfrm>
              <a:off x="3947" y="2847"/>
              <a:ext cx="253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3655" dirty="0"/>
                <a:t>零售商</a:t>
              </a:r>
              <a:endParaRPr lang="zh-CN" altLang="en-US" sz="3655" dirty="0"/>
            </a:p>
          </p:txBody>
        </p:sp>
        <p:sp>
          <p:nvSpPr>
            <p:cNvPr id="647" name="Text Box 622"/>
            <p:cNvSpPr txBox="1">
              <a:spLocks noChangeArrowheads="1"/>
            </p:cNvSpPr>
            <p:nvPr/>
          </p:nvSpPr>
          <p:spPr bwMode="auto">
            <a:xfrm>
              <a:off x="4981" y="2849"/>
              <a:ext cx="178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3655" dirty="0"/>
                <a:t>用户</a:t>
              </a:r>
              <a:endParaRPr lang="zh-CN" altLang="en-US" sz="3655" dirty="0"/>
            </a:p>
          </p:txBody>
        </p:sp>
      </p:grpSp>
      <p:grpSp>
        <p:nvGrpSpPr>
          <p:cNvPr id="6" name="Group 627"/>
          <p:cNvGrpSpPr/>
          <p:nvPr/>
        </p:nvGrpSpPr>
        <p:grpSpPr bwMode="auto">
          <a:xfrm>
            <a:off x="3415946" y="10928253"/>
            <a:ext cx="22353656" cy="1458052"/>
            <a:chOff x="384" y="2832"/>
            <a:chExt cx="4176" cy="336"/>
          </a:xfrm>
        </p:grpSpPr>
        <p:sp>
          <p:nvSpPr>
            <p:cNvPr id="7" name="Text Box 628"/>
            <p:cNvSpPr txBox="1">
              <a:spLocks noChangeArrowheads="1"/>
            </p:cNvSpPr>
            <p:nvPr/>
          </p:nvSpPr>
          <p:spPr bwMode="auto">
            <a:xfrm>
              <a:off x="3840" y="2832"/>
              <a:ext cx="209" cy="1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3655" dirty="0"/>
                <a:t>几天</a:t>
              </a:r>
              <a:endParaRPr lang="zh-CN" altLang="en-US" sz="3655" dirty="0"/>
            </a:p>
          </p:txBody>
        </p:sp>
        <p:sp>
          <p:nvSpPr>
            <p:cNvPr id="8" name="Text Box 629"/>
            <p:cNvSpPr txBox="1">
              <a:spLocks noChangeArrowheads="1"/>
            </p:cNvSpPr>
            <p:nvPr/>
          </p:nvSpPr>
          <p:spPr bwMode="auto">
            <a:xfrm>
              <a:off x="2832" y="2832"/>
              <a:ext cx="311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3655"/>
                <a:t>几个星期</a:t>
              </a:r>
              <a:endParaRPr lang="zh-CN" altLang="en-US" sz="3655"/>
            </a:p>
          </p:txBody>
        </p:sp>
        <p:sp>
          <p:nvSpPr>
            <p:cNvPr id="9" name="Text Box 630"/>
            <p:cNvSpPr txBox="1">
              <a:spLocks noChangeArrowheads="1"/>
            </p:cNvSpPr>
            <p:nvPr/>
          </p:nvSpPr>
          <p:spPr bwMode="auto">
            <a:xfrm>
              <a:off x="1776" y="2832"/>
              <a:ext cx="240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3655"/>
                <a:t>几个月</a:t>
              </a:r>
              <a:endParaRPr lang="zh-CN" altLang="en-US" sz="3655"/>
            </a:p>
          </p:txBody>
        </p:sp>
        <p:sp>
          <p:nvSpPr>
            <p:cNvPr id="10" name="Text Box 631"/>
            <p:cNvSpPr txBox="1">
              <a:spLocks noChangeArrowheads="1"/>
            </p:cNvSpPr>
            <p:nvPr/>
          </p:nvSpPr>
          <p:spPr bwMode="auto">
            <a:xfrm>
              <a:off x="720" y="2832"/>
              <a:ext cx="240" cy="1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3655" dirty="0"/>
                <a:t>几个月</a:t>
              </a:r>
              <a:endParaRPr lang="zh-CN" altLang="en-US" sz="3655" dirty="0"/>
            </a:p>
          </p:txBody>
        </p:sp>
        <p:sp>
          <p:nvSpPr>
            <p:cNvPr id="11" name="Line 632"/>
            <p:cNvSpPr>
              <a:spLocks noChangeShapeType="1"/>
            </p:cNvSpPr>
            <p:nvPr/>
          </p:nvSpPr>
          <p:spPr bwMode="auto">
            <a:xfrm>
              <a:off x="384" y="3024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12" name="Line 633"/>
            <p:cNvSpPr>
              <a:spLocks noChangeShapeType="1"/>
            </p:cNvSpPr>
            <p:nvPr/>
          </p:nvSpPr>
          <p:spPr bwMode="auto">
            <a:xfrm>
              <a:off x="384" y="29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13" name="Line 634"/>
            <p:cNvSpPr>
              <a:spLocks noChangeShapeType="1"/>
            </p:cNvSpPr>
            <p:nvPr/>
          </p:nvSpPr>
          <p:spPr bwMode="auto">
            <a:xfrm>
              <a:off x="1392" y="29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14" name="Line 635"/>
            <p:cNvSpPr>
              <a:spLocks noChangeShapeType="1"/>
            </p:cNvSpPr>
            <p:nvPr/>
          </p:nvSpPr>
          <p:spPr bwMode="auto">
            <a:xfrm>
              <a:off x="1392" y="3024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15" name="Line 636"/>
            <p:cNvSpPr>
              <a:spLocks noChangeShapeType="1"/>
            </p:cNvSpPr>
            <p:nvPr/>
          </p:nvSpPr>
          <p:spPr bwMode="auto">
            <a:xfrm>
              <a:off x="1392" y="29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16" name="Line 637"/>
            <p:cNvSpPr>
              <a:spLocks noChangeShapeType="1"/>
            </p:cNvSpPr>
            <p:nvPr/>
          </p:nvSpPr>
          <p:spPr bwMode="auto">
            <a:xfrm>
              <a:off x="2400" y="29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17" name="Line 638"/>
            <p:cNvSpPr>
              <a:spLocks noChangeShapeType="1"/>
            </p:cNvSpPr>
            <p:nvPr/>
          </p:nvSpPr>
          <p:spPr bwMode="auto">
            <a:xfrm>
              <a:off x="2400" y="3024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18" name="Line 639"/>
            <p:cNvSpPr>
              <a:spLocks noChangeShapeType="1"/>
            </p:cNvSpPr>
            <p:nvPr/>
          </p:nvSpPr>
          <p:spPr bwMode="auto">
            <a:xfrm>
              <a:off x="2400" y="29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19" name="Line 640"/>
            <p:cNvSpPr>
              <a:spLocks noChangeShapeType="1"/>
            </p:cNvSpPr>
            <p:nvPr/>
          </p:nvSpPr>
          <p:spPr bwMode="auto">
            <a:xfrm>
              <a:off x="3552" y="3024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20" name="Line 641"/>
            <p:cNvSpPr>
              <a:spLocks noChangeShapeType="1"/>
            </p:cNvSpPr>
            <p:nvPr/>
          </p:nvSpPr>
          <p:spPr bwMode="auto">
            <a:xfrm>
              <a:off x="3552" y="29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21" name="Line 642"/>
            <p:cNvSpPr>
              <a:spLocks noChangeShapeType="1"/>
            </p:cNvSpPr>
            <p:nvPr/>
          </p:nvSpPr>
          <p:spPr bwMode="auto">
            <a:xfrm>
              <a:off x="4560" y="29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</p:grpSp>
      <p:sp>
        <p:nvSpPr>
          <p:cNvPr id="649" name="文本框 648"/>
          <p:cNvSpPr txBox="1"/>
          <p:nvPr/>
        </p:nvSpPr>
        <p:spPr>
          <a:xfrm>
            <a:off x="8939369" y="13746012"/>
            <a:ext cx="10577392" cy="95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635" dirty="0"/>
              <a:t>“推式”供应链</a:t>
            </a:r>
            <a:endParaRPr lang="zh-CN" altLang="en-US" sz="5635" dirty="0"/>
          </a:p>
        </p:txBody>
      </p:sp>
      <p:sp>
        <p:nvSpPr>
          <p:cNvPr id="3" name="文本框 2"/>
          <p:cNvSpPr txBox="1"/>
          <p:nvPr/>
        </p:nvSpPr>
        <p:spPr>
          <a:xfrm>
            <a:off x="27260162" y="5694492"/>
            <a:ext cx="5646744" cy="821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/>
              <a:t>特点：</a:t>
            </a:r>
            <a:endParaRPr lang="en-US" altLang="zh-CN" sz="4800" dirty="0"/>
          </a:p>
          <a:p>
            <a:pPr algn="ctr"/>
            <a:endParaRPr lang="en-US" altLang="zh-CN" sz="4800" dirty="0"/>
          </a:p>
          <a:p>
            <a:pPr algn="ctr"/>
            <a:r>
              <a:rPr lang="zh-CN" altLang="en-US" sz="4800" dirty="0"/>
              <a:t>周期长</a:t>
            </a:r>
            <a:endParaRPr lang="en-US" altLang="zh-CN" sz="4800" dirty="0"/>
          </a:p>
          <a:p>
            <a:pPr algn="ctr"/>
            <a:endParaRPr lang="en-US" altLang="zh-CN" sz="4800" dirty="0"/>
          </a:p>
          <a:p>
            <a:pPr algn="ctr"/>
            <a:r>
              <a:rPr lang="zh-CN" altLang="en-US" sz="4800" dirty="0"/>
              <a:t>高库存</a:t>
            </a:r>
            <a:endParaRPr lang="en-US" altLang="zh-CN" sz="4800" dirty="0"/>
          </a:p>
          <a:p>
            <a:pPr algn="ctr"/>
            <a:endParaRPr lang="en-US" altLang="zh-CN" sz="4800" dirty="0"/>
          </a:p>
          <a:p>
            <a:pPr algn="ctr"/>
            <a:r>
              <a:rPr lang="zh-CN" altLang="en-US" sz="4800" dirty="0"/>
              <a:t>牛鞭效应大</a:t>
            </a:r>
            <a:endParaRPr lang="en-US" altLang="zh-CN" sz="4800" dirty="0"/>
          </a:p>
          <a:p>
            <a:pPr algn="ctr"/>
            <a:endParaRPr lang="en-US" altLang="zh-CN" sz="4800" dirty="0"/>
          </a:p>
          <a:p>
            <a:pPr algn="ctr"/>
            <a:endParaRPr lang="en-US" altLang="zh-CN" sz="4800" dirty="0"/>
          </a:p>
          <a:p>
            <a:pPr algn="ctr"/>
            <a:endParaRPr lang="en-US" altLang="zh-CN" sz="4800" dirty="0"/>
          </a:p>
          <a:p>
            <a:pPr algn="ctr"/>
            <a:endParaRPr lang="zh-CN" altLang="en-US" sz="4800" dirty="0"/>
          </a:p>
        </p:txBody>
      </p:sp>
      <p:sp>
        <p:nvSpPr>
          <p:cNvPr id="4" name="文本框 3"/>
          <p:cNvSpPr txBox="1"/>
          <p:nvPr/>
        </p:nvSpPr>
        <p:spPr>
          <a:xfrm>
            <a:off x="2724992" y="15504443"/>
            <a:ext cx="3029259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以下哪类产品属于推式供应链？</a:t>
            </a:r>
            <a:endParaRPr lang="en-US" altLang="zh-CN" sz="6000" dirty="0">
              <a:solidFill>
                <a:schemeClr val="accent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sz="6000" dirty="0">
              <a:solidFill>
                <a:schemeClr val="accent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6000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 </a:t>
            </a:r>
            <a:r>
              <a:rPr lang="zh-CN" altLang="en-US" sz="6000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劳斯莱斯汽车     </a:t>
            </a:r>
            <a:r>
              <a:rPr lang="en-US" altLang="zh-CN" sz="6000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6000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电视机     </a:t>
            </a:r>
            <a:r>
              <a:rPr lang="en-US" altLang="zh-CN" sz="6000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 </a:t>
            </a:r>
            <a:r>
              <a:rPr lang="zh-CN" altLang="en-US" sz="6000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板卡     </a:t>
            </a:r>
            <a:r>
              <a:rPr lang="en-US" altLang="zh-CN" sz="6000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 </a:t>
            </a:r>
            <a:r>
              <a:rPr lang="zh-CN" altLang="en-US" sz="6000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矿泉水</a:t>
            </a:r>
            <a:r>
              <a:rPr lang="en-US" altLang="zh-CN" sz="6000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sz="6000" dirty="0">
              <a:solidFill>
                <a:schemeClr val="accent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7310" dirty="0">
                <a:solidFill>
                  <a:srgbClr val="595959"/>
                </a:solidFill>
                <a:ea typeface="方正兰亭黑_GBK" panose="02000000000000000000" pitchFamily="2" charset="-122"/>
              </a:rPr>
              <a:t>精细供应链</a:t>
            </a:r>
            <a:endParaRPr lang="zh-CN" altLang="en-US" sz="7310" dirty="0">
              <a:solidFill>
                <a:srgbClr val="595959"/>
              </a:solidFill>
              <a:ea typeface="方正兰亭黑_GBK" panose="02000000000000000000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943707" y="4477769"/>
            <a:ext cx="23485423" cy="7729837"/>
            <a:chOff x="3471877" y="5485844"/>
            <a:chExt cx="39773439" cy="9909036"/>
          </a:xfrm>
        </p:grpSpPr>
        <p:grpSp>
          <p:nvGrpSpPr>
            <p:cNvPr id="5" name="Group 6"/>
            <p:cNvGrpSpPr/>
            <p:nvPr/>
          </p:nvGrpSpPr>
          <p:grpSpPr bwMode="auto">
            <a:xfrm>
              <a:off x="3471877" y="5485844"/>
              <a:ext cx="39773439" cy="6568901"/>
              <a:chOff x="480" y="1872"/>
              <a:chExt cx="4818" cy="1124"/>
            </a:xfrm>
          </p:grpSpPr>
          <p:grpSp>
            <p:nvGrpSpPr>
              <p:cNvPr id="22" name="Group 7"/>
              <p:cNvGrpSpPr/>
              <p:nvPr/>
            </p:nvGrpSpPr>
            <p:grpSpPr bwMode="auto">
              <a:xfrm>
                <a:off x="3744" y="2256"/>
                <a:ext cx="625" cy="365"/>
                <a:chOff x="3016" y="2340"/>
                <a:chExt cx="721" cy="413"/>
              </a:xfrm>
            </p:grpSpPr>
            <p:sp>
              <p:nvSpPr>
                <p:cNvPr id="547" name="Freeform 8"/>
                <p:cNvSpPr/>
                <p:nvPr/>
              </p:nvSpPr>
              <p:spPr bwMode="auto">
                <a:xfrm>
                  <a:off x="3301" y="2625"/>
                  <a:ext cx="7" cy="28"/>
                </a:xfrm>
                <a:custGeom>
                  <a:avLst/>
                  <a:gdLst>
                    <a:gd name="T0" fmla="*/ 32 w 32"/>
                    <a:gd name="T1" fmla="*/ 34 h 110"/>
                    <a:gd name="T2" fmla="*/ 32 w 32"/>
                    <a:gd name="T3" fmla="*/ 110 h 110"/>
                    <a:gd name="T4" fmla="*/ 0 w 32"/>
                    <a:gd name="T5" fmla="*/ 106 h 110"/>
                    <a:gd name="T6" fmla="*/ 0 w 32"/>
                    <a:gd name="T7" fmla="*/ 0 h 110"/>
                    <a:gd name="T8" fmla="*/ 32 w 32"/>
                    <a:gd name="T9" fmla="*/ 34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110">
                      <a:moveTo>
                        <a:pt x="32" y="34"/>
                      </a:moveTo>
                      <a:lnTo>
                        <a:pt x="32" y="110"/>
                      </a:lnTo>
                      <a:lnTo>
                        <a:pt x="0" y="106"/>
                      </a:lnTo>
                      <a:lnTo>
                        <a:pt x="0" y="0"/>
                      </a:lnTo>
                      <a:lnTo>
                        <a:pt x="32" y="34"/>
                      </a:lnTo>
                      <a:close/>
                    </a:path>
                  </a:pathLst>
                </a:custGeom>
                <a:solidFill>
                  <a:srgbClr val="F9F9F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3655"/>
                </a:p>
              </p:txBody>
            </p:sp>
            <p:grpSp>
              <p:nvGrpSpPr>
                <p:cNvPr id="548" name="Group 9"/>
                <p:cNvGrpSpPr/>
                <p:nvPr/>
              </p:nvGrpSpPr>
              <p:grpSpPr bwMode="auto">
                <a:xfrm>
                  <a:off x="3016" y="2340"/>
                  <a:ext cx="721" cy="413"/>
                  <a:chOff x="3016" y="2340"/>
                  <a:chExt cx="721" cy="413"/>
                </a:xfrm>
              </p:grpSpPr>
              <p:grpSp>
                <p:nvGrpSpPr>
                  <p:cNvPr id="549" name="Group 10"/>
                  <p:cNvGrpSpPr/>
                  <p:nvPr/>
                </p:nvGrpSpPr>
                <p:grpSpPr bwMode="auto">
                  <a:xfrm>
                    <a:off x="3016" y="2340"/>
                    <a:ext cx="553" cy="372"/>
                    <a:chOff x="3016" y="2340"/>
                    <a:chExt cx="553" cy="372"/>
                  </a:xfrm>
                </p:grpSpPr>
                <p:sp>
                  <p:nvSpPr>
                    <p:cNvPr id="610" name="Freeform 11"/>
                    <p:cNvSpPr/>
                    <p:nvPr/>
                  </p:nvSpPr>
                  <p:spPr bwMode="auto">
                    <a:xfrm>
                      <a:off x="3017" y="2416"/>
                      <a:ext cx="552" cy="296"/>
                    </a:xfrm>
                    <a:custGeom>
                      <a:avLst/>
                      <a:gdLst>
                        <a:gd name="T0" fmla="*/ 2760 w 2760"/>
                        <a:gd name="T1" fmla="*/ 0 h 1181"/>
                        <a:gd name="T2" fmla="*/ 2760 w 2760"/>
                        <a:gd name="T3" fmla="*/ 1181 h 1181"/>
                        <a:gd name="T4" fmla="*/ 103 w 2760"/>
                        <a:gd name="T5" fmla="*/ 1181 h 1181"/>
                        <a:gd name="T6" fmla="*/ 103 w 2760"/>
                        <a:gd name="T7" fmla="*/ 962 h 1181"/>
                        <a:gd name="T8" fmla="*/ 50 w 2760"/>
                        <a:gd name="T9" fmla="*/ 947 h 1181"/>
                        <a:gd name="T10" fmla="*/ 50 w 2760"/>
                        <a:gd name="T11" fmla="*/ 800 h 1181"/>
                        <a:gd name="T12" fmla="*/ 0 w 2760"/>
                        <a:gd name="T13" fmla="*/ 778 h 1181"/>
                        <a:gd name="T14" fmla="*/ 2760 w 2760"/>
                        <a:gd name="T15" fmla="*/ 0 h 118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</a:cxnLst>
                      <a:rect l="0" t="0" r="r" b="b"/>
                      <a:pathLst>
                        <a:path w="2760" h="1181">
                          <a:moveTo>
                            <a:pt x="2760" y="0"/>
                          </a:moveTo>
                          <a:lnTo>
                            <a:pt x="2760" y="1181"/>
                          </a:lnTo>
                          <a:lnTo>
                            <a:pt x="103" y="1181"/>
                          </a:lnTo>
                          <a:lnTo>
                            <a:pt x="103" y="962"/>
                          </a:lnTo>
                          <a:lnTo>
                            <a:pt x="50" y="947"/>
                          </a:lnTo>
                          <a:lnTo>
                            <a:pt x="50" y="800"/>
                          </a:lnTo>
                          <a:lnTo>
                            <a:pt x="0" y="778"/>
                          </a:lnTo>
                          <a:lnTo>
                            <a:pt x="2760" y="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grpSp>
                  <p:nvGrpSpPr>
                    <p:cNvPr id="611" name="Group 12"/>
                    <p:cNvGrpSpPr/>
                    <p:nvPr/>
                  </p:nvGrpSpPr>
                  <p:grpSpPr bwMode="auto">
                    <a:xfrm>
                      <a:off x="3061" y="2651"/>
                      <a:ext cx="35" cy="22"/>
                      <a:chOff x="3061" y="2651"/>
                      <a:chExt cx="35" cy="22"/>
                    </a:xfrm>
                  </p:grpSpPr>
                  <p:sp>
                    <p:nvSpPr>
                      <p:cNvPr id="636" name="Oval 1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91" y="2651"/>
                        <a:ext cx="5" cy="19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637" name="Oval 1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84" y="2651"/>
                        <a:ext cx="5" cy="20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638" name="Oval 1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79" y="2652"/>
                        <a:ext cx="4" cy="20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639" name="Oval 1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73" y="2652"/>
                        <a:ext cx="5" cy="20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640" name="Oval 1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67" y="2653"/>
                        <a:ext cx="5" cy="20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641" name="Oval 1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61" y="2653"/>
                        <a:ext cx="5" cy="20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612" name="Group 19"/>
                    <p:cNvGrpSpPr/>
                    <p:nvPr/>
                  </p:nvGrpSpPr>
                  <p:grpSpPr bwMode="auto">
                    <a:xfrm>
                      <a:off x="3133" y="2624"/>
                      <a:ext cx="59" cy="41"/>
                      <a:chOff x="3133" y="2624"/>
                      <a:chExt cx="59" cy="41"/>
                    </a:xfrm>
                  </p:grpSpPr>
                  <p:sp>
                    <p:nvSpPr>
                      <p:cNvPr id="629" name="Freeform 20"/>
                      <p:cNvSpPr/>
                      <p:nvPr/>
                    </p:nvSpPr>
                    <p:spPr bwMode="auto">
                      <a:xfrm>
                        <a:off x="3185" y="2624"/>
                        <a:ext cx="7" cy="33"/>
                      </a:xfrm>
                      <a:custGeom>
                        <a:avLst/>
                        <a:gdLst>
                          <a:gd name="T0" fmla="*/ 0 w 38"/>
                          <a:gd name="T1" fmla="*/ 0 h 131"/>
                          <a:gd name="T2" fmla="*/ 0 w 38"/>
                          <a:gd name="T3" fmla="*/ 131 h 131"/>
                          <a:gd name="T4" fmla="*/ 38 w 38"/>
                          <a:gd name="T5" fmla="*/ 131 h 131"/>
                          <a:gd name="T6" fmla="*/ 38 w 38"/>
                          <a:gd name="T7" fmla="*/ 52 h 131"/>
                          <a:gd name="T8" fmla="*/ 0 w 38"/>
                          <a:gd name="T9" fmla="*/ 0 h 131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38" h="131">
                            <a:moveTo>
                              <a:pt x="0" y="0"/>
                            </a:moveTo>
                            <a:lnTo>
                              <a:pt x="0" y="131"/>
                            </a:lnTo>
                            <a:lnTo>
                              <a:pt x="38" y="131"/>
                            </a:lnTo>
                            <a:lnTo>
                              <a:pt x="38" y="52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630" name="Freeform 21"/>
                      <p:cNvSpPr/>
                      <p:nvPr/>
                    </p:nvSpPr>
                    <p:spPr bwMode="auto">
                      <a:xfrm>
                        <a:off x="3175" y="2625"/>
                        <a:ext cx="8" cy="33"/>
                      </a:xfrm>
                      <a:custGeom>
                        <a:avLst/>
                        <a:gdLst>
                          <a:gd name="T0" fmla="*/ 0 w 38"/>
                          <a:gd name="T1" fmla="*/ 0 h 130"/>
                          <a:gd name="T2" fmla="*/ 0 w 38"/>
                          <a:gd name="T3" fmla="*/ 130 h 130"/>
                          <a:gd name="T4" fmla="*/ 38 w 38"/>
                          <a:gd name="T5" fmla="*/ 130 h 130"/>
                          <a:gd name="T6" fmla="*/ 38 w 38"/>
                          <a:gd name="T7" fmla="*/ 52 h 130"/>
                          <a:gd name="T8" fmla="*/ 0 w 38"/>
                          <a:gd name="T9" fmla="*/ 0 h 13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38" h="130">
                            <a:moveTo>
                              <a:pt x="0" y="0"/>
                            </a:moveTo>
                            <a:lnTo>
                              <a:pt x="0" y="130"/>
                            </a:lnTo>
                            <a:lnTo>
                              <a:pt x="38" y="130"/>
                            </a:lnTo>
                            <a:lnTo>
                              <a:pt x="38" y="52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631" name="Freeform 22"/>
                      <p:cNvSpPr/>
                      <p:nvPr/>
                    </p:nvSpPr>
                    <p:spPr bwMode="auto">
                      <a:xfrm>
                        <a:off x="3167" y="2626"/>
                        <a:ext cx="7" cy="33"/>
                      </a:xfrm>
                      <a:custGeom>
                        <a:avLst/>
                        <a:gdLst>
                          <a:gd name="T0" fmla="*/ 0 w 37"/>
                          <a:gd name="T1" fmla="*/ 0 h 131"/>
                          <a:gd name="T2" fmla="*/ 0 w 37"/>
                          <a:gd name="T3" fmla="*/ 131 h 131"/>
                          <a:gd name="T4" fmla="*/ 37 w 37"/>
                          <a:gd name="T5" fmla="*/ 131 h 131"/>
                          <a:gd name="T6" fmla="*/ 37 w 37"/>
                          <a:gd name="T7" fmla="*/ 52 h 131"/>
                          <a:gd name="T8" fmla="*/ 0 w 37"/>
                          <a:gd name="T9" fmla="*/ 0 h 131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37" h="131">
                            <a:moveTo>
                              <a:pt x="0" y="0"/>
                            </a:moveTo>
                            <a:lnTo>
                              <a:pt x="0" y="131"/>
                            </a:lnTo>
                            <a:lnTo>
                              <a:pt x="37" y="131"/>
                            </a:lnTo>
                            <a:lnTo>
                              <a:pt x="37" y="52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632" name="Freeform 23"/>
                      <p:cNvSpPr/>
                      <p:nvPr/>
                    </p:nvSpPr>
                    <p:spPr bwMode="auto">
                      <a:xfrm>
                        <a:off x="3159" y="2628"/>
                        <a:ext cx="7" cy="33"/>
                      </a:xfrm>
                      <a:custGeom>
                        <a:avLst/>
                        <a:gdLst>
                          <a:gd name="T0" fmla="*/ 0 w 37"/>
                          <a:gd name="T1" fmla="*/ 0 h 129"/>
                          <a:gd name="T2" fmla="*/ 0 w 37"/>
                          <a:gd name="T3" fmla="*/ 129 h 129"/>
                          <a:gd name="T4" fmla="*/ 37 w 37"/>
                          <a:gd name="T5" fmla="*/ 129 h 129"/>
                          <a:gd name="T6" fmla="*/ 37 w 37"/>
                          <a:gd name="T7" fmla="*/ 50 h 129"/>
                          <a:gd name="T8" fmla="*/ 0 w 37"/>
                          <a:gd name="T9" fmla="*/ 0 h 129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37" h="129">
                            <a:moveTo>
                              <a:pt x="0" y="0"/>
                            </a:moveTo>
                            <a:lnTo>
                              <a:pt x="0" y="129"/>
                            </a:lnTo>
                            <a:lnTo>
                              <a:pt x="37" y="129"/>
                            </a:lnTo>
                            <a:lnTo>
                              <a:pt x="37" y="5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633" name="Freeform 24"/>
                      <p:cNvSpPr/>
                      <p:nvPr/>
                    </p:nvSpPr>
                    <p:spPr bwMode="auto">
                      <a:xfrm>
                        <a:off x="3150" y="2628"/>
                        <a:ext cx="8" cy="33"/>
                      </a:xfrm>
                      <a:custGeom>
                        <a:avLst/>
                        <a:gdLst>
                          <a:gd name="T0" fmla="*/ 0 w 38"/>
                          <a:gd name="T1" fmla="*/ 0 h 129"/>
                          <a:gd name="T2" fmla="*/ 0 w 38"/>
                          <a:gd name="T3" fmla="*/ 129 h 129"/>
                          <a:gd name="T4" fmla="*/ 38 w 38"/>
                          <a:gd name="T5" fmla="*/ 129 h 129"/>
                          <a:gd name="T6" fmla="*/ 38 w 38"/>
                          <a:gd name="T7" fmla="*/ 52 h 129"/>
                          <a:gd name="T8" fmla="*/ 0 w 38"/>
                          <a:gd name="T9" fmla="*/ 0 h 129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38" h="129">
                            <a:moveTo>
                              <a:pt x="0" y="0"/>
                            </a:moveTo>
                            <a:lnTo>
                              <a:pt x="0" y="129"/>
                            </a:lnTo>
                            <a:lnTo>
                              <a:pt x="38" y="129"/>
                            </a:lnTo>
                            <a:lnTo>
                              <a:pt x="38" y="52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634" name="Freeform 25"/>
                      <p:cNvSpPr/>
                      <p:nvPr/>
                    </p:nvSpPr>
                    <p:spPr bwMode="auto">
                      <a:xfrm>
                        <a:off x="3142" y="2630"/>
                        <a:ext cx="8" cy="33"/>
                      </a:xfrm>
                      <a:custGeom>
                        <a:avLst/>
                        <a:gdLst>
                          <a:gd name="T0" fmla="*/ 0 w 37"/>
                          <a:gd name="T1" fmla="*/ 0 h 131"/>
                          <a:gd name="T2" fmla="*/ 0 w 37"/>
                          <a:gd name="T3" fmla="*/ 131 h 131"/>
                          <a:gd name="T4" fmla="*/ 37 w 37"/>
                          <a:gd name="T5" fmla="*/ 131 h 131"/>
                          <a:gd name="T6" fmla="*/ 37 w 37"/>
                          <a:gd name="T7" fmla="*/ 52 h 131"/>
                          <a:gd name="T8" fmla="*/ 0 w 37"/>
                          <a:gd name="T9" fmla="*/ 0 h 131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37" h="131">
                            <a:moveTo>
                              <a:pt x="0" y="0"/>
                            </a:moveTo>
                            <a:lnTo>
                              <a:pt x="0" y="131"/>
                            </a:lnTo>
                            <a:lnTo>
                              <a:pt x="37" y="131"/>
                            </a:lnTo>
                            <a:lnTo>
                              <a:pt x="37" y="52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635" name="Freeform 26"/>
                      <p:cNvSpPr/>
                      <p:nvPr/>
                    </p:nvSpPr>
                    <p:spPr bwMode="auto">
                      <a:xfrm>
                        <a:off x="3133" y="2632"/>
                        <a:ext cx="8" cy="33"/>
                      </a:xfrm>
                      <a:custGeom>
                        <a:avLst/>
                        <a:gdLst>
                          <a:gd name="T0" fmla="*/ 0 w 38"/>
                          <a:gd name="T1" fmla="*/ 0 h 130"/>
                          <a:gd name="T2" fmla="*/ 0 w 38"/>
                          <a:gd name="T3" fmla="*/ 130 h 130"/>
                          <a:gd name="T4" fmla="*/ 38 w 38"/>
                          <a:gd name="T5" fmla="*/ 130 h 130"/>
                          <a:gd name="T6" fmla="*/ 38 w 38"/>
                          <a:gd name="T7" fmla="*/ 52 h 130"/>
                          <a:gd name="T8" fmla="*/ 0 w 38"/>
                          <a:gd name="T9" fmla="*/ 0 h 13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38" h="130">
                            <a:moveTo>
                              <a:pt x="0" y="0"/>
                            </a:moveTo>
                            <a:lnTo>
                              <a:pt x="0" y="130"/>
                            </a:lnTo>
                            <a:lnTo>
                              <a:pt x="38" y="130"/>
                            </a:lnTo>
                            <a:lnTo>
                              <a:pt x="38" y="52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613" name="Group 27"/>
                    <p:cNvGrpSpPr/>
                    <p:nvPr/>
                  </p:nvGrpSpPr>
                  <p:grpSpPr bwMode="auto">
                    <a:xfrm>
                      <a:off x="3248" y="2601"/>
                      <a:ext cx="80" cy="48"/>
                      <a:chOff x="3248" y="2601"/>
                      <a:chExt cx="80" cy="48"/>
                    </a:xfrm>
                  </p:grpSpPr>
                  <p:sp>
                    <p:nvSpPr>
                      <p:cNvPr id="623" name="Freeform 28"/>
                      <p:cNvSpPr/>
                      <p:nvPr/>
                    </p:nvSpPr>
                    <p:spPr bwMode="auto">
                      <a:xfrm>
                        <a:off x="3318" y="2601"/>
                        <a:ext cx="10" cy="39"/>
                      </a:xfrm>
                      <a:custGeom>
                        <a:avLst/>
                        <a:gdLst>
                          <a:gd name="T0" fmla="*/ 0 w 49"/>
                          <a:gd name="T1" fmla="*/ 0 h 153"/>
                          <a:gd name="T2" fmla="*/ 0 w 49"/>
                          <a:gd name="T3" fmla="*/ 153 h 153"/>
                          <a:gd name="T4" fmla="*/ 49 w 49"/>
                          <a:gd name="T5" fmla="*/ 153 h 153"/>
                          <a:gd name="T6" fmla="*/ 49 w 49"/>
                          <a:gd name="T7" fmla="*/ 44 h 153"/>
                          <a:gd name="T8" fmla="*/ 0 w 49"/>
                          <a:gd name="T9" fmla="*/ 0 h 15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49" h="153">
                            <a:moveTo>
                              <a:pt x="0" y="0"/>
                            </a:moveTo>
                            <a:lnTo>
                              <a:pt x="0" y="153"/>
                            </a:lnTo>
                            <a:lnTo>
                              <a:pt x="49" y="153"/>
                            </a:lnTo>
                            <a:lnTo>
                              <a:pt x="49" y="44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624" name="Freeform 29"/>
                      <p:cNvSpPr/>
                      <p:nvPr/>
                    </p:nvSpPr>
                    <p:spPr bwMode="auto">
                      <a:xfrm>
                        <a:off x="3304" y="2604"/>
                        <a:ext cx="10" cy="38"/>
                      </a:xfrm>
                      <a:custGeom>
                        <a:avLst/>
                        <a:gdLst>
                          <a:gd name="T0" fmla="*/ 0 w 48"/>
                          <a:gd name="T1" fmla="*/ 0 h 153"/>
                          <a:gd name="T2" fmla="*/ 0 w 48"/>
                          <a:gd name="T3" fmla="*/ 153 h 153"/>
                          <a:gd name="T4" fmla="*/ 48 w 48"/>
                          <a:gd name="T5" fmla="*/ 153 h 153"/>
                          <a:gd name="T6" fmla="*/ 48 w 48"/>
                          <a:gd name="T7" fmla="*/ 44 h 153"/>
                          <a:gd name="T8" fmla="*/ 0 w 48"/>
                          <a:gd name="T9" fmla="*/ 0 h 15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48" h="153">
                            <a:moveTo>
                              <a:pt x="0" y="0"/>
                            </a:moveTo>
                            <a:lnTo>
                              <a:pt x="0" y="153"/>
                            </a:lnTo>
                            <a:lnTo>
                              <a:pt x="48" y="153"/>
                            </a:lnTo>
                            <a:lnTo>
                              <a:pt x="48" y="44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625" name="Freeform 30"/>
                      <p:cNvSpPr/>
                      <p:nvPr/>
                    </p:nvSpPr>
                    <p:spPr bwMode="auto">
                      <a:xfrm>
                        <a:off x="3291" y="2605"/>
                        <a:ext cx="9" cy="39"/>
                      </a:xfrm>
                      <a:custGeom>
                        <a:avLst/>
                        <a:gdLst>
                          <a:gd name="T0" fmla="*/ 0 w 49"/>
                          <a:gd name="T1" fmla="*/ 0 h 154"/>
                          <a:gd name="T2" fmla="*/ 0 w 49"/>
                          <a:gd name="T3" fmla="*/ 154 h 154"/>
                          <a:gd name="T4" fmla="*/ 49 w 49"/>
                          <a:gd name="T5" fmla="*/ 154 h 154"/>
                          <a:gd name="T6" fmla="*/ 49 w 49"/>
                          <a:gd name="T7" fmla="*/ 44 h 154"/>
                          <a:gd name="T8" fmla="*/ 0 w 49"/>
                          <a:gd name="T9" fmla="*/ 0 h 15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49" h="154">
                            <a:moveTo>
                              <a:pt x="0" y="0"/>
                            </a:moveTo>
                            <a:lnTo>
                              <a:pt x="0" y="154"/>
                            </a:lnTo>
                            <a:lnTo>
                              <a:pt x="49" y="154"/>
                            </a:lnTo>
                            <a:lnTo>
                              <a:pt x="49" y="44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626" name="Freeform 31"/>
                      <p:cNvSpPr/>
                      <p:nvPr/>
                    </p:nvSpPr>
                    <p:spPr bwMode="auto">
                      <a:xfrm>
                        <a:off x="3276" y="2607"/>
                        <a:ext cx="10" cy="38"/>
                      </a:xfrm>
                      <a:custGeom>
                        <a:avLst/>
                        <a:gdLst>
                          <a:gd name="T0" fmla="*/ 0 w 49"/>
                          <a:gd name="T1" fmla="*/ 0 h 155"/>
                          <a:gd name="T2" fmla="*/ 0 w 49"/>
                          <a:gd name="T3" fmla="*/ 155 h 155"/>
                          <a:gd name="T4" fmla="*/ 49 w 49"/>
                          <a:gd name="T5" fmla="*/ 155 h 155"/>
                          <a:gd name="T6" fmla="*/ 49 w 49"/>
                          <a:gd name="T7" fmla="*/ 45 h 155"/>
                          <a:gd name="T8" fmla="*/ 0 w 49"/>
                          <a:gd name="T9" fmla="*/ 0 h 155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49" h="155">
                            <a:moveTo>
                              <a:pt x="0" y="0"/>
                            </a:moveTo>
                            <a:lnTo>
                              <a:pt x="0" y="155"/>
                            </a:lnTo>
                            <a:lnTo>
                              <a:pt x="49" y="155"/>
                            </a:lnTo>
                            <a:lnTo>
                              <a:pt x="49" y="45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627" name="Freeform 32"/>
                      <p:cNvSpPr/>
                      <p:nvPr/>
                    </p:nvSpPr>
                    <p:spPr bwMode="auto">
                      <a:xfrm>
                        <a:off x="3262" y="2609"/>
                        <a:ext cx="10" cy="38"/>
                      </a:xfrm>
                      <a:custGeom>
                        <a:avLst/>
                        <a:gdLst>
                          <a:gd name="T0" fmla="*/ 0 w 49"/>
                          <a:gd name="T1" fmla="*/ 0 h 153"/>
                          <a:gd name="T2" fmla="*/ 0 w 49"/>
                          <a:gd name="T3" fmla="*/ 153 h 153"/>
                          <a:gd name="T4" fmla="*/ 49 w 49"/>
                          <a:gd name="T5" fmla="*/ 153 h 153"/>
                          <a:gd name="T6" fmla="*/ 49 w 49"/>
                          <a:gd name="T7" fmla="*/ 44 h 153"/>
                          <a:gd name="T8" fmla="*/ 0 w 49"/>
                          <a:gd name="T9" fmla="*/ 0 h 15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49" h="153">
                            <a:moveTo>
                              <a:pt x="0" y="0"/>
                            </a:moveTo>
                            <a:lnTo>
                              <a:pt x="0" y="153"/>
                            </a:lnTo>
                            <a:lnTo>
                              <a:pt x="49" y="153"/>
                            </a:lnTo>
                            <a:lnTo>
                              <a:pt x="49" y="44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628" name="Freeform 33"/>
                      <p:cNvSpPr/>
                      <p:nvPr/>
                    </p:nvSpPr>
                    <p:spPr bwMode="auto">
                      <a:xfrm>
                        <a:off x="3248" y="2610"/>
                        <a:ext cx="9" cy="39"/>
                      </a:xfrm>
                      <a:custGeom>
                        <a:avLst/>
                        <a:gdLst>
                          <a:gd name="T0" fmla="*/ 0 w 49"/>
                          <a:gd name="T1" fmla="*/ 0 h 155"/>
                          <a:gd name="T2" fmla="*/ 0 w 49"/>
                          <a:gd name="T3" fmla="*/ 155 h 155"/>
                          <a:gd name="T4" fmla="*/ 49 w 49"/>
                          <a:gd name="T5" fmla="*/ 155 h 155"/>
                          <a:gd name="T6" fmla="*/ 49 w 49"/>
                          <a:gd name="T7" fmla="*/ 45 h 155"/>
                          <a:gd name="T8" fmla="*/ 0 w 49"/>
                          <a:gd name="T9" fmla="*/ 0 h 155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49" h="155">
                            <a:moveTo>
                              <a:pt x="0" y="0"/>
                            </a:moveTo>
                            <a:lnTo>
                              <a:pt x="0" y="155"/>
                            </a:lnTo>
                            <a:lnTo>
                              <a:pt x="49" y="155"/>
                            </a:lnTo>
                            <a:lnTo>
                              <a:pt x="49" y="45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614" name="Group 34"/>
                    <p:cNvGrpSpPr/>
                    <p:nvPr/>
                  </p:nvGrpSpPr>
                  <p:grpSpPr bwMode="auto">
                    <a:xfrm>
                      <a:off x="3435" y="2576"/>
                      <a:ext cx="105" cy="49"/>
                      <a:chOff x="3435" y="2576"/>
                      <a:chExt cx="105" cy="49"/>
                    </a:xfrm>
                  </p:grpSpPr>
                  <p:sp>
                    <p:nvSpPr>
                      <p:cNvPr id="618" name="Freeform 35"/>
                      <p:cNvSpPr/>
                      <p:nvPr/>
                    </p:nvSpPr>
                    <p:spPr bwMode="auto">
                      <a:xfrm>
                        <a:off x="3530" y="2576"/>
                        <a:ext cx="10" cy="37"/>
                      </a:xfrm>
                      <a:custGeom>
                        <a:avLst/>
                        <a:gdLst>
                          <a:gd name="T0" fmla="*/ 0 w 50"/>
                          <a:gd name="T1" fmla="*/ 0 h 148"/>
                          <a:gd name="T2" fmla="*/ 0 w 50"/>
                          <a:gd name="T3" fmla="*/ 148 h 148"/>
                          <a:gd name="T4" fmla="*/ 50 w 50"/>
                          <a:gd name="T5" fmla="*/ 148 h 148"/>
                          <a:gd name="T6" fmla="*/ 50 w 50"/>
                          <a:gd name="T7" fmla="*/ 34 h 148"/>
                          <a:gd name="T8" fmla="*/ 0 w 50"/>
                          <a:gd name="T9" fmla="*/ 0 h 148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50" h="148">
                            <a:moveTo>
                              <a:pt x="0" y="0"/>
                            </a:moveTo>
                            <a:lnTo>
                              <a:pt x="0" y="148"/>
                            </a:lnTo>
                            <a:lnTo>
                              <a:pt x="50" y="148"/>
                            </a:lnTo>
                            <a:lnTo>
                              <a:pt x="50" y="34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619" name="Freeform 36"/>
                      <p:cNvSpPr/>
                      <p:nvPr/>
                    </p:nvSpPr>
                    <p:spPr bwMode="auto">
                      <a:xfrm>
                        <a:off x="3506" y="2578"/>
                        <a:ext cx="10" cy="37"/>
                      </a:xfrm>
                      <a:custGeom>
                        <a:avLst/>
                        <a:gdLst>
                          <a:gd name="T0" fmla="*/ 0 w 50"/>
                          <a:gd name="T1" fmla="*/ 0 h 148"/>
                          <a:gd name="T2" fmla="*/ 0 w 50"/>
                          <a:gd name="T3" fmla="*/ 148 h 148"/>
                          <a:gd name="T4" fmla="*/ 50 w 50"/>
                          <a:gd name="T5" fmla="*/ 148 h 148"/>
                          <a:gd name="T6" fmla="*/ 50 w 50"/>
                          <a:gd name="T7" fmla="*/ 33 h 148"/>
                          <a:gd name="T8" fmla="*/ 0 w 50"/>
                          <a:gd name="T9" fmla="*/ 0 h 148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50" h="148">
                            <a:moveTo>
                              <a:pt x="0" y="0"/>
                            </a:moveTo>
                            <a:lnTo>
                              <a:pt x="0" y="148"/>
                            </a:lnTo>
                            <a:lnTo>
                              <a:pt x="50" y="148"/>
                            </a:lnTo>
                            <a:lnTo>
                              <a:pt x="50" y="33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620" name="Freeform 37"/>
                      <p:cNvSpPr/>
                      <p:nvPr/>
                    </p:nvSpPr>
                    <p:spPr bwMode="auto">
                      <a:xfrm>
                        <a:off x="3482" y="2580"/>
                        <a:ext cx="10" cy="37"/>
                      </a:xfrm>
                      <a:custGeom>
                        <a:avLst/>
                        <a:gdLst>
                          <a:gd name="T0" fmla="*/ 0 w 49"/>
                          <a:gd name="T1" fmla="*/ 0 h 149"/>
                          <a:gd name="T2" fmla="*/ 0 w 49"/>
                          <a:gd name="T3" fmla="*/ 149 h 149"/>
                          <a:gd name="T4" fmla="*/ 49 w 49"/>
                          <a:gd name="T5" fmla="*/ 149 h 149"/>
                          <a:gd name="T6" fmla="*/ 49 w 49"/>
                          <a:gd name="T7" fmla="*/ 33 h 149"/>
                          <a:gd name="T8" fmla="*/ 0 w 49"/>
                          <a:gd name="T9" fmla="*/ 0 h 149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49" h="149">
                            <a:moveTo>
                              <a:pt x="0" y="0"/>
                            </a:moveTo>
                            <a:lnTo>
                              <a:pt x="0" y="149"/>
                            </a:lnTo>
                            <a:lnTo>
                              <a:pt x="49" y="149"/>
                            </a:lnTo>
                            <a:lnTo>
                              <a:pt x="49" y="33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621" name="Freeform 38"/>
                      <p:cNvSpPr/>
                      <p:nvPr/>
                    </p:nvSpPr>
                    <p:spPr bwMode="auto">
                      <a:xfrm>
                        <a:off x="3458" y="2583"/>
                        <a:ext cx="10" cy="37"/>
                      </a:xfrm>
                      <a:custGeom>
                        <a:avLst/>
                        <a:gdLst>
                          <a:gd name="T0" fmla="*/ 0 w 50"/>
                          <a:gd name="T1" fmla="*/ 0 h 147"/>
                          <a:gd name="T2" fmla="*/ 0 w 50"/>
                          <a:gd name="T3" fmla="*/ 147 h 147"/>
                          <a:gd name="T4" fmla="*/ 50 w 50"/>
                          <a:gd name="T5" fmla="*/ 147 h 147"/>
                          <a:gd name="T6" fmla="*/ 50 w 50"/>
                          <a:gd name="T7" fmla="*/ 33 h 147"/>
                          <a:gd name="T8" fmla="*/ 0 w 50"/>
                          <a:gd name="T9" fmla="*/ 0 h 147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50" h="147">
                            <a:moveTo>
                              <a:pt x="0" y="0"/>
                            </a:moveTo>
                            <a:lnTo>
                              <a:pt x="0" y="147"/>
                            </a:lnTo>
                            <a:lnTo>
                              <a:pt x="50" y="147"/>
                            </a:lnTo>
                            <a:lnTo>
                              <a:pt x="50" y="33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622" name="Freeform 39"/>
                      <p:cNvSpPr/>
                      <p:nvPr/>
                    </p:nvSpPr>
                    <p:spPr bwMode="auto">
                      <a:xfrm>
                        <a:off x="3435" y="2588"/>
                        <a:ext cx="10" cy="37"/>
                      </a:xfrm>
                      <a:custGeom>
                        <a:avLst/>
                        <a:gdLst>
                          <a:gd name="T0" fmla="*/ 0 w 49"/>
                          <a:gd name="T1" fmla="*/ 0 h 148"/>
                          <a:gd name="T2" fmla="*/ 0 w 49"/>
                          <a:gd name="T3" fmla="*/ 148 h 148"/>
                          <a:gd name="T4" fmla="*/ 49 w 49"/>
                          <a:gd name="T5" fmla="*/ 148 h 148"/>
                          <a:gd name="T6" fmla="*/ 49 w 49"/>
                          <a:gd name="T7" fmla="*/ 32 h 148"/>
                          <a:gd name="T8" fmla="*/ 0 w 49"/>
                          <a:gd name="T9" fmla="*/ 0 h 148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49" h="148">
                            <a:moveTo>
                              <a:pt x="0" y="0"/>
                            </a:moveTo>
                            <a:lnTo>
                              <a:pt x="0" y="148"/>
                            </a:lnTo>
                            <a:lnTo>
                              <a:pt x="49" y="148"/>
                            </a:lnTo>
                            <a:lnTo>
                              <a:pt x="49" y="32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sp>
                  <p:nvSpPr>
                    <p:cNvPr id="615" name="Freeform 40"/>
                    <p:cNvSpPr/>
                    <p:nvPr/>
                  </p:nvSpPr>
                  <p:spPr bwMode="auto">
                    <a:xfrm>
                      <a:off x="3038" y="2605"/>
                      <a:ext cx="530" cy="90"/>
                    </a:xfrm>
                    <a:custGeom>
                      <a:avLst/>
                      <a:gdLst>
                        <a:gd name="T0" fmla="*/ 2653 w 2653"/>
                        <a:gd name="T1" fmla="*/ 197 h 359"/>
                        <a:gd name="T2" fmla="*/ 2653 w 2653"/>
                        <a:gd name="T3" fmla="*/ 0 h 359"/>
                        <a:gd name="T4" fmla="*/ 0 w 2653"/>
                        <a:gd name="T5" fmla="*/ 262 h 359"/>
                        <a:gd name="T6" fmla="*/ 0 w 2653"/>
                        <a:gd name="T7" fmla="*/ 359 h 359"/>
                        <a:gd name="T8" fmla="*/ 2653 w 2653"/>
                        <a:gd name="T9" fmla="*/ 197 h 35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653" h="359">
                          <a:moveTo>
                            <a:pt x="2653" y="197"/>
                          </a:moveTo>
                          <a:lnTo>
                            <a:pt x="2653" y="0"/>
                          </a:lnTo>
                          <a:lnTo>
                            <a:pt x="0" y="262"/>
                          </a:lnTo>
                          <a:lnTo>
                            <a:pt x="0" y="359"/>
                          </a:lnTo>
                          <a:lnTo>
                            <a:pt x="2653" y="197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16" name="Freeform 41"/>
                    <p:cNvSpPr/>
                    <p:nvPr/>
                  </p:nvSpPr>
                  <p:spPr bwMode="auto">
                    <a:xfrm>
                      <a:off x="3027" y="2505"/>
                      <a:ext cx="541" cy="149"/>
                    </a:xfrm>
                    <a:custGeom>
                      <a:avLst/>
                      <a:gdLst>
                        <a:gd name="T0" fmla="*/ 2707 w 2707"/>
                        <a:gd name="T1" fmla="*/ 164 h 595"/>
                        <a:gd name="T2" fmla="*/ 2707 w 2707"/>
                        <a:gd name="T3" fmla="*/ 0 h 595"/>
                        <a:gd name="T4" fmla="*/ 0 w 2707"/>
                        <a:gd name="T5" fmla="*/ 523 h 595"/>
                        <a:gd name="T6" fmla="*/ 0 w 2707"/>
                        <a:gd name="T7" fmla="*/ 595 h 595"/>
                        <a:gd name="T8" fmla="*/ 2707 w 2707"/>
                        <a:gd name="T9" fmla="*/ 164 h 59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707" h="595">
                          <a:moveTo>
                            <a:pt x="2707" y="164"/>
                          </a:moveTo>
                          <a:lnTo>
                            <a:pt x="2707" y="0"/>
                          </a:lnTo>
                          <a:lnTo>
                            <a:pt x="0" y="523"/>
                          </a:lnTo>
                          <a:lnTo>
                            <a:pt x="0" y="595"/>
                          </a:lnTo>
                          <a:lnTo>
                            <a:pt x="2707" y="164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17" name="Freeform 42"/>
                    <p:cNvSpPr/>
                    <p:nvPr/>
                  </p:nvSpPr>
                  <p:spPr bwMode="auto">
                    <a:xfrm>
                      <a:off x="3016" y="2340"/>
                      <a:ext cx="552" cy="272"/>
                    </a:xfrm>
                    <a:custGeom>
                      <a:avLst/>
                      <a:gdLst>
                        <a:gd name="T0" fmla="*/ 2761 w 2761"/>
                        <a:gd name="T1" fmla="*/ 383 h 1088"/>
                        <a:gd name="T2" fmla="*/ 2761 w 2761"/>
                        <a:gd name="T3" fmla="*/ 0 h 1088"/>
                        <a:gd name="T4" fmla="*/ 0 w 2761"/>
                        <a:gd name="T5" fmla="*/ 948 h 1088"/>
                        <a:gd name="T6" fmla="*/ 0 w 2761"/>
                        <a:gd name="T7" fmla="*/ 1088 h 1088"/>
                        <a:gd name="T8" fmla="*/ 2761 w 2761"/>
                        <a:gd name="T9" fmla="*/ 383 h 108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761" h="1088">
                          <a:moveTo>
                            <a:pt x="2761" y="383"/>
                          </a:moveTo>
                          <a:lnTo>
                            <a:pt x="2761" y="0"/>
                          </a:lnTo>
                          <a:lnTo>
                            <a:pt x="0" y="948"/>
                          </a:lnTo>
                          <a:lnTo>
                            <a:pt x="0" y="1088"/>
                          </a:lnTo>
                          <a:lnTo>
                            <a:pt x="2761" y="383"/>
                          </a:lnTo>
                          <a:close/>
                        </a:path>
                      </a:pathLst>
                    </a:custGeom>
                    <a:solidFill>
                      <a:srgbClr val="9F9F9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550" name="Group 43"/>
                  <p:cNvGrpSpPr/>
                  <p:nvPr/>
                </p:nvGrpSpPr>
                <p:grpSpPr bwMode="auto">
                  <a:xfrm>
                    <a:off x="3568" y="2341"/>
                    <a:ext cx="169" cy="370"/>
                    <a:chOff x="3568" y="2341"/>
                    <a:chExt cx="169" cy="370"/>
                  </a:xfrm>
                </p:grpSpPr>
                <p:sp>
                  <p:nvSpPr>
                    <p:cNvPr id="572" name="Freeform 44"/>
                    <p:cNvSpPr/>
                    <p:nvPr/>
                  </p:nvSpPr>
                  <p:spPr bwMode="auto">
                    <a:xfrm>
                      <a:off x="3569" y="2672"/>
                      <a:ext cx="125" cy="39"/>
                    </a:xfrm>
                    <a:custGeom>
                      <a:avLst/>
                      <a:gdLst>
                        <a:gd name="T0" fmla="*/ 0 w 624"/>
                        <a:gd name="T1" fmla="*/ 0 h 156"/>
                        <a:gd name="T2" fmla="*/ 624 w 624"/>
                        <a:gd name="T3" fmla="*/ 48 h 156"/>
                        <a:gd name="T4" fmla="*/ 624 w 624"/>
                        <a:gd name="T5" fmla="*/ 115 h 156"/>
                        <a:gd name="T6" fmla="*/ 0 w 624"/>
                        <a:gd name="T7" fmla="*/ 156 h 156"/>
                        <a:gd name="T8" fmla="*/ 0 w 624"/>
                        <a:gd name="T9" fmla="*/ 0 h 15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24" h="156">
                          <a:moveTo>
                            <a:pt x="0" y="0"/>
                          </a:moveTo>
                          <a:lnTo>
                            <a:pt x="624" y="48"/>
                          </a:lnTo>
                          <a:lnTo>
                            <a:pt x="624" y="115"/>
                          </a:lnTo>
                          <a:lnTo>
                            <a:pt x="0" y="156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5F5F5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73" name="Freeform 45"/>
                    <p:cNvSpPr/>
                    <p:nvPr/>
                  </p:nvSpPr>
                  <p:spPr bwMode="auto">
                    <a:xfrm>
                      <a:off x="3568" y="2429"/>
                      <a:ext cx="169" cy="260"/>
                    </a:xfrm>
                    <a:custGeom>
                      <a:avLst/>
                      <a:gdLst>
                        <a:gd name="T0" fmla="*/ 0 w 842"/>
                        <a:gd name="T1" fmla="*/ 0 h 1042"/>
                        <a:gd name="T2" fmla="*/ 842 w 842"/>
                        <a:gd name="T3" fmla="*/ 546 h 1042"/>
                        <a:gd name="T4" fmla="*/ 739 w 842"/>
                        <a:gd name="T5" fmla="*/ 546 h 1042"/>
                        <a:gd name="T6" fmla="*/ 739 w 842"/>
                        <a:gd name="T7" fmla="*/ 738 h 1042"/>
                        <a:gd name="T8" fmla="*/ 775 w 842"/>
                        <a:gd name="T9" fmla="*/ 760 h 1042"/>
                        <a:gd name="T10" fmla="*/ 739 w 842"/>
                        <a:gd name="T11" fmla="*/ 759 h 1042"/>
                        <a:gd name="T12" fmla="*/ 738 w 842"/>
                        <a:gd name="T13" fmla="*/ 1010 h 1042"/>
                        <a:gd name="T14" fmla="*/ 642 w 842"/>
                        <a:gd name="T15" fmla="*/ 1042 h 1042"/>
                        <a:gd name="T16" fmla="*/ 0 w 842"/>
                        <a:gd name="T17" fmla="*/ 1000 h 1042"/>
                        <a:gd name="T18" fmla="*/ 0 w 842"/>
                        <a:gd name="T19" fmla="*/ 0 h 104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</a:cxnLst>
                      <a:rect l="0" t="0" r="r" b="b"/>
                      <a:pathLst>
                        <a:path w="842" h="1042">
                          <a:moveTo>
                            <a:pt x="0" y="0"/>
                          </a:moveTo>
                          <a:lnTo>
                            <a:pt x="842" y="546"/>
                          </a:lnTo>
                          <a:lnTo>
                            <a:pt x="739" y="546"/>
                          </a:lnTo>
                          <a:lnTo>
                            <a:pt x="739" y="738"/>
                          </a:lnTo>
                          <a:lnTo>
                            <a:pt x="775" y="760"/>
                          </a:lnTo>
                          <a:lnTo>
                            <a:pt x="739" y="759"/>
                          </a:lnTo>
                          <a:lnTo>
                            <a:pt x="738" y="1010"/>
                          </a:lnTo>
                          <a:lnTo>
                            <a:pt x="642" y="1042"/>
                          </a:lnTo>
                          <a:lnTo>
                            <a:pt x="0" y="100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74" name="Freeform 46"/>
                    <p:cNvSpPr/>
                    <p:nvPr/>
                  </p:nvSpPr>
                  <p:spPr bwMode="auto">
                    <a:xfrm>
                      <a:off x="3568" y="2341"/>
                      <a:ext cx="169" cy="225"/>
                    </a:xfrm>
                    <a:custGeom>
                      <a:avLst/>
                      <a:gdLst>
                        <a:gd name="T0" fmla="*/ 0 w 842"/>
                        <a:gd name="T1" fmla="*/ 0 h 903"/>
                        <a:gd name="T2" fmla="*/ 0 w 842"/>
                        <a:gd name="T3" fmla="*/ 382 h 903"/>
                        <a:gd name="T4" fmla="*/ 842 w 842"/>
                        <a:gd name="T5" fmla="*/ 903 h 903"/>
                        <a:gd name="T6" fmla="*/ 842 w 842"/>
                        <a:gd name="T7" fmla="*/ 682 h 903"/>
                        <a:gd name="T8" fmla="*/ 0 w 842"/>
                        <a:gd name="T9" fmla="*/ 0 h 90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42" h="903">
                          <a:moveTo>
                            <a:pt x="0" y="0"/>
                          </a:moveTo>
                          <a:lnTo>
                            <a:pt x="0" y="382"/>
                          </a:lnTo>
                          <a:lnTo>
                            <a:pt x="842" y="903"/>
                          </a:lnTo>
                          <a:lnTo>
                            <a:pt x="842" y="682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80808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grpSp>
                  <p:nvGrpSpPr>
                    <p:cNvPr id="575" name="Group 47"/>
                    <p:cNvGrpSpPr/>
                    <p:nvPr/>
                  </p:nvGrpSpPr>
                  <p:grpSpPr bwMode="auto">
                    <a:xfrm>
                      <a:off x="3570" y="2556"/>
                      <a:ext cx="129" cy="123"/>
                      <a:chOff x="3570" y="2556"/>
                      <a:chExt cx="129" cy="123"/>
                    </a:xfrm>
                  </p:grpSpPr>
                  <p:sp>
                    <p:nvSpPr>
                      <p:cNvPr id="594" name="Freeform 48"/>
                      <p:cNvSpPr/>
                      <p:nvPr/>
                    </p:nvSpPr>
                    <p:spPr bwMode="auto">
                      <a:xfrm>
                        <a:off x="3683" y="2620"/>
                        <a:ext cx="16" cy="59"/>
                      </a:xfrm>
                      <a:custGeom>
                        <a:avLst/>
                        <a:gdLst>
                          <a:gd name="T0" fmla="*/ 0 w 81"/>
                          <a:gd name="T1" fmla="*/ 47 h 236"/>
                          <a:gd name="T2" fmla="*/ 0 w 81"/>
                          <a:gd name="T3" fmla="*/ 215 h 236"/>
                          <a:gd name="T4" fmla="*/ 81 w 81"/>
                          <a:gd name="T5" fmla="*/ 236 h 236"/>
                          <a:gd name="T6" fmla="*/ 81 w 81"/>
                          <a:gd name="T7" fmla="*/ 0 h 236"/>
                          <a:gd name="T8" fmla="*/ 0 w 81"/>
                          <a:gd name="T9" fmla="*/ 47 h 236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81" h="236">
                            <a:moveTo>
                              <a:pt x="0" y="47"/>
                            </a:moveTo>
                            <a:lnTo>
                              <a:pt x="0" y="215"/>
                            </a:lnTo>
                            <a:lnTo>
                              <a:pt x="81" y="236"/>
                            </a:lnTo>
                            <a:lnTo>
                              <a:pt x="81" y="0"/>
                            </a:lnTo>
                            <a:lnTo>
                              <a:pt x="0" y="47"/>
                            </a:lnTo>
                            <a:close/>
                          </a:path>
                        </a:pathLst>
                      </a:custGeom>
                      <a:solidFill>
                        <a:srgbClr val="3F3F3F"/>
                      </a:solidFill>
                      <a:ln w="3175">
                        <a:solidFill>
                          <a:srgbClr val="000000"/>
                        </a:solidFill>
                        <a:prstDash val="solid"/>
                        <a:round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595" name="Freeform 49"/>
                      <p:cNvSpPr/>
                      <p:nvPr/>
                    </p:nvSpPr>
                    <p:spPr bwMode="auto">
                      <a:xfrm>
                        <a:off x="3676" y="2616"/>
                        <a:ext cx="16" cy="58"/>
                      </a:xfrm>
                      <a:custGeom>
                        <a:avLst/>
                        <a:gdLst>
                          <a:gd name="T0" fmla="*/ 0 w 82"/>
                          <a:gd name="T1" fmla="*/ 45 h 234"/>
                          <a:gd name="T2" fmla="*/ 0 w 82"/>
                          <a:gd name="T3" fmla="*/ 214 h 234"/>
                          <a:gd name="T4" fmla="*/ 82 w 82"/>
                          <a:gd name="T5" fmla="*/ 234 h 234"/>
                          <a:gd name="T6" fmla="*/ 82 w 82"/>
                          <a:gd name="T7" fmla="*/ 0 h 234"/>
                          <a:gd name="T8" fmla="*/ 0 w 82"/>
                          <a:gd name="T9" fmla="*/ 45 h 23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82" h="234">
                            <a:moveTo>
                              <a:pt x="0" y="45"/>
                            </a:moveTo>
                            <a:lnTo>
                              <a:pt x="0" y="214"/>
                            </a:lnTo>
                            <a:lnTo>
                              <a:pt x="82" y="234"/>
                            </a:lnTo>
                            <a:lnTo>
                              <a:pt x="82" y="0"/>
                            </a:lnTo>
                            <a:lnTo>
                              <a:pt x="0" y="45"/>
                            </a:lnTo>
                            <a:close/>
                          </a:path>
                        </a:pathLst>
                      </a:custGeom>
                      <a:solidFill>
                        <a:srgbClr val="3F3F3F"/>
                      </a:solidFill>
                      <a:ln w="3175">
                        <a:solidFill>
                          <a:srgbClr val="000000"/>
                        </a:solidFill>
                        <a:prstDash val="solid"/>
                        <a:round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596" name="Freeform 50"/>
                      <p:cNvSpPr/>
                      <p:nvPr/>
                    </p:nvSpPr>
                    <p:spPr bwMode="auto">
                      <a:xfrm>
                        <a:off x="3668" y="2611"/>
                        <a:ext cx="16" cy="59"/>
                      </a:xfrm>
                      <a:custGeom>
                        <a:avLst/>
                        <a:gdLst>
                          <a:gd name="T0" fmla="*/ 0 w 81"/>
                          <a:gd name="T1" fmla="*/ 45 h 235"/>
                          <a:gd name="T2" fmla="*/ 0 w 81"/>
                          <a:gd name="T3" fmla="*/ 214 h 235"/>
                          <a:gd name="T4" fmla="*/ 81 w 81"/>
                          <a:gd name="T5" fmla="*/ 235 h 235"/>
                          <a:gd name="T6" fmla="*/ 81 w 81"/>
                          <a:gd name="T7" fmla="*/ 0 h 235"/>
                          <a:gd name="T8" fmla="*/ 0 w 81"/>
                          <a:gd name="T9" fmla="*/ 45 h 235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81" h="235">
                            <a:moveTo>
                              <a:pt x="0" y="45"/>
                            </a:moveTo>
                            <a:lnTo>
                              <a:pt x="0" y="214"/>
                            </a:lnTo>
                            <a:lnTo>
                              <a:pt x="81" y="235"/>
                            </a:lnTo>
                            <a:lnTo>
                              <a:pt x="81" y="0"/>
                            </a:lnTo>
                            <a:lnTo>
                              <a:pt x="0" y="45"/>
                            </a:lnTo>
                            <a:close/>
                          </a:path>
                        </a:pathLst>
                      </a:custGeom>
                      <a:solidFill>
                        <a:srgbClr val="5F5F5F"/>
                      </a:solidFill>
                      <a:ln w="3175">
                        <a:solidFill>
                          <a:srgbClr val="000000"/>
                        </a:solidFill>
                        <a:prstDash val="solid"/>
                        <a:round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597" name="Freeform 51"/>
                      <p:cNvSpPr/>
                      <p:nvPr/>
                    </p:nvSpPr>
                    <p:spPr bwMode="auto">
                      <a:xfrm>
                        <a:off x="3661" y="2607"/>
                        <a:ext cx="16" cy="59"/>
                      </a:xfrm>
                      <a:custGeom>
                        <a:avLst/>
                        <a:gdLst>
                          <a:gd name="T0" fmla="*/ 0 w 81"/>
                          <a:gd name="T1" fmla="*/ 45 h 235"/>
                          <a:gd name="T2" fmla="*/ 0 w 81"/>
                          <a:gd name="T3" fmla="*/ 213 h 235"/>
                          <a:gd name="T4" fmla="*/ 81 w 81"/>
                          <a:gd name="T5" fmla="*/ 235 h 235"/>
                          <a:gd name="T6" fmla="*/ 81 w 81"/>
                          <a:gd name="T7" fmla="*/ 0 h 235"/>
                          <a:gd name="T8" fmla="*/ 0 w 81"/>
                          <a:gd name="T9" fmla="*/ 45 h 235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81" h="235">
                            <a:moveTo>
                              <a:pt x="0" y="45"/>
                            </a:moveTo>
                            <a:lnTo>
                              <a:pt x="0" y="213"/>
                            </a:lnTo>
                            <a:lnTo>
                              <a:pt x="81" y="235"/>
                            </a:lnTo>
                            <a:lnTo>
                              <a:pt x="81" y="0"/>
                            </a:lnTo>
                            <a:lnTo>
                              <a:pt x="0" y="45"/>
                            </a:lnTo>
                            <a:close/>
                          </a:path>
                        </a:pathLst>
                      </a:custGeom>
                      <a:solidFill>
                        <a:srgbClr val="5F5F5F"/>
                      </a:solidFill>
                      <a:ln w="3175">
                        <a:solidFill>
                          <a:srgbClr val="000000"/>
                        </a:solidFill>
                        <a:prstDash val="solid"/>
                        <a:round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598" name="Freeform 52"/>
                      <p:cNvSpPr/>
                      <p:nvPr/>
                    </p:nvSpPr>
                    <p:spPr bwMode="auto">
                      <a:xfrm>
                        <a:off x="3653" y="2603"/>
                        <a:ext cx="16" cy="58"/>
                      </a:xfrm>
                      <a:custGeom>
                        <a:avLst/>
                        <a:gdLst>
                          <a:gd name="T0" fmla="*/ 0 w 80"/>
                          <a:gd name="T1" fmla="*/ 46 h 235"/>
                          <a:gd name="T2" fmla="*/ 0 w 80"/>
                          <a:gd name="T3" fmla="*/ 214 h 235"/>
                          <a:gd name="T4" fmla="*/ 80 w 80"/>
                          <a:gd name="T5" fmla="*/ 235 h 235"/>
                          <a:gd name="T6" fmla="*/ 80 w 80"/>
                          <a:gd name="T7" fmla="*/ 0 h 235"/>
                          <a:gd name="T8" fmla="*/ 0 w 80"/>
                          <a:gd name="T9" fmla="*/ 46 h 235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80" h="235">
                            <a:moveTo>
                              <a:pt x="0" y="46"/>
                            </a:moveTo>
                            <a:lnTo>
                              <a:pt x="0" y="214"/>
                            </a:lnTo>
                            <a:lnTo>
                              <a:pt x="80" y="235"/>
                            </a:lnTo>
                            <a:lnTo>
                              <a:pt x="80" y="0"/>
                            </a:lnTo>
                            <a:lnTo>
                              <a:pt x="0" y="46"/>
                            </a:lnTo>
                            <a:close/>
                          </a:path>
                        </a:pathLst>
                      </a:custGeom>
                      <a:solidFill>
                        <a:srgbClr val="5F5F5F"/>
                      </a:solidFill>
                      <a:ln w="3175">
                        <a:solidFill>
                          <a:srgbClr val="000000"/>
                        </a:solidFill>
                        <a:prstDash val="solid"/>
                        <a:round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599" name="Freeform 53"/>
                      <p:cNvSpPr/>
                      <p:nvPr/>
                    </p:nvSpPr>
                    <p:spPr bwMode="auto">
                      <a:xfrm>
                        <a:off x="3646" y="2599"/>
                        <a:ext cx="16" cy="59"/>
                      </a:xfrm>
                      <a:custGeom>
                        <a:avLst/>
                        <a:gdLst>
                          <a:gd name="T0" fmla="*/ 0 w 80"/>
                          <a:gd name="T1" fmla="*/ 45 h 235"/>
                          <a:gd name="T2" fmla="*/ 0 w 80"/>
                          <a:gd name="T3" fmla="*/ 214 h 235"/>
                          <a:gd name="T4" fmla="*/ 80 w 80"/>
                          <a:gd name="T5" fmla="*/ 235 h 235"/>
                          <a:gd name="T6" fmla="*/ 80 w 80"/>
                          <a:gd name="T7" fmla="*/ 0 h 235"/>
                          <a:gd name="T8" fmla="*/ 0 w 80"/>
                          <a:gd name="T9" fmla="*/ 45 h 235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80" h="235">
                            <a:moveTo>
                              <a:pt x="0" y="45"/>
                            </a:moveTo>
                            <a:lnTo>
                              <a:pt x="0" y="214"/>
                            </a:lnTo>
                            <a:lnTo>
                              <a:pt x="80" y="235"/>
                            </a:lnTo>
                            <a:lnTo>
                              <a:pt x="80" y="0"/>
                            </a:lnTo>
                            <a:lnTo>
                              <a:pt x="0" y="45"/>
                            </a:lnTo>
                            <a:close/>
                          </a:path>
                        </a:pathLst>
                      </a:custGeom>
                      <a:solidFill>
                        <a:srgbClr val="5F5F5F"/>
                      </a:solidFill>
                      <a:ln w="3175">
                        <a:solidFill>
                          <a:srgbClr val="000000"/>
                        </a:solidFill>
                        <a:prstDash val="solid"/>
                        <a:round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600" name="Freeform 54"/>
                      <p:cNvSpPr/>
                      <p:nvPr/>
                    </p:nvSpPr>
                    <p:spPr bwMode="auto">
                      <a:xfrm>
                        <a:off x="3638" y="2594"/>
                        <a:ext cx="16" cy="59"/>
                      </a:xfrm>
                      <a:custGeom>
                        <a:avLst/>
                        <a:gdLst>
                          <a:gd name="T0" fmla="*/ 0 w 80"/>
                          <a:gd name="T1" fmla="*/ 45 h 235"/>
                          <a:gd name="T2" fmla="*/ 0 w 80"/>
                          <a:gd name="T3" fmla="*/ 213 h 235"/>
                          <a:gd name="T4" fmla="*/ 80 w 80"/>
                          <a:gd name="T5" fmla="*/ 235 h 235"/>
                          <a:gd name="T6" fmla="*/ 80 w 80"/>
                          <a:gd name="T7" fmla="*/ 0 h 235"/>
                          <a:gd name="T8" fmla="*/ 0 w 80"/>
                          <a:gd name="T9" fmla="*/ 45 h 235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80" h="235">
                            <a:moveTo>
                              <a:pt x="0" y="45"/>
                            </a:moveTo>
                            <a:lnTo>
                              <a:pt x="0" y="213"/>
                            </a:lnTo>
                            <a:lnTo>
                              <a:pt x="80" y="235"/>
                            </a:lnTo>
                            <a:lnTo>
                              <a:pt x="80" y="0"/>
                            </a:lnTo>
                            <a:lnTo>
                              <a:pt x="0" y="45"/>
                            </a:lnTo>
                            <a:close/>
                          </a:path>
                        </a:pathLst>
                      </a:cu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prstDash val="solid"/>
                        <a:round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601" name="Freeform 55"/>
                      <p:cNvSpPr/>
                      <p:nvPr/>
                    </p:nvSpPr>
                    <p:spPr bwMode="auto">
                      <a:xfrm>
                        <a:off x="3630" y="2591"/>
                        <a:ext cx="16" cy="58"/>
                      </a:xfrm>
                      <a:custGeom>
                        <a:avLst/>
                        <a:gdLst>
                          <a:gd name="T0" fmla="*/ 0 w 80"/>
                          <a:gd name="T1" fmla="*/ 46 h 235"/>
                          <a:gd name="T2" fmla="*/ 0 w 80"/>
                          <a:gd name="T3" fmla="*/ 213 h 235"/>
                          <a:gd name="T4" fmla="*/ 80 w 80"/>
                          <a:gd name="T5" fmla="*/ 235 h 235"/>
                          <a:gd name="T6" fmla="*/ 80 w 80"/>
                          <a:gd name="T7" fmla="*/ 0 h 235"/>
                          <a:gd name="T8" fmla="*/ 0 w 80"/>
                          <a:gd name="T9" fmla="*/ 46 h 235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80" h="235">
                            <a:moveTo>
                              <a:pt x="0" y="46"/>
                            </a:moveTo>
                            <a:lnTo>
                              <a:pt x="0" y="213"/>
                            </a:lnTo>
                            <a:lnTo>
                              <a:pt x="80" y="235"/>
                            </a:lnTo>
                            <a:lnTo>
                              <a:pt x="80" y="0"/>
                            </a:lnTo>
                            <a:lnTo>
                              <a:pt x="0" y="46"/>
                            </a:lnTo>
                            <a:close/>
                          </a:path>
                        </a:pathLst>
                      </a:cu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prstDash val="solid"/>
                        <a:round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602" name="Freeform 56"/>
                      <p:cNvSpPr/>
                      <p:nvPr/>
                    </p:nvSpPr>
                    <p:spPr bwMode="auto">
                      <a:xfrm>
                        <a:off x="3622" y="2587"/>
                        <a:ext cx="17" cy="58"/>
                      </a:xfrm>
                      <a:custGeom>
                        <a:avLst/>
                        <a:gdLst>
                          <a:gd name="T0" fmla="*/ 0 w 81"/>
                          <a:gd name="T1" fmla="*/ 45 h 234"/>
                          <a:gd name="T2" fmla="*/ 0 w 81"/>
                          <a:gd name="T3" fmla="*/ 212 h 234"/>
                          <a:gd name="T4" fmla="*/ 81 w 81"/>
                          <a:gd name="T5" fmla="*/ 234 h 234"/>
                          <a:gd name="T6" fmla="*/ 81 w 81"/>
                          <a:gd name="T7" fmla="*/ 0 h 234"/>
                          <a:gd name="T8" fmla="*/ 0 w 81"/>
                          <a:gd name="T9" fmla="*/ 45 h 23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81" h="234">
                            <a:moveTo>
                              <a:pt x="0" y="45"/>
                            </a:moveTo>
                            <a:lnTo>
                              <a:pt x="0" y="212"/>
                            </a:lnTo>
                            <a:lnTo>
                              <a:pt x="81" y="234"/>
                            </a:lnTo>
                            <a:lnTo>
                              <a:pt x="81" y="0"/>
                            </a:lnTo>
                            <a:lnTo>
                              <a:pt x="0" y="45"/>
                            </a:lnTo>
                            <a:close/>
                          </a:path>
                        </a:pathLst>
                      </a:cu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prstDash val="solid"/>
                        <a:round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603" name="Freeform 57"/>
                      <p:cNvSpPr/>
                      <p:nvPr/>
                    </p:nvSpPr>
                    <p:spPr bwMode="auto">
                      <a:xfrm>
                        <a:off x="3615" y="2582"/>
                        <a:ext cx="16" cy="59"/>
                      </a:xfrm>
                      <a:custGeom>
                        <a:avLst/>
                        <a:gdLst>
                          <a:gd name="T0" fmla="*/ 0 w 80"/>
                          <a:gd name="T1" fmla="*/ 47 h 234"/>
                          <a:gd name="T2" fmla="*/ 0 w 80"/>
                          <a:gd name="T3" fmla="*/ 214 h 234"/>
                          <a:gd name="T4" fmla="*/ 80 w 80"/>
                          <a:gd name="T5" fmla="*/ 234 h 234"/>
                          <a:gd name="T6" fmla="*/ 80 w 80"/>
                          <a:gd name="T7" fmla="*/ 0 h 234"/>
                          <a:gd name="T8" fmla="*/ 0 w 80"/>
                          <a:gd name="T9" fmla="*/ 47 h 23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80" h="234">
                            <a:moveTo>
                              <a:pt x="0" y="47"/>
                            </a:moveTo>
                            <a:lnTo>
                              <a:pt x="0" y="214"/>
                            </a:lnTo>
                            <a:lnTo>
                              <a:pt x="80" y="234"/>
                            </a:lnTo>
                            <a:lnTo>
                              <a:pt x="80" y="0"/>
                            </a:lnTo>
                            <a:lnTo>
                              <a:pt x="0" y="47"/>
                            </a:lnTo>
                            <a:close/>
                          </a:path>
                        </a:pathLst>
                      </a:cu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prstDash val="solid"/>
                        <a:round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604" name="Freeform 58"/>
                      <p:cNvSpPr/>
                      <p:nvPr/>
                    </p:nvSpPr>
                    <p:spPr bwMode="auto">
                      <a:xfrm>
                        <a:off x="3608" y="2577"/>
                        <a:ext cx="16" cy="59"/>
                      </a:xfrm>
                      <a:custGeom>
                        <a:avLst/>
                        <a:gdLst>
                          <a:gd name="T0" fmla="*/ 0 w 81"/>
                          <a:gd name="T1" fmla="*/ 46 h 234"/>
                          <a:gd name="T2" fmla="*/ 0 w 81"/>
                          <a:gd name="T3" fmla="*/ 213 h 234"/>
                          <a:gd name="T4" fmla="*/ 81 w 81"/>
                          <a:gd name="T5" fmla="*/ 234 h 234"/>
                          <a:gd name="T6" fmla="*/ 81 w 81"/>
                          <a:gd name="T7" fmla="*/ 0 h 234"/>
                          <a:gd name="T8" fmla="*/ 0 w 81"/>
                          <a:gd name="T9" fmla="*/ 46 h 23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81" h="234">
                            <a:moveTo>
                              <a:pt x="0" y="46"/>
                            </a:moveTo>
                            <a:lnTo>
                              <a:pt x="0" y="213"/>
                            </a:lnTo>
                            <a:lnTo>
                              <a:pt x="81" y="234"/>
                            </a:lnTo>
                            <a:lnTo>
                              <a:pt x="81" y="0"/>
                            </a:lnTo>
                            <a:lnTo>
                              <a:pt x="0" y="46"/>
                            </a:lnTo>
                            <a:close/>
                          </a:path>
                        </a:pathLst>
                      </a:custGeom>
                      <a:solidFill>
                        <a:srgbClr val="9F9F9F"/>
                      </a:solidFill>
                      <a:ln w="3175">
                        <a:solidFill>
                          <a:srgbClr val="000000"/>
                        </a:solidFill>
                        <a:prstDash val="solid"/>
                        <a:round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605" name="Freeform 59"/>
                      <p:cNvSpPr/>
                      <p:nvPr/>
                    </p:nvSpPr>
                    <p:spPr bwMode="auto">
                      <a:xfrm>
                        <a:off x="3600" y="2573"/>
                        <a:ext cx="16" cy="59"/>
                      </a:xfrm>
                      <a:custGeom>
                        <a:avLst/>
                        <a:gdLst>
                          <a:gd name="T0" fmla="*/ 0 w 81"/>
                          <a:gd name="T1" fmla="*/ 45 h 234"/>
                          <a:gd name="T2" fmla="*/ 0 w 81"/>
                          <a:gd name="T3" fmla="*/ 213 h 234"/>
                          <a:gd name="T4" fmla="*/ 81 w 81"/>
                          <a:gd name="T5" fmla="*/ 234 h 234"/>
                          <a:gd name="T6" fmla="*/ 81 w 81"/>
                          <a:gd name="T7" fmla="*/ 0 h 234"/>
                          <a:gd name="T8" fmla="*/ 0 w 81"/>
                          <a:gd name="T9" fmla="*/ 45 h 23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81" h="234">
                            <a:moveTo>
                              <a:pt x="0" y="45"/>
                            </a:moveTo>
                            <a:lnTo>
                              <a:pt x="0" y="213"/>
                            </a:lnTo>
                            <a:lnTo>
                              <a:pt x="81" y="234"/>
                            </a:lnTo>
                            <a:lnTo>
                              <a:pt x="81" y="0"/>
                            </a:lnTo>
                            <a:lnTo>
                              <a:pt x="0" y="45"/>
                            </a:lnTo>
                            <a:close/>
                          </a:path>
                        </a:pathLst>
                      </a:custGeom>
                      <a:solidFill>
                        <a:srgbClr val="9F9F9F"/>
                      </a:solidFill>
                      <a:ln w="3175">
                        <a:solidFill>
                          <a:srgbClr val="000000"/>
                        </a:solidFill>
                        <a:prstDash val="solid"/>
                        <a:round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606" name="Freeform 60"/>
                      <p:cNvSpPr/>
                      <p:nvPr/>
                    </p:nvSpPr>
                    <p:spPr bwMode="auto">
                      <a:xfrm>
                        <a:off x="3592" y="2569"/>
                        <a:ext cx="16" cy="59"/>
                      </a:xfrm>
                      <a:custGeom>
                        <a:avLst/>
                        <a:gdLst>
                          <a:gd name="T0" fmla="*/ 0 w 80"/>
                          <a:gd name="T1" fmla="*/ 45 h 234"/>
                          <a:gd name="T2" fmla="*/ 0 w 80"/>
                          <a:gd name="T3" fmla="*/ 212 h 234"/>
                          <a:gd name="T4" fmla="*/ 80 w 80"/>
                          <a:gd name="T5" fmla="*/ 234 h 234"/>
                          <a:gd name="T6" fmla="*/ 80 w 80"/>
                          <a:gd name="T7" fmla="*/ 0 h 234"/>
                          <a:gd name="T8" fmla="*/ 0 w 80"/>
                          <a:gd name="T9" fmla="*/ 45 h 23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80" h="234">
                            <a:moveTo>
                              <a:pt x="0" y="45"/>
                            </a:moveTo>
                            <a:lnTo>
                              <a:pt x="0" y="212"/>
                            </a:lnTo>
                            <a:lnTo>
                              <a:pt x="80" y="234"/>
                            </a:lnTo>
                            <a:lnTo>
                              <a:pt x="80" y="0"/>
                            </a:lnTo>
                            <a:lnTo>
                              <a:pt x="0" y="45"/>
                            </a:lnTo>
                            <a:close/>
                          </a:path>
                        </a:pathLst>
                      </a:custGeom>
                      <a:solidFill>
                        <a:srgbClr val="9F9F9F"/>
                      </a:solidFill>
                      <a:ln w="3175">
                        <a:solidFill>
                          <a:srgbClr val="000000"/>
                        </a:solidFill>
                        <a:prstDash val="solid"/>
                        <a:round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607" name="Freeform 61"/>
                      <p:cNvSpPr/>
                      <p:nvPr/>
                    </p:nvSpPr>
                    <p:spPr bwMode="auto">
                      <a:xfrm>
                        <a:off x="3585" y="2565"/>
                        <a:ext cx="16" cy="59"/>
                      </a:xfrm>
                      <a:custGeom>
                        <a:avLst/>
                        <a:gdLst>
                          <a:gd name="T0" fmla="*/ 0 w 80"/>
                          <a:gd name="T1" fmla="*/ 47 h 234"/>
                          <a:gd name="T2" fmla="*/ 0 w 80"/>
                          <a:gd name="T3" fmla="*/ 214 h 234"/>
                          <a:gd name="T4" fmla="*/ 80 w 80"/>
                          <a:gd name="T5" fmla="*/ 234 h 234"/>
                          <a:gd name="T6" fmla="*/ 80 w 80"/>
                          <a:gd name="T7" fmla="*/ 0 h 234"/>
                          <a:gd name="T8" fmla="*/ 0 w 80"/>
                          <a:gd name="T9" fmla="*/ 47 h 23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80" h="234">
                            <a:moveTo>
                              <a:pt x="0" y="47"/>
                            </a:moveTo>
                            <a:lnTo>
                              <a:pt x="0" y="214"/>
                            </a:lnTo>
                            <a:lnTo>
                              <a:pt x="80" y="234"/>
                            </a:lnTo>
                            <a:lnTo>
                              <a:pt x="80" y="0"/>
                            </a:lnTo>
                            <a:lnTo>
                              <a:pt x="0" y="47"/>
                            </a:lnTo>
                            <a:close/>
                          </a:path>
                        </a:pathLst>
                      </a:custGeom>
                      <a:solidFill>
                        <a:srgbClr val="C0C0C0"/>
                      </a:solidFill>
                      <a:ln w="3175">
                        <a:solidFill>
                          <a:srgbClr val="000000"/>
                        </a:solidFill>
                        <a:prstDash val="solid"/>
                        <a:round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608" name="Freeform 62"/>
                      <p:cNvSpPr/>
                      <p:nvPr/>
                    </p:nvSpPr>
                    <p:spPr bwMode="auto">
                      <a:xfrm>
                        <a:off x="3577" y="2561"/>
                        <a:ext cx="17" cy="59"/>
                      </a:xfrm>
                      <a:custGeom>
                        <a:avLst/>
                        <a:gdLst>
                          <a:gd name="T0" fmla="*/ 0 w 82"/>
                          <a:gd name="T1" fmla="*/ 45 h 234"/>
                          <a:gd name="T2" fmla="*/ 0 w 82"/>
                          <a:gd name="T3" fmla="*/ 213 h 234"/>
                          <a:gd name="T4" fmla="*/ 82 w 82"/>
                          <a:gd name="T5" fmla="*/ 234 h 234"/>
                          <a:gd name="T6" fmla="*/ 82 w 82"/>
                          <a:gd name="T7" fmla="*/ 0 h 234"/>
                          <a:gd name="T8" fmla="*/ 0 w 82"/>
                          <a:gd name="T9" fmla="*/ 45 h 23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82" h="234">
                            <a:moveTo>
                              <a:pt x="0" y="45"/>
                            </a:moveTo>
                            <a:lnTo>
                              <a:pt x="0" y="213"/>
                            </a:lnTo>
                            <a:lnTo>
                              <a:pt x="82" y="234"/>
                            </a:lnTo>
                            <a:lnTo>
                              <a:pt x="82" y="0"/>
                            </a:lnTo>
                            <a:lnTo>
                              <a:pt x="0" y="45"/>
                            </a:lnTo>
                            <a:close/>
                          </a:path>
                        </a:pathLst>
                      </a:custGeom>
                      <a:solidFill>
                        <a:srgbClr val="C0C0C0"/>
                      </a:solidFill>
                      <a:ln w="3175">
                        <a:solidFill>
                          <a:srgbClr val="000000"/>
                        </a:solidFill>
                        <a:prstDash val="solid"/>
                        <a:round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609" name="Freeform 63"/>
                      <p:cNvSpPr/>
                      <p:nvPr/>
                    </p:nvSpPr>
                    <p:spPr bwMode="auto">
                      <a:xfrm>
                        <a:off x="3570" y="2556"/>
                        <a:ext cx="16" cy="59"/>
                      </a:xfrm>
                      <a:custGeom>
                        <a:avLst/>
                        <a:gdLst>
                          <a:gd name="T0" fmla="*/ 0 w 81"/>
                          <a:gd name="T1" fmla="*/ 46 h 234"/>
                          <a:gd name="T2" fmla="*/ 0 w 81"/>
                          <a:gd name="T3" fmla="*/ 213 h 234"/>
                          <a:gd name="T4" fmla="*/ 81 w 81"/>
                          <a:gd name="T5" fmla="*/ 234 h 234"/>
                          <a:gd name="T6" fmla="*/ 81 w 81"/>
                          <a:gd name="T7" fmla="*/ 0 h 234"/>
                          <a:gd name="T8" fmla="*/ 0 w 81"/>
                          <a:gd name="T9" fmla="*/ 46 h 23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81" h="234">
                            <a:moveTo>
                              <a:pt x="0" y="46"/>
                            </a:moveTo>
                            <a:lnTo>
                              <a:pt x="0" y="213"/>
                            </a:lnTo>
                            <a:lnTo>
                              <a:pt x="81" y="234"/>
                            </a:lnTo>
                            <a:lnTo>
                              <a:pt x="81" y="0"/>
                            </a:lnTo>
                            <a:lnTo>
                              <a:pt x="0" y="46"/>
                            </a:lnTo>
                            <a:close/>
                          </a:path>
                        </a:pathLst>
                      </a:custGeom>
                      <a:solidFill>
                        <a:srgbClr val="C0C0C0"/>
                      </a:solidFill>
                      <a:ln w="3175">
                        <a:solidFill>
                          <a:srgbClr val="000000"/>
                        </a:solidFill>
                        <a:prstDash val="solid"/>
                        <a:round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576" name="Group 64"/>
                    <p:cNvGrpSpPr/>
                    <p:nvPr/>
                  </p:nvGrpSpPr>
                  <p:grpSpPr bwMode="auto">
                    <a:xfrm>
                      <a:off x="3569" y="2472"/>
                      <a:ext cx="123" cy="131"/>
                      <a:chOff x="3569" y="2472"/>
                      <a:chExt cx="123" cy="131"/>
                    </a:xfrm>
                  </p:grpSpPr>
                  <p:sp>
                    <p:nvSpPr>
                      <p:cNvPr id="579" name="Freeform 65"/>
                      <p:cNvSpPr/>
                      <p:nvPr/>
                    </p:nvSpPr>
                    <p:spPr bwMode="auto">
                      <a:xfrm>
                        <a:off x="3675" y="2553"/>
                        <a:ext cx="17" cy="50"/>
                      </a:xfrm>
                      <a:custGeom>
                        <a:avLst/>
                        <a:gdLst>
                          <a:gd name="T0" fmla="*/ 0 w 81"/>
                          <a:gd name="T1" fmla="*/ 46 h 198"/>
                          <a:gd name="T2" fmla="*/ 0 w 81"/>
                          <a:gd name="T3" fmla="*/ 164 h 198"/>
                          <a:gd name="T4" fmla="*/ 81 w 81"/>
                          <a:gd name="T5" fmla="*/ 198 h 198"/>
                          <a:gd name="T6" fmla="*/ 81 w 81"/>
                          <a:gd name="T7" fmla="*/ 0 h 198"/>
                          <a:gd name="T8" fmla="*/ 0 w 81"/>
                          <a:gd name="T9" fmla="*/ 46 h 198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81" h="198">
                            <a:moveTo>
                              <a:pt x="0" y="46"/>
                            </a:moveTo>
                            <a:lnTo>
                              <a:pt x="0" y="164"/>
                            </a:lnTo>
                            <a:lnTo>
                              <a:pt x="81" y="198"/>
                            </a:lnTo>
                            <a:lnTo>
                              <a:pt x="81" y="0"/>
                            </a:lnTo>
                            <a:lnTo>
                              <a:pt x="0" y="46"/>
                            </a:lnTo>
                            <a:close/>
                          </a:path>
                        </a:pathLst>
                      </a:cu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prstDash val="solid"/>
                        <a:round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580" name="Freeform 66"/>
                      <p:cNvSpPr/>
                      <p:nvPr/>
                    </p:nvSpPr>
                    <p:spPr bwMode="auto">
                      <a:xfrm>
                        <a:off x="3668" y="2547"/>
                        <a:ext cx="16" cy="48"/>
                      </a:xfrm>
                      <a:custGeom>
                        <a:avLst/>
                        <a:gdLst>
                          <a:gd name="T0" fmla="*/ 0 w 81"/>
                          <a:gd name="T1" fmla="*/ 45 h 192"/>
                          <a:gd name="T2" fmla="*/ 0 w 81"/>
                          <a:gd name="T3" fmla="*/ 160 h 192"/>
                          <a:gd name="T4" fmla="*/ 81 w 81"/>
                          <a:gd name="T5" fmla="*/ 192 h 192"/>
                          <a:gd name="T6" fmla="*/ 81 w 81"/>
                          <a:gd name="T7" fmla="*/ 0 h 192"/>
                          <a:gd name="T8" fmla="*/ 0 w 81"/>
                          <a:gd name="T9" fmla="*/ 45 h 192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81" h="192">
                            <a:moveTo>
                              <a:pt x="0" y="45"/>
                            </a:moveTo>
                            <a:lnTo>
                              <a:pt x="0" y="160"/>
                            </a:lnTo>
                            <a:lnTo>
                              <a:pt x="81" y="192"/>
                            </a:lnTo>
                            <a:lnTo>
                              <a:pt x="81" y="0"/>
                            </a:lnTo>
                            <a:lnTo>
                              <a:pt x="0" y="45"/>
                            </a:lnTo>
                            <a:close/>
                          </a:path>
                        </a:pathLst>
                      </a:cu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prstDash val="solid"/>
                        <a:round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581" name="Freeform 67"/>
                      <p:cNvSpPr/>
                      <p:nvPr/>
                    </p:nvSpPr>
                    <p:spPr bwMode="auto">
                      <a:xfrm>
                        <a:off x="3660" y="2542"/>
                        <a:ext cx="17" cy="50"/>
                      </a:xfrm>
                      <a:custGeom>
                        <a:avLst/>
                        <a:gdLst>
                          <a:gd name="T0" fmla="*/ 0 w 81"/>
                          <a:gd name="T1" fmla="*/ 46 h 201"/>
                          <a:gd name="T2" fmla="*/ 0 w 81"/>
                          <a:gd name="T3" fmla="*/ 183 h 201"/>
                          <a:gd name="T4" fmla="*/ 81 w 81"/>
                          <a:gd name="T5" fmla="*/ 201 h 201"/>
                          <a:gd name="T6" fmla="*/ 81 w 81"/>
                          <a:gd name="T7" fmla="*/ 0 h 201"/>
                          <a:gd name="T8" fmla="*/ 0 w 81"/>
                          <a:gd name="T9" fmla="*/ 46 h 201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81" h="201">
                            <a:moveTo>
                              <a:pt x="0" y="46"/>
                            </a:moveTo>
                            <a:lnTo>
                              <a:pt x="0" y="183"/>
                            </a:lnTo>
                            <a:lnTo>
                              <a:pt x="81" y="201"/>
                            </a:lnTo>
                            <a:lnTo>
                              <a:pt x="81" y="0"/>
                            </a:lnTo>
                            <a:lnTo>
                              <a:pt x="0" y="46"/>
                            </a:lnTo>
                            <a:close/>
                          </a:path>
                        </a:pathLst>
                      </a:cu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prstDash val="solid"/>
                        <a:round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582" name="Freeform 68"/>
                      <p:cNvSpPr/>
                      <p:nvPr/>
                    </p:nvSpPr>
                    <p:spPr bwMode="auto">
                      <a:xfrm>
                        <a:off x="3653" y="2535"/>
                        <a:ext cx="16" cy="52"/>
                      </a:xfrm>
                      <a:custGeom>
                        <a:avLst/>
                        <a:gdLst>
                          <a:gd name="T0" fmla="*/ 0 w 82"/>
                          <a:gd name="T1" fmla="*/ 45 h 205"/>
                          <a:gd name="T2" fmla="*/ 0 w 82"/>
                          <a:gd name="T3" fmla="*/ 184 h 205"/>
                          <a:gd name="T4" fmla="*/ 82 w 82"/>
                          <a:gd name="T5" fmla="*/ 205 h 205"/>
                          <a:gd name="T6" fmla="*/ 82 w 82"/>
                          <a:gd name="T7" fmla="*/ 0 h 205"/>
                          <a:gd name="T8" fmla="*/ 0 w 82"/>
                          <a:gd name="T9" fmla="*/ 45 h 205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82" h="205">
                            <a:moveTo>
                              <a:pt x="0" y="45"/>
                            </a:moveTo>
                            <a:lnTo>
                              <a:pt x="0" y="184"/>
                            </a:lnTo>
                            <a:lnTo>
                              <a:pt x="82" y="205"/>
                            </a:lnTo>
                            <a:lnTo>
                              <a:pt x="82" y="0"/>
                            </a:lnTo>
                            <a:lnTo>
                              <a:pt x="0" y="45"/>
                            </a:lnTo>
                            <a:close/>
                          </a:path>
                        </a:pathLst>
                      </a:cu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prstDash val="solid"/>
                        <a:round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583" name="Freeform 69"/>
                      <p:cNvSpPr/>
                      <p:nvPr/>
                    </p:nvSpPr>
                    <p:spPr bwMode="auto">
                      <a:xfrm>
                        <a:off x="3646" y="2530"/>
                        <a:ext cx="16" cy="58"/>
                      </a:xfrm>
                      <a:custGeom>
                        <a:avLst/>
                        <a:gdLst>
                          <a:gd name="T0" fmla="*/ 0 w 80"/>
                          <a:gd name="T1" fmla="*/ 46 h 234"/>
                          <a:gd name="T2" fmla="*/ 0 w 80"/>
                          <a:gd name="T3" fmla="*/ 214 h 234"/>
                          <a:gd name="T4" fmla="*/ 80 w 80"/>
                          <a:gd name="T5" fmla="*/ 234 h 234"/>
                          <a:gd name="T6" fmla="*/ 80 w 80"/>
                          <a:gd name="T7" fmla="*/ 0 h 234"/>
                          <a:gd name="T8" fmla="*/ 0 w 80"/>
                          <a:gd name="T9" fmla="*/ 46 h 23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80" h="234">
                            <a:moveTo>
                              <a:pt x="0" y="46"/>
                            </a:moveTo>
                            <a:lnTo>
                              <a:pt x="0" y="214"/>
                            </a:lnTo>
                            <a:lnTo>
                              <a:pt x="80" y="234"/>
                            </a:lnTo>
                            <a:lnTo>
                              <a:pt x="80" y="0"/>
                            </a:lnTo>
                            <a:lnTo>
                              <a:pt x="0" y="46"/>
                            </a:lnTo>
                            <a:close/>
                          </a:path>
                        </a:pathLst>
                      </a:cu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prstDash val="solid"/>
                        <a:round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584" name="Freeform 70"/>
                      <p:cNvSpPr/>
                      <p:nvPr/>
                    </p:nvSpPr>
                    <p:spPr bwMode="auto">
                      <a:xfrm>
                        <a:off x="3638" y="2524"/>
                        <a:ext cx="16" cy="58"/>
                      </a:xfrm>
                      <a:custGeom>
                        <a:avLst/>
                        <a:gdLst>
                          <a:gd name="T0" fmla="*/ 0 w 80"/>
                          <a:gd name="T1" fmla="*/ 46 h 234"/>
                          <a:gd name="T2" fmla="*/ 0 w 80"/>
                          <a:gd name="T3" fmla="*/ 214 h 234"/>
                          <a:gd name="T4" fmla="*/ 80 w 80"/>
                          <a:gd name="T5" fmla="*/ 234 h 234"/>
                          <a:gd name="T6" fmla="*/ 80 w 80"/>
                          <a:gd name="T7" fmla="*/ 0 h 234"/>
                          <a:gd name="T8" fmla="*/ 0 w 80"/>
                          <a:gd name="T9" fmla="*/ 46 h 23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80" h="234">
                            <a:moveTo>
                              <a:pt x="0" y="46"/>
                            </a:moveTo>
                            <a:lnTo>
                              <a:pt x="0" y="214"/>
                            </a:lnTo>
                            <a:lnTo>
                              <a:pt x="80" y="234"/>
                            </a:lnTo>
                            <a:lnTo>
                              <a:pt x="80" y="0"/>
                            </a:lnTo>
                            <a:lnTo>
                              <a:pt x="0" y="46"/>
                            </a:lnTo>
                            <a:close/>
                          </a:path>
                        </a:pathLst>
                      </a:custGeom>
                      <a:solidFill>
                        <a:srgbClr val="9F9F9F"/>
                      </a:solidFill>
                      <a:ln w="3175">
                        <a:solidFill>
                          <a:srgbClr val="000000"/>
                        </a:solidFill>
                        <a:prstDash val="solid"/>
                        <a:round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585" name="Freeform 71"/>
                      <p:cNvSpPr/>
                      <p:nvPr/>
                    </p:nvSpPr>
                    <p:spPr bwMode="auto">
                      <a:xfrm>
                        <a:off x="3630" y="2518"/>
                        <a:ext cx="16" cy="59"/>
                      </a:xfrm>
                      <a:custGeom>
                        <a:avLst/>
                        <a:gdLst>
                          <a:gd name="T0" fmla="*/ 0 w 80"/>
                          <a:gd name="T1" fmla="*/ 46 h 235"/>
                          <a:gd name="T2" fmla="*/ 0 w 80"/>
                          <a:gd name="T3" fmla="*/ 213 h 235"/>
                          <a:gd name="T4" fmla="*/ 80 w 80"/>
                          <a:gd name="T5" fmla="*/ 235 h 235"/>
                          <a:gd name="T6" fmla="*/ 80 w 80"/>
                          <a:gd name="T7" fmla="*/ 0 h 235"/>
                          <a:gd name="T8" fmla="*/ 0 w 80"/>
                          <a:gd name="T9" fmla="*/ 46 h 235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80" h="235">
                            <a:moveTo>
                              <a:pt x="0" y="46"/>
                            </a:moveTo>
                            <a:lnTo>
                              <a:pt x="0" y="213"/>
                            </a:lnTo>
                            <a:lnTo>
                              <a:pt x="80" y="235"/>
                            </a:lnTo>
                            <a:lnTo>
                              <a:pt x="80" y="0"/>
                            </a:lnTo>
                            <a:lnTo>
                              <a:pt x="0" y="46"/>
                            </a:lnTo>
                            <a:close/>
                          </a:path>
                        </a:pathLst>
                      </a:custGeom>
                      <a:solidFill>
                        <a:srgbClr val="9F9F9F"/>
                      </a:solidFill>
                      <a:ln w="3175">
                        <a:solidFill>
                          <a:srgbClr val="000000"/>
                        </a:solidFill>
                        <a:prstDash val="solid"/>
                        <a:round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586" name="Freeform 72"/>
                      <p:cNvSpPr/>
                      <p:nvPr/>
                    </p:nvSpPr>
                    <p:spPr bwMode="auto">
                      <a:xfrm>
                        <a:off x="3622" y="2512"/>
                        <a:ext cx="16" cy="59"/>
                      </a:xfrm>
                      <a:custGeom>
                        <a:avLst/>
                        <a:gdLst>
                          <a:gd name="T0" fmla="*/ 0 w 80"/>
                          <a:gd name="T1" fmla="*/ 45 h 234"/>
                          <a:gd name="T2" fmla="*/ 0 w 80"/>
                          <a:gd name="T3" fmla="*/ 213 h 234"/>
                          <a:gd name="T4" fmla="*/ 80 w 80"/>
                          <a:gd name="T5" fmla="*/ 234 h 234"/>
                          <a:gd name="T6" fmla="*/ 80 w 80"/>
                          <a:gd name="T7" fmla="*/ 0 h 234"/>
                          <a:gd name="T8" fmla="*/ 0 w 80"/>
                          <a:gd name="T9" fmla="*/ 45 h 23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80" h="234">
                            <a:moveTo>
                              <a:pt x="0" y="45"/>
                            </a:moveTo>
                            <a:lnTo>
                              <a:pt x="0" y="213"/>
                            </a:lnTo>
                            <a:lnTo>
                              <a:pt x="80" y="234"/>
                            </a:lnTo>
                            <a:lnTo>
                              <a:pt x="80" y="0"/>
                            </a:lnTo>
                            <a:lnTo>
                              <a:pt x="0" y="45"/>
                            </a:lnTo>
                            <a:close/>
                          </a:path>
                        </a:pathLst>
                      </a:custGeom>
                      <a:solidFill>
                        <a:srgbClr val="9F9F9F"/>
                      </a:solidFill>
                      <a:ln w="3175">
                        <a:solidFill>
                          <a:srgbClr val="000000"/>
                        </a:solidFill>
                        <a:prstDash val="solid"/>
                        <a:round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587" name="Freeform 73"/>
                      <p:cNvSpPr/>
                      <p:nvPr/>
                    </p:nvSpPr>
                    <p:spPr bwMode="auto">
                      <a:xfrm>
                        <a:off x="3615" y="2506"/>
                        <a:ext cx="16" cy="59"/>
                      </a:xfrm>
                      <a:custGeom>
                        <a:avLst/>
                        <a:gdLst>
                          <a:gd name="T0" fmla="*/ 0 w 81"/>
                          <a:gd name="T1" fmla="*/ 45 h 234"/>
                          <a:gd name="T2" fmla="*/ 0 w 81"/>
                          <a:gd name="T3" fmla="*/ 214 h 234"/>
                          <a:gd name="T4" fmla="*/ 81 w 81"/>
                          <a:gd name="T5" fmla="*/ 234 h 234"/>
                          <a:gd name="T6" fmla="*/ 81 w 81"/>
                          <a:gd name="T7" fmla="*/ 0 h 234"/>
                          <a:gd name="T8" fmla="*/ 0 w 81"/>
                          <a:gd name="T9" fmla="*/ 45 h 23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81" h="234">
                            <a:moveTo>
                              <a:pt x="0" y="45"/>
                            </a:moveTo>
                            <a:lnTo>
                              <a:pt x="0" y="214"/>
                            </a:lnTo>
                            <a:lnTo>
                              <a:pt x="81" y="234"/>
                            </a:lnTo>
                            <a:lnTo>
                              <a:pt x="81" y="0"/>
                            </a:lnTo>
                            <a:lnTo>
                              <a:pt x="0" y="45"/>
                            </a:lnTo>
                            <a:close/>
                          </a:path>
                        </a:pathLst>
                      </a:custGeom>
                      <a:solidFill>
                        <a:srgbClr val="9F9F9F"/>
                      </a:solidFill>
                      <a:ln w="3175">
                        <a:solidFill>
                          <a:srgbClr val="000000"/>
                        </a:solidFill>
                        <a:prstDash val="solid"/>
                        <a:round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588" name="Freeform 74"/>
                      <p:cNvSpPr/>
                      <p:nvPr/>
                    </p:nvSpPr>
                    <p:spPr bwMode="auto">
                      <a:xfrm>
                        <a:off x="3607" y="2500"/>
                        <a:ext cx="16" cy="59"/>
                      </a:xfrm>
                      <a:custGeom>
                        <a:avLst/>
                        <a:gdLst>
                          <a:gd name="T0" fmla="*/ 0 w 80"/>
                          <a:gd name="T1" fmla="*/ 47 h 234"/>
                          <a:gd name="T2" fmla="*/ 0 w 80"/>
                          <a:gd name="T3" fmla="*/ 214 h 234"/>
                          <a:gd name="T4" fmla="*/ 80 w 80"/>
                          <a:gd name="T5" fmla="*/ 234 h 234"/>
                          <a:gd name="T6" fmla="*/ 80 w 80"/>
                          <a:gd name="T7" fmla="*/ 0 h 234"/>
                          <a:gd name="T8" fmla="*/ 0 w 80"/>
                          <a:gd name="T9" fmla="*/ 47 h 23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80" h="234">
                            <a:moveTo>
                              <a:pt x="0" y="47"/>
                            </a:moveTo>
                            <a:lnTo>
                              <a:pt x="0" y="214"/>
                            </a:lnTo>
                            <a:lnTo>
                              <a:pt x="80" y="234"/>
                            </a:lnTo>
                            <a:lnTo>
                              <a:pt x="80" y="0"/>
                            </a:lnTo>
                            <a:lnTo>
                              <a:pt x="0" y="47"/>
                            </a:lnTo>
                            <a:close/>
                          </a:path>
                        </a:pathLst>
                      </a:custGeom>
                      <a:solidFill>
                        <a:srgbClr val="9F9F9F"/>
                      </a:solidFill>
                      <a:ln w="3175">
                        <a:solidFill>
                          <a:srgbClr val="000000"/>
                        </a:solidFill>
                        <a:prstDash val="solid"/>
                        <a:round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589" name="Freeform 75"/>
                      <p:cNvSpPr/>
                      <p:nvPr/>
                    </p:nvSpPr>
                    <p:spPr bwMode="auto">
                      <a:xfrm>
                        <a:off x="3600" y="2495"/>
                        <a:ext cx="16" cy="59"/>
                      </a:xfrm>
                      <a:custGeom>
                        <a:avLst/>
                        <a:gdLst>
                          <a:gd name="T0" fmla="*/ 0 w 80"/>
                          <a:gd name="T1" fmla="*/ 45 h 234"/>
                          <a:gd name="T2" fmla="*/ 0 w 80"/>
                          <a:gd name="T3" fmla="*/ 213 h 234"/>
                          <a:gd name="T4" fmla="*/ 80 w 80"/>
                          <a:gd name="T5" fmla="*/ 234 h 234"/>
                          <a:gd name="T6" fmla="*/ 80 w 80"/>
                          <a:gd name="T7" fmla="*/ 0 h 234"/>
                          <a:gd name="T8" fmla="*/ 0 w 80"/>
                          <a:gd name="T9" fmla="*/ 45 h 23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80" h="234">
                            <a:moveTo>
                              <a:pt x="0" y="45"/>
                            </a:moveTo>
                            <a:lnTo>
                              <a:pt x="0" y="213"/>
                            </a:lnTo>
                            <a:lnTo>
                              <a:pt x="80" y="234"/>
                            </a:lnTo>
                            <a:lnTo>
                              <a:pt x="80" y="0"/>
                            </a:lnTo>
                            <a:lnTo>
                              <a:pt x="0" y="45"/>
                            </a:lnTo>
                            <a:close/>
                          </a:path>
                        </a:pathLst>
                      </a:custGeom>
                      <a:solidFill>
                        <a:srgbClr val="C0C0C0"/>
                      </a:solidFill>
                      <a:ln w="3175">
                        <a:solidFill>
                          <a:srgbClr val="000000"/>
                        </a:solidFill>
                        <a:prstDash val="solid"/>
                        <a:round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590" name="Freeform 76"/>
                      <p:cNvSpPr/>
                      <p:nvPr/>
                    </p:nvSpPr>
                    <p:spPr bwMode="auto">
                      <a:xfrm>
                        <a:off x="3592" y="2489"/>
                        <a:ext cx="16" cy="59"/>
                      </a:xfrm>
                      <a:custGeom>
                        <a:avLst/>
                        <a:gdLst>
                          <a:gd name="T0" fmla="*/ 0 w 81"/>
                          <a:gd name="T1" fmla="*/ 46 h 234"/>
                          <a:gd name="T2" fmla="*/ 0 w 81"/>
                          <a:gd name="T3" fmla="*/ 214 h 234"/>
                          <a:gd name="T4" fmla="*/ 81 w 81"/>
                          <a:gd name="T5" fmla="*/ 234 h 234"/>
                          <a:gd name="T6" fmla="*/ 81 w 81"/>
                          <a:gd name="T7" fmla="*/ 0 h 234"/>
                          <a:gd name="T8" fmla="*/ 0 w 81"/>
                          <a:gd name="T9" fmla="*/ 46 h 23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81" h="234">
                            <a:moveTo>
                              <a:pt x="0" y="46"/>
                            </a:moveTo>
                            <a:lnTo>
                              <a:pt x="0" y="214"/>
                            </a:lnTo>
                            <a:lnTo>
                              <a:pt x="81" y="234"/>
                            </a:lnTo>
                            <a:lnTo>
                              <a:pt x="81" y="0"/>
                            </a:lnTo>
                            <a:lnTo>
                              <a:pt x="0" y="46"/>
                            </a:lnTo>
                            <a:close/>
                          </a:path>
                        </a:pathLst>
                      </a:custGeom>
                      <a:solidFill>
                        <a:srgbClr val="C0C0C0"/>
                      </a:solidFill>
                      <a:ln w="3175">
                        <a:solidFill>
                          <a:srgbClr val="000000"/>
                        </a:solidFill>
                        <a:prstDash val="solid"/>
                        <a:round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591" name="Freeform 77"/>
                      <p:cNvSpPr/>
                      <p:nvPr/>
                    </p:nvSpPr>
                    <p:spPr bwMode="auto">
                      <a:xfrm>
                        <a:off x="3585" y="2483"/>
                        <a:ext cx="16" cy="59"/>
                      </a:xfrm>
                      <a:custGeom>
                        <a:avLst/>
                        <a:gdLst>
                          <a:gd name="T0" fmla="*/ 0 w 80"/>
                          <a:gd name="T1" fmla="*/ 47 h 234"/>
                          <a:gd name="T2" fmla="*/ 0 w 80"/>
                          <a:gd name="T3" fmla="*/ 214 h 234"/>
                          <a:gd name="T4" fmla="*/ 80 w 80"/>
                          <a:gd name="T5" fmla="*/ 234 h 234"/>
                          <a:gd name="T6" fmla="*/ 80 w 80"/>
                          <a:gd name="T7" fmla="*/ 0 h 234"/>
                          <a:gd name="T8" fmla="*/ 0 w 80"/>
                          <a:gd name="T9" fmla="*/ 47 h 23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80" h="234">
                            <a:moveTo>
                              <a:pt x="0" y="47"/>
                            </a:moveTo>
                            <a:lnTo>
                              <a:pt x="0" y="214"/>
                            </a:lnTo>
                            <a:lnTo>
                              <a:pt x="80" y="234"/>
                            </a:lnTo>
                            <a:lnTo>
                              <a:pt x="80" y="0"/>
                            </a:lnTo>
                            <a:lnTo>
                              <a:pt x="0" y="47"/>
                            </a:lnTo>
                            <a:close/>
                          </a:path>
                        </a:pathLst>
                      </a:custGeom>
                      <a:solidFill>
                        <a:srgbClr val="C0C0C0"/>
                      </a:solidFill>
                      <a:ln w="3175">
                        <a:solidFill>
                          <a:srgbClr val="000000"/>
                        </a:solidFill>
                        <a:prstDash val="solid"/>
                        <a:round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592" name="Freeform 78"/>
                      <p:cNvSpPr/>
                      <p:nvPr/>
                    </p:nvSpPr>
                    <p:spPr bwMode="auto">
                      <a:xfrm>
                        <a:off x="3577" y="2477"/>
                        <a:ext cx="16" cy="59"/>
                      </a:xfrm>
                      <a:custGeom>
                        <a:avLst/>
                        <a:gdLst>
                          <a:gd name="T0" fmla="*/ 0 w 80"/>
                          <a:gd name="T1" fmla="*/ 47 h 235"/>
                          <a:gd name="T2" fmla="*/ 0 w 80"/>
                          <a:gd name="T3" fmla="*/ 214 h 235"/>
                          <a:gd name="T4" fmla="*/ 80 w 80"/>
                          <a:gd name="T5" fmla="*/ 235 h 235"/>
                          <a:gd name="T6" fmla="*/ 80 w 80"/>
                          <a:gd name="T7" fmla="*/ 0 h 235"/>
                          <a:gd name="T8" fmla="*/ 0 w 80"/>
                          <a:gd name="T9" fmla="*/ 47 h 235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80" h="235">
                            <a:moveTo>
                              <a:pt x="0" y="47"/>
                            </a:moveTo>
                            <a:lnTo>
                              <a:pt x="0" y="214"/>
                            </a:lnTo>
                            <a:lnTo>
                              <a:pt x="80" y="235"/>
                            </a:lnTo>
                            <a:lnTo>
                              <a:pt x="80" y="0"/>
                            </a:lnTo>
                            <a:lnTo>
                              <a:pt x="0" y="47"/>
                            </a:lnTo>
                            <a:close/>
                          </a:path>
                        </a:pathLst>
                      </a:custGeom>
                      <a:solidFill>
                        <a:srgbClr val="C0C0C0"/>
                      </a:solidFill>
                      <a:ln w="3175">
                        <a:solidFill>
                          <a:srgbClr val="000000"/>
                        </a:solidFill>
                        <a:prstDash val="solid"/>
                        <a:round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593" name="Freeform 79"/>
                      <p:cNvSpPr/>
                      <p:nvPr/>
                    </p:nvSpPr>
                    <p:spPr bwMode="auto">
                      <a:xfrm>
                        <a:off x="3569" y="2472"/>
                        <a:ext cx="17" cy="58"/>
                      </a:xfrm>
                      <a:custGeom>
                        <a:avLst/>
                        <a:gdLst>
                          <a:gd name="T0" fmla="*/ 0 w 82"/>
                          <a:gd name="T1" fmla="*/ 45 h 234"/>
                          <a:gd name="T2" fmla="*/ 0 w 82"/>
                          <a:gd name="T3" fmla="*/ 212 h 234"/>
                          <a:gd name="T4" fmla="*/ 82 w 82"/>
                          <a:gd name="T5" fmla="*/ 234 h 234"/>
                          <a:gd name="T6" fmla="*/ 82 w 82"/>
                          <a:gd name="T7" fmla="*/ 0 h 234"/>
                          <a:gd name="T8" fmla="*/ 0 w 82"/>
                          <a:gd name="T9" fmla="*/ 45 h 23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82" h="234">
                            <a:moveTo>
                              <a:pt x="0" y="45"/>
                            </a:moveTo>
                            <a:lnTo>
                              <a:pt x="0" y="212"/>
                            </a:lnTo>
                            <a:lnTo>
                              <a:pt x="82" y="234"/>
                            </a:lnTo>
                            <a:lnTo>
                              <a:pt x="82" y="0"/>
                            </a:lnTo>
                            <a:lnTo>
                              <a:pt x="0" y="45"/>
                            </a:lnTo>
                            <a:close/>
                          </a:path>
                        </a:pathLst>
                      </a:custGeom>
                      <a:solidFill>
                        <a:srgbClr val="C0C0C0"/>
                      </a:solidFill>
                      <a:ln w="3175">
                        <a:solidFill>
                          <a:srgbClr val="000000"/>
                        </a:solidFill>
                        <a:prstDash val="solid"/>
                        <a:round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sp>
                  <p:nvSpPr>
                    <p:cNvPr id="577" name="Freeform 80"/>
                    <p:cNvSpPr/>
                    <p:nvPr/>
                  </p:nvSpPr>
                  <p:spPr bwMode="auto">
                    <a:xfrm>
                      <a:off x="3568" y="2506"/>
                      <a:ext cx="156" cy="114"/>
                    </a:xfrm>
                    <a:custGeom>
                      <a:avLst/>
                      <a:gdLst>
                        <a:gd name="T0" fmla="*/ 0 w 780"/>
                        <a:gd name="T1" fmla="*/ 0 h 457"/>
                        <a:gd name="T2" fmla="*/ 780 w 780"/>
                        <a:gd name="T3" fmla="*/ 362 h 457"/>
                        <a:gd name="T4" fmla="*/ 780 w 780"/>
                        <a:gd name="T5" fmla="*/ 457 h 457"/>
                        <a:gd name="T6" fmla="*/ 0 w 780"/>
                        <a:gd name="T7" fmla="*/ 162 h 457"/>
                        <a:gd name="T8" fmla="*/ 0 w 780"/>
                        <a:gd name="T9" fmla="*/ 0 h 45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780" h="457">
                          <a:moveTo>
                            <a:pt x="0" y="0"/>
                          </a:moveTo>
                          <a:lnTo>
                            <a:pt x="780" y="362"/>
                          </a:lnTo>
                          <a:lnTo>
                            <a:pt x="780" y="457"/>
                          </a:lnTo>
                          <a:lnTo>
                            <a:pt x="0" y="162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9F9F9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78" name="Freeform 81"/>
                    <p:cNvSpPr/>
                    <p:nvPr/>
                  </p:nvSpPr>
                  <p:spPr bwMode="auto">
                    <a:xfrm>
                      <a:off x="3568" y="2605"/>
                      <a:ext cx="149" cy="77"/>
                    </a:xfrm>
                    <a:custGeom>
                      <a:avLst/>
                      <a:gdLst>
                        <a:gd name="T0" fmla="*/ 0 w 746"/>
                        <a:gd name="T1" fmla="*/ 0 h 310"/>
                        <a:gd name="T2" fmla="*/ 746 w 746"/>
                        <a:gd name="T3" fmla="*/ 201 h 310"/>
                        <a:gd name="T4" fmla="*/ 746 w 746"/>
                        <a:gd name="T5" fmla="*/ 310 h 310"/>
                        <a:gd name="T6" fmla="*/ 0 w 746"/>
                        <a:gd name="T7" fmla="*/ 197 h 310"/>
                        <a:gd name="T8" fmla="*/ 0 w 746"/>
                        <a:gd name="T9" fmla="*/ 0 h 31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746" h="310">
                          <a:moveTo>
                            <a:pt x="0" y="0"/>
                          </a:moveTo>
                          <a:lnTo>
                            <a:pt x="746" y="201"/>
                          </a:lnTo>
                          <a:lnTo>
                            <a:pt x="746" y="310"/>
                          </a:lnTo>
                          <a:lnTo>
                            <a:pt x="0" y="19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9F9F9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551" name="Group 82"/>
                  <p:cNvGrpSpPr/>
                  <p:nvPr/>
                </p:nvGrpSpPr>
                <p:grpSpPr bwMode="auto">
                  <a:xfrm>
                    <a:off x="3033" y="2348"/>
                    <a:ext cx="439" cy="405"/>
                    <a:chOff x="3033" y="2348"/>
                    <a:chExt cx="439" cy="405"/>
                  </a:xfrm>
                </p:grpSpPr>
                <p:grpSp>
                  <p:nvGrpSpPr>
                    <p:cNvPr id="552" name="Group 83"/>
                    <p:cNvGrpSpPr/>
                    <p:nvPr/>
                  </p:nvGrpSpPr>
                  <p:grpSpPr bwMode="auto">
                    <a:xfrm>
                      <a:off x="3210" y="2436"/>
                      <a:ext cx="72" cy="317"/>
                      <a:chOff x="3210" y="2436"/>
                      <a:chExt cx="72" cy="317"/>
                    </a:xfrm>
                  </p:grpSpPr>
                  <p:sp>
                    <p:nvSpPr>
                      <p:cNvPr id="568" name="Freeform 84"/>
                      <p:cNvSpPr/>
                      <p:nvPr/>
                    </p:nvSpPr>
                    <p:spPr bwMode="auto">
                      <a:xfrm>
                        <a:off x="3215" y="2436"/>
                        <a:ext cx="67" cy="317"/>
                      </a:xfrm>
                      <a:custGeom>
                        <a:avLst/>
                        <a:gdLst>
                          <a:gd name="T0" fmla="*/ 333 w 333"/>
                          <a:gd name="T1" fmla="*/ 109 h 1264"/>
                          <a:gd name="T2" fmla="*/ 153 w 333"/>
                          <a:gd name="T3" fmla="*/ 0 h 1264"/>
                          <a:gd name="T4" fmla="*/ 132 w 333"/>
                          <a:gd name="T5" fmla="*/ 0 h 1264"/>
                          <a:gd name="T6" fmla="*/ 95 w 333"/>
                          <a:gd name="T7" fmla="*/ 5 h 1264"/>
                          <a:gd name="T8" fmla="*/ 33 w 333"/>
                          <a:gd name="T9" fmla="*/ 69 h 1264"/>
                          <a:gd name="T10" fmla="*/ 0 w 333"/>
                          <a:gd name="T11" fmla="*/ 49 h 1264"/>
                          <a:gd name="T12" fmla="*/ 0 w 333"/>
                          <a:gd name="T13" fmla="*/ 1261 h 1264"/>
                          <a:gd name="T14" fmla="*/ 49 w 333"/>
                          <a:gd name="T15" fmla="*/ 1210 h 1264"/>
                          <a:gd name="T16" fmla="*/ 91 w 333"/>
                          <a:gd name="T17" fmla="*/ 1210 h 1264"/>
                          <a:gd name="T18" fmla="*/ 91 w 333"/>
                          <a:gd name="T19" fmla="*/ 1264 h 1264"/>
                          <a:gd name="T20" fmla="*/ 133 w 333"/>
                          <a:gd name="T21" fmla="*/ 1264 h 1264"/>
                          <a:gd name="T22" fmla="*/ 162 w 333"/>
                          <a:gd name="T23" fmla="*/ 1236 h 1264"/>
                          <a:gd name="T24" fmla="*/ 162 w 333"/>
                          <a:gd name="T25" fmla="*/ 167 h 1264"/>
                          <a:gd name="T26" fmla="*/ 333 w 333"/>
                          <a:gd name="T27" fmla="*/ 109 h 126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</a:cxnLst>
                        <a:rect l="0" t="0" r="r" b="b"/>
                        <a:pathLst>
                          <a:path w="333" h="1264">
                            <a:moveTo>
                              <a:pt x="333" y="109"/>
                            </a:moveTo>
                            <a:lnTo>
                              <a:pt x="153" y="0"/>
                            </a:lnTo>
                            <a:lnTo>
                              <a:pt x="132" y="0"/>
                            </a:lnTo>
                            <a:lnTo>
                              <a:pt x="95" y="5"/>
                            </a:lnTo>
                            <a:lnTo>
                              <a:pt x="33" y="69"/>
                            </a:lnTo>
                            <a:lnTo>
                              <a:pt x="0" y="49"/>
                            </a:lnTo>
                            <a:lnTo>
                              <a:pt x="0" y="1261"/>
                            </a:lnTo>
                            <a:lnTo>
                              <a:pt x="49" y="1210"/>
                            </a:lnTo>
                            <a:lnTo>
                              <a:pt x="91" y="1210"/>
                            </a:lnTo>
                            <a:lnTo>
                              <a:pt x="91" y="1264"/>
                            </a:lnTo>
                            <a:lnTo>
                              <a:pt x="133" y="1264"/>
                            </a:lnTo>
                            <a:lnTo>
                              <a:pt x="162" y="1236"/>
                            </a:lnTo>
                            <a:lnTo>
                              <a:pt x="162" y="167"/>
                            </a:lnTo>
                            <a:lnTo>
                              <a:pt x="333" y="109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569" name="Freeform 85"/>
                      <p:cNvSpPr/>
                      <p:nvPr/>
                    </p:nvSpPr>
                    <p:spPr bwMode="auto">
                      <a:xfrm>
                        <a:off x="3210" y="2449"/>
                        <a:ext cx="5" cy="303"/>
                      </a:xfrm>
                      <a:custGeom>
                        <a:avLst/>
                        <a:gdLst>
                          <a:gd name="T0" fmla="*/ 28 w 28"/>
                          <a:gd name="T1" fmla="*/ 0 h 1213"/>
                          <a:gd name="T2" fmla="*/ 28 w 28"/>
                          <a:gd name="T3" fmla="*/ 1213 h 1213"/>
                          <a:gd name="T4" fmla="*/ 0 w 28"/>
                          <a:gd name="T5" fmla="*/ 1213 h 1213"/>
                          <a:gd name="T6" fmla="*/ 0 w 28"/>
                          <a:gd name="T7" fmla="*/ 9 h 1213"/>
                          <a:gd name="T8" fmla="*/ 28 w 28"/>
                          <a:gd name="T9" fmla="*/ 0 h 121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28" h="1213">
                            <a:moveTo>
                              <a:pt x="28" y="0"/>
                            </a:moveTo>
                            <a:lnTo>
                              <a:pt x="28" y="1213"/>
                            </a:lnTo>
                            <a:lnTo>
                              <a:pt x="0" y="1213"/>
                            </a:lnTo>
                            <a:lnTo>
                              <a:pt x="0" y="9"/>
                            </a:lnTo>
                            <a:lnTo>
                              <a:pt x="28" y="0"/>
                            </a:lnTo>
                            <a:close/>
                          </a:path>
                        </a:pathLst>
                      </a:custGeom>
                      <a:solidFill>
                        <a:srgbClr val="C0C0C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570" name="Freeform 86"/>
                      <p:cNvSpPr/>
                      <p:nvPr/>
                    </p:nvSpPr>
                    <p:spPr bwMode="auto">
                      <a:xfrm>
                        <a:off x="3233" y="2436"/>
                        <a:ext cx="8" cy="317"/>
                      </a:xfrm>
                      <a:custGeom>
                        <a:avLst/>
                        <a:gdLst>
                          <a:gd name="T0" fmla="*/ 0 w 41"/>
                          <a:gd name="T1" fmla="*/ 5 h 1264"/>
                          <a:gd name="T2" fmla="*/ 41 w 41"/>
                          <a:gd name="T3" fmla="*/ 0 h 1264"/>
                          <a:gd name="T4" fmla="*/ 41 w 41"/>
                          <a:gd name="T5" fmla="*/ 1264 h 1264"/>
                          <a:gd name="T6" fmla="*/ 0 w 41"/>
                          <a:gd name="T7" fmla="*/ 1264 h 1264"/>
                          <a:gd name="T8" fmla="*/ 0 w 41"/>
                          <a:gd name="T9" fmla="*/ 5 h 126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41" h="1264">
                            <a:moveTo>
                              <a:pt x="0" y="5"/>
                            </a:moveTo>
                            <a:lnTo>
                              <a:pt x="41" y="0"/>
                            </a:lnTo>
                            <a:lnTo>
                              <a:pt x="41" y="1264"/>
                            </a:lnTo>
                            <a:lnTo>
                              <a:pt x="0" y="1264"/>
                            </a:lnTo>
                            <a:lnTo>
                              <a:pt x="0" y="5"/>
                            </a:lnTo>
                            <a:close/>
                          </a:path>
                        </a:pathLst>
                      </a:custGeom>
                      <a:solidFill>
                        <a:srgbClr val="C0C0C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571" name="Freeform 87"/>
                      <p:cNvSpPr/>
                      <p:nvPr/>
                    </p:nvSpPr>
                    <p:spPr bwMode="auto">
                      <a:xfrm>
                        <a:off x="3222" y="2444"/>
                        <a:ext cx="11" cy="299"/>
                      </a:xfrm>
                      <a:custGeom>
                        <a:avLst/>
                        <a:gdLst>
                          <a:gd name="T0" fmla="*/ 0 w 58"/>
                          <a:gd name="T1" fmla="*/ 1195 h 1195"/>
                          <a:gd name="T2" fmla="*/ 0 w 58"/>
                          <a:gd name="T3" fmla="*/ 58 h 1195"/>
                          <a:gd name="T4" fmla="*/ 58 w 58"/>
                          <a:gd name="T5" fmla="*/ 0 h 1195"/>
                          <a:gd name="T6" fmla="*/ 58 w 58"/>
                          <a:gd name="T7" fmla="*/ 1195 h 1195"/>
                          <a:gd name="T8" fmla="*/ 0 w 58"/>
                          <a:gd name="T9" fmla="*/ 1195 h 1195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58" h="1195">
                            <a:moveTo>
                              <a:pt x="0" y="1195"/>
                            </a:moveTo>
                            <a:lnTo>
                              <a:pt x="0" y="58"/>
                            </a:lnTo>
                            <a:lnTo>
                              <a:pt x="58" y="0"/>
                            </a:lnTo>
                            <a:lnTo>
                              <a:pt x="58" y="1195"/>
                            </a:lnTo>
                            <a:lnTo>
                              <a:pt x="0" y="1195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553" name="Group 88"/>
                    <p:cNvGrpSpPr/>
                    <p:nvPr/>
                  </p:nvGrpSpPr>
                  <p:grpSpPr bwMode="auto">
                    <a:xfrm>
                      <a:off x="3380" y="2348"/>
                      <a:ext cx="92" cy="403"/>
                      <a:chOff x="3380" y="2348"/>
                      <a:chExt cx="92" cy="403"/>
                    </a:xfrm>
                  </p:grpSpPr>
                  <p:sp>
                    <p:nvSpPr>
                      <p:cNvPr id="564" name="Freeform 89"/>
                      <p:cNvSpPr/>
                      <p:nvPr/>
                    </p:nvSpPr>
                    <p:spPr bwMode="auto">
                      <a:xfrm>
                        <a:off x="3387" y="2348"/>
                        <a:ext cx="85" cy="403"/>
                      </a:xfrm>
                      <a:custGeom>
                        <a:avLst/>
                        <a:gdLst>
                          <a:gd name="T0" fmla="*/ 425 w 425"/>
                          <a:gd name="T1" fmla="*/ 137 h 1613"/>
                          <a:gd name="T2" fmla="*/ 196 w 425"/>
                          <a:gd name="T3" fmla="*/ 0 h 1613"/>
                          <a:gd name="T4" fmla="*/ 168 w 425"/>
                          <a:gd name="T5" fmla="*/ 0 h 1613"/>
                          <a:gd name="T6" fmla="*/ 122 w 425"/>
                          <a:gd name="T7" fmla="*/ 6 h 1613"/>
                          <a:gd name="T8" fmla="*/ 42 w 425"/>
                          <a:gd name="T9" fmla="*/ 86 h 1613"/>
                          <a:gd name="T10" fmla="*/ 0 w 425"/>
                          <a:gd name="T11" fmla="*/ 61 h 1613"/>
                          <a:gd name="T12" fmla="*/ 0 w 425"/>
                          <a:gd name="T13" fmla="*/ 1607 h 1613"/>
                          <a:gd name="T14" fmla="*/ 64 w 425"/>
                          <a:gd name="T15" fmla="*/ 1544 h 1613"/>
                          <a:gd name="T16" fmla="*/ 117 w 425"/>
                          <a:gd name="T17" fmla="*/ 1544 h 1613"/>
                          <a:gd name="T18" fmla="*/ 117 w 425"/>
                          <a:gd name="T19" fmla="*/ 1613 h 1613"/>
                          <a:gd name="T20" fmla="*/ 170 w 425"/>
                          <a:gd name="T21" fmla="*/ 1613 h 1613"/>
                          <a:gd name="T22" fmla="*/ 207 w 425"/>
                          <a:gd name="T23" fmla="*/ 1576 h 1613"/>
                          <a:gd name="T24" fmla="*/ 207 w 425"/>
                          <a:gd name="T25" fmla="*/ 211 h 1613"/>
                          <a:gd name="T26" fmla="*/ 425 w 425"/>
                          <a:gd name="T27" fmla="*/ 137 h 161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</a:cxnLst>
                        <a:rect l="0" t="0" r="r" b="b"/>
                        <a:pathLst>
                          <a:path w="425" h="1613">
                            <a:moveTo>
                              <a:pt x="425" y="137"/>
                            </a:moveTo>
                            <a:lnTo>
                              <a:pt x="196" y="0"/>
                            </a:lnTo>
                            <a:lnTo>
                              <a:pt x="168" y="0"/>
                            </a:lnTo>
                            <a:lnTo>
                              <a:pt x="122" y="6"/>
                            </a:lnTo>
                            <a:lnTo>
                              <a:pt x="42" y="86"/>
                            </a:lnTo>
                            <a:lnTo>
                              <a:pt x="0" y="61"/>
                            </a:lnTo>
                            <a:lnTo>
                              <a:pt x="0" y="1607"/>
                            </a:lnTo>
                            <a:lnTo>
                              <a:pt x="64" y="1544"/>
                            </a:lnTo>
                            <a:lnTo>
                              <a:pt x="117" y="1544"/>
                            </a:lnTo>
                            <a:lnTo>
                              <a:pt x="117" y="1613"/>
                            </a:lnTo>
                            <a:lnTo>
                              <a:pt x="170" y="1613"/>
                            </a:lnTo>
                            <a:lnTo>
                              <a:pt x="207" y="1576"/>
                            </a:lnTo>
                            <a:lnTo>
                              <a:pt x="207" y="211"/>
                            </a:lnTo>
                            <a:lnTo>
                              <a:pt x="425" y="137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565" name="Freeform 90"/>
                      <p:cNvSpPr/>
                      <p:nvPr/>
                    </p:nvSpPr>
                    <p:spPr bwMode="auto">
                      <a:xfrm>
                        <a:off x="3380" y="2363"/>
                        <a:ext cx="7" cy="387"/>
                      </a:xfrm>
                      <a:custGeom>
                        <a:avLst/>
                        <a:gdLst>
                          <a:gd name="T0" fmla="*/ 35 w 35"/>
                          <a:gd name="T1" fmla="*/ 0 h 1548"/>
                          <a:gd name="T2" fmla="*/ 35 w 35"/>
                          <a:gd name="T3" fmla="*/ 1548 h 1548"/>
                          <a:gd name="T4" fmla="*/ 0 w 35"/>
                          <a:gd name="T5" fmla="*/ 1548 h 1548"/>
                          <a:gd name="T6" fmla="*/ 0 w 35"/>
                          <a:gd name="T7" fmla="*/ 11 h 1548"/>
                          <a:gd name="T8" fmla="*/ 35 w 35"/>
                          <a:gd name="T9" fmla="*/ 0 h 1548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35" h="1548">
                            <a:moveTo>
                              <a:pt x="35" y="0"/>
                            </a:moveTo>
                            <a:lnTo>
                              <a:pt x="35" y="1548"/>
                            </a:lnTo>
                            <a:lnTo>
                              <a:pt x="0" y="1548"/>
                            </a:lnTo>
                            <a:lnTo>
                              <a:pt x="0" y="11"/>
                            </a:lnTo>
                            <a:lnTo>
                              <a:pt x="35" y="0"/>
                            </a:lnTo>
                            <a:close/>
                          </a:path>
                        </a:pathLst>
                      </a:custGeom>
                      <a:solidFill>
                        <a:srgbClr val="C0C0C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566" name="Freeform 91"/>
                      <p:cNvSpPr/>
                      <p:nvPr/>
                    </p:nvSpPr>
                    <p:spPr bwMode="auto">
                      <a:xfrm>
                        <a:off x="3410" y="2348"/>
                        <a:ext cx="10" cy="403"/>
                      </a:xfrm>
                      <a:custGeom>
                        <a:avLst/>
                        <a:gdLst>
                          <a:gd name="T0" fmla="*/ 0 w 51"/>
                          <a:gd name="T1" fmla="*/ 6 h 1613"/>
                          <a:gd name="T2" fmla="*/ 51 w 51"/>
                          <a:gd name="T3" fmla="*/ 0 h 1613"/>
                          <a:gd name="T4" fmla="*/ 51 w 51"/>
                          <a:gd name="T5" fmla="*/ 1613 h 1613"/>
                          <a:gd name="T6" fmla="*/ 0 w 51"/>
                          <a:gd name="T7" fmla="*/ 1613 h 1613"/>
                          <a:gd name="T8" fmla="*/ 0 w 51"/>
                          <a:gd name="T9" fmla="*/ 6 h 161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51" h="1613">
                            <a:moveTo>
                              <a:pt x="0" y="6"/>
                            </a:moveTo>
                            <a:lnTo>
                              <a:pt x="51" y="0"/>
                            </a:lnTo>
                            <a:lnTo>
                              <a:pt x="51" y="1613"/>
                            </a:lnTo>
                            <a:lnTo>
                              <a:pt x="0" y="1613"/>
                            </a:lnTo>
                            <a:lnTo>
                              <a:pt x="0" y="6"/>
                            </a:lnTo>
                            <a:close/>
                          </a:path>
                        </a:pathLst>
                      </a:custGeom>
                      <a:solidFill>
                        <a:srgbClr val="C0C0C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567" name="Freeform 92"/>
                      <p:cNvSpPr/>
                      <p:nvPr/>
                    </p:nvSpPr>
                    <p:spPr bwMode="auto">
                      <a:xfrm>
                        <a:off x="3395" y="2358"/>
                        <a:ext cx="15" cy="381"/>
                      </a:xfrm>
                      <a:custGeom>
                        <a:avLst/>
                        <a:gdLst>
                          <a:gd name="T0" fmla="*/ 0 w 75"/>
                          <a:gd name="T1" fmla="*/ 1525 h 1525"/>
                          <a:gd name="T2" fmla="*/ 0 w 75"/>
                          <a:gd name="T3" fmla="*/ 75 h 1525"/>
                          <a:gd name="T4" fmla="*/ 75 w 75"/>
                          <a:gd name="T5" fmla="*/ 0 h 1525"/>
                          <a:gd name="T6" fmla="*/ 75 w 75"/>
                          <a:gd name="T7" fmla="*/ 1525 h 1525"/>
                          <a:gd name="T8" fmla="*/ 0 w 75"/>
                          <a:gd name="T9" fmla="*/ 1525 h 1525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75" h="1525">
                            <a:moveTo>
                              <a:pt x="0" y="1525"/>
                            </a:moveTo>
                            <a:lnTo>
                              <a:pt x="0" y="75"/>
                            </a:lnTo>
                            <a:lnTo>
                              <a:pt x="75" y="0"/>
                            </a:lnTo>
                            <a:lnTo>
                              <a:pt x="75" y="1525"/>
                            </a:lnTo>
                            <a:lnTo>
                              <a:pt x="0" y="1525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554" name="Group 93"/>
                    <p:cNvGrpSpPr/>
                    <p:nvPr/>
                  </p:nvGrpSpPr>
                  <p:grpSpPr bwMode="auto">
                    <a:xfrm>
                      <a:off x="3105" y="2493"/>
                      <a:ext cx="57" cy="254"/>
                      <a:chOff x="3105" y="2493"/>
                      <a:chExt cx="57" cy="254"/>
                    </a:xfrm>
                  </p:grpSpPr>
                  <p:sp>
                    <p:nvSpPr>
                      <p:cNvPr id="560" name="Freeform 94"/>
                      <p:cNvSpPr/>
                      <p:nvPr/>
                    </p:nvSpPr>
                    <p:spPr bwMode="auto">
                      <a:xfrm>
                        <a:off x="3109" y="2493"/>
                        <a:ext cx="53" cy="254"/>
                      </a:xfrm>
                      <a:custGeom>
                        <a:avLst/>
                        <a:gdLst>
                          <a:gd name="T0" fmla="*/ 265 w 265"/>
                          <a:gd name="T1" fmla="*/ 88 h 1016"/>
                          <a:gd name="T2" fmla="*/ 122 w 265"/>
                          <a:gd name="T3" fmla="*/ 0 h 1016"/>
                          <a:gd name="T4" fmla="*/ 105 w 265"/>
                          <a:gd name="T5" fmla="*/ 0 h 1016"/>
                          <a:gd name="T6" fmla="*/ 77 w 265"/>
                          <a:gd name="T7" fmla="*/ 4 h 1016"/>
                          <a:gd name="T8" fmla="*/ 27 w 265"/>
                          <a:gd name="T9" fmla="*/ 55 h 1016"/>
                          <a:gd name="T10" fmla="*/ 0 w 265"/>
                          <a:gd name="T11" fmla="*/ 39 h 1016"/>
                          <a:gd name="T12" fmla="*/ 0 w 265"/>
                          <a:gd name="T13" fmla="*/ 1012 h 1016"/>
                          <a:gd name="T14" fmla="*/ 40 w 265"/>
                          <a:gd name="T15" fmla="*/ 971 h 1016"/>
                          <a:gd name="T16" fmla="*/ 72 w 265"/>
                          <a:gd name="T17" fmla="*/ 971 h 1016"/>
                          <a:gd name="T18" fmla="*/ 72 w 265"/>
                          <a:gd name="T19" fmla="*/ 1016 h 1016"/>
                          <a:gd name="T20" fmla="*/ 106 w 265"/>
                          <a:gd name="T21" fmla="*/ 1016 h 1016"/>
                          <a:gd name="T22" fmla="*/ 130 w 265"/>
                          <a:gd name="T23" fmla="*/ 992 h 1016"/>
                          <a:gd name="T24" fmla="*/ 130 w 265"/>
                          <a:gd name="T25" fmla="*/ 134 h 1016"/>
                          <a:gd name="T26" fmla="*/ 265 w 265"/>
                          <a:gd name="T27" fmla="*/ 88 h 1016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</a:cxnLst>
                        <a:rect l="0" t="0" r="r" b="b"/>
                        <a:pathLst>
                          <a:path w="265" h="1016">
                            <a:moveTo>
                              <a:pt x="265" y="88"/>
                            </a:moveTo>
                            <a:lnTo>
                              <a:pt x="122" y="0"/>
                            </a:lnTo>
                            <a:lnTo>
                              <a:pt x="105" y="0"/>
                            </a:lnTo>
                            <a:lnTo>
                              <a:pt x="77" y="4"/>
                            </a:lnTo>
                            <a:lnTo>
                              <a:pt x="27" y="55"/>
                            </a:lnTo>
                            <a:lnTo>
                              <a:pt x="0" y="39"/>
                            </a:lnTo>
                            <a:lnTo>
                              <a:pt x="0" y="1012"/>
                            </a:lnTo>
                            <a:lnTo>
                              <a:pt x="40" y="971"/>
                            </a:lnTo>
                            <a:lnTo>
                              <a:pt x="72" y="971"/>
                            </a:lnTo>
                            <a:lnTo>
                              <a:pt x="72" y="1016"/>
                            </a:lnTo>
                            <a:lnTo>
                              <a:pt x="106" y="1016"/>
                            </a:lnTo>
                            <a:lnTo>
                              <a:pt x="130" y="992"/>
                            </a:lnTo>
                            <a:lnTo>
                              <a:pt x="130" y="134"/>
                            </a:lnTo>
                            <a:lnTo>
                              <a:pt x="265" y="8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561" name="Freeform 95"/>
                      <p:cNvSpPr/>
                      <p:nvPr/>
                    </p:nvSpPr>
                    <p:spPr bwMode="auto">
                      <a:xfrm>
                        <a:off x="3105" y="2502"/>
                        <a:ext cx="4" cy="244"/>
                      </a:xfrm>
                      <a:custGeom>
                        <a:avLst/>
                        <a:gdLst>
                          <a:gd name="T0" fmla="*/ 22 w 22"/>
                          <a:gd name="T1" fmla="*/ 0 h 974"/>
                          <a:gd name="T2" fmla="*/ 22 w 22"/>
                          <a:gd name="T3" fmla="*/ 974 h 974"/>
                          <a:gd name="T4" fmla="*/ 0 w 22"/>
                          <a:gd name="T5" fmla="*/ 974 h 974"/>
                          <a:gd name="T6" fmla="*/ 0 w 22"/>
                          <a:gd name="T7" fmla="*/ 7 h 974"/>
                          <a:gd name="T8" fmla="*/ 22 w 22"/>
                          <a:gd name="T9" fmla="*/ 0 h 97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22" h="974">
                            <a:moveTo>
                              <a:pt x="22" y="0"/>
                            </a:moveTo>
                            <a:lnTo>
                              <a:pt x="22" y="974"/>
                            </a:lnTo>
                            <a:lnTo>
                              <a:pt x="0" y="974"/>
                            </a:lnTo>
                            <a:lnTo>
                              <a:pt x="0" y="7"/>
                            </a:lnTo>
                            <a:lnTo>
                              <a:pt x="22" y="0"/>
                            </a:lnTo>
                            <a:close/>
                          </a:path>
                        </a:pathLst>
                      </a:custGeom>
                      <a:solidFill>
                        <a:srgbClr val="C0C0C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562" name="Freeform 96"/>
                      <p:cNvSpPr/>
                      <p:nvPr/>
                    </p:nvSpPr>
                    <p:spPr bwMode="auto">
                      <a:xfrm>
                        <a:off x="3123" y="2493"/>
                        <a:ext cx="7" cy="253"/>
                      </a:xfrm>
                      <a:custGeom>
                        <a:avLst/>
                        <a:gdLst>
                          <a:gd name="T0" fmla="*/ 0 w 34"/>
                          <a:gd name="T1" fmla="*/ 8 h 1013"/>
                          <a:gd name="T2" fmla="*/ 34 w 34"/>
                          <a:gd name="T3" fmla="*/ 0 h 1013"/>
                          <a:gd name="T4" fmla="*/ 34 w 34"/>
                          <a:gd name="T5" fmla="*/ 1013 h 1013"/>
                          <a:gd name="T6" fmla="*/ 0 w 34"/>
                          <a:gd name="T7" fmla="*/ 1013 h 1013"/>
                          <a:gd name="T8" fmla="*/ 0 w 34"/>
                          <a:gd name="T9" fmla="*/ 8 h 101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34" h="1013">
                            <a:moveTo>
                              <a:pt x="0" y="8"/>
                            </a:moveTo>
                            <a:lnTo>
                              <a:pt x="34" y="0"/>
                            </a:lnTo>
                            <a:lnTo>
                              <a:pt x="34" y="1013"/>
                            </a:lnTo>
                            <a:lnTo>
                              <a:pt x="0" y="1013"/>
                            </a:lnTo>
                            <a:lnTo>
                              <a:pt x="0" y="8"/>
                            </a:lnTo>
                            <a:close/>
                          </a:path>
                        </a:pathLst>
                      </a:custGeom>
                      <a:solidFill>
                        <a:srgbClr val="C0C0C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563" name="Freeform 97"/>
                      <p:cNvSpPr/>
                      <p:nvPr/>
                    </p:nvSpPr>
                    <p:spPr bwMode="auto">
                      <a:xfrm>
                        <a:off x="3114" y="2499"/>
                        <a:ext cx="9" cy="240"/>
                      </a:xfrm>
                      <a:custGeom>
                        <a:avLst/>
                        <a:gdLst>
                          <a:gd name="T0" fmla="*/ 0 w 45"/>
                          <a:gd name="T1" fmla="*/ 960 h 960"/>
                          <a:gd name="T2" fmla="*/ 0 w 45"/>
                          <a:gd name="T3" fmla="*/ 44 h 960"/>
                          <a:gd name="T4" fmla="*/ 45 w 45"/>
                          <a:gd name="T5" fmla="*/ 0 h 960"/>
                          <a:gd name="T6" fmla="*/ 45 w 45"/>
                          <a:gd name="T7" fmla="*/ 960 h 960"/>
                          <a:gd name="T8" fmla="*/ 0 w 45"/>
                          <a:gd name="T9" fmla="*/ 960 h 96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45" h="960">
                            <a:moveTo>
                              <a:pt x="0" y="960"/>
                            </a:moveTo>
                            <a:lnTo>
                              <a:pt x="0" y="44"/>
                            </a:lnTo>
                            <a:lnTo>
                              <a:pt x="45" y="0"/>
                            </a:lnTo>
                            <a:lnTo>
                              <a:pt x="45" y="960"/>
                            </a:lnTo>
                            <a:lnTo>
                              <a:pt x="0" y="960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555" name="Group 98"/>
                    <p:cNvGrpSpPr/>
                    <p:nvPr/>
                  </p:nvGrpSpPr>
                  <p:grpSpPr bwMode="auto">
                    <a:xfrm>
                      <a:off x="3033" y="2532"/>
                      <a:ext cx="50" cy="208"/>
                      <a:chOff x="3033" y="2532"/>
                      <a:chExt cx="50" cy="208"/>
                    </a:xfrm>
                  </p:grpSpPr>
                  <p:sp>
                    <p:nvSpPr>
                      <p:cNvPr id="556" name="Freeform 99"/>
                      <p:cNvSpPr/>
                      <p:nvPr/>
                    </p:nvSpPr>
                    <p:spPr bwMode="auto">
                      <a:xfrm>
                        <a:off x="3037" y="2532"/>
                        <a:ext cx="46" cy="207"/>
                      </a:xfrm>
                      <a:custGeom>
                        <a:avLst/>
                        <a:gdLst>
                          <a:gd name="T0" fmla="*/ 232 w 232"/>
                          <a:gd name="T1" fmla="*/ 66 h 830"/>
                          <a:gd name="T2" fmla="*/ 106 w 232"/>
                          <a:gd name="T3" fmla="*/ 0 h 830"/>
                          <a:gd name="T4" fmla="*/ 91 w 232"/>
                          <a:gd name="T5" fmla="*/ 0 h 830"/>
                          <a:gd name="T6" fmla="*/ 66 w 232"/>
                          <a:gd name="T7" fmla="*/ 3 h 830"/>
                          <a:gd name="T8" fmla="*/ 24 w 232"/>
                          <a:gd name="T9" fmla="*/ 45 h 830"/>
                          <a:gd name="T10" fmla="*/ 0 w 232"/>
                          <a:gd name="T11" fmla="*/ 32 h 830"/>
                          <a:gd name="T12" fmla="*/ 0 w 232"/>
                          <a:gd name="T13" fmla="*/ 829 h 830"/>
                          <a:gd name="T14" fmla="*/ 35 w 232"/>
                          <a:gd name="T15" fmla="*/ 796 h 830"/>
                          <a:gd name="T16" fmla="*/ 64 w 232"/>
                          <a:gd name="T17" fmla="*/ 796 h 830"/>
                          <a:gd name="T18" fmla="*/ 64 w 232"/>
                          <a:gd name="T19" fmla="*/ 830 h 830"/>
                          <a:gd name="T20" fmla="*/ 93 w 232"/>
                          <a:gd name="T21" fmla="*/ 830 h 830"/>
                          <a:gd name="T22" fmla="*/ 114 w 232"/>
                          <a:gd name="T23" fmla="*/ 813 h 830"/>
                          <a:gd name="T24" fmla="*/ 114 w 232"/>
                          <a:gd name="T25" fmla="*/ 108 h 830"/>
                          <a:gd name="T26" fmla="*/ 232 w 232"/>
                          <a:gd name="T27" fmla="*/ 66 h 83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</a:cxnLst>
                        <a:rect l="0" t="0" r="r" b="b"/>
                        <a:pathLst>
                          <a:path w="232" h="830">
                            <a:moveTo>
                              <a:pt x="232" y="66"/>
                            </a:moveTo>
                            <a:lnTo>
                              <a:pt x="106" y="0"/>
                            </a:lnTo>
                            <a:lnTo>
                              <a:pt x="91" y="0"/>
                            </a:lnTo>
                            <a:lnTo>
                              <a:pt x="66" y="3"/>
                            </a:lnTo>
                            <a:lnTo>
                              <a:pt x="24" y="45"/>
                            </a:lnTo>
                            <a:lnTo>
                              <a:pt x="0" y="32"/>
                            </a:lnTo>
                            <a:lnTo>
                              <a:pt x="0" y="829"/>
                            </a:lnTo>
                            <a:lnTo>
                              <a:pt x="35" y="796"/>
                            </a:lnTo>
                            <a:lnTo>
                              <a:pt x="64" y="796"/>
                            </a:lnTo>
                            <a:lnTo>
                              <a:pt x="64" y="830"/>
                            </a:lnTo>
                            <a:lnTo>
                              <a:pt x="93" y="830"/>
                            </a:lnTo>
                            <a:lnTo>
                              <a:pt x="114" y="813"/>
                            </a:lnTo>
                            <a:lnTo>
                              <a:pt x="114" y="108"/>
                            </a:lnTo>
                            <a:lnTo>
                              <a:pt x="232" y="66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557" name="Freeform 100"/>
                      <p:cNvSpPr/>
                      <p:nvPr/>
                    </p:nvSpPr>
                    <p:spPr bwMode="auto">
                      <a:xfrm>
                        <a:off x="3033" y="2539"/>
                        <a:ext cx="4" cy="200"/>
                      </a:xfrm>
                      <a:custGeom>
                        <a:avLst/>
                        <a:gdLst>
                          <a:gd name="T0" fmla="*/ 19 w 19"/>
                          <a:gd name="T1" fmla="*/ 0 h 797"/>
                          <a:gd name="T2" fmla="*/ 19 w 19"/>
                          <a:gd name="T3" fmla="*/ 797 h 797"/>
                          <a:gd name="T4" fmla="*/ 0 w 19"/>
                          <a:gd name="T5" fmla="*/ 797 h 797"/>
                          <a:gd name="T6" fmla="*/ 0 w 19"/>
                          <a:gd name="T7" fmla="*/ 5 h 797"/>
                          <a:gd name="T8" fmla="*/ 19 w 19"/>
                          <a:gd name="T9" fmla="*/ 0 h 797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19" h="797">
                            <a:moveTo>
                              <a:pt x="19" y="0"/>
                            </a:moveTo>
                            <a:lnTo>
                              <a:pt x="19" y="797"/>
                            </a:lnTo>
                            <a:lnTo>
                              <a:pt x="0" y="797"/>
                            </a:lnTo>
                            <a:lnTo>
                              <a:pt x="0" y="5"/>
                            </a:lnTo>
                            <a:lnTo>
                              <a:pt x="19" y="0"/>
                            </a:lnTo>
                            <a:close/>
                          </a:path>
                        </a:pathLst>
                      </a:custGeom>
                      <a:solidFill>
                        <a:srgbClr val="C0C0C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558" name="Freeform 101"/>
                      <p:cNvSpPr/>
                      <p:nvPr/>
                    </p:nvSpPr>
                    <p:spPr bwMode="auto">
                      <a:xfrm>
                        <a:off x="3050" y="2532"/>
                        <a:ext cx="5" cy="208"/>
                      </a:xfrm>
                      <a:custGeom>
                        <a:avLst/>
                        <a:gdLst>
                          <a:gd name="T0" fmla="*/ 0 w 28"/>
                          <a:gd name="T1" fmla="*/ 4 h 832"/>
                          <a:gd name="T2" fmla="*/ 28 w 28"/>
                          <a:gd name="T3" fmla="*/ 0 h 832"/>
                          <a:gd name="T4" fmla="*/ 28 w 28"/>
                          <a:gd name="T5" fmla="*/ 832 h 832"/>
                          <a:gd name="T6" fmla="*/ 0 w 28"/>
                          <a:gd name="T7" fmla="*/ 832 h 832"/>
                          <a:gd name="T8" fmla="*/ 0 w 28"/>
                          <a:gd name="T9" fmla="*/ 4 h 832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28" h="832">
                            <a:moveTo>
                              <a:pt x="0" y="4"/>
                            </a:moveTo>
                            <a:lnTo>
                              <a:pt x="28" y="0"/>
                            </a:lnTo>
                            <a:lnTo>
                              <a:pt x="28" y="832"/>
                            </a:lnTo>
                            <a:lnTo>
                              <a:pt x="0" y="832"/>
                            </a:lnTo>
                            <a:lnTo>
                              <a:pt x="0" y="4"/>
                            </a:lnTo>
                            <a:close/>
                          </a:path>
                        </a:pathLst>
                      </a:custGeom>
                      <a:solidFill>
                        <a:srgbClr val="C0C0C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559" name="Freeform 102"/>
                      <p:cNvSpPr/>
                      <p:nvPr/>
                    </p:nvSpPr>
                    <p:spPr bwMode="auto">
                      <a:xfrm>
                        <a:off x="3042" y="2536"/>
                        <a:ext cx="8" cy="197"/>
                      </a:xfrm>
                      <a:custGeom>
                        <a:avLst/>
                        <a:gdLst>
                          <a:gd name="T0" fmla="*/ 0 w 40"/>
                          <a:gd name="T1" fmla="*/ 785 h 785"/>
                          <a:gd name="T2" fmla="*/ 0 w 40"/>
                          <a:gd name="T3" fmla="*/ 41 h 785"/>
                          <a:gd name="T4" fmla="*/ 40 w 40"/>
                          <a:gd name="T5" fmla="*/ 0 h 785"/>
                          <a:gd name="T6" fmla="*/ 40 w 40"/>
                          <a:gd name="T7" fmla="*/ 785 h 785"/>
                          <a:gd name="T8" fmla="*/ 0 w 40"/>
                          <a:gd name="T9" fmla="*/ 785 h 785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40" h="785">
                            <a:moveTo>
                              <a:pt x="0" y="785"/>
                            </a:moveTo>
                            <a:lnTo>
                              <a:pt x="0" y="41"/>
                            </a:lnTo>
                            <a:lnTo>
                              <a:pt x="40" y="0"/>
                            </a:lnTo>
                            <a:lnTo>
                              <a:pt x="40" y="785"/>
                            </a:lnTo>
                            <a:lnTo>
                              <a:pt x="0" y="785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</p:grpSp>
            </p:grpSp>
          </p:grpSp>
          <p:grpSp>
            <p:nvGrpSpPr>
              <p:cNvPr id="23" name="Group 103"/>
              <p:cNvGrpSpPr/>
              <p:nvPr/>
            </p:nvGrpSpPr>
            <p:grpSpPr bwMode="auto">
              <a:xfrm>
                <a:off x="480" y="2256"/>
                <a:ext cx="726" cy="389"/>
                <a:chOff x="546" y="2289"/>
                <a:chExt cx="708" cy="452"/>
              </a:xfrm>
            </p:grpSpPr>
            <p:grpSp>
              <p:nvGrpSpPr>
                <p:cNvPr id="445" name="Group 104"/>
                <p:cNvGrpSpPr/>
                <p:nvPr/>
              </p:nvGrpSpPr>
              <p:grpSpPr bwMode="auto">
                <a:xfrm>
                  <a:off x="1071" y="2289"/>
                  <a:ext cx="76" cy="358"/>
                  <a:chOff x="1071" y="2289"/>
                  <a:chExt cx="76" cy="358"/>
                </a:xfrm>
              </p:grpSpPr>
              <p:sp>
                <p:nvSpPr>
                  <p:cNvPr id="545" name="Freeform 105"/>
                  <p:cNvSpPr/>
                  <p:nvPr/>
                </p:nvSpPr>
                <p:spPr bwMode="auto">
                  <a:xfrm>
                    <a:off x="1071" y="2289"/>
                    <a:ext cx="27" cy="358"/>
                  </a:xfrm>
                  <a:custGeom>
                    <a:avLst/>
                    <a:gdLst>
                      <a:gd name="T0" fmla="*/ 42 w 161"/>
                      <a:gd name="T1" fmla="*/ 0 h 1791"/>
                      <a:gd name="T2" fmla="*/ 42 w 161"/>
                      <a:gd name="T3" fmla="*/ 284 h 1791"/>
                      <a:gd name="T4" fmla="*/ 29 w 161"/>
                      <a:gd name="T5" fmla="*/ 284 h 1791"/>
                      <a:gd name="T6" fmla="*/ 29 w 161"/>
                      <a:gd name="T7" fmla="*/ 569 h 1791"/>
                      <a:gd name="T8" fmla="*/ 17 w 161"/>
                      <a:gd name="T9" fmla="*/ 569 h 1791"/>
                      <a:gd name="T10" fmla="*/ 17 w 161"/>
                      <a:gd name="T11" fmla="*/ 836 h 1791"/>
                      <a:gd name="T12" fmla="*/ 8 w 161"/>
                      <a:gd name="T13" fmla="*/ 836 h 1791"/>
                      <a:gd name="T14" fmla="*/ 8 w 161"/>
                      <a:gd name="T15" fmla="*/ 1195 h 1791"/>
                      <a:gd name="T16" fmla="*/ 0 w 161"/>
                      <a:gd name="T17" fmla="*/ 1195 h 1791"/>
                      <a:gd name="T18" fmla="*/ 0 w 161"/>
                      <a:gd name="T19" fmla="*/ 1791 h 1791"/>
                      <a:gd name="T20" fmla="*/ 88 w 161"/>
                      <a:gd name="T21" fmla="*/ 1791 h 1791"/>
                      <a:gd name="T22" fmla="*/ 161 w 161"/>
                      <a:gd name="T23" fmla="*/ 1190 h 1791"/>
                      <a:gd name="T24" fmla="*/ 161 w 161"/>
                      <a:gd name="T25" fmla="*/ 835 h 1791"/>
                      <a:gd name="T26" fmla="*/ 153 w 161"/>
                      <a:gd name="T27" fmla="*/ 835 h 1791"/>
                      <a:gd name="T28" fmla="*/ 153 w 161"/>
                      <a:gd name="T29" fmla="*/ 569 h 1791"/>
                      <a:gd name="T30" fmla="*/ 143 w 161"/>
                      <a:gd name="T31" fmla="*/ 569 h 1791"/>
                      <a:gd name="T32" fmla="*/ 143 w 161"/>
                      <a:gd name="T33" fmla="*/ 284 h 1791"/>
                      <a:gd name="T34" fmla="*/ 130 w 161"/>
                      <a:gd name="T35" fmla="*/ 284 h 1791"/>
                      <a:gd name="T36" fmla="*/ 130 w 161"/>
                      <a:gd name="T37" fmla="*/ 0 h 1791"/>
                      <a:gd name="T38" fmla="*/ 42 w 161"/>
                      <a:gd name="T39" fmla="*/ 0 h 179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61" h="1791">
                        <a:moveTo>
                          <a:pt x="42" y="0"/>
                        </a:moveTo>
                        <a:lnTo>
                          <a:pt x="42" y="284"/>
                        </a:lnTo>
                        <a:lnTo>
                          <a:pt x="29" y="284"/>
                        </a:lnTo>
                        <a:lnTo>
                          <a:pt x="29" y="569"/>
                        </a:lnTo>
                        <a:lnTo>
                          <a:pt x="17" y="569"/>
                        </a:lnTo>
                        <a:lnTo>
                          <a:pt x="17" y="836"/>
                        </a:lnTo>
                        <a:lnTo>
                          <a:pt x="8" y="836"/>
                        </a:lnTo>
                        <a:lnTo>
                          <a:pt x="8" y="1195"/>
                        </a:lnTo>
                        <a:lnTo>
                          <a:pt x="0" y="1195"/>
                        </a:lnTo>
                        <a:lnTo>
                          <a:pt x="0" y="1791"/>
                        </a:lnTo>
                        <a:lnTo>
                          <a:pt x="88" y="1791"/>
                        </a:lnTo>
                        <a:lnTo>
                          <a:pt x="161" y="1190"/>
                        </a:lnTo>
                        <a:lnTo>
                          <a:pt x="161" y="835"/>
                        </a:lnTo>
                        <a:lnTo>
                          <a:pt x="153" y="835"/>
                        </a:lnTo>
                        <a:lnTo>
                          <a:pt x="153" y="569"/>
                        </a:lnTo>
                        <a:lnTo>
                          <a:pt x="143" y="569"/>
                        </a:lnTo>
                        <a:lnTo>
                          <a:pt x="143" y="284"/>
                        </a:lnTo>
                        <a:lnTo>
                          <a:pt x="130" y="284"/>
                        </a:lnTo>
                        <a:lnTo>
                          <a:pt x="130" y="0"/>
                        </a:lnTo>
                        <a:lnTo>
                          <a:pt x="42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546" name="Freeform 106"/>
                  <p:cNvSpPr/>
                  <p:nvPr/>
                </p:nvSpPr>
                <p:spPr bwMode="auto">
                  <a:xfrm>
                    <a:off x="1119" y="2289"/>
                    <a:ext cx="28" cy="358"/>
                  </a:xfrm>
                  <a:custGeom>
                    <a:avLst/>
                    <a:gdLst>
                      <a:gd name="T0" fmla="*/ 41 w 169"/>
                      <a:gd name="T1" fmla="*/ 0 h 1791"/>
                      <a:gd name="T2" fmla="*/ 41 w 169"/>
                      <a:gd name="T3" fmla="*/ 284 h 1791"/>
                      <a:gd name="T4" fmla="*/ 28 w 169"/>
                      <a:gd name="T5" fmla="*/ 284 h 1791"/>
                      <a:gd name="T6" fmla="*/ 28 w 169"/>
                      <a:gd name="T7" fmla="*/ 569 h 1791"/>
                      <a:gd name="T8" fmla="*/ 16 w 169"/>
                      <a:gd name="T9" fmla="*/ 569 h 1791"/>
                      <a:gd name="T10" fmla="*/ 16 w 169"/>
                      <a:gd name="T11" fmla="*/ 836 h 1791"/>
                      <a:gd name="T12" fmla="*/ 8 w 169"/>
                      <a:gd name="T13" fmla="*/ 836 h 1791"/>
                      <a:gd name="T14" fmla="*/ 8 w 169"/>
                      <a:gd name="T15" fmla="*/ 1195 h 1791"/>
                      <a:gd name="T16" fmla="*/ 0 w 169"/>
                      <a:gd name="T17" fmla="*/ 1195 h 1791"/>
                      <a:gd name="T18" fmla="*/ 0 w 169"/>
                      <a:gd name="T19" fmla="*/ 1791 h 1791"/>
                      <a:gd name="T20" fmla="*/ 169 w 169"/>
                      <a:gd name="T21" fmla="*/ 1791 h 1791"/>
                      <a:gd name="T22" fmla="*/ 169 w 169"/>
                      <a:gd name="T23" fmla="*/ 1193 h 1791"/>
                      <a:gd name="T24" fmla="*/ 161 w 169"/>
                      <a:gd name="T25" fmla="*/ 1193 h 1791"/>
                      <a:gd name="T26" fmla="*/ 160 w 169"/>
                      <a:gd name="T27" fmla="*/ 835 h 1791"/>
                      <a:gd name="T28" fmla="*/ 151 w 169"/>
                      <a:gd name="T29" fmla="*/ 835 h 1791"/>
                      <a:gd name="T30" fmla="*/ 151 w 169"/>
                      <a:gd name="T31" fmla="*/ 569 h 1791"/>
                      <a:gd name="T32" fmla="*/ 140 w 169"/>
                      <a:gd name="T33" fmla="*/ 569 h 1791"/>
                      <a:gd name="T34" fmla="*/ 140 w 169"/>
                      <a:gd name="T35" fmla="*/ 284 h 1791"/>
                      <a:gd name="T36" fmla="*/ 128 w 169"/>
                      <a:gd name="T37" fmla="*/ 284 h 1791"/>
                      <a:gd name="T38" fmla="*/ 128 w 169"/>
                      <a:gd name="T39" fmla="*/ 0 h 1791"/>
                      <a:gd name="T40" fmla="*/ 41 w 169"/>
                      <a:gd name="T41" fmla="*/ 0 h 179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</a:cxnLst>
                    <a:rect l="0" t="0" r="r" b="b"/>
                    <a:pathLst>
                      <a:path w="169" h="1791">
                        <a:moveTo>
                          <a:pt x="41" y="0"/>
                        </a:moveTo>
                        <a:lnTo>
                          <a:pt x="41" y="284"/>
                        </a:lnTo>
                        <a:lnTo>
                          <a:pt x="28" y="284"/>
                        </a:lnTo>
                        <a:lnTo>
                          <a:pt x="28" y="569"/>
                        </a:lnTo>
                        <a:lnTo>
                          <a:pt x="16" y="569"/>
                        </a:lnTo>
                        <a:lnTo>
                          <a:pt x="16" y="836"/>
                        </a:lnTo>
                        <a:lnTo>
                          <a:pt x="8" y="836"/>
                        </a:lnTo>
                        <a:lnTo>
                          <a:pt x="8" y="1195"/>
                        </a:lnTo>
                        <a:lnTo>
                          <a:pt x="0" y="1195"/>
                        </a:lnTo>
                        <a:lnTo>
                          <a:pt x="0" y="1791"/>
                        </a:lnTo>
                        <a:lnTo>
                          <a:pt x="169" y="1791"/>
                        </a:lnTo>
                        <a:lnTo>
                          <a:pt x="169" y="1193"/>
                        </a:lnTo>
                        <a:lnTo>
                          <a:pt x="161" y="1193"/>
                        </a:lnTo>
                        <a:lnTo>
                          <a:pt x="160" y="835"/>
                        </a:lnTo>
                        <a:lnTo>
                          <a:pt x="151" y="835"/>
                        </a:lnTo>
                        <a:lnTo>
                          <a:pt x="151" y="569"/>
                        </a:lnTo>
                        <a:lnTo>
                          <a:pt x="140" y="569"/>
                        </a:lnTo>
                        <a:lnTo>
                          <a:pt x="140" y="284"/>
                        </a:lnTo>
                        <a:lnTo>
                          <a:pt x="128" y="284"/>
                        </a:lnTo>
                        <a:lnTo>
                          <a:pt x="128" y="0"/>
                        </a:lnTo>
                        <a:lnTo>
                          <a:pt x="41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  <p:grpSp>
              <p:nvGrpSpPr>
                <p:cNvPr id="446" name="Group 107"/>
                <p:cNvGrpSpPr/>
                <p:nvPr/>
              </p:nvGrpSpPr>
              <p:grpSpPr bwMode="auto">
                <a:xfrm>
                  <a:off x="1130" y="2574"/>
                  <a:ext cx="124" cy="153"/>
                  <a:chOff x="1130" y="2574"/>
                  <a:chExt cx="124" cy="153"/>
                </a:xfrm>
              </p:grpSpPr>
              <p:grpSp>
                <p:nvGrpSpPr>
                  <p:cNvPr id="534" name="Group 108"/>
                  <p:cNvGrpSpPr/>
                  <p:nvPr/>
                </p:nvGrpSpPr>
                <p:grpSpPr bwMode="auto">
                  <a:xfrm>
                    <a:off x="1130" y="2574"/>
                    <a:ext cx="124" cy="153"/>
                    <a:chOff x="1130" y="2574"/>
                    <a:chExt cx="124" cy="153"/>
                  </a:xfrm>
                </p:grpSpPr>
                <p:grpSp>
                  <p:nvGrpSpPr>
                    <p:cNvPr id="539" name="Group 109"/>
                    <p:cNvGrpSpPr/>
                    <p:nvPr/>
                  </p:nvGrpSpPr>
                  <p:grpSpPr bwMode="auto">
                    <a:xfrm>
                      <a:off x="1161" y="2574"/>
                      <a:ext cx="35" cy="74"/>
                      <a:chOff x="1161" y="2574"/>
                      <a:chExt cx="35" cy="74"/>
                    </a:xfrm>
                  </p:grpSpPr>
                  <p:sp>
                    <p:nvSpPr>
                      <p:cNvPr id="543" name="Rectangle 11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68" y="2574"/>
                        <a:ext cx="21" cy="16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544" name="Rectangle 11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61" y="2586"/>
                        <a:ext cx="35" cy="62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540" name="Group 112"/>
                    <p:cNvGrpSpPr/>
                    <p:nvPr/>
                  </p:nvGrpSpPr>
                  <p:grpSpPr bwMode="auto">
                    <a:xfrm>
                      <a:off x="1130" y="2644"/>
                      <a:ext cx="124" cy="83"/>
                      <a:chOff x="1130" y="2644"/>
                      <a:chExt cx="124" cy="83"/>
                    </a:xfrm>
                  </p:grpSpPr>
                  <p:sp>
                    <p:nvSpPr>
                      <p:cNvPr id="541" name="Rectangle 11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34" y="2653"/>
                        <a:ext cx="116" cy="74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542" name="Rectangle 11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30" y="2644"/>
                        <a:ext cx="124" cy="12"/>
                      </a:xfrm>
                      <a:prstGeom prst="rect">
                        <a:avLst/>
                      </a:prstGeom>
                      <a:solidFill>
                        <a:srgbClr val="C0C0C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</p:grpSp>
              <p:grpSp>
                <p:nvGrpSpPr>
                  <p:cNvPr id="535" name="Group 115"/>
                  <p:cNvGrpSpPr/>
                  <p:nvPr/>
                </p:nvGrpSpPr>
                <p:grpSpPr bwMode="auto">
                  <a:xfrm>
                    <a:off x="1143" y="2664"/>
                    <a:ext cx="94" cy="50"/>
                    <a:chOff x="1143" y="2664"/>
                    <a:chExt cx="94" cy="50"/>
                  </a:xfrm>
                </p:grpSpPr>
                <p:sp>
                  <p:nvSpPr>
                    <p:cNvPr id="536" name="Rectangle 11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43" y="2664"/>
                      <a:ext cx="23" cy="50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37" name="Rectangle 11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214" y="2664"/>
                      <a:ext cx="23" cy="50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38" name="Rectangle 11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79" y="2664"/>
                      <a:ext cx="23" cy="50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  <p:grpSp>
              <p:nvGrpSpPr>
                <p:cNvPr id="447" name="Group 119"/>
                <p:cNvGrpSpPr/>
                <p:nvPr/>
              </p:nvGrpSpPr>
              <p:grpSpPr bwMode="auto">
                <a:xfrm>
                  <a:off x="546" y="2618"/>
                  <a:ext cx="124" cy="109"/>
                  <a:chOff x="546" y="2618"/>
                  <a:chExt cx="124" cy="109"/>
                </a:xfrm>
              </p:grpSpPr>
              <p:grpSp>
                <p:nvGrpSpPr>
                  <p:cNvPr id="525" name="Group 120"/>
                  <p:cNvGrpSpPr/>
                  <p:nvPr/>
                </p:nvGrpSpPr>
                <p:grpSpPr bwMode="auto">
                  <a:xfrm>
                    <a:off x="546" y="2618"/>
                    <a:ext cx="124" cy="109"/>
                    <a:chOff x="546" y="2618"/>
                    <a:chExt cx="124" cy="109"/>
                  </a:xfrm>
                </p:grpSpPr>
                <p:sp>
                  <p:nvSpPr>
                    <p:cNvPr id="530" name="Rectangle 12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618"/>
                      <a:ext cx="38" cy="30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grpSp>
                  <p:nvGrpSpPr>
                    <p:cNvPr id="531" name="Group 122"/>
                    <p:cNvGrpSpPr/>
                    <p:nvPr/>
                  </p:nvGrpSpPr>
                  <p:grpSpPr bwMode="auto">
                    <a:xfrm>
                      <a:off x="546" y="2644"/>
                      <a:ext cx="124" cy="83"/>
                      <a:chOff x="546" y="2644"/>
                      <a:chExt cx="124" cy="83"/>
                    </a:xfrm>
                  </p:grpSpPr>
                  <p:sp>
                    <p:nvSpPr>
                      <p:cNvPr id="532" name="Rectangle 12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50" y="2653"/>
                        <a:ext cx="116" cy="74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533" name="Rectangle 12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46" y="2644"/>
                        <a:ext cx="124" cy="12"/>
                      </a:xfrm>
                      <a:prstGeom prst="rect">
                        <a:avLst/>
                      </a:prstGeom>
                      <a:solidFill>
                        <a:srgbClr val="C0C0C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</p:grpSp>
              <p:grpSp>
                <p:nvGrpSpPr>
                  <p:cNvPr id="526" name="Group 125"/>
                  <p:cNvGrpSpPr/>
                  <p:nvPr/>
                </p:nvGrpSpPr>
                <p:grpSpPr bwMode="auto">
                  <a:xfrm>
                    <a:off x="558" y="2664"/>
                    <a:ext cx="98" cy="50"/>
                    <a:chOff x="558" y="2664"/>
                    <a:chExt cx="98" cy="50"/>
                  </a:xfrm>
                </p:grpSpPr>
                <p:sp>
                  <p:nvSpPr>
                    <p:cNvPr id="527" name="Rectangle 12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9" y="2664"/>
                      <a:ext cx="27" cy="50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28" name="Rectangle 12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58" y="2664"/>
                      <a:ext cx="27" cy="50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29" name="Rectangle 12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94" y="2664"/>
                      <a:ext cx="27" cy="50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  <p:grpSp>
              <p:nvGrpSpPr>
                <p:cNvPr id="448" name="Group 129"/>
                <p:cNvGrpSpPr/>
                <p:nvPr/>
              </p:nvGrpSpPr>
              <p:grpSpPr bwMode="auto">
                <a:xfrm>
                  <a:off x="654" y="2479"/>
                  <a:ext cx="488" cy="262"/>
                  <a:chOff x="654" y="2479"/>
                  <a:chExt cx="488" cy="262"/>
                </a:xfrm>
              </p:grpSpPr>
              <p:grpSp>
                <p:nvGrpSpPr>
                  <p:cNvPr id="449" name="Group 130"/>
                  <p:cNvGrpSpPr/>
                  <p:nvPr/>
                </p:nvGrpSpPr>
                <p:grpSpPr bwMode="auto">
                  <a:xfrm>
                    <a:off x="654" y="2479"/>
                    <a:ext cx="488" cy="262"/>
                    <a:chOff x="654" y="2479"/>
                    <a:chExt cx="488" cy="262"/>
                  </a:xfrm>
                </p:grpSpPr>
                <p:sp>
                  <p:nvSpPr>
                    <p:cNvPr id="520" name="Rectangle 13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62" y="2522"/>
                      <a:ext cx="471" cy="219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21" name="Rectangle 13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80" y="2486"/>
                      <a:ext cx="34" cy="26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22" name="Rectangle 13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66" y="2479"/>
                      <a:ext cx="46" cy="36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23" name="Rectangle 13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54" y="2510"/>
                      <a:ext cx="488" cy="17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24" name="Rectangle 13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62" y="2629"/>
                      <a:ext cx="471" cy="8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450" name="Group 136"/>
                  <p:cNvGrpSpPr/>
                  <p:nvPr/>
                </p:nvGrpSpPr>
                <p:grpSpPr bwMode="auto">
                  <a:xfrm>
                    <a:off x="670" y="2542"/>
                    <a:ext cx="449" cy="178"/>
                    <a:chOff x="670" y="2542"/>
                    <a:chExt cx="449" cy="178"/>
                  </a:xfrm>
                </p:grpSpPr>
                <p:grpSp>
                  <p:nvGrpSpPr>
                    <p:cNvPr id="455" name="Group 137"/>
                    <p:cNvGrpSpPr/>
                    <p:nvPr/>
                  </p:nvGrpSpPr>
                  <p:grpSpPr bwMode="auto">
                    <a:xfrm>
                      <a:off x="736" y="2649"/>
                      <a:ext cx="57" cy="71"/>
                      <a:chOff x="736" y="2649"/>
                      <a:chExt cx="57" cy="71"/>
                    </a:xfrm>
                  </p:grpSpPr>
                  <p:sp>
                    <p:nvSpPr>
                      <p:cNvPr id="516" name="Rectangle 13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739" y="2649"/>
                        <a:ext cx="51" cy="6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517" name="Rectangle 13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736" y="2715"/>
                        <a:ext cx="57" cy="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518" name="Line 14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764" y="2649"/>
                        <a:ext cx="1" cy="63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519" name="Line 14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738" y="2682"/>
                        <a:ext cx="52" cy="1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456" name="Group 142"/>
                    <p:cNvGrpSpPr/>
                    <p:nvPr/>
                  </p:nvGrpSpPr>
                  <p:grpSpPr bwMode="auto">
                    <a:xfrm>
                      <a:off x="801" y="2649"/>
                      <a:ext cx="57" cy="71"/>
                      <a:chOff x="801" y="2649"/>
                      <a:chExt cx="57" cy="71"/>
                    </a:xfrm>
                  </p:grpSpPr>
                  <p:sp>
                    <p:nvSpPr>
                      <p:cNvPr id="512" name="Rectangle 14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04" y="2649"/>
                        <a:ext cx="52" cy="6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513" name="Rectangle 14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01" y="2715"/>
                        <a:ext cx="57" cy="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514" name="Line 14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29" y="2649"/>
                        <a:ext cx="1" cy="63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515" name="Line 146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04" y="2682"/>
                        <a:ext cx="52" cy="1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457" name="Group 147"/>
                    <p:cNvGrpSpPr/>
                    <p:nvPr/>
                  </p:nvGrpSpPr>
                  <p:grpSpPr bwMode="auto">
                    <a:xfrm>
                      <a:off x="1061" y="2649"/>
                      <a:ext cx="57" cy="71"/>
                      <a:chOff x="1061" y="2649"/>
                      <a:chExt cx="57" cy="71"/>
                    </a:xfrm>
                  </p:grpSpPr>
                  <p:sp>
                    <p:nvSpPr>
                      <p:cNvPr id="508" name="Rectangle 14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063" y="2649"/>
                        <a:ext cx="52" cy="6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509" name="Rectangle 14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061" y="2715"/>
                        <a:ext cx="57" cy="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510" name="Line 15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089" y="2649"/>
                        <a:ext cx="1" cy="63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511" name="Line 15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063" y="2682"/>
                        <a:ext cx="52" cy="1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458" name="Group 152"/>
                    <p:cNvGrpSpPr/>
                    <p:nvPr/>
                  </p:nvGrpSpPr>
                  <p:grpSpPr bwMode="auto">
                    <a:xfrm>
                      <a:off x="670" y="2649"/>
                      <a:ext cx="58" cy="71"/>
                      <a:chOff x="670" y="2649"/>
                      <a:chExt cx="58" cy="71"/>
                    </a:xfrm>
                  </p:grpSpPr>
                  <p:sp>
                    <p:nvSpPr>
                      <p:cNvPr id="504" name="Rectangle 15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73" y="2649"/>
                        <a:ext cx="52" cy="6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505" name="Rectangle 15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70" y="2715"/>
                        <a:ext cx="58" cy="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506" name="Line 15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99" y="2649"/>
                        <a:ext cx="1" cy="63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507" name="Line 156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3" y="2682"/>
                        <a:ext cx="52" cy="1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459" name="Group 157"/>
                    <p:cNvGrpSpPr/>
                    <p:nvPr/>
                  </p:nvGrpSpPr>
                  <p:grpSpPr bwMode="auto">
                    <a:xfrm>
                      <a:off x="867" y="2542"/>
                      <a:ext cx="58" cy="71"/>
                      <a:chOff x="867" y="2542"/>
                      <a:chExt cx="58" cy="71"/>
                    </a:xfrm>
                  </p:grpSpPr>
                  <p:sp>
                    <p:nvSpPr>
                      <p:cNvPr id="500" name="Rectangle 15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70" y="2542"/>
                        <a:ext cx="52" cy="6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501" name="Rectangle 15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67" y="2608"/>
                        <a:ext cx="58" cy="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502" name="Line 16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96" y="2542"/>
                        <a:ext cx="1" cy="63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503" name="Line 16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70" y="2575"/>
                        <a:ext cx="52" cy="1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460" name="Group 162"/>
                    <p:cNvGrpSpPr/>
                    <p:nvPr/>
                  </p:nvGrpSpPr>
                  <p:grpSpPr bwMode="auto">
                    <a:xfrm>
                      <a:off x="931" y="2649"/>
                      <a:ext cx="57" cy="71"/>
                      <a:chOff x="931" y="2649"/>
                      <a:chExt cx="57" cy="71"/>
                    </a:xfrm>
                  </p:grpSpPr>
                  <p:sp>
                    <p:nvSpPr>
                      <p:cNvPr id="496" name="Rectangle 16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34" y="2649"/>
                        <a:ext cx="51" cy="6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497" name="Rectangle 16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31" y="2715"/>
                        <a:ext cx="57" cy="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498" name="Line 16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959" y="2649"/>
                        <a:ext cx="1" cy="63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499" name="Line 166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933" y="2682"/>
                        <a:ext cx="52" cy="1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461" name="Group 167"/>
                    <p:cNvGrpSpPr/>
                    <p:nvPr/>
                  </p:nvGrpSpPr>
                  <p:grpSpPr bwMode="auto">
                    <a:xfrm>
                      <a:off x="996" y="2649"/>
                      <a:ext cx="57" cy="71"/>
                      <a:chOff x="996" y="2649"/>
                      <a:chExt cx="57" cy="71"/>
                    </a:xfrm>
                  </p:grpSpPr>
                  <p:sp>
                    <p:nvSpPr>
                      <p:cNvPr id="492" name="Rectangle 16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98" y="2649"/>
                        <a:ext cx="52" cy="6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493" name="Rectangle 16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96" y="2715"/>
                        <a:ext cx="57" cy="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494" name="Line 17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024" y="2649"/>
                        <a:ext cx="1" cy="63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495" name="Line 17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998" y="2682"/>
                        <a:ext cx="52" cy="1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462" name="Group 172"/>
                    <p:cNvGrpSpPr/>
                    <p:nvPr/>
                  </p:nvGrpSpPr>
                  <p:grpSpPr bwMode="auto">
                    <a:xfrm>
                      <a:off x="736" y="2542"/>
                      <a:ext cx="58" cy="71"/>
                      <a:chOff x="736" y="2542"/>
                      <a:chExt cx="58" cy="71"/>
                    </a:xfrm>
                  </p:grpSpPr>
                  <p:sp>
                    <p:nvSpPr>
                      <p:cNvPr id="488" name="Rectangle 17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739" y="2542"/>
                        <a:ext cx="52" cy="6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489" name="Rectangle 17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736" y="2608"/>
                        <a:ext cx="58" cy="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490" name="Line 17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765" y="2542"/>
                        <a:ext cx="1" cy="63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491" name="Line 176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739" y="2575"/>
                        <a:ext cx="52" cy="1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463" name="Group 177"/>
                    <p:cNvGrpSpPr/>
                    <p:nvPr/>
                  </p:nvGrpSpPr>
                  <p:grpSpPr bwMode="auto">
                    <a:xfrm>
                      <a:off x="802" y="2542"/>
                      <a:ext cx="57" cy="71"/>
                      <a:chOff x="802" y="2542"/>
                      <a:chExt cx="57" cy="71"/>
                    </a:xfrm>
                  </p:grpSpPr>
                  <p:sp>
                    <p:nvSpPr>
                      <p:cNvPr id="484" name="Rectangle 17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05" y="2542"/>
                        <a:ext cx="52" cy="6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485" name="Rectangle 17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02" y="2608"/>
                        <a:ext cx="57" cy="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486" name="Line 18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30" y="2542"/>
                        <a:ext cx="1" cy="63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487" name="Line 18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04" y="2575"/>
                        <a:ext cx="52" cy="1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464" name="Group 182"/>
                    <p:cNvGrpSpPr/>
                    <p:nvPr/>
                  </p:nvGrpSpPr>
                  <p:grpSpPr bwMode="auto">
                    <a:xfrm>
                      <a:off x="1061" y="2542"/>
                      <a:ext cx="58" cy="71"/>
                      <a:chOff x="1061" y="2542"/>
                      <a:chExt cx="58" cy="71"/>
                    </a:xfrm>
                  </p:grpSpPr>
                  <p:sp>
                    <p:nvSpPr>
                      <p:cNvPr id="480" name="Rectangle 18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064" y="2542"/>
                        <a:ext cx="52" cy="6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481" name="Rectangle 18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061" y="2608"/>
                        <a:ext cx="58" cy="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482" name="Line 18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090" y="2542"/>
                        <a:ext cx="1" cy="63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483" name="Line 186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064" y="2575"/>
                        <a:ext cx="52" cy="1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465" name="Group 187"/>
                    <p:cNvGrpSpPr/>
                    <p:nvPr/>
                  </p:nvGrpSpPr>
                  <p:grpSpPr bwMode="auto">
                    <a:xfrm>
                      <a:off x="671" y="2542"/>
                      <a:ext cx="58" cy="71"/>
                      <a:chOff x="671" y="2542"/>
                      <a:chExt cx="58" cy="71"/>
                    </a:xfrm>
                  </p:grpSpPr>
                  <p:sp>
                    <p:nvSpPr>
                      <p:cNvPr id="476" name="Rectangle 18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74" y="2542"/>
                        <a:ext cx="52" cy="6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477" name="Rectangle 18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71" y="2608"/>
                        <a:ext cx="58" cy="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478" name="Line 19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99" y="2542"/>
                        <a:ext cx="1" cy="63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479" name="Line 19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4" y="2575"/>
                        <a:ext cx="52" cy="1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466" name="Group 192"/>
                    <p:cNvGrpSpPr/>
                    <p:nvPr/>
                  </p:nvGrpSpPr>
                  <p:grpSpPr bwMode="auto">
                    <a:xfrm>
                      <a:off x="931" y="2542"/>
                      <a:ext cx="58" cy="71"/>
                      <a:chOff x="931" y="2542"/>
                      <a:chExt cx="58" cy="71"/>
                    </a:xfrm>
                  </p:grpSpPr>
                  <p:sp>
                    <p:nvSpPr>
                      <p:cNvPr id="472" name="Rectangle 19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34" y="2542"/>
                        <a:ext cx="52" cy="6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473" name="Rectangle 19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31" y="2608"/>
                        <a:ext cx="58" cy="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474" name="Line 19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960" y="2542"/>
                        <a:ext cx="1" cy="63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475" name="Line 196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934" y="2575"/>
                        <a:ext cx="52" cy="1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467" name="Group 197"/>
                    <p:cNvGrpSpPr/>
                    <p:nvPr/>
                  </p:nvGrpSpPr>
                  <p:grpSpPr bwMode="auto">
                    <a:xfrm>
                      <a:off x="997" y="2542"/>
                      <a:ext cx="57" cy="71"/>
                      <a:chOff x="997" y="2542"/>
                      <a:chExt cx="57" cy="71"/>
                    </a:xfrm>
                  </p:grpSpPr>
                  <p:sp>
                    <p:nvSpPr>
                      <p:cNvPr id="468" name="Rectangle 19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99" y="2542"/>
                        <a:ext cx="52" cy="6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469" name="Rectangle 19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97" y="2608"/>
                        <a:ext cx="57" cy="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470" name="Line 20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025" y="2542"/>
                        <a:ext cx="1" cy="63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471" name="Line 20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999" y="2575"/>
                        <a:ext cx="52" cy="1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</p:grpSp>
              <p:grpSp>
                <p:nvGrpSpPr>
                  <p:cNvPr id="451" name="Group 202"/>
                  <p:cNvGrpSpPr/>
                  <p:nvPr/>
                </p:nvGrpSpPr>
                <p:grpSpPr bwMode="auto">
                  <a:xfrm>
                    <a:off x="868" y="2643"/>
                    <a:ext cx="54" cy="97"/>
                    <a:chOff x="868" y="2643"/>
                    <a:chExt cx="54" cy="97"/>
                  </a:xfrm>
                </p:grpSpPr>
                <p:sp>
                  <p:nvSpPr>
                    <p:cNvPr id="452" name="Rectangle 20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68" y="2643"/>
                      <a:ext cx="54" cy="97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53" name="Rectangle 20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74" y="2653"/>
                      <a:ext cx="41" cy="81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54" name="Oval 20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08" y="2693"/>
                      <a:ext cx="2" cy="3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</p:grpSp>
          <p:grpSp>
            <p:nvGrpSpPr>
              <p:cNvPr id="24" name="Group 206"/>
              <p:cNvGrpSpPr/>
              <p:nvPr/>
            </p:nvGrpSpPr>
            <p:grpSpPr bwMode="auto">
              <a:xfrm>
                <a:off x="4848" y="2160"/>
                <a:ext cx="450" cy="442"/>
                <a:chOff x="4779" y="2206"/>
                <a:chExt cx="567" cy="540"/>
              </a:xfrm>
            </p:grpSpPr>
            <p:grpSp>
              <p:nvGrpSpPr>
                <p:cNvPr id="247" name="Group 207"/>
                <p:cNvGrpSpPr/>
                <p:nvPr/>
              </p:nvGrpSpPr>
              <p:grpSpPr bwMode="auto">
                <a:xfrm>
                  <a:off x="4986" y="2206"/>
                  <a:ext cx="218" cy="537"/>
                  <a:chOff x="4986" y="2206"/>
                  <a:chExt cx="218" cy="537"/>
                </a:xfrm>
              </p:grpSpPr>
              <p:grpSp>
                <p:nvGrpSpPr>
                  <p:cNvPr id="387" name="Group 208"/>
                  <p:cNvGrpSpPr/>
                  <p:nvPr/>
                </p:nvGrpSpPr>
                <p:grpSpPr bwMode="auto">
                  <a:xfrm>
                    <a:off x="4986" y="2302"/>
                    <a:ext cx="218" cy="441"/>
                    <a:chOff x="4986" y="2302"/>
                    <a:chExt cx="218" cy="441"/>
                  </a:xfrm>
                </p:grpSpPr>
                <p:grpSp>
                  <p:nvGrpSpPr>
                    <p:cNvPr id="427" name="Group 209"/>
                    <p:cNvGrpSpPr/>
                    <p:nvPr/>
                  </p:nvGrpSpPr>
                  <p:grpSpPr bwMode="auto">
                    <a:xfrm>
                      <a:off x="5060" y="2303"/>
                      <a:ext cx="86" cy="275"/>
                      <a:chOff x="5060" y="2303"/>
                      <a:chExt cx="86" cy="275"/>
                    </a:xfrm>
                  </p:grpSpPr>
                  <p:sp>
                    <p:nvSpPr>
                      <p:cNvPr id="440" name="Freeform 210"/>
                      <p:cNvSpPr/>
                      <p:nvPr/>
                    </p:nvSpPr>
                    <p:spPr bwMode="auto">
                      <a:xfrm>
                        <a:off x="5060" y="2315"/>
                        <a:ext cx="86" cy="248"/>
                      </a:xfrm>
                      <a:custGeom>
                        <a:avLst/>
                        <a:gdLst>
                          <a:gd name="T0" fmla="*/ 0 w 514"/>
                          <a:gd name="T1" fmla="*/ 0 h 1240"/>
                          <a:gd name="T2" fmla="*/ 54 w 514"/>
                          <a:gd name="T3" fmla="*/ 580 h 1240"/>
                          <a:gd name="T4" fmla="*/ 90 w 514"/>
                          <a:gd name="T5" fmla="*/ 1240 h 1240"/>
                          <a:gd name="T6" fmla="*/ 514 w 514"/>
                          <a:gd name="T7" fmla="*/ 1240 h 1240"/>
                          <a:gd name="T8" fmla="*/ 456 w 514"/>
                          <a:gd name="T9" fmla="*/ 230 h 1240"/>
                          <a:gd name="T10" fmla="*/ 399 w 514"/>
                          <a:gd name="T11" fmla="*/ 0 h 1240"/>
                          <a:gd name="T12" fmla="*/ 0 w 514"/>
                          <a:gd name="T13" fmla="*/ 0 h 124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514" h="1240">
                            <a:moveTo>
                              <a:pt x="0" y="0"/>
                            </a:moveTo>
                            <a:lnTo>
                              <a:pt x="54" y="580"/>
                            </a:lnTo>
                            <a:lnTo>
                              <a:pt x="90" y="1240"/>
                            </a:lnTo>
                            <a:lnTo>
                              <a:pt x="514" y="1240"/>
                            </a:lnTo>
                            <a:lnTo>
                              <a:pt x="456" y="230"/>
                            </a:lnTo>
                            <a:lnTo>
                              <a:pt x="399" y="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BFD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441" name="Freeform 211"/>
                      <p:cNvSpPr/>
                      <p:nvPr/>
                    </p:nvSpPr>
                    <p:spPr bwMode="auto">
                      <a:xfrm>
                        <a:off x="5119" y="2316"/>
                        <a:ext cx="20" cy="217"/>
                      </a:xfrm>
                      <a:custGeom>
                        <a:avLst/>
                        <a:gdLst>
                          <a:gd name="T0" fmla="*/ 0 w 121"/>
                          <a:gd name="T1" fmla="*/ 200 h 1084"/>
                          <a:gd name="T2" fmla="*/ 41 w 121"/>
                          <a:gd name="T3" fmla="*/ 335 h 1084"/>
                          <a:gd name="T4" fmla="*/ 52 w 121"/>
                          <a:gd name="T5" fmla="*/ 390 h 1084"/>
                          <a:gd name="T6" fmla="*/ 55 w 121"/>
                          <a:gd name="T7" fmla="*/ 472 h 1084"/>
                          <a:gd name="T8" fmla="*/ 59 w 121"/>
                          <a:gd name="T9" fmla="*/ 575 h 1084"/>
                          <a:gd name="T10" fmla="*/ 66 w 121"/>
                          <a:gd name="T11" fmla="*/ 615 h 1084"/>
                          <a:gd name="T12" fmla="*/ 77 w 121"/>
                          <a:gd name="T13" fmla="*/ 652 h 1084"/>
                          <a:gd name="T14" fmla="*/ 80 w 121"/>
                          <a:gd name="T15" fmla="*/ 708 h 1084"/>
                          <a:gd name="T16" fmla="*/ 84 w 121"/>
                          <a:gd name="T17" fmla="*/ 833 h 1084"/>
                          <a:gd name="T18" fmla="*/ 87 w 121"/>
                          <a:gd name="T19" fmla="*/ 870 h 1084"/>
                          <a:gd name="T20" fmla="*/ 96 w 121"/>
                          <a:gd name="T21" fmla="*/ 922 h 1084"/>
                          <a:gd name="T22" fmla="*/ 106 w 121"/>
                          <a:gd name="T23" fmla="*/ 989 h 1084"/>
                          <a:gd name="T24" fmla="*/ 121 w 121"/>
                          <a:gd name="T25" fmla="*/ 1084 h 1084"/>
                          <a:gd name="T26" fmla="*/ 106 w 121"/>
                          <a:gd name="T27" fmla="*/ 502 h 1084"/>
                          <a:gd name="T28" fmla="*/ 80 w 121"/>
                          <a:gd name="T29" fmla="*/ 196 h 1084"/>
                          <a:gd name="T30" fmla="*/ 69 w 121"/>
                          <a:gd name="T31" fmla="*/ 74 h 1084"/>
                          <a:gd name="T32" fmla="*/ 44 w 121"/>
                          <a:gd name="T33" fmla="*/ 0 h 1084"/>
                          <a:gd name="T34" fmla="*/ 0 w 121"/>
                          <a:gd name="T35" fmla="*/ 200 h 108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</a:cxnLst>
                        <a:rect l="0" t="0" r="r" b="b"/>
                        <a:pathLst>
                          <a:path w="121" h="1084">
                            <a:moveTo>
                              <a:pt x="0" y="200"/>
                            </a:moveTo>
                            <a:lnTo>
                              <a:pt x="41" y="335"/>
                            </a:lnTo>
                            <a:lnTo>
                              <a:pt x="52" y="390"/>
                            </a:lnTo>
                            <a:lnTo>
                              <a:pt x="55" y="472"/>
                            </a:lnTo>
                            <a:lnTo>
                              <a:pt x="59" y="575"/>
                            </a:lnTo>
                            <a:lnTo>
                              <a:pt x="66" y="615"/>
                            </a:lnTo>
                            <a:lnTo>
                              <a:pt x="77" y="652"/>
                            </a:lnTo>
                            <a:lnTo>
                              <a:pt x="80" y="708"/>
                            </a:lnTo>
                            <a:lnTo>
                              <a:pt x="84" y="833"/>
                            </a:lnTo>
                            <a:lnTo>
                              <a:pt x="87" y="870"/>
                            </a:lnTo>
                            <a:lnTo>
                              <a:pt x="96" y="922"/>
                            </a:lnTo>
                            <a:lnTo>
                              <a:pt x="106" y="989"/>
                            </a:lnTo>
                            <a:lnTo>
                              <a:pt x="121" y="1084"/>
                            </a:lnTo>
                            <a:lnTo>
                              <a:pt x="106" y="502"/>
                            </a:lnTo>
                            <a:lnTo>
                              <a:pt x="80" y="196"/>
                            </a:lnTo>
                            <a:lnTo>
                              <a:pt x="69" y="74"/>
                            </a:lnTo>
                            <a:lnTo>
                              <a:pt x="44" y="0"/>
                            </a:lnTo>
                            <a:lnTo>
                              <a:pt x="0" y="200"/>
                            </a:lnTo>
                            <a:close/>
                          </a:path>
                        </a:pathLst>
                      </a:custGeom>
                      <a:solidFill>
                        <a:srgbClr val="BFBFB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442" name="Freeform 212"/>
                      <p:cNvSpPr/>
                      <p:nvPr/>
                    </p:nvSpPr>
                    <p:spPr bwMode="auto">
                      <a:xfrm>
                        <a:off x="5092" y="2344"/>
                        <a:ext cx="38" cy="234"/>
                      </a:xfrm>
                      <a:custGeom>
                        <a:avLst/>
                        <a:gdLst>
                          <a:gd name="T0" fmla="*/ 0 w 227"/>
                          <a:gd name="T1" fmla="*/ 52 h 1166"/>
                          <a:gd name="T2" fmla="*/ 50 w 227"/>
                          <a:gd name="T3" fmla="*/ 137 h 1166"/>
                          <a:gd name="T4" fmla="*/ 36 w 227"/>
                          <a:gd name="T5" fmla="*/ 717 h 1166"/>
                          <a:gd name="T6" fmla="*/ 32 w 227"/>
                          <a:gd name="T7" fmla="*/ 976 h 1166"/>
                          <a:gd name="T8" fmla="*/ 43 w 227"/>
                          <a:gd name="T9" fmla="*/ 1069 h 1166"/>
                          <a:gd name="T10" fmla="*/ 151 w 227"/>
                          <a:gd name="T11" fmla="*/ 1166 h 1166"/>
                          <a:gd name="T12" fmla="*/ 227 w 227"/>
                          <a:gd name="T13" fmla="*/ 1036 h 1166"/>
                          <a:gd name="T14" fmla="*/ 177 w 227"/>
                          <a:gd name="T15" fmla="*/ 661 h 1166"/>
                          <a:gd name="T16" fmla="*/ 147 w 227"/>
                          <a:gd name="T17" fmla="*/ 441 h 1166"/>
                          <a:gd name="T18" fmla="*/ 109 w 227"/>
                          <a:gd name="T19" fmla="*/ 185 h 1166"/>
                          <a:gd name="T20" fmla="*/ 98 w 227"/>
                          <a:gd name="T21" fmla="*/ 119 h 1166"/>
                          <a:gd name="T22" fmla="*/ 147 w 227"/>
                          <a:gd name="T23" fmla="*/ 41 h 1166"/>
                          <a:gd name="T24" fmla="*/ 129 w 227"/>
                          <a:gd name="T25" fmla="*/ 4 h 1166"/>
                          <a:gd name="T26" fmla="*/ 66 w 227"/>
                          <a:gd name="T27" fmla="*/ 0 h 1166"/>
                          <a:gd name="T28" fmla="*/ 0 w 227"/>
                          <a:gd name="T29" fmla="*/ 52 h 1166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</a:cxnLst>
                        <a:rect l="0" t="0" r="r" b="b"/>
                        <a:pathLst>
                          <a:path w="227" h="1166">
                            <a:moveTo>
                              <a:pt x="0" y="52"/>
                            </a:moveTo>
                            <a:lnTo>
                              <a:pt x="50" y="137"/>
                            </a:lnTo>
                            <a:lnTo>
                              <a:pt x="36" y="717"/>
                            </a:lnTo>
                            <a:lnTo>
                              <a:pt x="32" y="976"/>
                            </a:lnTo>
                            <a:lnTo>
                              <a:pt x="43" y="1069"/>
                            </a:lnTo>
                            <a:lnTo>
                              <a:pt x="151" y="1166"/>
                            </a:lnTo>
                            <a:lnTo>
                              <a:pt x="227" y="1036"/>
                            </a:lnTo>
                            <a:lnTo>
                              <a:pt x="177" y="661"/>
                            </a:lnTo>
                            <a:lnTo>
                              <a:pt x="147" y="441"/>
                            </a:lnTo>
                            <a:lnTo>
                              <a:pt x="109" y="185"/>
                            </a:lnTo>
                            <a:lnTo>
                              <a:pt x="98" y="119"/>
                            </a:lnTo>
                            <a:lnTo>
                              <a:pt x="147" y="41"/>
                            </a:lnTo>
                            <a:lnTo>
                              <a:pt x="129" y="4"/>
                            </a:lnTo>
                            <a:lnTo>
                              <a:pt x="66" y="0"/>
                            </a:lnTo>
                            <a:lnTo>
                              <a:pt x="0" y="52"/>
                            </a:lnTo>
                            <a:close/>
                          </a:path>
                        </a:pathLst>
                      </a:custGeom>
                      <a:solidFill>
                        <a:srgbClr val="3F3F3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443" name="Freeform 213"/>
                      <p:cNvSpPr/>
                      <p:nvPr/>
                    </p:nvSpPr>
                    <p:spPr bwMode="auto">
                      <a:xfrm>
                        <a:off x="5064" y="2305"/>
                        <a:ext cx="59" cy="74"/>
                      </a:xfrm>
                      <a:custGeom>
                        <a:avLst/>
                        <a:gdLst>
                          <a:gd name="T0" fmla="*/ 3 w 355"/>
                          <a:gd name="T1" fmla="*/ 0 h 372"/>
                          <a:gd name="T2" fmla="*/ 14 w 355"/>
                          <a:gd name="T3" fmla="*/ 34 h 372"/>
                          <a:gd name="T4" fmla="*/ 21 w 355"/>
                          <a:gd name="T5" fmla="*/ 47 h 372"/>
                          <a:gd name="T6" fmla="*/ 36 w 355"/>
                          <a:gd name="T7" fmla="*/ 72 h 372"/>
                          <a:gd name="T8" fmla="*/ 49 w 355"/>
                          <a:gd name="T9" fmla="*/ 92 h 372"/>
                          <a:gd name="T10" fmla="*/ 64 w 355"/>
                          <a:gd name="T11" fmla="*/ 108 h 372"/>
                          <a:gd name="T12" fmla="*/ 86 w 355"/>
                          <a:gd name="T13" fmla="*/ 131 h 372"/>
                          <a:gd name="T14" fmla="*/ 114 w 355"/>
                          <a:gd name="T15" fmla="*/ 152 h 372"/>
                          <a:gd name="T16" fmla="*/ 142 w 355"/>
                          <a:gd name="T17" fmla="*/ 173 h 372"/>
                          <a:gd name="T18" fmla="*/ 168 w 355"/>
                          <a:gd name="T19" fmla="*/ 187 h 372"/>
                          <a:gd name="T20" fmla="*/ 199 w 355"/>
                          <a:gd name="T21" fmla="*/ 199 h 372"/>
                          <a:gd name="T22" fmla="*/ 228 w 355"/>
                          <a:gd name="T23" fmla="*/ 202 h 372"/>
                          <a:gd name="T24" fmla="*/ 259 w 355"/>
                          <a:gd name="T25" fmla="*/ 202 h 372"/>
                          <a:gd name="T26" fmla="*/ 278 w 355"/>
                          <a:gd name="T27" fmla="*/ 189 h 372"/>
                          <a:gd name="T28" fmla="*/ 296 w 355"/>
                          <a:gd name="T29" fmla="*/ 176 h 372"/>
                          <a:gd name="T30" fmla="*/ 313 w 355"/>
                          <a:gd name="T31" fmla="*/ 150 h 372"/>
                          <a:gd name="T32" fmla="*/ 330 w 355"/>
                          <a:gd name="T33" fmla="*/ 124 h 372"/>
                          <a:gd name="T34" fmla="*/ 340 w 355"/>
                          <a:gd name="T35" fmla="*/ 102 h 372"/>
                          <a:gd name="T36" fmla="*/ 346 w 355"/>
                          <a:gd name="T37" fmla="*/ 60 h 372"/>
                          <a:gd name="T38" fmla="*/ 353 w 355"/>
                          <a:gd name="T39" fmla="*/ 48 h 372"/>
                          <a:gd name="T40" fmla="*/ 355 w 355"/>
                          <a:gd name="T41" fmla="*/ 116 h 372"/>
                          <a:gd name="T42" fmla="*/ 341 w 355"/>
                          <a:gd name="T43" fmla="*/ 346 h 372"/>
                          <a:gd name="T44" fmla="*/ 241 w 355"/>
                          <a:gd name="T45" fmla="*/ 214 h 372"/>
                          <a:gd name="T46" fmla="*/ 230 w 355"/>
                          <a:gd name="T47" fmla="*/ 214 h 372"/>
                          <a:gd name="T48" fmla="*/ 130 w 355"/>
                          <a:gd name="T49" fmla="*/ 314 h 372"/>
                          <a:gd name="T50" fmla="*/ 73 w 355"/>
                          <a:gd name="T51" fmla="*/ 372 h 372"/>
                          <a:gd name="T52" fmla="*/ 18 w 355"/>
                          <a:gd name="T53" fmla="*/ 186 h 372"/>
                          <a:gd name="T54" fmla="*/ 0 w 355"/>
                          <a:gd name="T55" fmla="*/ 113 h 372"/>
                          <a:gd name="T56" fmla="*/ 3 w 355"/>
                          <a:gd name="T57" fmla="*/ 0 h 372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</a:cxnLst>
                        <a:rect l="0" t="0" r="r" b="b"/>
                        <a:pathLst>
                          <a:path w="355" h="372">
                            <a:moveTo>
                              <a:pt x="3" y="0"/>
                            </a:moveTo>
                            <a:lnTo>
                              <a:pt x="14" y="34"/>
                            </a:lnTo>
                            <a:lnTo>
                              <a:pt x="21" y="47"/>
                            </a:lnTo>
                            <a:lnTo>
                              <a:pt x="36" y="72"/>
                            </a:lnTo>
                            <a:lnTo>
                              <a:pt x="49" y="92"/>
                            </a:lnTo>
                            <a:lnTo>
                              <a:pt x="64" y="108"/>
                            </a:lnTo>
                            <a:lnTo>
                              <a:pt x="86" y="131"/>
                            </a:lnTo>
                            <a:lnTo>
                              <a:pt x="114" y="152"/>
                            </a:lnTo>
                            <a:lnTo>
                              <a:pt x="142" y="173"/>
                            </a:lnTo>
                            <a:lnTo>
                              <a:pt x="168" y="187"/>
                            </a:lnTo>
                            <a:lnTo>
                              <a:pt x="199" y="199"/>
                            </a:lnTo>
                            <a:lnTo>
                              <a:pt x="228" y="202"/>
                            </a:lnTo>
                            <a:lnTo>
                              <a:pt x="259" y="202"/>
                            </a:lnTo>
                            <a:lnTo>
                              <a:pt x="278" y="189"/>
                            </a:lnTo>
                            <a:lnTo>
                              <a:pt x="296" y="176"/>
                            </a:lnTo>
                            <a:lnTo>
                              <a:pt x="313" y="150"/>
                            </a:lnTo>
                            <a:lnTo>
                              <a:pt x="330" y="124"/>
                            </a:lnTo>
                            <a:lnTo>
                              <a:pt x="340" y="102"/>
                            </a:lnTo>
                            <a:lnTo>
                              <a:pt x="346" y="60"/>
                            </a:lnTo>
                            <a:lnTo>
                              <a:pt x="353" y="48"/>
                            </a:lnTo>
                            <a:lnTo>
                              <a:pt x="355" y="116"/>
                            </a:lnTo>
                            <a:lnTo>
                              <a:pt x="341" y="346"/>
                            </a:lnTo>
                            <a:lnTo>
                              <a:pt x="241" y="214"/>
                            </a:lnTo>
                            <a:lnTo>
                              <a:pt x="230" y="214"/>
                            </a:lnTo>
                            <a:lnTo>
                              <a:pt x="130" y="314"/>
                            </a:lnTo>
                            <a:lnTo>
                              <a:pt x="73" y="372"/>
                            </a:lnTo>
                            <a:lnTo>
                              <a:pt x="18" y="186"/>
                            </a:lnTo>
                            <a:lnTo>
                              <a:pt x="0" y="113"/>
                            </a:lnTo>
                            <a:lnTo>
                              <a:pt x="3" y="0"/>
                            </a:lnTo>
                            <a:close/>
                          </a:path>
                        </a:pathLst>
                      </a:custGeom>
                      <a:solidFill>
                        <a:srgbClr val="3F3F3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444" name="Freeform 214"/>
                      <p:cNvSpPr/>
                      <p:nvPr/>
                    </p:nvSpPr>
                    <p:spPr bwMode="auto">
                      <a:xfrm>
                        <a:off x="5066" y="2303"/>
                        <a:ext cx="59" cy="75"/>
                      </a:xfrm>
                      <a:custGeom>
                        <a:avLst/>
                        <a:gdLst>
                          <a:gd name="T0" fmla="*/ 4 w 355"/>
                          <a:gd name="T1" fmla="*/ 0 h 373"/>
                          <a:gd name="T2" fmla="*/ 15 w 355"/>
                          <a:gd name="T3" fmla="*/ 34 h 373"/>
                          <a:gd name="T4" fmla="*/ 22 w 355"/>
                          <a:gd name="T5" fmla="*/ 47 h 373"/>
                          <a:gd name="T6" fmla="*/ 36 w 355"/>
                          <a:gd name="T7" fmla="*/ 72 h 373"/>
                          <a:gd name="T8" fmla="*/ 49 w 355"/>
                          <a:gd name="T9" fmla="*/ 92 h 373"/>
                          <a:gd name="T10" fmla="*/ 65 w 355"/>
                          <a:gd name="T11" fmla="*/ 108 h 373"/>
                          <a:gd name="T12" fmla="*/ 86 w 355"/>
                          <a:gd name="T13" fmla="*/ 131 h 373"/>
                          <a:gd name="T14" fmla="*/ 115 w 355"/>
                          <a:gd name="T15" fmla="*/ 152 h 373"/>
                          <a:gd name="T16" fmla="*/ 142 w 355"/>
                          <a:gd name="T17" fmla="*/ 173 h 373"/>
                          <a:gd name="T18" fmla="*/ 169 w 355"/>
                          <a:gd name="T19" fmla="*/ 187 h 373"/>
                          <a:gd name="T20" fmla="*/ 200 w 355"/>
                          <a:gd name="T21" fmla="*/ 199 h 373"/>
                          <a:gd name="T22" fmla="*/ 229 w 355"/>
                          <a:gd name="T23" fmla="*/ 202 h 373"/>
                          <a:gd name="T24" fmla="*/ 260 w 355"/>
                          <a:gd name="T25" fmla="*/ 202 h 373"/>
                          <a:gd name="T26" fmla="*/ 279 w 355"/>
                          <a:gd name="T27" fmla="*/ 191 h 373"/>
                          <a:gd name="T28" fmla="*/ 297 w 355"/>
                          <a:gd name="T29" fmla="*/ 176 h 373"/>
                          <a:gd name="T30" fmla="*/ 313 w 355"/>
                          <a:gd name="T31" fmla="*/ 150 h 373"/>
                          <a:gd name="T32" fmla="*/ 330 w 355"/>
                          <a:gd name="T33" fmla="*/ 124 h 373"/>
                          <a:gd name="T34" fmla="*/ 341 w 355"/>
                          <a:gd name="T35" fmla="*/ 102 h 373"/>
                          <a:gd name="T36" fmla="*/ 347 w 355"/>
                          <a:gd name="T37" fmla="*/ 60 h 373"/>
                          <a:gd name="T38" fmla="*/ 354 w 355"/>
                          <a:gd name="T39" fmla="*/ 49 h 373"/>
                          <a:gd name="T40" fmla="*/ 355 w 355"/>
                          <a:gd name="T41" fmla="*/ 117 h 373"/>
                          <a:gd name="T42" fmla="*/ 342 w 355"/>
                          <a:gd name="T43" fmla="*/ 347 h 373"/>
                          <a:gd name="T44" fmla="*/ 242 w 355"/>
                          <a:gd name="T45" fmla="*/ 214 h 373"/>
                          <a:gd name="T46" fmla="*/ 231 w 355"/>
                          <a:gd name="T47" fmla="*/ 214 h 373"/>
                          <a:gd name="T48" fmla="*/ 131 w 355"/>
                          <a:gd name="T49" fmla="*/ 314 h 373"/>
                          <a:gd name="T50" fmla="*/ 73 w 355"/>
                          <a:gd name="T51" fmla="*/ 373 h 373"/>
                          <a:gd name="T52" fmla="*/ 18 w 355"/>
                          <a:gd name="T53" fmla="*/ 186 h 373"/>
                          <a:gd name="T54" fmla="*/ 0 w 355"/>
                          <a:gd name="T55" fmla="*/ 113 h 373"/>
                          <a:gd name="T56" fmla="*/ 4 w 355"/>
                          <a:gd name="T57" fmla="*/ 0 h 37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</a:cxnLst>
                        <a:rect l="0" t="0" r="r" b="b"/>
                        <a:pathLst>
                          <a:path w="355" h="373">
                            <a:moveTo>
                              <a:pt x="4" y="0"/>
                            </a:moveTo>
                            <a:lnTo>
                              <a:pt x="15" y="34"/>
                            </a:lnTo>
                            <a:lnTo>
                              <a:pt x="22" y="47"/>
                            </a:lnTo>
                            <a:lnTo>
                              <a:pt x="36" y="72"/>
                            </a:lnTo>
                            <a:lnTo>
                              <a:pt x="49" y="92"/>
                            </a:lnTo>
                            <a:lnTo>
                              <a:pt x="65" y="108"/>
                            </a:lnTo>
                            <a:lnTo>
                              <a:pt x="86" y="131"/>
                            </a:lnTo>
                            <a:lnTo>
                              <a:pt x="115" y="152"/>
                            </a:lnTo>
                            <a:lnTo>
                              <a:pt x="142" y="173"/>
                            </a:lnTo>
                            <a:lnTo>
                              <a:pt x="169" y="187"/>
                            </a:lnTo>
                            <a:lnTo>
                              <a:pt x="200" y="199"/>
                            </a:lnTo>
                            <a:lnTo>
                              <a:pt x="229" y="202"/>
                            </a:lnTo>
                            <a:lnTo>
                              <a:pt x="260" y="202"/>
                            </a:lnTo>
                            <a:lnTo>
                              <a:pt x="279" y="191"/>
                            </a:lnTo>
                            <a:lnTo>
                              <a:pt x="297" y="176"/>
                            </a:lnTo>
                            <a:lnTo>
                              <a:pt x="313" y="150"/>
                            </a:lnTo>
                            <a:lnTo>
                              <a:pt x="330" y="124"/>
                            </a:lnTo>
                            <a:lnTo>
                              <a:pt x="341" y="102"/>
                            </a:lnTo>
                            <a:lnTo>
                              <a:pt x="347" y="60"/>
                            </a:lnTo>
                            <a:lnTo>
                              <a:pt x="354" y="49"/>
                            </a:lnTo>
                            <a:lnTo>
                              <a:pt x="355" y="117"/>
                            </a:lnTo>
                            <a:lnTo>
                              <a:pt x="342" y="347"/>
                            </a:lnTo>
                            <a:lnTo>
                              <a:pt x="242" y="214"/>
                            </a:lnTo>
                            <a:lnTo>
                              <a:pt x="231" y="214"/>
                            </a:lnTo>
                            <a:lnTo>
                              <a:pt x="131" y="314"/>
                            </a:lnTo>
                            <a:lnTo>
                              <a:pt x="73" y="373"/>
                            </a:lnTo>
                            <a:lnTo>
                              <a:pt x="18" y="186"/>
                            </a:lnTo>
                            <a:lnTo>
                              <a:pt x="0" y="113"/>
                            </a:lnTo>
                            <a:lnTo>
                              <a:pt x="4" y="0"/>
                            </a:lnTo>
                            <a:close/>
                          </a:path>
                        </a:pathLst>
                      </a:custGeom>
                      <a:solidFill>
                        <a:srgbClr val="BFD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428" name="Group 215"/>
                    <p:cNvGrpSpPr/>
                    <p:nvPr/>
                  </p:nvGrpSpPr>
                  <p:grpSpPr bwMode="auto">
                    <a:xfrm>
                      <a:off x="4986" y="2302"/>
                      <a:ext cx="218" cy="441"/>
                      <a:chOff x="4986" y="2302"/>
                      <a:chExt cx="218" cy="441"/>
                    </a:xfrm>
                  </p:grpSpPr>
                  <p:sp>
                    <p:nvSpPr>
                      <p:cNvPr id="429" name="Freeform 216"/>
                      <p:cNvSpPr/>
                      <p:nvPr/>
                    </p:nvSpPr>
                    <p:spPr bwMode="auto">
                      <a:xfrm>
                        <a:off x="5024" y="2558"/>
                        <a:ext cx="156" cy="185"/>
                      </a:xfrm>
                      <a:custGeom>
                        <a:avLst/>
                        <a:gdLst>
                          <a:gd name="T0" fmla="*/ 51 w 937"/>
                          <a:gd name="T1" fmla="*/ 0 h 925"/>
                          <a:gd name="T2" fmla="*/ 356 w 937"/>
                          <a:gd name="T3" fmla="*/ 23 h 925"/>
                          <a:gd name="T4" fmla="*/ 542 w 937"/>
                          <a:gd name="T5" fmla="*/ 30 h 925"/>
                          <a:gd name="T6" fmla="*/ 815 w 937"/>
                          <a:gd name="T7" fmla="*/ 15 h 925"/>
                          <a:gd name="T8" fmla="*/ 908 w 937"/>
                          <a:gd name="T9" fmla="*/ 8 h 925"/>
                          <a:gd name="T10" fmla="*/ 937 w 937"/>
                          <a:gd name="T11" fmla="*/ 662 h 925"/>
                          <a:gd name="T12" fmla="*/ 937 w 937"/>
                          <a:gd name="T13" fmla="*/ 925 h 925"/>
                          <a:gd name="T14" fmla="*/ 599 w 937"/>
                          <a:gd name="T15" fmla="*/ 925 h 925"/>
                          <a:gd name="T16" fmla="*/ 507 w 937"/>
                          <a:gd name="T17" fmla="*/ 573 h 925"/>
                          <a:gd name="T18" fmla="*/ 471 w 937"/>
                          <a:gd name="T19" fmla="*/ 925 h 925"/>
                          <a:gd name="T20" fmla="*/ 43 w 937"/>
                          <a:gd name="T21" fmla="*/ 925 h 925"/>
                          <a:gd name="T22" fmla="*/ 0 w 937"/>
                          <a:gd name="T23" fmla="*/ 373 h 925"/>
                          <a:gd name="T24" fmla="*/ 51 w 937"/>
                          <a:gd name="T25" fmla="*/ 0 h 925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</a:cxnLst>
                        <a:rect l="0" t="0" r="r" b="b"/>
                        <a:pathLst>
                          <a:path w="937" h="925">
                            <a:moveTo>
                              <a:pt x="51" y="0"/>
                            </a:moveTo>
                            <a:lnTo>
                              <a:pt x="356" y="23"/>
                            </a:lnTo>
                            <a:lnTo>
                              <a:pt x="542" y="30"/>
                            </a:lnTo>
                            <a:lnTo>
                              <a:pt x="815" y="15"/>
                            </a:lnTo>
                            <a:lnTo>
                              <a:pt x="908" y="8"/>
                            </a:lnTo>
                            <a:lnTo>
                              <a:pt x="937" y="662"/>
                            </a:lnTo>
                            <a:lnTo>
                              <a:pt x="937" y="925"/>
                            </a:lnTo>
                            <a:lnTo>
                              <a:pt x="599" y="925"/>
                            </a:lnTo>
                            <a:lnTo>
                              <a:pt x="507" y="573"/>
                            </a:lnTo>
                            <a:lnTo>
                              <a:pt x="471" y="925"/>
                            </a:lnTo>
                            <a:lnTo>
                              <a:pt x="43" y="925"/>
                            </a:lnTo>
                            <a:lnTo>
                              <a:pt x="0" y="373"/>
                            </a:lnTo>
                            <a:lnTo>
                              <a:pt x="51" y="0"/>
                            </a:lnTo>
                            <a:close/>
                          </a:path>
                        </a:pathLst>
                      </a:custGeom>
                      <a:solidFill>
                        <a:srgbClr val="3F3F3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grpSp>
                    <p:nvGrpSpPr>
                      <p:cNvPr id="430" name="Group 217"/>
                      <p:cNvGrpSpPr/>
                      <p:nvPr/>
                    </p:nvGrpSpPr>
                    <p:grpSpPr bwMode="auto">
                      <a:xfrm>
                        <a:off x="4986" y="2302"/>
                        <a:ext cx="218" cy="379"/>
                        <a:chOff x="4986" y="2302"/>
                        <a:chExt cx="218" cy="379"/>
                      </a:xfrm>
                    </p:grpSpPr>
                    <p:grpSp>
                      <p:nvGrpSpPr>
                        <p:cNvPr id="431" name="Group 218"/>
                        <p:cNvGrpSpPr/>
                        <p:nvPr/>
                      </p:nvGrpSpPr>
                      <p:grpSpPr bwMode="auto">
                        <a:xfrm>
                          <a:off x="4986" y="2302"/>
                          <a:ext cx="218" cy="379"/>
                          <a:chOff x="4986" y="2302"/>
                          <a:chExt cx="218" cy="379"/>
                        </a:xfrm>
                      </p:grpSpPr>
                      <p:sp>
                        <p:nvSpPr>
                          <p:cNvPr id="438" name="Freeform 219"/>
                          <p:cNvSpPr/>
                          <p:nvPr/>
                        </p:nvSpPr>
                        <p:spPr bwMode="auto">
                          <a:xfrm>
                            <a:off x="5124" y="2311"/>
                            <a:ext cx="80" cy="369"/>
                          </a:xfrm>
                          <a:custGeom>
                            <a:avLst/>
                            <a:gdLst>
                              <a:gd name="T0" fmla="*/ 12 w 484"/>
                              <a:gd name="T1" fmla="*/ 0 h 1845"/>
                              <a:gd name="T2" fmla="*/ 24 w 484"/>
                              <a:gd name="T3" fmla="*/ 12 h 1845"/>
                              <a:gd name="T4" fmla="*/ 48 w 484"/>
                              <a:gd name="T5" fmla="*/ 53 h 1845"/>
                              <a:gd name="T6" fmla="*/ 330 w 484"/>
                              <a:gd name="T7" fmla="*/ 160 h 1845"/>
                              <a:gd name="T8" fmla="*/ 357 w 484"/>
                              <a:gd name="T9" fmla="*/ 170 h 1845"/>
                              <a:gd name="T10" fmla="*/ 381 w 484"/>
                              <a:gd name="T11" fmla="*/ 185 h 1845"/>
                              <a:gd name="T12" fmla="*/ 396 w 484"/>
                              <a:gd name="T13" fmla="*/ 198 h 1845"/>
                              <a:gd name="T14" fmla="*/ 409 w 484"/>
                              <a:gd name="T15" fmla="*/ 217 h 1845"/>
                              <a:gd name="T16" fmla="*/ 418 w 484"/>
                              <a:gd name="T17" fmla="*/ 243 h 1845"/>
                              <a:gd name="T18" fmla="*/ 427 w 484"/>
                              <a:gd name="T19" fmla="*/ 301 h 1845"/>
                              <a:gd name="T20" fmla="*/ 434 w 484"/>
                              <a:gd name="T21" fmla="*/ 420 h 1845"/>
                              <a:gd name="T22" fmla="*/ 448 w 484"/>
                              <a:gd name="T23" fmla="*/ 1102 h 1845"/>
                              <a:gd name="T24" fmla="*/ 484 w 484"/>
                              <a:gd name="T25" fmla="*/ 1630 h 1845"/>
                              <a:gd name="T26" fmla="*/ 377 w 484"/>
                              <a:gd name="T27" fmla="*/ 1667 h 1845"/>
                              <a:gd name="T28" fmla="*/ 384 w 484"/>
                              <a:gd name="T29" fmla="*/ 1734 h 1845"/>
                              <a:gd name="T30" fmla="*/ 297 w 484"/>
                              <a:gd name="T31" fmla="*/ 1786 h 1845"/>
                              <a:gd name="T32" fmla="*/ 196 w 484"/>
                              <a:gd name="T33" fmla="*/ 1823 h 1845"/>
                              <a:gd name="T34" fmla="*/ 87 w 484"/>
                              <a:gd name="T35" fmla="*/ 1845 h 1845"/>
                              <a:gd name="T36" fmla="*/ 30 w 484"/>
                              <a:gd name="T37" fmla="*/ 1845 h 1845"/>
                              <a:gd name="T38" fmla="*/ 59 w 484"/>
                              <a:gd name="T39" fmla="*/ 1221 h 1845"/>
                              <a:gd name="T40" fmla="*/ 73 w 484"/>
                              <a:gd name="T41" fmla="*/ 889 h 1845"/>
                              <a:gd name="T42" fmla="*/ 73 w 484"/>
                              <a:gd name="T43" fmla="*/ 628 h 1845"/>
                              <a:gd name="T44" fmla="*/ 41 w 484"/>
                              <a:gd name="T45" fmla="*/ 303 h 1845"/>
                              <a:gd name="T46" fmla="*/ 17 w 484"/>
                              <a:gd name="T47" fmla="*/ 109 h 1845"/>
                              <a:gd name="T48" fmla="*/ 0 w 484"/>
                              <a:gd name="T49" fmla="*/ 17 h 1845"/>
                              <a:gd name="T50" fmla="*/ 12 w 484"/>
                              <a:gd name="T51" fmla="*/ 0 h 1845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  <a:cxn ang="0">
                                <a:pos x="T24" y="T25"/>
                              </a:cxn>
                              <a:cxn ang="0">
                                <a:pos x="T26" y="T27"/>
                              </a:cxn>
                              <a:cxn ang="0">
                                <a:pos x="T28" y="T29"/>
                              </a:cxn>
                              <a:cxn ang="0">
                                <a:pos x="T30" y="T31"/>
                              </a:cxn>
                              <a:cxn ang="0">
                                <a:pos x="T32" y="T33"/>
                              </a:cxn>
                              <a:cxn ang="0">
                                <a:pos x="T34" y="T35"/>
                              </a:cxn>
                              <a:cxn ang="0">
                                <a:pos x="T36" y="T37"/>
                              </a:cxn>
                              <a:cxn ang="0">
                                <a:pos x="T38" y="T39"/>
                              </a:cxn>
                              <a:cxn ang="0">
                                <a:pos x="T40" y="T41"/>
                              </a:cxn>
                              <a:cxn ang="0">
                                <a:pos x="T42" y="T43"/>
                              </a:cxn>
                              <a:cxn ang="0">
                                <a:pos x="T44" y="T45"/>
                              </a:cxn>
                              <a:cxn ang="0">
                                <a:pos x="T46" y="T47"/>
                              </a:cxn>
                              <a:cxn ang="0">
                                <a:pos x="T48" y="T49"/>
                              </a:cxn>
                              <a:cxn ang="0">
                                <a:pos x="T50" y="T51"/>
                              </a:cxn>
                            </a:cxnLst>
                            <a:rect l="0" t="0" r="r" b="b"/>
                            <a:pathLst>
                              <a:path w="484" h="1845">
                                <a:moveTo>
                                  <a:pt x="12" y="0"/>
                                </a:moveTo>
                                <a:lnTo>
                                  <a:pt x="24" y="12"/>
                                </a:lnTo>
                                <a:lnTo>
                                  <a:pt x="48" y="53"/>
                                </a:lnTo>
                                <a:lnTo>
                                  <a:pt x="330" y="160"/>
                                </a:lnTo>
                                <a:lnTo>
                                  <a:pt x="357" y="170"/>
                                </a:lnTo>
                                <a:lnTo>
                                  <a:pt x="381" y="185"/>
                                </a:lnTo>
                                <a:lnTo>
                                  <a:pt x="396" y="198"/>
                                </a:lnTo>
                                <a:lnTo>
                                  <a:pt x="409" y="217"/>
                                </a:lnTo>
                                <a:lnTo>
                                  <a:pt x="418" y="243"/>
                                </a:lnTo>
                                <a:lnTo>
                                  <a:pt x="427" y="301"/>
                                </a:lnTo>
                                <a:lnTo>
                                  <a:pt x="434" y="420"/>
                                </a:lnTo>
                                <a:lnTo>
                                  <a:pt x="448" y="1102"/>
                                </a:lnTo>
                                <a:lnTo>
                                  <a:pt x="484" y="1630"/>
                                </a:lnTo>
                                <a:lnTo>
                                  <a:pt x="377" y="1667"/>
                                </a:lnTo>
                                <a:lnTo>
                                  <a:pt x="384" y="1734"/>
                                </a:lnTo>
                                <a:lnTo>
                                  <a:pt x="297" y="1786"/>
                                </a:lnTo>
                                <a:lnTo>
                                  <a:pt x="196" y="1823"/>
                                </a:lnTo>
                                <a:lnTo>
                                  <a:pt x="87" y="1845"/>
                                </a:lnTo>
                                <a:lnTo>
                                  <a:pt x="30" y="1845"/>
                                </a:lnTo>
                                <a:lnTo>
                                  <a:pt x="59" y="1221"/>
                                </a:lnTo>
                                <a:lnTo>
                                  <a:pt x="73" y="889"/>
                                </a:lnTo>
                                <a:lnTo>
                                  <a:pt x="73" y="628"/>
                                </a:lnTo>
                                <a:lnTo>
                                  <a:pt x="41" y="303"/>
                                </a:lnTo>
                                <a:lnTo>
                                  <a:pt x="17" y="109"/>
                                </a:lnTo>
                                <a:lnTo>
                                  <a:pt x="0" y="17"/>
                                </a:lnTo>
                                <a:lnTo>
                                  <a:pt x="12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7F7F7F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round/>
                              </a14:hiddenLine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3655"/>
                          </a:p>
                        </p:txBody>
                      </p:sp>
                      <p:sp>
                        <p:nvSpPr>
                          <p:cNvPr id="439" name="Freeform 220"/>
                          <p:cNvSpPr/>
                          <p:nvPr/>
                        </p:nvSpPr>
                        <p:spPr bwMode="auto">
                          <a:xfrm>
                            <a:off x="4986" y="2302"/>
                            <a:ext cx="101" cy="379"/>
                          </a:xfrm>
                          <a:custGeom>
                            <a:avLst/>
                            <a:gdLst>
                              <a:gd name="T0" fmla="*/ 485 w 607"/>
                              <a:gd name="T1" fmla="*/ 0 h 1899"/>
                              <a:gd name="T2" fmla="*/ 429 w 607"/>
                              <a:gd name="T3" fmla="*/ 51 h 1899"/>
                              <a:gd name="T4" fmla="*/ 401 w 607"/>
                              <a:gd name="T5" fmla="*/ 73 h 1899"/>
                              <a:gd name="T6" fmla="*/ 353 w 607"/>
                              <a:gd name="T7" fmla="*/ 95 h 1899"/>
                              <a:gd name="T8" fmla="*/ 251 w 607"/>
                              <a:gd name="T9" fmla="*/ 147 h 1899"/>
                              <a:gd name="T10" fmla="*/ 98 w 607"/>
                              <a:gd name="T11" fmla="*/ 231 h 1899"/>
                              <a:gd name="T12" fmla="*/ 62 w 607"/>
                              <a:gd name="T13" fmla="*/ 247 h 1899"/>
                              <a:gd name="T14" fmla="*/ 55 w 607"/>
                              <a:gd name="T15" fmla="*/ 272 h 1899"/>
                              <a:gd name="T16" fmla="*/ 50 w 607"/>
                              <a:gd name="T17" fmla="*/ 333 h 1899"/>
                              <a:gd name="T18" fmla="*/ 43 w 607"/>
                              <a:gd name="T19" fmla="*/ 504 h 1899"/>
                              <a:gd name="T20" fmla="*/ 14 w 607"/>
                              <a:gd name="T21" fmla="*/ 696 h 1899"/>
                              <a:gd name="T22" fmla="*/ 0 w 607"/>
                              <a:gd name="T23" fmla="*/ 852 h 1899"/>
                              <a:gd name="T24" fmla="*/ 14 w 607"/>
                              <a:gd name="T25" fmla="*/ 972 h 1899"/>
                              <a:gd name="T26" fmla="*/ 50 w 607"/>
                              <a:gd name="T27" fmla="*/ 1068 h 1899"/>
                              <a:gd name="T28" fmla="*/ 179 w 607"/>
                              <a:gd name="T29" fmla="*/ 1215 h 1899"/>
                              <a:gd name="T30" fmla="*/ 193 w 607"/>
                              <a:gd name="T31" fmla="*/ 1706 h 1899"/>
                              <a:gd name="T32" fmla="*/ 265 w 607"/>
                              <a:gd name="T33" fmla="*/ 1802 h 1899"/>
                              <a:gd name="T34" fmla="*/ 365 w 607"/>
                              <a:gd name="T35" fmla="*/ 1869 h 1899"/>
                              <a:gd name="T36" fmla="*/ 470 w 607"/>
                              <a:gd name="T37" fmla="*/ 1899 h 1899"/>
                              <a:gd name="T38" fmla="*/ 607 w 607"/>
                              <a:gd name="T39" fmla="*/ 1899 h 1899"/>
                              <a:gd name="T40" fmla="*/ 607 w 607"/>
                              <a:gd name="T41" fmla="*/ 1334 h 1899"/>
                              <a:gd name="T42" fmla="*/ 589 w 607"/>
                              <a:gd name="T43" fmla="*/ 1090 h 1899"/>
                              <a:gd name="T44" fmla="*/ 542 w 607"/>
                              <a:gd name="T45" fmla="*/ 586 h 1899"/>
                              <a:gd name="T46" fmla="*/ 523 w 607"/>
                              <a:gd name="T47" fmla="*/ 355 h 1899"/>
                              <a:gd name="T48" fmla="*/ 516 w 607"/>
                              <a:gd name="T49" fmla="*/ 300 h 1899"/>
                              <a:gd name="T50" fmla="*/ 506 w 607"/>
                              <a:gd name="T51" fmla="*/ 247 h 1899"/>
                              <a:gd name="T52" fmla="*/ 487 w 607"/>
                              <a:gd name="T53" fmla="*/ 146 h 1899"/>
                              <a:gd name="T54" fmla="*/ 479 w 607"/>
                              <a:gd name="T55" fmla="*/ 101 h 1899"/>
                              <a:gd name="T56" fmla="*/ 478 w 607"/>
                              <a:gd name="T57" fmla="*/ 75 h 1899"/>
                              <a:gd name="T58" fmla="*/ 478 w 607"/>
                              <a:gd name="T59" fmla="*/ 43 h 1899"/>
                              <a:gd name="T60" fmla="*/ 485 w 607"/>
                              <a:gd name="T61" fmla="*/ 0 h 1899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  <a:cxn ang="0">
                                <a:pos x="T24" y="T25"/>
                              </a:cxn>
                              <a:cxn ang="0">
                                <a:pos x="T26" y="T27"/>
                              </a:cxn>
                              <a:cxn ang="0">
                                <a:pos x="T28" y="T29"/>
                              </a:cxn>
                              <a:cxn ang="0">
                                <a:pos x="T30" y="T31"/>
                              </a:cxn>
                              <a:cxn ang="0">
                                <a:pos x="T32" y="T33"/>
                              </a:cxn>
                              <a:cxn ang="0">
                                <a:pos x="T34" y="T35"/>
                              </a:cxn>
                              <a:cxn ang="0">
                                <a:pos x="T36" y="T37"/>
                              </a:cxn>
                              <a:cxn ang="0">
                                <a:pos x="T38" y="T39"/>
                              </a:cxn>
                              <a:cxn ang="0">
                                <a:pos x="T40" y="T41"/>
                              </a:cxn>
                              <a:cxn ang="0">
                                <a:pos x="T42" y="T43"/>
                              </a:cxn>
                              <a:cxn ang="0">
                                <a:pos x="T44" y="T45"/>
                              </a:cxn>
                              <a:cxn ang="0">
                                <a:pos x="T46" y="T47"/>
                              </a:cxn>
                              <a:cxn ang="0">
                                <a:pos x="T48" y="T49"/>
                              </a:cxn>
                              <a:cxn ang="0">
                                <a:pos x="T50" y="T51"/>
                              </a:cxn>
                              <a:cxn ang="0">
                                <a:pos x="T52" y="T53"/>
                              </a:cxn>
                              <a:cxn ang="0">
                                <a:pos x="T54" y="T55"/>
                              </a:cxn>
                              <a:cxn ang="0">
                                <a:pos x="T56" y="T57"/>
                              </a:cxn>
                              <a:cxn ang="0">
                                <a:pos x="T58" y="T59"/>
                              </a:cxn>
                              <a:cxn ang="0">
                                <a:pos x="T60" y="T61"/>
                              </a:cxn>
                            </a:cxnLst>
                            <a:rect l="0" t="0" r="r" b="b"/>
                            <a:pathLst>
                              <a:path w="607" h="1899">
                                <a:moveTo>
                                  <a:pt x="485" y="0"/>
                                </a:moveTo>
                                <a:lnTo>
                                  <a:pt x="429" y="51"/>
                                </a:lnTo>
                                <a:lnTo>
                                  <a:pt x="401" y="73"/>
                                </a:lnTo>
                                <a:lnTo>
                                  <a:pt x="353" y="95"/>
                                </a:lnTo>
                                <a:lnTo>
                                  <a:pt x="251" y="147"/>
                                </a:lnTo>
                                <a:lnTo>
                                  <a:pt x="98" y="231"/>
                                </a:lnTo>
                                <a:lnTo>
                                  <a:pt x="62" y="247"/>
                                </a:lnTo>
                                <a:lnTo>
                                  <a:pt x="55" y="272"/>
                                </a:lnTo>
                                <a:lnTo>
                                  <a:pt x="50" y="333"/>
                                </a:lnTo>
                                <a:lnTo>
                                  <a:pt x="43" y="504"/>
                                </a:lnTo>
                                <a:lnTo>
                                  <a:pt x="14" y="696"/>
                                </a:lnTo>
                                <a:lnTo>
                                  <a:pt x="0" y="852"/>
                                </a:lnTo>
                                <a:lnTo>
                                  <a:pt x="14" y="972"/>
                                </a:lnTo>
                                <a:lnTo>
                                  <a:pt x="50" y="1068"/>
                                </a:lnTo>
                                <a:lnTo>
                                  <a:pt x="179" y="1215"/>
                                </a:lnTo>
                                <a:lnTo>
                                  <a:pt x="193" y="1706"/>
                                </a:lnTo>
                                <a:lnTo>
                                  <a:pt x="265" y="1802"/>
                                </a:lnTo>
                                <a:lnTo>
                                  <a:pt x="365" y="1869"/>
                                </a:lnTo>
                                <a:lnTo>
                                  <a:pt x="470" y="1899"/>
                                </a:lnTo>
                                <a:lnTo>
                                  <a:pt x="607" y="1899"/>
                                </a:lnTo>
                                <a:lnTo>
                                  <a:pt x="607" y="1334"/>
                                </a:lnTo>
                                <a:lnTo>
                                  <a:pt x="589" y="1090"/>
                                </a:lnTo>
                                <a:lnTo>
                                  <a:pt x="542" y="586"/>
                                </a:lnTo>
                                <a:lnTo>
                                  <a:pt x="523" y="355"/>
                                </a:lnTo>
                                <a:lnTo>
                                  <a:pt x="516" y="300"/>
                                </a:lnTo>
                                <a:lnTo>
                                  <a:pt x="506" y="247"/>
                                </a:lnTo>
                                <a:lnTo>
                                  <a:pt x="487" y="146"/>
                                </a:lnTo>
                                <a:lnTo>
                                  <a:pt x="479" y="101"/>
                                </a:lnTo>
                                <a:lnTo>
                                  <a:pt x="478" y="75"/>
                                </a:lnTo>
                                <a:lnTo>
                                  <a:pt x="478" y="43"/>
                                </a:lnTo>
                                <a:lnTo>
                                  <a:pt x="485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7F7F7F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round/>
                              </a14:hiddenLine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3655"/>
                          </a:p>
                        </p:txBody>
                      </p:sp>
                    </p:grpSp>
                    <p:grpSp>
                      <p:nvGrpSpPr>
                        <p:cNvPr id="432" name="Group 221"/>
                        <p:cNvGrpSpPr/>
                        <p:nvPr/>
                      </p:nvGrpSpPr>
                      <p:grpSpPr bwMode="auto">
                        <a:xfrm>
                          <a:off x="5042" y="2323"/>
                          <a:ext cx="115" cy="261"/>
                          <a:chOff x="5042" y="2323"/>
                          <a:chExt cx="115" cy="261"/>
                        </a:xfrm>
                      </p:grpSpPr>
                      <p:sp>
                        <p:nvSpPr>
                          <p:cNvPr id="436" name="Freeform 222"/>
                          <p:cNvSpPr/>
                          <p:nvPr/>
                        </p:nvSpPr>
                        <p:spPr bwMode="auto">
                          <a:xfrm>
                            <a:off x="5042" y="2332"/>
                            <a:ext cx="32" cy="202"/>
                          </a:xfrm>
                          <a:custGeom>
                            <a:avLst/>
                            <a:gdLst>
                              <a:gd name="T0" fmla="*/ 84 w 196"/>
                              <a:gd name="T1" fmla="*/ 0 h 1010"/>
                              <a:gd name="T2" fmla="*/ 36 w 196"/>
                              <a:gd name="T3" fmla="*/ 200 h 1010"/>
                              <a:gd name="T4" fmla="*/ 137 w 196"/>
                              <a:gd name="T5" fmla="*/ 260 h 1010"/>
                              <a:gd name="T6" fmla="*/ 25 w 196"/>
                              <a:gd name="T7" fmla="*/ 331 h 1010"/>
                              <a:gd name="T8" fmla="*/ 196 w 196"/>
                              <a:gd name="T9" fmla="*/ 1010 h 1010"/>
                              <a:gd name="T10" fmla="*/ 0 w 196"/>
                              <a:gd name="T11" fmla="*/ 327 h 1010"/>
                              <a:gd name="T12" fmla="*/ 127 w 196"/>
                              <a:gd name="T13" fmla="*/ 260 h 1010"/>
                              <a:gd name="T14" fmla="*/ 21 w 196"/>
                              <a:gd name="T15" fmla="*/ 218 h 1010"/>
                              <a:gd name="T16" fmla="*/ 84 w 196"/>
                              <a:gd name="T17" fmla="*/ 0 h 1010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</a:cxnLst>
                            <a:rect l="0" t="0" r="r" b="b"/>
                            <a:pathLst>
                              <a:path w="196" h="1010">
                                <a:moveTo>
                                  <a:pt x="84" y="0"/>
                                </a:moveTo>
                                <a:lnTo>
                                  <a:pt x="36" y="200"/>
                                </a:lnTo>
                                <a:lnTo>
                                  <a:pt x="137" y="260"/>
                                </a:lnTo>
                                <a:lnTo>
                                  <a:pt x="25" y="331"/>
                                </a:lnTo>
                                <a:lnTo>
                                  <a:pt x="196" y="1010"/>
                                </a:lnTo>
                                <a:lnTo>
                                  <a:pt x="0" y="327"/>
                                </a:lnTo>
                                <a:lnTo>
                                  <a:pt x="127" y="260"/>
                                </a:lnTo>
                                <a:lnTo>
                                  <a:pt x="21" y="218"/>
                                </a:lnTo>
                                <a:lnTo>
                                  <a:pt x="84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F3F3F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round/>
                              </a14:hiddenLine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3655"/>
                          </a:p>
                        </p:txBody>
                      </p:sp>
                      <p:sp>
                        <p:nvSpPr>
                          <p:cNvPr id="437" name="Freeform 223"/>
                          <p:cNvSpPr/>
                          <p:nvPr/>
                        </p:nvSpPr>
                        <p:spPr bwMode="auto">
                          <a:xfrm>
                            <a:off x="5133" y="2323"/>
                            <a:ext cx="24" cy="261"/>
                          </a:xfrm>
                          <a:custGeom>
                            <a:avLst/>
                            <a:gdLst>
                              <a:gd name="T0" fmla="*/ 0 w 142"/>
                              <a:gd name="T1" fmla="*/ 0 h 1303"/>
                              <a:gd name="T2" fmla="*/ 128 w 142"/>
                              <a:gd name="T3" fmla="*/ 211 h 1303"/>
                              <a:gd name="T4" fmla="*/ 55 w 142"/>
                              <a:gd name="T5" fmla="*/ 252 h 1303"/>
                              <a:gd name="T6" fmla="*/ 142 w 142"/>
                              <a:gd name="T7" fmla="*/ 304 h 1303"/>
                              <a:gd name="T8" fmla="*/ 80 w 142"/>
                              <a:gd name="T9" fmla="*/ 1303 h 1303"/>
                              <a:gd name="T10" fmla="*/ 124 w 142"/>
                              <a:gd name="T11" fmla="*/ 296 h 1303"/>
                              <a:gd name="T12" fmla="*/ 44 w 142"/>
                              <a:gd name="T13" fmla="*/ 248 h 1303"/>
                              <a:gd name="T14" fmla="*/ 105 w 142"/>
                              <a:gd name="T15" fmla="*/ 200 h 1303"/>
                              <a:gd name="T16" fmla="*/ 0 w 142"/>
                              <a:gd name="T17" fmla="*/ 0 h 1303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</a:cxnLst>
                            <a:rect l="0" t="0" r="r" b="b"/>
                            <a:pathLst>
                              <a:path w="142" h="1303">
                                <a:moveTo>
                                  <a:pt x="0" y="0"/>
                                </a:moveTo>
                                <a:lnTo>
                                  <a:pt x="128" y="211"/>
                                </a:lnTo>
                                <a:lnTo>
                                  <a:pt x="55" y="252"/>
                                </a:lnTo>
                                <a:lnTo>
                                  <a:pt x="142" y="304"/>
                                </a:lnTo>
                                <a:lnTo>
                                  <a:pt x="80" y="1303"/>
                                </a:lnTo>
                                <a:lnTo>
                                  <a:pt x="124" y="296"/>
                                </a:lnTo>
                                <a:lnTo>
                                  <a:pt x="44" y="248"/>
                                </a:lnTo>
                                <a:lnTo>
                                  <a:pt x="105" y="200"/>
                                </a:lnTo>
                                <a:lnTo>
                                  <a:pt x="0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3F3F3F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round/>
                              </a14:hiddenLine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3655"/>
                          </a:p>
                        </p:txBody>
                      </p:sp>
                    </p:grpSp>
                    <p:sp>
                      <p:nvSpPr>
                        <p:cNvPr id="433" name="Freeform 224"/>
                        <p:cNvSpPr/>
                        <p:nvPr/>
                      </p:nvSpPr>
                      <p:spPr bwMode="auto">
                        <a:xfrm>
                          <a:off x="4986" y="2349"/>
                          <a:ext cx="80" cy="197"/>
                        </a:xfrm>
                        <a:custGeom>
                          <a:avLst/>
                          <a:gdLst>
                            <a:gd name="T0" fmla="*/ 181 w 480"/>
                            <a:gd name="T1" fmla="*/ 42 h 985"/>
                            <a:gd name="T2" fmla="*/ 123 w 480"/>
                            <a:gd name="T3" fmla="*/ 19 h 985"/>
                            <a:gd name="T4" fmla="*/ 98 w 480"/>
                            <a:gd name="T5" fmla="*/ 0 h 985"/>
                            <a:gd name="T6" fmla="*/ 62 w 480"/>
                            <a:gd name="T7" fmla="*/ 16 h 985"/>
                            <a:gd name="T8" fmla="*/ 55 w 480"/>
                            <a:gd name="T9" fmla="*/ 40 h 985"/>
                            <a:gd name="T10" fmla="*/ 50 w 480"/>
                            <a:gd name="T11" fmla="*/ 101 h 985"/>
                            <a:gd name="T12" fmla="*/ 43 w 480"/>
                            <a:gd name="T13" fmla="*/ 273 h 985"/>
                            <a:gd name="T14" fmla="*/ 14 w 480"/>
                            <a:gd name="T15" fmla="*/ 464 h 985"/>
                            <a:gd name="T16" fmla="*/ 0 w 480"/>
                            <a:gd name="T17" fmla="*/ 620 h 985"/>
                            <a:gd name="T18" fmla="*/ 14 w 480"/>
                            <a:gd name="T19" fmla="*/ 741 h 985"/>
                            <a:gd name="T20" fmla="*/ 50 w 480"/>
                            <a:gd name="T21" fmla="*/ 838 h 985"/>
                            <a:gd name="T22" fmla="*/ 179 w 480"/>
                            <a:gd name="T23" fmla="*/ 985 h 985"/>
                            <a:gd name="T24" fmla="*/ 358 w 480"/>
                            <a:gd name="T25" fmla="*/ 948 h 985"/>
                            <a:gd name="T26" fmla="*/ 469 w 480"/>
                            <a:gd name="T27" fmla="*/ 919 h 985"/>
                            <a:gd name="T28" fmla="*/ 480 w 480"/>
                            <a:gd name="T29" fmla="*/ 886 h 985"/>
                            <a:gd name="T30" fmla="*/ 466 w 480"/>
                            <a:gd name="T31" fmla="*/ 861 h 985"/>
                            <a:gd name="T32" fmla="*/ 438 w 480"/>
                            <a:gd name="T33" fmla="*/ 830 h 985"/>
                            <a:gd name="T34" fmla="*/ 407 w 480"/>
                            <a:gd name="T35" fmla="*/ 793 h 985"/>
                            <a:gd name="T36" fmla="*/ 380 w 480"/>
                            <a:gd name="T37" fmla="*/ 764 h 985"/>
                            <a:gd name="T38" fmla="*/ 341 w 480"/>
                            <a:gd name="T39" fmla="*/ 724 h 985"/>
                            <a:gd name="T40" fmla="*/ 316 w 480"/>
                            <a:gd name="T41" fmla="*/ 688 h 985"/>
                            <a:gd name="T42" fmla="*/ 298 w 480"/>
                            <a:gd name="T43" fmla="*/ 656 h 985"/>
                            <a:gd name="T44" fmla="*/ 279 w 480"/>
                            <a:gd name="T45" fmla="*/ 608 h 985"/>
                            <a:gd name="T46" fmla="*/ 273 w 480"/>
                            <a:gd name="T47" fmla="*/ 584 h 985"/>
                            <a:gd name="T48" fmla="*/ 270 w 480"/>
                            <a:gd name="T49" fmla="*/ 560 h 985"/>
                            <a:gd name="T50" fmla="*/ 266 w 480"/>
                            <a:gd name="T51" fmla="*/ 535 h 985"/>
                            <a:gd name="T52" fmla="*/ 267 w 480"/>
                            <a:gd name="T53" fmla="*/ 455 h 985"/>
                            <a:gd name="T54" fmla="*/ 258 w 480"/>
                            <a:gd name="T55" fmla="*/ 306 h 985"/>
                            <a:gd name="T56" fmla="*/ 253 w 480"/>
                            <a:gd name="T57" fmla="*/ 159 h 985"/>
                            <a:gd name="T58" fmla="*/ 223 w 480"/>
                            <a:gd name="T59" fmla="*/ 63 h 985"/>
                            <a:gd name="T60" fmla="*/ 181 w 480"/>
                            <a:gd name="T61" fmla="*/ 42 h 985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  <a:cxn ang="0">
                              <a:pos x="T30" y="T31"/>
                            </a:cxn>
                            <a:cxn ang="0">
                              <a:pos x="T32" y="T33"/>
                            </a:cxn>
                            <a:cxn ang="0">
                              <a:pos x="T34" y="T35"/>
                            </a:cxn>
                            <a:cxn ang="0">
                              <a:pos x="T36" y="T37"/>
                            </a:cxn>
                            <a:cxn ang="0">
                              <a:pos x="T38" y="T39"/>
                            </a:cxn>
                            <a:cxn ang="0">
                              <a:pos x="T40" y="T41"/>
                            </a:cxn>
                            <a:cxn ang="0">
                              <a:pos x="T42" y="T43"/>
                            </a:cxn>
                            <a:cxn ang="0">
                              <a:pos x="T44" y="T45"/>
                            </a:cxn>
                            <a:cxn ang="0">
                              <a:pos x="T46" y="T47"/>
                            </a:cxn>
                            <a:cxn ang="0">
                              <a:pos x="T48" y="T49"/>
                            </a:cxn>
                            <a:cxn ang="0">
                              <a:pos x="T50" y="T51"/>
                            </a:cxn>
                            <a:cxn ang="0">
                              <a:pos x="T52" y="T53"/>
                            </a:cxn>
                            <a:cxn ang="0">
                              <a:pos x="T54" y="T55"/>
                            </a:cxn>
                            <a:cxn ang="0">
                              <a:pos x="T56" y="T57"/>
                            </a:cxn>
                            <a:cxn ang="0">
                              <a:pos x="T58" y="T59"/>
                            </a:cxn>
                            <a:cxn ang="0">
                              <a:pos x="T60" y="T61"/>
                            </a:cxn>
                          </a:cxnLst>
                          <a:rect l="0" t="0" r="r" b="b"/>
                          <a:pathLst>
                            <a:path w="480" h="985">
                              <a:moveTo>
                                <a:pt x="181" y="42"/>
                              </a:moveTo>
                              <a:lnTo>
                                <a:pt x="123" y="19"/>
                              </a:lnTo>
                              <a:lnTo>
                                <a:pt x="98" y="0"/>
                              </a:lnTo>
                              <a:lnTo>
                                <a:pt x="62" y="16"/>
                              </a:lnTo>
                              <a:lnTo>
                                <a:pt x="55" y="40"/>
                              </a:lnTo>
                              <a:lnTo>
                                <a:pt x="50" y="101"/>
                              </a:lnTo>
                              <a:lnTo>
                                <a:pt x="43" y="273"/>
                              </a:lnTo>
                              <a:lnTo>
                                <a:pt x="14" y="464"/>
                              </a:lnTo>
                              <a:lnTo>
                                <a:pt x="0" y="620"/>
                              </a:lnTo>
                              <a:lnTo>
                                <a:pt x="14" y="741"/>
                              </a:lnTo>
                              <a:lnTo>
                                <a:pt x="50" y="838"/>
                              </a:lnTo>
                              <a:lnTo>
                                <a:pt x="179" y="985"/>
                              </a:lnTo>
                              <a:lnTo>
                                <a:pt x="358" y="948"/>
                              </a:lnTo>
                              <a:lnTo>
                                <a:pt x="469" y="919"/>
                              </a:lnTo>
                              <a:lnTo>
                                <a:pt x="480" y="886"/>
                              </a:lnTo>
                              <a:lnTo>
                                <a:pt x="466" y="861"/>
                              </a:lnTo>
                              <a:lnTo>
                                <a:pt x="438" y="830"/>
                              </a:lnTo>
                              <a:lnTo>
                                <a:pt x="407" y="793"/>
                              </a:lnTo>
                              <a:lnTo>
                                <a:pt x="380" y="764"/>
                              </a:lnTo>
                              <a:lnTo>
                                <a:pt x="341" y="724"/>
                              </a:lnTo>
                              <a:lnTo>
                                <a:pt x="316" y="688"/>
                              </a:lnTo>
                              <a:lnTo>
                                <a:pt x="298" y="656"/>
                              </a:lnTo>
                              <a:lnTo>
                                <a:pt x="279" y="608"/>
                              </a:lnTo>
                              <a:lnTo>
                                <a:pt x="273" y="584"/>
                              </a:lnTo>
                              <a:lnTo>
                                <a:pt x="270" y="560"/>
                              </a:lnTo>
                              <a:lnTo>
                                <a:pt x="266" y="535"/>
                              </a:lnTo>
                              <a:lnTo>
                                <a:pt x="267" y="455"/>
                              </a:lnTo>
                              <a:lnTo>
                                <a:pt x="258" y="306"/>
                              </a:lnTo>
                              <a:lnTo>
                                <a:pt x="253" y="159"/>
                              </a:lnTo>
                              <a:lnTo>
                                <a:pt x="223" y="63"/>
                              </a:lnTo>
                              <a:lnTo>
                                <a:pt x="181" y="42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5F5F5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  <p:sp>
                      <p:nvSpPr>
                        <p:cNvPr id="434" name="Freeform 225"/>
                        <p:cNvSpPr/>
                        <p:nvPr/>
                      </p:nvSpPr>
                      <p:spPr bwMode="auto">
                        <a:xfrm>
                          <a:off x="4994" y="2392"/>
                          <a:ext cx="47" cy="101"/>
                        </a:xfrm>
                        <a:custGeom>
                          <a:avLst/>
                          <a:gdLst>
                            <a:gd name="T0" fmla="*/ 2 w 281"/>
                            <a:gd name="T1" fmla="*/ 508 h 508"/>
                            <a:gd name="T2" fmla="*/ 0 w 281"/>
                            <a:gd name="T3" fmla="*/ 458 h 508"/>
                            <a:gd name="T4" fmla="*/ 5 w 281"/>
                            <a:gd name="T5" fmla="*/ 428 h 508"/>
                            <a:gd name="T6" fmla="*/ 11 w 281"/>
                            <a:gd name="T7" fmla="*/ 393 h 508"/>
                            <a:gd name="T8" fmla="*/ 20 w 281"/>
                            <a:gd name="T9" fmla="*/ 371 h 508"/>
                            <a:gd name="T10" fmla="*/ 35 w 281"/>
                            <a:gd name="T11" fmla="*/ 348 h 508"/>
                            <a:gd name="T12" fmla="*/ 54 w 281"/>
                            <a:gd name="T13" fmla="*/ 332 h 508"/>
                            <a:gd name="T14" fmla="*/ 89 w 281"/>
                            <a:gd name="T15" fmla="*/ 315 h 508"/>
                            <a:gd name="T16" fmla="*/ 113 w 281"/>
                            <a:gd name="T17" fmla="*/ 312 h 508"/>
                            <a:gd name="T18" fmla="*/ 137 w 281"/>
                            <a:gd name="T19" fmla="*/ 308 h 508"/>
                            <a:gd name="T20" fmla="*/ 163 w 281"/>
                            <a:gd name="T21" fmla="*/ 312 h 508"/>
                            <a:gd name="T22" fmla="*/ 201 w 281"/>
                            <a:gd name="T23" fmla="*/ 322 h 508"/>
                            <a:gd name="T24" fmla="*/ 202 w 281"/>
                            <a:gd name="T25" fmla="*/ 0 h 508"/>
                            <a:gd name="T26" fmla="*/ 220 w 281"/>
                            <a:gd name="T27" fmla="*/ 286 h 508"/>
                            <a:gd name="T28" fmla="*/ 220 w 281"/>
                            <a:gd name="T29" fmla="*/ 330 h 508"/>
                            <a:gd name="T30" fmla="*/ 224 w 281"/>
                            <a:gd name="T31" fmla="*/ 366 h 508"/>
                            <a:gd name="T32" fmla="*/ 232 w 281"/>
                            <a:gd name="T33" fmla="*/ 395 h 508"/>
                            <a:gd name="T34" fmla="*/ 247 w 281"/>
                            <a:gd name="T35" fmla="*/ 435 h 508"/>
                            <a:gd name="T36" fmla="*/ 271 w 281"/>
                            <a:gd name="T37" fmla="*/ 481 h 508"/>
                            <a:gd name="T38" fmla="*/ 281 w 281"/>
                            <a:gd name="T39" fmla="*/ 502 h 508"/>
                            <a:gd name="T40" fmla="*/ 245 w 281"/>
                            <a:gd name="T41" fmla="*/ 458 h 508"/>
                            <a:gd name="T42" fmla="*/ 224 w 281"/>
                            <a:gd name="T43" fmla="*/ 428 h 508"/>
                            <a:gd name="T44" fmla="*/ 199 w 281"/>
                            <a:gd name="T45" fmla="*/ 393 h 508"/>
                            <a:gd name="T46" fmla="*/ 173 w 281"/>
                            <a:gd name="T47" fmla="*/ 375 h 508"/>
                            <a:gd name="T48" fmla="*/ 149 w 281"/>
                            <a:gd name="T49" fmla="*/ 369 h 508"/>
                            <a:gd name="T50" fmla="*/ 124 w 281"/>
                            <a:gd name="T51" fmla="*/ 366 h 508"/>
                            <a:gd name="T52" fmla="*/ 92 w 281"/>
                            <a:gd name="T53" fmla="*/ 375 h 508"/>
                            <a:gd name="T54" fmla="*/ 66 w 281"/>
                            <a:gd name="T55" fmla="*/ 393 h 508"/>
                            <a:gd name="T56" fmla="*/ 48 w 281"/>
                            <a:gd name="T57" fmla="*/ 419 h 508"/>
                            <a:gd name="T58" fmla="*/ 34 w 281"/>
                            <a:gd name="T59" fmla="*/ 448 h 508"/>
                            <a:gd name="T60" fmla="*/ 18 w 281"/>
                            <a:gd name="T61" fmla="*/ 472 h 508"/>
                            <a:gd name="T62" fmla="*/ 2 w 281"/>
                            <a:gd name="T63" fmla="*/ 508 h 50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  <a:cxn ang="0">
                              <a:pos x="T30" y="T31"/>
                            </a:cxn>
                            <a:cxn ang="0">
                              <a:pos x="T32" y="T33"/>
                            </a:cxn>
                            <a:cxn ang="0">
                              <a:pos x="T34" y="T35"/>
                            </a:cxn>
                            <a:cxn ang="0">
                              <a:pos x="T36" y="T37"/>
                            </a:cxn>
                            <a:cxn ang="0">
                              <a:pos x="T38" y="T39"/>
                            </a:cxn>
                            <a:cxn ang="0">
                              <a:pos x="T40" y="T41"/>
                            </a:cxn>
                            <a:cxn ang="0">
                              <a:pos x="T42" y="T43"/>
                            </a:cxn>
                            <a:cxn ang="0">
                              <a:pos x="T44" y="T45"/>
                            </a:cxn>
                            <a:cxn ang="0">
                              <a:pos x="T46" y="T47"/>
                            </a:cxn>
                            <a:cxn ang="0">
                              <a:pos x="T48" y="T49"/>
                            </a:cxn>
                            <a:cxn ang="0">
                              <a:pos x="T50" y="T51"/>
                            </a:cxn>
                            <a:cxn ang="0">
                              <a:pos x="T52" y="T53"/>
                            </a:cxn>
                            <a:cxn ang="0">
                              <a:pos x="T54" y="T55"/>
                            </a:cxn>
                            <a:cxn ang="0">
                              <a:pos x="T56" y="T57"/>
                            </a:cxn>
                            <a:cxn ang="0">
                              <a:pos x="T58" y="T59"/>
                            </a:cxn>
                            <a:cxn ang="0">
                              <a:pos x="T60" y="T61"/>
                            </a:cxn>
                            <a:cxn ang="0">
                              <a:pos x="T62" y="T63"/>
                            </a:cxn>
                          </a:cxnLst>
                          <a:rect l="0" t="0" r="r" b="b"/>
                          <a:pathLst>
                            <a:path w="281" h="508">
                              <a:moveTo>
                                <a:pt x="2" y="508"/>
                              </a:moveTo>
                              <a:lnTo>
                                <a:pt x="0" y="458"/>
                              </a:lnTo>
                              <a:lnTo>
                                <a:pt x="5" y="428"/>
                              </a:lnTo>
                              <a:lnTo>
                                <a:pt x="11" y="393"/>
                              </a:lnTo>
                              <a:lnTo>
                                <a:pt x="20" y="371"/>
                              </a:lnTo>
                              <a:lnTo>
                                <a:pt x="35" y="348"/>
                              </a:lnTo>
                              <a:lnTo>
                                <a:pt x="54" y="332"/>
                              </a:lnTo>
                              <a:lnTo>
                                <a:pt x="89" y="315"/>
                              </a:lnTo>
                              <a:lnTo>
                                <a:pt x="113" y="312"/>
                              </a:lnTo>
                              <a:lnTo>
                                <a:pt x="137" y="308"/>
                              </a:lnTo>
                              <a:lnTo>
                                <a:pt x="163" y="312"/>
                              </a:lnTo>
                              <a:lnTo>
                                <a:pt x="201" y="322"/>
                              </a:lnTo>
                              <a:lnTo>
                                <a:pt x="202" y="0"/>
                              </a:lnTo>
                              <a:lnTo>
                                <a:pt x="220" y="286"/>
                              </a:lnTo>
                              <a:lnTo>
                                <a:pt x="220" y="330"/>
                              </a:lnTo>
                              <a:lnTo>
                                <a:pt x="224" y="366"/>
                              </a:lnTo>
                              <a:lnTo>
                                <a:pt x="232" y="395"/>
                              </a:lnTo>
                              <a:lnTo>
                                <a:pt x="247" y="435"/>
                              </a:lnTo>
                              <a:lnTo>
                                <a:pt x="271" y="481"/>
                              </a:lnTo>
                              <a:lnTo>
                                <a:pt x="281" y="502"/>
                              </a:lnTo>
                              <a:lnTo>
                                <a:pt x="245" y="458"/>
                              </a:lnTo>
                              <a:lnTo>
                                <a:pt x="224" y="428"/>
                              </a:lnTo>
                              <a:lnTo>
                                <a:pt x="199" y="393"/>
                              </a:lnTo>
                              <a:lnTo>
                                <a:pt x="173" y="375"/>
                              </a:lnTo>
                              <a:lnTo>
                                <a:pt x="149" y="369"/>
                              </a:lnTo>
                              <a:lnTo>
                                <a:pt x="124" y="366"/>
                              </a:lnTo>
                              <a:lnTo>
                                <a:pt x="92" y="375"/>
                              </a:lnTo>
                              <a:lnTo>
                                <a:pt x="66" y="393"/>
                              </a:lnTo>
                              <a:lnTo>
                                <a:pt x="48" y="419"/>
                              </a:lnTo>
                              <a:lnTo>
                                <a:pt x="34" y="448"/>
                              </a:lnTo>
                              <a:lnTo>
                                <a:pt x="18" y="472"/>
                              </a:lnTo>
                              <a:lnTo>
                                <a:pt x="2" y="508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F3F3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  <p:sp>
                      <p:nvSpPr>
                        <p:cNvPr id="435" name="Freeform 226"/>
                        <p:cNvSpPr/>
                        <p:nvPr/>
                      </p:nvSpPr>
                      <p:spPr bwMode="auto">
                        <a:xfrm>
                          <a:off x="5174" y="2348"/>
                          <a:ext cx="29" cy="296"/>
                        </a:xfrm>
                        <a:custGeom>
                          <a:avLst/>
                          <a:gdLst>
                            <a:gd name="T0" fmla="*/ 4 w 174"/>
                            <a:gd name="T1" fmla="*/ 57 h 1482"/>
                            <a:gd name="T2" fmla="*/ 32 w 174"/>
                            <a:gd name="T3" fmla="*/ 15 h 1482"/>
                            <a:gd name="T4" fmla="*/ 70 w 174"/>
                            <a:gd name="T5" fmla="*/ 0 h 1482"/>
                            <a:gd name="T6" fmla="*/ 84 w 174"/>
                            <a:gd name="T7" fmla="*/ 13 h 1482"/>
                            <a:gd name="T8" fmla="*/ 98 w 174"/>
                            <a:gd name="T9" fmla="*/ 32 h 1482"/>
                            <a:gd name="T10" fmla="*/ 107 w 174"/>
                            <a:gd name="T11" fmla="*/ 58 h 1482"/>
                            <a:gd name="T12" fmla="*/ 115 w 174"/>
                            <a:gd name="T13" fmla="*/ 116 h 1482"/>
                            <a:gd name="T14" fmla="*/ 123 w 174"/>
                            <a:gd name="T15" fmla="*/ 235 h 1482"/>
                            <a:gd name="T16" fmla="*/ 138 w 174"/>
                            <a:gd name="T17" fmla="*/ 917 h 1482"/>
                            <a:gd name="T18" fmla="*/ 174 w 174"/>
                            <a:gd name="T19" fmla="*/ 1445 h 1482"/>
                            <a:gd name="T20" fmla="*/ 65 w 174"/>
                            <a:gd name="T21" fmla="*/ 1482 h 1482"/>
                            <a:gd name="T22" fmla="*/ 44 w 174"/>
                            <a:gd name="T23" fmla="*/ 1371 h 1482"/>
                            <a:gd name="T24" fmla="*/ 14 w 174"/>
                            <a:gd name="T25" fmla="*/ 906 h 1482"/>
                            <a:gd name="T26" fmla="*/ 7 w 174"/>
                            <a:gd name="T27" fmla="*/ 283 h 1482"/>
                            <a:gd name="T28" fmla="*/ 0 w 174"/>
                            <a:gd name="T29" fmla="*/ 127 h 1482"/>
                            <a:gd name="T30" fmla="*/ 4 w 174"/>
                            <a:gd name="T31" fmla="*/ 57 h 1482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  <a:cxn ang="0">
                              <a:pos x="T30" y="T31"/>
                            </a:cxn>
                          </a:cxnLst>
                          <a:rect l="0" t="0" r="r" b="b"/>
                          <a:pathLst>
                            <a:path w="174" h="1482">
                              <a:moveTo>
                                <a:pt x="4" y="57"/>
                              </a:moveTo>
                              <a:lnTo>
                                <a:pt x="32" y="15"/>
                              </a:lnTo>
                              <a:lnTo>
                                <a:pt x="70" y="0"/>
                              </a:lnTo>
                              <a:lnTo>
                                <a:pt x="84" y="13"/>
                              </a:lnTo>
                              <a:lnTo>
                                <a:pt x="98" y="32"/>
                              </a:lnTo>
                              <a:lnTo>
                                <a:pt x="107" y="58"/>
                              </a:lnTo>
                              <a:lnTo>
                                <a:pt x="115" y="116"/>
                              </a:lnTo>
                              <a:lnTo>
                                <a:pt x="123" y="235"/>
                              </a:lnTo>
                              <a:lnTo>
                                <a:pt x="138" y="917"/>
                              </a:lnTo>
                              <a:lnTo>
                                <a:pt x="174" y="1445"/>
                              </a:lnTo>
                              <a:lnTo>
                                <a:pt x="65" y="1482"/>
                              </a:lnTo>
                              <a:lnTo>
                                <a:pt x="44" y="1371"/>
                              </a:lnTo>
                              <a:lnTo>
                                <a:pt x="14" y="906"/>
                              </a:lnTo>
                              <a:lnTo>
                                <a:pt x="7" y="283"/>
                              </a:lnTo>
                              <a:lnTo>
                                <a:pt x="0" y="127"/>
                              </a:lnTo>
                              <a:lnTo>
                                <a:pt x="4" y="57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5F5F5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</p:grpSp>
                </p:grpSp>
              </p:grpSp>
              <p:grpSp>
                <p:nvGrpSpPr>
                  <p:cNvPr id="388" name="Group 227"/>
                  <p:cNvGrpSpPr/>
                  <p:nvPr/>
                </p:nvGrpSpPr>
                <p:grpSpPr bwMode="auto">
                  <a:xfrm>
                    <a:off x="5060" y="2206"/>
                    <a:ext cx="84" cy="138"/>
                    <a:chOff x="5060" y="2206"/>
                    <a:chExt cx="84" cy="138"/>
                  </a:xfrm>
                </p:grpSpPr>
                <p:sp>
                  <p:nvSpPr>
                    <p:cNvPr id="389" name="Freeform 228"/>
                    <p:cNvSpPr/>
                    <p:nvPr/>
                  </p:nvSpPr>
                  <p:spPr bwMode="auto">
                    <a:xfrm>
                      <a:off x="5060" y="2207"/>
                      <a:ext cx="80" cy="137"/>
                    </a:xfrm>
                    <a:custGeom>
                      <a:avLst/>
                      <a:gdLst>
                        <a:gd name="T0" fmla="*/ 26 w 481"/>
                        <a:gd name="T1" fmla="*/ 244 h 683"/>
                        <a:gd name="T2" fmla="*/ 6 w 481"/>
                        <a:gd name="T3" fmla="*/ 257 h 683"/>
                        <a:gd name="T4" fmla="*/ 0 w 481"/>
                        <a:gd name="T5" fmla="*/ 272 h 683"/>
                        <a:gd name="T6" fmla="*/ 2 w 481"/>
                        <a:gd name="T7" fmla="*/ 285 h 683"/>
                        <a:gd name="T8" fmla="*/ 7 w 481"/>
                        <a:gd name="T9" fmla="*/ 320 h 683"/>
                        <a:gd name="T10" fmla="*/ 17 w 481"/>
                        <a:gd name="T11" fmla="*/ 352 h 683"/>
                        <a:gd name="T12" fmla="*/ 27 w 481"/>
                        <a:gd name="T13" fmla="*/ 379 h 683"/>
                        <a:gd name="T14" fmla="*/ 27 w 481"/>
                        <a:gd name="T15" fmla="*/ 400 h 683"/>
                        <a:gd name="T16" fmla="*/ 34 w 481"/>
                        <a:gd name="T17" fmla="*/ 416 h 683"/>
                        <a:gd name="T18" fmla="*/ 46 w 481"/>
                        <a:gd name="T19" fmla="*/ 424 h 683"/>
                        <a:gd name="T20" fmla="*/ 50 w 481"/>
                        <a:gd name="T21" fmla="*/ 427 h 683"/>
                        <a:gd name="T22" fmla="*/ 38 w 481"/>
                        <a:gd name="T23" fmla="*/ 494 h 683"/>
                        <a:gd name="T24" fmla="*/ 60 w 481"/>
                        <a:gd name="T25" fmla="*/ 540 h 683"/>
                        <a:gd name="T26" fmla="*/ 85 w 481"/>
                        <a:gd name="T27" fmla="*/ 576 h 683"/>
                        <a:gd name="T28" fmla="*/ 125 w 481"/>
                        <a:gd name="T29" fmla="*/ 614 h 683"/>
                        <a:gd name="T30" fmla="*/ 179 w 481"/>
                        <a:gd name="T31" fmla="*/ 662 h 683"/>
                        <a:gd name="T32" fmla="*/ 236 w 481"/>
                        <a:gd name="T33" fmla="*/ 681 h 683"/>
                        <a:gd name="T34" fmla="*/ 290 w 481"/>
                        <a:gd name="T35" fmla="*/ 683 h 683"/>
                        <a:gd name="T36" fmla="*/ 328 w 481"/>
                        <a:gd name="T37" fmla="*/ 659 h 683"/>
                        <a:gd name="T38" fmla="*/ 362 w 481"/>
                        <a:gd name="T39" fmla="*/ 613 h 683"/>
                        <a:gd name="T40" fmla="*/ 377 w 481"/>
                        <a:gd name="T41" fmla="*/ 576 h 683"/>
                        <a:gd name="T42" fmla="*/ 381 w 481"/>
                        <a:gd name="T43" fmla="*/ 542 h 683"/>
                        <a:gd name="T44" fmla="*/ 403 w 481"/>
                        <a:gd name="T45" fmla="*/ 505 h 683"/>
                        <a:gd name="T46" fmla="*/ 411 w 481"/>
                        <a:gd name="T47" fmla="*/ 489 h 683"/>
                        <a:gd name="T48" fmla="*/ 416 w 481"/>
                        <a:gd name="T49" fmla="*/ 472 h 683"/>
                        <a:gd name="T50" fmla="*/ 428 w 481"/>
                        <a:gd name="T51" fmla="*/ 436 h 683"/>
                        <a:gd name="T52" fmla="*/ 438 w 481"/>
                        <a:gd name="T53" fmla="*/ 398 h 683"/>
                        <a:gd name="T54" fmla="*/ 446 w 481"/>
                        <a:gd name="T55" fmla="*/ 372 h 683"/>
                        <a:gd name="T56" fmla="*/ 456 w 481"/>
                        <a:gd name="T57" fmla="*/ 345 h 683"/>
                        <a:gd name="T58" fmla="*/ 465 w 481"/>
                        <a:gd name="T59" fmla="*/ 309 h 683"/>
                        <a:gd name="T60" fmla="*/ 478 w 481"/>
                        <a:gd name="T61" fmla="*/ 230 h 683"/>
                        <a:gd name="T62" fmla="*/ 481 w 481"/>
                        <a:gd name="T63" fmla="*/ 184 h 683"/>
                        <a:gd name="T64" fmla="*/ 474 w 481"/>
                        <a:gd name="T65" fmla="*/ 144 h 683"/>
                        <a:gd name="T66" fmla="*/ 460 w 481"/>
                        <a:gd name="T67" fmla="*/ 109 h 683"/>
                        <a:gd name="T68" fmla="*/ 437 w 481"/>
                        <a:gd name="T69" fmla="*/ 74 h 683"/>
                        <a:gd name="T70" fmla="*/ 420 w 481"/>
                        <a:gd name="T71" fmla="*/ 58 h 683"/>
                        <a:gd name="T72" fmla="*/ 408 w 481"/>
                        <a:gd name="T73" fmla="*/ 48 h 683"/>
                        <a:gd name="T74" fmla="*/ 376 w 481"/>
                        <a:gd name="T75" fmla="*/ 26 h 683"/>
                        <a:gd name="T76" fmla="*/ 344 w 481"/>
                        <a:gd name="T77" fmla="*/ 11 h 683"/>
                        <a:gd name="T78" fmla="*/ 308 w 481"/>
                        <a:gd name="T79" fmla="*/ 3 h 683"/>
                        <a:gd name="T80" fmla="*/ 279 w 481"/>
                        <a:gd name="T81" fmla="*/ 0 h 683"/>
                        <a:gd name="T82" fmla="*/ 235 w 481"/>
                        <a:gd name="T83" fmla="*/ 1 h 683"/>
                        <a:gd name="T84" fmla="*/ 189 w 481"/>
                        <a:gd name="T85" fmla="*/ 12 h 683"/>
                        <a:gd name="T86" fmla="*/ 155 w 481"/>
                        <a:gd name="T87" fmla="*/ 26 h 683"/>
                        <a:gd name="T88" fmla="*/ 126 w 481"/>
                        <a:gd name="T89" fmla="*/ 45 h 683"/>
                        <a:gd name="T90" fmla="*/ 104 w 481"/>
                        <a:gd name="T91" fmla="*/ 63 h 683"/>
                        <a:gd name="T92" fmla="*/ 85 w 481"/>
                        <a:gd name="T93" fmla="*/ 89 h 683"/>
                        <a:gd name="T94" fmla="*/ 68 w 481"/>
                        <a:gd name="T95" fmla="*/ 116 h 683"/>
                        <a:gd name="T96" fmla="*/ 50 w 481"/>
                        <a:gd name="T97" fmla="*/ 149 h 683"/>
                        <a:gd name="T98" fmla="*/ 42 w 481"/>
                        <a:gd name="T99" fmla="*/ 174 h 683"/>
                        <a:gd name="T100" fmla="*/ 33 w 481"/>
                        <a:gd name="T101" fmla="*/ 207 h 683"/>
                        <a:gd name="T102" fmla="*/ 26 w 481"/>
                        <a:gd name="T103" fmla="*/ 244 h 68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</a:cxnLst>
                      <a:rect l="0" t="0" r="r" b="b"/>
                      <a:pathLst>
                        <a:path w="481" h="683">
                          <a:moveTo>
                            <a:pt x="26" y="244"/>
                          </a:moveTo>
                          <a:lnTo>
                            <a:pt x="6" y="257"/>
                          </a:lnTo>
                          <a:lnTo>
                            <a:pt x="0" y="272"/>
                          </a:lnTo>
                          <a:lnTo>
                            <a:pt x="2" y="285"/>
                          </a:lnTo>
                          <a:lnTo>
                            <a:pt x="7" y="320"/>
                          </a:lnTo>
                          <a:lnTo>
                            <a:pt x="17" y="352"/>
                          </a:lnTo>
                          <a:lnTo>
                            <a:pt x="27" y="379"/>
                          </a:lnTo>
                          <a:lnTo>
                            <a:pt x="27" y="400"/>
                          </a:lnTo>
                          <a:lnTo>
                            <a:pt x="34" y="416"/>
                          </a:lnTo>
                          <a:lnTo>
                            <a:pt x="46" y="424"/>
                          </a:lnTo>
                          <a:lnTo>
                            <a:pt x="50" y="427"/>
                          </a:lnTo>
                          <a:lnTo>
                            <a:pt x="38" y="494"/>
                          </a:lnTo>
                          <a:lnTo>
                            <a:pt x="60" y="540"/>
                          </a:lnTo>
                          <a:lnTo>
                            <a:pt x="85" y="576"/>
                          </a:lnTo>
                          <a:lnTo>
                            <a:pt x="125" y="614"/>
                          </a:lnTo>
                          <a:lnTo>
                            <a:pt x="179" y="662"/>
                          </a:lnTo>
                          <a:lnTo>
                            <a:pt x="236" y="681"/>
                          </a:lnTo>
                          <a:lnTo>
                            <a:pt x="290" y="683"/>
                          </a:lnTo>
                          <a:lnTo>
                            <a:pt x="328" y="659"/>
                          </a:lnTo>
                          <a:lnTo>
                            <a:pt x="362" y="613"/>
                          </a:lnTo>
                          <a:lnTo>
                            <a:pt x="377" y="576"/>
                          </a:lnTo>
                          <a:lnTo>
                            <a:pt x="381" y="542"/>
                          </a:lnTo>
                          <a:lnTo>
                            <a:pt x="403" y="505"/>
                          </a:lnTo>
                          <a:lnTo>
                            <a:pt x="411" y="489"/>
                          </a:lnTo>
                          <a:lnTo>
                            <a:pt x="416" y="472"/>
                          </a:lnTo>
                          <a:lnTo>
                            <a:pt x="428" y="436"/>
                          </a:lnTo>
                          <a:lnTo>
                            <a:pt x="438" y="398"/>
                          </a:lnTo>
                          <a:lnTo>
                            <a:pt x="446" y="372"/>
                          </a:lnTo>
                          <a:lnTo>
                            <a:pt x="456" y="345"/>
                          </a:lnTo>
                          <a:lnTo>
                            <a:pt x="465" y="309"/>
                          </a:lnTo>
                          <a:lnTo>
                            <a:pt x="478" y="230"/>
                          </a:lnTo>
                          <a:lnTo>
                            <a:pt x="481" y="184"/>
                          </a:lnTo>
                          <a:lnTo>
                            <a:pt x="474" y="144"/>
                          </a:lnTo>
                          <a:lnTo>
                            <a:pt x="460" y="109"/>
                          </a:lnTo>
                          <a:lnTo>
                            <a:pt x="437" y="74"/>
                          </a:lnTo>
                          <a:lnTo>
                            <a:pt x="420" y="58"/>
                          </a:lnTo>
                          <a:lnTo>
                            <a:pt x="408" y="48"/>
                          </a:lnTo>
                          <a:lnTo>
                            <a:pt x="376" y="26"/>
                          </a:lnTo>
                          <a:lnTo>
                            <a:pt x="344" y="11"/>
                          </a:lnTo>
                          <a:lnTo>
                            <a:pt x="308" y="3"/>
                          </a:lnTo>
                          <a:lnTo>
                            <a:pt x="279" y="0"/>
                          </a:lnTo>
                          <a:lnTo>
                            <a:pt x="235" y="1"/>
                          </a:lnTo>
                          <a:lnTo>
                            <a:pt x="189" y="12"/>
                          </a:lnTo>
                          <a:lnTo>
                            <a:pt x="155" y="26"/>
                          </a:lnTo>
                          <a:lnTo>
                            <a:pt x="126" y="45"/>
                          </a:lnTo>
                          <a:lnTo>
                            <a:pt x="104" y="63"/>
                          </a:lnTo>
                          <a:lnTo>
                            <a:pt x="85" y="89"/>
                          </a:lnTo>
                          <a:lnTo>
                            <a:pt x="68" y="116"/>
                          </a:lnTo>
                          <a:lnTo>
                            <a:pt x="50" y="149"/>
                          </a:lnTo>
                          <a:lnTo>
                            <a:pt x="42" y="174"/>
                          </a:lnTo>
                          <a:lnTo>
                            <a:pt x="33" y="207"/>
                          </a:lnTo>
                          <a:lnTo>
                            <a:pt x="26" y="244"/>
                          </a:lnTo>
                          <a:close/>
                        </a:path>
                      </a:pathLst>
                    </a:custGeom>
                    <a:solidFill>
                      <a:srgbClr val="FF9F7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90" name="Freeform 229"/>
                    <p:cNvSpPr/>
                    <p:nvPr/>
                  </p:nvSpPr>
                  <p:spPr bwMode="auto">
                    <a:xfrm>
                      <a:off x="5114" y="2299"/>
                      <a:ext cx="5" cy="4"/>
                    </a:xfrm>
                    <a:custGeom>
                      <a:avLst/>
                      <a:gdLst>
                        <a:gd name="T0" fmla="*/ 1 w 32"/>
                        <a:gd name="T1" fmla="*/ 20 h 20"/>
                        <a:gd name="T2" fmla="*/ 20 w 32"/>
                        <a:gd name="T3" fmla="*/ 8 h 20"/>
                        <a:gd name="T4" fmla="*/ 32 w 32"/>
                        <a:gd name="T5" fmla="*/ 0 h 20"/>
                        <a:gd name="T6" fmla="*/ 15 w 32"/>
                        <a:gd name="T7" fmla="*/ 1 h 20"/>
                        <a:gd name="T8" fmla="*/ 0 w 32"/>
                        <a:gd name="T9" fmla="*/ 4 h 20"/>
                        <a:gd name="T10" fmla="*/ 1 w 32"/>
                        <a:gd name="T11" fmla="*/ 20 h 2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32" h="20">
                          <a:moveTo>
                            <a:pt x="1" y="20"/>
                          </a:moveTo>
                          <a:lnTo>
                            <a:pt x="20" y="8"/>
                          </a:lnTo>
                          <a:lnTo>
                            <a:pt x="32" y="0"/>
                          </a:lnTo>
                          <a:lnTo>
                            <a:pt x="15" y="1"/>
                          </a:lnTo>
                          <a:lnTo>
                            <a:pt x="0" y="4"/>
                          </a:lnTo>
                          <a:lnTo>
                            <a:pt x="1" y="20"/>
                          </a:lnTo>
                          <a:close/>
                        </a:path>
                      </a:pathLst>
                    </a:custGeom>
                    <a:solidFill>
                      <a:srgbClr val="5F3F1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91" name="Freeform 230"/>
                    <p:cNvSpPr/>
                    <p:nvPr/>
                  </p:nvSpPr>
                  <p:spPr bwMode="auto">
                    <a:xfrm>
                      <a:off x="5102" y="2303"/>
                      <a:ext cx="8" cy="4"/>
                    </a:xfrm>
                    <a:custGeom>
                      <a:avLst/>
                      <a:gdLst>
                        <a:gd name="T0" fmla="*/ 0 w 43"/>
                        <a:gd name="T1" fmla="*/ 0 h 21"/>
                        <a:gd name="T2" fmla="*/ 21 w 43"/>
                        <a:gd name="T3" fmla="*/ 14 h 21"/>
                        <a:gd name="T4" fmla="*/ 29 w 43"/>
                        <a:gd name="T5" fmla="*/ 21 h 21"/>
                        <a:gd name="T6" fmla="*/ 39 w 43"/>
                        <a:gd name="T7" fmla="*/ 18 h 21"/>
                        <a:gd name="T8" fmla="*/ 43 w 43"/>
                        <a:gd name="T9" fmla="*/ 7 h 21"/>
                        <a:gd name="T10" fmla="*/ 0 w 43"/>
                        <a:gd name="T11" fmla="*/ 0 h 2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43" h="21">
                          <a:moveTo>
                            <a:pt x="0" y="0"/>
                          </a:moveTo>
                          <a:lnTo>
                            <a:pt x="21" y="14"/>
                          </a:lnTo>
                          <a:lnTo>
                            <a:pt x="29" y="21"/>
                          </a:lnTo>
                          <a:lnTo>
                            <a:pt x="39" y="18"/>
                          </a:lnTo>
                          <a:lnTo>
                            <a:pt x="43" y="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F7F3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92" name="Freeform 231"/>
                    <p:cNvSpPr/>
                    <p:nvPr/>
                  </p:nvSpPr>
                  <p:spPr bwMode="auto">
                    <a:xfrm>
                      <a:off x="5095" y="2297"/>
                      <a:ext cx="20" cy="8"/>
                    </a:xfrm>
                    <a:custGeom>
                      <a:avLst/>
                      <a:gdLst>
                        <a:gd name="T0" fmla="*/ 0 w 122"/>
                        <a:gd name="T1" fmla="*/ 3 h 39"/>
                        <a:gd name="T2" fmla="*/ 58 w 122"/>
                        <a:gd name="T3" fmla="*/ 0 h 39"/>
                        <a:gd name="T4" fmla="*/ 79 w 122"/>
                        <a:gd name="T5" fmla="*/ 2 h 39"/>
                        <a:gd name="T6" fmla="*/ 106 w 122"/>
                        <a:gd name="T7" fmla="*/ 11 h 39"/>
                        <a:gd name="T8" fmla="*/ 122 w 122"/>
                        <a:gd name="T9" fmla="*/ 12 h 39"/>
                        <a:gd name="T10" fmla="*/ 121 w 122"/>
                        <a:gd name="T11" fmla="*/ 31 h 39"/>
                        <a:gd name="T12" fmla="*/ 100 w 122"/>
                        <a:gd name="T13" fmla="*/ 36 h 39"/>
                        <a:gd name="T14" fmla="*/ 86 w 122"/>
                        <a:gd name="T15" fmla="*/ 39 h 39"/>
                        <a:gd name="T16" fmla="*/ 70 w 122"/>
                        <a:gd name="T17" fmla="*/ 38 h 39"/>
                        <a:gd name="T18" fmla="*/ 50 w 122"/>
                        <a:gd name="T19" fmla="*/ 34 h 39"/>
                        <a:gd name="T20" fmla="*/ 39 w 122"/>
                        <a:gd name="T21" fmla="*/ 31 h 39"/>
                        <a:gd name="T22" fmla="*/ 21 w 122"/>
                        <a:gd name="T23" fmla="*/ 23 h 39"/>
                        <a:gd name="T24" fmla="*/ 7 w 122"/>
                        <a:gd name="T25" fmla="*/ 17 h 39"/>
                        <a:gd name="T26" fmla="*/ 0 w 122"/>
                        <a:gd name="T27" fmla="*/ 3 h 3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</a:cxnLst>
                      <a:rect l="0" t="0" r="r" b="b"/>
                      <a:pathLst>
                        <a:path w="122" h="39">
                          <a:moveTo>
                            <a:pt x="0" y="3"/>
                          </a:moveTo>
                          <a:lnTo>
                            <a:pt x="58" y="0"/>
                          </a:lnTo>
                          <a:lnTo>
                            <a:pt x="79" y="2"/>
                          </a:lnTo>
                          <a:lnTo>
                            <a:pt x="106" y="11"/>
                          </a:lnTo>
                          <a:lnTo>
                            <a:pt x="122" y="12"/>
                          </a:lnTo>
                          <a:lnTo>
                            <a:pt x="121" y="31"/>
                          </a:lnTo>
                          <a:lnTo>
                            <a:pt x="100" y="36"/>
                          </a:lnTo>
                          <a:lnTo>
                            <a:pt x="86" y="39"/>
                          </a:lnTo>
                          <a:lnTo>
                            <a:pt x="70" y="38"/>
                          </a:lnTo>
                          <a:lnTo>
                            <a:pt x="50" y="34"/>
                          </a:lnTo>
                          <a:lnTo>
                            <a:pt x="39" y="31"/>
                          </a:lnTo>
                          <a:lnTo>
                            <a:pt x="21" y="23"/>
                          </a:lnTo>
                          <a:lnTo>
                            <a:pt x="7" y="17"/>
                          </a:lnTo>
                          <a:lnTo>
                            <a:pt x="0" y="3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93" name="Freeform 232"/>
                    <p:cNvSpPr/>
                    <p:nvPr/>
                  </p:nvSpPr>
                  <p:spPr bwMode="auto">
                    <a:xfrm>
                      <a:off x="5091" y="2279"/>
                      <a:ext cx="29" cy="22"/>
                    </a:xfrm>
                    <a:custGeom>
                      <a:avLst/>
                      <a:gdLst>
                        <a:gd name="T0" fmla="*/ 65 w 171"/>
                        <a:gd name="T1" fmla="*/ 0 h 112"/>
                        <a:gd name="T2" fmla="*/ 48 w 171"/>
                        <a:gd name="T3" fmla="*/ 12 h 112"/>
                        <a:gd name="T4" fmla="*/ 34 w 171"/>
                        <a:gd name="T5" fmla="*/ 27 h 112"/>
                        <a:gd name="T6" fmla="*/ 21 w 171"/>
                        <a:gd name="T7" fmla="*/ 43 h 112"/>
                        <a:gd name="T8" fmla="*/ 11 w 171"/>
                        <a:gd name="T9" fmla="*/ 57 h 112"/>
                        <a:gd name="T10" fmla="*/ 4 w 171"/>
                        <a:gd name="T11" fmla="*/ 73 h 112"/>
                        <a:gd name="T12" fmla="*/ 2 w 171"/>
                        <a:gd name="T13" fmla="*/ 93 h 112"/>
                        <a:gd name="T14" fmla="*/ 0 w 171"/>
                        <a:gd name="T15" fmla="*/ 103 h 112"/>
                        <a:gd name="T16" fmla="*/ 23 w 171"/>
                        <a:gd name="T17" fmla="*/ 103 h 112"/>
                        <a:gd name="T18" fmla="*/ 45 w 171"/>
                        <a:gd name="T19" fmla="*/ 105 h 112"/>
                        <a:gd name="T20" fmla="*/ 66 w 171"/>
                        <a:gd name="T21" fmla="*/ 104 h 112"/>
                        <a:gd name="T22" fmla="*/ 88 w 171"/>
                        <a:gd name="T23" fmla="*/ 104 h 112"/>
                        <a:gd name="T24" fmla="*/ 98 w 171"/>
                        <a:gd name="T25" fmla="*/ 104 h 112"/>
                        <a:gd name="T26" fmla="*/ 109 w 171"/>
                        <a:gd name="T27" fmla="*/ 106 h 112"/>
                        <a:gd name="T28" fmla="*/ 134 w 171"/>
                        <a:gd name="T29" fmla="*/ 111 h 112"/>
                        <a:gd name="T30" fmla="*/ 149 w 171"/>
                        <a:gd name="T31" fmla="*/ 112 h 112"/>
                        <a:gd name="T32" fmla="*/ 171 w 171"/>
                        <a:gd name="T33" fmla="*/ 106 h 112"/>
                        <a:gd name="T34" fmla="*/ 161 w 171"/>
                        <a:gd name="T35" fmla="*/ 100 h 112"/>
                        <a:gd name="T36" fmla="*/ 146 w 171"/>
                        <a:gd name="T37" fmla="*/ 96 h 112"/>
                        <a:gd name="T38" fmla="*/ 129 w 171"/>
                        <a:gd name="T39" fmla="*/ 93 h 112"/>
                        <a:gd name="T40" fmla="*/ 119 w 171"/>
                        <a:gd name="T41" fmla="*/ 91 h 112"/>
                        <a:gd name="T42" fmla="*/ 109 w 171"/>
                        <a:gd name="T43" fmla="*/ 95 h 112"/>
                        <a:gd name="T44" fmla="*/ 86 w 171"/>
                        <a:gd name="T45" fmla="*/ 85 h 112"/>
                        <a:gd name="T46" fmla="*/ 75 w 171"/>
                        <a:gd name="T47" fmla="*/ 85 h 112"/>
                        <a:gd name="T48" fmla="*/ 59 w 171"/>
                        <a:gd name="T49" fmla="*/ 89 h 112"/>
                        <a:gd name="T50" fmla="*/ 26 w 171"/>
                        <a:gd name="T51" fmla="*/ 94 h 112"/>
                        <a:gd name="T52" fmla="*/ 28 w 171"/>
                        <a:gd name="T53" fmla="*/ 85 h 112"/>
                        <a:gd name="T54" fmla="*/ 33 w 171"/>
                        <a:gd name="T55" fmla="*/ 77 h 112"/>
                        <a:gd name="T56" fmla="*/ 40 w 171"/>
                        <a:gd name="T57" fmla="*/ 66 h 112"/>
                        <a:gd name="T58" fmla="*/ 52 w 171"/>
                        <a:gd name="T59" fmla="*/ 66 h 112"/>
                        <a:gd name="T60" fmla="*/ 66 w 171"/>
                        <a:gd name="T61" fmla="*/ 63 h 112"/>
                        <a:gd name="T62" fmla="*/ 84 w 171"/>
                        <a:gd name="T63" fmla="*/ 59 h 112"/>
                        <a:gd name="T64" fmla="*/ 95 w 171"/>
                        <a:gd name="T65" fmla="*/ 56 h 112"/>
                        <a:gd name="T66" fmla="*/ 112 w 171"/>
                        <a:gd name="T67" fmla="*/ 48 h 112"/>
                        <a:gd name="T68" fmla="*/ 89 w 171"/>
                        <a:gd name="T69" fmla="*/ 32 h 112"/>
                        <a:gd name="T70" fmla="*/ 65 w 171"/>
                        <a:gd name="T71" fmla="*/ 0 h 11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</a:cxnLst>
                      <a:rect l="0" t="0" r="r" b="b"/>
                      <a:pathLst>
                        <a:path w="171" h="112">
                          <a:moveTo>
                            <a:pt x="65" y="0"/>
                          </a:moveTo>
                          <a:lnTo>
                            <a:pt x="48" y="12"/>
                          </a:lnTo>
                          <a:lnTo>
                            <a:pt x="34" y="27"/>
                          </a:lnTo>
                          <a:lnTo>
                            <a:pt x="21" y="43"/>
                          </a:lnTo>
                          <a:lnTo>
                            <a:pt x="11" y="57"/>
                          </a:lnTo>
                          <a:lnTo>
                            <a:pt x="4" y="73"/>
                          </a:lnTo>
                          <a:lnTo>
                            <a:pt x="2" y="93"/>
                          </a:lnTo>
                          <a:lnTo>
                            <a:pt x="0" y="103"/>
                          </a:lnTo>
                          <a:lnTo>
                            <a:pt x="23" y="103"/>
                          </a:lnTo>
                          <a:lnTo>
                            <a:pt x="45" y="105"/>
                          </a:lnTo>
                          <a:lnTo>
                            <a:pt x="66" y="104"/>
                          </a:lnTo>
                          <a:lnTo>
                            <a:pt x="88" y="104"/>
                          </a:lnTo>
                          <a:lnTo>
                            <a:pt x="98" y="104"/>
                          </a:lnTo>
                          <a:lnTo>
                            <a:pt x="109" y="106"/>
                          </a:lnTo>
                          <a:lnTo>
                            <a:pt x="134" y="111"/>
                          </a:lnTo>
                          <a:lnTo>
                            <a:pt x="149" y="112"/>
                          </a:lnTo>
                          <a:lnTo>
                            <a:pt x="171" y="106"/>
                          </a:lnTo>
                          <a:lnTo>
                            <a:pt x="161" y="100"/>
                          </a:lnTo>
                          <a:lnTo>
                            <a:pt x="146" y="96"/>
                          </a:lnTo>
                          <a:lnTo>
                            <a:pt x="129" y="93"/>
                          </a:lnTo>
                          <a:lnTo>
                            <a:pt x="119" y="91"/>
                          </a:lnTo>
                          <a:lnTo>
                            <a:pt x="109" y="95"/>
                          </a:lnTo>
                          <a:lnTo>
                            <a:pt x="86" y="85"/>
                          </a:lnTo>
                          <a:lnTo>
                            <a:pt x="75" y="85"/>
                          </a:lnTo>
                          <a:lnTo>
                            <a:pt x="59" y="89"/>
                          </a:lnTo>
                          <a:lnTo>
                            <a:pt x="26" y="94"/>
                          </a:lnTo>
                          <a:lnTo>
                            <a:pt x="28" y="85"/>
                          </a:lnTo>
                          <a:lnTo>
                            <a:pt x="33" y="77"/>
                          </a:lnTo>
                          <a:lnTo>
                            <a:pt x="40" y="66"/>
                          </a:lnTo>
                          <a:lnTo>
                            <a:pt x="52" y="66"/>
                          </a:lnTo>
                          <a:lnTo>
                            <a:pt x="66" y="63"/>
                          </a:lnTo>
                          <a:lnTo>
                            <a:pt x="84" y="59"/>
                          </a:lnTo>
                          <a:lnTo>
                            <a:pt x="95" y="56"/>
                          </a:lnTo>
                          <a:lnTo>
                            <a:pt x="112" y="48"/>
                          </a:lnTo>
                          <a:lnTo>
                            <a:pt x="89" y="32"/>
                          </a:lnTo>
                          <a:lnTo>
                            <a:pt x="65" y="0"/>
                          </a:lnTo>
                          <a:close/>
                        </a:path>
                      </a:pathLst>
                    </a:custGeom>
                    <a:solidFill>
                      <a:srgbClr val="FF7F3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94" name="Freeform 233"/>
                    <p:cNvSpPr/>
                    <p:nvPr/>
                  </p:nvSpPr>
                  <p:spPr bwMode="auto">
                    <a:xfrm>
                      <a:off x="5089" y="2254"/>
                      <a:ext cx="19" cy="21"/>
                    </a:xfrm>
                    <a:custGeom>
                      <a:avLst/>
                      <a:gdLst>
                        <a:gd name="T0" fmla="*/ 113 w 113"/>
                        <a:gd name="T1" fmla="*/ 43 h 103"/>
                        <a:gd name="T2" fmla="*/ 113 w 113"/>
                        <a:gd name="T3" fmla="*/ 69 h 103"/>
                        <a:gd name="T4" fmla="*/ 80 w 113"/>
                        <a:gd name="T5" fmla="*/ 103 h 103"/>
                        <a:gd name="T6" fmla="*/ 83 w 113"/>
                        <a:gd name="T7" fmla="*/ 75 h 103"/>
                        <a:gd name="T8" fmla="*/ 83 w 113"/>
                        <a:gd name="T9" fmla="*/ 60 h 103"/>
                        <a:gd name="T10" fmla="*/ 80 w 113"/>
                        <a:gd name="T11" fmla="*/ 48 h 103"/>
                        <a:gd name="T12" fmla="*/ 70 w 113"/>
                        <a:gd name="T13" fmla="*/ 40 h 103"/>
                        <a:gd name="T14" fmla="*/ 55 w 113"/>
                        <a:gd name="T15" fmla="*/ 32 h 103"/>
                        <a:gd name="T16" fmla="*/ 40 w 113"/>
                        <a:gd name="T17" fmla="*/ 24 h 103"/>
                        <a:gd name="T18" fmla="*/ 27 w 113"/>
                        <a:gd name="T19" fmla="*/ 23 h 103"/>
                        <a:gd name="T20" fmla="*/ 10 w 113"/>
                        <a:gd name="T21" fmla="*/ 27 h 103"/>
                        <a:gd name="T22" fmla="*/ 0 w 113"/>
                        <a:gd name="T23" fmla="*/ 31 h 103"/>
                        <a:gd name="T24" fmla="*/ 14 w 113"/>
                        <a:gd name="T25" fmla="*/ 2 h 103"/>
                        <a:gd name="T26" fmla="*/ 21 w 113"/>
                        <a:gd name="T27" fmla="*/ 0 h 103"/>
                        <a:gd name="T28" fmla="*/ 36 w 113"/>
                        <a:gd name="T29" fmla="*/ 0 h 103"/>
                        <a:gd name="T30" fmla="*/ 58 w 113"/>
                        <a:gd name="T31" fmla="*/ 3 h 103"/>
                        <a:gd name="T32" fmla="*/ 77 w 113"/>
                        <a:gd name="T33" fmla="*/ 8 h 103"/>
                        <a:gd name="T34" fmla="*/ 95 w 113"/>
                        <a:gd name="T35" fmla="*/ 16 h 103"/>
                        <a:gd name="T36" fmla="*/ 107 w 113"/>
                        <a:gd name="T37" fmla="*/ 28 h 103"/>
                        <a:gd name="T38" fmla="*/ 113 w 113"/>
                        <a:gd name="T39" fmla="*/ 43 h 10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13" h="103">
                          <a:moveTo>
                            <a:pt x="113" y="43"/>
                          </a:moveTo>
                          <a:lnTo>
                            <a:pt x="113" y="69"/>
                          </a:lnTo>
                          <a:lnTo>
                            <a:pt x="80" y="103"/>
                          </a:lnTo>
                          <a:lnTo>
                            <a:pt x="83" y="75"/>
                          </a:lnTo>
                          <a:lnTo>
                            <a:pt x="83" y="60"/>
                          </a:lnTo>
                          <a:lnTo>
                            <a:pt x="80" y="48"/>
                          </a:lnTo>
                          <a:lnTo>
                            <a:pt x="70" y="40"/>
                          </a:lnTo>
                          <a:lnTo>
                            <a:pt x="55" y="32"/>
                          </a:lnTo>
                          <a:lnTo>
                            <a:pt x="40" y="24"/>
                          </a:lnTo>
                          <a:lnTo>
                            <a:pt x="27" y="23"/>
                          </a:lnTo>
                          <a:lnTo>
                            <a:pt x="10" y="27"/>
                          </a:lnTo>
                          <a:lnTo>
                            <a:pt x="0" y="31"/>
                          </a:lnTo>
                          <a:lnTo>
                            <a:pt x="14" y="2"/>
                          </a:lnTo>
                          <a:lnTo>
                            <a:pt x="21" y="0"/>
                          </a:lnTo>
                          <a:lnTo>
                            <a:pt x="36" y="0"/>
                          </a:lnTo>
                          <a:lnTo>
                            <a:pt x="58" y="3"/>
                          </a:lnTo>
                          <a:lnTo>
                            <a:pt x="77" y="8"/>
                          </a:lnTo>
                          <a:lnTo>
                            <a:pt x="95" y="16"/>
                          </a:lnTo>
                          <a:lnTo>
                            <a:pt x="107" y="28"/>
                          </a:lnTo>
                          <a:lnTo>
                            <a:pt x="113" y="43"/>
                          </a:lnTo>
                          <a:close/>
                        </a:path>
                      </a:pathLst>
                    </a:custGeom>
                    <a:solidFill>
                      <a:srgbClr val="BF7F3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95" name="Freeform 234"/>
                    <p:cNvSpPr/>
                    <p:nvPr/>
                  </p:nvSpPr>
                  <p:spPr bwMode="auto">
                    <a:xfrm>
                      <a:off x="5060" y="2206"/>
                      <a:ext cx="80" cy="137"/>
                    </a:xfrm>
                    <a:custGeom>
                      <a:avLst/>
                      <a:gdLst>
                        <a:gd name="T0" fmla="*/ 0 w 481"/>
                        <a:gd name="T1" fmla="*/ 272 h 684"/>
                        <a:gd name="T2" fmla="*/ 17 w 481"/>
                        <a:gd name="T3" fmla="*/ 352 h 684"/>
                        <a:gd name="T4" fmla="*/ 34 w 481"/>
                        <a:gd name="T5" fmla="*/ 417 h 684"/>
                        <a:gd name="T6" fmla="*/ 38 w 481"/>
                        <a:gd name="T7" fmla="*/ 495 h 684"/>
                        <a:gd name="T8" fmla="*/ 168 w 481"/>
                        <a:gd name="T9" fmla="*/ 415 h 684"/>
                        <a:gd name="T10" fmla="*/ 213 w 481"/>
                        <a:gd name="T11" fmla="*/ 392 h 684"/>
                        <a:gd name="T12" fmla="*/ 236 w 481"/>
                        <a:gd name="T13" fmla="*/ 366 h 684"/>
                        <a:gd name="T14" fmla="*/ 198 w 481"/>
                        <a:gd name="T15" fmla="*/ 376 h 684"/>
                        <a:gd name="T16" fmla="*/ 164 w 481"/>
                        <a:gd name="T17" fmla="*/ 357 h 684"/>
                        <a:gd name="T18" fmla="*/ 187 w 481"/>
                        <a:gd name="T19" fmla="*/ 329 h 684"/>
                        <a:gd name="T20" fmla="*/ 240 w 481"/>
                        <a:gd name="T21" fmla="*/ 347 h 684"/>
                        <a:gd name="T22" fmla="*/ 300 w 481"/>
                        <a:gd name="T23" fmla="*/ 234 h 684"/>
                        <a:gd name="T24" fmla="*/ 259 w 481"/>
                        <a:gd name="T25" fmla="*/ 185 h 684"/>
                        <a:gd name="T26" fmla="*/ 309 w 481"/>
                        <a:gd name="T27" fmla="*/ 103 h 684"/>
                        <a:gd name="T28" fmla="*/ 381 w 481"/>
                        <a:gd name="T29" fmla="*/ 122 h 684"/>
                        <a:gd name="T30" fmla="*/ 418 w 481"/>
                        <a:gd name="T31" fmla="*/ 177 h 684"/>
                        <a:gd name="T32" fmla="*/ 411 w 481"/>
                        <a:gd name="T33" fmla="*/ 225 h 684"/>
                        <a:gd name="T34" fmla="*/ 413 w 481"/>
                        <a:gd name="T35" fmla="*/ 262 h 684"/>
                        <a:gd name="T36" fmla="*/ 395 w 481"/>
                        <a:gd name="T37" fmla="*/ 346 h 684"/>
                        <a:gd name="T38" fmla="*/ 423 w 481"/>
                        <a:gd name="T39" fmla="*/ 372 h 684"/>
                        <a:gd name="T40" fmla="*/ 413 w 481"/>
                        <a:gd name="T41" fmla="*/ 410 h 684"/>
                        <a:gd name="T42" fmla="*/ 373 w 481"/>
                        <a:gd name="T43" fmla="*/ 396 h 684"/>
                        <a:gd name="T44" fmla="*/ 352 w 481"/>
                        <a:gd name="T45" fmla="*/ 403 h 684"/>
                        <a:gd name="T46" fmla="*/ 385 w 481"/>
                        <a:gd name="T47" fmla="*/ 429 h 684"/>
                        <a:gd name="T48" fmla="*/ 400 w 481"/>
                        <a:gd name="T49" fmla="*/ 460 h 684"/>
                        <a:gd name="T50" fmla="*/ 386 w 481"/>
                        <a:gd name="T51" fmla="*/ 498 h 684"/>
                        <a:gd name="T52" fmla="*/ 357 w 481"/>
                        <a:gd name="T53" fmla="*/ 533 h 684"/>
                        <a:gd name="T54" fmla="*/ 318 w 481"/>
                        <a:gd name="T55" fmla="*/ 555 h 684"/>
                        <a:gd name="T56" fmla="*/ 279 w 481"/>
                        <a:gd name="T57" fmla="*/ 565 h 684"/>
                        <a:gd name="T58" fmla="*/ 245 w 481"/>
                        <a:gd name="T59" fmla="*/ 549 h 684"/>
                        <a:gd name="T60" fmla="*/ 208 w 481"/>
                        <a:gd name="T61" fmla="*/ 503 h 684"/>
                        <a:gd name="T62" fmla="*/ 190 w 481"/>
                        <a:gd name="T63" fmla="*/ 472 h 684"/>
                        <a:gd name="T64" fmla="*/ 171 w 481"/>
                        <a:gd name="T65" fmla="*/ 488 h 684"/>
                        <a:gd name="T66" fmla="*/ 49 w 481"/>
                        <a:gd name="T67" fmla="*/ 524 h 684"/>
                        <a:gd name="T68" fmla="*/ 122 w 481"/>
                        <a:gd name="T69" fmla="*/ 623 h 684"/>
                        <a:gd name="T70" fmla="*/ 290 w 481"/>
                        <a:gd name="T71" fmla="*/ 684 h 684"/>
                        <a:gd name="T72" fmla="*/ 377 w 481"/>
                        <a:gd name="T73" fmla="*/ 576 h 684"/>
                        <a:gd name="T74" fmla="*/ 403 w 481"/>
                        <a:gd name="T75" fmla="*/ 506 h 684"/>
                        <a:gd name="T76" fmla="*/ 428 w 481"/>
                        <a:gd name="T77" fmla="*/ 436 h 684"/>
                        <a:gd name="T78" fmla="*/ 456 w 481"/>
                        <a:gd name="T79" fmla="*/ 345 h 684"/>
                        <a:gd name="T80" fmla="*/ 481 w 481"/>
                        <a:gd name="T81" fmla="*/ 184 h 684"/>
                        <a:gd name="T82" fmla="*/ 437 w 481"/>
                        <a:gd name="T83" fmla="*/ 74 h 684"/>
                        <a:gd name="T84" fmla="*/ 376 w 481"/>
                        <a:gd name="T85" fmla="*/ 26 h 684"/>
                        <a:gd name="T86" fmla="*/ 279 w 481"/>
                        <a:gd name="T87" fmla="*/ 0 h 684"/>
                        <a:gd name="T88" fmla="*/ 155 w 481"/>
                        <a:gd name="T89" fmla="*/ 26 h 684"/>
                        <a:gd name="T90" fmla="*/ 85 w 481"/>
                        <a:gd name="T91" fmla="*/ 89 h 684"/>
                        <a:gd name="T92" fmla="*/ 42 w 481"/>
                        <a:gd name="T93" fmla="*/ 174 h 68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</a:cxnLst>
                      <a:rect l="0" t="0" r="r" b="b"/>
                      <a:pathLst>
                        <a:path w="481" h="684">
                          <a:moveTo>
                            <a:pt x="26" y="245"/>
                          </a:moveTo>
                          <a:lnTo>
                            <a:pt x="6" y="257"/>
                          </a:lnTo>
                          <a:lnTo>
                            <a:pt x="0" y="272"/>
                          </a:lnTo>
                          <a:lnTo>
                            <a:pt x="2" y="286"/>
                          </a:lnTo>
                          <a:lnTo>
                            <a:pt x="7" y="320"/>
                          </a:lnTo>
                          <a:lnTo>
                            <a:pt x="17" y="352"/>
                          </a:lnTo>
                          <a:lnTo>
                            <a:pt x="27" y="380"/>
                          </a:lnTo>
                          <a:lnTo>
                            <a:pt x="27" y="401"/>
                          </a:lnTo>
                          <a:lnTo>
                            <a:pt x="34" y="417"/>
                          </a:lnTo>
                          <a:lnTo>
                            <a:pt x="46" y="424"/>
                          </a:lnTo>
                          <a:lnTo>
                            <a:pt x="50" y="428"/>
                          </a:lnTo>
                          <a:lnTo>
                            <a:pt x="38" y="495"/>
                          </a:lnTo>
                          <a:lnTo>
                            <a:pt x="140" y="423"/>
                          </a:lnTo>
                          <a:lnTo>
                            <a:pt x="152" y="417"/>
                          </a:lnTo>
                          <a:lnTo>
                            <a:pt x="168" y="415"/>
                          </a:lnTo>
                          <a:lnTo>
                            <a:pt x="186" y="408"/>
                          </a:lnTo>
                          <a:lnTo>
                            <a:pt x="201" y="399"/>
                          </a:lnTo>
                          <a:lnTo>
                            <a:pt x="213" y="392"/>
                          </a:lnTo>
                          <a:lnTo>
                            <a:pt x="222" y="387"/>
                          </a:lnTo>
                          <a:lnTo>
                            <a:pt x="232" y="377"/>
                          </a:lnTo>
                          <a:lnTo>
                            <a:pt x="236" y="366"/>
                          </a:lnTo>
                          <a:lnTo>
                            <a:pt x="223" y="371"/>
                          </a:lnTo>
                          <a:lnTo>
                            <a:pt x="210" y="375"/>
                          </a:lnTo>
                          <a:lnTo>
                            <a:pt x="198" y="376"/>
                          </a:lnTo>
                          <a:lnTo>
                            <a:pt x="183" y="372"/>
                          </a:lnTo>
                          <a:lnTo>
                            <a:pt x="168" y="366"/>
                          </a:lnTo>
                          <a:lnTo>
                            <a:pt x="164" y="357"/>
                          </a:lnTo>
                          <a:lnTo>
                            <a:pt x="165" y="346"/>
                          </a:lnTo>
                          <a:lnTo>
                            <a:pt x="173" y="334"/>
                          </a:lnTo>
                          <a:lnTo>
                            <a:pt x="187" y="329"/>
                          </a:lnTo>
                          <a:lnTo>
                            <a:pt x="202" y="328"/>
                          </a:lnTo>
                          <a:lnTo>
                            <a:pt x="220" y="331"/>
                          </a:lnTo>
                          <a:lnTo>
                            <a:pt x="240" y="347"/>
                          </a:lnTo>
                          <a:lnTo>
                            <a:pt x="254" y="357"/>
                          </a:lnTo>
                          <a:lnTo>
                            <a:pt x="281" y="258"/>
                          </a:lnTo>
                          <a:lnTo>
                            <a:pt x="300" y="234"/>
                          </a:lnTo>
                          <a:lnTo>
                            <a:pt x="281" y="220"/>
                          </a:lnTo>
                          <a:lnTo>
                            <a:pt x="263" y="210"/>
                          </a:lnTo>
                          <a:lnTo>
                            <a:pt x="259" y="185"/>
                          </a:lnTo>
                          <a:lnTo>
                            <a:pt x="281" y="147"/>
                          </a:lnTo>
                          <a:lnTo>
                            <a:pt x="300" y="122"/>
                          </a:lnTo>
                          <a:lnTo>
                            <a:pt x="309" y="103"/>
                          </a:lnTo>
                          <a:lnTo>
                            <a:pt x="330" y="103"/>
                          </a:lnTo>
                          <a:lnTo>
                            <a:pt x="358" y="109"/>
                          </a:lnTo>
                          <a:lnTo>
                            <a:pt x="381" y="122"/>
                          </a:lnTo>
                          <a:lnTo>
                            <a:pt x="395" y="135"/>
                          </a:lnTo>
                          <a:lnTo>
                            <a:pt x="410" y="155"/>
                          </a:lnTo>
                          <a:lnTo>
                            <a:pt x="418" y="177"/>
                          </a:lnTo>
                          <a:lnTo>
                            <a:pt x="426" y="202"/>
                          </a:lnTo>
                          <a:lnTo>
                            <a:pt x="416" y="221"/>
                          </a:lnTo>
                          <a:lnTo>
                            <a:pt x="411" y="225"/>
                          </a:lnTo>
                          <a:lnTo>
                            <a:pt x="403" y="237"/>
                          </a:lnTo>
                          <a:lnTo>
                            <a:pt x="423" y="240"/>
                          </a:lnTo>
                          <a:lnTo>
                            <a:pt x="413" y="262"/>
                          </a:lnTo>
                          <a:lnTo>
                            <a:pt x="403" y="281"/>
                          </a:lnTo>
                          <a:lnTo>
                            <a:pt x="420" y="321"/>
                          </a:lnTo>
                          <a:lnTo>
                            <a:pt x="395" y="346"/>
                          </a:lnTo>
                          <a:lnTo>
                            <a:pt x="404" y="350"/>
                          </a:lnTo>
                          <a:lnTo>
                            <a:pt x="412" y="359"/>
                          </a:lnTo>
                          <a:lnTo>
                            <a:pt x="423" y="372"/>
                          </a:lnTo>
                          <a:lnTo>
                            <a:pt x="431" y="389"/>
                          </a:lnTo>
                          <a:lnTo>
                            <a:pt x="428" y="406"/>
                          </a:lnTo>
                          <a:lnTo>
                            <a:pt x="413" y="410"/>
                          </a:lnTo>
                          <a:lnTo>
                            <a:pt x="394" y="407"/>
                          </a:lnTo>
                          <a:lnTo>
                            <a:pt x="382" y="402"/>
                          </a:lnTo>
                          <a:lnTo>
                            <a:pt x="373" y="396"/>
                          </a:lnTo>
                          <a:lnTo>
                            <a:pt x="352" y="380"/>
                          </a:lnTo>
                          <a:lnTo>
                            <a:pt x="336" y="383"/>
                          </a:lnTo>
                          <a:lnTo>
                            <a:pt x="352" y="403"/>
                          </a:lnTo>
                          <a:lnTo>
                            <a:pt x="362" y="412"/>
                          </a:lnTo>
                          <a:lnTo>
                            <a:pt x="374" y="423"/>
                          </a:lnTo>
                          <a:lnTo>
                            <a:pt x="385" y="429"/>
                          </a:lnTo>
                          <a:lnTo>
                            <a:pt x="397" y="439"/>
                          </a:lnTo>
                          <a:lnTo>
                            <a:pt x="400" y="449"/>
                          </a:lnTo>
                          <a:lnTo>
                            <a:pt x="400" y="460"/>
                          </a:lnTo>
                          <a:lnTo>
                            <a:pt x="399" y="477"/>
                          </a:lnTo>
                          <a:lnTo>
                            <a:pt x="393" y="488"/>
                          </a:lnTo>
                          <a:lnTo>
                            <a:pt x="386" y="498"/>
                          </a:lnTo>
                          <a:lnTo>
                            <a:pt x="375" y="509"/>
                          </a:lnTo>
                          <a:lnTo>
                            <a:pt x="367" y="524"/>
                          </a:lnTo>
                          <a:lnTo>
                            <a:pt x="357" y="533"/>
                          </a:lnTo>
                          <a:lnTo>
                            <a:pt x="343" y="529"/>
                          </a:lnTo>
                          <a:lnTo>
                            <a:pt x="330" y="545"/>
                          </a:lnTo>
                          <a:lnTo>
                            <a:pt x="318" y="555"/>
                          </a:lnTo>
                          <a:lnTo>
                            <a:pt x="307" y="565"/>
                          </a:lnTo>
                          <a:lnTo>
                            <a:pt x="291" y="567"/>
                          </a:lnTo>
                          <a:lnTo>
                            <a:pt x="279" y="565"/>
                          </a:lnTo>
                          <a:lnTo>
                            <a:pt x="266" y="563"/>
                          </a:lnTo>
                          <a:lnTo>
                            <a:pt x="257" y="558"/>
                          </a:lnTo>
                          <a:lnTo>
                            <a:pt x="245" y="549"/>
                          </a:lnTo>
                          <a:lnTo>
                            <a:pt x="238" y="540"/>
                          </a:lnTo>
                          <a:lnTo>
                            <a:pt x="216" y="511"/>
                          </a:lnTo>
                          <a:lnTo>
                            <a:pt x="208" y="503"/>
                          </a:lnTo>
                          <a:lnTo>
                            <a:pt x="202" y="496"/>
                          </a:lnTo>
                          <a:lnTo>
                            <a:pt x="195" y="487"/>
                          </a:lnTo>
                          <a:lnTo>
                            <a:pt x="190" y="472"/>
                          </a:lnTo>
                          <a:lnTo>
                            <a:pt x="186" y="457"/>
                          </a:lnTo>
                          <a:lnTo>
                            <a:pt x="178" y="473"/>
                          </a:lnTo>
                          <a:lnTo>
                            <a:pt x="171" y="488"/>
                          </a:lnTo>
                          <a:lnTo>
                            <a:pt x="162" y="478"/>
                          </a:lnTo>
                          <a:lnTo>
                            <a:pt x="154" y="464"/>
                          </a:lnTo>
                          <a:lnTo>
                            <a:pt x="49" y="524"/>
                          </a:lnTo>
                          <a:lnTo>
                            <a:pt x="72" y="567"/>
                          </a:lnTo>
                          <a:lnTo>
                            <a:pt x="99" y="598"/>
                          </a:lnTo>
                          <a:lnTo>
                            <a:pt x="122" y="623"/>
                          </a:lnTo>
                          <a:lnTo>
                            <a:pt x="179" y="663"/>
                          </a:lnTo>
                          <a:lnTo>
                            <a:pt x="236" y="681"/>
                          </a:lnTo>
                          <a:lnTo>
                            <a:pt x="290" y="684"/>
                          </a:lnTo>
                          <a:lnTo>
                            <a:pt x="328" y="659"/>
                          </a:lnTo>
                          <a:lnTo>
                            <a:pt x="362" y="613"/>
                          </a:lnTo>
                          <a:lnTo>
                            <a:pt x="377" y="576"/>
                          </a:lnTo>
                          <a:lnTo>
                            <a:pt x="381" y="543"/>
                          </a:lnTo>
                          <a:lnTo>
                            <a:pt x="395" y="525"/>
                          </a:lnTo>
                          <a:lnTo>
                            <a:pt x="403" y="506"/>
                          </a:lnTo>
                          <a:lnTo>
                            <a:pt x="411" y="490"/>
                          </a:lnTo>
                          <a:lnTo>
                            <a:pt x="416" y="472"/>
                          </a:lnTo>
                          <a:lnTo>
                            <a:pt x="428" y="436"/>
                          </a:lnTo>
                          <a:lnTo>
                            <a:pt x="438" y="398"/>
                          </a:lnTo>
                          <a:lnTo>
                            <a:pt x="446" y="372"/>
                          </a:lnTo>
                          <a:lnTo>
                            <a:pt x="456" y="345"/>
                          </a:lnTo>
                          <a:lnTo>
                            <a:pt x="465" y="309"/>
                          </a:lnTo>
                          <a:lnTo>
                            <a:pt x="478" y="230"/>
                          </a:lnTo>
                          <a:lnTo>
                            <a:pt x="481" y="184"/>
                          </a:lnTo>
                          <a:lnTo>
                            <a:pt x="474" y="145"/>
                          </a:lnTo>
                          <a:lnTo>
                            <a:pt x="460" y="109"/>
                          </a:lnTo>
                          <a:lnTo>
                            <a:pt x="437" y="74"/>
                          </a:lnTo>
                          <a:lnTo>
                            <a:pt x="420" y="58"/>
                          </a:lnTo>
                          <a:lnTo>
                            <a:pt x="408" y="48"/>
                          </a:lnTo>
                          <a:lnTo>
                            <a:pt x="376" y="26"/>
                          </a:lnTo>
                          <a:lnTo>
                            <a:pt x="344" y="11"/>
                          </a:lnTo>
                          <a:lnTo>
                            <a:pt x="308" y="4"/>
                          </a:lnTo>
                          <a:lnTo>
                            <a:pt x="279" y="0"/>
                          </a:lnTo>
                          <a:lnTo>
                            <a:pt x="235" y="1"/>
                          </a:lnTo>
                          <a:lnTo>
                            <a:pt x="189" y="12"/>
                          </a:lnTo>
                          <a:lnTo>
                            <a:pt x="155" y="26"/>
                          </a:lnTo>
                          <a:lnTo>
                            <a:pt x="126" y="46"/>
                          </a:lnTo>
                          <a:lnTo>
                            <a:pt x="104" y="63"/>
                          </a:lnTo>
                          <a:lnTo>
                            <a:pt x="85" y="89"/>
                          </a:lnTo>
                          <a:lnTo>
                            <a:pt x="68" y="116"/>
                          </a:lnTo>
                          <a:lnTo>
                            <a:pt x="50" y="145"/>
                          </a:lnTo>
                          <a:lnTo>
                            <a:pt x="42" y="174"/>
                          </a:lnTo>
                          <a:lnTo>
                            <a:pt x="33" y="208"/>
                          </a:lnTo>
                          <a:lnTo>
                            <a:pt x="26" y="245"/>
                          </a:lnTo>
                          <a:close/>
                        </a:path>
                      </a:pathLst>
                    </a:custGeom>
                    <a:solidFill>
                      <a:srgbClr val="FF7F3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96" name="Freeform 235"/>
                    <p:cNvSpPr/>
                    <p:nvPr/>
                  </p:nvSpPr>
                  <p:spPr bwMode="auto">
                    <a:xfrm>
                      <a:off x="5060" y="2207"/>
                      <a:ext cx="81" cy="137"/>
                    </a:xfrm>
                    <a:custGeom>
                      <a:avLst/>
                      <a:gdLst>
                        <a:gd name="T0" fmla="*/ 281 w 483"/>
                        <a:gd name="T1" fmla="*/ 355 h 682"/>
                        <a:gd name="T2" fmla="*/ 273 w 483"/>
                        <a:gd name="T3" fmla="*/ 381 h 682"/>
                        <a:gd name="T4" fmla="*/ 309 w 483"/>
                        <a:gd name="T5" fmla="*/ 393 h 682"/>
                        <a:gd name="T6" fmla="*/ 298 w 483"/>
                        <a:gd name="T7" fmla="*/ 405 h 682"/>
                        <a:gd name="T8" fmla="*/ 269 w 483"/>
                        <a:gd name="T9" fmla="*/ 394 h 682"/>
                        <a:gd name="T10" fmla="*/ 238 w 483"/>
                        <a:gd name="T11" fmla="*/ 388 h 682"/>
                        <a:gd name="T12" fmla="*/ 244 w 483"/>
                        <a:gd name="T13" fmla="*/ 363 h 682"/>
                        <a:gd name="T14" fmla="*/ 258 w 483"/>
                        <a:gd name="T15" fmla="*/ 308 h 682"/>
                        <a:gd name="T16" fmla="*/ 245 w 483"/>
                        <a:gd name="T17" fmla="*/ 273 h 682"/>
                        <a:gd name="T18" fmla="*/ 203 w 483"/>
                        <a:gd name="T19" fmla="*/ 257 h 682"/>
                        <a:gd name="T20" fmla="*/ 139 w 483"/>
                        <a:gd name="T21" fmla="*/ 272 h 682"/>
                        <a:gd name="T22" fmla="*/ 113 w 483"/>
                        <a:gd name="T23" fmla="*/ 276 h 682"/>
                        <a:gd name="T24" fmla="*/ 99 w 483"/>
                        <a:gd name="T25" fmla="*/ 310 h 682"/>
                        <a:gd name="T26" fmla="*/ 109 w 483"/>
                        <a:gd name="T27" fmla="*/ 351 h 682"/>
                        <a:gd name="T28" fmla="*/ 134 w 483"/>
                        <a:gd name="T29" fmla="*/ 371 h 682"/>
                        <a:gd name="T30" fmla="*/ 147 w 483"/>
                        <a:gd name="T31" fmla="*/ 466 h 682"/>
                        <a:gd name="T32" fmla="*/ 167 w 483"/>
                        <a:gd name="T33" fmla="*/ 540 h 682"/>
                        <a:gd name="T34" fmla="*/ 190 w 483"/>
                        <a:gd name="T35" fmla="*/ 577 h 682"/>
                        <a:gd name="T36" fmla="*/ 256 w 483"/>
                        <a:gd name="T37" fmla="*/ 609 h 682"/>
                        <a:gd name="T38" fmla="*/ 306 w 483"/>
                        <a:gd name="T39" fmla="*/ 612 h 682"/>
                        <a:gd name="T40" fmla="*/ 349 w 483"/>
                        <a:gd name="T41" fmla="*/ 592 h 682"/>
                        <a:gd name="T42" fmla="*/ 365 w 483"/>
                        <a:gd name="T43" fmla="*/ 598 h 682"/>
                        <a:gd name="T44" fmla="*/ 318 w 483"/>
                        <a:gd name="T45" fmla="*/ 663 h 682"/>
                        <a:gd name="T46" fmla="*/ 242 w 483"/>
                        <a:gd name="T47" fmla="*/ 680 h 682"/>
                        <a:gd name="T48" fmla="*/ 173 w 483"/>
                        <a:gd name="T49" fmla="*/ 658 h 682"/>
                        <a:gd name="T50" fmla="*/ 91 w 483"/>
                        <a:gd name="T51" fmla="*/ 581 h 682"/>
                        <a:gd name="T52" fmla="*/ 35 w 483"/>
                        <a:gd name="T53" fmla="*/ 498 h 682"/>
                        <a:gd name="T54" fmla="*/ 29 w 483"/>
                        <a:gd name="T55" fmla="*/ 412 h 682"/>
                        <a:gd name="T56" fmla="*/ 18 w 483"/>
                        <a:gd name="T57" fmla="*/ 355 h 682"/>
                        <a:gd name="T58" fmla="*/ 0 w 483"/>
                        <a:gd name="T59" fmla="*/ 273 h 682"/>
                        <a:gd name="T60" fmla="*/ 29 w 483"/>
                        <a:gd name="T61" fmla="*/ 236 h 682"/>
                        <a:gd name="T62" fmla="*/ 50 w 483"/>
                        <a:gd name="T63" fmla="*/ 148 h 682"/>
                        <a:gd name="T64" fmla="*/ 104 w 483"/>
                        <a:gd name="T65" fmla="*/ 67 h 682"/>
                        <a:gd name="T66" fmla="*/ 166 w 483"/>
                        <a:gd name="T67" fmla="*/ 18 h 682"/>
                        <a:gd name="T68" fmla="*/ 285 w 483"/>
                        <a:gd name="T69" fmla="*/ 0 h 682"/>
                        <a:gd name="T70" fmla="*/ 380 w 483"/>
                        <a:gd name="T71" fmla="*/ 23 h 682"/>
                        <a:gd name="T72" fmla="*/ 453 w 483"/>
                        <a:gd name="T73" fmla="*/ 96 h 682"/>
                        <a:gd name="T74" fmla="*/ 483 w 483"/>
                        <a:gd name="T75" fmla="*/ 208 h 682"/>
                        <a:gd name="T76" fmla="*/ 455 w 483"/>
                        <a:gd name="T77" fmla="*/ 282 h 682"/>
                        <a:gd name="T78" fmla="*/ 447 w 483"/>
                        <a:gd name="T79" fmla="*/ 200 h 682"/>
                        <a:gd name="T80" fmla="*/ 446 w 483"/>
                        <a:gd name="T81" fmla="*/ 154 h 682"/>
                        <a:gd name="T82" fmla="*/ 404 w 483"/>
                        <a:gd name="T83" fmla="*/ 86 h 682"/>
                        <a:gd name="T84" fmla="*/ 352 w 483"/>
                        <a:gd name="T85" fmla="*/ 43 h 682"/>
                        <a:gd name="T86" fmla="*/ 270 w 483"/>
                        <a:gd name="T87" fmla="*/ 27 h 682"/>
                        <a:gd name="T88" fmla="*/ 213 w 483"/>
                        <a:gd name="T89" fmla="*/ 46 h 682"/>
                        <a:gd name="T90" fmla="*/ 177 w 483"/>
                        <a:gd name="T91" fmla="*/ 90 h 682"/>
                        <a:gd name="T92" fmla="*/ 154 w 483"/>
                        <a:gd name="T93" fmla="*/ 145 h 682"/>
                        <a:gd name="T94" fmla="*/ 152 w 483"/>
                        <a:gd name="T95" fmla="*/ 245 h 682"/>
                        <a:gd name="T96" fmla="*/ 211 w 483"/>
                        <a:gd name="T97" fmla="*/ 234 h 682"/>
                        <a:gd name="T98" fmla="*/ 269 w 483"/>
                        <a:gd name="T99" fmla="*/ 250 h 68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</a:cxnLst>
                      <a:rect l="0" t="0" r="r" b="b"/>
                      <a:pathLst>
                        <a:path w="483" h="682">
                          <a:moveTo>
                            <a:pt x="287" y="276"/>
                          </a:moveTo>
                          <a:lnTo>
                            <a:pt x="287" y="351"/>
                          </a:lnTo>
                          <a:lnTo>
                            <a:pt x="281" y="355"/>
                          </a:lnTo>
                          <a:lnTo>
                            <a:pt x="275" y="362"/>
                          </a:lnTo>
                          <a:lnTo>
                            <a:pt x="271" y="372"/>
                          </a:lnTo>
                          <a:lnTo>
                            <a:pt x="273" y="381"/>
                          </a:lnTo>
                          <a:lnTo>
                            <a:pt x="281" y="384"/>
                          </a:lnTo>
                          <a:lnTo>
                            <a:pt x="288" y="391"/>
                          </a:lnTo>
                          <a:lnTo>
                            <a:pt x="309" y="393"/>
                          </a:lnTo>
                          <a:lnTo>
                            <a:pt x="317" y="391"/>
                          </a:lnTo>
                          <a:lnTo>
                            <a:pt x="304" y="402"/>
                          </a:lnTo>
                          <a:lnTo>
                            <a:pt x="298" y="405"/>
                          </a:lnTo>
                          <a:lnTo>
                            <a:pt x="289" y="404"/>
                          </a:lnTo>
                          <a:lnTo>
                            <a:pt x="279" y="401"/>
                          </a:lnTo>
                          <a:lnTo>
                            <a:pt x="269" y="394"/>
                          </a:lnTo>
                          <a:lnTo>
                            <a:pt x="261" y="391"/>
                          </a:lnTo>
                          <a:lnTo>
                            <a:pt x="245" y="389"/>
                          </a:lnTo>
                          <a:lnTo>
                            <a:pt x="238" y="388"/>
                          </a:lnTo>
                          <a:lnTo>
                            <a:pt x="236" y="379"/>
                          </a:lnTo>
                          <a:lnTo>
                            <a:pt x="237" y="371"/>
                          </a:lnTo>
                          <a:lnTo>
                            <a:pt x="244" y="363"/>
                          </a:lnTo>
                          <a:lnTo>
                            <a:pt x="249" y="357"/>
                          </a:lnTo>
                          <a:lnTo>
                            <a:pt x="255" y="335"/>
                          </a:lnTo>
                          <a:lnTo>
                            <a:pt x="258" y="308"/>
                          </a:lnTo>
                          <a:lnTo>
                            <a:pt x="258" y="293"/>
                          </a:lnTo>
                          <a:lnTo>
                            <a:pt x="255" y="281"/>
                          </a:lnTo>
                          <a:lnTo>
                            <a:pt x="245" y="273"/>
                          </a:lnTo>
                          <a:lnTo>
                            <a:pt x="230" y="265"/>
                          </a:lnTo>
                          <a:lnTo>
                            <a:pt x="215" y="258"/>
                          </a:lnTo>
                          <a:lnTo>
                            <a:pt x="203" y="257"/>
                          </a:lnTo>
                          <a:lnTo>
                            <a:pt x="176" y="265"/>
                          </a:lnTo>
                          <a:lnTo>
                            <a:pt x="159" y="268"/>
                          </a:lnTo>
                          <a:lnTo>
                            <a:pt x="139" y="272"/>
                          </a:lnTo>
                          <a:lnTo>
                            <a:pt x="129" y="268"/>
                          </a:lnTo>
                          <a:lnTo>
                            <a:pt x="119" y="268"/>
                          </a:lnTo>
                          <a:lnTo>
                            <a:pt x="113" y="276"/>
                          </a:lnTo>
                          <a:lnTo>
                            <a:pt x="105" y="283"/>
                          </a:lnTo>
                          <a:lnTo>
                            <a:pt x="99" y="294"/>
                          </a:lnTo>
                          <a:lnTo>
                            <a:pt x="99" y="310"/>
                          </a:lnTo>
                          <a:lnTo>
                            <a:pt x="103" y="328"/>
                          </a:lnTo>
                          <a:lnTo>
                            <a:pt x="105" y="341"/>
                          </a:lnTo>
                          <a:lnTo>
                            <a:pt x="109" y="351"/>
                          </a:lnTo>
                          <a:lnTo>
                            <a:pt x="117" y="362"/>
                          </a:lnTo>
                          <a:lnTo>
                            <a:pt x="127" y="370"/>
                          </a:lnTo>
                          <a:lnTo>
                            <a:pt x="134" y="371"/>
                          </a:lnTo>
                          <a:lnTo>
                            <a:pt x="135" y="391"/>
                          </a:lnTo>
                          <a:lnTo>
                            <a:pt x="139" y="419"/>
                          </a:lnTo>
                          <a:lnTo>
                            <a:pt x="147" y="466"/>
                          </a:lnTo>
                          <a:lnTo>
                            <a:pt x="156" y="496"/>
                          </a:lnTo>
                          <a:lnTo>
                            <a:pt x="160" y="518"/>
                          </a:lnTo>
                          <a:lnTo>
                            <a:pt x="167" y="540"/>
                          </a:lnTo>
                          <a:lnTo>
                            <a:pt x="173" y="551"/>
                          </a:lnTo>
                          <a:lnTo>
                            <a:pt x="179" y="564"/>
                          </a:lnTo>
                          <a:lnTo>
                            <a:pt x="190" y="577"/>
                          </a:lnTo>
                          <a:lnTo>
                            <a:pt x="207" y="592"/>
                          </a:lnTo>
                          <a:lnTo>
                            <a:pt x="225" y="604"/>
                          </a:lnTo>
                          <a:lnTo>
                            <a:pt x="256" y="609"/>
                          </a:lnTo>
                          <a:lnTo>
                            <a:pt x="275" y="609"/>
                          </a:lnTo>
                          <a:lnTo>
                            <a:pt x="289" y="611"/>
                          </a:lnTo>
                          <a:lnTo>
                            <a:pt x="306" y="612"/>
                          </a:lnTo>
                          <a:lnTo>
                            <a:pt x="323" y="608"/>
                          </a:lnTo>
                          <a:lnTo>
                            <a:pt x="338" y="602"/>
                          </a:lnTo>
                          <a:lnTo>
                            <a:pt x="349" y="592"/>
                          </a:lnTo>
                          <a:lnTo>
                            <a:pt x="360" y="583"/>
                          </a:lnTo>
                          <a:lnTo>
                            <a:pt x="374" y="574"/>
                          </a:lnTo>
                          <a:lnTo>
                            <a:pt x="365" y="598"/>
                          </a:lnTo>
                          <a:lnTo>
                            <a:pt x="352" y="618"/>
                          </a:lnTo>
                          <a:lnTo>
                            <a:pt x="338" y="639"/>
                          </a:lnTo>
                          <a:lnTo>
                            <a:pt x="318" y="663"/>
                          </a:lnTo>
                          <a:lnTo>
                            <a:pt x="293" y="676"/>
                          </a:lnTo>
                          <a:lnTo>
                            <a:pt x="264" y="682"/>
                          </a:lnTo>
                          <a:lnTo>
                            <a:pt x="242" y="680"/>
                          </a:lnTo>
                          <a:lnTo>
                            <a:pt x="221" y="679"/>
                          </a:lnTo>
                          <a:lnTo>
                            <a:pt x="200" y="671"/>
                          </a:lnTo>
                          <a:lnTo>
                            <a:pt x="173" y="658"/>
                          </a:lnTo>
                          <a:lnTo>
                            <a:pt x="153" y="642"/>
                          </a:lnTo>
                          <a:lnTo>
                            <a:pt x="124" y="613"/>
                          </a:lnTo>
                          <a:lnTo>
                            <a:pt x="91" y="581"/>
                          </a:lnTo>
                          <a:lnTo>
                            <a:pt x="70" y="555"/>
                          </a:lnTo>
                          <a:lnTo>
                            <a:pt x="52" y="530"/>
                          </a:lnTo>
                          <a:lnTo>
                            <a:pt x="35" y="498"/>
                          </a:lnTo>
                          <a:lnTo>
                            <a:pt x="49" y="426"/>
                          </a:lnTo>
                          <a:lnTo>
                            <a:pt x="38" y="420"/>
                          </a:lnTo>
                          <a:lnTo>
                            <a:pt x="29" y="412"/>
                          </a:lnTo>
                          <a:lnTo>
                            <a:pt x="25" y="398"/>
                          </a:lnTo>
                          <a:lnTo>
                            <a:pt x="24" y="375"/>
                          </a:lnTo>
                          <a:lnTo>
                            <a:pt x="18" y="355"/>
                          </a:lnTo>
                          <a:lnTo>
                            <a:pt x="7" y="329"/>
                          </a:lnTo>
                          <a:lnTo>
                            <a:pt x="4" y="295"/>
                          </a:lnTo>
                          <a:lnTo>
                            <a:pt x="0" y="273"/>
                          </a:lnTo>
                          <a:lnTo>
                            <a:pt x="3" y="257"/>
                          </a:lnTo>
                          <a:lnTo>
                            <a:pt x="17" y="247"/>
                          </a:lnTo>
                          <a:lnTo>
                            <a:pt x="29" y="236"/>
                          </a:lnTo>
                          <a:lnTo>
                            <a:pt x="31" y="205"/>
                          </a:lnTo>
                          <a:lnTo>
                            <a:pt x="37" y="176"/>
                          </a:lnTo>
                          <a:lnTo>
                            <a:pt x="50" y="148"/>
                          </a:lnTo>
                          <a:lnTo>
                            <a:pt x="65" y="117"/>
                          </a:lnTo>
                          <a:lnTo>
                            <a:pt x="85" y="86"/>
                          </a:lnTo>
                          <a:lnTo>
                            <a:pt x="104" y="67"/>
                          </a:lnTo>
                          <a:lnTo>
                            <a:pt x="122" y="48"/>
                          </a:lnTo>
                          <a:lnTo>
                            <a:pt x="142" y="31"/>
                          </a:lnTo>
                          <a:lnTo>
                            <a:pt x="166" y="18"/>
                          </a:lnTo>
                          <a:lnTo>
                            <a:pt x="203" y="2"/>
                          </a:lnTo>
                          <a:lnTo>
                            <a:pt x="249" y="0"/>
                          </a:lnTo>
                          <a:lnTo>
                            <a:pt x="285" y="0"/>
                          </a:lnTo>
                          <a:lnTo>
                            <a:pt x="323" y="4"/>
                          </a:lnTo>
                          <a:lnTo>
                            <a:pt x="353" y="11"/>
                          </a:lnTo>
                          <a:lnTo>
                            <a:pt x="380" y="23"/>
                          </a:lnTo>
                          <a:lnTo>
                            <a:pt x="406" y="43"/>
                          </a:lnTo>
                          <a:lnTo>
                            <a:pt x="434" y="70"/>
                          </a:lnTo>
                          <a:lnTo>
                            <a:pt x="453" y="96"/>
                          </a:lnTo>
                          <a:lnTo>
                            <a:pt x="469" y="130"/>
                          </a:lnTo>
                          <a:lnTo>
                            <a:pt x="481" y="174"/>
                          </a:lnTo>
                          <a:lnTo>
                            <a:pt x="483" y="208"/>
                          </a:lnTo>
                          <a:lnTo>
                            <a:pt x="475" y="252"/>
                          </a:lnTo>
                          <a:lnTo>
                            <a:pt x="460" y="311"/>
                          </a:lnTo>
                          <a:lnTo>
                            <a:pt x="455" y="282"/>
                          </a:lnTo>
                          <a:lnTo>
                            <a:pt x="454" y="250"/>
                          </a:lnTo>
                          <a:lnTo>
                            <a:pt x="451" y="224"/>
                          </a:lnTo>
                          <a:lnTo>
                            <a:pt x="447" y="200"/>
                          </a:lnTo>
                          <a:lnTo>
                            <a:pt x="438" y="178"/>
                          </a:lnTo>
                          <a:lnTo>
                            <a:pt x="418" y="158"/>
                          </a:lnTo>
                          <a:lnTo>
                            <a:pt x="446" y="154"/>
                          </a:lnTo>
                          <a:lnTo>
                            <a:pt x="434" y="127"/>
                          </a:lnTo>
                          <a:lnTo>
                            <a:pt x="420" y="108"/>
                          </a:lnTo>
                          <a:lnTo>
                            <a:pt x="404" y="86"/>
                          </a:lnTo>
                          <a:lnTo>
                            <a:pt x="385" y="72"/>
                          </a:lnTo>
                          <a:lnTo>
                            <a:pt x="368" y="54"/>
                          </a:lnTo>
                          <a:lnTo>
                            <a:pt x="352" y="43"/>
                          </a:lnTo>
                          <a:lnTo>
                            <a:pt x="326" y="30"/>
                          </a:lnTo>
                          <a:lnTo>
                            <a:pt x="297" y="25"/>
                          </a:lnTo>
                          <a:lnTo>
                            <a:pt x="270" y="27"/>
                          </a:lnTo>
                          <a:lnTo>
                            <a:pt x="249" y="31"/>
                          </a:lnTo>
                          <a:lnTo>
                            <a:pt x="232" y="37"/>
                          </a:lnTo>
                          <a:lnTo>
                            <a:pt x="213" y="46"/>
                          </a:lnTo>
                          <a:lnTo>
                            <a:pt x="199" y="59"/>
                          </a:lnTo>
                          <a:lnTo>
                            <a:pt x="184" y="75"/>
                          </a:lnTo>
                          <a:lnTo>
                            <a:pt x="177" y="90"/>
                          </a:lnTo>
                          <a:lnTo>
                            <a:pt x="167" y="105"/>
                          </a:lnTo>
                          <a:lnTo>
                            <a:pt x="163" y="121"/>
                          </a:lnTo>
                          <a:lnTo>
                            <a:pt x="154" y="145"/>
                          </a:lnTo>
                          <a:lnTo>
                            <a:pt x="151" y="173"/>
                          </a:lnTo>
                          <a:lnTo>
                            <a:pt x="148" y="209"/>
                          </a:lnTo>
                          <a:lnTo>
                            <a:pt x="152" y="245"/>
                          </a:lnTo>
                          <a:lnTo>
                            <a:pt x="165" y="239"/>
                          </a:lnTo>
                          <a:lnTo>
                            <a:pt x="184" y="235"/>
                          </a:lnTo>
                          <a:lnTo>
                            <a:pt x="211" y="234"/>
                          </a:lnTo>
                          <a:lnTo>
                            <a:pt x="233" y="237"/>
                          </a:lnTo>
                          <a:lnTo>
                            <a:pt x="252" y="242"/>
                          </a:lnTo>
                          <a:lnTo>
                            <a:pt x="269" y="250"/>
                          </a:lnTo>
                          <a:lnTo>
                            <a:pt x="281" y="261"/>
                          </a:lnTo>
                          <a:lnTo>
                            <a:pt x="287" y="276"/>
                          </a:lnTo>
                          <a:close/>
                        </a:path>
                      </a:pathLst>
                    </a:custGeom>
                    <a:solidFill>
                      <a:srgbClr val="7F3F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97" name="Freeform 236"/>
                    <p:cNvSpPr/>
                    <p:nvPr/>
                  </p:nvSpPr>
                  <p:spPr bwMode="auto">
                    <a:xfrm>
                      <a:off x="5114" y="2258"/>
                      <a:ext cx="20" cy="12"/>
                    </a:xfrm>
                    <a:custGeom>
                      <a:avLst/>
                      <a:gdLst>
                        <a:gd name="T0" fmla="*/ 0 w 118"/>
                        <a:gd name="T1" fmla="*/ 19 h 60"/>
                        <a:gd name="T2" fmla="*/ 12 w 118"/>
                        <a:gd name="T3" fmla="*/ 14 h 60"/>
                        <a:gd name="T4" fmla="*/ 26 w 118"/>
                        <a:gd name="T5" fmla="*/ 9 h 60"/>
                        <a:gd name="T6" fmla="*/ 40 w 118"/>
                        <a:gd name="T7" fmla="*/ 4 h 60"/>
                        <a:gd name="T8" fmla="*/ 57 w 118"/>
                        <a:gd name="T9" fmla="*/ 0 h 60"/>
                        <a:gd name="T10" fmla="*/ 74 w 118"/>
                        <a:gd name="T11" fmla="*/ 0 h 60"/>
                        <a:gd name="T12" fmla="*/ 95 w 118"/>
                        <a:gd name="T13" fmla="*/ 5 h 60"/>
                        <a:gd name="T14" fmla="*/ 107 w 118"/>
                        <a:gd name="T15" fmla="*/ 16 h 60"/>
                        <a:gd name="T16" fmla="*/ 115 w 118"/>
                        <a:gd name="T17" fmla="*/ 30 h 60"/>
                        <a:gd name="T18" fmla="*/ 118 w 118"/>
                        <a:gd name="T19" fmla="*/ 39 h 60"/>
                        <a:gd name="T20" fmla="*/ 101 w 118"/>
                        <a:gd name="T21" fmla="*/ 52 h 60"/>
                        <a:gd name="T22" fmla="*/ 87 w 118"/>
                        <a:gd name="T23" fmla="*/ 58 h 60"/>
                        <a:gd name="T24" fmla="*/ 80 w 118"/>
                        <a:gd name="T25" fmla="*/ 60 h 60"/>
                        <a:gd name="T26" fmla="*/ 74 w 118"/>
                        <a:gd name="T27" fmla="*/ 51 h 60"/>
                        <a:gd name="T28" fmla="*/ 63 w 118"/>
                        <a:gd name="T29" fmla="*/ 42 h 60"/>
                        <a:gd name="T30" fmla="*/ 51 w 118"/>
                        <a:gd name="T31" fmla="*/ 39 h 60"/>
                        <a:gd name="T32" fmla="*/ 38 w 118"/>
                        <a:gd name="T33" fmla="*/ 39 h 60"/>
                        <a:gd name="T34" fmla="*/ 21 w 118"/>
                        <a:gd name="T35" fmla="*/ 44 h 60"/>
                        <a:gd name="T36" fmla="*/ 8 w 118"/>
                        <a:gd name="T37" fmla="*/ 52 h 60"/>
                        <a:gd name="T38" fmla="*/ 2 w 118"/>
                        <a:gd name="T39" fmla="*/ 57 h 60"/>
                        <a:gd name="T40" fmla="*/ 5 w 118"/>
                        <a:gd name="T41" fmla="*/ 47 h 60"/>
                        <a:gd name="T42" fmla="*/ 0 w 118"/>
                        <a:gd name="T43" fmla="*/ 19 h 6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</a:cxnLst>
                      <a:rect l="0" t="0" r="r" b="b"/>
                      <a:pathLst>
                        <a:path w="118" h="60">
                          <a:moveTo>
                            <a:pt x="0" y="19"/>
                          </a:moveTo>
                          <a:lnTo>
                            <a:pt x="12" y="14"/>
                          </a:lnTo>
                          <a:lnTo>
                            <a:pt x="26" y="9"/>
                          </a:lnTo>
                          <a:lnTo>
                            <a:pt x="40" y="4"/>
                          </a:lnTo>
                          <a:lnTo>
                            <a:pt x="57" y="0"/>
                          </a:lnTo>
                          <a:lnTo>
                            <a:pt x="74" y="0"/>
                          </a:lnTo>
                          <a:lnTo>
                            <a:pt x="95" y="5"/>
                          </a:lnTo>
                          <a:lnTo>
                            <a:pt x="107" y="16"/>
                          </a:lnTo>
                          <a:lnTo>
                            <a:pt x="115" y="30"/>
                          </a:lnTo>
                          <a:lnTo>
                            <a:pt x="118" y="39"/>
                          </a:lnTo>
                          <a:lnTo>
                            <a:pt x="101" y="52"/>
                          </a:lnTo>
                          <a:lnTo>
                            <a:pt x="87" y="58"/>
                          </a:lnTo>
                          <a:lnTo>
                            <a:pt x="80" y="60"/>
                          </a:lnTo>
                          <a:lnTo>
                            <a:pt x="74" y="51"/>
                          </a:lnTo>
                          <a:lnTo>
                            <a:pt x="63" y="42"/>
                          </a:lnTo>
                          <a:lnTo>
                            <a:pt x="51" y="39"/>
                          </a:lnTo>
                          <a:lnTo>
                            <a:pt x="38" y="39"/>
                          </a:lnTo>
                          <a:lnTo>
                            <a:pt x="21" y="44"/>
                          </a:lnTo>
                          <a:lnTo>
                            <a:pt x="8" y="52"/>
                          </a:lnTo>
                          <a:lnTo>
                            <a:pt x="2" y="57"/>
                          </a:lnTo>
                          <a:lnTo>
                            <a:pt x="5" y="47"/>
                          </a:lnTo>
                          <a:lnTo>
                            <a:pt x="0" y="19"/>
                          </a:lnTo>
                          <a:close/>
                        </a:path>
                      </a:pathLst>
                    </a:custGeom>
                    <a:solidFill>
                      <a:srgbClr val="FF9F7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98" name="Freeform 237"/>
                    <p:cNvSpPr/>
                    <p:nvPr/>
                  </p:nvSpPr>
                  <p:spPr bwMode="auto">
                    <a:xfrm>
                      <a:off x="5114" y="2258"/>
                      <a:ext cx="18" cy="11"/>
                    </a:xfrm>
                    <a:custGeom>
                      <a:avLst/>
                      <a:gdLst>
                        <a:gd name="T0" fmla="*/ 0 w 106"/>
                        <a:gd name="T1" fmla="*/ 19 h 57"/>
                        <a:gd name="T2" fmla="*/ 12 w 106"/>
                        <a:gd name="T3" fmla="*/ 15 h 57"/>
                        <a:gd name="T4" fmla="*/ 27 w 106"/>
                        <a:gd name="T5" fmla="*/ 9 h 57"/>
                        <a:gd name="T6" fmla="*/ 40 w 106"/>
                        <a:gd name="T7" fmla="*/ 4 h 57"/>
                        <a:gd name="T8" fmla="*/ 57 w 106"/>
                        <a:gd name="T9" fmla="*/ 0 h 57"/>
                        <a:gd name="T10" fmla="*/ 74 w 106"/>
                        <a:gd name="T11" fmla="*/ 0 h 57"/>
                        <a:gd name="T12" fmla="*/ 95 w 106"/>
                        <a:gd name="T13" fmla="*/ 5 h 57"/>
                        <a:gd name="T14" fmla="*/ 106 w 106"/>
                        <a:gd name="T15" fmla="*/ 12 h 57"/>
                        <a:gd name="T16" fmla="*/ 83 w 106"/>
                        <a:gd name="T17" fmla="*/ 30 h 57"/>
                        <a:gd name="T18" fmla="*/ 73 w 106"/>
                        <a:gd name="T19" fmla="*/ 36 h 57"/>
                        <a:gd name="T20" fmla="*/ 63 w 106"/>
                        <a:gd name="T21" fmla="*/ 44 h 57"/>
                        <a:gd name="T22" fmla="*/ 51 w 106"/>
                        <a:gd name="T23" fmla="*/ 39 h 57"/>
                        <a:gd name="T24" fmla="*/ 38 w 106"/>
                        <a:gd name="T25" fmla="*/ 39 h 57"/>
                        <a:gd name="T26" fmla="*/ 27 w 106"/>
                        <a:gd name="T27" fmla="*/ 44 h 57"/>
                        <a:gd name="T28" fmla="*/ 16 w 106"/>
                        <a:gd name="T29" fmla="*/ 47 h 57"/>
                        <a:gd name="T30" fmla="*/ 3 w 106"/>
                        <a:gd name="T31" fmla="*/ 57 h 57"/>
                        <a:gd name="T32" fmla="*/ 6 w 106"/>
                        <a:gd name="T33" fmla="*/ 29 h 57"/>
                        <a:gd name="T34" fmla="*/ 0 w 106"/>
                        <a:gd name="T35" fmla="*/ 19 h 5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</a:cxnLst>
                      <a:rect l="0" t="0" r="r" b="b"/>
                      <a:pathLst>
                        <a:path w="106" h="57">
                          <a:moveTo>
                            <a:pt x="0" y="19"/>
                          </a:moveTo>
                          <a:lnTo>
                            <a:pt x="12" y="15"/>
                          </a:lnTo>
                          <a:lnTo>
                            <a:pt x="27" y="9"/>
                          </a:lnTo>
                          <a:lnTo>
                            <a:pt x="40" y="4"/>
                          </a:lnTo>
                          <a:lnTo>
                            <a:pt x="57" y="0"/>
                          </a:lnTo>
                          <a:lnTo>
                            <a:pt x="74" y="0"/>
                          </a:lnTo>
                          <a:lnTo>
                            <a:pt x="95" y="5"/>
                          </a:lnTo>
                          <a:lnTo>
                            <a:pt x="106" y="12"/>
                          </a:lnTo>
                          <a:lnTo>
                            <a:pt x="83" y="30"/>
                          </a:lnTo>
                          <a:lnTo>
                            <a:pt x="73" y="36"/>
                          </a:lnTo>
                          <a:lnTo>
                            <a:pt x="63" y="44"/>
                          </a:lnTo>
                          <a:lnTo>
                            <a:pt x="51" y="39"/>
                          </a:lnTo>
                          <a:lnTo>
                            <a:pt x="38" y="39"/>
                          </a:lnTo>
                          <a:lnTo>
                            <a:pt x="27" y="44"/>
                          </a:lnTo>
                          <a:lnTo>
                            <a:pt x="16" y="47"/>
                          </a:lnTo>
                          <a:lnTo>
                            <a:pt x="3" y="57"/>
                          </a:lnTo>
                          <a:lnTo>
                            <a:pt x="6" y="29"/>
                          </a:lnTo>
                          <a:lnTo>
                            <a:pt x="0" y="19"/>
                          </a:lnTo>
                          <a:close/>
                        </a:path>
                      </a:pathLst>
                    </a:custGeom>
                    <a:solidFill>
                      <a:srgbClr val="FF7F3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99" name="Freeform 238"/>
                    <p:cNvSpPr/>
                    <p:nvPr/>
                  </p:nvSpPr>
                  <p:spPr bwMode="auto">
                    <a:xfrm>
                      <a:off x="5114" y="2284"/>
                      <a:ext cx="3" cy="3"/>
                    </a:xfrm>
                    <a:custGeom>
                      <a:avLst/>
                      <a:gdLst>
                        <a:gd name="T0" fmla="*/ 12 w 21"/>
                        <a:gd name="T1" fmla="*/ 0 h 18"/>
                        <a:gd name="T2" fmla="*/ 0 w 21"/>
                        <a:gd name="T3" fmla="*/ 12 h 18"/>
                        <a:gd name="T4" fmla="*/ 11 w 21"/>
                        <a:gd name="T5" fmla="*/ 18 h 18"/>
                        <a:gd name="T6" fmla="*/ 20 w 21"/>
                        <a:gd name="T7" fmla="*/ 12 h 18"/>
                        <a:gd name="T8" fmla="*/ 21 w 21"/>
                        <a:gd name="T9" fmla="*/ 0 h 18"/>
                        <a:gd name="T10" fmla="*/ 12 w 21"/>
                        <a:gd name="T11" fmla="*/ 0 h 1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1" h="18">
                          <a:moveTo>
                            <a:pt x="12" y="0"/>
                          </a:moveTo>
                          <a:lnTo>
                            <a:pt x="0" y="12"/>
                          </a:lnTo>
                          <a:lnTo>
                            <a:pt x="11" y="18"/>
                          </a:lnTo>
                          <a:lnTo>
                            <a:pt x="20" y="12"/>
                          </a:lnTo>
                          <a:lnTo>
                            <a:pt x="21" y="0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BF7F3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00" name="Freeform 239"/>
                    <p:cNvSpPr/>
                    <p:nvPr/>
                  </p:nvSpPr>
                  <p:spPr bwMode="auto">
                    <a:xfrm>
                      <a:off x="5110" y="2272"/>
                      <a:ext cx="6" cy="9"/>
                    </a:xfrm>
                    <a:custGeom>
                      <a:avLst/>
                      <a:gdLst>
                        <a:gd name="T0" fmla="*/ 17 w 32"/>
                        <a:gd name="T1" fmla="*/ 0 h 47"/>
                        <a:gd name="T2" fmla="*/ 4 w 32"/>
                        <a:gd name="T3" fmla="*/ 7 h 47"/>
                        <a:gd name="T4" fmla="*/ 0 w 32"/>
                        <a:gd name="T5" fmla="*/ 17 h 47"/>
                        <a:gd name="T6" fmla="*/ 0 w 32"/>
                        <a:gd name="T7" fmla="*/ 27 h 47"/>
                        <a:gd name="T8" fmla="*/ 6 w 32"/>
                        <a:gd name="T9" fmla="*/ 35 h 47"/>
                        <a:gd name="T10" fmla="*/ 14 w 32"/>
                        <a:gd name="T11" fmla="*/ 42 h 47"/>
                        <a:gd name="T12" fmla="*/ 18 w 32"/>
                        <a:gd name="T13" fmla="*/ 47 h 47"/>
                        <a:gd name="T14" fmla="*/ 32 w 32"/>
                        <a:gd name="T15" fmla="*/ 47 h 47"/>
                        <a:gd name="T16" fmla="*/ 25 w 32"/>
                        <a:gd name="T17" fmla="*/ 32 h 47"/>
                        <a:gd name="T18" fmla="*/ 19 w 32"/>
                        <a:gd name="T19" fmla="*/ 22 h 47"/>
                        <a:gd name="T20" fmla="*/ 17 w 32"/>
                        <a:gd name="T21" fmla="*/ 0 h 4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32" h="47">
                          <a:moveTo>
                            <a:pt x="17" y="0"/>
                          </a:moveTo>
                          <a:lnTo>
                            <a:pt x="4" y="7"/>
                          </a:lnTo>
                          <a:lnTo>
                            <a:pt x="0" y="17"/>
                          </a:lnTo>
                          <a:lnTo>
                            <a:pt x="0" y="27"/>
                          </a:lnTo>
                          <a:lnTo>
                            <a:pt x="6" y="35"/>
                          </a:lnTo>
                          <a:lnTo>
                            <a:pt x="14" y="42"/>
                          </a:lnTo>
                          <a:lnTo>
                            <a:pt x="18" y="47"/>
                          </a:lnTo>
                          <a:lnTo>
                            <a:pt x="32" y="47"/>
                          </a:lnTo>
                          <a:lnTo>
                            <a:pt x="25" y="32"/>
                          </a:lnTo>
                          <a:lnTo>
                            <a:pt x="19" y="22"/>
                          </a:lnTo>
                          <a:lnTo>
                            <a:pt x="17" y="0"/>
                          </a:lnTo>
                          <a:close/>
                        </a:path>
                      </a:pathLst>
                    </a:custGeom>
                    <a:solidFill>
                      <a:srgbClr val="FF7F3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grpSp>
                  <p:nvGrpSpPr>
                    <p:cNvPr id="401" name="Group 240"/>
                    <p:cNvGrpSpPr/>
                    <p:nvPr/>
                  </p:nvGrpSpPr>
                  <p:grpSpPr bwMode="auto">
                    <a:xfrm>
                      <a:off x="5079" y="2288"/>
                      <a:ext cx="45" cy="28"/>
                      <a:chOff x="5079" y="2288"/>
                      <a:chExt cx="45" cy="28"/>
                    </a:xfrm>
                  </p:grpSpPr>
                  <p:sp>
                    <p:nvSpPr>
                      <p:cNvPr id="423" name="Freeform 241"/>
                      <p:cNvSpPr/>
                      <p:nvPr/>
                    </p:nvSpPr>
                    <p:spPr bwMode="auto">
                      <a:xfrm>
                        <a:off x="5096" y="2308"/>
                        <a:ext cx="14" cy="6"/>
                      </a:xfrm>
                      <a:custGeom>
                        <a:avLst/>
                        <a:gdLst>
                          <a:gd name="T0" fmla="*/ 0 w 80"/>
                          <a:gd name="T1" fmla="*/ 0 h 34"/>
                          <a:gd name="T2" fmla="*/ 10 w 80"/>
                          <a:gd name="T3" fmla="*/ 12 h 34"/>
                          <a:gd name="T4" fmla="*/ 19 w 80"/>
                          <a:gd name="T5" fmla="*/ 17 h 34"/>
                          <a:gd name="T6" fmla="*/ 36 w 80"/>
                          <a:gd name="T7" fmla="*/ 22 h 34"/>
                          <a:gd name="T8" fmla="*/ 53 w 80"/>
                          <a:gd name="T9" fmla="*/ 27 h 34"/>
                          <a:gd name="T10" fmla="*/ 65 w 80"/>
                          <a:gd name="T11" fmla="*/ 28 h 34"/>
                          <a:gd name="T12" fmla="*/ 80 w 80"/>
                          <a:gd name="T13" fmla="*/ 28 h 34"/>
                          <a:gd name="T14" fmla="*/ 65 w 80"/>
                          <a:gd name="T15" fmla="*/ 34 h 34"/>
                          <a:gd name="T16" fmla="*/ 48 w 80"/>
                          <a:gd name="T17" fmla="*/ 34 h 34"/>
                          <a:gd name="T18" fmla="*/ 34 w 80"/>
                          <a:gd name="T19" fmla="*/ 31 h 34"/>
                          <a:gd name="T20" fmla="*/ 19 w 80"/>
                          <a:gd name="T21" fmla="*/ 27 h 34"/>
                          <a:gd name="T22" fmla="*/ 11 w 80"/>
                          <a:gd name="T23" fmla="*/ 22 h 34"/>
                          <a:gd name="T24" fmla="*/ 5 w 80"/>
                          <a:gd name="T25" fmla="*/ 12 h 34"/>
                          <a:gd name="T26" fmla="*/ 0 w 80"/>
                          <a:gd name="T27" fmla="*/ 0 h 3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</a:cxnLst>
                        <a:rect l="0" t="0" r="r" b="b"/>
                        <a:pathLst>
                          <a:path w="80" h="34">
                            <a:moveTo>
                              <a:pt x="0" y="0"/>
                            </a:moveTo>
                            <a:lnTo>
                              <a:pt x="10" y="12"/>
                            </a:lnTo>
                            <a:lnTo>
                              <a:pt x="19" y="17"/>
                            </a:lnTo>
                            <a:lnTo>
                              <a:pt x="36" y="22"/>
                            </a:lnTo>
                            <a:lnTo>
                              <a:pt x="53" y="27"/>
                            </a:lnTo>
                            <a:lnTo>
                              <a:pt x="65" y="28"/>
                            </a:lnTo>
                            <a:lnTo>
                              <a:pt x="80" y="28"/>
                            </a:lnTo>
                            <a:lnTo>
                              <a:pt x="65" y="34"/>
                            </a:lnTo>
                            <a:lnTo>
                              <a:pt x="48" y="34"/>
                            </a:lnTo>
                            <a:lnTo>
                              <a:pt x="34" y="31"/>
                            </a:lnTo>
                            <a:lnTo>
                              <a:pt x="19" y="27"/>
                            </a:lnTo>
                            <a:lnTo>
                              <a:pt x="11" y="22"/>
                            </a:lnTo>
                            <a:lnTo>
                              <a:pt x="5" y="12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5F3F1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424" name="Freeform 242"/>
                      <p:cNvSpPr/>
                      <p:nvPr/>
                    </p:nvSpPr>
                    <p:spPr bwMode="auto">
                      <a:xfrm>
                        <a:off x="5079" y="2294"/>
                        <a:ext cx="8" cy="22"/>
                      </a:xfrm>
                      <a:custGeom>
                        <a:avLst/>
                        <a:gdLst>
                          <a:gd name="T0" fmla="*/ 5 w 47"/>
                          <a:gd name="T1" fmla="*/ 0 h 110"/>
                          <a:gd name="T2" fmla="*/ 0 w 47"/>
                          <a:gd name="T3" fmla="*/ 18 h 110"/>
                          <a:gd name="T4" fmla="*/ 31 w 47"/>
                          <a:gd name="T5" fmla="*/ 87 h 110"/>
                          <a:gd name="T6" fmla="*/ 47 w 47"/>
                          <a:gd name="T7" fmla="*/ 110 h 110"/>
                          <a:gd name="T8" fmla="*/ 29 w 47"/>
                          <a:gd name="T9" fmla="*/ 64 h 110"/>
                          <a:gd name="T10" fmla="*/ 18 w 47"/>
                          <a:gd name="T11" fmla="*/ 34 h 110"/>
                          <a:gd name="T12" fmla="*/ 5 w 47"/>
                          <a:gd name="T13" fmla="*/ 0 h 11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47" h="110">
                            <a:moveTo>
                              <a:pt x="5" y="0"/>
                            </a:moveTo>
                            <a:lnTo>
                              <a:pt x="0" y="18"/>
                            </a:lnTo>
                            <a:lnTo>
                              <a:pt x="31" y="87"/>
                            </a:lnTo>
                            <a:lnTo>
                              <a:pt x="47" y="110"/>
                            </a:lnTo>
                            <a:lnTo>
                              <a:pt x="29" y="64"/>
                            </a:lnTo>
                            <a:lnTo>
                              <a:pt x="18" y="34"/>
                            </a:lnTo>
                            <a:lnTo>
                              <a:pt x="5" y="0"/>
                            </a:lnTo>
                            <a:close/>
                          </a:path>
                        </a:pathLst>
                      </a:custGeom>
                      <a:solidFill>
                        <a:srgbClr val="5F3F1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425" name="Freeform 243"/>
                      <p:cNvSpPr/>
                      <p:nvPr/>
                    </p:nvSpPr>
                    <p:spPr bwMode="auto">
                      <a:xfrm>
                        <a:off x="5119" y="2288"/>
                        <a:ext cx="5" cy="11"/>
                      </a:xfrm>
                      <a:custGeom>
                        <a:avLst/>
                        <a:gdLst>
                          <a:gd name="T0" fmla="*/ 0 w 28"/>
                          <a:gd name="T1" fmla="*/ 0 h 52"/>
                          <a:gd name="T2" fmla="*/ 14 w 28"/>
                          <a:gd name="T3" fmla="*/ 15 h 52"/>
                          <a:gd name="T4" fmla="*/ 22 w 28"/>
                          <a:gd name="T5" fmla="*/ 26 h 52"/>
                          <a:gd name="T6" fmla="*/ 27 w 28"/>
                          <a:gd name="T7" fmla="*/ 32 h 52"/>
                          <a:gd name="T8" fmla="*/ 28 w 28"/>
                          <a:gd name="T9" fmla="*/ 41 h 52"/>
                          <a:gd name="T10" fmla="*/ 28 w 28"/>
                          <a:gd name="T11" fmla="*/ 52 h 52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</a:cxnLst>
                        <a:rect l="0" t="0" r="r" b="b"/>
                        <a:pathLst>
                          <a:path w="28" h="52">
                            <a:moveTo>
                              <a:pt x="0" y="0"/>
                            </a:moveTo>
                            <a:lnTo>
                              <a:pt x="14" y="15"/>
                            </a:lnTo>
                            <a:lnTo>
                              <a:pt x="22" y="26"/>
                            </a:lnTo>
                            <a:lnTo>
                              <a:pt x="27" y="32"/>
                            </a:lnTo>
                            <a:lnTo>
                              <a:pt x="28" y="41"/>
                            </a:lnTo>
                            <a:lnTo>
                              <a:pt x="28" y="52"/>
                            </a:lnTo>
                          </a:path>
                        </a:pathLst>
                      </a:custGeom>
                      <a:noFill/>
                      <a:ln w="1588">
                        <a:solidFill>
                          <a:srgbClr val="000000"/>
                        </a:solidFill>
                        <a:prstDash val="solid"/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426" name="Freeform 244"/>
                      <p:cNvSpPr/>
                      <p:nvPr/>
                    </p:nvSpPr>
                    <p:spPr bwMode="auto">
                      <a:xfrm>
                        <a:off x="5110" y="2302"/>
                        <a:ext cx="7" cy="7"/>
                      </a:xfrm>
                      <a:custGeom>
                        <a:avLst/>
                        <a:gdLst>
                          <a:gd name="T0" fmla="*/ 0 w 41"/>
                          <a:gd name="T1" fmla="*/ 13 h 32"/>
                          <a:gd name="T2" fmla="*/ 20 w 41"/>
                          <a:gd name="T3" fmla="*/ 12 h 32"/>
                          <a:gd name="T4" fmla="*/ 31 w 41"/>
                          <a:gd name="T5" fmla="*/ 6 h 32"/>
                          <a:gd name="T6" fmla="*/ 41 w 41"/>
                          <a:gd name="T7" fmla="*/ 0 h 32"/>
                          <a:gd name="T8" fmla="*/ 28 w 41"/>
                          <a:gd name="T9" fmla="*/ 16 h 32"/>
                          <a:gd name="T10" fmla="*/ 14 w 41"/>
                          <a:gd name="T11" fmla="*/ 28 h 32"/>
                          <a:gd name="T12" fmla="*/ 9 w 41"/>
                          <a:gd name="T13" fmla="*/ 32 h 32"/>
                          <a:gd name="T14" fmla="*/ 12 w 41"/>
                          <a:gd name="T15" fmla="*/ 22 h 32"/>
                          <a:gd name="T16" fmla="*/ 0 w 41"/>
                          <a:gd name="T17" fmla="*/ 13 h 32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</a:cxnLst>
                        <a:rect l="0" t="0" r="r" b="b"/>
                        <a:pathLst>
                          <a:path w="41" h="32">
                            <a:moveTo>
                              <a:pt x="0" y="13"/>
                            </a:moveTo>
                            <a:lnTo>
                              <a:pt x="20" y="12"/>
                            </a:lnTo>
                            <a:lnTo>
                              <a:pt x="31" y="6"/>
                            </a:lnTo>
                            <a:lnTo>
                              <a:pt x="41" y="0"/>
                            </a:lnTo>
                            <a:lnTo>
                              <a:pt x="28" y="16"/>
                            </a:lnTo>
                            <a:lnTo>
                              <a:pt x="14" y="28"/>
                            </a:lnTo>
                            <a:lnTo>
                              <a:pt x="9" y="32"/>
                            </a:lnTo>
                            <a:lnTo>
                              <a:pt x="12" y="22"/>
                            </a:lnTo>
                            <a:lnTo>
                              <a:pt x="0" y="13"/>
                            </a:lnTo>
                            <a:close/>
                          </a:path>
                        </a:pathLst>
                      </a:custGeom>
                      <a:solidFill>
                        <a:srgbClr val="7F5F3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sp>
                  <p:nvSpPr>
                    <p:cNvPr id="402" name="Oval 24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111" y="2282"/>
                      <a:ext cx="2" cy="3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grpSp>
                  <p:nvGrpSpPr>
                    <p:cNvPr id="403" name="Group 246"/>
                    <p:cNvGrpSpPr/>
                    <p:nvPr/>
                  </p:nvGrpSpPr>
                  <p:grpSpPr bwMode="auto">
                    <a:xfrm>
                      <a:off x="5063" y="2206"/>
                      <a:ext cx="81" cy="71"/>
                      <a:chOff x="5063" y="2206"/>
                      <a:chExt cx="81" cy="71"/>
                    </a:xfrm>
                  </p:grpSpPr>
                  <p:sp>
                    <p:nvSpPr>
                      <p:cNvPr id="421" name="Freeform 247"/>
                      <p:cNvSpPr/>
                      <p:nvPr/>
                    </p:nvSpPr>
                    <p:spPr bwMode="auto">
                      <a:xfrm>
                        <a:off x="5063" y="2206"/>
                        <a:ext cx="81" cy="71"/>
                      </a:xfrm>
                      <a:custGeom>
                        <a:avLst/>
                        <a:gdLst>
                          <a:gd name="T0" fmla="*/ 2 w 485"/>
                          <a:gd name="T1" fmla="*/ 208 h 353"/>
                          <a:gd name="T2" fmla="*/ 20 w 485"/>
                          <a:gd name="T3" fmla="*/ 157 h 353"/>
                          <a:gd name="T4" fmla="*/ 49 w 485"/>
                          <a:gd name="T5" fmla="*/ 108 h 353"/>
                          <a:gd name="T6" fmla="*/ 67 w 485"/>
                          <a:gd name="T7" fmla="*/ 81 h 353"/>
                          <a:gd name="T8" fmla="*/ 85 w 485"/>
                          <a:gd name="T9" fmla="*/ 55 h 353"/>
                          <a:gd name="T10" fmla="*/ 136 w 485"/>
                          <a:gd name="T11" fmla="*/ 22 h 353"/>
                          <a:gd name="T12" fmla="*/ 187 w 485"/>
                          <a:gd name="T13" fmla="*/ 3 h 353"/>
                          <a:gd name="T14" fmla="*/ 251 w 485"/>
                          <a:gd name="T15" fmla="*/ 0 h 353"/>
                          <a:gd name="T16" fmla="*/ 307 w 485"/>
                          <a:gd name="T17" fmla="*/ 3 h 353"/>
                          <a:gd name="T18" fmla="*/ 369 w 485"/>
                          <a:gd name="T19" fmla="*/ 25 h 353"/>
                          <a:gd name="T20" fmla="*/ 402 w 485"/>
                          <a:gd name="T21" fmla="*/ 54 h 353"/>
                          <a:gd name="T22" fmla="*/ 444 w 485"/>
                          <a:gd name="T23" fmla="*/ 100 h 353"/>
                          <a:gd name="T24" fmla="*/ 473 w 485"/>
                          <a:gd name="T25" fmla="*/ 145 h 353"/>
                          <a:gd name="T26" fmla="*/ 484 w 485"/>
                          <a:gd name="T27" fmla="*/ 185 h 353"/>
                          <a:gd name="T28" fmla="*/ 478 w 485"/>
                          <a:gd name="T29" fmla="*/ 248 h 353"/>
                          <a:gd name="T30" fmla="*/ 453 w 485"/>
                          <a:gd name="T31" fmla="*/ 305 h 353"/>
                          <a:gd name="T32" fmla="*/ 435 w 485"/>
                          <a:gd name="T33" fmla="*/ 353 h 353"/>
                          <a:gd name="T34" fmla="*/ 445 w 485"/>
                          <a:gd name="T35" fmla="*/ 274 h 353"/>
                          <a:gd name="T36" fmla="*/ 455 w 485"/>
                          <a:gd name="T37" fmla="*/ 212 h 353"/>
                          <a:gd name="T38" fmla="*/ 442 w 485"/>
                          <a:gd name="T39" fmla="*/ 152 h 353"/>
                          <a:gd name="T40" fmla="*/ 416 w 485"/>
                          <a:gd name="T41" fmla="*/ 96 h 353"/>
                          <a:gd name="T42" fmla="*/ 377 w 485"/>
                          <a:gd name="T43" fmla="*/ 55 h 353"/>
                          <a:gd name="T44" fmla="*/ 332 w 485"/>
                          <a:gd name="T45" fmla="*/ 29 h 353"/>
                          <a:gd name="T46" fmla="*/ 290 w 485"/>
                          <a:gd name="T47" fmla="*/ 13 h 353"/>
                          <a:gd name="T48" fmla="*/ 218 w 485"/>
                          <a:gd name="T49" fmla="*/ 13 h 353"/>
                          <a:gd name="T50" fmla="*/ 175 w 485"/>
                          <a:gd name="T51" fmla="*/ 24 h 353"/>
                          <a:gd name="T52" fmla="*/ 132 w 485"/>
                          <a:gd name="T53" fmla="*/ 50 h 353"/>
                          <a:gd name="T54" fmla="*/ 106 w 485"/>
                          <a:gd name="T55" fmla="*/ 84 h 353"/>
                          <a:gd name="T56" fmla="*/ 89 w 485"/>
                          <a:gd name="T57" fmla="*/ 123 h 353"/>
                          <a:gd name="T58" fmla="*/ 71 w 485"/>
                          <a:gd name="T59" fmla="*/ 168 h 353"/>
                          <a:gd name="T60" fmla="*/ 67 w 485"/>
                          <a:gd name="T61" fmla="*/ 207 h 353"/>
                          <a:gd name="T62" fmla="*/ 82 w 485"/>
                          <a:gd name="T63" fmla="*/ 243 h 353"/>
                          <a:gd name="T64" fmla="*/ 81 w 485"/>
                          <a:gd name="T65" fmla="*/ 274 h 353"/>
                          <a:gd name="T66" fmla="*/ 70 w 485"/>
                          <a:gd name="T67" fmla="*/ 304 h 353"/>
                          <a:gd name="T68" fmla="*/ 64 w 485"/>
                          <a:gd name="T69" fmla="*/ 341 h 353"/>
                          <a:gd name="T70" fmla="*/ 50 w 485"/>
                          <a:gd name="T71" fmla="*/ 341 h 353"/>
                          <a:gd name="T72" fmla="*/ 39 w 485"/>
                          <a:gd name="T73" fmla="*/ 293 h 353"/>
                          <a:gd name="T74" fmla="*/ 0 w 485"/>
                          <a:gd name="T75" fmla="*/ 252 h 35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</a:cxnLst>
                        <a:rect l="0" t="0" r="r" b="b"/>
                        <a:pathLst>
                          <a:path w="485" h="353">
                            <a:moveTo>
                              <a:pt x="0" y="252"/>
                            </a:moveTo>
                            <a:lnTo>
                              <a:pt x="2" y="208"/>
                            </a:lnTo>
                            <a:lnTo>
                              <a:pt x="9" y="175"/>
                            </a:lnTo>
                            <a:lnTo>
                              <a:pt x="20" y="157"/>
                            </a:lnTo>
                            <a:lnTo>
                              <a:pt x="32" y="133"/>
                            </a:lnTo>
                            <a:lnTo>
                              <a:pt x="49" y="108"/>
                            </a:lnTo>
                            <a:lnTo>
                              <a:pt x="57" y="96"/>
                            </a:lnTo>
                            <a:lnTo>
                              <a:pt x="67" y="81"/>
                            </a:lnTo>
                            <a:lnTo>
                              <a:pt x="75" y="66"/>
                            </a:lnTo>
                            <a:lnTo>
                              <a:pt x="85" y="55"/>
                            </a:lnTo>
                            <a:lnTo>
                              <a:pt x="113" y="37"/>
                            </a:lnTo>
                            <a:lnTo>
                              <a:pt x="136" y="22"/>
                            </a:lnTo>
                            <a:lnTo>
                              <a:pt x="162" y="9"/>
                            </a:lnTo>
                            <a:lnTo>
                              <a:pt x="187" y="3"/>
                            </a:lnTo>
                            <a:lnTo>
                              <a:pt x="216" y="0"/>
                            </a:lnTo>
                            <a:lnTo>
                              <a:pt x="251" y="0"/>
                            </a:lnTo>
                            <a:lnTo>
                              <a:pt x="281" y="0"/>
                            </a:lnTo>
                            <a:lnTo>
                              <a:pt x="307" y="3"/>
                            </a:lnTo>
                            <a:lnTo>
                              <a:pt x="344" y="14"/>
                            </a:lnTo>
                            <a:lnTo>
                              <a:pt x="369" y="25"/>
                            </a:lnTo>
                            <a:lnTo>
                              <a:pt x="387" y="39"/>
                            </a:lnTo>
                            <a:lnTo>
                              <a:pt x="402" y="54"/>
                            </a:lnTo>
                            <a:lnTo>
                              <a:pt x="426" y="77"/>
                            </a:lnTo>
                            <a:lnTo>
                              <a:pt x="444" y="100"/>
                            </a:lnTo>
                            <a:lnTo>
                              <a:pt x="462" y="123"/>
                            </a:lnTo>
                            <a:lnTo>
                              <a:pt x="473" y="145"/>
                            </a:lnTo>
                            <a:lnTo>
                              <a:pt x="480" y="163"/>
                            </a:lnTo>
                            <a:lnTo>
                              <a:pt x="484" y="185"/>
                            </a:lnTo>
                            <a:lnTo>
                              <a:pt x="485" y="216"/>
                            </a:lnTo>
                            <a:lnTo>
                              <a:pt x="478" y="248"/>
                            </a:lnTo>
                            <a:lnTo>
                              <a:pt x="463" y="278"/>
                            </a:lnTo>
                            <a:lnTo>
                              <a:pt x="453" y="305"/>
                            </a:lnTo>
                            <a:lnTo>
                              <a:pt x="442" y="337"/>
                            </a:lnTo>
                            <a:lnTo>
                              <a:pt x="435" y="353"/>
                            </a:lnTo>
                            <a:lnTo>
                              <a:pt x="442" y="307"/>
                            </a:lnTo>
                            <a:lnTo>
                              <a:pt x="445" y="274"/>
                            </a:lnTo>
                            <a:lnTo>
                              <a:pt x="448" y="239"/>
                            </a:lnTo>
                            <a:lnTo>
                              <a:pt x="455" y="212"/>
                            </a:lnTo>
                            <a:lnTo>
                              <a:pt x="451" y="178"/>
                            </a:lnTo>
                            <a:lnTo>
                              <a:pt x="442" y="152"/>
                            </a:lnTo>
                            <a:lnTo>
                              <a:pt x="430" y="123"/>
                            </a:lnTo>
                            <a:lnTo>
                              <a:pt x="416" y="96"/>
                            </a:lnTo>
                            <a:lnTo>
                              <a:pt x="398" y="76"/>
                            </a:lnTo>
                            <a:lnTo>
                              <a:pt x="377" y="55"/>
                            </a:lnTo>
                            <a:lnTo>
                              <a:pt x="353" y="43"/>
                            </a:lnTo>
                            <a:lnTo>
                              <a:pt x="332" y="29"/>
                            </a:lnTo>
                            <a:lnTo>
                              <a:pt x="310" y="21"/>
                            </a:lnTo>
                            <a:lnTo>
                              <a:pt x="290" y="13"/>
                            </a:lnTo>
                            <a:lnTo>
                              <a:pt x="258" y="9"/>
                            </a:lnTo>
                            <a:lnTo>
                              <a:pt x="218" y="13"/>
                            </a:lnTo>
                            <a:lnTo>
                              <a:pt x="193" y="17"/>
                            </a:lnTo>
                            <a:lnTo>
                              <a:pt x="175" y="24"/>
                            </a:lnTo>
                            <a:lnTo>
                              <a:pt x="151" y="37"/>
                            </a:lnTo>
                            <a:lnTo>
                              <a:pt x="132" y="50"/>
                            </a:lnTo>
                            <a:lnTo>
                              <a:pt x="113" y="70"/>
                            </a:lnTo>
                            <a:lnTo>
                              <a:pt x="106" y="84"/>
                            </a:lnTo>
                            <a:lnTo>
                              <a:pt x="97" y="101"/>
                            </a:lnTo>
                            <a:lnTo>
                              <a:pt x="89" y="123"/>
                            </a:lnTo>
                            <a:lnTo>
                              <a:pt x="81" y="144"/>
                            </a:lnTo>
                            <a:lnTo>
                              <a:pt x="71" y="168"/>
                            </a:lnTo>
                            <a:lnTo>
                              <a:pt x="67" y="186"/>
                            </a:lnTo>
                            <a:lnTo>
                              <a:pt x="67" y="207"/>
                            </a:lnTo>
                            <a:lnTo>
                              <a:pt x="74" y="227"/>
                            </a:lnTo>
                            <a:lnTo>
                              <a:pt x="82" y="243"/>
                            </a:lnTo>
                            <a:lnTo>
                              <a:pt x="86" y="259"/>
                            </a:lnTo>
                            <a:lnTo>
                              <a:pt x="81" y="274"/>
                            </a:lnTo>
                            <a:lnTo>
                              <a:pt x="74" y="285"/>
                            </a:lnTo>
                            <a:lnTo>
                              <a:pt x="70" y="304"/>
                            </a:lnTo>
                            <a:lnTo>
                              <a:pt x="64" y="322"/>
                            </a:lnTo>
                            <a:lnTo>
                              <a:pt x="64" y="341"/>
                            </a:lnTo>
                            <a:lnTo>
                              <a:pt x="64" y="353"/>
                            </a:lnTo>
                            <a:lnTo>
                              <a:pt x="50" y="341"/>
                            </a:lnTo>
                            <a:lnTo>
                              <a:pt x="45" y="312"/>
                            </a:lnTo>
                            <a:lnTo>
                              <a:pt x="39" y="293"/>
                            </a:lnTo>
                            <a:lnTo>
                              <a:pt x="31" y="274"/>
                            </a:lnTo>
                            <a:lnTo>
                              <a:pt x="0" y="252"/>
                            </a:lnTo>
                            <a:close/>
                          </a:path>
                        </a:pathLst>
                      </a:custGeom>
                      <a:solidFill>
                        <a:srgbClr val="BFBFB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422" name="Freeform 248"/>
                      <p:cNvSpPr/>
                      <p:nvPr/>
                    </p:nvSpPr>
                    <p:spPr bwMode="auto">
                      <a:xfrm>
                        <a:off x="5063" y="2206"/>
                        <a:ext cx="81" cy="71"/>
                      </a:xfrm>
                      <a:custGeom>
                        <a:avLst/>
                        <a:gdLst>
                          <a:gd name="T0" fmla="*/ 2 w 485"/>
                          <a:gd name="T1" fmla="*/ 208 h 353"/>
                          <a:gd name="T2" fmla="*/ 20 w 485"/>
                          <a:gd name="T3" fmla="*/ 157 h 353"/>
                          <a:gd name="T4" fmla="*/ 49 w 485"/>
                          <a:gd name="T5" fmla="*/ 108 h 353"/>
                          <a:gd name="T6" fmla="*/ 66 w 485"/>
                          <a:gd name="T7" fmla="*/ 81 h 353"/>
                          <a:gd name="T8" fmla="*/ 84 w 485"/>
                          <a:gd name="T9" fmla="*/ 55 h 353"/>
                          <a:gd name="T10" fmla="*/ 136 w 485"/>
                          <a:gd name="T11" fmla="*/ 22 h 353"/>
                          <a:gd name="T12" fmla="*/ 187 w 485"/>
                          <a:gd name="T13" fmla="*/ 3 h 353"/>
                          <a:gd name="T14" fmla="*/ 250 w 485"/>
                          <a:gd name="T15" fmla="*/ 0 h 353"/>
                          <a:gd name="T16" fmla="*/ 307 w 485"/>
                          <a:gd name="T17" fmla="*/ 3 h 353"/>
                          <a:gd name="T18" fmla="*/ 369 w 485"/>
                          <a:gd name="T19" fmla="*/ 25 h 353"/>
                          <a:gd name="T20" fmla="*/ 402 w 485"/>
                          <a:gd name="T21" fmla="*/ 54 h 353"/>
                          <a:gd name="T22" fmla="*/ 444 w 485"/>
                          <a:gd name="T23" fmla="*/ 100 h 353"/>
                          <a:gd name="T24" fmla="*/ 473 w 485"/>
                          <a:gd name="T25" fmla="*/ 145 h 353"/>
                          <a:gd name="T26" fmla="*/ 483 w 485"/>
                          <a:gd name="T27" fmla="*/ 185 h 353"/>
                          <a:gd name="T28" fmla="*/ 478 w 485"/>
                          <a:gd name="T29" fmla="*/ 248 h 353"/>
                          <a:gd name="T30" fmla="*/ 452 w 485"/>
                          <a:gd name="T31" fmla="*/ 305 h 353"/>
                          <a:gd name="T32" fmla="*/ 435 w 485"/>
                          <a:gd name="T33" fmla="*/ 353 h 353"/>
                          <a:gd name="T34" fmla="*/ 445 w 485"/>
                          <a:gd name="T35" fmla="*/ 274 h 353"/>
                          <a:gd name="T36" fmla="*/ 455 w 485"/>
                          <a:gd name="T37" fmla="*/ 212 h 353"/>
                          <a:gd name="T38" fmla="*/ 442 w 485"/>
                          <a:gd name="T39" fmla="*/ 152 h 353"/>
                          <a:gd name="T40" fmla="*/ 415 w 485"/>
                          <a:gd name="T41" fmla="*/ 96 h 353"/>
                          <a:gd name="T42" fmla="*/ 377 w 485"/>
                          <a:gd name="T43" fmla="*/ 55 h 353"/>
                          <a:gd name="T44" fmla="*/ 332 w 485"/>
                          <a:gd name="T45" fmla="*/ 29 h 353"/>
                          <a:gd name="T46" fmla="*/ 290 w 485"/>
                          <a:gd name="T47" fmla="*/ 13 h 353"/>
                          <a:gd name="T48" fmla="*/ 218 w 485"/>
                          <a:gd name="T49" fmla="*/ 13 h 353"/>
                          <a:gd name="T50" fmla="*/ 175 w 485"/>
                          <a:gd name="T51" fmla="*/ 24 h 353"/>
                          <a:gd name="T52" fmla="*/ 132 w 485"/>
                          <a:gd name="T53" fmla="*/ 50 h 353"/>
                          <a:gd name="T54" fmla="*/ 106 w 485"/>
                          <a:gd name="T55" fmla="*/ 84 h 353"/>
                          <a:gd name="T56" fmla="*/ 92 w 485"/>
                          <a:gd name="T57" fmla="*/ 89 h 353"/>
                          <a:gd name="T58" fmla="*/ 72 w 485"/>
                          <a:gd name="T59" fmla="*/ 103 h 353"/>
                          <a:gd name="T60" fmla="*/ 58 w 485"/>
                          <a:gd name="T61" fmla="*/ 127 h 353"/>
                          <a:gd name="T62" fmla="*/ 49 w 485"/>
                          <a:gd name="T63" fmla="*/ 168 h 353"/>
                          <a:gd name="T64" fmla="*/ 46 w 485"/>
                          <a:gd name="T65" fmla="*/ 223 h 353"/>
                          <a:gd name="T66" fmla="*/ 45 w 485"/>
                          <a:gd name="T67" fmla="*/ 312 h 353"/>
                          <a:gd name="T68" fmla="*/ 31 w 485"/>
                          <a:gd name="T69" fmla="*/ 274 h 35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</a:cxnLst>
                        <a:rect l="0" t="0" r="r" b="b"/>
                        <a:pathLst>
                          <a:path w="485" h="353">
                            <a:moveTo>
                              <a:pt x="0" y="252"/>
                            </a:moveTo>
                            <a:lnTo>
                              <a:pt x="2" y="208"/>
                            </a:lnTo>
                            <a:lnTo>
                              <a:pt x="9" y="175"/>
                            </a:lnTo>
                            <a:lnTo>
                              <a:pt x="20" y="157"/>
                            </a:lnTo>
                            <a:lnTo>
                              <a:pt x="32" y="133"/>
                            </a:lnTo>
                            <a:lnTo>
                              <a:pt x="49" y="108"/>
                            </a:lnTo>
                            <a:lnTo>
                              <a:pt x="57" y="96"/>
                            </a:lnTo>
                            <a:lnTo>
                              <a:pt x="66" y="81"/>
                            </a:lnTo>
                            <a:lnTo>
                              <a:pt x="75" y="66"/>
                            </a:lnTo>
                            <a:lnTo>
                              <a:pt x="84" y="55"/>
                            </a:lnTo>
                            <a:lnTo>
                              <a:pt x="113" y="37"/>
                            </a:lnTo>
                            <a:lnTo>
                              <a:pt x="136" y="22"/>
                            </a:lnTo>
                            <a:lnTo>
                              <a:pt x="162" y="9"/>
                            </a:lnTo>
                            <a:lnTo>
                              <a:pt x="187" y="3"/>
                            </a:lnTo>
                            <a:lnTo>
                              <a:pt x="216" y="0"/>
                            </a:lnTo>
                            <a:lnTo>
                              <a:pt x="250" y="0"/>
                            </a:lnTo>
                            <a:lnTo>
                              <a:pt x="280" y="0"/>
                            </a:lnTo>
                            <a:lnTo>
                              <a:pt x="307" y="3"/>
                            </a:lnTo>
                            <a:lnTo>
                              <a:pt x="344" y="14"/>
                            </a:lnTo>
                            <a:lnTo>
                              <a:pt x="369" y="25"/>
                            </a:lnTo>
                            <a:lnTo>
                              <a:pt x="387" y="39"/>
                            </a:lnTo>
                            <a:lnTo>
                              <a:pt x="402" y="54"/>
                            </a:lnTo>
                            <a:lnTo>
                              <a:pt x="426" y="77"/>
                            </a:lnTo>
                            <a:lnTo>
                              <a:pt x="444" y="100"/>
                            </a:lnTo>
                            <a:lnTo>
                              <a:pt x="462" y="123"/>
                            </a:lnTo>
                            <a:lnTo>
                              <a:pt x="473" y="145"/>
                            </a:lnTo>
                            <a:lnTo>
                              <a:pt x="480" y="163"/>
                            </a:lnTo>
                            <a:lnTo>
                              <a:pt x="483" y="185"/>
                            </a:lnTo>
                            <a:lnTo>
                              <a:pt x="485" y="216"/>
                            </a:lnTo>
                            <a:lnTo>
                              <a:pt x="478" y="248"/>
                            </a:lnTo>
                            <a:lnTo>
                              <a:pt x="463" y="278"/>
                            </a:lnTo>
                            <a:lnTo>
                              <a:pt x="452" y="305"/>
                            </a:lnTo>
                            <a:lnTo>
                              <a:pt x="442" y="337"/>
                            </a:lnTo>
                            <a:lnTo>
                              <a:pt x="435" y="353"/>
                            </a:lnTo>
                            <a:lnTo>
                              <a:pt x="442" y="307"/>
                            </a:lnTo>
                            <a:lnTo>
                              <a:pt x="445" y="274"/>
                            </a:lnTo>
                            <a:lnTo>
                              <a:pt x="448" y="239"/>
                            </a:lnTo>
                            <a:lnTo>
                              <a:pt x="455" y="212"/>
                            </a:lnTo>
                            <a:lnTo>
                              <a:pt x="451" y="178"/>
                            </a:lnTo>
                            <a:lnTo>
                              <a:pt x="442" y="152"/>
                            </a:lnTo>
                            <a:lnTo>
                              <a:pt x="430" y="123"/>
                            </a:lnTo>
                            <a:lnTo>
                              <a:pt x="415" y="96"/>
                            </a:lnTo>
                            <a:lnTo>
                              <a:pt x="397" y="76"/>
                            </a:lnTo>
                            <a:lnTo>
                              <a:pt x="377" y="55"/>
                            </a:lnTo>
                            <a:lnTo>
                              <a:pt x="353" y="43"/>
                            </a:lnTo>
                            <a:lnTo>
                              <a:pt x="332" y="29"/>
                            </a:lnTo>
                            <a:lnTo>
                              <a:pt x="310" y="21"/>
                            </a:lnTo>
                            <a:lnTo>
                              <a:pt x="290" y="13"/>
                            </a:lnTo>
                            <a:lnTo>
                              <a:pt x="258" y="9"/>
                            </a:lnTo>
                            <a:lnTo>
                              <a:pt x="218" y="13"/>
                            </a:lnTo>
                            <a:lnTo>
                              <a:pt x="193" y="17"/>
                            </a:lnTo>
                            <a:lnTo>
                              <a:pt x="175" y="24"/>
                            </a:lnTo>
                            <a:lnTo>
                              <a:pt x="151" y="37"/>
                            </a:lnTo>
                            <a:lnTo>
                              <a:pt x="132" y="50"/>
                            </a:lnTo>
                            <a:lnTo>
                              <a:pt x="113" y="70"/>
                            </a:lnTo>
                            <a:lnTo>
                              <a:pt x="106" y="84"/>
                            </a:lnTo>
                            <a:lnTo>
                              <a:pt x="100" y="85"/>
                            </a:lnTo>
                            <a:lnTo>
                              <a:pt x="92" y="89"/>
                            </a:lnTo>
                            <a:lnTo>
                              <a:pt x="81" y="96"/>
                            </a:lnTo>
                            <a:lnTo>
                              <a:pt x="72" y="103"/>
                            </a:lnTo>
                            <a:lnTo>
                              <a:pt x="65" y="111"/>
                            </a:lnTo>
                            <a:lnTo>
                              <a:pt x="58" y="127"/>
                            </a:lnTo>
                            <a:lnTo>
                              <a:pt x="55" y="143"/>
                            </a:lnTo>
                            <a:lnTo>
                              <a:pt x="49" y="168"/>
                            </a:lnTo>
                            <a:lnTo>
                              <a:pt x="46" y="192"/>
                            </a:lnTo>
                            <a:lnTo>
                              <a:pt x="46" y="223"/>
                            </a:lnTo>
                            <a:lnTo>
                              <a:pt x="44" y="262"/>
                            </a:lnTo>
                            <a:lnTo>
                              <a:pt x="45" y="312"/>
                            </a:lnTo>
                            <a:lnTo>
                              <a:pt x="39" y="293"/>
                            </a:lnTo>
                            <a:lnTo>
                              <a:pt x="31" y="274"/>
                            </a:lnTo>
                            <a:lnTo>
                              <a:pt x="0" y="252"/>
                            </a:lnTo>
                            <a:close/>
                          </a:path>
                        </a:pathLst>
                      </a:custGeom>
                      <a:solidFill>
                        <a:srgbClr val="9F9F9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404" name="Group 249"/>
                    <p:cNvGrpSpPr/>
                    <p:nvPr/>
                  </p:nvGrpSpPr>
                  <p:grpSpPr bwMode="auto">
                    <a:xfrm>
                      <a:off x="5084" y="2252"/>
                      <a:ext cx="50" cy="15"/>
                      <a:chOff x="5084" y="2252"/>
                      <a:chExt cx="50" cy="15"/>
                    </a:xfrm>
                  </p:grpSpPr>
                  <p:sp>
                    <p:nvSpPr>
                      <p:cNvPr id="419" name="Freeform 250"/>
                      <p:cNvSpPr/>
                      <p:nvPr/>
                    </p:nvSpPr>
                    <p:spPr bwMode="auto">
                      <a:xfrm>
                        <a:off x="5084" y="2252"/>
                        <a:ext cx="24" cy="9"/>
                      </a:xfrm>
                      <a:custGeom>
                        <a:avLst/>
                        <a:gdLst>
                          <a:gd name="T0" fmla="*/ 143 w 143"/>
                          <a:gd name="T1" fmla="*/ 45 h 45"/>
                          <a:gd name="T2" fmla="*/ 143 w 143"/>
                          <a:gd name="T3" fmla="*/ 37 h 45"/>
                          <a:gd name="T4" fmla="*/ 140 w 143"/>
                          <a:gd name="T5" fmla="*/ 26 h 45"/>
                          <a:gd name="T6" fmla="*/ 129 w 143"/>
                          <a:gd name="T7" fmla="*/ 18 h 45"/>
                          <a:gd name="T8" fmla="*/ 117 w 143"/>
                          <a:gd name="T9" fmla="*/ 10 h 45"/>
                          <a:gd name="T10" fmla="*/ 106 w 143"/>
                          <a:gd name="T11" fmla="*/ 3 h 45"/>
                          <a:gd name="T12" fmla="*/ 97 w 143"/>
                          <a:gd name="T13" fmla="*/ 3 h 45"/>
                          <a:gd name="T14" fmla="*/ 82 w 143"/>
                          <a:gd name="T15" fmla="*/ 3 h 45"/>
                          <a:gd name="T16" fmla="*/ 74 w 143"/>
                          <a:gd name="T17" fmla="*/ 0 h 45"/>
                          <a:gd name="T18" fmla="*/ 52 w 143"/>
                          <a:gd name="T19" fmla="*/ 0 h 45"/>
                          <a:gd name="T20" fmla="*/ 38 w 143"/>
                          <a:gd name="T21" fmla="*/ 1 h 45"/>
                          <a:gd name="T22" fmla="*/ 24 w 143"/>
                          <a:gd name="T23" fmla="*/ 6 h 45"/>
                          <a:gd name="T24" fmla="*/ 12 w 143"/>
                          <a:gd name="T25" fmla="*/ 15 h 45"/>
                          <a:gd name="T26" fmla="*/ 0 w 143"/>
                          <a:gd name="T27" fmla="*/ 24 h 45"/>
                          <a:gd name="T28" fmla="*/ 15 w 143"/>
                          <a:gd name="T29" fmla="*/ 17 h 45"/>
                          <a:gd name="T30" fmla="*/ 30 w 143"/>
                          <a:gd name="T31" fmla="*/ 16 h 45"/>
                          <a:gd name="T32" fmla="*/ 43 w 143"/>
                          <a:gd name="T33" fmla="*/ 15 h 45"/>
                          <a:gd name="T34" fmla="*/ 64 w 143"/>
                          <a:gd name="T35" fmla="*/ 17 h 45"/>
                          <a:gd name="T36" fmla="*/ 77 w 143"/>
                          <a:gd name="T37" fmla="*/ 17 h 45"/>
                          <a:gd name="T38" fmla="*/ 91 w 143"/>
                          <a:gd name="T39" fmla="*/ 18 h 45"/>
                          <a:gd name="T40" fmla="*/ 112 w 143"/>
                          <a:gd name="T41" fmla="*/ 27 h 45"/>
                          <a:gd name="T42" fmla="*/ 129 w 143"/>
                          <a:gd name="T43" fmla="*/ 37 h 45"/>
                          <a:gd name="T44" fmla="*/ 143 w 143"/>
                          <a:gd name="T45" fmla="*/ 45 h 45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</a:cxnLst>
                        <a:rect l="0" t="0" r="r" b="b"/>
                        <a:pathLst>
                          <a:path w="143" h="45">
                            <a:moveTo>
                              <a:pt x="143" y="45"/>
                            </a:moveTo>
                            <a:lnTo>
                              <a:pt x="143" y="37"/>
                            </a:lnTo>
                            <a:lnTo>
                              <a:pt x="140" y="26"/>
                            </a:lnTo>
                            <a:lnTo>
                              <a:pt x="129" y="18"/>
                            </a:lnTo>
                            <a:lnTo>
                              <a:pt x="117" y="10"/>
                            </a:lnTo>
                            <a:lnTo>
                              <a:pt x="106" y="3"/>
                            </a:lnTo>
                            <a:lnTo>
                              <a:pt x="97" y="3"/>
                            </a:lnTo>
                            <a:lnTo>
                              <a:pt x="82" y="3"/>
                            </a:lnTo>
                            <a:lnTo>
                              <a:pt x="74" y="0"/>
                            </a:lnTo>
                            <a:lnTo>
                              <a:pt x="52" y="0"/>
                            </a:lnTo>
                            <a:lnTo>
                              <a:pt x="38" y="1"/>
                            </a:lnTo>
                            <a:lnTo>
                              <a:pt x="24" y="6"/>
                            </a:lnTo>
                            <a:lnTo>
                              <a:pt x="12" y="15"/>
                            </a:lnTo>
                            <a:lnTo>
                              <a:pt x="0" y="24"/>
                            </a:lnTo>
                            <a:lnTo>
                              <a:pt x="15" y="17"/>
                            </a:lnTo>
                            <a:lnTo>
                              <a:pt x="30" y="16"/>
                            </a:lnTo>
                            <a:lnTo>
                              <a:pt x="43" y="15"/>
                            </a:lnTo>
                            <a:lnTo>
                              <a:pt x="64" y="17"/>
                            </a:lnTo>
                            <a:lnTo>
                              <a:pt x="77" y="17"/>
                            </a:lnTo>
                            <a:lnTo>
                              <a:pt x="91" y="18"/>
                            </a:lnTo>
                            <a:lnTo>
                              <a:pt x="112" y="27"/>
                            </a:lnTo>
                            <a:lnTo>
                              <a:pt x="129" y="37"/>
                            </a:lnTo>
                            <a:lnTo>
                              <a:pt x="143" y="45"/>
                            </a:lnTo>
                            <a:close/>
                          </a:path>
                        </a:pathLst>
                      </a:custGeom>
                      <a:solidFill>
                        <a:srgbClr val="5F3F1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420" name="Freeform 251"/>
                      <p:cNvSpPr/>
                      <p:nvPr/>
                    </p:nvSpPr>
                    <p:spPr bwMode="auto">
                      <a:xfrm>
                        <a:off x="5116" y="2256"/>
                        <a:ext cx="18" cy="11"/>
                      </a:xfrm>
                      <a:custGeom>
                        <a:avLst/>
                        <a:gdLst>
                          <a:gd name="T0" fmla="*/ 0 w 110"/>
                          <a:gd name="T1" fmla="*/ 23 h 55"/>
                          <a:gd name="T2" fmla="*/ 4 w 110"/>
                          <a:gd name="T3" fmla="*/ 18 h 55"/>
                          <a:gd name="T4" fmla="*/ 15 w 110"/>
                          <a:gd name="T5" fmla="*/ 11 h 55"/>
                          <a:gd name="T6" fmla="*/ 31 w 110"/>
                          <a:gd name="T7" fmla="*/ 3 h 55"/>
                          <a:gd name="T8" fmla="*/ 44 w 110"/>
                          <a:gd name="T9" fmla="*/ 0 h 55"/>
                          <a:gd name="T10" fmla="*/ 62 w 110"/>
                          <a:gd name="T11" fmla="*/ 0 h 55"/>
                          <a:gd name="T12" fmla="*/ 79 w 110"/>
                          <a:gd name="T13" fmla="*/ 2 h 55"/>
                          <a:gd name="T14" fmla="*/ 96 w 110"/>
                          <a:gd name="T15" fmla="*/ 12 h 55"/>
                          <a:gd name="T16" fmla="*/ 103 w 110"/>
                          <a:gd name="T17" fmla="*/ 20 h 55"/>
                          <a:gd name="T18" fmla="*/ 108 w 110"/>
                          <a:gd name="T19" fmla="*/ 32 h 55"/>
                          <a:gd name="T20" fmla="*/ 110 w 110"/>
                          <a:gd name="T21" fmla="*/ 45 h 55"/>
                          <a:gd name="T22" fmla="*/ 108 w 110"/>
                          <a:gd name="T23" fmla="*/ 55 h 55"/>
                          <a:gd name="T24" fmla="*/ 104 w 110"/>
                          <a:gd name="T25" fmla="*/ 39 h 55"/>
                          <a:gd name="T26" fmla="*/ 97 w 110"/>
                          <a:gd name="T27" fmla="*/ 29 h 55"/>
                          <a:gd name="T28" fmla="*/ 87 w 110"/>
                          <a:gd name="T29" fmla="*/ 18 h 55"/>
                          <a:gd name="T30" fmla="*/ 74 w 110"/>
                          <a:gd name="T31" fmla="*/ 15 h 55"/>
                          <a:gd name="T32" fmla="*/ 62 w 110"/>
                          <a:gd name="T33" fmla="*/ 17 h 55"/>
                          <a:gd name="T34" fmla="*/ 53 w 110"/>
                          <a:gd name="T35" fmla="*/ 16 h 55"/>
                          <a:gd name="T36" fmla="*/ 42 w 110"/>
                          <a:gd name="T37" fmla="*/ 16 h 55"/>
                          <a:gd name="T38" fmla="*/ 31 w 110"/>
                          <a:gd name="T39" fmla="*/ 20 h 55"/>
                          <a:gd name="T40" fmla="*/ 16 w 110"/>
                          <a:gd name="T41" fmla="*/ 27 h 55"/>
                          <a:gd name="T42" fmla="*/ 3 w 110"/>
                          <a:gd name="T43" fmla="*/ 28 h 55"/>
                          <a:gd name="T44" fmla="*/ 0 w 110"/>
                          <a:gd name="T45" fmla="*/ 23 h 55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</a:cxnLst>
                        <a:rect l="0" t="0" r="r" b="b"/>
                        <a:pathLst>
                          <a:path w="110" h="55">
                            <a:moveTo>
                              <a:pt x="0" y="23"/>
                            </a:moveTo>
                            <a:lnTo>
                              <a:pt x="4" y="18"/>
                            </a:lnTo>
                            <a:lnTo>
                              <a:pt x="15" y="11"/>
                            </a:lnTo>
                            <a:lnTo>
                              <a:pt x="31" y="3"/>
                            </a:lnTo>
                            <a:lnTo>
                              <a:pt x="44" y="0"/>
                            </a:lnTo>
                            <a:lnTo>
                              <a:pt x="62" y="0"/>
                            </a:lnTo>
                            <a:lnTo>
                              <a:pt x="79" y="2"/>
                            </a:lnTo>
                            <a:lnTo>
                              <a:pt x="96" y="12"/>
                            </a:lnTo>
                            <a:lnTo>
                              <a:pt x="103" y="20"/>
                            </a:lnTo>
                            <a:lnTo>
                              <a:pt x="108" y="32"/>
                            </a:lnTo>
                            <a:lnTo>
                              <a:pt x="110" y="45"/>
                            </a:lnTo>
                            <a:lnTo>
                              <a:pt x="108" y="55"/>
                            </a:lnTo>
                            <a:lnTo>
                              <a:pt x="104" y="39"/>
                            </a:lnTo>
                            <a:lnTo>
                              <a:pt x="97" y="29"/>
                            </a:lnTo>
                            <a:lnTo>
                              <a:pt x="87" y="18"/>
                            </a:lnTo>
                            <a:lnTo>
                              <a:pt x="74" y="15"/>
                            </a:lnTo>
                            <a:lnTo>
                              <a:pt x="62" y="17"/>
                            </a:lnTo>
                            <a:lnTo>
                              <a:pt x="53" y="16"/>
                            </a:lnTo>
                            <a:lnTo>
                              <a:pt x="42" y="16"/>
                            </a:lnTo>
                            <a:lnTo>
                              <a:pt x="31" y="20"/>
                            </a:lnTo>
                            <a:lnTo>
                              <a:pt x="16" y="27"/>
                            </a:lnTo>
                            <a:lnTo>
                              <a:pt x="3" y="28"/>
                            </a:lnTo>
                            <a:lnTo>
                              <a:pt x="0" y="23"/>
                            </a:lnTo>
                            <a:close/>
                          </a:path>
                        </a:pathLst>
                      </a:custGeom>
                      <a:solidFill>
                        <a:srgbClr val="5F3F1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405" name="Group 252"/>
                    <p:cNvGrpSpPr/>
                    <p:nvPr/>
                  </p:nvGrpSpPr>
                  <p:grpSpPr bwMode="auto">
                    <a:xfrm>
                      <a:off x="5115" y="2265"/>
                      <a:ext cx="13" cy="9"/>
                      <a:chOff x="5115" y="2265"/>
                      <a:chExt cx="13" cy="9"/>
                    </a:xfrm>
                  </p:grpSpPr>
                  <p:sp>
                    <p:nvSpPr>
                      <p:cNvPr id="413" name="Freeform 253"/>
                      <p:cNvSpPr/>
                      <p:nvPr/>
                    </p:nvSpPr>
                    <p:spPr bwMode="auto">
                      <a:xfrm>
                        <a:off x="5116" y="2265"/>
                        <a:ext cx="12" cy="7"/>
                      </a:xfrm>
                      <a:custGeom>
                        <a:avLst/>
                        <a:gdLst>
                          <a:gd name="T0" fmla="*/ 0 w 71"/>
                          <a:gd name="T1" fmla="*/ 16 h 35"/>
                          <a:gd name="T2" fmla="*/ 6 w 71"/>
                          <a:gd name="T3" fmla="*/ 8 h 35"/>
                          <a:gd name="T4" fmla="*/ 19 w 71"/>
                          <a:gd name="T5" fmla="*/ 1 h 35"/>
                          <a:gd name="T6" fmla="*/ 32 w 71"/>
                          <a:gd name="T7" fmla="*/ 0 h 35"/>
                          <a:gd name="T8" fmla="*/ 44 w 71"/>
                          <a:gd name="T9" fmla="*/ 3 h 35"/>
                          <a:gd name="T10" fmla="*/ 51 w 71"/>
                          <a:gd name="T11" fmla="*/ 5 h 35"/>
                          <a:gd name="T12" fmla="*/ 64 w 71"/>
                          <a:gd name="T13" fmla="*/ 14 h 35"/>
                          <a:gd name="T14" fmla="*/ 71 w 71"/>
                          <a:gd name="T15" fmla="*/ 27 h 35"/>
                          <a:gd name="T16" fmla="*/ 61 w 71"/>
                          <a:gd name="T17" fmla="*/ 29 h 35"/>
                          <a:gd name="T18" fmla="*/ 50 w 71"/>
                          <a:gd name="T19" fmla="*/ 32 h 35"/>
                          <a:gd name="T20" fmla="*/ 40 w 71"/>
                          <a:gd name="T21" fmla="*/ 35 h 35"/>
                          <a:gd name="T22" fmla="*/ 28 w 71"/>
                          <a:gd name="T23" fmla="*/ 35 h 35"/>
                          <a:gd name="T24" fmla="*/ 19 w 71"/>
                          <a:gd name="T25" fmla="*/ 31 h 35"/>
                          <a:gd name="T26" fmla="*/ 0 w 71"/>
                          <a:gd name="T27" fmla="*/ 16 h 35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</a:cxnLst>
                        <a:rect l="0" t="0" r="r" b="b"/>
                        <a:pathLst>
                          <a:path w="71" h="35">
                            <a:moveTo>
                              <a:pt x="0" y="16"/>
                            </a:moveTo>
                            <a:lnTo>
                              <a:pt x="6" y="8"/>
                            </a:lnTo>
                            <a:lnTo>
                              <a:pt x="19" y="1"/>
                            </a:lnTo>
                            <a:lnTo>
                              <a:pt x="32" y="0"/>
                            </a:lnTo>
                            <a:lnTo>
                              <a:pt x="44" y="3"/>
                            </a:lnTo>
                            <a:lnTo>
                              <a:pt x="51" y="5"/>
                            </a:lnTo>
                            <a:lnTo>
                              <a:pt x="64" y="14"/>
                            </a:lnTo>
                            <a:lnTo>
                              <a:pt x="71" y="27"/>
                            </a:lnTo>
                            <a:lnTo>
                              <a:pt x="61" y="29"/>
                            </a:lnTo>
                            <a:lnTo>
                              <a:pt x="50" y="32"/>
                            </a:lnTo>
                            <a:lnTo>
                              <a:pt x="40" y="35"/>
                            </a:lnTo>
                            <a:lnTo>
                              <a:pt x="28" y="35"/>
                            </a:lnTo>
                            <a:lnTo>
                              <a:pt x="19" y="31"/>
                            </a:lnTo>
                            <a:lnTo>
                              <a:pt x="0" y="16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grpSp>
                    <p:nvGrpSpPr>
                      <p:cNvPr id="414" name="Group 254"/>
                      <p:cNvGrpSpPr/>
                      <p:nvPr/>
                    </p:nvGrpSpPr>
                    <p:grpSpPr bwMode="auto">
                      <a:xfrm>
                        <a:off x="5118" y="2265"/>
                        <a:ext cx="9" cy="9"/>
                        <a:chOff x="5118" y="2265"/>
                        <a:chExt cx="9" cy="9"/>
                      </a:xfrm>
                    </p:grpSpPr>
                    <p:sp>
                      <p:nvSpPr>
                        <p:cNvPr id="416" name="Oval 25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5118" y="2265"/>
                          <a:ext cx="9" cy="9"/>
                        </a:xfrm>
                        <a:prstGeom prst="ellipse">
                          <a:avLst/>
                        </a:prstGeom>
                        <a:solidFill>
                          <a:srgbClr val="7F3F0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  <p:sp>
                      <p:nvSpPr>
                        <p:cNvPr id="417" name="Oval 25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5120" y="2266"/>
                          <a:ext cx="6" cy="8"/>
                        </a:xfrm>
                        <a:prstGeom prst="ellipse">
                          <a:avLst/>
                        </a:prstGeom>
                        <a:solidFill>
                          <a:srgbClr val="00000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  <p:sp>
                      <p:nvSpPr>
                        <p:cNvPr id="418" name="Oval 25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5124" y="2268"/>
                          <a:ext cx="1" cy="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</p:grpSp>
                  <p:sp>
                    <p:nvSpPr>
                      <p:cNvPr id="415" name="Freeform 258"/>
                      <p:cNvSpPr/>
                      <p:nvPr/>
                    </p:nvSpPr>
                    <p:spPr bwMode="auto">
                      <a:xfrm>
                        <a:off x="5115" y="2265"/>
                        <a:ext cx="13" cy="5"/>
                      </a:xfrm>
                      <a:custGeom>
                        <a:avLst/>
                        <a:gdLst>
                          <a:gd name="T0" fmla="*/ 9 w 76"/>
                          <a:gd name="T1" fmla="*/ 22 h 26"/>
                          <a:gd name="T2" fmla="*/ 0 w 76"/>
                          <a:gd name="T3" fmla="*/ 23 h 26"/>
                          <a:gd name="T4" fmla="*/ 10 w 76"/>
                          <a:gd name="T5" fmla="*/ 13 h 26"/>
                          <a:gd name="T6" fmla="*/ 19 w 76"/>
                          <a:gd name="T7" fmla="*/ 5 h 26"/>
                          <a:gd name="T8" fmla="*/ 34 w 76"/>
                          <a:gd name="T9" fmla="*/ 0 h 26"/>
                          <a:gd name="T10" fmla="*/ 49 w 76"/>
                          <a:gd name="T11" fmla="*/ 0 h 26"/>
                          <a:gd name="T12" fmla="*/ 61 w 76"/>
                          <a:gd name="T13" fmla="*/ 6 h 26"/>
                          <a:gd name="T14" fmla="*/ 67 w 76"/>
                          <a:gd name="T15" fmla="*/ 13 h 26"/>
                          <a:gd name="T16" fmla="*/ 73 w 76"/>
                          <a:gd name="T17" fmla="*/ 22 h 26"/>
                          <a:gd name="T18" fmla="*/ 76 w 76"/>
                          <a:gd name="T19" fmla="*/ 26 h 26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</a:cxnLst>
                        <a:rect l="0" t="0" r="r" b="b"/>
                        <a:pathLst>
                          <a:path w="76" h="26">
                            <a:moveTo>
                              <a:pt x="9" y="22"/>
                            </a:moveTo>
                            <a:lnTo>
                              <a:pt x="0" y="23"/>
                            </a:lnTo>
                            <a:lnTo>
                              <a:pt x="10" y="13"/>
                            </a:lnTo>
                            <a:lnTo>
                              <a:pt x="19" y="5"/>
                            </a:lnTo>
                            <a:lnTo>
                              <a:pt x="34" y="0"/>
                            </a:lnTo>
                            <a:lnTo>
                              <a:pt x="49" y="0"/>
                            </a:lnTo>
                            <a:lnTo>
                              <a:pt x="61" y="6"/>
                            </a:lnTo>
                            <a:lnTo>
                              <a:pt x="67" y="13"/>
                            </a:lnTo>
                            <a:lnTo>
                              <a:pt x="73" y="22"/>
                            </a:lnTo>
                            <a:lnTo>
                              <a:pt x="76" y="26"/>
                            </a:lnTo>
                          </a:path>
                        </a:pathLst>
                      </a:custGeom>
                      <a:noFill/>
                      <a:ln w="1588">
                        <a:solidFill>
                          <a:srgbClr val="000000"/>
                        </a:solidFill>
                        <a:prstDash val="solid"/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406" name="Group 259"/>
                    <p:cNvGrpSpPr/>
                    <p:nvPr/>
                  </p:nvGrpSpPr>
                  <p:grpSpPr bwMode="auto">
                    <a:xfrm>
                      <a:off x="5088" y="2260"/>
                      <a:ext cx="14" cy="9"/>
                      <a:chOff x="5088" y="2260"/>
                      <a:chExt cx="14" cy="9"/>
                    </a:xfrm>
                  </p:grpSpPr>
                  <p:sp>
                    <p:nvSpPr>
                      <p:cNvPr id="407" name="Freeform 260"/>
                      <p:cNvSpPr/>
                      <p:nvPr/>
                    </p:nvSpPr>
                    <p:spPr bwMode="auto">
                      <a:xfrm>
                        <a:off x="5090" y="2260"/>
                        <a:ext cx="12" cy="7"/>
                      </a:xfrm>
                      <a:custGeom>
                        <a:avLst/>
                        <a:gdLst>
                          <a:gd name="T0" fmla="*/ 74 w 74"/>
                          <a:gd name="T1" fmla="*/ 23 h 33"/>
                          <a:gd name="T2" fmla="*/ 60 w 74"/>
                          <a:gd name="T3" fmla="*/ 12 h 33"/>
                          <a:gd name="T4" fmla="*/ 50 w 74"/>
                          <a:gd name="T5" fmla="*/ 4 h 33"/>
                          <a:gd name="T6" fmla="*/ 41 w 74"/>
                          <a:gd name="T7" fmla="*/ 2 h 33"/>
                          <a:gd name="T8" fmla="*/ 34 w 74"/>
                          <a:gd name="T9" fmla="*/ 0 h 33"/>
                          <a:gd name="T10" fmla="*/ 25 w 74"/>
                          <a:gd name="T11" fmla="*/ 0 h 33"/>
                          <a:gd name="T12" fmla="*/ 15 w 74"/>
                          <a:gd name="T13" fmla="*/ 4 h 33"/>
                          <a:gd name="T14" fmla="*/ 7 w 74"/>
                          <a:gd name="T15" fmla="*/ 11 h 33"/>
                          <a:gd name="T16" fmla="*/ 0 w 74"/>
                          <a:gd name="T17" fmla="*/ 18 h 33"/>
                          <a:gd name="T18" fmla="*/ 6 w 74"/>
                          <a:gd name="T19" fmla="*/ 22 h 33"/>
                          <a:gd name="T20" fmla="*/ 19 w 74"/>
                          <a:gd name="T21" fmla="*/ 29 h 33"/>
                          <a:gd name="T22" fmla="*/ 34 w 74"/>
                          <a:gd name="T23" fmla="*/ 33 h 33"/>
                          <a:gd name="T24" fmla="*/ 48 w 74"/>
                          <a:gd name="T25" fmla="*/ 32 h 33"/>
                          <a:gd name="T26" fmla="*/ 56 w 74"/>
                          <a:gd name="T27" fmla="*/ 27 h 33"/>
                          <a:gd name="T28" fmla="*/ 62 w 74"/>
                          <a:gd name="T29" fmla="*/ 25 h 33"/>
                          <a:gd name="T30" fmla="*/ 74 w 74"/>
                          <a:gd name="T31" fmla="*/ 23 h 3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</a:cxnLst>
                        <a:rect l="0" t="0" r="r" b="b"/>
                        <a:pathLst>
                          <a:path w="74" h="33">
                            <a:moveTo>
                              <a:pt x="74" y="23"/>
                            </a:moveTo>
                            <a:lnTo>
                              <a:pt x="60" y="12"/>
                            </a:lnTo>
                            <a:lnTo>
                              <a:pt x="50" y="4"/>
                            </a:lnTo>
                            <a:lnTo>
                              <a:pt x="41" y="2"/>
                            </a:lnTo>
                            <a:lnTo>
                              <a:pt x="34" y="0"/>
                            </a:lnTo>
                            <a:lnTo>
                              <a:pt x="25" y="0"/>
                            </a:lnTo>
                            <a:lnTo>
                              <a:pt x="15" y="4"/>
                            </a:lnTo>
                            <a:lnTo>
                              <a:pt x="7" y="11"/>
                            </a:lnTo>
                            <a:lnTo>
                              <a:pt x="0" y="18"/>
                            </a:lnTo>
                            <a:lnTo>
                              <a:pt x="6" y="22"/>
                            </a:lnTo>
                            <a:lnTo>
                              <a:pt x="19" y="29"/>
                            </a:lnTo>
                            <a:lnTo>
                              <a:pt x="34" y="33"/>
                            </a:lnTo>
                            <a:lnTo>
                              <a:pt x="48" y="32"/>
                            </a:lnTo>
                            <a:lnTo>
                              <a:pt x="56" y="27"/>
                            </a:lnTo>
                            <a:lnTo>
                              <a:pt x="62" y="25"/>
                            </a:lnTo>
                            <a:lnTo>
                              <a:pt x="74" y="23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grpSp>
                    <p:nvGrpSpPr>
                      <p:cNvPr id="408" name="Group 261"/>
                      <p:cNvGrpSpPr/>
                      <p:nvPr/>
                    </p:nvGrpSpPr>
                    <p:grpSpPr bwMode="auto">
                      <a:xfrm>
                        <a:off x="5093" y="2260"/>
                        <a:ext cx="9" cy="9"/>
                        <a:chOff x="5093" y="2260"/>
                        <a:chExt cx="9" cy="9"/>
                      </a:xfrm>
                    </p:grpSpPr>
                    <p:sp>
                      <p:nvSpPr>
                        <p:cNvPr id="410" name="Oval 26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5093" y="2260"/>
                          <a:ext cx="9" cy="9"/>
                        </a:xfrm>
                        <a:prstGeom prst="ellipse">
                          <a:avLst/>
                        </a:prstGeom>
                        <a:solidFill>
                          <a:srgbClr val="7F3F0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  <p:sp>
                      <p:nvSpPr>
                        <p:cNvPr id="411" name="Oval 26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5095" y="2262"/>
                          <a:ext cx="5" cy="7"/>
                        </a:xfrm>
                        <a:prstGeom prst="ellipse">
                          <a:avLst/>
                        </a:prstGeom>
                        <a:solidFill>
                          <a:srgbClr val="00000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  <p:sp>
                      <p:nvSpPr>
                        <p:cNvPr id="412" name="Oval 26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5098" y="2263"/>
                          <a:ext cx="2" cy="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</p:grpSp>
                  <p:sp>
                    <p:nvSpPr>
                      <p:cNvPr id="409" name="Freeform 265"/>
                      <p:cNvSpPr/>
                      <p:nvPr/>
                    </p:nvSpPr>
                    <p:spPr bwMode="auto">
                      <a:xfrm>
                        <a:off x="5088" y="2260"/>
                        <a:ext cx="13" cy="4"/>
                      </a:xfrm>
                      <a:custGeom>
                        <a:avLst/>
                        <a:gdLst>
                          <a:gd name="T0" fmla="*/ 76 w 76"/>
                          <a:gd name="T1" fmla="*/ 19 h 21"/>
                          <a:gd name="T2" fmla="*/ 67 w 76"/>
                          <a:gd name="T3" fmla="*/ 10 h 21"/>
                          <a:gd name="T4" fmla="*/ 59 w 76"/>
                          <a:gd name="T5" fmla="*/ 4 h 21"/>
                          <a:gd name="T6" fmla="*/ 50 w 76"/>
                          <a:gd name="T7" fmla="*/ 0 h 21"/>
                          <a:gd name="T8" fmla="*/ 40 w 76"/>
                          <a:gd name="T9" fmla="*/ 0 h 21"/>
                          <a:gd name="T10" fmla="*/ 32 w 76"/>
                          <a:gd name="T11" fmla="*/ 2 h 21"/>
                          <a:gd name="T12" fmla="*/ 24 w 76"/>
                          <a:gd name="T13" fmla="*/ 8 h 21"/>
                          <a:gd name="T14" fmla="*/ 15 w 76"/>
                          <a:gd name="T15" fmla="*/ 13 h 21"/>
                          <a:gd name="T16" fmla="*/ 8 w 76"/>
                          <a:gd name="T17" fmla="*/ 20 h 21"/>
                          <a:gd name="T18" fmla="*/ 0 w 76"/>
                          <a:gd name="T19" fmla="*/ 21 h 21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</a:cxnLst>
                        <a:rect l="0" t="0" r="r" b="b"/>
                        <a:pathLst>
                          <a:path w="76" h="21">
                            <a:moveTo>
                              <a:pt x="76" y="19"/>
                            </a:moveTo>
                            <a:lnTo>
                              <a:pt x="67" y="10"/>
                            </a:lnTo>
                            <a:lnTo>
                              <a:pt x="59" y="4"/>
                            </a:lnTo>
                            <a:lnTo>
                              <a:pt x="50" y="0"/>
                            </a:lnTo>
                            <a:lnTo>
                              <a:pt x="40" y="0"/>
                            </a:lnTo>
                            <a:lnTo>
                              <a:pt x="32" y="2"/>
                            </a:lnTo>
                            <a:lnTo>
                              <a:pt x="24" y="8"/>
                            </a:lnTo>
                            <a:lnTo>
                              <a:pt x="15" y="13"/>
                            </a:lnTo>
                            <a:lnTo>
                              <a:pt x="8" y="20"/>
                            </a:lnTo>
                            <a:lnTo>
                              <a:pt x="0" y="21"/>
                            </a:lnTo>
                          </a:path>
                        </a:pathLst>
                      </a:custGeom>
                      <a:noFill/>
                      <a:ln w="1588">
                        <a:solidFill>
                          <a:srgbClr val="000000"/>
                        </a:solidFill>
                        <a:prstDash val="solid"/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</p:grpSp>
            </p:grpSp>
            <p:grpSp>
              <p:nvGrpSpPr>
                <p:cNvPr id="248" name="Group 266"/>
                <p:cNvGrpSpPr/>
                <p:nvPr/>
              </p:nvGrpSpPr>
              <p:grpSpPr bwMode="auto">
                <a:xfrm>
                  <a:off x="5085" y="2258"/>
                  <a:ext cx="261" cy="488"/>
                  <a:chOff x="5085" y="2258"/>
                  <a:chExt cx="261" cy="488"/>
                </a:xfrm>
              </p:grpSpPr>
              <p:grpSp>
                <p:nvGrpSpPr>
                  <p:cNvPr id="317" name="Group 267"/>
                  <p:cNvGrpSpPr/>
                  <p:nvPr/>
                </p:nvGrpSpPr>
                <p:grpSpPr bwMode="auto">
                  <a:xfrm>
                    <a:off x="5314" y="2616"/>
                    <a:ext cx="32" cy="121"/>
                    <a:chOff x="5314" y="2616"/>
                    <a:chExt cx="32" cy="121"/>
                  </a:xfrm>
                </p:grpSpPr>
                <p:sp>
                  <p:nvSpPr>
                    <p:cNvPr id="385" name="Freeform 268"/>
                    <p:cNvSpPr/>
                    <p:nvPr/>
                  </p:nvSpPr>
                  <p:spPr bwMode="auto">
                    <a:xfrm>
                      <a:off x="5314" y="2616"/>
                      <a:ext cx="32" cy="121"/>
                    </a:xfrm>
                    <a:custGeom>
                      <a:avLst/>
                      <a:gdLst>
                        <a:gd name="T0" fmla="*/ 141 w 191"/>
                        <a:gd name="T1" fmla="*/ 0 h 606"/>
                        <a:gd name="T2" fmla="*/ 136 w 191"/>
                        <a:gd name="T3" fmla="*/ 106 h 606"/>
                        <a:gd name="T4" fmla="*/ 134 w 191"/>
                        <a:gd name="T5" fmla="*/ 202 h 606"/>
                        <a:gd name="T6" fmla="*/ 125 w 191"/>
                        <a:gd name="T7" fmla="*/ 296 h 606"/>
                        <a:gd name="T8" fmla="*/ 136 w 191"/>
                        <a:gd name="T9" fmla="*/ 328 h 606"/>
                        <a:gd name="T10" fmla="*/ 149 w 191"/>
                        <a:gd name="T11" fmla="*/ 363 h 606"/>
                        <a:gd name="T12" fmla="*/ 166 w 191"/>
                        <a:gd name="T13" fmla="*/ 399 h 606"/>
                        <a:gd name="T14" fmla="*/ 171 w 191"/>
                        <a:gd name="T15" fmla="*/ 413 h 606"/>
                        <a:gd name="T16" fmla="*/ 177 w 191"/>
                        <a:gd name="T17" fmla="*/ 421 h 606"/>
                        <a:gd name="T18" fmla="*/ 182 w 191"/>
                        <a:gd name="T19" fmla="*/ 442 h 606"/>
                        <a:gd name="T20" fmla="*/ 191 w 191"/>
                        <a:gd name="T21" fmla="*/ 484 h 606"/>
                        <a:gd name="T22" fmla="*/ 185 w 191"/>
                        <a:gd name="T23" fmla="*/ 506 h 606"/>
                        <a:gd name="T24" fmla="*/ 177 w 191"/>
                        <a:gd name="T25" fmla="*/ 511 h 606"/>
                        <a:gd name="T26" fmla="*/ 173 w 191"/>
                        <a:gd name="T27" fmla="*/ 525 h 606"/>
                        <a:gd name="T28" fmla="*/ 167 w 191"/>
                        <a:gd name="T29" fmla="*/ 532 h 606"/>
                        <a:gd name="T30" fmla="*/ 153 w 191"/>
                        <a:gd name="T31" fmla="*/ 537 h 606"/>
                        <a:gd name="T32" fmla="*/ 155 w 191"/>
                        <a:gd name="T33" fmla="*/ 554 h 606"/>
                        <a:gd name="T34" fmla="*/ 152 w 191"/>
                        <a:gd name="T35" fmla="*/ 559 h 606"/>
                        <a:gd name="T36" fmla="*/ 129 w 191"/>
                        <a:gd name="T37" fmla="*/ 562 h 606"/>
                        <a:gd name="T38" fmla="*/ 123 w 191"/>
                        <a:gd name="T39" fmla="*/ 589 h 606"/>
                        <a:gd name="T40" fmla="*/ 80 w 191"/>
                        <a:gd name="T41" fmla="*/ 606 h 606"/>
                        <a:gd name="T42" fmla="*/ 57 w 191"/>
                        <a:gd name="T43" fmla="*/ 588 h 606"/>
                        <a:gd name="T44" fmla="*/ 47 w 191"/>
                        <a:gd name="T45" fmla="*/ 578 h 606"/>
                        <a:gd name="T46" fmla="*/ 45 w 191"/>
                        <a:gd name="T47" fmla="*/ 552 h 606"/>
                        <a:gd name="T48" fmla="*/ 69 w 191"/>
                        <a:gd name="T49" fmla="*/ 522 h 606"/>
                        <a:gd name="T50" fmla="*/ 55 w 191"/>
                        <a:gd name="T51" fmla="*/ 496 h 606"/>
                        <a:gd name="T52" fmla="*/ 36 w 191"/>
                        <a:gd name="T53" fmla="*/ 517 h 606"/>
                        <a:gd name="T54" fmla="*/ 35 w 191"/>
                        <a:gd name="T55" fmla="*/ 540 h 606"/>
                        <a:gd name="T56" fmla="*/ 27 w 191"/>
                        <a:gd name="T57" fmla="*/ 556 h 606"/>
                        <a:gd name="T58" fmla="*/ 19 w 191"/>
                        <a:gd name="T59" fmla="*/ 561 h 606"/>
                        <a:gd name="T60" fmla="*/ 10 w 191"/>
                        <a:gd name="T61" fmla="*/ 569 h 606"/>
                        <a:gd name="T62" fmla="*/ 0 w 191"/>
                        <a:gd name="T63" fmla="*/ 562 h 606"/>
                        <a:gd name="T64" fmla="*/ 4 w 191"/>
                        <a:gd name="T65" fmla="*/ 543 h 606"/>
                        <a:gd name="T66" fmla="*/ 2 w 191"/>
                        <a:gd name="T67" fmla="*/ 511 h 606"/>
                        <a:gd name="T68" fmla="*/ 10 w 191"/>
                        <a:gd name="T69" fmla="*/ 450 h 606"/>
                        <a:gd name="T70" fmla="*/ 18 w 191"/>
                        <a:gd name="T71" fmla="*/ 421 h 606"/>
                        <a:gd name="T72" fmla="*/ 32 w 191"/>
                        <a:gd name="T73" fmla="*/ 404 h 606"/>
                        <a:gd name="T74" fmla="*/ 50 w 191"/>
                        <a:gd name="T75" fmla="*/ 384 h 606"/>
                        <a:gd name="T76" fmla="*/ 54 w 191"/>
                        <a:gd name="T77" fmla="*/ 361 h 606"/>
                        <a:gd name="T78" fmla="*/ 57 w 191"/>
                        <a:gd name="T79" fmla="*/ 298 h 606"/>
                        <a:gd name="T80" fmla="*/ 29 w 191"/>
                        <a:gd name="T81" fmla="*/ 135 h 606"/>
                        <a:gd name="T82" fmla="*/ 13 w 191"/>
                        <a:gd name="T83" fmla="*/ 45 h 606"/>
                        <a:gd name="T84" fmla="*/ 141 w 191"/>
                        <a:gd name="T85" fmla="*/ 0 h 60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</a:cxnLst>
                      <a:rect l="0" t="0" r="r" b="b"/>
                      <a:pathLst>
                        <a:path w="191" h="606">
                          <a:moveTo>
                            <a:pt x="141" y="0"/>
                          </a:moveTo>
                          <a:lnTo>
                            <a:pt x="136" y="106"/>
                          </a:lnTo>
                          <a:lnTo>
                            <a:pt x="134" y="202"/>
                          </a:lnTo>
                          <a:lnTo>
                            <a:pt x="125" y="296"/>
                          </a:lnTo>
                          <a:lnTo>
                            <a:pt x="136" y="328"/>
                          </a:lnTo>
                          <a:lnTo>
                            <a:pt x="149" y="363"/>
                          </a:lnTo>
                          <a:lnTo>
                            <a:pt x="166" y="399"/>
                          </a:lnTo>
                          <a:lnTo>
                            <a:pt x="171" y="413"/>
                          </a:lnTo>
                          <a:lnTo>
                            <a:pt x="177" y="421"/>
                          </a:lnTo>
                          <a:lnTo>
                            <a:pt x="182" y="442"/>
                          </a:lnTo>
                          <a:lnTo>
                            <a:pt x="191" y="484"/>
                          </a:lnTo>
                          <a:lnTo>
                            <a:pt x="185" y="506"/>
                          </a:lnTo>
                          <a:lnTo>
                            <a:pt x="177" y="511"/>
                          </a:lnTo>
                          <a:lnTo>
                            <a:pt x="173" y="525"/>
                          </a:lnTo>
                          <a:lnTo>
                            <a:pt x="167" y="532"/>
                          </a:lnTo>
                          <a:lnTo>
                            <a:pt x="153" y="537"/>
                          </a:lnTo>
                          <a:lnTo>
                            <a:pt x="155" y="554"/>
                          </a:lnTo>
                          <a:lnTo>
                            <a:pt x="152" y="559"/>
                          </a:lnTo>
                          <a:lnTo>
                            <a:pt x="129" y="562"/>
                          </a:lnTo>
                          <a:lnTo>
                            <a:pt x="123" y="589"/>
                          </a:lnTo>
                          <a:lnTo>
                            <a:pt x="80" y="606"/>
                          </a:lnTo>
                          <a:lnTo>
                            <a:pt x="57" y="588"/>
                          </a:lnTo>
                          <a:lnTo>
                            <a:pt x="47" y="578"/>
                          </a:lnTo>
                          <a:lnTo>
                            <a:pt x="45" y="552"/>
                          </a:lnTo>
                          <a:lnTo>
                            <a:pt x="69" y="522"/>
                          </a:lnTo>
                          <a:lnTo>
                            <a:pt x="55" y="496"/>
                          </a:lnTo>
                          <a:lnTo>
                            <a:pt x="36" y="517"/>
                          </a:lnTo>
                          <a:lnTo>
                            <a:pt x="35" y="540"/>
                          </a:lnTo>
                          <a:lnTo>
                            <a:pt x="27" y="556"/>
                          </a:lnTo>
                          <a:lnTo>
                            <a:pt x="19" y="561"/>
                          </a:lnTo>
                          <a:lnTo>
                            <a:pt x="10" y="569"/>
                          </a:lnTo>
                          <a:lnTo>
                            <a:pt x="0" y="562"/>
                          </a:lnTo>
                          <a:lnTo>
                            <a:pt x="4" y="543"/>
                          </a:lnTo>
                          <a:lnTo>
                            <a:pt x="2" y="511"/>
                          </a:lnTo>
                          <a:lnTo>
                            <a:pt x="10" y="450"/>
                          </a:lnTo>
                          <a:lnTo>
                            <a:pt x="18" y="421"/>
                          </a:lnTo>
                          <a:lnTo>
                            <a:pt x="32" y="404"/>
                          </a:lnTo>
                          <a:lnTo>
                            <a:pt x="50" y="384"/>
                          </a:lnTo>
                          <a:lnTo>
                            <a:pt x="54" y="361"/>
                          </a:lnTo>
                          <a:lnTo>
                            <a:pt x="57" y="298"/>
                          </a:lnTo>
                          <a:lnTo>
                            <a:pt x="29" y="135"/>
                          </a:lnTo>
                          <a:lnTo>
                            <a:pt x="13" y="45"/>
                          </a:lnTo>
                          <a:lnTo>
                            <a:pt x="141" y="0"/>
                          </a:lnTo>
                          <a:close/>
                        </a:path>
                      </a:pathLst>
                    </a:custGeom>
                    <a:solidFill>
                      <a:srgbClr val="FF9F7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86" name="Freeform 269"/>
                    <p:cNvSpPr/>
                    <p:nvPr/>
                  </p:nvSpPr>
                  <p:spPr bwMode="auto">
                    <a:xfrm>
                      <a:off x="5322" y="2711"/>
                      <a:ext cx="7" cy="23"/>
                    </a:xfrm>
                    <a:custGeom>
                      <a:avLst/>
                      <a:gdLst>
                        <a:gd name="T0" fmla="*/ 0 w 45"/>
                        <a:gd name="T1" fmla="*/ 0 h 117"/>
                        <a:gd name="T2" fmla="*/ 14 w 45"/>
                        <a:gd name="T3" fmla="*/ 17 h 117"/>
                        <a:gd name="T4" fmla="*/ 28 w 45"/>
                        <a:gd name="T5" fmla="*/ 38 h 117"/>
                        <a:gd name="T6" fmla="*/ 35 w 45"/>
                        <a:gd name="T7" fmla="*/ 48 h 117"/>
                        <a:gd name="T8" fmla="*/ 39 w 45"/>
                        <a:gd name="T9" fmla="*/ 59 h 117"/>
                        <a:gd name="T10" fmla="*/ 40 w 45"/>
                        <a:gd name="T11" fmla="*/ 70 h 117"/>
                        <a:gd name="T12" fmla="*/ 41 w 45"/>
                        <a:gd name="T13" fmla="*/ 82 h 117"/>
                        <a:gd name="T14" fmla="*/ 41 w 45"/>
                        <a:gd name="T15" fmla="*/ 93 h 117"/>
                        <a:gd name="T16" fmla="*/ 42 w 45"/>
                        <a:gd name="T17" fmla="*/ 106 h 117"/>
                        <a:gd name="T18" fmla="*/ 43 w 45"/>
                        <a:gd name="T19" fmla="*/ 117 h 117"/>
                        <a:gd name="T20" fmla="*/ 45 w 45"/>
                        <a:gd name="T21" fmla="*/ 117 h 117"/>
                        <a:gd name="T22" fmla="*/ 35 w 45"/>
                        <a:gd name="T23" fmla="*/ 96 h 117"/>
                        <a:gd name="T24" fmla="*/ 12 w 45"/>
                        <a:gd name="T25" fmla="*/ 101 h 117"/>
                        <a:gd name="T26" fmla="*/ 28 w 45"/>
                        <a:gd name="T27" fmla="*/ 85 h 117"/>
                        <a:gd name="T28" fmla="*/ 34 w 45"/>
                        <a:gd name="T29" fmla="*/ 78 h 117"/>
                        <a:gd name="T30" fmla="*/ 28 w 45"/>
                        <a:gd name="T31" fmla="*/ 72 h 117"/>
                        <a:gd name="T32" fmla="*/ 15 w 45"/>
                        <a:gd name="T33" fmla="*/ 74 h 117"/>
                        <a:gd name="T34" fmla="*/ 24 w 45"/>
                        <a:gd name="T35" fmla="*/ 46 h 117"/>
                        <a:gd name="T36" fmla="*/ 4 w 45"/>
                        <a:gd name="T37" fmla="*/ 11 h 117"/>
                        <a:gd name="T38" fmla="*/ 0 w 45"/>
                        <a:gd name="T39" fmla="*/ 0 h 1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45" h="117">
                          <a:moveTo>
                            <a:pt x="0" y="0"/>
                          </a:moveTo>
                          <a:lnTo>
                            <a:pt x="14" y="17"/>
                          </a:lnTo>
                          <a:lnTo>
                            <a:pt x="28" y="38"/>
                          </a:lnTo>
                          <a:lnTo>
                            <a:pt x="35" y="48"/>
                          </a:lnTo>
                          <a:lnTo>
                            <a:pt x="39" y="59"/>
                          </a:lnTo>
                          <a:lnTo>
                            <a:pt x="40" y="70"/>
                          </a:lnTo>
                          <a:lnTo>
                            <a:pt x="41" y="82"/>
                          </a:lnTo>
                          <a:lnTo>
                            <a:pt x="41" y="93"/>
                          </a:lnTo>
                          <a:lnTo>
                            <a:pt x="42" y="106"/>
                          </a:lnTo>
                          <a:lnTo>
                            <a:pt x="43" y="117"/>
                          </a:lnTo>
                          <a:lnTo>
                            <a:pt x="45" y="117"/>
                          </a:lnTo>
                          <a:lnTo>
                            <a:pt x="35" y="96"/>
                          </a:lnTo>
                          <a:lnTo>
                            <a:pt x="12" y="101"/>
                          </a:lnTo>
                          <a:lnTo>
                            <a:pt x="28" y="85"/>
                          </a:lnTo>
                          <a:lnTo>
                            <a:pt x="34" y="78"/>
                          </a:lnTo>
                          <a:lnTo>
                            <a:pt x="28" y="72"/>
                          </a:lnTo>
                          <a:lnTo>
                            <a:pt x="15" y="74"/>
                          </a:lnTo>
                          <a:lnTo>
                            <a:pt x="24" y="46"/>
                          </a:lnTo>
                          <a:lnTo>
                            <a:pt x="4" y="1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F3F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318" name="Group 270"/>
                  <p:cNvGrpSpPr/>
                  <p:nvPr/>
                </p:nvGrpSpPr>
                <p:grpSpPr bwMode="auto">
                  <a:xfrm>
                    <a:off x="5159" y="2399"/>
                    <a:ext cx="175" cy="347"/>
                    <a:chOff x="5159" y="2399"/>
                    <a:chExt cx="175" cy="347"/>
                  </a:xfrm>
                </p:grpSpPr>
                <p:sp>
                  <p:nvSpPr>
                    <p:cNvPr id="382" name="Freeform 271"/>
                    <p:cNvSpPr/>
                    <p:nvPr/>
                  </p:nvSpPr>
                  <p:spPr bwMode="auto">
                    <a:xfrm>
                      <a:off x="5159" y="2400"/>
                      <a:ext cx="175" cy="346"/>
                    </a:xfrm>
                    <a:custGeom>
                      <a:avLst/>
                      <a:gdLst>
                        <a:gd name="T0" fmla="*/ 373 w 1051"/>
                        <a:gd name="T1" fmla="*/ 11 h 1731"/>
                        <a:gd name="T2" fmla="*/ 251 w 1051"/>
                        <a:gd name="T3" fmla="*/ 22 h 1731"/>
                        <a:gd name="T4" fmla="*/ 187 w 1051"/>
                        <a:gd name="T5" fmla="*/ 89 h 1731"/>
                        <a:gd name="T6" fmla="*/ 36 w 1051"/>
                        <a:gd name="T7" fmla="*/ 258 h 1731"/>
                        <a:gd name="T8" fmla="*/ 51 w 1051"/>
                        <a:gd name="T9" fmla="*/ 332 h 1731"/>
                        <a:gd name="T10" fmla="*/ 97 w 1051"/>
                        <a:gd name="T11" fmla="*/ 408 h 1731"/>
                        <a:gd name="T12" fmla="*/ 194 w 1051"/>
                        <a:gd name="T13" fmla="*/ 393 h 1731"/>
                        <a:gd name="T14" fmla="*/ 212 w 1051"/>
                        <a:gd name="T15" fmla="*/ 453 h 1731"/>
                        <a:gd name="T16" fmla="*/ 248 w 1051"/>
                        <a:gd name="T17" fmla="*/ 572 h 1731"/>
                        <a:gd name="T18" fmla="*/ 287 w 1051"/>
                        <a:gd name="T19" fmla="*/ 638 h 1731"/>
                        <a:gd name="T20" fmla="*/ 301 w 1051"/>
                        <a:gd name="T21" fmla="*/ 749 h 1731"/>
                        <a:gd name="T22" fmla="*/ 294 w 1051"/>
                        <a:gd name="T23" fmla="*/ 912 h 1731"/>
                        <a:gd name="T24" fmla="*/ 237 w 1051"/>
                        <a:gd name="T25" fmla="*/ 1209 h 1731"/>
                        <a:gd name="T26" fmla="*/ 208 w 1051"/>
                        <a:gd name="T27" fmla="*/ 1470 h 1731"/>
                        <a:gd name="T28" fmla="*/ 965 w 1051"/>
                        <a:gd name="T29" fmla="*/ 1731 h 1731"/>
                        <a:gd name="T30" fmla="*/ 929 w 1051"/>
                        <a:gd name="T31" fmla="*/ 1470 h 1731"/>
                        <a:gd name="T32" fmla="*/ 822 w 1051"/>
                        <a:gd name="T33" fmla="*/ 1053 h 1731"/>
                        <a:gd name="T34" fmla="*/ 794 w 1051"/>
                        <a:gd name="T35" fmla="*/ 886 h 1731"/>
                        <a:gd name="T36" fmla="*/ 826 w 1051"/>
                        <a:gd name="T37" fmla="*/ 671 h 1731"/>
                        <a:gd name="T38" fmla="*/ 854 w 1051"/>
                        <a:gd name="T39" fmla="*/ 587 h 1731"/>
                        <a:gd name="T40" fmla="*/ 879 w 1051"/>
                        <a:gd name="T41" fmla="*/ 675 h 1731"/>
                        <a:gd name="T42" fmla="*/ 989 w 1051"/>
                        <a:gd name="T43" fmla="*/ 645 h 1731"/>
                        <a:gd name="T44" fmla="*/ 1033 w 1051"/>
                        <a:gd name="T45" fmla="*/ 517 h 1731"/>
                        <a:gd name="T46" fmla="*/ 989 w 1051"/>
                        <a:gd name="T47" fmla="*/ 262 h 1731"/>
                        <a:gd name="T48" fmla="*/ 886 w 1051"/>
                        <a:gd name="T49" fmla="*/ 141 h 1731"/>
                        <a:gd name="T50" fmla="*/ 685 w 1051"/>
                        <a:gd name="T51" fmla="*/ 18 h 1731"/>
                        <a:gd name="T52" fmla="*/ 689 w 1051"/>
                        <a:gd name="T53" fmla="*/ 97 h 1731"/>
                        <a:gd name="T54" fmla="*/ 674 w 1051"/>
                        <a:gd name="T55" fmla="*/ 151 h 1731"/>
                        <a:gd name="T56" fmla="*/ 648 w 1051"/>
                        <a:gd name="T57" fmla="*/ 190 h 1731"/>
                        <a:gd name="T58" fmla="*/ 605 w 1051"/>
                        <a:gd name="T59" fmla="*/ 217 h 1731"/>
                        <a:gd name="T60" fmla="*/ 561 w 1051"/>
                        <a:gd name="T61" fmla="*/ 219 h 1731"/>
                        <a:gd name="T62" fmla="*/ 506 w 1051"/>
                        <a:gd name="T63" fmla="*/ 200 h 1731"/>
                        <a:gd name="T64" fmla="*/ 462 w 1051"/>
                        <a:gd name="T65" fmla="*/ 169 h 1731"/>
                        <a:gd name="T66" fmla="*/ 432 w 1051"/>
                        <a:gd name="T67" fmla="*/ 137 h 1731"/>
                        <a:gd name="T68" fmla="*/ 415 w 1051"/>
                        <a:gd name="T69" fmla="*/ 96 h 1731"/>
                        <a:gd name="T70" fmla="*/ 434 w 1051"/>
                        <a:gd name="T71" fmla="*/ 0 h 173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</a:cxnLst>
                      <a:rect l="0" t="0" r="r" b="b"/>
                      <a:pathLst>
                        <a:path w="1051" h="1731">
                          <a:moveTo>
                            <a:pt x="434" y="0"/>
                          </a:moveTo>
                          <a:lnTo>
                            <a:pt x="373" y="11"/>
                          </a:lnTo>
                          <a:lnTo>
                            <a:pt x="301" y="22"/>
                          </a:lnTo>
                          <a:lnTo>
                            <a:pt x="251" y="22"/>
                          </a:lnTo>
                          <a:lnTo>
                            <a:pt x="237" y="26"/>
                          </a:lnTo>
                          <a:lnTo>
                            <a:pt x="187" y="89"/>
                          </a:lnTo>
                          <a:lnTo>
                            <a:pt x="94" y="199"/>
                          </a:lnTo>
                          <a:lnTo>
                            <a:pt x="36" y="258"/>
                          </a:lnTo>
                          <a:lnTo>
                            <a:pt x="0" y="299"/>
                          </a:lnTo>
                          <a:lnTo>
                            <a:pt x="51" y="332"/>
                          </a:lnTo>
                          <a:lnTo>
                            <a:pt x="76" y="369"/>
                          </a:lnTo>
                          <a:lnTo>
                            <a:pt x="97" y="408"/>
                          </a:lnTo>
                          <a:lnTo>
                            <a:pt x="111" y="461"/>
                          </a:lnTo>
                          <a:lnTo>
                            <a:pt x="194" y="393"/>
                          </a:lnTo>
                          <a:lnTo>
                            <a:pt x="205" y="411"/>
                          </a:lnTo>
                          <a:lnTo>
                            <a:pt x="212" y="453"/>
                          </a:lnTo>
                          <a:lnTo>
                            <a:pt x="230" y="531"/>
                          </a:lnTo>
                          <a:lnTo>
                            <a:pt x="248" y="572"/>
                          </a:lnTo>
                          <a:lnTo>
                            <a:pt x="262" y="606"/>
                          </a:lnTo>
                          <a:lnTo>
                            <a:pt x="287" y="638"/>
                          </a:lnTo>
                          <a:lnTo>
                            <a:pt x="298" y="697"/>
                          </a:lnTo>
                          <a:lnTo>
                            <a:pt x="301" y="749"/>
                          </a:lnTo>
                          <a:lnTo>
                            <a:pt x="294" y="801"/>
                          </a:lnTo>
                          <a:lnTo>
                            <a:pt x="294" y="912"/>
                          </a:lnTo>
                          <a:lnTo>
                            <a:pt x="284" y="1072"/>
                          </a:lnTo>
                          <a:lnTo>
                            <a:pt x="237" y="1209"/>
                          </a:lnTo>
                          <a:lnTo>
                            <a:pt x="219" y="1318"/>
                          </a:lnTo>
                          <a:lnTo>
                            <a:pt x="208" y="1470"/>
                          </a:lnTo>
                          <a:lnTo>
                            <a:pt x="201" y="1731"/>
                          </a:lnTo>
                          <a:lnTo>
                            <a:pt x="965" y="1731"/>
                          </a:lnTo>
                          <a:lnTo>
                            <a:pt x="954" y="1587"/>
                          </a:lnTo>
                          <a:lnTo>
                            <a:pt x="929" y="1470"/>
                          </a:lnTo>
                          <a:lnTo>
                            <a:pt x="886" y="1257"/>
                          </a:lnTo>
                          <a:lnTo>
                            <a:pt x="822" y="1053"/>
                          </a:lnTo>
                          <a:lnTo>
                            <a:pt x="805" y="964"/>
                          </a:lnTo>
                          <a:lnTo>
                            <a:pt x="794" y="886"/>
                          </a:lnTo>
                          <a:lnTo>
                            <a:pt x="801" y="786"/>
                          </a:lnTo>
                          <a:lnTo>
                            <a:pt x="826" y="671"/>
                          </a:lnTo>
                          <a:lnTo>
                            <a:pt x="840" y="634"/>
                          </a:lnTo>
                          <a:lnTo>
                            <a:pt x="854" y="587"/>
                          </a:lnTo>
                          <a:lnTo>
                            <a:pt x="871" y="623"/>
                          </a:lnTo>
                          <a:lnTo>
                            <a:pt x="879" y="675"/>
                          </a:lnTo>
                          <a:lnTo>
                            <a:pt x="932" y="656"/>
                          </a:lnTo>
                          <a:lnTo>
                            <a:pt x="989" y="645"/>
                          </a:lnTo>
                          <a:lnTo>
                            <a:pt x="1051" y="638"/>
                          </a:lnTo>
                          <a:lnTo>
                            <a:pt x="1033" y="517"/>
                          </a:lnTo>
                          <a:lnTo>
                            <a:pt x="1022" y="411"/>
                          </a:lnTo>
                          <a:lnTo>
                            <a:pt x="989" y="262"/>
                          </a:lnTo>
                          <a:lnTo>
                            <a:pt x="979" y="195"/>
                          </a:lnTo>
                          <a:lnTo>
                            <a:pt x="886" y="141"/>
                          </a:lnTo>
                          <a:lnTo>
                            <a:pt x="794" y="85"/>
                          </a:lnTo>
                          <a:lnTo>
                            <a:pt x="685" y="18"/>
                          </a:lnTo>
                          <a:lnTo>
                            <a:pt x="689" y="74"/>
                          </a:lnTo>
                          <a:lnTo>
                            <a:pt x="689" y="97"/>
                          </a:lnTo>
                          <a:lnTo>
                            <a:pt x="681" y="130"/>
                          </a:lnTo>
                          <a:lnTo>
                            <a:pt x="674" y="151"/>
                          </a:lnTo>
                          <a:lnTo>
                            <a:pt x="664" y="173"/>
                          </a:lnTo>
                          <a:lnTo>
                            <a:pt x="648" y="190"/>
                          </a:lnTo>
                          <a:lnTo>
                            <a:pt x="632" y="201"/>
                          </a:lnTo>
                          <a:lnTo>
                            <a:pt x="605" y="217"/>
                          </a:lnTo>
                          <a:lnTo>
                            <a:pt x="581" y="220"/>
                          </a:lnTo>
                          <a:lnTo>
                            <a:pt x="561" y="219"/>
                          </a:lnTo>
                          <a:lnTo>
                            <a:pt x="531" y="211"/>
                          </a:lnTo>
                          <a:lnTo>
                            <a:pt x="506" y="200"/>
                          </a:lnTo>
                          <a:lnTo>
                            <a:pt x="481" y="185"/>
                          </a:lnTo>
                          <a:lnTo>
                            <a:pt x="462" y="169"/>
                          </a:lnTo>
                          <a:lnTo>
                            <a:pt x="446" y="154"/>
                          </a:lnTo>
                          <a:lnTo>
                            <a:pt x="432" y="137"/>
                          </a:lnTo>
                          <a:lnTo>
                            <a:pt x="421" y="117"/>
                          </a:lnTo>
                          <a:lnTo>
                            <a:pt x="415" y="96"/>
                          </a:lnTo>
                          <a:lnTo>
                            <a:pt x="413" y="70"/>
                          </a:lnTo>
                          <a:lnTo>
                            <a:pt x="434" y="0"/>
                          </a:lnTo>
                          <a:close/>
                        </a:path>
                      </a:pathLst>
                    </a:custGeom>
                    <a:solidFill>
                      <a:srgbClr val="DFFFB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83" name="Freeform 272"/>
                    <p:cNvSpPr/>
                    <p:nvPr/>
                  </p:nvSpPr>
                  <p:spPr bwMode="auto">
                    <a:xfrm>
                      <a:off x="5159" y="2399"/>
                      <a:ext cx="78" cy="347"/>
                    </a:xfrm>
                    <a:custGeom>
                      <a:avLst/>
                      <a:gdLst>
                        <a:gd name="T0" fmla="*/ 374 w 471"/>
                        <a:gd name="T1" fmla="*/ 11 h 1735"/>
                        <a:gd name="T2" fmla="*/ 252 w 471"/>
                        <a:gd name="T3" fmla="*/ 22 h 1735"/>
                        <a:gd name="T4" fmla="*/ 188 w 471"/>
                        <a:gd name="T5" fmla="*/ 89 h 1735"/>
                        <a:gd name="T6" fmla="*/ 36 w 471"/>
                        <a:gd name="T7" fmla="*/ 258 h 1735"/>
                        <a:gd name="T8" fmla="*/ 51 w 471"/>
                        <a:gd name="T9" fmla="*/ 333 h 1735"/>
                        <a:gd name="T10" fmla="*/ 97 w 471"/>
                        <a:gd name="T11" fmla="*/ 408 h 1735"/>
                        <a:gd name="T12" fmla="*/ 195 w 471"/>
                        <a:gd name="T13" fmla="*/ 393 h 1735"/>
                        <a:gd name="T14" fmla="*/ 213 w 471"/>
                        <a:gd name="T15" fmla="*/ 454 h 1735"/>
                        <a:gd name="T16" fmla="*/ 249 w 471"/>
                        <a:gd name="T17" fmla="*/ 572 h 1735"/>
                        <a:gd name="T18" fmla="*/ 287 w 471"/>
                        <a:gd name="T19" fmla="*/ 638 h 1735"/>
                        <a:gd name="T20" fmla="*/ 301 w 471"/>
                        <a:gd name="T21" fmla="*/ 749 h 1735"/>
                        <a:gd name="T22" fmla="*/ 294 w 471"/>
                        <a:gd name="T23" fmla="*/ 912 h 1735"/>
                        <a:gd name="T24" fmla="*/ 238 w 471"/>
                        <a:gd name="T25" fmla="*/ 1209 h 1735"/>
                        <a:gd name="T26" fmla="*/ 209 w 471"/>
                        <a:gd name="T27" fmla="*/ 1470 h 1735"/>
                        <a:gd name="T28" fmla="*/ 294 w 471"/>
                        <a:gd name="T29" fmla="*/ 1735 h 1735"/>
                        <a:gd name="T30" fmla="*/ 309 w 471"/>
                        <a:gd name="T31" fmla="*/ 1610 h 1735"/>
                        <a:gd name="T32" fmla="*/ 344 w 471"/>
                        <a:gd name="T33" fmla="*/ 1558 h 1735"/>
                        <a:gd name="T34" fmla="*/ 385 w 471"/>
                        <a:gd name="T35" fmla="*/ 1545 h 1735"/>
                        <a:gd name="T36" fmla="*/ 403 w 471"/>
                        <a:gd name="T37" fmla="*/ 1491 h 1735"/>
                        <a:gd name="T38" fmla="*/ 399 w 471"/>
                        <a:gd name="T39" fmla="*/ 1428 h 1735"/>
                        <a:gd name="T40" fmla="*/ 399 w 471"/>
                        <a:gd name="T41" fmla="*/ 1361 h 1735"/>
                        <a:gd name="T42" fmla="*/ 396 w 471"/>
                        <a:gd name="T43" fmla="*/ 1297 h 1735"/>
                        <a:gd name="T44" fmla="*/ 407 w 471"/>
                        <a:gd name="T45" fmla="*/ 1208 h 1735"/>
                        <a:gd name="T46" fmla="*/ 421 w 471"/>
                        <a:gd name="T47" fmla="*/ 1089 h 1735"/>
                        <a:gd name="T48" fmla="*/ 435 w 471"/>
                        <a:gd name="T49" fmla="*/ 1019 h 1735"/>
                        <a:gd name="T50" fmla="*/ 439 w 471"/>
                        <a:gd name="T51" fmla="*/ 933 h 1735"/>
                        <a:gd name="T52" fmla="*/ 432 w 471"/>
                        <a:gd name="T53" fmla="*/ 870 h 1735"/>
                        <a:gd name="T54" fmla="*/ 410 w 471"/>
                        <a:gd name="T55" fmla="*/ 789 h 1735"/>
                        <a:gd name="T56" fmla="*/ 457 w 471"/>
                        <a:gd name="T57" fmla="*/ 778 h 1735"/>
                        <a:gd name="T58" fmla="*/ 471 w 471"/>
                        <a:gd name="T59" fmla="*/ 760 h 1735"/>
                        <a:gd name="T60" fmla="*/ 435 w 471"/>
                        <a:gd name="T61" fmla="*/ 598 h 1735"/>
                        <a:gd name="T62" fmla="*/ 460 w 471"/>
                        <a:gd name="T63" fmla="*/ 561 h 1735"/>
                        <a:gd name="T64" fmla="*/ 446 w 471"/>
                        <a:gd name="T65" fmla="*/ 454 h 1735"/>
                        <a:gd name="T66" fmla="*/ 442 w 471"/>
                        <a:gd name="T67" fmla="*/ 325 h 1735"/>
                        <a:gd name="T68" fmla="*/ 442 w 471"/>
                        <a:gd name="T69" fmla="*/ 198 h 1735"/>
                        <a:gd name="T70" fmla="*/ 447 w 471"/>
                        <a:gd name="T71" fmla="*/ 155 h 1735"/>
                        <a:gd name="T72" fmla="*/ 422 w 471"/>
                        <a:gd name="T73" fmla="*/ 118 h 1735"/>
                        <a:gd name="T74" fmla="*/ 414 w 471"/>
                        <a:gd name="T75" fmla="*/ 71 h 173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</a:cxnLst>
                      <a:rect l="0" t="0" r="r" b="b"/>
                      <a:pathLst>
                        <a:path w="471" h="1735">
                          <a:moveTo>
                            <a:pt x="435" y="0"/>
                          </a:moveTo>
                          <a:lnTo>
                            <a:pt x="374" y="11"/>
                          </a:lnTo>
                          <a:lnTo>
                            <a:pt x="301" y="22"/>
                          </a:lnTo>
                          <a:lnTo>
                            <a:pt x="252" y="22"/>
                          </a:lnTo>
                          <a:lnTo>
                            <a:pt x="238" y="26"/>
                          </a:lnTo>
                          <a:lnTo>
                            <a:pt x="188" y="89"/>
                          </a:lnTo>
                          <a:lnTo>
                            <a:pt x="94" y="199"/>
                          </a:lnTo>
                          <a:lnTo>
                            <a:pt x="36" y="258"/>
                          </a:lnTo>
                          <a:lnTo>
                            <a:pt x="0" y="299"/>
                          </a:lnTo>
                          <a:lnTo>
                            <a:pt x="51" y="333"/>
                          </a:lnTo>
                          <a:lnTo>
                            <a:pt x="76" y="370"/>
                          </a:lnTo>
                          <a:lnTo>
                            <a:pt x="97" y="408"/>
                          </a:lnTo>
                          <a:lnTo>
                            <a:pt x="111" y="461"/>
                          </a:lnTo>
                          <a:lnTo>
                            <a:pt x="195" y="393"/>
                          </a:lnTo>
                          <a:lnTo>
                            <a:pt x="206" y="412"/>
                          </a:lnTo>
                          <a:lnTo>
                            <a:pt x="213" y="454"/>
                          </a:lnTo>
                          <a:lnTo>
                            <a:pt x="231" y="532"/>
                          </a:lnTo>
                          <a:lnTo>
                            <a:pt x="249" y="572"/>
                          </a:lnTo>
                          <a:lnTo>
                            <a:pt x="263" y="606"/>
                          </a:lnTo>
                          <a:lnTo>
                            <a:pt x="287" y="638"/>
                          </a:lnTo>
                          <a:lnTo>
                            <a:pt x="298" y="697"/>
                          </a:lnTo>
                          <a:lnTo>
                            <a:pt x="301" y="749"/>
                          </a:lnTo>
                          <a:lnTo>
                            <a:pt x="294" y="801"/>
                          </a:lnTo>
                          <a:lnTo>
                            <a:pt x="294" y="912"/>
                          </a:lnTo>
                          <a:lnTo>
                            <a:pt x="284" y="1072"/>
                          </a:lnTo>
                          <a:lnTo>
                            <a:pt x="238" y="1209"/>
                          </a:lnTo>
                          <a:lnTo>
                            <a:pt x="220" y="1318"/>
                          </a:lnTo>
                          <a:lnTo>
                            <a:pt x="209" y="1470"/>
                          </a:lnTo>
                          <a:lnTo>
                            <a:pt x="202" y="1725"/>
                          </a:lnTo>
                          <a:lnTo>
                            <a:pt x="294" y="1735"/>
                          </a:lnTo>
                          <a:lnTo>
                            <a:pt x="301" y="1653"/>
                          </a:lnTo>
                          <a:lnTo>
                            <a:pt x="309" y="1610"/>
                          </a:lnTo>
                          <a:lnTo>
                            <a:pt x="327" y="1576"/>
                          </a:lnTo>
                          <a:lnTo>
                            <a:pt x="344" y="1558"/>
                          </a:lnTo>
                          <a:lnTo>
                            <a:pt x="371" y="1553"/>
                          </a:lnTo>
                          <a:lnTo>
                            <a:pt x="385" y="1545"/>
                          </a:lnTo>
                          <a:lnTo>
                            <a:pt x="396" y="1519"/>
                          </a:lnTo>
                          <a:lnTo>
                            <a:pt x="403" y="1491"/>
                          </a:lnTo>
                          <a:lnTo>
                            <a:pt x="399" y="1458"/>
                          </a:lnTo>
                          <a:lnTo>
                            <a:pt x="399" y="1428"/>
                          </a:lnTo>
                          <a:lnTo>
                            <a:pt x="396" y="1395"/>
                          </a:lnTo>
                          <a:lnTo>
                            <a:pt x="399" y="1361"/>
                          </a:lnTo>
                          <a:lnTo>
                            <a:pt x="396" y="1332"/>
                          </a:lnTo>
                          <a:lnTo>
                            <a:pt x="396" y="1297"/>
                          </a:lnTo>
                          <a:lnTo>
                            <a:pt x="403" y="1260"/>
                          </a:lnTo>
                          <a:lnTo>
                            <a:pt x="407" y="1208"/>
                          </a:lnTo>
                          <a:lnTo>
                            <a:pt x="414" y="1115"/>
                          </a:lnTo>
                          <a:lnTo>
                            <a:pt x="421" y="1089"/>
                          </a:lnTo>
                          <a:lnTo>
                            <a:pt x="439" y="1063"/>
                          </a:lnTo>
                          <a:lnTo>
                            <a:pt x="435" y="1019"/>
                          </a:lnTo>
                          <a:lnTo>
                            <a:pt x="435" y="978"/>
                          </a:lnTo>
                          <a:lnTo>
                            <a:pt x="439" y="933"/>
                          </a:lnTo>
                          <a:lnTo>
                            <a:pt x="439" y="900"/>
                          </a:lnTo>
                          <a:lnTo>
                            <a:pt x="432" y="870"/>
                          </a:lnTo>
                          <a:lnTo>
                            <a:pt x="417" y="826"/>
                          </a:lnTo>
                          <a:lnTo>
                            <a:pt x="410" y="789"/>
                          </a:lnTo>
                          <a:lnTo>
                            <a:pt x="414" y="763"/>
                          </a:lnTo>
                          <a:lnTo>
                            <a:pt x="457" y="778"/>
                          </a:lnTo>
                          <a:lnTo>
                            <a:pt x="471" y="770"/>
                          </a:lnTo>
                          <a:lnTo>
                            <a:pt x="471" y="760"/>
                          </a:lnTo>
                          <a:lnTo>
                            <a:pt x="468" y="742"/>
                          </a:lnTo>
                          <a:lnTo>
                            <a:pt x="435" y="598"/>
                          </a:lnTo>
                          <a:lnTo>
                            <a:pt x="468" y="623"/>
                          </a:lnTo>
                          <a:lnTo>
                            <a:pt x="460" y="561"/>
                          </a:lnTo>
                          <a:lnTo>
                            <a:pt x="450" y="506"/>
                          </a:lnTo>
                          <a:lnTo>
                            <a:pt x="446" y="454"/>
                          </a:lnTo>
                          <a:lnTo>
                            <a:pt x="439" y="397"/>
                          </a:lnTo>
                          <a:lnTo>
                            <a:pt x="442" y="325"/>
                          </a:lnTo>
                          <a:lnTo>
                            <a:pt x="439" y="246"/>
                          </a:lnTo>
                          <a:lnTo>
                            <a:pt x="442" y="198"/>
                          </a:lnTo>
                          <a:lnTo>
                            <a:pt x="463" y="169"/>
                          </a:lnTo>
                          <a:lnTo>
                            <a:pt x="447" y="155"/>
                          </a:lnTo>
                          <a:lnTo>
                            <a:pt x="433" y="137"/>
                          </a:lnTo>
                          <a:lnTo>
                            <a:pt x="422" y="118"/>
                          </a:lnTo>
                          <a:lnTo>
                            <a:pt x="416" y="96"/>
                          </a:lnTo>
                          <a:lnTo>
                            <a:pt x="414" y="71"/>
                          </a:lnTo>
                          <a:lnTo>
                            <a:pt x="435" y="0"/>
                          </a:lnTo>
                          <a:close/>
                        </a:path>
                      </a:pathLst>
                    </a:custGeom>
                    <a:solidFill>
                      <a:srgbClr val="BFFFB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84" name="Freeform 273"/>
                    <p:cNvSpPr/>
                    <p:nvPr/>
                  </p:nvSpPr>
                  <p:spPr bwMode="auto">
                    <a:xfrm>
                      <a:off x="5247" y="2402"/>
                      <a:ext cx="87" cy="342"/>
                    </a:xfrm>
                    <a:custGeom>
                      <a:avLst/>
                      <a:gdLst>
                        <a:gd name="T0" fmla="*/ 23 w 522"/>
                        <a:gd name="T1" fmla="*/ 737 h 1712"/>
                        <a:gd name="T2" fmla="*/ 34 w 522"/>
                        <a:gd name="T3" fmla="*/ 935 h 1712"/>
                        <a:gd name="T4" fmla="*/ 51 w 522"/>
                        <a:gd name="T5" fmla="*/ 1193 h 1712"/>
                        <a:gd name="T6" fmla="*/ 61 w 522"/>
                        <a:gd name="T7" fmla="*/ 1257 h 1712"/>
                        <a:gd name="T8" fmla="*/ 100 w 522"/>
                        <a:gd name="T9" fmla="*/ 1492 h 1712"/>
                        <a:gd name="T10" fmla="*/ 99 w 522"/>
                        <a:gd name="T11" fmla="*/ 1550 h 1712"/>
                        <a:gd name="T12" fmla="*/ 115 w 522"/>
                        <a:gd name="T13" fmla="*/ 1593 h 1712"/>
                        <a:gd name="T14" fmla="*/ 159 w 522"/>
                        <a:gd name="T15" fmla="*/ 1632 h 1712"/>
                        <a:gd name="T16" fmla="*/ 270 w 522"/>
                        <a:gd name="T17" fmla="*/ 1650 h 1712"/>
                        <a:gd name="T18" fmla="*/ 344 w 522"/>
                        <a:gd name="T19" fmla="*/ 1658 h 1712"/>
                        <a:gd name="T20" fmla="*/ 436 w 522"/>
                        <a:gd name="T21" fmla="*/ 1706 h 1712"/>
                        <a:gd name="T22" fmla="*/ 400 w 522"/>
                        <a:gd name="T23" fmla="*/ 1451 h 1712"/>
                        <a:gd name="T24" fmla="*/ 293 w 522"/>
                        <a:gd name="T25" fmla="*/ 1035 h 1712"/>
                        <a:gd name="T26" fmla="*/ 264 w 522"/>
                        <a:gd name="T27" fmla="*/ 868 h 1712"/>
                        <a:gd name="T28" fmla="*/ 296 w 522"/>
                        <a:gd name="T29" fmla="*/ 653 h 1712"/>
                        <a:gd name="T30" fmla="*/ 324 w 522"/>
                        <a:gd name="T31" fmla="*/ 569 h 1712"/>
                        <a:gd name="T32" fmla="*/ 349 w 522"/>
                        <a:gd name="T33" fmla="*/ 656 h 1712"/>
                        <a:gd name="T34" fmla="*/ 458 w 522"/>
                        <a:gd name="T35" fmla="*/ 627 h 1712"/>
                        <a:gd name="T36" fmla="*/ 504 w 522"/>
                        <a:gd name="T37" fmla="*/ 498 h 1712"/>
                        <a:gd name="T38" fmla="*/ 458 w 522"/>
                        <a:gd name="T39" fmla="*/ 243 h 1712"/>
                        <a:gd name="T40" fmla="*/ 356 w 522"/>
                        <a:gd name="T41" fmla="*/ 122 h 1712"/>
                        <a:gd name="T42" fmla="*/ 157 w 522"/>
                        <a:gd name="T43" fmla="*/ 0 h 1712"/>
                        <a:gd name="T44" fmla="*/ 160 w 522"/>
                        <a:gd name="T45" fmla="*/ 79 h 1712"/>
                        <a:gd name="T46" fmla="*/ 146 w 522"/>
                        <a:gd name="T47" fmla="*/ 132 h 1712"/>
                        <a:gd name="T48" fmla="*/ 122 w 522"/>
                        <a:gd name="T49" fmla="*/ 190 h 1712"/>
                        <a:gd name="T50" fmla="*/ 83 w 522"/>
                        <a:gd name="T51" fmla="*/ 284 h 1712"/>
                        <a:gd name="T52" fmla="*/ 50 w 522"/>
                        <a:gd name="T53" fmla="*/ 293 h 1712"/>
                        <a:gd name="T54" fmla="*/ 36 w 522"/>
                        <a:gd name="T55" fmla="*/ 325 h 1712"/>
                        <a:gd name="T56" fmla="*/ 29 w 522"/>
                        <a:gd name="T57" fmla="*/ 425 h 1712"/>
                        <a:gd name="T58" fmla="*/ 8 w 522"/>
                        <a:gd name="T59" fmla="*/ 489 h 1712"/>
                        <a:gd name="T60" fmla="*/ 0 w 522"/>
                        <a:gd name="T61" fmla="*/ 538 h 1712"/>
                        <a:gd name="T62" fmla="*/ 8 w 522"/>
                        <a:gd name="T63" fmla="*/ 617 h 171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</a:cxnLst>
                      <a:rect l="0" t="0" r="r" b="b"/>
                      <a:pathLst>
                        <a:path w="522" h="1712">
                          <a:moveTo>
                            <a:pt x="16" y="671"/>
                          </a:moveTo>
                          <a:lnTo>
                            <a:pt x="23" y="737"/>
                          </a:lnTo>
                          <a:lnTo>
                            <a:pt x="25" y="797"/>
                          </a:lnTo>
                          <a:lnTo>
                            <a:pt x="34" y="935"/>
                          </a:lnTo>
                          <a:lnTo>
                            <a:pt x="41" y="1061"/>
                          </a:lnTo>
                          <a:lnTo>
                            <a:pt x="51" y="1193"/>
                          </a:lnTo>
                          <a:lnTo>
                            <a:pt x="54" y="1228"/>
                          </a:lnTo>
                          <a:lnTo>
                            <a:pt x="61" y="1257"/>
                          </a:lnTo>
                          <a:lnTo>
                            <a:pt x="77" y="1298"/>
                          </a:lnTo>
                          <a:lnTo>
                            <a:pt x="100" y="1492"/>
                          </a:lnTo>
                          <a:lnTo>
                            <a:pt x="100" y="1533"/>
                          </a:lnTo>
                          <a:lnTo>
                            <a:pt x="99" y="1550"/>
                          </a:lnTo>
                          <a:lnTo>
                            <a:pt x="102" y="1571"/>
                          </a:lnTo>
                          <a:lnTo>
                            <a:pt x="115" y="1593"/>
                          </a:lnTo>
                          <a:lnTo>
                            <a:pt x="129" y="1616"/>
                          </a:lnTo>
                          <a:lnTo>
                            <a:pt x="159" y="1632"/>
                          </a:lnTo>
                          <a:lnTo>
                            <a:pt x="197" y="1642"/>
                          </a:lnTo>
                          <a:lnTo>
                            <a:pt x="270" y="1650"/>
                          </a:lnTo>
                          <a:lnTo>
                            <a:pt x="319" y="1655"/>
                          </a:lnTo>
                          <a:lnTo>
                            <a:pt x="344" y="1658"/>
                          </a:lnTo>
                          <a:lnTo>
                            <a:pt x="405" y="1712"/>
                          </a:lnTo>
                          <a:lnTo>
                            <a:pt x="436" y="1706"/>
                          </a:lnTo>
                          <a:lnTo>
                            <a:pt x="425" y="1569"/>
                          </a:lnTo>
                          <a:lnTo>
                            <a:pt x="400" y="1451"/>
                          </a:lnTo>
                          <a:lnTo>
                            <a:pt x="356" y="1239"/>
                          </a:lnTo>
                          <a:lnTo>
                            <a:pt x="293" y="1035"/>
                          </a:lnTo>
                          <a:lnTo>
                            <a:pt x="275" y="946"/>
                          </a:lnTo>
                          <a:lnTo>
                            <a:pt x="264" y="868"/>
                          </a:lnTo>
                          <a:lnTo>
                            <a:pt x="271" y="768"/>
                          </a:lnTo>
                          <a:lnTo>
                            <a:pt x="296" y="653"/>
                          </a:lnTo>
                          <a:lnTo>
                            <a:pt x="310" y="616"/>
                          </a:lnTo>
                          <a:lnTo>
                            <a:pt x="324" y="569"/>
                          </a:lnTo>
                          <a:lnTo>
                            <a:pt x="342" y="604"/>
                          </a:lnTo>
                          <a:lnTo>
                            <a:pt x="349" y="656"/>
                          </a:lnTo>
                          <a:lnTo>
                            <a:pt x="404" y="638"/>
                          </a:lnTo>
                          <a:lnTo>
                            <a:pt x="458" y="627"/>
                          </a:lnTo>
                          <a:lnTo>
                            <a:pt x="522" y="619"/>
                          </a:lnTo>
                          <a:lnTo>
                            <a:pt x="504" y="498"/>
                          </a:lnTo>
                          <a:lnTo>
                            <a:pt x="494" y="393"/>
                          </a:lnTo>
                          <a:lnTo>
                            <a:pt x="458" y="243"/>
                          </a:lnTo>
                          <a:lnTo>
                            <a:pt x="451" y="177"/>
                          </a:lnTo>
                          <a:lnTo>
                            <a:pt x="356" y="122"/>
                          </a:lnTo>
                          <a:lnTo>
                            <a:pt x="264" y="67"/>
                          </a:lnTo>
                          <a:lnTo>
                            <a:pt x="157" y="0"/>
                          </a:lnTo>
                          <a:lnTo>
                            <a:pt x="160" y="56"/>
                          </a:lnTo>
                          <a:lnTo>
                            <a:pt x="160" y="79"/>
                          </a:lnTo>
                          <a:lnTo>
                            <a:pt x="153" y="111"/>
                          </a:lnTo>
                          <a:lnTo>
                            <a:pt x="146" y="132"/>
                          </a:lnTo>
                          <a:lnTo>
                            <a:pt x="135" y="154"/>
                          </a:lnTo>
                          <a:lnTo>
                            <a:pt x="122" y="190"/>
                          </a:lnTo>
                          <a:lnTo>
                            <a:pt x="99" y="243"/>
                          </a:lnTo>
                          <a:lnTo>
                            <a:pt x="83" y="284"/>
                          </a:lnTo>
                          <a:lnTo>
                            <a:pt x="68" y="288"/>
                          </a:lnTo>
                          <a:lnTo>
                            <a:pt x="50" y="293"/>
                          </a:lnTo>
                          <a:lnTo>
                            <a:pt x="36" y="308"/>
                          </a:lnTo>
                          <a:lnTo>
                            <a:pt x="36" y="325"/>
                          </a:lnTo>
                          <a:lnTo>
                            <a:pt x="34" y="378"/>
                          </a:lnTo>
                          <a:lnTo>
                            <a:pt x="29" y="425"/>
                          </a:lnTo>
                          <a:lnTo>
                            <a:pt x="16" y="467"/>
                          </a:lnTo>
                          <a:lnTo>
                            <a:pt x="8" y="489"/>
                          </a:lnTo>
                          <a:lnTo>
                            <a:pt x="1" y="517"/>
                          </a:lnTo>
                          <a:lnTo>
                            <a:pt x="0" y="538"/>
                          </a:lnTo>
                          <a:lnTo>
                            <a:pt x="5" y="570"/>
                          </a:lnTo>
                          <a:lnTo>
                            <a:pt x="8" y="617"/>
                          </a:lnTo>
                          <a:lnTo>
                            <a:pt x="16" y="671"/>
                          </a:lnTo>
                          <a:close/>
                        </a:path>
                      </a:pathLst>
                    </a:custGeom>
                    <a:solidFill>
                      <a:srgbClr val="BFFFB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319" name="Group 274"/>
                  <p:cNvGrpSpPr/>
                  <p:nvPr/>
                </p:nvGrpSpPr>
                <p:grpSpPr bwMode="auto">
                  <a:xfrm>
                    <a:off x="5204" y="2258"/>
                    <a:ext cx="90" cy="191"/>
                    <a:chOff x="5204" y="2258"/>
                    <a:chExt cx="90" cy="191"/>
                  </a:xfrm>
                </p:grpSpPr>
                <p:grpSp>
                  <p:nvGrpSpPr>
                    <p:cNvPr id="339" name="Group 275"/>
                    <p:cNvGrpSpPr/>
                    <p:nvPr/>
                  </p:nvGrpSpPr>
                  <p:grpSpPr bwMode="auto">
                    <a:xfrm>
                      <a:off x="5225" y="2354"/>
                      <a:ext cx="47" cy="95"/>
                      <a:chOff x="5225" y="2354"/>
                      <a:chExt cx="47" cy="95"/>
                    </a:xfrm>
                  </p:grpSpPr>
                  <p:sp>
                    <p:nvSpPr>
                      <p:cNvPr id="380" name="Freeform 276"/>
                      <p:cNvSpPr/>
                      <p:nvPr/>
                    </p:nvSpPr>
                    <p:spPr bwMode="auto">
                      <a:xfrm>
                        <a:off x="5225" y="2354"/>
                        <a:ext cx="47" cy="95"/>
                      </a:xfrm>
                      <a:custGeom>
                        <a:avLst/>
                        <a:gdLst>
                          <a:gd name="T0" fmla="*/ 240 w 278"/>
                          <a:gd name="T1" fmla="*/ 0 h 477"/>
                          <a:gd name="T2" fmla="*/ 253 w 278"/>
                          <a:gd name="T3" fmla="*/ 135 h 477"/>
                          <a:gd name="T4" fmla="*/ 261 w 278"/>
                          <a:gd name="T5" fmla="*/ 206 h 477"/>
                          <a:gd name="T6" fmla="*/ 268 w 278"/>
                          <a:gd name="T7" fmla="*/ 231 h 477"/>
                          <a:gd name="T8" fmla="*/ 278 w 278"/>
                          <a:gd name="T9" fmla="*/ 292 h 477"/>
                          <a:gd name="T10" fmla="*/ 272 w 278"/>
                          <a:gd name="T11" fmla="*/ 339 h 477"/>
                          <a:gd name="T12" fmla="*/ 261 w 278"/>
                          <a:gd name="T13" fmla="*/ 387 h 477"/>
                          <a:gd name="T14" fmla="*/ 243 w 278"/>
                          <a:gd name="T15" fmla="*/ 431 h 477"/>
                          <a:gd name="T16" fmla="*/ 224 w 278"/>
                          <a:gd name="T17" fmla="*/ 455 h 477"/>
                          <a:gd name="T18" fmla="*/ 191 w 278"/>
                          <a:gd name="T19" fmla="*/ 470 h 477"/>
                          <a:gd name="T20" fmla="*/ 148 w 278"/>
                          <a:gd name="T21" fmla="*/ 477 h 477"/>
                          <a:gd name="T22" fmla="*/ 102 w 278"/>
                          <a:gd name="T23" fmla="*/ 470 h 477"/>
                          <a:gd name="T24" fmla="*/ 65 w 278"/>
                          <a:gd name="T25" fmla="*/ 451 h 477"/>
                          <a:gd name="T26" fmla="*/ 43 w 278"/>
                          <a:gd name="T27" fmla="*/ 431 h 477"/>
                          <a:gd name="T28" fmla="*/ 22 w 278"/>
                          <a:gd name="T29" fmla="*/ 402 h 477"/>
                          <a:gd name="T30" fmla="*/ 3 w 278"/>
                          <a:gd name="T31" fmla="*/ 360 h 477"/>
                          <a:gd name="T32" fmla="*/ 0 w 278"/>
                          <a:gd name="T33" fmla="*/ 332 h 477"/>
                          <a:gd name="T34" fmla="*/ 3 w 278"/>
                          <a:gd name="T35" fmla="*/ 305 h 477"/>
                          <a:gd name="T36" fmla="*/ 12 w 278"/>
                          <a:gd name="T37" fmla="*/ 283 h 477"/>
                          <a:gd name="T38" fmla="*/ 25 w 278"/>
                          <a:gd name="T39" fmla="*/ 262 h 477"/>
                          <a:gd name="T40" fmla="*/ 51 w 278"/>
                          <a:gd name="T41" fmla="*/ 240 h 477"/>
                          <a:gd name="T42" fmla="*/ 53 w 278"/>
                          <a:gd name="T43" fmla="*/ 195 h 477"/>
                          <a:gd name="T44" fmla="*/ 51 w 278"/>
                          <a:gd name="T45" fmla="*/ 121 h 477"/>
                          <a:gd name="T46" fmla="*/ 92 w 278"/>
                          <a:gd name="T47" fmla="*/ 121 h 477"/>
                          <a:gd name="T48" fmla="*/ 120 w 278"/>
                          <a:gd name="T49" fmla="*/ 112 h 477"/>
                          <a:gd name="T50" fmla="*/ 148 w 278"/>
                          <a:gd name="T51" fmla="*/ 97 h 477"/>
                          <a:gd name="T52" fmla="*/ 167 w 278"/>
                          <a:gd name="T53" fmla="*/ 72 h 477"/>
                          <a:gd name="T54" fmla="*/ 192 w 278"/>
                          <a:gd name="T55" fmla="*/ 38 h 477"/>
                          <a:gd name="T56" fmla="*/ 240 w 278"/>
                          <a:gd name="T57" fmla="*/ 0 h 477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</a:cxnLst>
                        <a:rect l="0" t="0" r="r" b="b"/>
                        <a:pathLst>
                          <a:path w="278" h="477">
                            <a:moveTo>
                              <a:pt x="240" y="0"/>
                            </a:moveTo>
                            <a:lnTo>
                              <a:pt x="253" y="135"/>
                            </a:lnTo>
                            <a:lnTo>
                              <a:pt x="261" y="206"/>
                            </a:lnTo>
                            <a:lnTo>
                              <a:pt x="268" y="231"/>
                            </a:lnTo>
                            <a:lnTo>
                              <a:pt x="278" y="292"/>
                            </a:lnTo>
                            <a:lnTo>
                              <a:pt x="272" y="339"/>
                            </a:lnTo>
                            <a:lnTo>
                              <a:pt x="261" y="387"/>
                            </a:lnTo>
                            <a:lnTo>
                              <a:pt x="243" y="431"/>
                            </a:lnTo>
                            <a:lnTo>
                              <a:pt x="224" y="455"/>
                            </a:lnTo>
                            <a:lnTo>
                              <a:pt x="191" y="470"/>
                            </a:lnTo>
                            <a:lnTo>
                              <a:pt x="148" y="477"/>
                            </a:lnTo>
                            <a:lnTo>
                              <a:pt x="102" y="470"/>
                            </a:lnTo>
                            <a:lnTo>
                              <a:pt x="65" y="451"/>
                            </a:lnTo>
                            <a:lnTo>
                              <a:pt x="43" y="431"/>
                            </a:lnTo>
                            <a:lnTo>
                              <a:pt x="22" y="402"/>
                            </a:lnTo>
                            <a:lnTo>
                              <a:pt x="3" y="360"/>
                            </a:lnTo>
                            <a:lnTo>
                              <a:pt x="0" y="332"/>
                            </a:lnTo>
                            <a:lnTo>
                              <a:pt x="3" y="305"/>
                            </a:lnTo>
                            <a:lnTo>
                              <a:pt x="12" y="283"/>
                            </a:lnTo>
                            <a:lnTo>
                              <a:pt x="25" y="262"/>
                            </a:lnTo>
                            <a:lnTo>
                              <a:pt x="51" y="240"/>
                            </a:lnTo>
                            <a:lnTo>
                              <a:pt x="53" y="195"/>
                            </a:lnTo>
                            <a:lnTo>
                              <a:pt x="51" y="121"/>
                            </a:lnTo>
                            <a:lnTo>
                              <a:pt x="92" y="121"/>
                            </a:lnTo>
                            <a:lnTo>
                              <a:pt x="120" y="112"/>
                            </a:lnTo>
                            <a:lnTo>
                              <a:pt x="148" y="97"/>
                            </a:lnTo>
                            <a:lnTo>
                              <a:pt x="167" y="72"/>
                            </a:lnTo>
                            <a:lnTo>
                              <a:pt x="192" y="38"/>
                            </a:lnTo>
                            <a:lnTo>
                              <a:pt x="240" y="0"/>
                            </a:lnTo>
                            <a:close/>
                          </a:path>
                        </a:pathLst>
                      </a:custGeom>
                      <a:solidFill>
                        <a:srgbClr val="FF9F9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381" name="Freeform 277"/>
                      <p:cNvSpPr/>
                      <p:nvPr/>
                    </p:nvSpPr>
                    <p:spPr bwMode="auto">
                      <a:xfrm>
                        <a:off x="5225" y="2354"/>
                        <a:ext cx="46" cy="87"/>
                      </a:xfrm>
                      <a:custGeom>
                        <a:avLst/>
                        <a:gdLst>
                          <a:gd name="T0" fmla="*/ 240 w 279"/>
                          <a:gd name="T1" fmla="*/ 0 h 434"/>
                          <a:gd name="T2" fmla="*/ 254 w 279"/>
                          <a:gd name="T3" fmla="*/ 135 h 434"/>
                          <a:gd name="T4" fmla="*/ 262 w 279"/>
                          <a:gd name="T5" fmla="*/ 206 h 434"/>
                          <a:gd name="T6" fmla="*/ 269 w 279"/>
                          <a:gd name="T7" fmla="*/ 231 h 434"/>
                          <a:gd name="T8" fmla="*/ 279 w 279"/>
                          <a:gd name="T9" fmla="*/ 292 h 434"/>
                          <a:gd name="T10" fmla="*/ 273 w 279"/>
                          <a:gd name="T11" fmla="*/ 340 h 434"/>
                          <a:gd name="T12" fmla="*/ 262 w 279"/>
                          <a:gd name="T13" fmla="*/ 387 h 434"/>
                          <a:gd name="T14" fmla="*/ 245 w 279"/>
                          <a:gd name="T15" fmla="*/ 431 h 434"/>
                          <a:gd name="T16" fmla="*/ 234 w 279"/>
                          <a:gd name="T17" fmla="*/ 407 h 434"/>
                          <a:gd name="T18" fmla="*/ 214 w 279"/>
                          <a:gd name="T19" fmla="*/ 398 h 434"/>
                          <a:gd name="T20" fmla="*/ 199 w 279"/>
                          <a:gd name="T21" fmla="*/ 403 h 434"/>
                          <a:gd name="T22" fmla="*/ 185 w 279"/>
                          <a:gd name="T23" fmla="*/ 415 h 434"/>
                          <a:gd name="T24" fmla="*/ 163 w 279"/>
                          <a:gd name="T25" fmla="*/ 434 h 434"/>
                          <a:gd name="T26" fmla="*/ 133 w 279"/>
                          <a:gd name="T27" fmla="*/ 434 h 434"/>
                          <a:gd name="T28" fmla="*/ 146 w 279"/>
                          <a:gd name="T29" fmla="*/ 410 h 434"/>
                          <a:gd name="T30" fmla="*/ 173 w 279"/>
                          <a:gd name="T31" fmla="*/ 374 h 434"/>
                          <a:gd name="T32" fmla="*/ 201 w 279"/>
                          <a:gd name="T33" fmla="*/ 351 h 434"/>
                          <a:gd name="T34" fmla="*/ 217 w 279"/>
                          <a:gd name="T35" fmla="*/ 334 h 434"/>
                          <a:gd name="T36" fmla="*/ 224 w 279"/>
                          <a:gd name="T37" fmla="*/ 309 h 434"/>
                          <a:gd name="T38" fmla="*/ 227 w 279"/>
                          <a:gd name="T39" fmla="*/ 285 h 434"/>
                          <a:gd name="T40" fmla="*/ 228 w 279"/>
                          <a:gd name="T41" fmla="*/ 258 h 434"/>
                          <a:gd name="T42" fmla="*/ 225 w 279"/>
                          <a:gd name="T43" fmla="*/ 230 h 434"/>
                          <a:gd name="T44" fmla="*/ 227 w 279"/>
                          <a:gd name="T45" fmla="*/ 189 h 434"/>
                          <a:gd name="T46" fmla="*/ 213 w 279"/>
                          <a:gd name="T47" fmla="*/ 193 h 434"/>
                          <a:gd name="T48" fmla="*/ 177 w 279"/>
                          <a:gd name="T49" fmla="*/ 194 h 434"/>
                          <a:gd name="T50" fmla="*/ 147 w 279"/>
                          <a:gd name="T51" fmla="*/ 191 h 434"/>
                          <a:gd name="T52" fmla="*/ 116 w 279"/>
                          <a:gd name="T53" fmla="*/ 186 h 434"/>
                          <a:gd name="T54" fmla="*/ 93 w 279"/>
                          <a:gd name="T55" fmla="*/ 178 h 434"/>
                          <a:gd name="T56" fmla="*/ 76 w 279"/>
                          <a:gd name="T57" fmla="*/ 169 h 434"/>
                          <a:gd name="T58" fmla="*/ 76 w 279"/>
                          <a:gd name="T59" fmla="*/ 196 h 434"/>
                          <a:gd name="T60" fmla="*/ 76 w 279"/>
                          <a:gd name="T61" fmla="*/ 231 h 434"/>
                          <a:gd name="T62" fmla="*/ 68 w 279"/>
                          <a:gd name="T63" fmla="*/ 262 h 434"/>
                          <a:gd name="T64" fmla="*/ 67 w 279"/>
                          <a:gd name="T65" fmla="*/ 292 h 434"/>
                          <a:gd name="T66" fmla="*/ 78 w 279"/>
                          <a:gd name="T67" fmla="*/ 322 h 434"/>
                          <a:gd name="T68" fmla="*/ 90 w 279"/>
                          <a:gd name="T69" fmla="*/ 348 h 434"/>
                          <a:gd name="T70" fmla="*/ 107 w 279"/>
                          <a:gd name="T71" fmla="*/ 378 h 434"/>
                          <a:gd name="T72" fmla="*/ 98 w 279"/>
                          <a:gd name="T73" fmla="*/ 400 h 434"/>
                          <a:gd name="T74" fmla="*/ 84 w 279"/>
                          <a:gd name="T75" fmla="*/ 387 h 434"/>
                          <a:gd name="T76" fmla="*/ 59 w 279"/>
                          <a:gd name="T77" fmla="*/ 369 h 434"/>
                          <a:gd name="T78" fmla="*/ 43 w 279"/>
                          <a:gd name="T79" fmla="*/ 353 h 434"/>
                          <a:gd name="T80" fmla="*/ 22 w 279"/>
                          <a:gd name="T81" fmla="*/ 342 h 434"/>
                          <a:gd name="T82" fmla="*/ 0 w 279"/>
                          <a:gd name="T83" fmla="*/ 334 h 434"/>
                          <a:gd name="T84" fmla="*/ 4 w 279"/>
                          <a:gd name="T85" fmla="*/ 305 h 434"/>
                          <a:gd name="T86" fmla="*/ 12 w 279"/>
                          <a:gd name="T87" fmla="*/ 283 h 434"/>
                          <a:gd name="T88" fmla="*/ 25 w 279"/>
                          <a:gd name="T89" fmla="*/ 262 h 434"/>
                          <a:gd name="T90" fmla="*/ 52 w 279"/>
                          <a:gd name="T91" fmla="*/ 240 h 434"/>
                          <a:gd name="T92" fmla="*/ 54 w 279"/>
                          <a:gd name="T93" fmla="*/ 195 h 434"/>
                          <a:gd name="T94" fmla="*/ 52 w 279"/>
                          <a:gd name="T95" fmla="*/ 121 h 434"/>
                          <a:gd name="T96" fmla="*/ 92 w 279"/>
                          <a:gd name="T97" fmla="*/ 121 h 434"/>
                          <a:gd name="T98" fmla="*/ 121 w 279"/>
                          <a:gd name="T99" fmla="*/ 114 h 434"/>
                          <a:gd name="T100" fmla="*/ 148 w 279"/>
                          <a:gd name="T101" fmla="*/ 97 h 434"/>
                          <a:gd name="T102" fmla="*/ 168 w 279"/>
                          <a:gd name="T103" fmla="*/ 72 h 434"/>
                          <a:gd name="T104" fmla="*/ 193 w 279"/>
                          <a:gd name="T105" fmla="*/ 38 h 434"/>
                          <a:gd name="T106" fmla="*/ 240 w 279"/>
                          <a:gd name="T107" fmla="*/ 0 h 43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  <a:cxn ang="0">
                            <a:pos x="T78" y="T79"/>
                          </a:cxn>
                          <a:cxn ang="0">
                            <a:pos x="T80" y="T81"/>
                          </a:cxn>
                          <a:cxn ang="0">
                            <a:pos x="T82" y="T83"/>
                          </a:cxn>
                          <a:cxn ang="0">
                            <a:pos x="T84" y="T85"/>
                          </a:cxn>
                          <a:cxn ang="0">
                            <a:pos x="T86" y="T87"/>
                          </a:cxn>
                          <a:cxn ang="0">
                            <a:pos x="T88" y="T89"/>
                          </a:cxn>
                          <a:cxn ang="0">
                            <a:pos x="T90" y="T91"/>
                          </a:cxn>
                          <a:cxn ang="0">
                            <a:pos x="T92" y="T93"/>
                          </a:cxn>
                          <a:cxn ang="0">
                            <a:pos x="T94" y="T95"/>
                          </a:cxn>
                          <a:cxn ang="0">
                            <a:pos x="T96" y="T97"/>
                          </a:cxn>
                          <a:cxn ang="0">
                            <a:pos x="T98" y="T99"/>
                          </a:cxn>
                          <a:cxn ang="0">
                            <a:pos x="T100" y="T101"/>
                          </a:cxn>
                          <a:cxn ang="0">
                            <a:pos x="T102" y="T103"/>
                          </a:cxn>
                          <a:cxn ang="0">
                            <a:pos x="T104" y="T105"/>
                          </a:cxn>
                          <a:cxn ang="0">
                            <a:pos x="T106" y="T107"/>
                          </a:cxn>
                        </a:cxnLst>
                        <a:rect l="0" t="0" r="r" b="b"/>
                        <a:pathLst>
                          <a:path w="279" h="434">
                            <a:moveTo>
                              <a:pt x="240" y="0"/>
                            </a:moveTo>
                            <a:lnTo>
                              <a:pt x="254" y="135"/>
                            </a:lnTo>
                            <a:lnTo>
                              <a:pt x="262" y="206"/>
                            </a:lnTo>
                            <a:lnTo>
                              <a:pt x="269" y="231"/>
                            </a:lnTo>
                            <a:lnTo>
                              <a:pt x="279" y="292"/>
                            </a:lnTo>
                            <a:lnTo>
                              <a:pt x="273" y="340"/>
                            </a:lnTo>
                            <a:lnTo>
                              <a:pt x="262" y="387"/>
                            </a:lnTo>
                            <a:lnTo>
                              <a:pt x="245" y="431"/>
                            </a:lnTo>
                            <a:lnTo>
                              <a:pt x="234" y="407"/>
                            </a:lnTo>
                            <a:lnTo>
                              <a:pt x="214" y="398"/>
                            </a:lnTo>
                            <a:lnTo>
                              <a:pt x="199" y="403"/>
                            </a:lnTo>
                            <a:lnTo>
                              <a:pt x="185" y="415"/>
                            </a:lnTo>
                            <a:lnTo>
                              <a:pt x="163" y="434"/>
                            </a:lnTo>
                            <a:lnTo>
                              <a:pt x="133" y="434"/>
                            </a:lnTo>
                            <a:lnTo>
                              <a:pt x="146" y="410"/>
                            </a:lnTo>
                            <a:lnTo>
                              <a:pt x="173" y="374"/>
                            </a:lnTo>
                            <a:lnTo>
                              <a:pt x="201" y="351"/>
                            </a:lnTo>
                            <a:lnTo>
                              <a:pt x="217" y="334"/>
                            </a:lnTo>
                            <a:lnTo>
                              <a:pt x="224" y="309"/>
                            </a:lnTo>
                            <a:lnTo>
                              <a:pt x="227" y="285"/>
                            </a:lnTo>
                            <a:lnTo>
                              <a:pt x="228" y="258"/>
                            </a:lnTo>
                            <a:lnTo>
                              <a:pt x="225" y="230"/>
                            </a:lnTo>
                            <a:lnTo>
                              <a:pt x="227" y="189"/>
                            </a:lnTo>
                            <a:lnTo>
                              <a:pt x="213" y="193"/>
                            </a:lnTo>
                            <a:lnTo>
                              <a:pt x="177" y="194"/>
                            </a:lnTo>
                            <a:lnTo>
                              <a:pt x="147" y="191"/>
                            </a:lnTo>
                            <a:lnTo>
                              <a:pt x="116" y="186"/>
                            </a:lnTo>
                            <a:lnTo>
                              <a:pt x="93" y="178"/>
                            </a:lnTo>
                            <a:lnTo>
                              <a:pt x="76" y="169"/>
                            </a:lnTo>
                            <a:lnTo>
                              <a:pt x="76" y="196"/>
                            </a:lnTo>
                            <a:lnTo>
                              <a:pt x="76" y="231"/>
                            </a:lnTo>
                            <a:lnTo>
                              <a:pt x="68" y="262"/>
                            </a:lnTo>
                            <a:lnTo>
                              <a:pt x="67" y="292"/>
                            </a:lnTo>
                            <a:lnTo>
                              <a:pt x="78" y="322"/>
                            </a:lnTo>
                            <a:lnTo>
                              <a:pt x="90" y="348"/>
                            </a:lnTo>
                            <a:lnTo>
                              <a:pt x="107" y="378"/>
                            </a:lnTo>
                            <a:lnTo>
                              <a:pt x="98" y="400"/>
                            </a:lnTo>
                            <a:lnTo>
                              <a:pt x="84" y="387"/>
                            </a:lnTo>
                            <a:lnTo>
                              <a:pt x="59" y="369"/>
                            </a:lnTo>
                            <a:lnTo>
                              <a:pt x="43" y="353"/>
                            </a:lnTo>
                            <a:lnTo>
                              <a:pt x="22" y="342"/>
                            </a:lnTo>
                            <a:lnTo>
                              <a:pt x="0" y="334"/>
                            </a:lnTo>
                            <a:lnTo>
                              <a:pt x="4" y="305"/>
                            </a:lnTo>
                            <a:lnTo>
                              <a:pt x="12" y="283"/>
                            </a:lnTo>
                            <a:lnTo>
                              <a:pt x="25" y="262"/>
                            </a:lnTo>
                            <a:lnTo>
                              <a:pt x="52" y="240"/>
                            </a:lnTo>
                            <a:lnTo>
                              <a:pt x="54" y="195"/>
                            </a:lnTo>
                            <a:lnTo>
                              <a:pt x="52" y="121"/>
                            </a:lnTo>
                            <a:lnTo>
                              <a:pt x="92" y="121"/>
                            </a:lnTo>
                            <a:lnTo>
                              <a:pt x="121" y="114"/>
                            </a:lnTo>
                            <a:lnTo>
                              <a:pt x="148" y="97"/>
                            </a:lnTo>
                            <a:lnTo>
                              <a:pt x="168" y="72"/>
                            </a:lnTo>
                            <a:lnTo>
                              <a:pt x="193" y="38"/>
                            </a:lnTo>
                            <a:lnTo>
                              <a:pt x="240" y="0"/>
                            </a:lnTo>
                            <a:close/>
                          </a:path>
                        </a:pathLst>
                      </a:custGeom>
                      <a:solidFill>
                        <a:srgbClr val="FF7F7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sp>
                  <p:nvSpPr>
                    <p:cNvPr id="340" name="Freeform 278"/>
                    <p:cNvSpPr/>
                    <p:nvPr/>
                  </p:nvSpPr>
                  <p:spPr bwMode="auto">
                    <a:xfrm>
                      <a:off x="5214" y="2266"/>
                      <a:ext cx="63" cy="116"/>
                    </a:xfrm>
                    <a:custGeom>
                      <a:avLst/>
                      <a:gdLst>
                        <a:gd name="T0" fmla="*/ 34 w 376"/>
                        <a:gd name="T1" fmla="*/ 100 h 582"/>
                        <a:gd name="T2" fmla="*/ 19 w 376"/>
                        <a:gd name="T3" fmla="*/ 137 h 582"/>
                        <a:gd name="T4" fmla="*/ 8 w 376"/>
                        <a:gd name="T5" fmla="*/ 169 h 582"/>
                        <a:gd name="T6" fmla="*/ 1 w 376"/>
                        <a:gd name="T7" fmla="*/ 195 h 582"/>
                        <a:gd name="T8" fmla="*/ 0 w 376"/>
                        <a:gd name="T9" fmla="*/ 215 h 582"/>
                        <a:gd name="T10" fmla="*/ 2 w 376"/>
                        <a:gd name="T11" fmla="*/ 233 h 582"/>
                        <a:gd name="T12" fmla="*/ 6 w 376"/>
                        <a:gd name="T13" fmla="*/ 262 h 582"/>
                        <a:gd name="T14" fmla="*/ 4 w 376"/>
                        <a:gd name="T15" fmla="*/ 275 h 582"/>
                        <a:gd name="T16" fmla="*/ 6 w 376"/>
                        <a:gd name="T17" fmla="*/ 291 h 582"/>
                        <a:gd name="T18" fmla="*/ 13 w 376"/>
                        <a:gd name="T19" fmla="*/ 312 h 582"/>
                        <a:gd name="T20" fmla="*/ 15 w 376"/>
                        <a:gd name="T21" fmla="*/ 325 h 582"/>
                        <a:gd name="T22" fmla="*/ 12 w 376"/>
                        <a:gd name="T23" fmla="*/ 362 h 582"/>
                        <a:gd name="T24" fmla="*/ 15 w 376"/>
                        <a:gd name="T25" fmla="*/ 388 h 582"/>
                        <a:gd name="T26" fmla="*/ 22 w 376"/>
                        <a:gd name="T27" fmla="*/ 414 h 582"/>
                        <a:gd name="T28" fmla="*/ 34 w 376"/>
                        <a:gd name="T29" fmla="*/ 445 h 582"/>
                        <a:gd name="T30" fmla="*/ 49 w 376"/>
                        <a:gd name="T31" fmla="*/ 477 h 582"/>
                        <a:gd name="T32" fmla="*/ 62 w 376"/>
                        <a:gd name="T33" fmla="*/ 507 h 582"/>
                        <a:gd name="T34" fmla="*/ 70 w 376"/>
                        <a:gd name="T35" fmla="*/ 530 h 582"/>
                        <a:gd name="T36" fmla="*/ 77 w 376"/>
                        <a:gd name="T37" fmla="*/ 555 h 582"/>
                        <a:gd name="T38" fmla="*/ 88 w 376"/>
                        <a:gd name="T39" fmla="*/ 570 h 582"/>
                        <a:gd name="T40" fmla="*/ 104 w 376"/>
                        <a:gd name="T41" fmla="*/ 578 h 582"/>
                        <a:gd name="T42" fmla="*/ 129 w 376"/>
                        <a:gd name="T43" fmla="*/ 582 h 582"/>
                        <a:gd name="T44" fmla="*/ 163 w 376"/>
                        <a:gd name="T45" fmla="*/ 578 h 582"/>
                        <a:gd name="T46" fmla="*/ 193 w 376"/>
                        <a:gd name="T47" fmla="*/ 571 h 582"/>
                        <a:gd name="T48" fmla="*/ 210 w 376"/>
                        <a:gd name="T49" fmla="*/ 559 h 582"/>
                        <a:gd name="T50" fmla="*/ 235 w 376"/>
                        <a:gd name="T51" fmla="*/ 541 h 582"/>
                        <a:gd name="T52" fmla="*/ 261 w 376"/>
                        <a:gd name="T53" fmla="*/ 507 h 582"/>
                        <a:gd name="T54" fmla="*/ 304 w 376"/>
                        <a:gd name="T55" fmla="*/ 444 h 582"/>
                        <a:gd name="T56" fmla="*/ 315 w 376"/>
                        <a:gd name="T57" fmla="*/ 424 h 582"/>
                        <a:gd name="T58" fmla="*/ 324 w 376"/>
                        <a:gd name="T59" fmla="*/ 429 h 582"/>
                        <a:gd name="T60" fmla="*/ 337 w 376"/>
                        <a:gd name="T61" fmla="*/ 429 h 582"/>
                        <a:gd name="T62" fmla="*/ 344 w 376"/>
                        <a:gd name="T63" fmla="*/ 410 h 582"/>
                        <a:gd name="T64" fmla="*/ 356 w 376"/>
                        <a:gd name="T65" fmla="*/ 372 h 582"/>
                        <a:gd name="T66" fmla="*/ 365 w 376"/>
                        <a:gd name="T67" fmla="*/ 336 h 582"/>
                        <a:gd name="T68" fmla="*/ 363 w 376"/>
                        <a:gd name="T69" fmla="*/ 288 h 582"/>
                        <a:gd name="T70" fmla="*/ 373 w 376"/>
                        <a:gd name="T71" fmla="*/ 206 h 582"/>
                        <a:gd name="T72" fmla="*/ 376 w 376"/>
                        <a:gd name="T73" fmla="*/ 157 h 582"/>
                        <a:gd name="T74" fmla="*/ 374 w 376"/>
                        <a:gd name="T75" fmla="*/ 116 h 582"/>
                        <a:gd name="T76" fmla="*/ 365 w 376"/>
                        <a:gd name="T77" fmla="*/ 86 h 582"/>
                        <a:gd name="T78" fmla="*/ 340 w 376"/>
                        <a:gd name="T79" fmla="*/ 48 h 582"/>
                        <a:gd name="T80" fmla="*/ 304 w 376"/>
                        <a:gd name="T81" fmla="*/ 22 h 582"/>
                        <a:gd name="T82" fmla="*/ 265 w 376"/>
                        <a:gd name="T83" fmla="*/ 7 h 582"/>
                        <a:gd name="T84" fmla="*/ 222 w 376"/>
                        <a:gd name="T85" fmla="*/ 0 h 582"/>
                        <a:gd name="T86" fmla="*/ 178 w 376"/>
                        <a:gd name="T87" fmla="*/ 0 h 582"/>
                        <a:gd name="T88" fmla="*/ 136 w 376"/>
                        <a:gd name="T89" fmla="*/ 7 h 582"/>
                        <a:gd name="T90" fmla="*/ 95 w 376"/>
                        <a:gd name="T91" fmla="*/ 27 h 582"/>
                        <a:gd name="T92" fmla="*/ 65 w 376"/>
                        <a:gd name="T93" fmla="*/ 53 h 582"/>
                        <a:gd name="T94" fmla="*/ 34 w 376"/>
                        <a:gd name="T95" fmla="*/ 100 h 58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</a:cxnLst>
                      <a:rect l="0" t="0" r="r" b="b"/>
                      <a:pathLst>
                        <a:path w="376" h="582">
                          <a:moveTo>
                            <a:pt x="34" y="100"/>
                          </a:moveTo>
                          <a:lnTo>
                            <a:pt x="19" y="137"/>
                          </a:lnTo>
                          <a:lnTo>
                            <a:pt x="8" y="169"/>
                          </a:lnTo>
                          <a:lnTo>
                            <a:pt x="1" y="195"/>
                          </a:lnTo>
                          <a:lnTo>
                            <a:pt x="0" y="215"/>
                          </a:lnTo>
                          <a:lnTo>
                            <a:pt x="2" y="233"/>
                          </a:lnTo>
                          <a:lnTo>
                            <a:pt x="6" y="262"/>
                          </a:lnTo>
                          <a:lnTo>
                            <a:pt x="4" y="275"/>
                          </a:lnTo>
                          <a:lnTo>
                            <a:pt x="6" y="291"/>
                          </a:lnTo>
                          <a:lnTo>
                            <a:pt x="13" y="312"/>
                          </a:lnTo>
                          <a:lnTo>
                            <a:pt x="15" y="325"/>
                          </a:lnTo>
                          <a:lnTo>
                            <a:pt x="12" y="362"/>
                          </a:lnTo>
                          <a:lnTo>
                            <a:pt x="15" y="388"/>
                          </a:lnTo>
                          <a:lnTo>
                            <a:pt x="22" y="414"/>
                          </a:lnTo>
                          <a:lnTo>
                            <a:pt x="34" y="445"/>
                          </a:lnTo>
                          <a:lnTo>
                            <a:pt x="49" y="477"/>
                          </a:lnTo>
                          <a:lnTo>
                            <a:pt x="62" y="507"/>
                          </a:lnTo>
                          <a:lnTo>
                            <a:pt x="70" y="530"/>
                          </a:lnTo>
                          <a:lnTo>
                            <a:pt x="77" y="555"/>
                          </a:lnTo>
                          <a:lnTo>
                            <a:pt x="88" y="570"/>
                          </a:lnTo>
                          <a:lnTo>
                            <a:pt x="104" y="578"/>
                          </a:lnTo>
                          <a:lnTo>
                            <a:pt x="129" y="582"/>
                          </a:lnTo>
                          <a:lnTo>
                            <a:pt x="163" y="578"/>
                          </a:lnTo>
                          <a:lnTo>
                            <a:pt x="193" y="571"/>
                          </a:lnTo>
                          <a:lnTo>
                            <a:pt x="210" y="559"/>
                          </a:lnTo>
                          <a:lnTo>
                            <a:pt x="235" y="541"/>
                          </a:lnTo>
                          <a:lnTo>
                            <a:pt x="261" y="507"/>
                          </a:lnTo>
                          <a:lnTo>
                            <a:pt x="304" y="444"/>
                          </a:lnTo>
                          <a:lnTo>
                            <a:pt x="315" y="424"/>
                          </a:lnTo>
                          <a:lnTo>
                            <a:pt x="324" y="429"/>
                          </a:lnTo>
                          <a:lnTo>
                            <a:pt x="337" y="429"/>
                          </a:lnTo>
                          <a:lnTo>
                            <a:pt x="344" y="410"/>
                          </a:lnTo>
                          <a:lnTo>
                            <a:pt x="356" y="372"/>
                          </a:lnTo>
                          <a:lnTo>
                            <a:pt x="365" y="336"/>
                          </a:lnTo>
                          <a:lnTo>
                            <a:pt x="363" y="288"/>
                          </a:lnTo>
                          <a:lnTo>
                            <a:pt x="373" y="206"/>
                          </a:lnTo>
                          <a:lnTo>
                            <a:pt x="376" y="157"/>
                          </a:lnTo>
                          <a:lnTo>
                            <a:pt x="374" y="116"/>
                          </a:lnTo>
                          <a:lnTo>
                            <a:pt x="365" y="86"/>
                          </a:lnTo>
                          <a:lnTo>
                            <a:pt x="340" y="48"/>
                          </a:lnTo>
                          <a:lnTo>
                            <a:pt x="304" y="22"/>
                          </a:lnTo>
                          <a:lnTo>
                            <a:pt x="265" y="7"/>
                          </a:lnTo>
                          <a:lnTo>
                            <a:pt x="222" y="0"/>
                          </a:lnTo>
                          <a:lnTo>
                            <a:pt x="178" y="0"/>
                          </a:lnTo>
                          <a:lnTo>
                            <a:pt x="136" y="7"/>
                          </a:lnTo>
                          <a:lnTo>
                            <a:pt x="95" y="27"/>
                          </a:lnTo>
                          <a:lnTo>
                            <a:pt x="65" y="53"/>
                          </a:lnTo>
                          <a:lnTo>
                            <a:pt x="34" y="100"/>
                          </a:lnTo>
                          <a:close/>
                        </a:path>
                      </a:pathLst>
                    </a:custGeom>
                    <a:solidFill>
                      <a:srgbClr val="FF9F9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grpSp>
                  <p:nvGrpSpPr>
                    <p:cNvPr id="341" name="Group 279"/>
                    <p:cNvGrpSpPr/>
                    <p:nvPr/>
                  </p:nvGrpSpPr>
                  <p:grpSpPr bwMode="auto">
                    <a:xfrm>
                      <a:off x="5204" y="2258"/>
                      <a:ext cx="90" cy="143"/>
                      <a:chOff x="5204" y="2258"/>
                      <a:chExt cx="90" cy="143"/>
                    </a:xfrm>
                  </p:grpSpPr>
                  <p:grpSp>
                    <p:nvGrpSpPr>
                      <p:cNvPr id="376" name="Group 280"/>
                      <p:cNvGrpSpPr/>
                      <p:nvPr/>
                    </p:nvGrpSpPr>
                    <p:grpSpPr bwMode="auto">
                      <a:xfrm>
                        <a:off x="5204" y="2258"/>
                        <a:ext cx="90" cy="143"/>
                        <a:chOff x="5204" y="2258"/>
                        <a:chExt cx="90" cy="143"/>
                      </a:xfrm>
                    </p:grpSpPr>
                    <p:sp>
                      <p:nvSpPr>
                        <p:cNvPr id="378" name="Freeform 281"/>
                        <p:cNvSpPr/>
                        <p:nvPr/>
                      </p:nvSpPr>
                      <p:spPr bwMode="auto">
                        <a:xfrm>
                          <a:off x="5225" y="2293"/>
                          <a:ext cx="7" cy="14"/>
                        </a:xfrm>
                        <a:custGeom>
                          <a:avLst/>
                          <a:gdLst>
                            <a:gd name="T0" fmla="*/ 7 w 45"/>
                            <a:gd name="T1" fmla="*/ 0 h 70"/>
                            <a:gd name="T2" fmla="*/ 1 w 45"/>
                            <a:gd name="T3" fmla="*/ 11 h 70"/>
                            <a:gd name="T4" fmla="*/ 0 w 45"/>
                            <a:gd name="T5" fmla="*/ 25 h 70"/>
                            <a:gd name="T6" fmla="*/ 4 w 45"/>
                            <a:gd name="T7" fmla="*/ 37 h 70"/>
                            <a:gd name="T8" fmla="*/ 12 w 45"/>
                            <a:gd name="T9" fmla="*/ 46 h 70"/>
                            <a:gd name="T10" fmla="*/ 24 w 45"/>
                            <a:gd name="T11" fmla="*/ 57 h 70"/>
                            <a:gd name="T12" fmla="*/ 45 w 45"/>
                            <a:gd name="T13" fmla="*/ 70 h 70"/>
                            <a:gd name="T14" fmla="*/ 26 w 45"/>
                            <a:gd name="T15" fmla="*/ 51 h 70"/>
                            <a:gd name="T16" fmla="*/ 19 w 45"/>
                            <a:gd name="T17" fmla="*/ 41 h 70"/>
                            <a:gd name="T18" fmla="*/ 14 w 45"/>
                            <a:gd name="T19" fmla="*/ 32 h 70"/>
                            <a:gd name="T20" fmla="*/ 10 w 45"/>
                            <a:gd name="T21" fmla="*/ 20 h 70"/>
                            <a:gd name="T22" fmla="*/ 7 w 45"/>
                            <a:gd name="T23" fmla="*/ 0 h 70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</a:cxnLst>
                          <a:rect l="0" t="0" r="r" b="b"/>
                          <a:pathLst>
                            <a:path w="45" h="70">
                              <a:moveTo>
                                <a:pt x="7" y="0"/>
                              </a:moveTo>
                              <a:lnTo>
                                <a:pt x="1" y="11"/>
                              </a:lnTo>
                              <a:lnTo>
                                <a:pt x="0" y="25"/>
                              </a:lnTo>
                              <a:lnTo>
                                <a:pt x="4" y="37"/>
                              </a:lnTo>
                              <a:lnTo>
                                <a:pt x="12" y="46"/>
                              </a:lnTo>
                              <a:lnTo>
                                <a:pt x="24" y="57"/>
                              </a:lnTo>
                              <a:lnTo>
                                <a:pt x="45" y="70"/>
                              </a:lnTo>
                              <a:lnTo>
                                <a:pt x="26" y="51"/>
                              </a:lnTo>
                              <a:lnTo>
                                <a:pt x="19" y="41"/>
                              </a:lnTo>
                              <a:lnTo>
                                <a:pt x="14" y="32"/>
                              </a:lnTo>
                              <a:lnTo>
                                <a:pt x="10" y="20"/>
                              </a:lnTo>
                              <a:lnTo>
                                <a:pt x="7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7F3F0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  <p:sp>
                      <p:nvSpPr>
                        <p:cNvPr id="379" name="Freeform 282"/>
                        <p:cNvSpPr/>
                        <p:nvPr/>
                      </p:nvSpPr>
                      <p:spPr bwMode="auto">
                        <a:xfrm>
                          <a:off x="5204" y="2258"/>
                          <a:ext cx="90" cy="143"/>
                        </a:xfrm>
                        <a:custGeom>
                          <a:avLst/>
                          <a:gdLst>
                            <a:gd name="T0" fmla="*/ 49 w 540"/>
                            <a:gd name="T1" fmla="*/ 109 h 714"/>
                            <a:gd name="T2" fmla="*/ 7 w 540"/>
                            <a:gd name="T3" fmla="*/ 151 h 714"/>
                            <a:gd name="T4" fmla="*/ 12 w 540"/>
                            <a:gd name="T5" fmla="*/ 207 h 714"/>
                            <a:gd name="T6" fmla="*/ 13 w 540"/>
                            <a:gd name="T7" fmla="*/ 160 h 714"/>
                            <a:gd name="T8" fmla="*/ 49 w 540"/>
                            <a:gd name="T9" fmla="*/ 129 h 714"/>
                            <a:gd name="T10" fmla="*/ 20 w 540"/>
                            <a:gd name="T11" fmla="*/ 175 h 714"/>
                            <a:gd name="T12" fmla="*/ 55 w 540"/>
                            <a:gd name="T13" fmla="*/ 138 h 714"/>
                            <a:gd name="T14" fmla="*/ 28 w 540"/>
                            <a:gd name="T15" fmla="*/ 181 h 714"/>
                            <a:gd name="T16" fmla="*/ 51 w 540"/>
                            <a:gd name="T17" fmla="*/ 237 h 714"/>
                            <a:gd name="T18" fmla="*/ 36 w 540"/>
                            <a:gd name="T19" fmla="*/ 173 h 714"/>
                            <a:gd name="T20" fmla="*/ 54 w 540"/>
                            <a:gd name="T21" fmla="*/ 156 h 714"/>
                            <a:gd name="T22" fmla="*/ 57 w 540"/>
                            <a:gd name="T23" fmla="*/ 203 h 714"/>
                            <a:gd name="T24" fmla="*/ 63 w 540"/>
                            <a:gd name="T25" fmla="*/ 204 h 714"/>
                            <a:gd name="T26" fmla="*/ 71 w 540"/>
                            <a:gd name="T27" fmla="*/ 159 h 714"/>
                            <a:gd name="T28" fmla="*/ 79 w 540"/>
                            <a:gd name="T29" fmla="*/ 214 h 714"/>
                            <a:gd name="T30" fmla="*/ 77 w 540"/>
                            <a:gd name="T31" fmla="*/ 190 h 714"/>
                            <a:gd name="T32" fmla="*/ 89 w 540"/>
                            <a:gd name="T33" fmla="*/ 198 h 714"/>
                            <a:gd name="T34" fmla="*/ 97 w 540"/>
                            <a:gd name="T35" fmla="*/ 207 h 714"/>
                            <a:gd name="T36" fmla="*/ 111 w 540"/>
                            <a:gd name="T37" fmla="*/ 228 h 714"/>
                            <a:gd name="T38" fmla="*/ 134 w 540"/>
                            <a:gd name="T39" fmla="*/ 253 h 714"/>
                            <a:gd name="T40" fmla="*/ 101 w 540"/>
                            <a:gd name="T41" fmla="*/ 185 h 714"/>
                            <a:gd name="T42" fmla="*/ 117 w 540"/>
                            <a:gd name="T43" fmla="*/ 212 h 714"/>
                            <a:gd name="T44" fmla="*/ 118 w 540"/>
                            <a:gd name="T45" fmla="*/ 201 h 714"/>
                            <a:gd name="T46" fmla="*/ 149 w 540"/>
                            <a:gd name="T47" fmla="*/ 199 h 714"/>
                            <a:gd name="T48" fmla="*/ 153 w 540"/>
                            <a:gd name="T49" fmla="*/ 187 h 714"/>
                            <a:gd name="T50" fmla="*/ 175 w 540"/>
                            <a:gd name="T51" fmla="*/ 220 h 714"/>
                            <a:gd name="T52" fmla="*/ 175 w 540"/>
                            <a:gd name="T53" fmla="*/ 203 h 714"/>
                            <a:gd name="T54" fmla="*/ 185 w 540"/>
                            <a:gd name="T55" fmla="*/ 201 h 714"/>
                            <a:gd name="T56" fmla="*/ 192 w 540"/>
                            <a:gd name="T57" fmla="*/ 194 h 714"/>
                            <a:gd name="T58" fmla="*/ 224 w 540"/>
                            <a:gd name="T59" fmla="*/ 159 h 714"/>
                            <a:gd name="T60" fmla="*/ 242 w 540"/>
                            <a:gd name="T61" fmla="*/ 224 h 714"/>
                            <a:gd name="T62" fmla="*/ 346 w 540"/>
                            <a:gd name="T63" fmla="*/ 343 h 714"/>
                            <a:gd name="T64" fmla="*/ 376 w 540"/>
                            <a:gd name="T65" fmla="*/ 345 h 714"/>
                            <a:gd name="T66" fmla="*/ 389 w 540"/>
                            <a:gd name="T67" fmla="*/ 288 h 714"/>
                            <a:gd name="T68" fmla="*/ 426 w 540"/>
                            <a:gd name="T69" fmla="*/ 345 h 714"/>
                            <a:gd name="T70" fmla="*/ 353 w 540"/>
                            <a:gd name="T71" fmla="*/ 516 h 714"/>
                            <a:gd name="T72" fmla="*/ 339 w 540"/>
                            <a:gd name="T73" fmla="*/ 644 h 714"/>
                            <a:gd name="T74" fmla="*/ 393 w 540"/>
                            <a:gd name="T75" fmla="*/ 706 h 714"/>
                            <a:gd name="T76" fmla="*/ 480 w 540"/>
                            <a:gd name="T77" fmla="*/ 700 h 714"/>
                            <a:gd name="T78" fmla="*/ 518 w 540"/>
                            <a:gd name="T79" fmla="*/ 605 h 714"/>
                            <a:gd name="T80" fmla="*/ 536 w 540"/>
                            <a:gd name="T81" fmla="*/ 527 h 714"/>
                            <a:gd name="T82" fmla="*/ 484 w 540"/>
                            <a:gd name="T83" fmla="*/ 424 h 714"/>
                            <a:gd name="T84" fmla="*/ 493 w 540"/>
                            <a:gd name="T85" fmla="*/ 232 h 714"/>
                            <a:gd name="T86" fmla="*/ 451 w 540"/>
                            <a:gd name="T87" fmla="*/ 89 h 714"/>
                            <a:gd name="T88" fmla="*/ 386 w 540"/>
                            <a:gd name="T89" fmla="*/ 20 h 714"/>
                            <a:gd name="T90" fmla="*/ 300 w 540"/>
                            <a:gd name="T91" fmla="*/ 0 h 714"/>
                            <a:gd name="T92" fmla="*/ 204 w 540"/>
                            <a:gd name="T93" fmla="*/ 23 h 714"/>
                            <a:gd name="T94" fmla="*/ 146 w 540"/>
                            <a:gd name="T95" fmla="*/ 61 h 714"/>
                            <a:gd name="T96" fmla="*/ 125 w 540"/>
                            <a:gd name="T97" fmla="*/ 66 h 714"/>
                            <a:gd name="T98" fmla="*/ 101 w 540"/>
                            <a:gd name="T99" fmla="*/ 73 h 714"/>
                            <a:gd name="T100" fmla="*/ 94 w 540"/>
                            <a:gd name="T101" fmla="*/ 51 h 714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  <a:cxn ang="0">
                              <a:pos x="T30" y="T31"/>
                            </a:cxn>
                            <a:cxn ang="0">
                              <a:pos x="T32" y="T33"/>
                            </a:cxn>
                            <a:cxn ang="0">
                              <a:pos x="T34" y="T35"/>
                            </a:cxn>
                            <a:cxn ang="0">
                              <a:pos x="T36" y="T37"/>
                            </a:cxn>
                            <a:cxn ang="0">
                              <a:pos x="T38" y="T39"/>
                            </a:cxn>
                            <a:cxn ang="0">
                              <a:pos x="T40" y="T41"/>
                            </a:cxn>
                            <a:cxn ang="0">
                              <a:pos x="T42" y="T43"/>
                            </a:cxn>
                            <a:cxn ang="0">
                              <a:pos x="T44" y="T45"/>
                            </a:cxn>
                            <a:cxn ang="0">
                              <a:pos x="T46" y="T47"/>
                            </a:cxn>
                            <a:cxn ang="0">
                              <a:pos x="T48" y="T49"/>
                            </a:cxn>
                            <a:cxn ang="0">
                              <a:pos x="T50" y="T51"/>
                            </a:cxn>
                            <a:cxn ang="0">
                              <a:pos x="T52" y="T53"/>
                            </a:cxn>
                            <a:cxn ang="0">
                              <a:pos x="T54" y="T55"/>
                            </a:cxn>
                            <a:cxn ang="0">
                              <a:pos x="T56" y="T57"/>
                            </a:cxn>
                            <a:cxn ang="0">
                              <a:pos x="T58" y="T59"/>
                            </a:cxn>
                            <a:cxn ang="0">
                              <a:pos x="T60" y="T61"/>
                            </a:cxn>
                            <a:cxn ang="0">
                              <a:pos x="T62" y="T63"/>
                            </a:cxn>
                            <a:cxn ang="0">
                              <a:pos x="T64" y="T65"/>
                            </a:cxn>
                            <a:cxn ang="0">
                              <a:pos x="T66" y="T67"/>
                            </a:cxn>
                            <a:cxn ang="0">
                              <a:pos x="T68" y="T69"/>
                            </a:cxn>
                            <a:cxn ang="0">
                              <a:pos x="T70" y="T71"/>
                            </a:cxn>
                            <a:cxn ang="0">
                              <a:pos x="T72" y="T73"/>
                            </a:cxn>
                            <a:cxn ang="0">
                              <a:pos x="T74" y="T75"/>
                            </a:cxn>
                            <a:cxn ang="0">
                              <a:pos x="T76" y="T77"/>
                            </a:cxn>
                            <a:cxn ang="0">
                              <a:pos x="T78" y="T79"/>
                            </a:cxn>
                            <a:cxn ang="0">
                              <a:pos x="T80" y="T81"/>
                            </a:cxn>
                            <a:cxn ang="0">
                              <a:pos x="T82" y="T83"/>
                            </a:cxn>
                            <a:cxn ang="0">
                              <a:pos x="T84" y="T85"/>
                            </a:cxn>
                            <a:cxn ang="0">
                              <a:pos x="T86" y="T87"/>
                            </a:cxn>
                            <a:cxn ang="0">
                              <a:pos x="T88" y="T89"/>
                            </a:cxn>
                            <a:cxn ang="0">
                              <a:pos x="T90" y="T91"/>
                            </a:cxn>
                            <a:cxn ang="0">
                              <a:pos x="T92" y="T93"/>
                            </a:cxn>
                            <a:cxn ang="0">
                              <a:pos x="T94" y="T95"/>
                            </a:cxn>
                            <a:cxn ang="0">
                              <a:pos x="T96" y="T97"/>
                            </a:cxn>
                            <a:cxn ang="0">
                              <a:pos x="T98" y="T99"/>
                            </a:cxn>
                            <a:cxn ang="0">
                              <a:pos x="T100" y="T101"/>
                            </a:cxn>
                          </a:cxnLst>
                          <a:rect l="0" t="0" r="r" b="b"/>
                          <a:pathLst>
                            <a:path w="540" h="714">
                              <a:moveTo>
                                <a:pt x="71" y="71"/>
                              </a:moveTo>
                              <a:lnTo>
                                <a:pt x="60" y="80"/>
                              </a:lnTo>
                              <a:lnTo>
                                <a:pt x="54" y="88"/>
                              </a:lnTo>
                              <a:lnTo>
                                <a:pt x="50" y="99"/>
                              </a:lnTo>
                              <a:lnTo>
                                <a:pt x="49" y="109"/>
                              </a:lnTo>
                              <a:lnTo>
                                <a:pt x="49" y="120"/>
                              </a:lnTo>
                              <a:lnTo>
                                <a:pt x="32" y="125"/>
                              </a:lnTo>
                              <a:lnTo>
                                <a:pt x="20" y="133"/>
                              </a:lnTo>
                              <a:lnTo>
                                <a:pt x="12" y="141"/>
                              </a:lnTo>
                              <a:lnTo>
                                <a:pt x="7" y="151"/>
                              </a:lnTo>
                              <a:lnTo>
                                <a:pt x="5" y="165"/>
                              </a:lnTo>
                              <a:lnTo>
                                <a:pt x="0" y="175"/>
                              </a:lnTo>
                              <a:lnTo>
                                <a:pt x="5" y="186"/>
                              </a:lnTo>
                              <a:lnTo>
                                <a:pt x="8" y="197"/>
                              </a:lnTo>
                              <a:lnTo>
                                <a:pt x="12" y="207"/>
                              </a:lnTo>
                              <a:lnTo>
                                <a:pt x="18" y="217"/>
                              </a:lnTo>
                              <a:lnTo>
                                <a:pt x="13" y="199"/>
                              </a:lnTo>
                              <a:lnTo>
                                <a:pt x="11" y="186"/>
                              </a:lnTo>
                              <a:lnTo>
                                <a:pt x="11" y="173"/>
                              </a:lnTo>
                              <a:lnTo>
                                <a:pt x="13" y="160"/>
                              </a:lnTo>
                              <a:lnTo>
                                <a:pt x="18" y="148"/>
                              </a:lnTo>
                              <a:lnTo>
                                <a:pt x="24" y="141"/>
                              </a:lnTo>
                              <a:lnTo>
                                <a:pt x="32" y="136"/>
                              </a:lnTo>
                              <a:lnTo>
                                <a:pt x="39" y="133"/>
                              </a:lnTo>
                              <a:lnTo>
                                <a:pt x="49" y="129"/>
                              </a:lnTo>
                              <a:lnTo>
                                <a:pt x="34" y="139"/>
                              </a:lnTo>
                              <a:lnTo>
                                <a:pt x="27" y="146"/>
                              </a:lnTo>
                              <a:lnTo>
                                <a:pt x="22" y="155"/>
                              </a:lnTo>
                              <a:lnTo>
                                <a:pt x="20" y="162"/>
                              </a:lnTo>
                              <a:lnTo>
                                <a:pt x="20" y="175"/>
                              </a:lnTo>
                              <a:lnTo>
                                <a:pt x="24" y="162"/>
                              </a:lnTo>
                              <a:lnTo>
                                <a:pt x="28" y="152"/>
                              </a:lnTo>
                              <a:lnTo>
                                <a:pt x="37" y="145"/>
                              </a:lnTo>
                              <a:lnTo>
                                <a:pt x="46" y="140"/>
                              </a:lnTo>
                              <a:lnTo>
                                <a:pt x="55" y="138"/>
                              </a:lnTo>
                              <a:lnTo>
                                <a:pt x="44" y="144"/>
                              </a:lnTo>
                              <a:lnTo>
                                <a:pt x="38" y="150"/>
                              </a:lnTo>
                              <a:lnTo>
                                <a:pt x="32" y="160"/>
                              </a:lnTo>
                              <a:lnTo>
                                <a:pt x="30" y="170"/>
                              </a:lnTo>
                              <a:lnTo>
                                <a:pt x="28" y="181"/>
                              </a:lnTo>
                              <a:lnTo>
                                <a:pt x="28" y="191"/>
                              </a:lnTo>
                              <a:lnTo>
                                <a:pt x="30" y="198"/>
                              </a:lnTo>
                              <a:lnTo>
                                <a:pt x="33" y="207"/>
                              </a:lnTo>
                              <a:lnTo>
                                <a:pt x="38" y="217"/>
                              </a:lnTo>
                              <a:lnTo>
                                <a:pt x="51" y="237"/>
                              </a:lnTo>
                              <a:lnTo>
                                <a:pt x="40" y="214"/>
                              </a:lnTo>
                              <a:lnTo>
                                <a:pt x="36" y="204"/>
                              </a:lnTo>
                              <a:lnTo>
                                <a:pt x="33" y="194"/>
                              </a:lnTo>
                              <a:lnTo>
                                <a:pt x="34" y="183"/>
                              </a:lnTo>
                              <a:lnTo>
                                <a:pt x="36" y="173"/>
                              </a:lnTo>
                              <a:lnTo>
                                <a:pt x="37" y="165"/>
                              </a:lnTo>
                              <a:lnTo>
                                <a:pt x="44" y="154"/>
                              </a:lnTo>
                              <a:lnTo>
                                <a:pt x="56" y="145"/>
                              </a:lnTo>
                              <a:lnTo>
                                <a:pt x="60" y="148"/>
                              </a:lnTo>
                              <a:lnTo>
                                <a:pt x="54" y="156"/>
                              </a:lnTo>
                              <a:lnTo>
                                <a:pt x="50" y="164"/>
                              </a:lnTo>
                              <a:lnTo>
                                <a:pt x="49" y="172"/>
                              </a:lnTo>
                              <a:lnTo>
                                <a:pt x="50" y="182"/>
                              </a:lnTo>
                              <a:lnTo>
                                <a:pt x="52" y="192"/>
                              </a:lnTo>
                              <a:lnTo>
                                <a:pt x="57" y="203"/>
                              </a:lnTo>
                              <a:lnTo>
                                <a:pt x="64" y="215"/>
                              </a:lnTo>
                              <a:lnTo>
                                <a:pt x="75" y="232"/>
                              </a:lnTo>
                              <a:lnTo>
                                <a:pt x="86" y="246"/>
                              </a:lnTo>
                              <a:lnTo>
                                <a:pt x="69" y="218"/>
                              </a:lnTo>
                              <a:lnTo>
                                <a:pt x="63" y="204"/>
                              </a:lnTo>
                              <a:lnTo>
                                <a:pt x="60" y="193"/>
                              </a:lnTo>
                              <a:lnTo>
                                <a:pt x="62" y="183"/>
                              </a:lnTo>
                              <a:lnTo>
                                <a:pt x="63" y="169"/>
                              </a:lnTo>
                              <a:lnTo>
                                <a:pt x="68" y="156"/>
                              </a:lnTo>
                              <a:lnTo>
                                <a:pt x="71" y="159"/>
                              </a:lnTo>
                              <a:lnTo>
                                <a:pt x="70" y="167"/>
                              </a:lnTo>
                              <a:lnTo>
                                <a:pt x="70" y="181"/>
                              </a:lnTo>
                              <a:lnTo>
                                <a:pt x="71" y="191"/>
                              </a:lnTo>
                              <a:lnTo>
                                <a:pt x="75" y="203"/>
                              </a:lnTo>
                              <a:lnTo>
                                <a:pt x="79" y="214"/>
                              </a:lnTo>
                              <a:lnTo>
                                <a:pt x="87" y="225"/>
                              </a:lnTo>
                              <a:lnTo>
                                <a:pt x="97" y="237"/>
                              </a:lnTo>
                              <a:lnTo>
                                <a:pt x="85" y="215"/>
                              </a:lnTo>
                              <a:lnTo>
                                <a:pt x="80" y="203"/>
                              </a:lnTo>
                              <a:lnTo>
                                <a:pt x="77" y="190"/>
                              </a:lnTo>
                              <a:lnTo>
                                <a:pt x="77" y="172"/>
                              </a:lnTo>
                              <a:lnTo>
                                <a:pt x="80" y="162"/>
                              </a:lnTo>
                              <a:lnTo>
                                <a:pt x="86" y="167"/>
                              </a:lnTo>
                              <a:lnTo>
                                <a:pt x="87" y="183"/>
                              </a:lnTo>
                              <a:lnTo>
                                <a:pt x="89" y="198"/>
                              </a:lnTo>
                              <a:lnTo>
                                <a:pt x="94" y="211"/>
                              </a:lnTo>
                              <a:lnTo>
                                <a:pt x="99" y="223"/>
                              </a:lnTo>
                              <a:lnTo>
                                <a:pt x="106" y="237"/>
                              </a:lnTo>
                              <a:lnTo>
                                <a:pt x="100" y="218"/>
                              </a:lnTo>
                              <a:lnTo>
                                <a:pt x="97" y="207"/>
                              </a:lnTo>
                              <a:lnTo>
                                <a:pt x="94" y="198"/>
                              </a:lnTo>
                              <a:lnTo>
                                <a:pt x="93" y="187"/>
                              </a:lnTo>
                              <a:lnTo>
                                <a:pt x="99" y="207"/>
                              </a:lnTo>
                              <a:lnTo>
                                <a:pt x="104" y="218"/>
                              </a:lnTo>
                              <a:lnTo>
                                <a:pt x="111" y="228"/>
                              </a:lnTo>
                              <a:lnTo>
                                <a:pt x="119" y="240"/>
                              </a:lnTo>
                              <a:lnTo>
                                <a:pt x="129" y="253"/>
                              </a:lnTo>
                              <a:lnTo>
                                <a:pt x="140" y="261"/>
                              </a:lnTo>
                              <a:lnTo>
                                <a:pt x="148" y="267"/>
                              </a:lnTo>
                              <a:lnTo>
                                <a:pt x="134" y="253"/>
                              </a:lnTo>
                              <a:lnTo>
                                <a:pt x="124" y="240"/>
                              </a:lnTo>
                              <a:lnTo>
                                <a:pt x="116" y="227"/>
                              </a:lnTo>
                              <a:lnTo>
                                <a:pt x="108" y="211"/>
                              </a:lnTo>
                              <a:lnTo>
                                <a:pt x="104" y="197"/>
                              </a:lnTo>
                              <a:lnTo>
                                <a:pt x="101" y="185"/>
                              </a:lnTo>
                              <a:lnTo>
                                <a:pt x="104" y="173"/>
                              </a:lnTo>
                              <a:lnTo>
                                <a:pt x="111" y="173"/>
                              </a:lnTo>
                              <a:lnTo>
                                <a:pt x="111" y="187"/>
                              </a:lnTo>
                              <a:lnTo>
                                <a:pt x="112" y="198"/>
                              </a:lnTo>
                              <a:lnTo>
                                <a:pt x="117" y="212"/>
                              </a:lnTo>
                              <a:lnTo>
                                <a:pt x="122" y="224"/>
                              </a:lnTo>
                              <a:lnTo>
                                <a:pt x="132" y="239"/>
                              </a:lnTo>
                              <a:lnTo>
                                <a:pt x="126" y="224"/>
                              </a:lnTo>
                              <a:lnTo>
                                <a:pt x="120" y="211"/>
                              </a:lnTo>
                              <a:lnTo>
                                <a:pt x="118" y="201"/>
                              </a:lnTo>
                              <a:lnTo>
                                <a:pt x="117" y="188"/>
                              </a:lnTo>
                              <a:lnTo>
                                <a:pt x="119" y="176"/>
                              </a:lnTo>
                              <a:lnTo>
                                <a:pt x="137" y="175"/>
                              </a:lnTo>
                              <a:lnTo>
                                <a:pt x="143" y="188"/>
                              </a:lnTo>
                              <a:lnTo>
                                <a:pt x="149" y="199"/>
                              </a:lnTo>
                              <a:lnTo>
                                <a:pt x="154" y="209"/>
                              </a:lnTo>
                              <a:lnTo>
                                <a:pt x="178" y="244"/>
                              </a:lnTo>
                              <a:lnTo>
                                <a:pt x="162" y="212"/>
                              </a:lnTo>
                              <a:lnTo>
                                <a:pt x="157" y="202"/>
                              </a:lnTo>
                              <a:lnTo>
                                <a:pt x="153" y="187"/>
                              </a:lnTo>
                              <a:lnTo>
                                <a:pt x="149" y="172"/>
                              </a:lnTo>
                              <a:lnTo>
                                <a:pt x="154" y="175"/>
                              </a:lnTo>
                              <a:lnTo>
                                <a:pt x="162" y="196"/>
                              </a:lnTo>
                              <a:lnTo>
                                <a:pt x="167" y="207"/>
                              </a:lnTo>
                              <a:lnTo>
                                <a:pt x="175" y="220"/>
                              </a:lnTo>
                              <a:lnTo>
                                <a:pt x="189" y="232"/>
                              </a:lnTo>
                              <a:lnTo>
                                <a:pt x="206" y="239"/>
                              </a:lnTo>
                              <a:lnTo>
                                <a:pt x="190" y="224"/>
                              </a:lnTo>
                              <a:lnTo>
                                <a:pt x="181" y="213"/>
                              </a:lnTo>
                              <a:lnTo>
                                <a:pt x="175" y="203"/>
                              </a:lnTo>
                              <a:lnTo>
                                <a:pt x="172" y="191"/>
                              </a:lnTo>
                              <a:lnTo>
                                <a:pt x="171" y="176"/>
                              </a:lnTo>
                              <a:lnTo>
                                <a:pt x="180" y="172"/>
                              </a:lnTo>
                              <a:lnTo>
                                <a:pt x="180" y="186"/>
                              </a:lnTo>
                              <a:lnTo>
                                <a:pt x="185" y="201"/>
                              </a:lnTo>
                              <a:lnTo>
                                <a:pt x="190" y="211"/>
                              </a:lnTo>
                              <a:lnTo>
                                <a:pt x="208" y="228"/>
                              </a:lnTo>
                              <a:lnTo>
                                <a:pt x="199" y="218"/>
                              </a:lnTo>
                              <a:lnTo>
                                <a:pt x="193" y="206"/>
                              </a:lnTo>
                              <a:lnTo>
                                <a:pt x="192" y="194"/>
                              </a:lnTo>
                              <a:lnTo>
                                <a:pt x="191" y="181"/>
                              </a:lnTo>
                              <a:lnTo>
                                <a:pt x="193" y="170"/>
                              </a:lnTo>
                              <a:lnTo>
                                <a:pt x="198" y="166"/>
                              </a:lnTo>
                              <a:lnTo>
                                <a:pt x="211" y="164"/>
                              </a:lnTo>
                              <a:lnTo>
                                <a:pt x="224" y="159"/>
                              </a:lnTo>
                              <a:lnTo>
                                <a:pt x="241" y="144"/>
                              </a:lnTo>
                              <a:lnTo>
                                <a:pt x="223" y="176"/>
                              </a:lnTo>
                              <a:lnTo>
                                <a:pt x="226" y="193"/>
                              </a:lnTo>
                              <a:lnTo>
                                <a:pt x="233" y="211"/>
                              </a:lnTo>
                              <a:lnTo>
                                <a:pt x="242" y="224"/>
                              </a:lnTo>
                              <a:lnTo>
                                <a:pt x="259" y="241"/>
                              </a:lnTo>
                              <a:lnTo>
                                <a:pt x="283" y="258"/>
                              </a:lnTo>
                              <a:lnTo>
                                <a:pt x="314" y="282"/>
                              </a:lnTo>
                              <a:lnTo>
                                <a:pt x="346" y="322"/>
                              </a:lnTo>
                              <a:lnTo>
                                <a:pt x="346" y="343"/>
                              </a:lnTo>
                              <a:lnTo>
                                <a:pt x="347" y="355"/>
                              </a:lnTo>
                              <a:lnTo>
                                <a:pt x="356" y="363"/>
                              </a:lnTo>
                              <a:lnTo>
                                <a:pt x="367" y="365"/>
                              </a:lnTo>
                              <a:lnTo>
                                <a:pt x="371" y="358"/>
                              </a:lnTo>
                              <a:lnTo>
                                <a:pt x="376" y="345"/>
                              </a:lnTo>
                              <a:lnTo>
                                <a:pt x="375" y="332"/>
                              </a:lnTo>
                              <a:lnTo>
                                <a:pt x="375" y="319"/>
                              </a:lnTo>
                              <a:lnTo>
                                <a:pt x="376" y="303"/>
                              </a:lnTo>
                              <a:lnTo>
                                <a:pt x="381" y="293"/>
                              </a:lnTo>
                              <a:lnTo>
                                <a:pt x="389" y="288"/>
                              </a:lnTo>
                              <a:lnTo>
                                <a:pt x="399" y="288"/>
                              </a:lnTo>
                              <a:lnTo>
                                <a:pt x="412" y="296"/>
                              </a:lnTo>
                              <a:lnTo>
                                <a:pt x="422" y="311"/>
                              </a:lnTo>
                              <a:lnTo>
                                <a:pt x="425" y="326"/>
                              </a:lnTo>
                              <a:lnTo>
                                <a:pt x="426" y="345"/>
                              </a:lnTo>
                              <a:lnTo>
                                <a:pt x="425" y="364"/>
                              </a:lnTo>
                              <a:lnTo>
                                <a:pt x="423" y="387"/>
                              </a:lnTo>
                              <a:lnTo>
                                <a:pt x="411" y="429"/>
                              </a:lnTo>
                              <a:lnTo>
                                <a:pt x="356" y="492"/>
                              </a:lnTo>
                              <a:lnTo>
                                <a:pt x="353" y="516"/>
                              </a:lnTo>
                              <a:lnTo>
                                <a:pt x="357" y="569"/>
                              </a:lnTo>
                              <a:lnTo>
                                <a:pt x="358" y="600"/>
                              </a:lnTo>
                              <a:lnTo>
                                <a:pt x="350" y="616"/>
                              </a:lnTo>
                              <a:lnTo>
                                <a:pt x="343" y="632"/>
                              </a:lnTo>
                              <a:lnTo>
                                <a:pt x="339" y="644"/>
                              </a:lnTo>
                              <a:lnTo>
                                <a:pt x="337" y="664"/>
                              </a:lnTo>
                              <a:lnTo>
                                <a:pt x="342" y="679"/>
                              </a:lnTo>
                              <a:lnTo>
                                <a:pt x="353" y="695"/>
                              </a:lnTo>
                              <a:lnTo>
                                <a:pt x="371" y="705"/>
                              </a:lnTo>
                              <a:lnTo>
                                <a:pt x="393" y="706"/>
                              </a:lnTo>
                              <a:lnTo>
                                <a:pt x="407" y="710"/>
                              </a:lnTo>
                              <a:lnTo>
                                <a:pt x="428" y="714"/>
                              </a:lnTo>
                              <a:lnTo>
                                <a:pt x="447" y="711"/>
                              </a:lnTo>
                              <a:lnTo>
                                <a:pt x="462" y="708"/>
                              </a:lnTo>
                              <a:lnTo>
                                <a:pt x="480" y="700"/>
                              </a:lnTo>
                              <a:lnTo>
                                <a:pt x="493" y="690"/>
                              </a:lnTo>
                              <a:lnTo>
                                <a:pt x="503" y="675"/>
                              </a:lnTo>
                              <a:lnTo>
                                <a:pt x="511" y="662"/>
                              </a:lnTo>
                              <a:lnTo>
                                <a:pt x="517" y="644"/>
                              </a:lnTo>
                              <a:lnTo>
                                <a:pt x="518" y="605"/>
                              </a:lnTo>
                              <a:lnTo>
                                <a:pt x="526" y="598"/>
                              </a:lnTo>
                              <a:lnTo>
                                <a:pt x="534" y="585"/>
                              </a:lnTo>
                              <a:lnTo>
                                <a:pt x="536" y="572"/>
                              </a:lnTo>
                              <a:lnTo>
                                <a:pt x="540" y="549"/>
                              </a:lnTo>
                              <a:lnTo>
                                <a:pt x="536" y="527"/>
                              </a:lnTo>
                              <a:lnTo>
                                <a:pt x="532" y="511"/>
                              </a:lnTo>
                              <a:lnTo>
                                <a:pt x="524" y="501"/>
                              </a:lnTo>
                              <a:lnTo>
                                <a:pt x="510" y="476"/>
                              </a:lnTo>
                              <a:lnTo>
                                <a:pt x="496" y="455"/>
                              </a:lnTo>
                              <a:lnTo>
                                <a:pt x="484" y="424"/>
                              </a:lnTo>
                              <a:lnTo>
                                <a:pt x="485" y="347"/>
                              </a:lnTo>
                              <a:lnTo>
                                <a:pt x="490" y="316"/>
                              </a:lnTo>
                              <a:lnTo>
                                <a:pt x="494" y="281"/>
                              </a:lnTo>
                              <a:lnTo>
                                <a:pt x="494" y="259"/>
                              </a:lnTo>
                              <a:lnTo>
                                <a:pt x="493" y="232"/>
                              </a:lnTo>
                              <a:lnTo>
                                <a:pt x="488" y="207"/>
                              </a:lnTo>
                              <a:lnTo>
                                <a:pt x="486" y="186"/>
                              </a:lnTo>
                              <a:lnTo>
                                <a:pt x="480" y="162"/>
                              </a:lnTo>
                              <a:lnTo>
                                <a:pt x="465" y="117"/>
                              </a:lnTo>
                              <a:lnTo>
                                <a:pt x="451" y="89"/>
                              </a:lnTo>
                              <a:lnTo>
                                <a:pt x="418" y="54"/>
                              </a:lnTo>
                              <a:lnTo>
                                <a:pt x="399" y="46"/>
                              </a:lnTo>
                              <a:lnTo>
                                <a:pt x="399" y="36"/>
                              </a:lnTo>
                              <a:lnTo>
                                <a:pt x="393" y="28"/>
                              </a:lnTo>
                              <a:lnTo>
                                <a:pt x="386" y="20"/>
                              </a:lnTo>
                              <a:lnTo>
                                <a:pt x="374" y="14"/>
                              </a:lnTo>
                              <a:lnTo>
                                <a:pt x="359" y="9"/>
                              </a:lnTo>
                              <a:lnTo>
                                <a:pt x="343" y="5"/>
                              </a:lnTo>
                              <a:lnTo>
                                <a:pt x="328" y="3"/>
                              </a:lnTo>
                              <a:lnTo>
                                <a:pt x="300" y="0"/>
                              </a:lnTo>
                              <a:lnTo>
                                <a:pt x="279" y="0"/>
                              </a:lnTo>
                              <a:lnTo>
                                <a:pt x="250" y="3"/>
                              </a:lnTo>
                              <a:lnTo>
                                <a:pt x="233" y="8"/>
                              </a:lnTo>
                              <a:lnTo>
                                <a:pt x="218" y="14"/>
                              </a:lnTo>
                              <a:lnTo>
                                <a:pt x="204" y="23"/>
                              </a:lnTo>
                              <a:lnTo>
                                <a:pt x="192" y="30"/>
                              </a:lnTo>
                              <a:lnTo>
                                <a:pt x="178" y="42"/>
                              </a:lnTo>
                              <a:lnTo>
                                <a:pt x="166" y="54"/>
                              </a:lnTo>
                              <a:lnTo>
                                <a:pt x="156" y="58"/>
                              </a:lnTo>
                              <a:lnTo>
                                <a:pt x="146" y="61"/>
                              </a:lnTo>
                              <a:lnTo>
                                <a:pt x="138" y="61"/>
                              </a:lnTo>
                              <a:lnTo>
                                <a:pt x="131" y="57"/>
                              </a:lnTo>
                              <a:lnTo>
                                <a:pt x="126" y="47"/>
                              </a:lnTo>
                              <a:lnTo>
                                <a:pt x="125" y="57"/>
                              </a:lnTo>
                              <a:lnTo>
                                <a:pt x="125" y="66"/>
                              </a:lnTo>
                              <a:lnTo>
                                <a:pt x="118" y="65"/>
                              </a:lnTo>
                              <a:lnTo>
                                <a:pt x="111" y="61"/>
                              </a:lnTo>
                              <a:lnTo>
                                <a:pt x="116" y="70"/>
                              </a:lnTo>
                              <a:lnTo>
                                <a:pt x="108" y="76"/>
                              </a:lnTo>
                              <a:lnTo>
                                <a:pt x="101" y="73"/>
                              </a:lnTo>
                              <a:lnTo>
                                <a:pt x="98" y="70"/>
                              </a:lnTo>
                              <a:lnTo>
                                <a:pt x="95" y="63"/>
                              </a:lnTo>
                              <a:lnTo>
                                <a:pt x="98" y="55"/>
                              </a:lnTo>
                              <a:lnTo>
                                <a:pt x="106" y="49"/>
                              </a:lnTo>
                              <a:lnTo>
                                <a:pt x="94" y="51"/>
                              </a:lnTo>
                              <a:lnTo>
                                <a:pt x="83" y="55"/>
                              </a:lnTo>
                              <a:lnTo>
                                <a:pt x="76" y="62"/>
                              </a:lnTo>
                              <a:lnTo>
                                <a:pt x="71" y="71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7F3F0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</p:grpSp>
                  <p:sp>
                    <p:nvSpPr>
                      <p:cNvPr id="377" name="Freeform 283"/>
                      <p:cNvSpPr/>
                      <p:nvPr/>
                    </p:nvSpPr>
                    <p:spPr bwMode="auto">
                      <a:xfrm>
                        <a:off x="5241" y="2293"/>
                        <a:ext cx="41" cy="106"/>
                      </a:xfrm>
                      <a:custGeom>
                        <a:avLst/>
                        <a:gdLst>
                          <a:gd name="T0" fmla="*/ 26 w 245"/>
                          <a:gd name="T1" fmla="*/ 32 h 529"/>
                          <a:gd name="T2" fmla="*/ 0 w 245"/>
                          <a:gd name="T3" fmla="*/ 0 h 529"/>
                          <a:gd name="T4" fmla="*/ 10 w 245"/>
                          <a:gd name="T5" fmla="*/ 34 h 529"/>
                          <a:gd name="T6" fmla="*/ 36 w 245"/>
                          <a:gd name="T7" fmla="*/ 64 h 529"/>
                          <a:gd name="T8" fmla="*/ 92 w 245"/>
                          <a:gd name="T9" fmla="*/ 105 h 529"/>
                          <a:gd name="T10" fmla="*/ 124 w 245"/>
                          <a:gd name="T11" fmla="*/ 167 h 529"/>
                          <a:gd name="T12" fmla="*/ 134 w 245"/>
                          <a:gd name="T13" fmla="*/ 187 h 529"/>
                          <a:gd name="T14" fmla="*/ 149 w 245"/>
                          <a:gd name="T15" fmla="*/ 182 h 529"/>
                          <a:gd name="T16" fmla="*/ 153 w 245"/>
                          <a:gd name="T17" fmla="*/ 156 h 529"/>
                          <a:gd name="T18" fmla="*/ 154 w 245"/>
                          <a:gd name="T19" fmla="*/ 126 h 529"/>
                          <a:gd name="T20" fmla="*/ 167 w 245"/>
                          <a:gd name="T21" fmla="*/ 111 h 529"/>
                          <a:gd name="T22" fmla="*/ 190 w 245"/>
                          <a:gd name="T23" fmla="*/ 119 h 529"/>
                          <a:gd name="T24" fmla="*/ 203 w 245"/>
                          <a:gd name="T25" fmla="*/ 150 h 529"/>
                          <a:gd name="T26" fmla="*/ 203 w 245"/>
                          <a:gd name="T27" fmla="*/ 188 h 529"/>
                          <a:gd name="T28" fmla="*/ 189 w 245"/>
                          <a:gd name="T29" fmla="*/ 254 h 529"/>
                          <a:gd name="T30" fmla="*/ 131 w 245"/>
                          <a:gd name="T31" fmla="*/ 340 h 529"/>
                          <a:gd name="T32" fmla="*/ 136 w 245"/>
                          <a:gd name="T33" fmla="*/ 424 h 529"/>
                          <a:gd name="T34" fmla="*/ 121 w 245"/>
                          <a:gd name="T35" fmla="*/ 456 h 529"/>
                          <a:gd name="T36" fmla="*/ 115 w 245"/>
                          <a:gd name="T37" fmla="*/ 488 h 529"/>
                          <a:gd name="T38" fmla="*/ 131 w 245"/>
                          <a:gd name="T39" fmla="*/ 519 h 529"/>
                          <a:gd name="T40" fmla="*/ 167 w 245"/>
                          <a:gd name="T41" fmla="*/ 528 h 529"/>
                          <a:gd name="T42" fmla="*/ 177 w 245"/>
                          <a:gd name="T43" fmla="*/ 503 h 529"/>
                          <a:gd name="T44" fmla="*/ 159 w 245"/>
                          <a:gd name="T45" fmla="*/ 461 h 529"/>
                          <a:gd name="T46" fmla="*/ 196 w 245"/>
                          <a:gd name="T47" fmla="*/ 486 h 529"/>
                          <a:gd name="T48" fmla="*/ 243 w 245"/>
                          <a:gd name="T49" fmla="*/ 491 h 529"/>
                          <a:gd name="T50" fmla="*/ 200 w 245"/>
                          <a:gd name="T51" fmla="*/ 461 h 529"/>
                          <a:gd name="T52" fmla="*/ 166 w 245"/>
                          <a:gd name="T53" fmla="*/ 432 h 529"/>
                          <a:gd name="T54" fmla="*/ 169 w 245"/>
                          <a:gd name="T55" fmla="*/ 401 h 529"/>
                          <a:gd name="T56" fmla="*/ 206 w 245"/>
                          <a:gd name="T57" fmla="*/ 428 h 529"/>
                          <a:gd name="T58" fmla="*/ 173 w 245"/>
                          <a:gd name="T59" fmla="*/ 380 h 529"/>
                          <a:gd name="T60" fmla="*/ 212 w 245"/>
                          <a:gd name="T61" fmla="*/ 412 h 529"/>
                          <a:gd name="T62" fmla="*/ 222 w 245"/>
                          <a:gd name="T63" fmla="*/ 408 h 529"/>
                          <a:gd name="T64" fmla="*/ 197 w 245"/>
                          <a:gd name="T65" fmla="*/ 366 h 529"/>
                          <a:gd name="T66" fmla="*/ 192 w 245"/>
                          <a:gd name="T67" fmla="*/ 333 h 529"/>
                          <a:gd name="T68" fmla="*/ 200 w 245"/>
                          <a:gd name="T69" fmla="*/ 283 h 529"/>
                          <a:gd name="T70" fmla="*/ 234 w 245"/>
                          <a:gd name="T71" fmla="*/ 334 h 529"/>
                          <a:gd name="T72" fmla="*/ 209 w 245"/>
                          <a:gd name="T73" fmla="*/ 275 h 529"/>
                          <a:gd name="T74" fmla="*/ 245 w 245"/>
                          <a:gd name="T75" fmla="*/ 303 h 529"/>
                          <a:gd name="T76" fmla="*/ 225 w 245"/>
                          <a:gd name="T77" fmla="*/ 246 h 529"/>
                          <a:gd name="T78" fmla="*/ 212 w 245"/>
                          <a:gd name="T79" fmla="*/ 200 h 529"/>
                          <a:gd name="T80" fmla="*/ 209 w 245"/>
                          <a:gd name="T81" fmla="*/ 120 h 529"/>
                          <a:gd name="T82" fmla="*/ 186 w 245"/>
                          <a:gd name="T83" fmla="*/ 92 h 529"/>
                          <a:gd name="T84" fmla="*/ 141 w 245"/>
                          <a:gd name="T85" fmla="*/ 78 h 529"/>
                          <a:gd name="T86" fmla="*/ 130 w 245"/>
                          <a:gd name="T87" fmla="*/ 77 h 529"/>
                          <a:gd name="T88" fmla="*/ 104 w 245"/>
                          <a:gd name="T89" fmla="*/ 61 h 529"/>
                          <a:gd name="T90" fmla="*/ 94 w 245"/>
                          <a:gd name="T91" fmla="*/ 77 h 529"/>
                          <a:gd name="T92" fmla="*/ 88 w 245"/>
                          <a:gd name="T93" fmla="*/ 89 h 529"/>
                          <a:gd name="T94" fmla="*/ 55 w 245"/>
                          <a:gd name="T95" fmla="*/ 42 h 529"/>
                          <a:gd name="T96" fmla="*/ 43 w 245"/>
                          <a:gd name="T97" fmla="*/ 40 h 529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  <a:cxn ang="0">
                            <a:pos x="T78" y="T79"/>
                          </a:cxn>
                          <a:cxn ang="0">
                            <a:pos x="T80" y="T81"/>
                          </a:cxn>
                          <a:cxn ang="0">
                            <a:pos x="T82" y="T83"/>
                          </a:cxn>
                          <a:cxn ang="0">
                            <a:pos x="T84" y="T85"/>
                          </a:cxn>
                          <a:cxn ang="0">
                            <a:pos x="T86" y="T87"/>
                          </a:cxn>
                          <a:cxn ang="0">
                            <a:pos x="T88" y="T89"/>
                          </a:cxn>
                          <a:cxn ang="0">
                            <a:pos x="T90" y="T91"/>
                          </a:cxn>
                          <a:cxn ang="0">
                            <a:pos x="T92" y="T93"/>
                          </a:cxn>
                          <a:cxn ang="0">
                            <a:pos x="T94" y="T95"/>
                          </a:cxn>
                          <a:cxn ang="0">
                            <a:pos x="T96" y="T97"/>
                          </a:cxn>
                        </a:cxnLst>
                        <a:rect l="0" t="0" r="r" b="b"/>
                        <a:pathLst>
                          <a:path w="245" h="529">
                            <a:moveTo>
                              <a:pt x="43" y="40"/>
                            </a:moveTo>
                            <a:lnTo>
                              <a:pt x="26" y="32"/>
                            </a:lnTo>
                            <a:lnTo>
                              <a:pt x="18" y="21"/>
                            </a:lnTo>
                            <a:lnTo>
                              <a:pt x="0" y="0"/>
                            </a:lnTo>
                            <a:lnTo>
                              <a:pt x="2" y="16"/>
                            </a:lnTo>
                            <a:lnTo>
                              <a:pt x="10" y="34"/>
                            </a:lnTo>
                            <a:lnTo>
                              <a:pt x="19" y="47"/>
                            </a:lnTo>
                            <a:lnTo>
                              <a:pt x="36" y="64"/>
                            </a:lnTo>
                            <a:lnTo>
                              <a:pt x="60" y="81"/>
                            </a:lnTo>
                            <a:lnTo>
                              <a:pt x="92" y="105"/>
                            </a:lnTo>
                            <a:lnTo>
                              <a:pt x="124" y="146"/>
                            </a:lnTo>
                            <a:lnTo>
                              <a:pt x="124" y="167"/>
                            </a:lnTo>
                            <a:lnTo>
                              <a:pt x="125" y="179"/>
                            </a:lnTo>
                            <a:lnTo>
                              <a:pt x="134" y="187"/>
                            </a:lnTo>
                            <a:lnTo>
                              <a:pt x="145" y="189"/>
                            </a:lnTo>
                            <a:lnTo>
                              <a:pt x="149" y="182"/>
                            </a:lnTo>
                            <a:lnTo>
                              <a:pt x="154" y="170"/>
                            </a:lnTo>
                            <a:lnTo>
                              <a:pt x="153" y="156"/>
                            </a:lnTo>
                            <a:lnTo>
                              <a:pt x="153" y="144"/>
                            </a:lnTo>
                            <a:lnTo>
                              <a:pt x="154" y="126"/>
                            </a:lnTo>
                            <a:lnTo>
                              <a:pt x="159" y="116"/>
                            </a:lnTo>
                            <a:lnTo>
                              <a:pt x="167" y="111"/>
                            </a:lnTo>
                            <a:lnTo>
                              <a:pt x="177" y="111"/>
                            </a:lnTo>
                            <a:lnTo>
                              <a:pt x="190" y="119"/>
                            </a:lnTo>
                            <a:lnTo>
                              <a:pt x="200" y="135"/>
                            </a:lnTo>
                            <a:lnTo>
                              <a:pt x="203" y="150"/>
                            </a:lnTo>
                            <a:lnTo>
                              <a:pt x="204" y="170"/>
                            </a:lnTo>
                            <a:lnTo>
                              <a:pt x="203" y="188"/>
                            </a:lnTo>
                            <a:lnTo>
                              <a:pt x="201" y="212"/>
                            </a:lnTo>
                            <a:lnTo>
                              <a:pt x="189" y="254"/>
                            </a:lnTo>
                            <a:lnTo>
                              <a:pt x="134" y="317"/>
                            </a:lnTo>
                            <a:lnTo>
                              <a:pt x="131" y="340"/>
                            </a:lnTo>
                            <a:lnTo>
                              <a:pt x="135" y="392"/>
                            </a:lnTo>
                            <a:lnTo>
                              <a:pt x="136" y="424"/>
                            </a:lnTo>
                            <a:lnTo>
                              <a:pt x="128" y="440"/>
                            </a:lnTo>
                            <a:lnTo>
                              <a:pt x="121" y="456"/>
                            </a:lnTo>
                            <a:lnTo>
                              <a:pt x="117" y="469"/>
                            </a:lnTo>
                            <a:lnTo>
                              <a:pt x="115" y="488"/>
                            </a:lnTo>
                            <a:lnTo>
                              <a:pt x="120" y="503"/>
                            </a:lnTo>
                            <a:lnTo>
                              <a:pt x="131" y="519"/>
                            </a:lnTo>
                            <a:lnTo>
                              <a:pt x="149" y="529"/>
                            </a:lnTo>
                            <a:lnTo>
                              <a:pt x="167" y="528"/>
                            </a:lnTo>
                            <a:lnTo>
                              <a:pt x="178" y="519"/>
                            </a:lnTo>
                            <a:lnTo>
                              <a:pt x="177" y="503"/>
                            </a:lnTo>
                            <a:lnTo>
                              <a:pt x="167" y="485"/>
                            </a:lnTo>
                            <a:lnTo>
                              <a:pt x="159" y="461"/>
                            </a:lnTo>
                            <a:lnTo>
                              <a:pt x="179" y="481"/>
                            </a:lnTo>
                            <a:lnTo>
                              <a:pt x="196" y="486"/>
                            </a:lnTo>
                            <a:lnTo>
                              <a:pt x="217" y="490"/>
                            </a:lnTo>
                            <a:lnTo>
                              <a:pt x="243" y="491"/>
                            </a:lnTo>
                            <a:lnTo>
                              <a:pt x="227" y="481"/>
                            </a:lnTo>
                            <a:lnTo>
                              <a:pt x="200" y="461"/>
                            </a:lnTo>
                            <a:lnTo>
                              <a:pt x="179" y="450"/>
                            </a:lnTo>
                            <a:lnTo>
                              <a:pt x="166" y="432"/>
                            </a:lnTo>
                            <a:lnTo>
                              <a:pt x="163" y="411"/>
                            </a:lnTo>
                            <a:lnTo>
                              <a:pt x="169" y="401"/>
                            </a:lnTo>
                            <a:lnTo>
                              <a:pt x="189" y="421"/>
                            </a:lnTo>
                            <a:lnTo>
                              <a:pt x="206" y="428"/>
                            </a:lnTo>
                            <a:lnTo>
                              <a:pt x="179" y="401"/>
                            </a:lnTo>
                            <a:lnTo>
                              <a:pt x="173" y="380"/>
                            </a:lnTo>
                            <a:lnTo>
                              <a:pt x="188" y="387"/>
                            </a:lnTo>
                            <a:lnTo>
                              <a:pt x="212" y="412"/>
                            </a:lnTo>
                            <a:lnTo>
                              <a:pt x="228" y="418"/>
                            </a:lnTo>
                            <a:lnTo>
                              <a:pt x="222" y="408"/>
                            </a:lnTo>
                            <a:lnTo>
                              <a:pt x="202" y="378"/>
                            </a:lnTo>
                            <a:lnTo>
                              <a:pt x="197" y="366"/>
                            </a:lnTo>
                            <a:lnTo>
                              <a:pt x="191" y="349"/>
                            </a:lnTo>
                            <a:lnTo>
                              <a:pt x="192" y="333"/>
                            </a:lnTo>
                            <a:lnTo>
                              <a:pt x="191" y="312"/>
                            </a:lnTo>
                            <a:lnTo>
                              <a:pt x="200" y="283"/>
                            </a:lnTo>
                            <a:lnTo>
                              <a:pt x="215" y="322"/>
                            </a:lnTo>
                            <a:lnTo>
                              <a:pt x="234" y="334"/>
                            </a:lnTo>
                            <a:lnTo>
                              <a:pt x="221" y="315"/>
                            </a:lnTo>
                            <a:lnTo>
                              <a:pt x="209" y="275"/>
                            </a:lnTo>
                            <a:lnTo>
                              <a:pt x="226" y="289"/>
                            </a:lnTo>
                            <a:lnTo>
                              <a:pt x="245" y="303"/>
                            </a:lnTo>
                            <a:lnTo>
                              <a:pt x="233" y="276"/>
                            </a:lnTo>
                            <a:lnTo>
                              <a:pt x="225" y="246"/>
                            </a:lnTo>
                            <a:lnTo>
                              <a:pt x="216" y="218"/>
                            </a:lnTo>
                            <a:lnTo>
                              <a:pt x="212" y="200"/>
                            </a:lnTo>
                            <a:lnTo>
                              <a:pt x="212" y="155"/>
                            </a:lnTo>
                            <a:lnTo>
                              <a:pt x="209" y="120"/>
                            </a:lnTo>
                            <a:lnTo>
                              <a:pt x="204" y="102"/>
                            </a:lnTo>
                            <a:lnTo>
                              <a:pt x="186" y="92"/>
                            </a:lnTo>
                            <a:lnTo>
                              <a:pt x="163" y="93"/>
                            </a:lnTo>
                            <a:lnTo>
                              <a:pt x="141" y="78"/>
                            </a:lnTo>
                            <a:lnTo>
                              <a:pt x="116" y="56"/>
                            </a:lnTo>
                            <a:lnTo>
                              <a:pt x="130" y="77"/>
                            </a:lnTo>
                            <a:lnTo>
                              <a:pt x="146" y="102"/>
                            </a:lnTo>
                            <a:lnTo>
                              <a:pt x="104" y="61"/>
                            </a:lnTo>
                            <a:lnTo>
                              <a:pt x="118" y="93"/>
                            </a:lnTo>
                            <a:lnTo>
                              <a:pt x="94" y="77"/>
                            </a:lnTo>
                            <a:lnTo>
                              <a:pt x="114" y="105"/>
                            </a:lnTo>
                            <a:lnTo>
                              <a:pt x="88" y="89"/>
                            </a:lnTo>
                            <a:lnTo>
                              <a:pt x="73" y="66"/>
                            </a:lnTo>
                            <a:lnTo>
                              <a:pt x="55" y="42"/>
                            </a:lnTo>
                            <a:lnTo>
                              <a:pt x="36" y="14"/>
                            </a:lnTo>
                            <a:lnTo>
                              <a:pt x="43" y="40"/>
                            </a:lnTo>
                            <a:close/>
                          </a:path>
                        </a:pathLst>
                      </a:custGeom>
                      <a:solidFill>
                        <a:srgbClr val="5F3F1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342" name="Group 284"/>
                    <p:cNvGrpSpPr/>
                    <p:nvPr/>
                  </p:nvGrpSpPr>
                  <p:grpSpPr bwMode="auto">
                    <a:xfrm>
                      <a:off x="5214" y="2316"/>
                      <a:ext cx="35" cy="53"/>
                      <a:chOff x="5214" y="2316"/>
                      <a:chExt cx="35" cy="53"/>
                    </a:xfrm>
                  </p:grpSpPr>
                  <p:grpSp>
                    <p:nvGrpSpPr>
                      <p:cNvPr id="346" name="Group 285"/>
                      <p:cNvGrpSpPr/>
                      <p:nvPr/>
                    </p:nvGrpSpPr>
                    <p:grpSpPr bwMode="auto">
                      <a:xfrm>
                        <a:off x="5217" y="2320"/>
                        <a:ext cx="21" cy="37"/>
                        <a:chOff x="5217" y="2320"/>
                        <a:chExt cx="21" cy="37"/>
                      </a:xfrm>
                    </p:grpSpPr>
                    <p:sp>
                      <p:nvSpPr>
                        <p:cNvPr id="373" name="Freeform 286"/>
                        <p:cNvSpPr/>
                        <p:nvPr/>
                      </p:nvSpPr>
                      <p:spPr bwMode="auto">
                        <a:xfrm>
                          <a:off x="5217" y="2321"/>
                          <a:ext cx="7" cy="20"/>
                        </a:xfrm>
                        <a:custGeom>
                          <a:avLst/>
                          <a:gdLst>
                            <a:gd name="T0" fmla="*/ 28 w 45"/>
                            <a:gd name="T1" fmla="*/ 0 h 103"/>
                            <a:gd name="T2" fmla="*/ 29 w 45"/>
                            <a:gd name="T3" fmla="*/ 10 h 103"/>
                            <a:gd name="T4" fmla="*/ 24 w 45"/>
                            <a:gd name="T5" fmla="*/ 19 h 103"/>
                            <a:gd name="T6" fmla="*/ 19 w 45"/>
                            <a:gd name="T7" fmla="*/ 23 h 103"/>
                            <a:gd name="T8" fmla="*/ 0 w 45"/>
                            <a:gd name="T9" fmla="*/ 25 h 103"/>
                            <a:gd name="T10" fmla="*/ 19 w 45"/>
                            <a:gd name="T11" fmla="*/ 28 h 103"/>
                            <a:gd name="T12" fmla="*/ 31 w 45"/>
                            <a:gd name="T13" fmla="*/ 30 h 103"/>
                            <a:gd name="T14" fmla="*/ 38 w 45"/>
                            <a:gd name="T15" fmla="*/ 37 h 103"/>
                            <a:gd name="T16" fmla="*/ 41 w 45"/>
                            <a:gd name="T17" fmla="*/ 47 h 103"/>
                            <a:gd name="T18" fmla="*/ 44 w 45"/>
                            <a:gd name="T19" fmla="*/ 65 h 103"/>
                            <a:gd name="T20" fmla="*/ 42 w 45"/>
                            <a:gd name="T21" fmla="*/ 103 h 103"/>
                            <a:gd name="T22" fmla="*/ 45 w 45"/>
                            <a:gd name="T23" fmla="*/ 57 h 103"/>
                            <a:gd name="T24" fmla="*/ 44 w 45"/>
                            <a:gd name="T25" fmla="*/ 37 h 103"/>
                            <a:gd name="T26" fmla="*/ 44 w 45"/>
                            <a:gd name="T27" fmla="*/ 18 h 103"/>
                            <a:gd name="T28" fmla="*/ 42 w 45"/>
                            <a:gd name="T29" fmla="*/ 7 h 103"/>
                            <a:gd name="T30" fmla="*/ 28 w 45"/>
                            <a:gd name="T31" fmla="*/ 0 h 103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  <a:cxn ang="0">
                              <a:pos x="T30" y="T31"/>
                            </a:cxn>
                          </a:cxnLst>
                          <a:rect l="0" t="0" r="r" b="b"/>
                          <a:pathLst>
                            <a:path w="45" h="103">
                              <a:moveTo>
                                <a:pt x="28" y="0"/>
                              </a:moveTo>
                              <a:lnTo>
                                <a:pt x="29" y="10"/>
                              </a:lnTo>
                              <a:lnTo>
                                <a:pt x="24" y="19"/>
                              </a:lnTo>
                              <a:lnTo>
                                <a:pt x="19" y="23"/>
                              </a:lnTo>
                              <a:lnTo>
                                <a:pt x="0" y="25"/>
                              </a:lnTo>
                              <a:lnTo>
                                <a:pt x="19" y="28"/>
                              </a:lnTo>
                              <a:lnTo>
                                <a:pt x="31" y="30"/>
                              </a:lnTo>
                              <a:lnTo>
                                <a:pt x="38" y="37"/>
                              </a:lnTo>
                              <a:lnTo>
                                <a:pt x="41" y="47"/>
                              </a:lnTo>
                              <a:lnTo>
                                <a:pt x="44" y="65"/>
                              </a:lnTo>
                              <a:lnTo>
                                <a:pt x="42" y="103"/>
                              </a:lnTo>
                              <a:lnTo>
                                <a:pt x="45" y="57"/>
                              </a:lnTo>
                              <a:lnTo>
                                <a:pt x="44" y="37"/>
                              </a:lnTo>
                              <a:lnTo>
                                <a:pt x="44" y="18"/>
                              </a:lnTo>
                              <a:lnTo>
                                <a:pt x="42" y="7"/>
                              </a:lnTo>
                              <a:lnTo>
                                <a:pt x="28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7F7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  <p:sp>
                      <p:nvSpPr>
                        <p:cNvPr id="374" name="Freeform 287"/>
                        <p:cNvSpPr/>
                        <p:nvPr/>
                      </p:nvSpPr>
                      <p:spPr bwMode="auto">
                        <a:xfrm>
                          <a:off x="5223" y="2349"/>
                          <a:ext cx="9" cy="8"/>
                        </a:xfrm>
                        <a:custGeom>
                          <a:avLst/>
                          <a:gdLst>
                            <a:gd name="T0" fmla="*/ 0 w 55"/>
                            <a:gd name="T1" fmla="*/ 0 h 41"/>
                            <a:gd name="T2" fmla="*/ 5 w 55"/>
                            <a:gd name="T3" fmla="*/ 4 h 41"/>
                            <a:gd name="T4" fmla="*/ 15 w 55"/>
                            <a:gd name="T5" fmla="*/ 7 h 41"/>
                            <a:gd name="T6" fmla="*/ 21 w 55"/>
                            <a:gd name="T7" fmla="*/ 7 h 41"/>
                            <a:gd name="T8" fmla="*/ 31 w 55"/>
                            <a:gd name="T9" fmla="*/ 5 h 41"/>
                            <a:gd name="T10" fmla="*/ 39 w 55"/>
                            <a:gd name="T11" fmla="*/ 3 h 41"/>
                            <a:gd name="T12" fmla="*/ 47 w 55"/>
                            <a:gd name="T13" fmla="*/ 4 h 41"/>
                            <a:gd name="T14" fmla="*/ 55 w 55"/>
                            <a:gd name="T15" fmla="*/ 11 h 41"/>
                            <a:gd name="T16" fmla="*/ 42 w 55"/>
                            <a:gd name="T17" fmla="*/ 13 h 41"/>
                            <a:gd name="T18" fmla="*/ 37 w 55"/>
                            <a:gd name="T19" fmla="*/ 14 h 41"/>
                            <a:gd name="T20" fmla="*/ 35 w 55"/>
                            <a:gd name="T21" fmla="*/ 23 h 41"/>
                            <a:gd name="T22" fmla="*/ 33 w 55"/>
                            <a:gd name="T23" fmla="*/ 41 h 41"/>
                            <a:gd name="T24" fmla="*/ 31 w 55"/>
                            <a:gd name="T25" fmla="*/ 23 h 41"/>
                            <a:gd name="T26" fmla="*/ 30 w 55"/>
                            <a:gd name="T27" fmla="*/ 13 h 41"/>
                            <a:gd name="T28" fmla="*/ 19 w 55"/>
                            <a:gd name="T29" fmla="*/ 15 h 41"/>
                            <a:gd name="T30" fmla="*/ 10 w 55"/>
                            <a:gd name="T31" fmla="*/ 14 h 41"/>
                            <a:gd name="T32" fmla="*/ 4 w 55"/>
                            <a:gd name="T33" fmla="*/ 7 h 41"/>
                            <a:gd name="T34" fmla="*/ 0 w 55"/>
                            <a:gd name="T35" fmla="*/ 0 h 41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  <a:cxn ang="0">
                              <a:pos x="T30" y="T31"/>
                            </a:cxn>
                            <a:cxn ang="0">
                              <a:pos x="T32" y="T33"/>
                            </a:cxn>
                            <a:cxn ang="0">
                              <a:pos x="T34" y="T35"/>
                            </a:cxn>
                          </a:cxnLst>
                          <a:rect l="0" t="0" r="r" b="b"/>
                          <a:pathLst>
                            <a:path w="55" h="41">
                              <a:moveTo>
                                <a:pt x="0" y="0"/>
                              </a:moveTo>
                              <a:lnTo>
                                <a:pt x="5" y="4"/>
                              </a:lnTo>
                              <a:lnTo>
                                <a:pt x="15" y="7"/>
                              </a:lnTo>
                              <a:lnTo>
                                <a:pt x="21" y="7"/>
                              </a:lnTo>
                              <a:lnTo>
                                <a:pt x="31" y="5"/>
                              </a:lnTo>
                              <a:lnTo>
                                <a:pt x="39" y="3"/>
                              </a:lnTo>
                              <a:lnTo>
                                <a:pt x="47" y="4"/>
                              </a:lnTo>
                              <a:lnTo>
                                <a:pt x="55" y="11"/>
                              </a:lnTo>
                              <a:lnTo>
                                <a:pt x="42" y="13"/>
                              </a:lnTo>
                              <a:lnTo>
                                <a:pt x="37" y="14"/>
                              </a:lnTo>
                              <a:lnTo>
                                <a:pt x="35" y="23"/>
                              </a:lnTo>
                              <a:lnTo>
                                <a:pt x="33" y="41"/>
                              </a:lnTo>
                              <a:lnTo>
                                <a:pt x="31" y="23"/>
                              </a:lnTo>
                              <a:lnTo>
                                <a:pt x="30" y="13"/>
                              </a:lnTo>
                              <a:lnTo>
                                <a:pt x="19" y="15"/>
                              </a:lnTo>
                              <a:lnTo>
                                <a:pt x="10" y="14"/>
                              </a:lnTo>
                              <a:lnTo>
                                <a:pt x="4" y="7"/>
                              </a:lnTo>
                              <a:lnTo>
                                <a:pt x="0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7F7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  <p:sp>
                      <p:nvSpPr>
                        <p:cNvPr id="375" name="Freeform 288"/>
                        <p:cNvSpPr/>
                        <p:nvPr/>
                      </p:nvSpPr>
                      <p:spPr bwMode="auto">
                        <a:xfrm>
                          <a:off x="5234" y="2320"/>
                          <a:ext cx="4" cy="6"/>
                        </a:xfrm>
                        <a:custGeom>
                          <a:avLst/>
                          <a:gdLst>
                            <a:gd name="T0" fmla="*/ 14 w 27"/>
                            <a:gd name="T1" fmla="*/ 0 h 30"/>
                            <a:gd name="T2" fmla="*/ 12 w 27"/>
                            <a:gd name="T3" fmla="*/ 5 h 30"/>
                            <a:gd name="T4" fmla="*/ 12 w 27"/>
                            <a:gd name="T5" fmla="*/ 13 h 30"/>
                            <a:gd name="T6" fmla="*/ 14 w 27"/>
                            <a:gd name="T7" fmla="*/ 18 h 30"/>
                            <a:gd name="T8" fmla="*/ 27 w 27"/>
                            <a:gd name="T9" fmla="*/ 30 h 30"/>
                            <a:gd name="T10" fmla="*/ 12 w 27"/>
                            <a:gd name="T11" fmla="*/ 30 h 30"/>
                            <a:gd name="T12" fmla="*/ 4 w 27"/>
                            <a:gd name="T13" fmla="*/ 21 h 30"/>
                            <a:gd name="T14" fmla="*/ 1 w 27"/>
                            <a:gd name="T15" fmla="*/ 16 h 30"/>
                            <a:gd name="T16" fmla="*/ 0 w 27"/>
                            <a:gd name="T17" fmla="*/ 5 h 30"/>
                            <a:gd name="T18" fmla="*/ 14 w 27"/>
                            <a:gd name="T19" fmla="*/ 0 h 30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</a:cxnLst>
                          <a:rect l="0" t="0" r="r" b="b"/>
                          <a:pathLst>
                            <a:path w="27" h="30">
                              <a:moveTo>
                                <a:pt x="14" y="0"/>
                              </a:moveTo>
                              <a:lnTo>
                                <a:pt x="12" y="5"/>
                              </a:lnTo>
                              <a:lnTo>
                                <a:pt x="12" y="13"/>
                              </a:lnTo>
                              <a:lnTo>
                                <a:pt x="14" y="18"/>
                              </a:lnTo>
                              <a:lnTo>
                                <a:pt x="27" y="30"/>
                              </a:lnTo>
                              <a:lnTo>
                                <a:pt x="12" y="30"/>
                              </a:lnTo>
                              <a:lnTo>
                                <a:pt x="4" y="21"/>
                              </a:lnTo>
                              <a:lnTo>
                                <a:pt x="1" y="16"/>
                              </a:lnTo>
                              <a:lnTo>
                                <a:pt x="0" y="5"/>
                              </a:lnTo>
                              <a:lnTo>
                                <a:pt x="14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7F7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</p:grpSp>
                  <p:grpSp>
                    <p:nvGrpSpPr>
                      <p:cNvPr id="347" name="Group 289"/>
                      <p:cNvGrpSpPr/>
                      <p:nvPr/>
                    </p:nvGrpSpPr>
                    <p:grpSpPr bwMode="auto">
                      <a:xfrm>
                        <a:off x="5214" y="2316"/>
                        <a:ext cx="35" cy="17"/>
                        <a:chOff x="5214" y="2316"/>
                        <a:chExt cx="35" cy="17"/>
                      </a:xfrm>
                    </p:grpSpPr>
                    <p:grpSp>
                      <p:nvGrpSpPr>
                        <p:cNvPr id="358" name="Group 290"/>
                        <p:cNvGrpSpPr/>
                        <p:nvPr/>
                      </p:nvGrpSpPr>
                      <p:grpSpPr bwMode="auto">
                        <a:xfrm>
                          <a:off x="5215" y="2316"/>
                          <a:ext cx="33" cy="7"/>
                          <a:chOff x="5215" y="2316"/>
                          <a:chExt cx="33" cy="7"/>
                        </a:xfrm>
                      </p:grpSpPr>
                      <p:sp>
                        <p:nvSpPr>
                          <p:cNvPr id="371" name="Freeform 291"/>
                          <p:cNvSpPr/>
                          <p:nvPr/>
                        </p:nvSpPr>
                        <p:spPr bwMode="auto">
                          <a:xfrm>
                            <a:off x="5230" y="2317"/>
                            <a:ext cx="18" cy="6"/>
                          </a:xfrm>
                          <a:custGeom>
                            <a:avLst/>
                            <a:gdLst>
                              <a:gd name="T0" fmla="*/ 0 w 105"/>
                              <a:gd name="T1" fmla="*/ 18 h 28"/>
                              <a:gd name="T2" fmla="*/ 7 w 105"/>
                              <a:gd name="T3" fmla="*/ 11 h 28"/>
                              <a:gd name="T4" fmla="*/ 17 w 105"/>
                              <a:gd name="T5" fmla="*/ 5 h 28"/>
                              <a:gd name="T6" fmla="*/ 29 w 105"/>
                              <a:gd name="T7" fmla="*/ 1 h 28"/>
                              <a:gd name="T8" fmla="*/ 41 w 105"/>
                              <a:gd name="T9" fmla="*/ 0 h 28"/>
                              <a:gd name="T10" fmla="*/ 53 w 105"/>
                              <a:gd name="T11" fmla="*/ 0 h 28"/>
                              <a:gd name="T12" fmla="*/ 68 w 105"/>
                              <a:gd name="T13" fmla="*/ 2 h 28"/>
                              <a:gd name="T14" fmla="*/ 84 w 105"/>
                              <a:gd name="T15" fmla="*/ 8 h 28"/>
                              <a:gd name="T16" fmla="*/ 105 w 105"/>
                              <a:gd name="T17" fmla="*/ 14 h 28"/>
                              <a:gd name="T18" fmla="*/ 89 w 105"/>
                              <a:gd name="T19" fmla="*/ 14 h 28"/>
                              <a:gd name="T20" fmla="*/ 71 w 105"/>
                              <a:gd name="T21" fmla="*/ 13 h 28"/>
                              <a:gd name="T22" fmla="*/ 56 w 105"/>
                              <a:gd name="T23" fmla="*/ 12 h 28"/>
                              <a:gd name="T24" fmla="*/ 46 w 105"/>
                              <a:gd name="T25" fmla="*/ 14 h 28"/>
                              <a:gd name="T26" fmla="*/ 36 w 105"/>
                              <a:gd name="T27" fmla="*/ 18 h 28"/>
                              <a:gd name="T28" fmla="*/ 28 w 105"/>
                              <a:gd name="T29" fmla="*/ 24 h 28"/>
                              <a:gd name="T30" fmla="*/ 21 w 105"/>
                              <a:gd name="T31" fmla="*/ 28 h 28"/>
                              <a:gd name="T32" fmla="*/ 12 w 105"/>
                              <a:gd name="T33" fmla="*/ 28 h 28"/>
                              <a:gd name="T34" fmla="*/ 4 w 105"/>
                              <a:gd name="T35" fmla="*/ 26 h 28"/>
                              <a:gd name="T36" fmla="*/ 0 w 105"/>
                              <a:gd name="T37" fmla="*/ 18 h 28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  <a:cxn ang="0">
                                <a:pos x="T24" y="T25"/>
                              </a:cxn>
                              <a:cxn ang="0">
                                <a:pos x="T26" y="T27"/>
                              </a:cxn>
                              <a:cxn ang="0">
                                <a:pos x="T28" y="T29"/>
                              </a:cxn>
                              <a:cxn ang="0">
                                <a:pos x="T30" y="T31"/>
                              </a:cxn>
                              <a:cxn ang="0">
                                <a:pos x="T32" y="T33"/>
                              </a:cxn>
                              <a:cxn ang="0">
                                <a:pos x="T34" y="T35"/>
                              </a:cxn>
                              <a:cxn ang="0">
                                <a:pos x="T36" y="T37"/>
                              </a:cxn>
                            </a:cxnLst>
                            <a:rect l="0" t="0" r="r" b="b"/>
                            <a:pathLst>
                              <a:path w="105" h="28">
                                <a:moveTo>
                                  <a:pt x="0" y="18"/>
                                </a:moveTo>
                                <a:lnTo>
                                  <a:pt x="7" y="11"/>
                                </a:lnTo>
                                <a:lnTo>
                                  <a:pt x="17" y="5"/>
                                </a:lnTo>
                                <a:lnTo>
                                  <a:pt x="29" y="1"/>
                                </a:lnTo>
                                <a:lnTo>
                                  <a:pt x="41" y="0"/>
                                </a:lnTo>
                                <a:lnTo>
                                  <a:pt x="53" y="0"/>
                                </a:lnTo>
                                <a:lnTo>
                                  <a:pt x="68" y="2"/>
                                </a:lnTo>
                                <a:lnTo>
                                  <a:pt x="84" y="8"/>
                                </a:lnTo>
                                <a:lnTo>
                                  <a:pt x="105" y="14"/>
                                </a:lnTo>
                                <a:lnTo>
                                  <a:pt x="89" y="14"/>
                                </a:lnTo>
                                <a:lnTo>
                                  <a:pt x="71" y="13"/>
                                </a:lnTo>
                                <a:lnTo>
                                  <a:pt x="56" y="12"/>
                                </a:lnTo>
                                <a:lnTo>
                                  <a:pt x="46" y="14"/>
                                </a:lnTo>
                                <a:lnTo>
                                  <a:pt x="36" y="18"/>
                                </a:lnTo>
                                <a:lnTo>
                                  <a:pt x="28" y="24"/>
                                </a:lnTo>
                                <a:lnTo>
                                  <a:pt x="21" y="28"/>
                                </a:lnTo>
                                <a:lnTo>
                                  <a:pt x="12" y="28"/>
                                </a:lnTo>
                                <a:lnTo>
                                  <a:pt x="4" y="26"/>
                                </a:lnTo>
                                <a:lnTo>
                                  <a:pt x="0" y="18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000000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round/>
                              </a14:hiddenLine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3655"/>
                          </a:p>
                        </p:txBody>
                      </p:sp>
                      <p:sp>
                        <p:nvSpPr>
                          <p:cNvPr id="372" name="Freeform 292"/>
                          <p:cNvSpPr/>
                          <p:nvPr/>
                        </p:nvSpPr>
                        <p:spPr bwMode="auto">
                          <a:xfrm>
                            <a:off x="5215" y="2316"/>
                            <a:ext cx="9" cy="7"/>
                          </a:xfrm>
                          <a:custGeom>
                            <a:avLst/>
                            <a:gdLst>
                              <a:gd name="T0" fmla="*/ 0 w 53"/>
                              <a:gd name="T1" fmla="*/ 0 h 35"/>
                              <a:gd name="T2" fmla="*/ 0 w 53"/>
                              <a:gd name="T3" fmla="*/ 5 h 35"/>
                              <a:gd name="T4" fmla="*/ 12 w 53"/>
                              <a:gd name="T5" fmla="*/ 7 h 35"/>
                              <a:gd name="T6" fmla="*/ 22 w 53"/>
                              <a:gd name="T7" fmla="*/ 16 h 35"/>
                              <a:gd name="T8" fmla="*/ 28 w 53"/>
                              <a:gd name="T9" fmla="*/ 23 h 35"/>
                              <a:gd name="T10" fmla="*/ 34 w 53"/>
                              <a:gd name="T11" fmla="*/ 31 h 35"/>
                              <a:gd name="T12" fmla="*/ 42 w 53"/>
                              <a:gd name="T13" fmla="*/ 35 h 35"/>
                              <a:gd name="T14" fmla="*/ 51 w 53"/>
                              <a:gd name="T15" fmla="*/ 33 h 35"/>
                              <a:gd name="T16" fmla="*/ 53 w 53"/>
                              <a:gd name="T17" fmla="*/ 25 h 35"/>
                              <a:gd name="T18" fmla="*/ 49 w 53"/>
                              <a:gd name="T19" fmla="*/ 18 h 35"/>
                              <a:gd name="T20" fmla="*/ 39 w 53"/>
                              <a:gd name="T21" fmla="*/ 12 h 35"/>
                              <a:gd name="T22" fmla="*/ 33 w 53"/>
                              <a:gd name="T23" fmla="*/ 7 h 35"/>
                              <a:gd name="T24" fmla="*/ 22 w 53"/>
                              <a:gd name="T25" fmla="*/ 4 h 35"/>
                              <a:gd name="T26" fmla="*/ 0 w 53"/>
                              <a:gd name="T27" fmla="*/ 0 h 35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  <a:cxn ang="0">
                                <a:pos x="T24" y="T25"/>
                              </a:cxn>
                              <a:cxn ang="0">
                                <a:pos x="T26" y="T27"/>
                              </a:cxn>
                            </a:cxnLst>
                            <a:rect l="0" t="0" r="r" b="b"/>
                            <a:pathLst>
                              <a:path w="53" h="35">
                                <a:moveTo>
                                  <a:pt x="0" y="0"/>
                                </a:moveTo>
                                <a:lnTo>
                                  <a:pt x="0" y="5"/>
                                </a:lnTo>
                                <a:lnTo>
                                  <a:pt x="12" y="7"/>
                                </a:lnTo>
                                <a:lnTo>
                                  <a:pt x="22" y="16"/>
                                </a:lnTo>
                                <a:lnTo>
                                  <a:pt x="28" y="23"/>
                                </a:lnTo>
                                <a:lnTo>
                                  <a:pt x="34" y="31"/>
                                </a:lnTo>
                                <a:lnTo>
                                  <a:pt x="42" y="35"/>
                                </a:lnTo>
                                <a:lnTo>
                                  <a:pt x="51" y="33"/>
                                </a:lnTo>
                                <a:lnTo>
                                  <a:pt x="53" y="25"/>
                                </a:lnTo>
                                <a:lnTo>
                                  <a:pt x="49" y="18"/>
                                </a:lnTo>
                                <a:lnTo>
                                  <a:pt x="39" y="12"/>
                                </a:lnTo>
                                <a:lnTo>
                                  <a:pt x="33" y="7"/>
                                </a:lnTo>
                                <a:lnTo>
                                  <a:pt x="22" y="4"/>
                                </a:lnTo>
                                <a:lnTo>
                                  <a:pt x="0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000000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round/>
                              </a14:hiddenLine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3655"/>
                          </a:p>
                        </p:txBody>
                      </p:sp>
                    </p:grpSp>
                    <p:sp>
                      <p:nvSpPr>
                        <p:cNvPr id="359" name="Freeform 293"/>
                        <p:cNvSpPr/>
                        <p:nvPr/>
                      </p:nvSpPr>
                      <p:spPr bwMode="auto">
                        <a:xfrm>
                          <a:off x="5234" y="2325"/>
                          <a:ext cx="12" cy="5"/>
                        </a:xfrm>
                        <a:custGeom>
                          <a:avLst/>
                          <a:gdLst>
                            <a:gd name="T0" fmla="*/ 0 w 75"/>
                            <a:gd name="T1" fmla="*/ 8 h 26"/>
                            <a:gd name="T2" fmla="*/ 3 w 75"/>
                            <a:gd name="T3" fmla="*/ 18 h 26"/>
                            <a:gd name="T4" fmla="*/ 5 w 75"/>
                            <a:gd name="T5" fmla="*/ 21 h 26"/>
                            <a:gd name="T6" fmla="*/ 8 w 75"/>
                            <a:gd name="T7" fmla="*/ 24 h 26"/>
                            <a:gd name="T8" fmla="*/ 20 w 75"/>
                            <a:gd name="T9" fmla="*/ 26 h 26"/>
                            <a:gd name="T10" fmla="*/ 34 w 75"/>
                            <a:gd name="T11" fmla="*/ 26 h 26"/>
                            <a:gd name="T12" fmla="*/ 45 w 75"/>
                            <a:gd name="T13" fmla="*/ 24 h 26"/>
                            <a:gd name="T14" fmla="*/ 57 w 75"/>
                            <a:gd name="T15" fmla="*/ 19 h 26"/>
                            <a:gd name="T16" fmla="*/ 75 w 75"/>
                            <a:gd name="T17" fmla="*/ 8 h 26"/>
                            <a:gd name="T18" fmla="*/ 48 w 75"/>
                            <a:gd name="T19" fmla="*/ 5 h 26"/>
                            <a:gd name="T20" fmla="*/ 25 w 75"/>
                            <a:gd name="T21" fmla="*/ 2 h 26"/>
                            <a:gd name="T22" fmla="*/ 12 w 75"/>
                            <a:gd name="T23" fmla="*/ 0 h 26"/>
                            <a:gd name="T24" fmla="*/ 0 w 75"/>
                            <a:gd name="T25" fmla="*/ 8 h 26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</a:cxnLst>
                          <a:rect l="0" t="0" r="r" b="b"/>
                          <a:pathLst>
                            <a:path w="75" h="26">
                              <a:moveTo>
                                <a:pt x="0" y="8"/>
                              </a:moveTo>
                              <a:lnTo>
                                <a:pt x="3" y="18"/>
                              </a:lnTo>
                              <a:lnTo>
                                <a:pt x="5" y="21"/>
                              </a:lnTo>
                              <a:lnTo>
                                <a:pt x="8" y="24"/>
                              </a:lnTo>
                              <a:lnTo>
                                <a:pt x="20" y="26"/>
                              </a:lnTo>
                              <a:lnTo>
                                <a:pt x="34" y="26"/>
                              </a:lnTo>
                              <a:lnTo>
                                <a:pt x="45" y="24"/>
                              </a:lnTo>
                              <a:lnTo>
                                <a:pt x="57" y="19"/>
                              </a:lnTo>
                              <a:lnTo>
                                <a:pt x="75" y="8"/>
                              </a:lnTo>
                              <a:lnTo>
                                <a:pt x="48" y="5"/>
                              </a:lnTo>
                              <a:lnTo>
                                <a:pt x="25" y="2"/>
                              </a:lnTo>
                              <a:lnTo>
                                <a:pt x="12" y="0"/>
                              </a:lnTo>
                              <a:lnTo>
                                <a:pt x="0" y="8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  <p:sp>
                      <p:nvSpPr>
                        <p:cNvPr id="360" name="Freeform 294"/>
                        <p:cNvSpPr/>
                        <p:nvPr/>
                      </p:nvSpPr>
                      <p:spPr bwMode="auto">
                        <a:xfrm>
                          <a:off x="5218" y="2326"/>
                          <a:ext cx="4" cy="5"/>
                        </a:xfrm>
                        <a:custGeom>
                          <a:avLst/>
                          <a:gdLst>
                            <a:gd name="T0" fmla="*/ 1 w 23"/>
                            <a:gd name="T1" fmla="*/ 0 h 25"/>
                            <a:gd name="T2" fmla="*/ 18 w 23"/>
                            <a:gd name="T3" fmla="*/ 3 h 25"/>
                            <a:gd name="T4" fmla="*/ 21 w 23"/>
                            <a:gd name="T5" fmla="*/ 13 h 25"/>
                            <a:gd name="T6" fmla="*/ 23 w 23"/>
                            <a:gd name="T7" fmla="*/ 25 h 25"/>
                            <a:gd name="T8" fmla="*/ 8 w 23"/>
                            <a:gd name="T9" fmla="*/ 23 h 25"/>
                            <a:gd name="T10" fmla="*/ 0 w 23"/>
                            <a:gd name="T11" fmla="*/ 21 h 25"/>
                            <a:gd name="T12" fmla="*/ 1 w 23"/>
                            <a:gd name="T13" fmla="*/ 0 h 25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</a:cxnLst>
                          <a:rect l="0" t="0" r="r" b="b"/>
                          <a:pathLst>
                            <a:path w="23" h="25">
                              <a:moveTo>
                                <a:pt x="1" y="0"/>
                              </a:moveTo>
                              <a:lnTo>
                                <a:pt x="18" y="3"/>
                              </a:lnTo>
                              <a:lnTo>
                                <a:pt x="21" y="13"/>
                              </a:lnTo>
                              <a:lnTo>
                                <a:pt x="23" y="25"/>
                              </a:lnTo>
                              <a:lnTo>
                                <a:pt x="8" y="23"/>
                              </a:lnTo>
                              <a:lnTo>
                                <a:pt x="0" y="21"/>
                              </a:lnTo>
                              <a:lnTo>
                                <a:pt x="1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  <p:grpSp>
                      <p:nvGrpSpPr>
                        <p:cNvPr id="361" name="Group 295"/>
                        <p:cNvGrpSpPr/>
                        <p:nvPr/>
                      </p:nvGrpSpPr>
                      <p:grpSpPr bwMode="auto">
                        <a:xfrm>
                          <a:off x="5234" y="2325"/>
                          <a:ext cx="9" cy="7"/>
                          <a:chOff x="5234" y="2325"/>
                          <a:chExt cx="9" cy="7"/>
                        </a:xfrm>
                      </p:grpSpPr>
                      <p:sp>
                        <p:nvSpPr>
                          <p:cNvPr id="369" name="Oval 296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5234" y="2325"/>
                            <a:ext cx="9" cy="7"/>
                          </a:xfrm>
                          <a:prstGeom prst="ellipse">
                            <a:avLst/>
                          </a:prstGeom>
                          <a:solidFill>
                            <a:srgbClr val="7F3F00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round/>
                              </a14:hiddenLine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3655"/>
                          </a:p>
                        </p:txBody>
                      </p:sp>
                      <p:sp>
                        <p:nvSpPr>
                          <p:cNvPr id="370" name="Oval 297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5236" y="2326"/>
                            <a:ext cx="4" cy="5"/>
                          </a:xfrm>
                          <a:prstGeom prst="ellipse">
                            <a:avLst/>
                          </a:prstGeom>
                          <a:solidFill>
                            <a:srgbClr val="000000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round/>
                              </a14:hiddenLine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3655"/>
                          </a:p>
                        </p:txBody>
                      </p:sp>
                    </p:grpSp>
                    <p:sp>
                      <p:nvSpPr>
                        <p:cNvPr id="362" name="Oval 29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5235" y="2326"/>
                          <a:ext cx="3" cy="3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  <p:grpSp>
                      <p:nvGrpSpPr>
                        <p:cNvPr id="363" name="Group 299"/>
                        <p:cNvGrpSpPr/>
                        <p:nvPr/>
                      </p:nvGrpSpPr>
                      <p:grpSpPr bwMode="auto">
                        <a:xfrm>
                          <a:off x="5217" y="2326"/>
                          <a:ext cx="5" cy="7"/>
                          <a:chOff x="5217" y="2326"/>
                          <a:chExt cx="5" cy="7"/>
                        </a:xfrm>
                      </p:grpSpPr>
                      <p:sp>
                        <p:nvSpPr>
                          <p:cNvPr id="367" name="Oval 300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5217" y="2326"/>
                            <a:ext cx="5" cy="7"/>
                          </a:xfrm>
                          <a:prstGeom prst="ellipse">
                            <a:avLst/>
                          </a:prstGeom>
                          <a:solidFill>
                            <a:srgbClr val="7F3F00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round/>
                              </a14:hiddenLine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3655"/>
                          </a:p>
                        </p:txBody>
                      </p:sp>
                      <p:sp>
                        <p:nvSpPr>
                          <p:cNvPr id="368" name="Oval 301"/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5217" y="2326"/>
                            <a:ext cx="4" cy="6"/>
                          </a:xfrm>
                          <a:prstGeom prst="ellipse">
                            <a:avLst/>
                          </a:prstGeom>
                          <a:solidFill>
                            <a:srgbClr val="000000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round/>
                              </a14:hiddenLine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3655"/>
                          </a:p>
                        </p:txBody>
                      </p:sp>
                    </p:grpSp>
                    <p:sp>
                      <p:nvSpPr>
                        <p:cNvPr id="364" name="Oval 30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5217" y="2327"/>
                          <a:ext cx="2" cy="2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  <p:sp>
                      <p:nvSpPr>
                        <p:cNvPr id="365" name="Freeform 303"/>
                        <p:cNvSpPr/>
                        <p:nvPr/>
                      </p:nvSpPr>
                      <p:spPr bwMode="auto">
                        <a:xfrm>
                          <a:off x="5231" y="2324"/>
                          <a:ext cx="18" cy="5"/>
                        </a:xfrm>
                        <a:custGeom>
                          <a:avLst/>
                          <a:gdLst>
                            <a:gd name="T0" fmla="*/ 0 w 106"/>
                            <a:gd name="T1" fmla="*/ 1 h 24"/>
                            <a:gd name="T2" fmla="*/ 14 w 106"/>
                            <a:gd name="T3" fmla="*/ 8 h 24"/>
                            <a:gd name="T4" fmla="*/ 23 w 106"/>
                            <a:gd name="T5" fmla="*/ 3 h 24"/>
                            <a:gd name="T6" fmla="*/ 31 w 106"/>
                            <a:gd name="T7" fmla="*/ 0 h 24"/>
                            <a:gd name="T8" fmla="*/ 40 w 106"/>
                            <a:gd name="T9" fmla="*/ 0 h 24"/>
                            <a:gd name="T10" fmla="*/ 51 w 106"/>
                            <a:gd name="T11" fmla="*/ 3 h 24"/>
                            <a:gd name="T12" fmla="*/ 68 w 106"/>
                            <a:gd name="T13" fmla="*/ 8 h 24"/>
                            <a:gd name="T14" fmla="*/ 85 w 106"/>
                            <a:gd name="T15" fmla="*/ 8 h 24"/>
                            <a:gd name="T16" fmla="*/ 106 w 106"/>
                            <a:gd name="T17" fmla="*/ 5 h 24"/>
                            <a:gd name="T18" fmla="*/ 92 w 106"/>
                            <a:gd name="T19" fmla="*/ 16 h 24"/>
                            <a:gd name="T20" fmla="*/ 74 w 106"/>
                            <a:gd name="T21" fmla="*/ 24 h 24"/>
                            <a:gd name="T22" fmla="*/ 87 w 106"/>
                            <a:gd name="T23" fmla="*/ 15 h 24"/>
                            <a:gd name="T24" fmla="*/ 73 w 106"/>
                            <a:gd name="T25" fmla="*/ 13 h 24"/>
                            <a:gd name="T26" fmla="*/ 62 w 106"/>
                            <a:gd name="T27" fmla="*/ 12 h 24"/>
                            <a:gd name="T28" fmla="*/ 50 w 106"/>
                            <a:gd name="T29" fmla="*/ 10 h 24"/>
                            <a:gd name="T30" fmla="*/ 41 w 106"/>
                            <a:gd name="T31" fmla="*/ 10 h 24"/>
                            <a:gd name="T32" fmla="*/ 30 w 106"/>
                            <a:gd name="T33" fmla="*/ 8 h 24"/>
                            <a:gd name="T34" fmla="*/ 25 w 106"/>
                            <a:gd name="T35" fmla="*/ 8 h 24"/>
                            <a:gd name="T36" fmla="*/ 19 w 106"/>
                            <a:gd name="T37" fmla="*/ 12 h 24"/>
                            <a:gd name="T38" fmla="*/ 14 w 106"/>
                            <a:gd name="T39" fmla="*/ 13 h 24"/>
                            <a:gd name="T40" fmla="*/ 11 w 106"/>
                            <a:gd name="T41" fmla="*/ 13 h 24"/>
                            <a:gd name="T42" fmla="*/ 0 w 106"/>
                            <a:gd name="T43" fmla="*/ 1 h 24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  <a:cxn ang="0">
                              <a:pos x="T30" y="T31"/>
                            </a:cxn>
                            <a:cxn ang="0">
                              <a:pos x="T32" y="T33"/>
                            </a:cxn>
                            <a:cxn ang="0">
                              <a:pos x="T34" y="T35"/>
                            </a:cxn>
                            <a:cxn ang="0">
                              <a:pos x="T36" y="T37"/>
                            </a:cxn>
                            <a:cxn ang="0">
                              <a:pos x="T38" y="T39"/>
                            </a:cxn>
                            <a:cxn ang="0">
                              <a:pos x="T40" y="T41"/>
                            </a:cxn>
                            <a:cxn ang="0">
                              <a:pos x="T42" y="T43"/>
                            </a:cxn>
                          </a:cxnLst>
                          <a:rect l="0" t="0" r="r" b="b"/>
                          <a:pathLst>
                            <a:path w="106" h="24">
                              <a:moveTo>
                                <a:pt x="0" y="1"/>
                              </a:moveTo>
                              <a:lnTo>
                                <a:pt x="14" y="8"/>
                              </a:lnTo>
                              <a:lnTo>
                                <a:pt x="23" y="3"/>
                              </a:lnTo>
                              <a:lnTo>
                                <a:pt x="31" y="0"/>
                              </a:lnTo>
                              <a:lnTo>
                                <a:pt x="40" y="0"/>
                              </a:lnTo>
                              <a:lnTo>
                                <a:pt x="51" y="3"/>
                              </a:lnTo>
                              <a:lnTo>
                                <a:pt x="68" y="8"/>
                              </a:lnTo>
                              <a:lnTo>
                                <a:pt x="85" y="8"/>
                              </a:lnTo>
                              <a:lnTo>
                                <a:pt x="106" y="5"/>
                              </a:lnTo>
                              <a:lnTo>
                                <a:pt x="92" y="16"/>
                              </a:lnTo>
                              <a:lnTo>
                                <a:pt x="74" y="24"/>
                              </a:lnTo>
                              <a:lnTo>
                                <a:pt x="87" y="15"/>
                              </a:lnTo>
                              <a:lnTo>
                                <a:pt x="73" y="13"/>
                              </a:lnTo>
                              <a:lnTo>
                                <a:pt x="62" y="12"/>
                              </a:lnTo>
                              <a:lnTo>
                                <a:pt x="50" y="10"/>
                              </a:lnTo>
                              <a:lnTo>
                                <a:pt x="41" y="10"/>
                              </a:lnTo>
                              <a:lnTo>
                                <a:pt x="30" y="8"/>
                              </a:lnTo>
                              <a:lnTo>
                                <a:pt x="25" y="8"/>
                              </a:lnTo>
                              <a:lnTo>
                                <a:pt x="19" y="12"/>
                              </a:lnTo>
                              <a:lnTo>
                                <a:pt x="14" y="13"/>
                              </a:lnTo>
                              <a:lnTo>
                                <a:pt x="11" y="13"/>
                              </a:lnTo>
                              <a:lnTo>
                                <a:pt x="0" y="1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  <p:sp>
                      <p:nvSpPr>
                        <p:cNvPr id="366" name="Freeform 304"/>
                        <p:cNvSpPr/>
                        <p:nvPr/>
                      </p:nvSpPr>
                      <p:spPr bwMode="auto">
                        <a:xfrm>
                          <a:off x="5214" y="2325"/>
                          <a:ext cx="7" cy="4"/>
                        </a:xfrm>
                        <a:custGeom>
                          <a:avLst/>
                          <a:gdLst>
                            <a:gd name="T0" fmla="*/ 0 w 48"/>
                            <a:gd name="T1" fmla="*/ 0 h 21"/>
                            <a:gd name="T2" fmla="*/ 6 w 48"/>
                            <a:gd name="T3" fmla="*/ 8 h 21"/>
                            <a:gd name="T4" fmla="*/ 16 w 48"/>
                            <a:gd name="T5" fmla="*/ 6 h 21"/>
                            <a:gd name="T6" fmla="*/ 24 w 48"/>
                            <a:gd name="T7" fmla="*/ 6 h 21"/>
                            <a:gd name="T8" fmla="*/ 29 w 48"/>
                            <a:gd name="T9" fmla="*/ 6 h 21"/>
                            <a:gd name="T10" fmla="*/ 37 w 48"/>
                            <a:gd name="T11" fmla="*/ 6 h 21"/>
                            <a:gd name="T12" fmla="*/ 43 w 48"/>
                            <a:gd name="T13" fmla="*/ 10 h 21"/>
                            <a:gd name="T14" fmla="*/ 47 w 48"/>
                            <a:gd name="T15" fmla="*/ 13 h 21"/>
                            <a:gd name="T16" fmla="*/ 48 w 48"/>
                            <a:gd name="T17" fmla="*/ 21 h 21"/>
                            <a:gd name="T18" fmla="*/ 46 w 48"/>
                            <a:gd name="T19" fmla="*/ 14 h 21"/>
                            <a:gd name="T20" fmla="*/ 41 w 48"/>
                            <a:gd name="T21" fmla="*/ 11 h 21"/>
                            <a:gd name="T22" fmla="*/ 28 w 48"/>
                            <a:gd name="T23" fmla="*/ 10 h 21"/>
                            <a:gd name="T24" fmla="*/ 14 w 48"/>
                            <a:gd name="T25" fmla="*/ 10 h 21"/>
                            <a:gd name="T26" fmla="*/ 0 w 48"/>
                            <a:gd name="T27" fmla="*/ 0 h 21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</a:cxnLst>
                          <a:rect l="0" t="0" r="r" b="b"/>
                          <a:pathLst>
                            <a:path w="48" h="21">
                              <a:moveTo>
                                <a:pt x="0" y="0"/>
                              </a:moveTo>
                              <a:lnTo>
                                <a:pt x="6" y="8"/>
                              </a:lnTo>
                              <a:lnTo>
                                <a:pt x="16" y="6"/>
                              </a:lnTo>
                              <a:lnTo>
                                <a:pt x="24" y="6"/>
                              </a:lnTo>
                              <a:lnTo>
                                <a:pt x="29" y="6"/>
                              </a:lnTo>
                              <a:lnTo>
                                <a:pt x="37" y="6"/>
                              </a:lnTo>
                              <a:lnTo>
                                <a:pt x="43" y="10"/>
                              </a:lnTo>
                              <a:lnTo>
                                <a:pt x="47" y="13"/>
                              </a:lnTo>
                              <a:lnTo>
                                <a:pt x="48" y="21"/>
                              </a:lnTo>
                              <a:lnTo>
                                <a:pt x="46" y="14"/>
                              </a:lnTo>
                              <a:lnTo>
                                <a:pt x="41" y="11"/>
                              </a:lnTo>
                              <a:lnTo>
                                <a:pt x="28" y="10"/>
                              </a:lnTo>
                              <a:lnTo>
                                <a:pt x="14" y="10"/>
                              </a:lnTo>
                              <a:lnTo>
                                <a:pt x="0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</p:grpSp>
                  <p:grpSp>
                    <p:nvGrpSpPr>
                      <p:cNvPr id="348" name="Group 305"/>
                      <p:cNvGrpSpPr/>
                      <p:nvPr/>
                    </p:nvGrpSpPr>
                    <p:grpSpPr bwMode="auto">
                      <a:xfrm>
                        <a:off x="5223" y="2358"/>
                        <a:ext cx="18" cy="11"/>
                        <a:chOff x="5223" y="2358"/>
                        <a:chExt cx="18" cy="11"/>
                      </a:xfrm>
                    </p:grpSpPr>
                    <p:grpSp>
                      <p:nvGrpSpPr>
                        <p:cNvPr id="349" name="Group 306"/>
                        <p:cNvGrpSpPr/>
                        <p:nvPr/>
                      </p:nvGrpSpPr>
                      <p:grpSpPr bwMode="auto">
                        <a:xfrm>
                          <a:off x="5223" y="2358"/>
                          <a:ext cx="18" cy="11"/>
                          <a:chOff x="5223" y="2358"/>
                          <a:chExt cx="18" cy="11"/>
                        </a:xfrm>
                      </p:grpSpPr>
                      <p:sp>
                        <p:nvSpPr>
                          <p:cNvPr id="351" name="Freeform 307"/>
                          <p:cNvSpPr/>
                          <p:nvPr/>
                        </p:nvSpPr>
                        <p:spPr bwMode="auto">
                          <a:xfrm>
                            <a:off x="5223" y="2358"/>
                            <a:ext cx="18" cy="11"/>
                          </a:xfrm>
                          <a:custGeom>
                            <a:avLst/>
                            <a:gdLst>
                              <a:gd name="T0" fmla="*/ 11 w 107"/>
                              <a:gd name="T1" fmla="*/ 23 h 58"/>
                              <a:gd name="T2" fmla="*/ 5 w 107"/>
                              <a:gd name="T3" fmla="*/ 16 h 58"/>
                              <a:gd name="T4" fmla="*/ 1 w 107"/>
                              <a:gd name="T5" fmla="*/ 9 h 58"/>
                              <a:gd name="T6" fmla="*/ 0 w 107"/>
                              <a:gd name="T7" fmla="*/ 5 h 58"/>
                              <a:gd name="T8" fmla="*/ 5 w 107"/>
                              <a:gd name="T9" fmla="*/ 1 h 58"/>
                              <a:gd name="T10" fmla="*/ 13 w 107"/>
                              <a:gd name="T11" fmla="*/ 0 h 58"/>
                              <a:gd name="T12" fmla="*/ 25 w 107"/>
                              <a:gd name="T13" fmla="*/ 6 h 58"/>
                              <a:gd name="T14" fmla="*/ 36 w 107"/>
                              <a:gd name="T15" fmla="*/ 0 h 58"/>
                              <a:gd name="T16" fmla="*/ 48 w 107"/>
                              <a:gd name="T17" fmla="*/ 3 h 58"/>
                              <a:gd name="T18" fmla="*/ 61 w 107"/>
                              <a:gd name="T19" fmla="*/ 6 h 58"/>
                              <a:gd name="T20" fmla="*/ 75 w 107"/>
                              <a:gd name="T21" fmla="*/ 7 h 58"/>
                              <a:gd name="T22" fmla="*/ 107 w 107"/>
                              <a:gd name="T23" fmla="*/ 9 h 58"/>
                              <a:gd name="T24" fmla="*/ 88 w 107"/>
                              <a:gd name="T25" fmla="*/ 27 h 58"/>
                              <a:gd name="T26" fmla="*/ 78 w 107"/>
                              <a:gd name="T27" fmla="*/ 35 h 58"/>
                              <a:gd name="T28" fmla="*/ 68 w 107"/>
                              <a:gd name="T29" fmla="*/ 44 h 58"/>
                              <a:gd name="T30" fmla="*/ 58 w 107"/>
                              <a:gd name="T31" fmla="*/ 52 h 58"/>
                              <a:gd name="T32" fmla="*/ 43 w 107"/>
                              <a:gd name="T33" fmla="*/ 58 h 58"/>
                              <a:gd name="T34" fmla="*/ 30 w 107"/>
                              <a:gd name="T35" fmla="*/ 58 h 58"/>
                              <a:gd name="T36" fmla="*/ 18 w 107"/>
                              <a:gd name="T37" fmla="*/ 53 h 58"/>
                              <a:gd name="T38" fmla="*/ 13 w 107"/>
                              <a:gd name="T39" fmla="*/ 44 h 58"/>
                              <a:gd name="T40" fmla="*/ 11 w 107"/>
                              <a:gd name="T41" fmla="*/ 23 h 58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  <a:cxn ang="0">
                                <a:pos x="T24" y="T25"/>
                              </a:cxn>
                              <a:cxn ang="0">
                                <a:pos x="T26" y="T27"/>
                              </a:cxn>
                              <a:cxn ang="0">
                                <a:pos x="T28" y="T29"/>
                              </a:cxn>
                              <a:cxn ang="0">
                                <a:pos x="T30" y="T31"/>
                              </a:cxn>
                              <a:cxn ang="0">
                                <a:pos x="T32" y="T33"/>
                              </a:cxn>
                              <a:cxn ang="0">
                                <a:pos x="T34" y="T35"/>
                              </a:cxn>
                              <a:cxn ang="0">
                                <a:pos x="T36" y="T37"/>
                              </a:cxn>
                              <a:cxn ang="0">
                                <a:pos x="T38" y="T39"/>
                              </a:cxn>
                              <a:cxn ang="0">
                                <a:pos x="T40" y="T41"/>
                              </a:cxn>
                            </a:cxnLst>
                            <a:rect l="0" t="0" r="r" b="b"/>
                            <a:pathLst>
                              <a:path w="107" h="58">
                                <a:moveTo>
                                  <a:pt x="11" y="23"/>
                                </a:moveTo>
                                <a:lnTo>
                                  <a:pt x="5" y="16"/>
                                </a:lnTo>
                                <a:lnTo>
                                  <a:pt x="1" y="9"/>
                                </a:lnTo>
                                <a:lnTo>
                                  <a:pt x="0" y="5"/>
                                </a:lnTo>
                                <a:lnTo>
                                  <a:pt x="5" y="1"/>
                                </a:lnTo>
                                <a:lnTo>
                                  <a:pt x="13" y="0"/>
                                </a:lnTo>
                                <a:lnTo>
                                  <a:pt x="25" y="6"/>
                                </a:lnTo>
                                <a:lnTo>
                                  <a:pt x="36" y="0"/>
                                </a:lnTo>
                                <a:lnTo>
                                  <a:pt x="48" y="3"/>
                                </a:lnTo>
                                <a:lnTo>
                                  <a:pt x="61" y="6"/>
                                </a:lnTo>
                                <a:lnTo>
                                  <a:pt x="75" y="7"/>
                                </a:lnTo>
                                <a:lnTo>
                                  <a:pt x="107" y="9"/>
                                </a:lnTo>
                                <a:lnTo>
                                  <a:pt x="88" y="27"/>
                                </a:lnTo>
                                <a:lnTo>
                                  <a:pt x="78" y="35"/>
                                </a:lnTo>
                                <a:lnTo>
                                  <a:pt x="68" y="44"/>
                                </a:lnTo>
                                <a:lnTo>
                                  <a:pt x="58" y="52"/>
                                </a:lnTo>
                                <a:lnTo>
                                  <a:pt x="43" y="58"/>
                                </a:lnTo>
                                <a:lnTo>
                                  <a:pt x="30" y="58"/>
                                </a:lnTo>
                                <a:lnTo>
                                  <a:pt x="18" y="53"/>
                                </a:lnTo>
                                <a:lnTo>
                                  <a:pt x="13" y="44"/>
                                </a:lnTo>
                                <a:lnTo>
                                  <a:pt x="11" y="2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7F0000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round/>
                              </a14:hiddenLine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3655"/>
                          </a:p>
                        </p:txBody>
                      </p:sp>
                      <p:grpSp>
                        <p:nvGrpSpPr>
                          <p:cNvPr id="352" name="Group 308"/>
                          <p:cNvGrpSpPr/>
                          <p:nvPr/>
                        </p:nvGrpSpPr>
                        <p:grpSpPr bwMode="auto">
                          <a:xfrm>
                            <a:off x="5223" y="2358"/>
                            <a:ext cx="18" cy="11"/>
                            <a:chOff x="5223" y="2358"/>
                            <a:chExt cx="18" cy="11"/>
                          </a:xfrm>
                        </p:grpSpPr>
                        <p:grpSp>
                          <p:nvGrpSpPr>
                            <p:cNvPr id="354" name="Group 309"/>
                            <p:cNvGrpSpPr/>
                            <p:nvPr/>
                          </p:nvGrpSpPr>
                          <p:grpSpPr bwMode="auto">
                            <a:xfrm>
                              <a:off x="5223" y="2358"/>
                              <a:ext cx="18" cy="5"/>
                              <a:chOff x="5223" y="2358"/>
                              <a:chExt cx="18" cy="5"/>
                            </a:xfrm>
                          </p:grpSpPr>
                          <p:sp>
                            <p:nvSpPr>
                              <p:cNvPr id="356" name="Freeform 310"/>
                              <p:cNvSpPr/>
                              <p:nvPr/>
                            </p:nvSpPr>
                            <p:spPr bwMode="auto">
                              <a:xfrm>
                                <a:off x="5225" y="2360"/>
                                <a:ext cx="12" cy="3"/>
                              </a:xfrm>
                              <a:custGeom>
                                <a:avLst/>
                                <a:gdLst>
                                  <a:gd name="T0" fmla="*/ 0 w 77"/>
                                  <a:gd name="T1" fmla="*/ 1 h 17"/>
                                  <a:gd name="T2" fmla="*/ 7 w 77"/>
                                  <a:gd name="T3" fmla="*/ 10 h 17"/>
                                  <a:gd name="T4" fmla="*/ 14 w 77"/>
                                  <a:gd name="T5" fmla="*/ 15 h 17"/>
                                  <a:gd name="T6" fmla="*/ 25 w 77"/>
                                  <a:gd name="T7" fmla="*/ 17 h 17"/>
                                  <a:gd name="T8" fmla="*/ 36 w 77"/>
                                  <a:gd name="T9" fmla="*/ 17 h 17"/>
                                  <a:gd name="T10" fmla="*/ 44 w 77"/>
                                  <a:gd name="T11" fmla="*/ 17 h 17"/>
                                  <a:gd name="T12" fmla="*/ 63 w 77"/>
                                  <a:gd name="T13" fmla="*/ 13 h 17"/>
                                  <a:gd name="T14" fmla="*/ 77 w 77"/>
                                  <a:gd name="T15" fmla="*/ 7 h 17"/>
                                  <a:gd name="T16" fmla="*/ 45 w 77"/>
                                  <a:gd name="T17" fmla="*/ 0 h 17"/>
                                  <a:gd name="T18" fmla="*/ 0 w 77"/>
                                  <a:gd name="T19" fmla="*/ 1 h 17"/>
                                </a:gdLst>
                                <a:ahLst/>
                                <a:cxnLst>
                                  <a:cxn ang="0">
                                    <a:pos x="T0" y="T1"/>
                                  </a:cxn>
                                  <a:cxn ang="0">
                                    <a:pos x="T2" y="T3"/>
                                  </a:cxn>
                                  <a:cxn ang="0">
                                    <a:pos x="T4" y="T5"/>
                                  </a:cxn>
                                  <a:cxn ang="0">
                                    <a:pos x="T6" y="T7"/>
                                  </a:cxn>
                                  <a:cxn ang="0">
                                    <a:pos x="T8" y="T9"/>
                                  </a:cxn>
                                  <a:cxn ang="0">
                                    <a:pos x="T10" y="T11"/>
                                  </a:cxn>
                                  <a:cxn ang="0">
                                    <a:pos x="T12" y="T13"/>
                                  </a:cxn>
                                  <a:cxn ang="0">
                                    <a:pos x="T14" y="T15"/>
                                  </a:cxn>
                                  <a:cxn ang="0">
                                    <a:pos x="T16" y="T17"/>
                                  </a:cxn>
                                  <a:cxn ang="0">
                                    <a:pos x="T18" y="T19"/>
                                  </a:cxn>
                                </a:cxnLst>
                                <a:rect l="0" t="0" r="r" b="b"/>
                                <a:pathLst>
                                  <a:path w="77" h="17">
                                    <a:moveTo>
                                      <a:pt x="0" y="1"/>
                                    </a:moveTo>
                                    <a:lnTo>
                                      <a:pt x="7" y="10"/>
                                    </a:lnTo>
                                    <a:lnTo>
                                      <a:pt x="14" y="15"/>
                                    </a:lnTo>
                                    <a:lnTo>
                                      <a:pt x="25" y="17"/>
                                    </a:lnTo>
                                    <a:lnTo>
                                      <a:pt x="36" y="17"/>
                                    </a:lnTo>
                                    <a:lnTo>
                                      <a:pt x="44" y="17"/>
                                    </a:lnTo>
                                    <a:lnTo>
                                      <a:pt x="63" y="13"/>
                                    </a:lnTo>
                                    <a:lnTo>
                                      <a:pt x="77" y="7"/>
                                    </a:lnTo>
                                    <a:lnTo>
                                      <a:pt x="45" y="0"/>
                                    </a:lnTo>
                                    <a:lnTo>
                                      <a:pt x="0" y="1"/>
                                    </a:lnTo>
                                    <a:close/>
                                  </a:path>
                                </a:pathLst>
                              </a:custGeom>
                              <a:solidFill>
                                <a:srgbClr val="FFFFFF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rou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zh-CN" altLang="en-US" sz="3655"/>
                              </a:p>
                            </p:txBody>
                          </p:sp>
                          <p:sp>
                            <p:nvSpPr>
                              <p:cNvPr id="357" name="Freeform 311"/>
                              <p:cNvSpPr/>
                              <p:nvPr/>
                            </p:nvSpPr>
                            <p:spPr bwMode="auto">
                              <a:xfrm>
                                <a:off x="5223" y="2358"/>
                                <a:ext cx="18" cy="5"/>
                              </a:xfrm>
                              <a:custGeom>
                                <a:avLst/>
                                <a:gdLst>
                                  <a:gd name="T0" fmla="*/ 10 w 107"/>
                                  <a:gd name="T1" fmla="*/ 24 h 24"/>
                                  <a:gd name="T2" fmla="*/ 4 w 107"/>
                                  <a:gd name="T3" fmla="*/ 16 h 24"/>
                                  <a:gd name="T4" fmla="*/ 1 w 107"/>
                                  <a:gd name="T5" fmla="*/ 11 h 24"/>
                                  <a:gd name="T6" fmla="*/ 0 w 107"/>
                                  <a:gd name="T7" fmla="*/ 5 h 24"/>
                                  <a:gd name="T8" fmla="*/ 4 w 107"/>
                                  <a:gd name="T9" fmla="*/ 1 h 24"/>
                                  <a:gd name="T10" fmla="*/ 13 w 107"/>
                                  <a:gd name="T11" fmla="*/ 0 h 24"/>
                                  <a:gd name="T12" fmla="*/ 25 w 107"/>
                                  <a:gd name="T13" fmla="*/ 7 h 24"/>
                                  <a:gd name="T14" fmla="*/ 36 w 107"/>
                                  <a:gd name="T15" fmla="*/ 0 h 24"/>
                                  <a:gd name="T16" fmla="*/ 47 w 107"/>
                                  <a:gd name="T17" fmla="*/ 3 h 24"/>
                                  <a:gd name="T18" fmla="*/ 61 w 107"/>
                                  <a:gd name="T19" fmla="*/ 7 h 24"/>
                                  <a:gd name="T20" fmla="*/ 75 w 107"/>
                                  <a:gd name="T21" fmla="*/ 8 h 24"/>
                                  <a:gd name="T22" fmla="*/ 107 w 107"/>
                                  <a:gd name="T23" fmla="*/ 11 h 24"/>
                                  <a:gd name="T24" fmla="*/ 98 w 107"/>
                                  <a:gd name="T25" fmla="*/ 16 h 24"/>
                                  <a:gd name="T26" fmla="*/ 88 w 107"/>
                                  <a:gd name="T27" fmla="*/ 21 h 24"/>
                                  <a:gd name="T28" fmla="*/ 77 w 107"/>
                                  <a:gd name="T29" fmla="*/ 21 h 24"/>
                                  <a:gd name="T30" fmla="*/ 68 w 107"/>
                                  <a:gd name="T31" fmla="*/ 22 h 24"/>
                                  <a:gd name="T32" fmla="*/ 55 w 107"/>
                                  <a:gd name="T33" fmla="*/ 19 h 24"/>
                                  <a:gd name="T34" fmla="*/ 41 w 107"/>
                                  <a:gd name="T35" fmla="*/ 16 h 24"/>
                                  <a:gd name="T36" fmla="*/ 33 w 107"/>
                                  <a:gd name="T37" fmla="*/ 21 h 24"/>
                                  <a:gd name="T38" fmla="*/ 22 w 107"/>
                                  <a:gd name="T39" fmla="*/ 16 h 24"/>
                                  <a:gd name="T40" fmla="*/ 12 w 107"/>
                                  <a:gd name="T41" fmla="*/ 13 h 24"/>
                                  <a:gd name="T42" fmla="*/ 10 w 107"/>
                                  <a:gd name="T43" fmla="*/ 24 h 24"/>
                                </a:gdLst>
                                <a:ahLst/>
                                <a:cxnLst>
                                  <a:cxn ang="0">
                                    <a:pos x="T0" y="T1"/>
                                  </a:cxn>
                                  <a:cxn ang="0">
                                    <a:pos x="T2" y="T3"/>
                                  </a:cxn>
                                  <a:cxn ang="0">
                                    <a:pos x="T4" y="T5"/>
                                  </a:cxn>
                                  <a:cxn ang="0">
                                    <a:pos x="T6" y="T7"/>
                                  </a:cxn>
                                  <a:cxn ang="0">
                                    <a:pos x="T8" y="T9"/>
                                  </a:cxn>
                                  <a:cxn ang="0">
                                    <a:pos x="T10" y="T11"/>
                                  </a:cxn>
                                  <a:cxn ang="0">
                                    <a:pos x="T12" y="T13"/>
                                  </a:cxn>
                                  <a:cxn ang="0">
                                    <a:pos x="T14" y="T15"/>
                                  </a:cxn>
                                  <a:cxn ang="0">
                                    <a:pos x="T16" y="T17"/>
                                  </a:cxn>
                                  <a:cxn ang="0">
                                    <a:pos x="T18" y="T19"/>
                                  </a:cxn>
                                  <a:cxn ang="0">
                                    <a:pos x="T20" y="T21"/>
                                  </a:cxn>
                                  <a:cxn ang="0">
                                    <a:pos x="T22" y="T23"/>
                                  </a:cxn>
                                  <a:cxn ang="0">
                                    <a:pos x="T24" y="T25"/>
                                  </a:cxn>
                                  <a:cxn ang="0">
                                    <a:pos x="T26" y="T27"/>
                                  </a:cxn>
                                  <a:cxn ang="0">
                                    <a:pos x="T28" y="T29"/>
                                  </a:cxn>
                                  <a:cxn ang="0">
                                    <a:pos x="T30" y="T31"/>
                                  </a:cxn>
                                  <a:cxn ang="0">
                                    <a:pos x="T32" y="T33"/>
                                  </a:cxn>
                                  <a:cxn ang="0">
                                    <a:pos x="T34" y="T35"/>
                                  </a:cxn>
                                  <a:cxn ang="0">
                                    <a:pos x="T36" y="T37"/>
                                  </a:cxn>
                                  <a:cxn ang="0">
                                    <a:pos x="T38" y="T39"/>
                                  </a:cxn>
                                  <a:cxn ang="0">
                                    <a:pos x="T40" y="T41"/>
                                  </a:cxn>
                                  <a:cxn ang="0">
                                    <a:pos x="T42" y="T43"/>
                                  </a:cxn>
                                </a:cxnLst>
                                <a:rect l="0" t="0" r="r" b="b"/>
                                <a:pathLst>
                                  <a:path w="107" h="24">
                                    <a:moveTo>
                                      <a:pt x="10" y="24"/>
                                    </a:moveTo>
                                    <a:lnTo>
                                      <a:pt x="4" y="16"/>
                                    </a:lnTo>
                                    <a:lnTo>
                                      <a:pt x="1" y="11"/>
                                    </a:lnTo>
                                    <a:lnTo>
                                      <a:pt x="0" y="5"/>
                                    </a:lnTo>
                                    <a:lnTo>
                                      <a:pt x="4" y="1"/>
                                    </a:lnTo>
                                    <a:lnTo>
                                      <a:pt x="13" y="0"/>
                                    </a:lnTo>
                                    <a:lnTo>
                                      <a:pt x="25" y="7"/>
                                    </a:lnTo>
                                    <a:lnTo>
                                      <a:pt x="36" y="0"/>
                                    </a:lnTo>
                                    <a:lnTo>
                                      <a:pt x="47" y="3"/>
                                    </a:lnTo>
                                    <a:lnTo>
                                      <a:pt x="61" y="7"/>
                                    </a:lnTo>
                                    <a:lnTo>
                                      <a:pt x="75" y="8"/>
                                    </a:lnTo>
                                    <a:lnTo>
                                      <a:pt x="107" y="11"/>
                                    </a:lnTo>
                                    <a:lnTo>
                                      <a:pt x="98" y="16"/>
                                    </a:lnTo>
                                    <a:lnTo>
                                      <a:pt x="88" y="21"/>
                                    </a:lnTo>
                                    <a:lnTo>
                                      <a:pt x="77" y="21"/>
                                    </a:lnTo>
                                    <a:lnTo>
                                      <a:pt x="68" y="22"/>
                                    </a:lnTo>
                                    <a:lnTo>
                                      <a:pt x="55" y="19"/>
                                    </a:lnTo>
                                    <a:lnTo>
                                      <a:pt x="41" y="16"/>
                                    </a:lnTo>
                                    <a:lnTo>
                                      <a:pt x="33" y="21"/>
                                    </a:lnTo>
                                    <a:lnTo>
                                      <a:pt x="22" y="16"/>
                                    </a:lnTo>
                                    <a:lnTo>
                                      <a:pt x="12" y="13"/>
                                    </a:lnTo>
                                    <a:lnTo>
                                      <a:pt x="10" y="24"/>
                                    </a:lnTo>
                                    <a:close/>
                                  </a:path>
                                </a:pathLst>
                              </a:custGeom>
                              <a:solidFill>
                                <a:srgbClr val="FF001F"/>
                              </a:solidFill>
                              <a:ln>
                                <a:noFill/>
                              </a:ln>
                              <a:extLs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round/>
                                  </a14:hiddenLine>
                                </a:ext>
                              </a:extLst>
                            </p:spPr>
                            <p:txBody>
                              <a:bodyPr/>
                              <a:lstStyle/>
                              <a:p>
                                <a:endParaRPr lang="zh-CN" altLang="en-US" sz="3655"/>
                              </a:p>
                            </p:txBody>
                          </p:sp>
                        </p:grpSp>
                        <p:sp>
                          <p:nvSpPr>
                            <p:cNvPr id="355" name="Freeform 312"/>
                            <p:cNvSpPr/>
                            <p:nvPr/>
                          </p:nvSpPr>
                          <p:spPr bwMode="auto">
                            <a:xfrm>
                              <a:off x="5225" y="2360"/>
                              <a:ext cx="16" cy="9"/>
                            </a:xfrm>
                            <a:custGeom>
                              <a:avLst/>
                              <a:gdLst>
                                <a:gd name="T0" fmla="*/ 0 w 96"/>
                                <a:gd name="T1" fmla="*/ 14 h 49"/>
                                <a:gd name="T2" fmla="*/ 6 w 96"/>
                                <a:gd name="T3" fmla="*/ 18 h 49"/>
                                <a:gd name="T4" fmla="*/ 14 w 96"/>
                                <a:gd name="T5" fmla="*/ 22 h 49"/>
                                <a:gd name="T6" fmla="*/ 22 w 96"/>
                                <a:gd name="T7" fmla="*/ 23 h 49"/>
                                <a:gd name="T8" fmla="*/ 34 w 96"/>
                                <a:gd name="T9" fmla="*/ 23 h 49"/>
                                <a:gd name="T10" fmla="*/ 46 w 96"/>
                                <a:gd name="T11" fmla="*/ 22 h 49"/>
                                <a:gd name="T12" fmla="*/ 57 w 96"/>
                                <a:gd name="T13" fmla="*/ 19 h 49"/>
                                <a:gd name="T14" fmla="*/ 67 w 96"/>
                                <a:gd name="T15" fmla="*/ 17 h 49"/>
                                <a:gd name="T16" fmla="*/ 76 w 96"/>
                                <a:gd name="T17" fmla="*/ 14 h 49"/>
                                <a:gd name="T18" fmla="*/ 82 w 96"/>
                                <a:gd name="T19" fmla="*/ 8 h 49"/>
                                <a:gd name="T20" fmla="*/ 88 w 96"/>
                                <a:gd name="T21" fmla="*/ 5 h 49"/>
                                <a:gd name="T22" fmla="*/ 96 w 96"/>
                                <a:gd name="T23" fmla="*/ 0 h 49"/>
                                <a:gd name="T24" fmla="*/ 77 w 96"/>
                                <a:gd name="T25" fmla="*/ 18 h 49"/>
                                <a:gd name="T26" fmla="*/ 67 w 96"/>
                                <a:gd name="T27" fmla="*/ 26 h 49"/>
                                <a:gd name="T28" fmla="*/ 57 w 96"/>
                                <a:gd name="T29" fmla="*/ 34 h 49"/>
                                <a:gd name="T30" fmla="*/ 47 w 96"/>
                                <a:gd name="T31" fmla="*/ 43 h 49"/>
                                <a:gd name="T32" fmla="*/ 32 w 96"/>
                                <a:gd name="T33" fmla="*/ 49 h 49"/>
                                <a:gd name="T34" fmla="*/ 18 w 96"/>
                                <a:gd name="T35" fmla="*/ 49 h 49"/>
                                <a:gd name="T36" fmla="*/ 7 w 96"/>
                                <a:gd name="T37" fmla="*/ 44 h 49"/>
                                <a:gd name="T38" fmla="*/ 2 w 96"/>
                                <a:gd name="T39" fmla="*/ 34 h 49"/>
                                <a:gd name="T40" fmla="*/ 0 w 96"/>
                                <a:gd name="T41" fmla="*/ 14 h 49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  <a:cxn ang="0">
                                  <a:pos x="T10" y="T11"/>
                                </a:cxn>
                                <a:cxn ang="0">
                                  <a:pos x="T12" y="T13"/>
                                </a:cxn>
                                <a:cxn ang="0">
                                  <a:pos x="T14" y="T15"/>
                                </a:cxn>
                                <a:cxn ang="0">
                                  <a:pos x="T16" y="T17"/>
                                </a:cxn>
                                <a:cxn ang="0">
                                  <a:pos x="T18" y="T19"/>
                                </a:cxn>
                                <a:cxn ang="0">
                                  <a:pos x="T20" y="T21"/>
                                </a:cxn>
                                <a:cxn ang="0">
                                  <a:pos x="T22" y="T23"/>
                                </a:cxn>
                                <a:cxn ang="0">
                                  <a:pos x="T24" y="T25"/>
                                </a:cxn>
                                <a:cxn ang="0">
                                  <a:pos x="T26" y="T27"/>
                                </a:cxn>
                                <a:cxn ang="0">
                                  <a:pos x="T28" y="T29"/>
                                </a:cxn>
                                <a:cxn ang="0">
                                  <a:pos x="T30" y="T31"/>
                                </a:cxn>
                                <a:cxn ang="0">
                                  <a:pos x="T32" y="T33"/>
                                </a:cxn>
                                <a:cxn ang="0">
                                  <a:pos x="T34" y="T35"/>
                                </a:cxn>
                                <a:cxn ang="0">
                                  <a:pos x="T36" y="T37"/>
                                </a:cxn>
                                <a:cxn ang="0">
                                  <a:pos x="T38" y="T39"/>
                                </a:cxn>
                                <a:cxn ang="0">
                                  <a:pos x="T40" y="T41"/>
                                </a:cxn>
                              </a:cxnLst>
                              <a:rect l="0" t="0" r="r" b="b"/>
                              <a:pathLst>
                                <a:path w="96" h="49">
                                  <a:moveTo>
                                    <a:pt x="0" y="14"/>
                                  </a:moveTo>
                                  <a:lnTo>
                                    <a:pt x="6" y="18"/>
                                  </a:lnTo>
                                  <a:lnTo>
                                    <a:pt x="14" y="22"/>
                                  </a:lnTo>
                                  <a:lnTo>
                                    <a:pt x="22" y="23"/>
                                  </a:lnTo>
                                  <a:lnTo>
                                    <a:pt x="34" y="23"/>
                                  </a:lnTo>
                                  <a:lnTo>
                                    <a:pt x="46" y="22"/>
                                  </a:lnTo>
                                  <a:lnTo>
                                    <a:pt x="57" y="19"/>
                                  </a:lnTo>
                                  <a:lnTo>
                                    <a:pt x="67" y="17"/>
                                  </a:lnTo>
                                  <a:lnTo>
                                    <a:pt x="76" y="14"/>
                                  </a:lnTo>
                                  <a:lnTo>
                                    <a:pt x="82" y="8"/>
                                  </a:lnTo>
                                  <a:lnTo>
                                    <a:pt x="88" y="5"/>
                                  </a:lnTo>
                                  <a:lnTo>
                                    <a:pt x="96" y="0"/>
                                  </a:lnTo>
                                  <a:lnTo>
                                    <a:pt x="77" y="18"/>
                                  </a:lnTo>
                                  <a:lnTo>
                                    <a:pt x="67" y="26"/>
                                  </a:lnTo>
                                  <a:lnTo>
                                    <a:pt x="57" y="34"/>
                                  </a:lnTo>
                                  <a:lnTo>
                                    <a:pt x="47" y="43"/>
                                  </a:lnTo>
                                  <a:lnTo>
                                    <a:pt x="32" y="49"/>
                                  </a:lnTo>
                                  <a:lnTo>
                                    <a:pt x="18" y="49"/>
                                  </a:lnTo>
                                  <a:lnTo>
                                    <a:pt x="7" y="44"/>
                                  </a:lnTo>
                                  <a:lnTo>
                                    <a:pt x="2" y="34"/>
                                  </a:lnTo>
                                  <a:lnTo>
                                    <a:pt x="0" y="14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001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 sz="3655"/>
                            </a:p>
                          </p:txBody>
                        </p:sp>
                      </p:grpSp>
                      <p:sp>
                        <p:nvSpPr>
                          <p:cNvPr id="353" name="Freeform 313"/>
                          <p:cNvSpPr/>
                          <p:nvPr/>
                        </p:nvSpPr>
                        <p:spPr bwMode="auto">
                          <a:xfrm>
                            <a:off x="5226" y="2363"/>
                            <a:ext cx="10" cy="5"/>
                          </a:xfrm>
                          <a:custGeom>
                            <a:avLst/>
                            <a:gdLst>
                              <a:gd name="T0" fmla="*/ 0 w 62"/>
                              <a:gd name="T1" fmla="*/ 0 h 23"/>
                              <a:gd name="T2" fmla="*/ 9 w 62"/>
                              <a:gd name="T3" fmla="*/ 7 h 23"/>
                              <a:gd name="T4" fmla="*/ 21 w 62"/>
                              <a:gd name="T5" fmla="*/ 8 h 23"/>
                              <a:gd name="T6" fmla="*/ 34 w 62"/>
                              <a:gd name="T7" fmla="*/ 8 h 23"/>
                              <a:gd name="T8" fmla="*/ 52 w 62"/>
                              <a:gd name="T9" fmla="*/ 5 h 23"/>
                              <a:gd name="T10" fmla="*/ 62 w 62"/>
                              <a:gd name="T11" fmla="*/ 0 h 23"/>
                              <a:gd name="T12" fmla="*/ 48 w 62"/>
                              <a:gd name="T13" fmla="*/ 13 h 23"/>
                              <a:gd name="T14" fmla="*/ 38 w 62"/>
                              <a:gd name="T15" fmla="*/ 21 h 23"/>
                              <a:gd name="T16" fmla="*/ 28 w 62"/>
                              <a:gd name="T17" fmla="*/ 23 h 23"/>
                              <a:gd name="T18" fmla="*/ 15 w 62"/>
                              <a:gd name="T19" fmla="*/ 23 h 23"/>
                              <a:gd name="T20" fmla="*/ 6 w 62"/>
                              <a:gd name="T21" fmla="*/ 20 h 23"/>
                              <a:gd name="T22" fmla="*/ 1 w 62"/>
                              <a:gd name="T23" fmla="*/ 13 h 23"/>
                              <a:gd name="T24" fmla="*/ 0 w 62"/>
                              <a:gd name="T25" fmla="*/ 0 h 23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  <a:cxn ang="0">
                                <a:pos x="T24" y="T25"/>
                              </a:cxn>
                            </a:cxnLst>
                            <a:rect l="0" t="0" r="r" b="b"/>
                            <a:pathLst>
                              <a:path w="62" h="23">
                                <a:moveTo>
                                  <a:pt x="0" y="0"/>
                                </a:moveTo>
                                <a:lnTo>
                                  <a:pt x="9" y="7"/>
                                </a:lnTo>
                                <a:lnTo>
                                  <a:pt x="21" y="8"/>
                                </a:lnTo>
                                <a:lnTo>
                                  <a:pt x="34" y="8"/>
                                </a:lnTo>
                                <a:lnTo>
                                  <a:pt x="52" y="5"/>
                                </a:lnTo>
                                <a:lnTo>
                                  <a:pt x="62" y="0"/>
                                </a:lnTo>
                                <a:lnTo>
                                  <a:pt x="48" y="13"/>
                                </a:lnTo>
                                <a:lnTo>
                                  <a:pt x="38" y="21"/>
                                </a:lnTo>
                                <a:lnTo>
                                  <a:pt x="28" y="23"/>
                                </a:lnTo>
                                <a:lnTo>
                                  <a:pt x="15" y="23"/>
                                </a:lnTo>
                                <a:lnTo>
                                  <a:pt x="6" y="20"/>
                                </a:lnTo>
                                <a:lnTo>
                                  <a:pt x="1" y="13"/>
                                </a:lnTo>
                                <a:lnTo>
                                  <a:pt x="0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FF1F3F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round/>
                              </a14:hiddenLine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3655"/>
                          </a:p>
                        </p:txBody>
                      </p:sp>
                    </p:grpSp>
                    <p:sp>
                      <p:nvSpPr>
                        <p:cNvPr id="350" name="Oval 3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5227" y="2365"/>
                          <a:ext cx="2" cy="1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</p:grpSp>
                </p:grpSp>
                <p:grpSp>
                  <p:nvGrpSpPr>
                    <p:cNvPr id="343" name="Group 315"/>
                    <p:cNvGrpSpPr/>
                    <p:nvPr/>
                  </p:nvGrpSpPr>
                  <p:grpSpPr bwMode="auto">
                    <a:xfrm>
                      <a:off x="5261" y="2339"/>
                      <a:ext cx="12" cy="20"/>
                      <a:chOff x="5261" y="2339"/>
                      <a:chExt cx="12" cy="20"/>
                    </a:xfrm>
                  </p:grpSpPr>
                  <p:sp>
                    <p:nvSpPr>
                      <p:cNvPr id="344" name="Freeform 316"/>
                      <p:cNvSpPr/>
                      <p:nvPr/>
                    </p:nvSpPr>
                    <p:spPr bwMode="auto">
                      <a:xfrm>
                        <a:off x="5261" y="2339"/>
                        <a:ext cx="12" cy="20"/>
                      </a:xfrm>
                      <a:custGeom>
                        <a:avLst/>
                        <a:gdLst>
                          <a:gd name="T0" fmla="*/ 45 w 70"/>
                          <a:gd name="T1" fmla="*/ 0 h 98"/>
                          <a:gd name="T2" fmla="*/ 67 w 70"/>
                          <a:gd name="T3" fmla="*/ 8 h 98"/>
                          <a:gd name="T4" fmla="*/ 70 w 70"/>
                          <a:gd name="T5" fmla="*/ 11 h 98"/>
                          <a:gd name="T6" fmla="*/ 69 w 70"/>
                          <a:gd name="T7" fmla="*/ 50 h 98"/>
                          <a:gd name="T8" fmla="*/ 64 w 70"/>
                          <a:gd name="T9" fmla="*/ 71 h 98"/>
                          <a:gd name="T10" fmla="*/ 57 w 70"/>
                          <a:gd name="T11" fmla="*/ 88 h 98"/>
                          <a:gd name="T12" fmla="*/ 48 w 70"/>
                          <a:gd name="T13" fmla="*/ 95 h 98"/>
                          <a:gd name="T14" fmla="*/ 36 w 70"/>
                          <a:gd name="T15" fmla="*/ 98 h 98"/>
                          <a:gd name="T16" fmla="*/ 12 w 70"/>
                          <a:gd name="T17" fmla="*/ 90 h 98"/>
                          <a:gd name="T18" fmla="*/ 2 w 70"/>
                          <a:gd name="T19" fmla="*/ 80 h 98"/>
                          <a:gd name="T20" fmla="*/ 0 w 70"/>
                          <a:gd name="T21" fmla="*/ 72 h 98"/>
                          <a:gd name="T22" fmla="*/ 0 w 70"/>
                          <a:gd name="T23" fmla="*/ 67 h 98"/>
                          <a:gd name="T24" fmla="*/ 15 w 70"/>
                          <a:gd name="T25" fmla="*/ 37 h 98"/>
                          <a:gd name="T26" fmla="*/ 24 w 70"/>
                          <a:gd name="T27" fmla="*/ 11 h 98"/>
                          <a:gd name="T28" fmla="*/ 26 w 70"/>
                          <a:gd name="T29" fmla="*/ 4 h 98"/>
                          <a:gd name="T30" fmla="*/ 32 w 70"/>
                          <a:gd name="T31" fmla="*/ 0 h 98"/>
                          <a:gd name="T32" fmla="*/ 45 w 70"/>
                          <a:gd name="T33" fmla="*/ 0 h 98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</a:cxnLst>
                        <a:rect l="0" t="0" r="r" b="b"/>
                        <a:pathLst>
                          <a:path w="70" h="98">
                            <a:moveTo>
                              <a:pt x="45" y="0"/>
                            </a:moveTo>
                            <a:lnTo>
                              <a:pt x="67" y="8"/>
                            </a:lnTo>
                            <a:lnTo>
                              <a:pt x="70" y="11"/>
                            </a:lnTo>
                            <a:lnTo>
                              <a:pt x="69" y="50"/>
                            </a:lnTo>
                            <a:lnTo>
                              <a:pt x="64" y="71"/>
                            </a:lnTo>
                            <a:lnTo>
                              <a:pt x="57" y="88"/>
                            </a:lnTo>
                            <a:lnTo>
                              <a:pt x="48" y="95"/>
                            </a:lnTo>
                            <a:lnTo>
                              <a:pt x="36" y="98"/>
                            </a:lnTo>
                            <a:lnTo>
                              <a:pt x="12" y="90"/>
                            </a:lnTo>
                            <a:lnTo>
                              <a:pt x="2" y="80"/>
                            </a:lnTo>
                            <a:lnTo>
                              <a:pt x="0" y="72"/>
                            </a:lnTo>
                            <a:lnTo>
                              <a:pt x="0" y="67"/>
                            </a:lnTo>
                            <a:lnTo>
                              <a:pt x="15" y="37"/>
                            </a:lnTo>
                            <a:lnTo>
                              <a:pt x="24" y="11"/>
                            </a:lnTo>
                            <a:lnTo>
                              <a:pt x="26" y="4"/>
                            </a:lnTo>
                            <a:lnTo>
                              <a:pt x="32" y="0"/>
                            </a:lnTo>
                            <a:lnTo>
                              <a:pt x="45" y="0"/>
                            </a:lnTo>
                            <a:close/>
                          </a:path>
                        </a:pathLst>
                      </a:custGeom>
                      <a:solidFill>
                        <a:srgbClr val="FFBF1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345" name="Freeform 317"/>
                      <p:cNvSpPr/>
                      <p:nvPr/>
                    </p:nvSpPr>
                    <p:spPr bwMode="auto">
                      <a:xfrm>
                        <a:off x="5263" y="2339"/>
                        <a:ext cx="9" cy="19"/>
                      </a:xfrm>
                      <a:custGeom>
                        <a:avLst/>
                        <a:gdLst>
                          <a:gd name="T0" fmla="*/ 48 w 50"/>
                          <a:gd name="T1" fmla="*/ 5 h 94"/>
                          <a:gd name="T2" fmla="*/ 50 w 50"/>
                          <a:gd name="T3" fmla="*/ 12 h 94"/>
                          <a:gd name="T4" fmla="*/ 49 w 50"/>
                          <a:gd name="T5" fmla="*/ 35 h 94"/>
                          <a:gd name="T6" fmla="*/ 43 w 50"/>
                          <a:gd name="T7" fmla="*/ 57 h 94"/>
                          <a:gd name="T8" fmla="*/ 35 w 50"/>
                          <a:gd name="T9" fmla="*/ 74 h 94"/>
                          <a:gd name="T10" fmla="*/ 25 w 50"/>
                          <a:gd name="T11" fmla="*/ 87 h 94"/>
                          <a:gd name="T12" fmla="*/ 15 w 50"/>
                          <a:gd name="T13" fmla="*/ 94 h 94"/>
                          <a:gd name="T14" fmla="*/ 0 w 50"/>
                          <a:gd name="T15" fmla="*/ 90 h 94"/>
                          <a:gd name="T16" fmla="*/ 9 w 50"/>
                          <a:gd name="T17" fmla="*/ 77 h 94"/>
                          <a:gd name="T18" fmla="*/ 15 w 50"/>
                          <a:gd name="T19" fmla="*/ 66 h 94"/>
                          <a:gd name="T20" fmla="*/ 20 w 50"/>
                          <a:gd name="T21" fmla="*/ 52 h 94"/>
                          <a:gd name="T22" fmla="*/ 24 w 50"/>
                          <a:gd name="T23" fmla="*/ 38 h 94"/>
                          <a:gd name="T24" fmla="*/ 26 w 50"/>
                          <a:gd name="T25" fmla="*/ 29 h 94"/>
                          <a:gd name="T26" fmla="*/ 27 w 50"/>
                          <a:gd name="T27" fmla="*/ 17 h 94"/>
                          <a:gd name="T28" fmla="*/ 27 w 50"/>
                          <a:gd name="T29" fmla="*/ 0 h 94"/>
                          <a:gd name="T30" fmla="*/ 48 w 50"/>
                          <a:gd name="T31" fmla="*/ 5 h 9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</a:cxnLst>
                        <a:rect l="0" t="0" r="r" b="b"/>
                        <a:pathLst>
                          <a:path w="50" h="94">
                            <a:moveTo>
                              <a:pt x="48" y="5"/>
                            </a:moveTo>
                            <a:lnTo>
                              <a:pt x="50" y="12"/>
                            </a:lnTo>
                            <a:lnTo>
                              <a:pt x="49" y="35"/>
                            </a:lnTo>
                            <a:lnTo>
                              <a:pt x="43" y="57"/>
                            </a:lnTo>
                            <a:lnTo>
                              <a:pt x="35" y="74"/>
                            </a:lnTo>
                            <a:lnTo>
                              <a:pt x="25" y="87"/>
                            </a:lnTo>
                            <a:lnTo>
                              <a:pt x="15" y="94"/>
                            </a:lnTo>
                            <a:lnTo>
                              <a:pt x="0" y="90"/>
                            </a:lnTo>
                            <a:lnTo>
                              <a:pt x="9" y="77"/>
                            </a:lnTo>
                            <a:lnTo>
                              <a:pt x="15" y="66"/>
                            </a:lnTo>
                            <a:lnTo>
                              <a:pt x="20" y="52"/>
                            </a:lnTo>
                            <a:lnTo>
                              <a:pt x="24" y="38"/>
                            </a:lnTo>
                            <a:lnTo>
                              <a:pt x="26" y="29"/>
                            </a:lnTo>
                            <a:lnTo>
                              <a:pt x="27" y="17"/>
                            </a:lnTo>
                            <a:lnTo>
                              <a:pt x="27" y="0"/>
                            </a:lnTo>
                            <a:lnTo>
                              <a:pt x="48" y="5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</p:grpSp>
              <p:sp>
                <p:nvSpPr>
                  <p:cNvPr id="320" name="Freeform 318"/>
                  <p:cNvSpPr/>
                  <p:nvPr/>
                </p:nvSpPr>
                <p:spPr bwMode="auto">
                  <a:xfrm>
                    <a:off x="5150" y="2439"/>
                    <a:ext cx="44" cy="55"/>
                  </a:xfrm>
                  <a:custGeom>
                    <a:avLst/>
                    <a:gdLst>
                      <a:gd name="T0" fmla="*/ 249 w 264"/>
                      <a:gd name="T1" fmla="*/ 97 h 272"/>
                      <a:gd name="T2" fmla="*/ 202 w 264"/>
                      <a:gd name="T3" fmla="*/ 21 h 272"/>
                      <a:gd name="T4" fmla="*/ 166 w 264"/>
                      <a:gd name="T5" fmla="*/ 0 h 272"/>
                      <a:gd name="T6" fmla="*/ 233 w 264"/>
                      <a:gd name="T7" fmla="*/ 113 h 272"/>
                      <a:gd name="T8" fmla="*/ 249 w 264"/>
                      <a:gd name="T9" fmla="*/ 171 h 272"/>
                      <a:gd name="T10" fmla="*/ 61 w 264"/>
                      <a:gd name="T11" fmla="*/ 196 h 272"/>
                      <a:gd name="T12" fmla="*/ 239 w 264"/>
                      <a:gd name="T13" fmla="*/ 191 h 272"/>
                      <a:gd name="T14" fmla="*/ 0 w 264"/>
                      <a:gd name="T15" fmla="*/ 272 h 272"/>
                      <a:gd name="T16" fmla="*/ 264 w 264"/>
                      <a:gd name="T17" fmla="*/ 208 h 272"/>
                      <a:gd name="T18" fmla="*/ 249 w 264"/>
                      <a:gd name="T19" fmla="*/ 97 h 27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64" h="272">
                        <a:moveTo>
                          <a:pt x="249" y="97"/>
                        </a:moveTo>
                        <a:lnTo>
                          <a:pt x="202" y="21"/>
                        </a:lnTo>
                        <a:lnTo>
                          <a:pt x="166" y="0"/>
                        </a:lnTo>
                        <a:lnTo>
                          <a:pt x="233" y="113"/>
                        </a:lnTo>
                        <a:lnTo>
                          <a:pt x="249" y="171"/>
                        </a:lnTo>
                        <a:lnTo>
                          <a:pt x="61" y="196"/>
                        </a:lnTo>
                        <a:lnTo>
                          <a:pt x="239" y="191"/>
                        </a:lnTo>
                        <a:lnTo>
                          <a:pt x="0" y="272"/>
                        </a:lnTo>
                        <a:lnTo>
                          <a:pt x="264" y="208"/>
                        </a:lnTo>
                        <a:lnTo>
                          <a:pt x="249" y="97"/>
                        </a:lnTo>
                        <a:close/>
                      </a:path>
                    </a:pathLst>
                  </a:custGeom>
                  <a:solidFill>
                    <a:srgbClr val="10ADD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grpSp>
                <p:nvGrpSpPr>
                  <p:cNvPr id="321" name="Group 319"/>
                  <p:cNvGrpSpPr/>
                  <p:nvPr/>
                </p:nvGrpSpPr>
                <p:grpSpPr bwMode="auto">
                  <a:xfrm>
                    <a:off x="5085" y="2483"/>
                    <a:ext cx="63" cy="66"/>
                    <a:chOff x="5085" y="2483"/>
                    <a:chExt cx="63" cy="66"/>
                  </a:xfrm>
                </p:grpSpPr>
                <p:sp>
                  <p:nvSpPr>
                    <p:cNvPr id="337" name="Freeform 320"/>
                    <p:cNvSpPr/>
                    <p:nvPr/>
                  </p:nvSpPr>
                  <p:spPr bwMode="auto">
                    <a:xfrm>
                      <a:off x="5142" y="2483"/>
                      <a:ext cx="6" cy="23"/>
                    </a:xfrm>
                    <a:custGeom>
                      <a:avLst/>
                      <a:gdLst>
                        <a:gd name="T0" fmla="*/ 17 w 35"/>
                        <a:gd name="T1" fmla="*/ 15 h 114"/>
                        <a:gd name="T2" fmla="*/ 35 w 35"/>
                        <a:gd name="T3" fmla="*/ 59 h 114"/>
                        <a:gd name="T4" fmla="*/ 29 w 35"/>
                        <a:gd name="T5" fmla="*/ 92 h 114"/>
                        <a:gd name="T6" fmla="*/ 17 w 35"/>
                        <a:gd name="T7" fmla="*/ 114 h 114"/>
                        <a:gd name="T8" fmla="*/ 12 w 35"/>
                        <a:gd name="T9" fmla="*/ 114 h 114"/>
                        <a:gd name="T10" fmla="*/ 12 w 35"/>
                        <a:gd name="T11" fmla="*/ 53 h 114"/>
                        <a:gd name="T12" fmla="*/ 0 w 35"/>
                        <a:gd name="T13" fmla="*/ 38 h 114"/>
                        <a:gd name="T14" fmla="*/ 6 w 35"/>
                        <a:gd name="T15" fmla="*/ 26 h 114"/>
                        <a:gd name="T16" fmla="*/ 17 w 35"/>
                        <a:gd name="T17" fmla="*/ 0 h 114"/>
                        <a:gd name="T18" fmla="*/ 17 w 35"/>
                        <a:gd name="T19" fmla="*/ 15 h 11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</a:cxnLst>
                      <a:rect l="0" t="0" r="r" b="b"/>
                      <a:pathLst>
                        <a:path w="35" h="114">
                          <a:moveTo>
                            <a:pt x="17" y="15"/>
                          </a:moveTo>
                          <a:lnTo>
                            <a:pt x="35" y="59"/>
                          </a:lnTo>
                          <a:lnTo>
                            <a:pt x="29" y="92"/>
                          </a:lnTo>
                          <a:lnTo>
                            <a:pt x="17" y="114"/>
                          </a:lnTo>
                          <a:lnTo>
                            <a:pt x="12" y="114"/>
                          </a:lnTo>
                          <a:lnTo>
                            <a:pt x="12" y="53"/>
                          </a:lnTo>
                          <a:lnTo>
                            <a:pt x="0" y="38"/>
                          </a:lnTo>
                          <a:lnTo>
                            <a:pt x="6" y="26"/>
                          </a:lnTo>
                          <a:lnTo>
                            <a:pt x="17" y="0"/>
                          </a:lnTo>
                          <a:lnTo>
                            <a:pt x="17" y="15"/>
                          </a:lnTo>
                          <a:close/>
                        </a:path>
                      </a:pathLst>
                    </a:custGeom>
                    <a:solidFill>
                      <a:srgbClr val="10ADD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38" name="Freeform 321"/>
                    <p:cNvSpPr/>
                    <p:nvPr/>
                  </p:nvSpPr>
                  <p:spPr bwMode="auto">
                    <a:xfrm>
                      <a:off x="5085" y="2508"/>
                      <a:ext cx="25" cy="41"/>
                    </a:xfrm>
                    <a:custGeom>
                      <a:avLst/>
                      <a:gdLst>
                        <a:gd name="T0" fmla="*/ 36 w 147"/>
                        <a:gd name="T1" fmla="*/ 0 h 204"/>
                        <a:gd name="T2" fmla="*/ 89 w 147"/>
                        <a:gd name="T3" fmla="*/ 32 h 204"/>
                        <a:gd name="T4" fmla="*/ 121 w 147"/>
                        <a:gd name="T5" fmla="*/ 76 h 204"/>
                        <a:gd name="T6" fmla="*/ 137 w 147"/>
                        <a:gd name="T7" fmla="*/ 108 h 204"/>
                        <a:gd name="T8" fmla="*/ 141 w 147"/>
                        <a:gd name="T9" fmla="*/ 134 h 204"/>
                        <a:gd name="T10" fmla="*/ 147 w 147"/>
                        <a:gd name="T11" fmla="*/ 163 h 204"/>
                        <a:gd name="T12" fmla="*/ 147 w 147"/>
                        <a:gd name="T13" fmla="*/ 188 h 204"/>
                        <a:gd name="T14" fmla="*/ 94 w 147"/>
                        <a:gd name="T15" fmla="*/ 204 h 204"/>
                        <a:gd name="T16" fmla="*/ 84 w 147"/>
                        <a:gd name="T17" fmla="*/ 157 h 204"/>
                        <a:gd name="T18" fmla="*/ 79 w 147"/>
                        <a:gd name="T19" fmla="*/ 129 h 204"/>
                        <a:gd name="T20" fmla="*/ 53 w 147"/>
                        <a:gd name="T21" fmla="*/ 92 h 204"/>
                        <a:gd name="T22" fmla="*/ 36 w 147"/>
                        <a:gd name="T23" fmla="*/ 71 h 204"/>
                        <a:gd name="T24" fmla="*/ 21 w 147"/>
                        <a:gd name="T25" fmla="*/ 50 h 204"/>
                        <a:gd name="T26" fmla="*/ 0 w 147"/>
                        <a:gd name="T27" fmla="*/ 32 h 204"/>
                        <a:gd name="T28" fmla="*/ 36 w 147"/>
                        <a:gd name="T29" fmla="*/ 0 h 20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</a:cxnLst>
                      <a:rect l="0" t="0" r="r" b="b"/>
                      <a:pathLst>
                        <a:path w="147" h="204">
                          <a:moveTo>
                            <a:pt x="36" y="0"/>
                          </a:moveTo>
                          <a:lnTo>
                            <a:pt x="89" y="32"/>
                          </a:lnTo>
                          <a:lnTo>
                            <a:pt x="121" y="76"/>
                          </a:lnTo>
                          <a:lnTo>
                            <a:pt x="137" y="108"/>
                          </a:lnTo>
                          <a:lnTo>
                            <a:pt x="141" y="134"/>
                          </a:lnTo>
                          <a:lnTo>
                            <a:pt x="147" y="163"/>
                          </a:lnTo>
                          <a:lnTo>
                            <a:pt x="147" y="188"/>
                          </a:lnTo>
                          <a:lnTo>
                            <a:pt x="94" y="204"/>
                          </a:lnTo>
                          <a:lnTo>
                            <a:pt x="84" y="157"/>
                          </a:lnTo>
                          <a:lnTo>
                            <a:pt x="79" y="129"/>
                          </a:lnTo>
                          <a:lnTo>
                            <a:pt x="53" y="92"/>
                          </a:lnTo>
                          <a:lnTo>
                            <a:pt x="36" y="71"/>
                          </a:lnTo>
                          <a:lnTo>
                            <a:pt x="21" y="50"/>
                          </a:lnTo>
                          <a:lnTo>
                            <a:pt x="0" y="32"/>
                          </a:lnTo>
                          <a:lnTo>
                            <a:pt x="36" y="0"/>
                          </a:lnTo>
                          <a:close/>
                        </a:path>
                      </a:pathLst>
                    </a:custGeom>
                    <a:solidFill>
                      <a:srgbClr val="007F9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322" name="Group 322"/>
                  <p:cNvGrpSpPr/>
                  <p:nvPr/>
                </p:nvGrpSpPr>
                <p:grpSpPr bwMode="auto">
                  <a:xfrm>
                    <a:off x="5085" y="2397"/>
                    <a:ext cx="259" cy="316"/>
                    <a:chOff x="5085" y="2397"/>
                    <a:chExt cx="259" cy="316"/>
                  </a:xfrm>
                </p:grpSpPr>
                <p:sp>
                  <p:nvSpPr>
                    <p:cNvPr id="323" name="Freeform 323"/>
                    <p:cNvSpPr/>
                    <p:nvPr/>
                  </p:nvSpPr>
                  <p:spPr bwMode="auto">
                    <a:xfrm>
                      <a:off x="5256" y="2397"/>
                      <a:ext cx="88" cy="316"/>
                    </a:xfrm>
                    <a:custGeom>
                      <a:avLst/>
                      <a:gdLst>
                        <a:gd name="T0" fmla="*/ 78 w 527"/>
                        <a:gd name="T1" fmla="*/ 0 h 1580"/>
                        <a:gd name="T2" fmla="*/ 103 w 527"/>
                        <a:gd name="T3" fmla="*/ 16 h 1580"/>
                        <a:gd name="T4" fmla="*/ 132 w 527"/>
                        <a:gd name="T5" fmla="*/ 37 h 1580"/>
                        <a:gd name="T6" fmla="*/ 164 w 527"/>
                        <a:gd name="T7" fmla="*/ 58 h 1580"/>
                        <a:gd name="T8" fmla="*/ 211 w 527"/>
                        <a:gd name="T9" fmla="*/ 84 h 1580"/>
                        <a:gd name="T10" fmla="*/ 315 w 527"/>
                        <a:gd name="T11" fmla="*/ 151 h 1580"/>
                        <a:gd name="T12" fmla="*/ 360 w 527"/>
                        <a:gd name="T13" fmla="*/ 170 h 1580"/>
                        <a:gd name="T14" fmla="*/ 383 w 527"/>
                        <a:gd name="T15" fmla="*/ 180 h 1580"/>
                        <a:gd name="T16" fmla="*/ 406 w 527"/>
                        <a:gd name="T17" fmla="*/ 201 h 1580"/>
                        <a:gd name="T18" fmla="*/ 463 w 527"/>
                        <a:gd name="T19" fmla="*/ 463 h 1580"/>
                        <a:gd name="T20" fmla="*/ 471 w 527"/>
                        <a:gd name="T21" fmla="*/ 567 h 1580"/>
                        <a:gd name="T22" fmla="*/ 461 w 527"/>
                        <a:gd name="T23" fmla="*/ 596 h 1580"/>
                        <a:gd name="T24" fmla="*/ 486 w 527"/>
                        <a:gd name="T25" fmla="*/ 708 h 1580"/>
                        <a:gd name="T26" fmla="*/ 492 w 527"/>
                        <a:gd name="T27" fmla="*/ 892 h 1580"/>
                        <a:gd name="T28" fmla="*/ 504 w 527"/>
                        <a:gd name="T29" fmla="*/ 976 h 1580"/>
                        <a:gd name="T30" fmla="*/ 511 w 527"/>
                        <a:gd name="T31" fmla="*/ 1033 h 1580"/>
                        <a:gd name="T32" fmla="*/ 522 w 527"/>
                        <a:gd name="T33" fmla="*/ 1026 h 1580"/>
                        <a:gd name="T34" fmla="*/ 527 w 527"/>
                        <a:gd name="T35" fmla="*/ 1080 h 1580"/>
                        <a:gd name="T36" fmla="*/ 502 w 527"/>
                        <a:gd name="T37" fmla="*/ 1099 h 1580"/>
                        <a:gd name="T38" fmla="*/ 467 w 527"/>
                        <a:gd name="T39" fmla="*/ 1115 h 1580"/>
                        <a:gd name="T40" fmla="*/ 436 w 527"/>
                        <a:gd name="T41" fmla="*/ 1127 h 1580"/>
                        <a:gd name="T42" fmla="*/ 403 w 527"/>
                        <a:gd name="T43" fmla="*/ 1140 h 1580"/>
                        <a:gd name="T44" fmla="*/ 376 w 527"/>
                        <a:gd name="T45" fmla="*/ 1148 h 1580"/>
                        <a:gd name="T46" fmla="*/ 346 w 527"/>
                        <a:gd name="T47" fmla="*/ 1148 h 1580"/>
                        <a:gd name="T48" fmla="*/ 325 w 527"/>
                        <a:gd name="T49" fmla="*/ 1143 h 1580"/>
                        <a:gd name="T50" fmla="*/ 312 w 527"/>
                        <a:gd name="T51" fmla="*/ 1130 h 1580"/>
                        <a:gd name="T52" fmla="*/ 308 w 527"/>
                        <a:gd name="T53" fmla="*/ 1085 h 1580"/>
                        <a:gd name="T54" fmla="*/ 343 w 527"/>
                        <a:gd name="T55" fmla="*/ 1091 h 1580"/>
                        <a:gd name="T56" fmla="*/ 331 w 527"/>
                        <a:gd name="T57" fmla="*/ 1058 h 1580"/>
                        <a:gd name="T58" fmla="*/ 333 w 527"/>
                        <a:gd name="T59" fmla="*/ 995 h 1580"/>
                        <a:gd name="T60" fmla="*/ 325 w 527"/>
                        <a:gd name="T61" fmla="*/ 958 h 1580"/>
                        <a:gd name="T62" fmla="*/ 318 w 527"/>
                        <a:gd name="T63" fmla="*/ 915 h 1580"/>
                        <a:gd name="T64" fmla="*/ 307 w 527"/>
                        <a:gd name="T65" fmla="*/ 854 h 1580"/>
                        <a:gd name="T66" fmla="*/ 287 w 527"/>
                        <a:gd name="T67" fmla="*/ 788 h 1580"/>
                        <a:gd name="T68" fmla="*/ 270 w 527"/>
                        <a:gd name="T69" fmla="*/ 625 h 1580"/>
                        <a:gd name="T70" fmla="*/ 240 w 527"/>
                        <a:gd name="T71" fmla="*/ 860 h 1580"/>
                        <a:gd name="T72" fmla="*/ 252 w 527"/>
                        <a:gd name="T73" fmla="*/ 1004 h 1580"/>
                        <a:gd name="T74" fmla="*/ 294 w 527"/>
                        <a:gd name="T75" fmla="*/ 1154 h 1580"/>
                        <a:gd name="T76" fmla="*/ 386 w 527"/>
                        <a:gd name="T77" fmla="*/ 1436 h 1580"/>
                        <a:gd name="T78" fmla="*/ 313 w 527"/>
                        <a:gd name="T79" fmla="*/ 1491 h 1580"/>
                        <a:gd name="T80" fmla="*/ 264 w 527"/>
                        <a:gd name="T81" fmla="*/ 1520 h 1580"/>
                        <a:gd name="T82" fmla="*/ 227 w 527"/>
                        <a:gd name="T83" fmla="*/ 1539 h 1580"/>
                        <a:gd name="T84" fmla="*/ 203 w 527"/>
                        <a:gd name="T85" fmla="*/ 1545 h 1580"/>
                        <a:gd name="T86" fmla="*/ 173 w 527"/>
                        <a:gd name="T87" fmla="*/ 1555 h 1580"/>
                        <a:gd name="T88" fmla="*/ 142 w 527"/>
                        <a:gd name="T89" fmla="*/ 1566 h 1580"/>
                        <a:gd name="T90" fmla="*/ 103 w 527"/>
                        <a:gd name="T91" fmla="*/ 1580 h 1580"/>
                        <a:gd name="T92" fmla="*/ 56 w 527"/>
                        <a:gd name="T93" fmla="*/ 1283 h 1580"/>
                        <a:gd name="T94" fmla="*/ 26 w 527"/>
                        <a:gd name="T95" fmla="*/ 1080 h 1580"/>
                        <a:gd name="T96" fmla="*/ 9 w 527"/>
                        <a:gd name="T97" fmla="*/ 887 h 1580"/>
                        <a:gd name="T98" fmla="*/ 0 w 527"/>
                        <a:gd name="T99" fmla="*/ 625 h 1580"/>
                        <a:gd name="T100" fmla="*/ 1 w 527"/>
                        <a:gd name="T101" fmla="*/ 519 h 1580"/>
                        <a:gd name="T102" fmla="*/ 8 w 527"/>
                        <a:gd name="T103" fmla="*/ 414 h 1580"/>
                        <a:gd name="T104" fmla="*/ 29 w 527"/>
                        <a:gd name="T105" fmla="*/ 262 h 1580"/>
                        <a:gd name="T106" fmla="*/ 40 w 527"/>
                        <a:gd name="T107" fmla="*/ 226 h 1580"/>
                        <a:gd name="T108" fmla="*/ 56 w 527"/>
                        <a:gd name="T109" fmla="*/ 183 h 1580"/>
                        <a:gd name="T110" fmla="*/ 67 w 527"/>
                        <a:gd name="T111" fmla="*/ 138 h 1580"/>
                        <a:gd name="T112" fmla="*/ 73 w 527"/>
                        <a:gd name="T113" fmla="*/ 106 h 1580"/>
                        <a:gd name="T114" fmla="*/ 80 w 527"/>
                        <a:gd name="T115" fmla="*/ 62 h 1580"/>
                        <a:gd name="T116" fmla="*/ 78 w 527"/>
                        <a:gd name="T117" fmla="*/ 0 h 158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  <a:cxn ang="0">
                          <a:pos x="T112" y="T113"/>
                        </a:cxn>
                        <a:cxn ang="0">
                          <a:pos x="T114" y="T115"/>
                        </a:cxn>
                        <a:cxn ang="0">
                          <a:pos x="T116" y="T117"/>
                        </a:cxn>
                      </a:cxnLst>
                      <a:rect l="0" t="0" r="r" b="b"/>
                      <a:pathLst>
                        <a:path w="527" h="1580">
                          <a:moveTo>
                            <a:pt x="78" y="0"/>
                          </a:moveTo>
                          <a:lnTo>
                            <a:pt x="103" y="16"/>
                          </a:lnTo>
                          <a:lnTo>
                            <a:pt x="132" y="37"/>
                          </a:lnTo>
                          <a:lnTo>
                            <a:pt x="164" y="58"/>
                          </a:lnTo>
                          <a:lnTo>
                            <a:pt x="211" y="84"/>
                          </a:lnTo>
                          <a:lnTo>
                            <a:pt x="315" y="151"/>
                          </a:lnTo>
                          <a:lnTo>
                            <a:pt x="360" y="170"/>
                          </a:lnTo>
                          <a:lnTo>
                            <a:pt x="383" y="180"/>
                          </a:lnTo>
                          <a:lnTo>
                            <a:pt x="406" y="201"/>
                          </a:lnTo>
                          <a:lnTo>
                            <a:pt x="463" y="463"/>
                          </a:lnTo>
                          <a:lnTo>
                            <a:pt x="471" y="567"/>
                          </a:lnTo>
                          <a:lnTo>
                            <a:pt x="461" y="596"/>
                          </a:lnTo>
                          <a:lnTo>
                            <a:pt x="486" y="708"/>
                          </a:lnTo>
                          <a:lnTo>
                            <a:pt x="492" y="892"/>
                          </a:lnTo>
                          <a:lnTo>
                            <a:pt x="504" y="976"/>
                          </a:lnTo>
                          <a:lnTo>
                            <a:pt x="511" y="1033"/>
                          </a:lnTo>
                          <a:lnTo>
                            <a:pt x="522" y="1026"/>
                          </a:lnTo>
                          <a:lnTo>
                            <a:pt x="527" y="1080"/>
                          </a:lnTo>
                          <a:lnTo>
                            <a:pt x="502" y="1099"/>
                          </a:lnTo>
                          <a:lnTo>
                            <a:pt x="467" y="1115"/>
                          </a:lnTo>
                          <a:lnTo>
                            <a:pt x="436" y="1127"/>
                          </a:lnTo>
                          <a:lnTo>
                            <a:pt x="403" y="1140"/>
                          </a:lnTo>
                          <a:lnTo>
                            <a:pt x="376" y="1148"/>
                          </a:lnTo>
                          <a:lnTo>
                            <a:pt x="346" y="1148"/>
                          </a:lnTo>
                          <a:lnTo>
                            <a:pt x="325" y="1143"/>
                          </a:lnTo>
                          <a:lnTo>
                            <a:pt x="312" y="1130"/>
                          </a:lnTo>
                          <a:lnTo>
                            <a:pt x="308" y="1085"/>
                          </a:lnTo>
                          <a:lnTo>
                            <a:pt x="343" y="1091"/>
                          </a:lnTo>
                          <a:lnTo>
                            <a:pt x="331" y="1058"/>
                          </a:lnTo>
                          <a:lnTo>
                            <a:pt x="333" y="995"/>
                          </a:lnTo>
                          <a:lnTo>
                            <a:pt x="325" y="958"/>
                          </a:lnTo>
                          <a:lnTo>
                            <a:pt x="318" y="915"/>
                          </a:lnTo>
                          <a:lnTo>
                            <a:pt x="307" y="854"/>
                          </a:lnTo>
                          <a:lnTo>
                            <a:pt x="287" y="788"/>
                          </a:lnTo>
                          <a:lnTo>
                            <a:pt x="270" y="625"/>
                          </a:lnTo>
                          <a:lnTo>
                            <a:pt x="240" y="860"/>
                          </a:lnTo>
                          <a:lnTo>
                            <a:pt x="252" y="1004"/>
                          </a:lnTo>
                          <a:lnTo>
                            <a:pt x="294" y="1154"/>
                          </a:lnTo>
                          <a:lnTo>
                            <a:pt x="386" y="1436"/>
                          </a:lnTo>
                          <a:lnTo>
                            <a:pt x="313" y="1491"/>
                          </a:lnTo>
                          <a:lnTo>
                            <a:pt x="264" y="1520"/>
                          </a:lnTo>
                          <a:lnTo>
                            <a:pt x="227" y="1539"/>
                          </a:lnTo>
                          <a:lnTo>
                            <a:pt x="203" y="1545"/>
                          </a:lnTo>
                          <a:lnTo>
                            <a:pt x="173" y="1555"/>
                          </a:lnTo>
                          <a:lnTo>
                            <a:pt x="142" y="1566"/>
                          </a:lnTo>
                          <a:lnTo>
                            <a:pt x="103" y="1580"/>
                          </a:lnTo>
                          <a:lnTo>
                            <a:pt x="56" y="1283"/>
                          </a:lnTo>
                          <a:lnTo>
                            <a:pt x="26" y="1080"/>
                          </a:lnTo>
                          <a:lnTo>
                            <a:pt x="9" y="887"/>
                          </a:lnTo>
                          <a:lnTo>
                            <a:pt x="0" y="625"/>
                          </a:lnTo>
                          <a:lnTo>
                            <a:pt x="1" y="519"/>
                          </a:lnTo>
                          <a:lnTo>
                            <a:pt x="8" y="414"/>
                          </a:lnTo>
                          <a:lnTo>
                            <a:pt x="29" y="262"/>
                          </a:lnTo>
                          <a:lnTo>
                            <a:pt x="40" y="226"/>
                          </a:lnTo>
                          <a:lnTo>
                            <a:pt x="56" y="183"/>
                          </a:lnTo>
                          <a:lnTo>
                            <a:pt x="67" y="138"/>
                          </a:lnTo>
                          <a:lnTo>
                            <a:pt x="73" y="106"/>
                          </a:lnTo>
                          <a:lnTo>
                            <a:pt x="80" y="62"/>
                          </a:lnTo>
                          <a:lnTo>
                            <a:pt x="78" y="0"/>
                          </a:lnTo>
                          <a:close/>
                        </a:path>
                      </a:pathLst>
                    </a:custGeom>
                    <a:solidFill>
                      <a:srgbClr val="00D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24" name="Freeform 324"/>
                    <p:cNvSpPr/>
                    <p:nvPr/>
                  </p:nvSpPr>
                  <p:spPr bwMode="auto">
                    <a:xfrm>
                      <a:off x="5085" y="2397"/>
                      <a:ext cx="149" cy="293"/>
                    </a:xfrm>
                    <a:custGeom>
                      <a:avLst/>
                      <a:gdLst>
                        <a:gd name="T0" fmla="*/ 875 w 896"/>
                        <a:gd name="T1" fmla="*/ 17 h 1465"/>
                        <a:gd name="T2" fmla="*/ 795 w 896"/>
                        <a:gd name="T3" fmla="*/ 19 h 1465"/>
                        <a:gd name="T4" fmla="*/ 716 w 896"/>
                        <a:gd name="T5" fmla="*/ 31 h 1465"/>
                        <a:gd name="T6" fmla="*/ 689 w 896"/>
                        <a:gd name="T7" fmla="*/ 29 h 1465"/>
                        <a:gd name="T8" fmla="*/ 661 w 896"/>
                        <a:gd name="T9" fmla="*/ 44 h 1465"/>
                        <a:gd name="T10" fmla="*/ 645 w 896"/>
                        <a:gd name="T11" fmla="*/ 62 h 1465"/>
                        <a:gd name="T12" fmla="*/ 623 w 896"/>
                        <a:gd name="T13" fmla="*/ 99 h 1465"/>
                        <a:gd name="T14" fmla="*/ 547 w 896"/>
                        <a:gd name="T15" fmla="*/ 188 h 1465"/>
                        <a:gd name="T16" fmla="*/ 513 w 896"/>
                        <a:gd name="T17" fmla="*/ 223 h 1465"/>
                        <a:gd name="T18" fmla="*/ 360 w 896"/>
                        <a:gd name="T19" fmla="*/ 414 h 1465"/>
                        <a:gd name="T20" fmla="*/ 349 w 896"/>
                        <a:gd name="T21" fmla="*/ 432 h 1465"/>
                        <a:gd name="T22" fmla="*/ 219 w 896"/>
                        <a:gd name="T23" fmla="*/ 481 h 1465"/>
                        <a:gd name="T24" fmla="*/ 56 w 896"/>
                        <a:gd name="T25" fmla="*/ 566 h 1465"/>
                        <a:gd name="T26" fmla="*/ 0 w 896"/>
                        <a:gd name="T27" fmla="*/ 589 h 1465"/>
                        <a:gd name="T28" fmla="*/ 48 w 896"/>
                        <a:gd name="T29" fmla="*/ 635 h 1465"/>
                        <a:gd name="T30" fmla="*/ 81 w 896"/>
                        <a:gd name="T31" fmla="*/ 688 h 1465"/>
                        <a:gd name="T32" fmla="*/ 98 w 896"/>
                        <a:gd name="T33" fmla="*/ 758 h 1465"/>
                        <a:gd name="T34" fmla="*/ 146 w 896"/>
                        <a:gd name="T35" fmla="*/ 715 h 1465"/>
                        <a:gd name="T36" fmla="*/ 373 w 896"/>
                        <a:gd name="T37" fmla="*/ 625 h 1465"/>
                        <a:gd name="T38" fmla="*/ 635 w 896"/>
                        <a:gd name="T39" fmla="*/ 426 h 1465"/>
                        <a:gd name="T40" fmla="*/ 667 w 896"/>
                        <a:gd name="T41" fmla="*/ 589 h 1465"/>
                        <a:gd name="T42" fmla="*/ 728 w 896"/>
                        <a:gd name="T43" fmla="*/ 772 h 1465"/>
                        <a:gd name="T44" fmla="*/ 679 w 896"/>
                        <a:gd name="T45" fmla="*/ 927 h 1465"/>
                        <a:gd name="T46" fmla="*/ 600 w 896"/>
                        <a:gd name="T47" fmla="*/ 1096 h 1465"/>
                        <a:gd name="T48" fmla="*/ 528 w 896"/>
                        <a:gd name="T49" fmla="*/ 1271 h 1465"/>
                        <a:gd name="T50" fmla="*/ 531 w 896"/>
                        <a:gd name="T51" fmla="*/ 1325 h 1465"/>
                        <a:gd name="T52" fmla="*/ 639 w 896"/>
                        <a:gd name="T53" fmla="*/ 1465 h 1465"/>
                        <a:gd name="T54" fmla="*/ 715 w 896"/>
                        <a:gd name="T55" fmla="*/ 1293 h 1465"/>
                        <a:gd name="T56" fmla="*/ 737 w 896"/>
                        <a:gd name="T57" fmla="*/ 1183 h 1465"/>
                        <a:gd name="T58" fmla="*/ 760 w 896"/>
                        <a:gd name="T59" fmla="*/ 968 h 1465"/>
                        <a:gd name="T60" fmla="*/ 780 w 896"/>
                        <a:gd name="T61" fmla="*/ 486 h 1465"/>
                        <a:gd name="T62" fmla="*/ 844 w 896"/>
                        <a:gd name="T63" fmla="*/ 142 h 1465"/>
                        <a:gd name="T64" fmla="*/ 860 w 896"/>
                        <a:gd name="T65" fmla="*/ 92 h 1465"/>
                        <a:gd name="T66" fmla="*/ 883 w 896"/>
                        <a:gd name="T67" fmla="*/ 37 h 1465"/>
                        <a:gd name="T68" fmla="*/ 896 w 896"/>
                        <a:gd name="T69" fmla="*/ 0 h 146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</a:cxnLst>
                      <a:rect l="0" t="0" r="r" b="b"/>
                      <a:pathLst>
                        <a:path w="896" h="1465">
                          <a:moveTo>
                            <a:pt x="896" y="0"/>
                          </a:moveTo>
                          <a:lnTo>
                            <a:pt x="875" y="17"/>
                          </a:lnTo>
                          <a:lnTo>
                            <a:pt x="829" y="17"/>
                          </a:lnTo>
                          <a:lnTo>
                            <a:pt x="795" y="19"/>
                          </a:lnTo>
                          <a:lnTo>
                            <a:pt x="760" y="23"/>
                          </a:lnTo>
                          <a:lnTo>
                            <a:pt x="716" y="31"/>
                          </a:lnTo>
                          <a:lnTo>
                            <a:pt x="703" y="28"/>
                          </a:lnTo>
                          <a:lnTo>
                            <a:pt x="689" y="29"/>
                          </a:lnTo>
                          <a:lnTo>
                            <a:pt x="676" y="34"/>
                          </a:lnTo>
                          <a:lnTo>
                            <a:pt x="661" y="44"/>
                          </a:lnTo>
                          <a:lnTo>
                            <a:pt x="655" y="54"/>
                          </a:lnTo>
                          <a:lnTo>
                            <a:pt x="645" y="62"/>
                          </a:lnTo>
                          <a:lnTo>
                            <a:pt x="632" y="76"/>
                          </a:lnTo>
                          <a:lnTo>
                            <a:pt x="623" y="99"/>
                          </a:lnTo>
                          <a:lnTo>
                            <a:pt x="612" y="115"/>
                          </a:lnTo>
                          <a:lnTo>
                            <a:pt x="547" y="188"/>
                          </a:lnTo>
                          <a:lnTo>
                            <a:pt x="532" y="191"/>
                          </a:lnTo>
                          <a:lnTo>
                            <a:pt x="513" y="223"/>
                          </a:lnTo>
                          <a:lnTo>
                            <a:pt x="357" y="405"/>
                          </a:lnTo>
                          <a:lnTo>
                            <a:pt x="360" y="414"/>
                          </a:lnTo>
                          <a:lnTo>
                            <a:pt x="343" y="421"/>
                          </a:lnTo>
                          <a:lnTo>
                            <a:pt x="349" y="432"/>
                          </a:lnTo>
                          <a:lnTo>
                            <a:pt x="292" y="455"/>
                          </a:lnTo>
                          <a:lnTo>
                            <a:pt x="219" y="481"/>
                          </a:lnTo>
                          <a:lnTo>
                            <a:pt x="179" y="505"/>
                          </a:lnTo>
                          <a:lnTo>
                            <a:pt x="56" y="566"/>
                          </a:lnTo>
                          <a:lnTo>
                            <a:pt x="37" y="561"/>
                          </a:lnTo>
                          <a:lnTo>
                            <a:pt x="0" y="589"/>
                          </a:lnTo>
                          <a:lnTo>
                            <a:pt x="23" y="607"/>
                          </a:lnTo>
                          <a:lnTo>
                            <a:pt x="48" y="635"/>
                          </a:lnTo>
                          <a:lnTo>
                            <a:pt x="66" y="661"/>
                          </a:lnTo>
                          <a:lnTo>
                            <a:pt x="81" y="688"/>
                          </a:lnTo>
                          <a:lnTo>
                            <a:pt x="93" y="733"/>
                          </a:lnTo>
                          <a:lnTo>
                            <a:pt x="98" y="758"/>
                          </a:lnTo>
                          <a:lnTo>
                            <a:pt x="146" y="745"/>
                          </a:lnTo>
                          <a:lnTo>
                            <a:pt x="146" y="715"/>
                          </a:lnTo>
                          <a:lnTo>
                            <a:pt x="299" y="664"/>
                          </a:lnTo>
                          <a:lnTo>
                            <a:pt x="373" y="625"/>
                          </a:lnTo>
                          <a:lnTo>
                            <a:pt x="468" y="575"/>
                          </a:lnTo>
                          <a:lnTo>
                            <a:pt x="635" y="426"/>
                          </a:lnTo>
                          <a:lnTo>
                            <a:pt x="657" y="531"/>
                          </a:lnTo>
                          <a:lnTo>
                            <a:pt x="667" y="589"/>
                          </a:lnTo>
                          <a:lnTo>
                            <a:pt x="683" y="647"/>
                          </a:lnTo>
                          <a:lnTo>
                            <a:pt x="728" y="772"/>
                          </a:lnTo>
                          <a:lnTo>
                            <a:pt x="706" y="848"/>
                          </a:lnTo>
                          <a:lnTo>
                            <a:pt x="679" y="927"/>
                          </a:lnTo>
                          <a:lnTo>
                            <a:pt x="638" y="1020"/>
                          </a:lnTo>
                          <a:lnTo>
                            <a:pt x="600" y="1096"/>
                          </a:lnTo>
                          <a:lnTo>
                            <a:pt x="532" y="1240"/>
                          </a:lnTo>
                          <a:lnTo>
                            <a:pt x="528" y="1271"/>
                          </a:lnTo>
                          <a:lnTo>
                            <a:pt x="529" y="1298"/>
                          </a:lnTo>
                          <a:lnTo>
                            <a:pt x="531" y="1325"/>
                          </a:lnTo>
                          <a:lnTo>
                            <a:pt x="601" y="1428"/>
                          </a:lnTo>
                          <a:lnTo>
                            <a:pt x="639" y="1465"/>
                          </a:lnTo>
                          <a:lnTo>
                            <a:pt x="700" y="1363"/>
                          </a:lnTo>
                          <a:lnTo>
                            <a:pt x="715" y="1293"/>
                          </a:lnTo>
                          <a:lnTo>
                            <a:pt x="730" y="1233"/>
                          </a:lnTo>
                          <a:lnTo>
                            <a:pt x="737" y="1183"/>
                          </a:lnTo>
                          <a:lnTo>
                            <a:pt x="750" y="1095"/>
                          </a:lnTo>
                          <a:lnTo>
                            <a:pt x="760" y="968"/>
                          </a:lnTo>
                          <a:lnTo>
                            <a:pt x="773" y="751"/>
                          </a:lnTo>
                          <a:lnTo>
                            <a:pt x="780" y="486"/>
                          </a:lnTo>
                          <a:lnTo>
                            <a:pt x="834" y="174"/>
                          </a:lnTo>
                          <a:lnTo>
                            <a:pt x="844" y="142"/>
                          </a:lnTo>
                          <a:lnTo>
                            <a:pt x="851" y="123"/>
                          </a:lnTo>
                          <a:lnTo>
                            <a:pt x="860" y="92"/>
                          </a:lnTo>
                          <a:lnTo>
                            <a:pt x="870" y="65"/>
                          </a:lnTo>
                          <a:lnTo>
                            <a:pt x="883" y="37"/>
                          </a:lnTo>
                          <a:lnTo>
                            <a:pt x="894" y="13"/>
                          </a:lnTo>
                          <a:lnTo>
                            <a:pt x="896" y="0"/>
                          </a:lnTo>
                          <a:close/>
                        </a:path>
                      </a:pathLst>
                    </a:custGeom>
                    <a:solidFill>
                      <a:srgbClr val="00D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grpSp>
                  <p:nvGrpSpPr>
                    <p:cNvPr id="325" name="Group 325"/>
                    <p:cNvGrpSpPr/>
                    <p:nvPr/>
                  </p:nvGrpSpPr>
                  <p:grpSpPr bwMode="auto">
                    <a:xfrm>
                      <a:off x="5256" y="2397"/>
                      <a:ext cx="31" cy="259"/>
                      <a:chOff x="5256" y="2397"/>
                      <a:chExt cx="31" cy="259"/>
                    </a:xfrm>
                  </p:grpSpPr>
                  <p:sp>
                    <p:nvSpPr>
                      <p:cNvPr id="335" name="Freeform 326"/>
                      <p:cNvSpPr/>
                      <p:nvPr/>
                    </p:nvSpPr>
                    <p:spPr bwMode="auto">
                      <a:xfrm>
                        <a:off x="5257" y="2400"/>
                        <a:ext cx="30" cy="256"/>
                      </a:xfrm>
                      <a:custGeom>
                        <a:avLst/>
                        <a:gdLst>
                          <a:gd name="T0" fmla="*/ 79 w 179"/>
                          <a:gd name="T1" fmla="*/ 0 h 1283"/>
                          <a:gd name="T2" fmla="*/ 104 w 179"/>
                          <a:gd name="T3" fmla="*/ 16 h 1283"/>
                          <a:gd name="T4" fmla="*/ 133 w 179"/>
                          <a:gd name="T5" fmla="*/ 37 h 1283"/>
                          <a:gd name="T6" fmla="*/ 142 w 179"/>
                          <a:gd name="T7" fmla="*/ 48 h 1283"/>
                          <a:gd name="T8" fmla="*/ 155 w 179"/>
                          <a:gd name="T9" fmla="*/ 81 h 1283"/>
                          <a:gd name="T10" fmla="*/ 159 w 179"/>
                          <a:gd name="T11" fmla="*/ 112 h 1283"/>
                          <a:gd name="T12" fmla="*/ 163 w 179"/>
                          <a:gd name="T13" fmla="*/ 143 h 1283"/>
                          <a:gd name="T14" fmla="*/ 165 w 179"/>
                          <a:gd name="T15" fmla="*/ 174 h 1283"/>
                          <a:gd name="T16" fmla="*/ 170 w 179"/>
                          <a:gd name="T17" fmla="*/ 204 h 1283"/>
                          <a:gd name="T18" fmla="*/ 173 w 179"/>
                          <a:gd name="T19" fmla="*/ 230 h 1283"/>
                          <a:gd name="T20" fmla="*/ 176 w 179"/>
                          <a:gd name="T21" fmla="*/ 256 h 1283"/>
                          <a:gd name="T22" fmla="*/ 179 w 179"/>
                          <a:gd name="T23" fmla="*/ 273 h 1283"/>
                          <a:gd name="T24" fmla="*/ 178 w 179"/>
                          <a:gd name="T25" fmla="*/ 287 h 1283"/>
                          <a:gd name="T26" fmla="*/ 177 w 179"/>
                          <a:gd name="T27" fmla="*/ 298 h 1283"/>
                          <a:gd name="T28" fmla="*/ 173 w 179"/>
                          <a:gd name="T29" fmla="*/ 308 h 1283"/>
                          <a:gd name="T30" fmla="*/ 165 w 179"/>
                          <a:gd name="T31" fmla="*/ 316 h 1283"/>
                          <a:gd name="T32" fmla="*/ 143 w 179"/>
                          <a:gd name="T33" fmla="*/ 327 h 1283"/>
                          <a:gd name="T34" fmla="*/ 60 w 179"/>
                          <a:gd name="T35" fmla="*/ 368 h 1283"/>
                          <a:gd name="T36" fmla="*/ 130 w 179"/>
                          <a:gd name="T37" fmla="*/ 452 h 1283"/>
                          <a:gd name="T38" fmla="*/ 160 w 179"/>
                          <a:gd name="T39" fmla="*/ 486 h 1283"/>
                          <a:gd name="T40" fmla="*/ 171 w 179"/>
                          <a:gd name="T41" fmla="*/ 508 h 1283"/>
                          <a:gd name="T42" fmla="*/ 158 w 179"/>
                          <a:gd name="T43" fmla="*/ 540 h 1283"/>
                          <a:gd name="T44" fmla="*/ 122 w 179"/>
                          <a:gd name="T45" fmla="*/ 619 h 1283"/>
                          <a:gd name="T46" fmla="*/ 88 w 179"/>
                          <a:gd name="T47" fmla="*/ 677 h 1283"/>
                          <a:gd name="T48" fmla="*/ 61 w 179"/>
                          <a:gd name="T49" fmla="*/ 742 h 1283"/>
                          <a:gd name="T50" fmla="*/ 47 w 179"/>
                          <a:gd name="T51" fmla="*/ 790 h 1283"/>
                          <a:gd name="T52" fmla="*/ 27 w 179"/>
                          <a:gd name="T53" fmla="*/ 838 h 1283"/>
                          <a:gd name="T54" fmla="*/ 20 w 179"/>
                          <a:gd name="T55" fmla="*/ 875 h 1283"/>
                          <a:gd name="T56" fmla="*/ 20 w 179"/>
                          <a:gd name="T57" fmla="*/ 923 h 1283"/>
                          <a:gd name="T58" fmla="*/ 57 w 179"/>
                          <a:gd name="T59" fmla="*/ 1283 h 1283"/>
                          <a:gd name="T60" fmla="*/ 26 w 179"/>
                          <a:gd name="T61" fmla="*/ 1081 h 1283"/>
                          <a:gd name="T62" fmla="*/ 10 w 179"/>
                          <a:gd name="T63" fmla="*/ 887 h 1283"/>
                          <a:gd name="T64" fmla="*/ 0 w 179"/>
                          <a:gd name="T65" fmla="*/ 625 h 1283"/>
                          <a:gd name="T66" fmla="*/ 1 w 179"/>
                          <a:gd name="T67" fmla="*/ 519 h 1283"/>
                          <a:gd name="T68" fmla="*/ 8 w 179"/>
                          <a:gd name="T69" fmla="*/ 414 h 1283"/>
                          <a:gd name="T70" fmla="*/ 29 w 179"/>
                          <a:gd name="T71" fmla="*/ 262 h 1283"/>
                          <a:gd name="T72" fmla="*/ 41 w 179"/>
                          <a:gd name="T73" fmla="*/ 226 h 1283"/>
                          <a:gd name="T74" fmla="*/ 57 w 179"/>
                          <a:gd name="T75" fmla="*/ 183 h 1283"/>
                          <a:gd name="T76" fmla="*/ 68 w 179"/>
                          <a:gd name="T77" fmla="*/ 138 h 1283"/>
                          <a:gd name="T78" fmla="*/ 74 w 179"/>
                          <a:gd name="T79" fmla="*/ 106 h 1283"/>
                          <a:gd name="T80" fmla="*/ 81 w 179"/>
                          <a:gd name="T81" fmla="*/ 62 h 1283"/>
                          <a:gd name="T82" fmla="*/ 79 w 179"/>
                          <a:gd name="T83" fmla="*/ 0 h 128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  <a:cxn ang="0">
                            <a:pos x="T78" y="T79"/>
                          </a:cxn>
                          <a:cxn ang="0">
                            <a:pos x="T80" y="T81"/>
                          </a:cxn>
                          <a:cxn ang="0">
                            <a:pos x="T82" y="T83"/>
                          </a:cxn>
                        </a:cxnLst>
                        <a:rect l="0" t="0" r="r" b="b"/>
                        <a:pathLst>
                          <a:path w="179" h="1283">
                            <a:moveTo>
                              <a:pt x="79" y="0"/>
                            </a:moveTo>
                            <a:lnTo>
                              <a:pt x="104" y="16"/>
                            </a:lnTo>
                            <a:lnTo>
                              <a:pt x="133" y="37"/>
                            </a:lnTo>
                            <a:lnTo>
                              <a:pt x="142" y="48"/>
                            </a:lnTo>
                            <a:lnTo>
                              <a:pt x="155" y="81"/>
                            </a:lnTo>
                            <a:lnTo>
                              <a:pt x="159" y="112"/>
                            </a:lnTo>
                            <a:lnTo>
                              <a:pt x="163" y="143"/>
                            </a:lnTo>
                            <a:lnTo>
                              <a:pt x="165" y="174"/>
                            </a:lnTo>
                            <a:lnTo>
                              <a:pt x="170" y="204"/>
                            </a:lnTo>
                            <a:lnTo>
                              <a:pt x="173" y="230"/>
                            </a:lnTo>
                            <a:lnTo>
                              <a:pt x="176" y="256"/>
                            </a:lnTo>
                            <a:lnTo>
                              <a:pt x="179" y="273"/>
                            </a:lnTo>
                            <a:lnTo>
                              <a:pt x="178" y="287"/>
                            </a:lnTo>
                            <a:lnTo>
                              <a:pt x="177" y="298"/>
                            </a:lnTo>
                            <a:lnTo>
                              <a:pt x="173" y="308"/>
                            </a:lnTo>
                            <a:lnTo>
                              <a:pt x="165" y="316"/>
                            </a:lnTo>
                            <a:lnTo>
                              <a:pt x="143" y="327"/>
                            </a:lnTo>
                            <a:lnTo>
                              <a:pt x="60" y="368"/>
                            </a:lnTo>
                            <a:lnTo>
                              <a:pt x="130" y="452"/>
                            </a:lnTo>
                            <a:lnTo>
                              <a:pt x="160" y="486"/>
                            </a:lnTo>
                            <a:lnTo>
                              <a:pt x="171" y="508"/>
                            </a:lnTo>
                            <a:lnTo>
                              <a:pt x="158" y="540"/>
                            </a:lnTo>
                            <a:lnTo>
                              <a:pt x="122" y="619"/>
                            </a:lnTo>
                            <a:lnTo>
                              <a:pt x="88" y="677"/>
                            </a:lnTo>
                            <a:lnTo>
                              <a:pt x="61" y="742"/>
                            </a:lnTo>
                            <a:lnTo>
                              <a:pt x="47" y="790"/>
                            </a:lnTo>
                            <a:lnTo>
                              <a:pt x="27" y="838"/>
                            </a:lnTo>
                            <a:lnTo>
                              <a:pt x="20" y="875"/>
                            </a:lnTo>
                            <a:lnTo>
                              <a:pt x="20" y="923"/>
                            </a:lnTo>
                            <a:lnTo>
                              <a:pt x="57" y="1283"/>
                            </a:lnTo>
                            <a:lnTo>
                              <a:pt x="26" y="1081"/>
                            </a:lnTo>
                            <a:lnTo>
                              <a:pt x="10" y="887"/>
                            </a:lnTo>
                            <a:lnTo>
                              <a:pt x="0" y="625"/>
                            </a:lnTo>
                            <a:lnTo>
                              <a:pt x="1" y="519"/>
                            </a:lnTo>
                            <a:lnTo>
                              <a:pt x="8" y="414"/>
                            </a:lnTo>
                            <a:lnTo>
                              <a:pt x="29" y="262"/>
                            </a:lnTo>
                            <a:lnTo>
                              <a:pt x="41" y="226"/>
                            </a:lnTo>
                            <a:lnTo>
                              <a:pt x="57" y="183"/>
                            </a:lnTo>
                            <a:lnTo>
                              <a:pt x="68" y="138"/>
                            </a:lnTo>
                            <a:lnTo>
                              <a:pt x="74" y="106"/>
                            </a:lnTo>
                            <a:lnTo>
                              <a:pt x="81" y="62"/>
                            </a:lnTo>
                            <a:lnTo>
                              <a:pt x="79" y="0"/>
                            </a:lnTo>
                            <a:close/>
                          </a:path>
                        </a:pathLst>
                      </a:custGeom>
                      <a:solidFill>
                        <a:srgbClr val="009FB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336" name="Freeform 327"/>
                      <p:cNvSpPr/>
                      <p:nvPr/>
                    </p:nvSpPr>
                    <p:spPr bwMode="auto">
                      <a:xfrm>
                        <a:off x="5256" y="2397"/>
                        <a:ext cx="30" cy="256"/>
                      </a:xfrm>
                      <a:custGeom>
                        <a:avLst/>
                        <a:gdLst>
                          <a:gd name="T0" fmla="*/ 79 w 179"/>
                          <a:gd name="T1" fmla="*/ 0 h 1283"/>
                          <a:gd name="T2" fmla="*/ 104 w 179"/>
                          <a:gd name="T3" fmla="*/ 16 h 1283"/>
                          <a:gd name="T4" fmla="*/ 132 w 179"/>
                          <a:gd name="T5" fmla="*/ 37 h 1283"/>
                          <a:gd name="T6" fmla="*/ 142 w 179"/>
                          <a:gd name="T7" fmla="*/ 48 h 1283"/>
                          <a:gd name="T8" fmla="*/ 155 w 179"/>
                          <a:gd name="T9" fmla="*/ 82 h 1283"/>
                          <a:gd name="T10" fmla="*/ 159 w 179"/>
                          <a:gd name="T11" fmla="*/ 112 h 1283"/>
                          <a:gd name="T12" fmla="*/ 162 w 179"/>
                          <a:gd name="T13" fmla="*/ 143 h 1283"/>
                          <a:gd name="T14" fmla="*/ 165 w 179"/>
                          <a:gd name="T15" fmla="*/ 174 h 1283"/>
                          <a:gd name="T16" fmla="*/ 170 w 179"/>
                          <a:gd name="T17" fmla="*/ 204 h 1283"/>
                          <a:gd name="T18" fmla="*/ 173 w 179"/>
                          <a:gd name="T19" fmla="*/ 230 h 1283"/>
                          <a:gd name="T20" fmla="*/ 175 w 179"/>
                          <a:gd name="T21" fmla="*/ 256 h 1283"/>
                          <a:gd name="T22" fmla="*/ 179 w 179"/>
                          <a:gd name="T23" fmla="*/ 273 h 1283"/>
                          <a:gd name="T24" fmla="*/ 178 w 179"/>
                          <a:gd name="T25" fmla="*/ 287 h 1283"/>
                          <a:gd name="T26" fmla="*/ 177 w 179"/>
                          <a:gd name="T27" fmla="*/ 298 h 1283"/>
                          <a:gd name="T28" fmla="*/ 173 w 179"/>
                          <a:gd name="T29" fmla="*/ 308 h 1283"/>
                          <a:gd name="T30" fmla="*/ 165 w 179"/>
                          <a:gd name="T31" fmla="*/ 316 h 1283"/>
                          <a:gd name="T32" fmla="*/ 143 w 179"/>
                          <a:gd name="T33" fmla="*/ 328 h 1283"/>
                          <a:gd name="T34" fmla="*/ 60 w 179"/>
                          <a:gd name="T35" fmla="*/ 368 h 1283"/>
                          <a:gd name="T36" fmla="*/ 130 w 179"/>
                          <a:gd name="T37" fmla="*/ 452 h 1283"/>
                          <a:gd name="T38" fmla="*/ 160 w 179"/>
                          <a:gd name="T39" fmla="*/ 486 h 1283"/>
                          <a:gd name="T40" fmla="*/ 171 w 179"/>
                          <a:gd name="T41" fmla="*/ 508 h 1283"/>
                          <a:gd name="T42" fmla="*/ 158 w 179"/>
                          <a:gd name="T43" fmla="*/ 540 h 1283"/>
                          <a:gd name="T44" fmla="*/ 122 w 179"/>
                          <a:gd name="T45" fmla="*/ 621 h 1283"/>
                          <a:gd name="T46" fmla="*/ 88 w 179"/>
                          <a:gd name="T47" fmla="*/ 677 h 1283"/>
                          <a:gd name="T48" fmla="*/ 61 w 179"/>
                          <a:gd name="T49" fmla="*/ 742 h 1283"/>
                          <a:gd name="T50" fmla="*/ 46 w 179"/>
                          <a:gd name="T51" fmla="*/ 790 h 1283"/>
                          <a:gd name="T52" fmla="*/ 27 w 179"/>
                          <a:gd name="T53" fmla="*/ 838 h 1283"/>
                          <a:gd name="T54" fmla="*/ 20 w 179"/>
                          <a:gd name="T55" fmla="*/ 875 h 1283"/>
                          <a:gd name="T56" fmla="*/ 20 w 179"/>
                          <a:gd name="T57" fmla="*/ 923 h 1283"/>
                          <a:gd name="T58" fmla="*/ 57 w 179"/>
                          <a:gd name="T59" fmla="*/ 1283 h 1283"/>
                          <a:gd name="T60" fmla="*/ 26 w 179"/>
                          <a:gd name="T61" fmla="*/ 1082 h 1283"/>
                          <a:gd name="T62" fmla="*/ 9 w 179"/>
                          <a:gd name="T63" fmla="*/ 888 h 1283"/>
                          <a:gd name="T64" fmla="*/ 0 w 179"/>
                          <a:gd name="T65" fmla="*/ 625 h 1283"/>
                          <a:gd name="T66" fmla="*/ 1 w 179"/>
                          <a:gd name="T67" fmla="*/ 519 h 1283"/>
                          <a:gd name="T68" fmla="*/ 8 w 179"/>
                          <a:gd name="T69" fmla="*/ 414 h 1283"/>
                          <a:gd name="T70" fmla="*/ 29 w 179"/>
                          <a:gd name="T71" fmla="*/ 262 h 1283"/>
                          <a:gd name="T72" fmla="*/ 40 w 179"/>
                          <a:gd name="T73" fmla="*/ 226 h 1283"/>
                          <a:gd name="T74" fmla="*/ 57 w 179"/>
                          <a:gd name="T75" fmla="*/ 183 h 1283"/>
                          <a:gd name="T76" fmla="*/ 68 w 179"/>
                          <a:gd name="T77" fmla="*/ 138 h 1283"/>
                          <a:gd name="T78" fmla="*/ 74 w 179"/>
                          <a:gd name="T79" fmla="*/ 106 h 1283"/>
                          <a:gd name="T80" fmla="*/ 81 w 179"/>
                          <a:gd name="T81" fmla="*/ 62 h 1283"/>
                          <a:gd name="T82" fmla="*/ 79 w 179"/>
                          <a:gd name="T83" fmla="*/ 0 h 128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  <a:cxn ang="0">
                            <a:pos x="T78" y="T79"/>
                          </a:cxn>
                          <a:cxn ang="0">
                            <a:pos x="T80" y="T81"/>
                          </a:cxn>
                          <a:cxn ang="0">
                            <a:pos x="T82" y="T83"/>
                          </a:cxn>
                        </a:cxnLst>
                        <a:rect l="0" t="0" r="r" b="b"/>
                        <a:pathLst>
                          <a:path w="179" h="1283">
                            <a:moveTo>
                              <a:pt x="79" y="0"/>
                            </a:moveTo>
                            <a:lnTo>
                              <a:pt x="104" y="16"/>
                            </a:lnTo>
                            <a:lnTo>
                              <a:pt x="132" y="37"/>
                            </a:lnTo>
                            <a:lnTo>
                              <a:pt x="142" y="48"/>
                            </a:lnTo>
                            <a:lnTo>
                              <a:pt x="155" y="82"/>
                            </a:lnTo>
                            <a:lnTo>
                              <a:pt x="159" y="112"/>
                            </a:lnTo>
                            <a:lnTo>
                              <a:pt x="162" y="143"/>
                            </a:lnTo>
                            <a:lnTo>
                              <a:pt x="165" y="174"/>
                            </a:lnTo>
                            <a:lnTo>
                              <a:pt x="170" y="204"/>
                            </a:lnTo>
                            <a:lnTo>
                              <a:pt x="173" y="230"/>
                            </a:lnTo>
                            <a:lnTo>
                              <a:pt x="175" y="256"/>
                            </a:lnTo>
                            <a:lnTo>
                              <a:pt x="179" y="273"/>
                            </a:lnTo>
                            <a:lnTo>
                              <a:pt x="178" y="287"/>
                            </a:lnTo>
                            <a:lnTo>
                              <a:pt x="177" y="298"/>
                            </a:lnTo>
                            <a:lnTo>
                              <a:pt x="173" y="308"/>
                            </a:lnTo>
                            <a:lnTo>
                              <a:pt x="165" y="316"/>
                            </a:lnTo>
                            <a:lnTo>
                              <a:pt x="143" y="328"/>
                            </a:lnTo>
                            <a:lnTo>
                              <a:pt x="60" y="368"/>
                            </a:lnTo>
                            <a:lnTo>
                              <a:pt x="130" y="452"/>
                            </a:lnTo>
                            <a:lnTo>
                              <a:pt x="160" y="486"/>
                            </a:lnTo>
                            <a:lnTo>
                              <a:pt x="171" y="508"/>
                            </a:lnTo>
                            <a:lnTo>
                              <a:pt x="158" y="540"/>
                            </a:lnTo>
                            <a:lnTo>
                              <a:pt x="122" y="621"/>
                            </a:lnTo>
                            <a:lnTo>
                              <a:pt x="88" y="677"/>
                            </a:lnTo>
                            <a:lnTo>
                              <a:pt x="61" y="742"/>
                            </a:lnTo>
                            <a:lnTo>
                              <a:pt x="46" y="790"/>
                            </a:lnTo>
                            <a:lnTo>
                              <a:pt x="27" y="838"/>
                            </a:lnTo>
                            <a:lnTo>
                              <a:pt x="20" y="875"/>
                            </a:lnTo>
                            <a:lnTo>
                              <a:pt x="20" y="923"/>
                            </a:lnTo>
                            <a:lnTo>
                              <a:pt x="57" y="1283"/>
                            </a:lnTo>
                            <a:lnTo>
                              <a:pt x="26" y="1082"/>
                            </a:lnTo>
                            <a:lnTo>
                              <a:pt x="9" y="888"/>
                            </a:lnTo>
                            <a:lnTo>
                              <a:pt x="0" y="625"/>
                            </a:lnTo>
                            <a:lnTo>
                              <a:pt x="1" y="519"/>
                            </a:lnTo>
                            <a:lnTo>
                              <a:pt x="8" y="414"/>
                            </a:lnTo>
                            <a:lnTo>
                              <a:pt x="29" y="262"/>
                            </a:lnTo>
                            <a:lnTo>
                              <a:pt x="40" y="226"/>
                            </a:lnTo>
                            <a:lnTo>
                              <a:pt x="57" y="183"/>
                            </a:lnTo>
                            <a:lnTo>
                              <a:pt x="68" y="138"/>
                            </a:lnTo>
                            <a:lnTo>
                              <a:pt x="74" y="106"/>
                            </a:lnTo>
                            <a:lnTo>
                              <a:pt x="81" y="62"/>
                            </a:lnTo>
                            <a:lnTo>
                              <a:pt x="79" y="0"/>
                            </a:lnTo>
                            <a:close/>
                          </a:path>
                        </a:pathLst>
                      </a:custGeom>
                      <a:solidFill>
                        <a:srgbClr val="00BFD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326" name="Group 328"/>
                    <p:cNvGrpSpPr/>
                    <p:nvPr/>
                  </p:nvGrpSpPr>
                  <p:grpSpPr bwMode="auto">
                    <a:xfrm>
                      <a:off x="5194" y="2397"/>
                      <a:ext cx="40" cy="250"/>
                      <a:chOff x="5194" y="2397"/>
                      <a:chExt cx="40" cy="250"/>
                    </a:xfrm>
                  </p:grpSpPr>
                  <p:sp>
                    <p:nvSpPr>
                      <p:cNvPr id="333" name="Freeform 329"/>
                      <p:cNvSpPr/>
                      <p:nvPr/>
                    </p:nvSpPr>
                    <p:spPr bwMode="auto">
                      <a:xfrm>
                        <a:off x="5194" y="2400"/>
                        <a:ext cx="40" cy="247"/>
                      </a:xfrm>
                      <a:custGeom>
                        <a:avLst/>
                        <a:gdLst>
                          <a:gd name="T0" fmla="*/ 241 w 241"/>
                          <a:gd name="T1" fmla="*/ 0 h 1234"/>
                          <a:gd name="T2" fmla="*/ 220 w 241"/>
                          <a:gd name="T3" fmla="*/ 17 h 1234"/>
                          <a:gd name="T4" fmla="*/ 206 w 241"/>
                          <a:gd name="T5" fmla="*/ 30 h 1234"/>
                          <a:gd name="T6" fmla="*/ 191 w 241"/>
                          <a:gd name="T7" fmla="*/ 43 h 1234"/>
                          <a:gd name="T8" fmla="*/ 176 w 241"/>
                          <a:gd name="T9" fmla="*/ 56 h 1234"/>
                          <a:gd name="T10" fmla="*/ 163 w 241"/>
                          <a:gd name="T11" fmla="*/ 69 h 1234"/>
                          <a:gd name="T12" fmla="*/ 147 w 241"/>
                          <a:gd name="T13" fmla="*/ 79 h 1234"/>
                          <a:gd name="T14" fmla="*/ 133 w 241"/>
                          <a:gd name="T15" fmla="*/ 96 h 1234"/>
                          <a:gd name="T16" fmla="*/ 118 w 241"/>
                          <a:gd name="T17" fmla="*/ 116 h 1234"/>
                          <a:gd name="T18" fmla="*/ 108 w 241"/>
                          <a:gd name="T19" fmla="*/ 131 h 1234"/>
                          <a:gd name="T20" fmla="*/ 94 w 241"/>
                          <a:gd name="T21" fmla="*/ 150 h 1234"/>
                          <a:gd name="T22" fmla="*/ 86 w 241"/>
                          <a:gd name="T23" fmla="*/ 166 h 1234"/>
                          <a:gd name="T24" fmla="*/ 69 w 241"/>
                          <a:gd name="T25" fmla="*/ 199 h 1234"/>
                          <a:gd name="T26" fmla="*/ 56 w 241"/>
                          <a:gd name="T27" fmla="*/ 232 h 1234"/>
                          <a:gd name="T28" fmla="*/ 66 w 241"/>
                          <a:gd name="T29" fmla="*/ 251 h 1234"/>
                          <a:gd name="T30" fmla="*/ 86 w 241"/>
                          <a:gd name="T31" fmla="*/ 265 h 1234"/>
                          <a:gd name="T32" fmla="*/ 125 w 241"/>
                          <a:gd name="T33" fmla="*/ 318 h 1234"/>
                          <a:gd name="T34" fmla="*/ 32 w 241"/>
                          <a:gd name="T35" fmla="*/ 352 h 1234"/>
                          <a:gd name="T36" fmla="*/ 14 w 241"/>
                          <a:gd name="T37" fmla="*/ 357 h 1234"/>
                          <a:gd name="T38" fmla="*/ 5 w 241"/>
                          <a:gd name="T39" fmla="*/ 368 h 1234"/>
                          <a:gd name="T40" fmla="*/ 0 w 241"/>
                          <a:gd name="T41" fmla="*/ 393 h 1234"/>
                          <a:gd name="T42" fmla="*/ 12 w 241"/>
                          <a:gd name="T43" fmla="*/ 476 h 1234"/>
                          <a:gd name="T44" fmla="*/ 32 w 241"/>
                          <a:gd name="T45" fmla="*/ 575 h 1234"/>
                          <a:gd name="T46" fmla="*/ 48 w 241"/>
                          <a:gd name="T47" fmla="*/ 640 h 1234"/>
                          <a:gd name="T48" fmla="*/ 79 w 241"/>
                          <a:gd name="T49" fmla="*/ 780 h 1234"/>
                          <a:gd name="T50" fmla="*/ 85 w 241"/>
                          <a:gd name="T51" fmla="*/ 830 h 1234"/>
                          <a:gd name="T52" fmla="*/ 90 w 241"/>
                          <a:gd name="T53" fmla="*/ 872 h 1234"/>
                          <a:gd name="T54" fmla="*/ 93 w 241"/>
                          <a:gd name="T55" fmla="*/ 928 h 1234"/>
                          <a:gd name="T56" fmla="*/ 74 w 241"/>
                          <a:gd name="T57" fmla="*/ 1234 h 1234"/>
                          <a:gd name="T58" fmla="*/ 81 w 241"/>
                          <a:gd name="T59" fmla="*/ 1183 h 1234"/>
                          <a:gd name="T60" fmla="*/ 94 w 241"/>
                          <a:gd name="T61" fmla="*/ 1097 h 1234"/>
                          <a:gd name="T62" fmla="*/ 104 w 241"/>
                          <a:gd name="T63" fmla="*/ 969 h 1234"/>
                          <a:gd name="T64" fmla="*/ 117 w 241"/>
                          <a:gd name="T65" fmla="*/ 752 h 1234"/>
                          <a:gd name="T66" fmla="*/ 124 w 241"/>
                          <a:gd name="T67" fmla="*/ 486 h 1234"/>
                          <a:gd name="T68" fmla="*/ 178 w 241"/>
                          <a:gd name="T69" fmla="*/ 174 h 1234"/>
                          <a:gd name="T70" fmla="*/ 189 w 241"/>
                          <a:gd name="T71" fmla="*/ 142 h 1234"/>
                          <a:gd name="T72" fmla="*/ 196 w 241"/>
                          <a:gd name="T73" fmla="*/ 124 h 1234"/>
                          <a:gd name="T74" fmla="*/ 206 w 241"/>
                          <a:gd name="T75" fmla="*/ 93 h 1234"/>
                          <a:gd name="T76" fmla="*/ 215 w 241"/>
                          <a:gd name="T77" fmla="*/ 66 h 1234"/>
                          <a:gd name="T78" fmla="*/ 228 w 241"/>
                          <a:gd name="T79" fmla="*/ 37 h 1234"/>
                          <a:gd name="T80" fmla="*/ 239 w 241"/>
                          <a:gd name="T81" fmla="*/ 14 h 1234"/>
                          <a:gd name="T82" fmla="*/ 241 w 241"/>
                          <a:gd name="T83" fmla="*/ 0 h 123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  <a:cxn ang="0">
                            <a:pos x="T78" y="T79"/>
                          </a:cxn>
                          <a:cxn ang="0">
                            <a:pos x="T80" y="T81"/>
                          </a:cxn>
                          <a:cxn ang="0">
                            <a:pos x="T82" y="T83"/>
                          </a:cxn>
                        </a:cxnLst>
                        <a:rect l="0" t="0" r="r" b="b"/>
                        <a:pathLst>
                          <a:path w="241" h="1234">
                            <a:moveTo>
                              <a:pt x="241" y="0"/>
                            </a:moveTo>
                            <a:lnTo>
                              <a:pt x="220" y="17"/>
                            </a:lnTo>
                            <a:lnTo>
                              <a:pt x="206" y="30"/>
                            </a:lnTo>
                            <a:lnTo>
                              <a:pt x="191" y="43"/>
                            </a:lnTo>
                            <a:lnTo>
                              <a:pt x="176" y="56"/>
                            </a:lnTo>
                            <a:lnTo>
                              <a:pt x="163" y="69"/>
                            </a:lnTo>
                            <a:lnTo>
                              <a:pt x="147" y="79"/>
                            </a:lnTo>
                            <a:lnTo>
                              <a:pt x="133" y="96"/>
                            </a:lnTo>
                            <a:lnTo>
                              <a:pt x="118" y="116"/>
                            </a:lnTo>
                            <a:lnTo>
                              <a:pt x="108" y="131"/>
                            </a:lnTo>
                            <a:lnTo>
                              <a:pt x="94" y="150"/>
                            </a:lnTo>
                            <a:lnTo>
                              <a:pt x="86" y="166"/>
                            </a:lnTo>
                            <a:lnTo>
                              <a:pt x="69" y="199"/>
                            </a:lnTo>
                            <a:lnTo>
                              <a:pt x="56" y="232"/>
                            </a:lnTo>
                            <a:lnTo>
                              <a:pt x="66" y="251"/>
                            </a:lnTo>
                            <a:lnTo>
                              <a:pt x="86" y="265"/>
                            </a:lnTo>
                            <a:lnTo>
                              <a:pt x="125" y="318"/>
                            </a:lnTo>
                            <a:lnTo>
                              <a:pt x="32" y="352"/>
                            </a:lnTo>
                            <a:lnTo>
                              <a:pt x="14" y="357"/>
                            </a:lnTo>
                            <a:lnTo>
                              <a:pt x="5" y="368"/>
                            </a:lnTo>
                            <a:lnTo>
                              <a:pt x="0" y="393"/>
                            </a:lnTo>
                            <a:lnTo>
                              <a:pt x="12" y="476"/>
                            </a:lnTo>
                            <a:lnTo>
                              <a:pt x="32" y="575"/>
                            </a:lnTo>
                            <a:lnTo>
                              <a:pt x="48" y="640"/>
                            </a:lnTo>
                            <a:lnTo>
                              <a:pt x="79" y="780"/>
                            </a:lnTo>
                            <a:lnTo>
                              <a:pt x="85" y="830"/>
                            </a:lnTo>
                            <a:lnTo>
                              <a:pt x="90" y="872"/>
                            </a:lnTo>
                            <a:lnTo>
                              <a:pt x="93" y="928"/>
                            </a:lnTo>
                            <a:lnTo>
                              <a:pt x="74" y="1234"/>
                            </a:lnTo>
                            <a:lnTo>
                              <a:pt x="81" y="1183"/>
                            </a:lnTo>
                            <a:lnTo>
                              <a:pt x="94" y="1097"/>
                            </a:lnTo>
                            <a:lnTo>
                              <a:pt x="104" y="969"/>
                            </a:lnTo>
                            <a:lnTo>
                              <a:pt x="117" y="752"/>
                            </a:lnTo>
                            <a:lnTo>
                              <a:pt x="124" y="486"/>
                            </a:lnTo>
                            <a:lnTo>
                              <a:pt x="178" y="174"/>
                            </a:lnTo>
                            <a:lnTo>
                              <a:pt x="189" y="142"/>
                            </a:lnTo>
                            <a:lnTo>
                              <a:pt x="196" y="124"/>
                            </a:lnTo>
                            <a:lnTo>
                              <a:pt x="206" y="93"/>
                            </a:lnTo>
                            <a:lnTo>
                              <a:pt x="215" y="66"/>
                            </a:lnTo>
                            <a:lnTo>
                              <a:pt x="228" y="37"/>
                            </a:lnTo>
                            <a:lnTo>
                              <a:pt x="239" y="14"/>
                            </a:lnTo>
                            <a:lnTo>
                              <a:pt x="241" y="0"/>
                            </a:lnTo>
                            <a:close/>
                          </a:path>
                        </a:pathLst>
                      </a:custGeom>
                      <a:solidFill>
                        <a:srgbClr val="009FB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334" name="Freeform 330"/>
                      <p:cNvSpPr/>
                      <p:nvPr/>
                    </p:nvSpPr>
                    <p:spPr bwMode="auto">
                      <a:xfrm>
                        <a:off x="5194" y="2397"/>
                        <a:ext cx="40" cy="246"/>
                      </a:xfrm>
                      <a:custGeom>
                        <a:avLst/>
                        <a:gdLst>
                          <a:gd name="T0" fmla="*/ 241 w 241"/>
                          <a:gd name="T1" fmla="*/ 0 h 1233"/>
                          <a:gd name="T2" fmla="*/ 220 w 241"/>
                          <a:gd name="T3" fmla="*/ 17 h 1233"/>
                          <a:gd name="T4" fmla="*/ 205 w 241"/>
                          <a:gd name="T5" fmla="*/ 29 h 1233"/>
                          <a:gd name="T6" fmla="*/ 191 w 241"/>
                          <a:gd name="T7" fmla="*/ 43 h 1233"/>
                          <a:gd name="T8" fmla="*/ 175 w 241"/>
                          <a:gd name="T9" fmla="*/ 55 h 1233"/>
                          <a:gd name="T10" fmla="*/ 162 w 241"/>
                          <a:gd name="T11" fmla="*/ 69 h 1233"/>
                          <a:gd name="T12" fmla="*/ 147 w 241"/>
                          <a:gd name="T13" fmla="*/ 79 h 1233"/>
                          <a:gd name="T14" fmla="*/ 132 w 241"/>
                          <a:gd name="T15" fmla="*/ 96 h 1233"/>
                          <a:gd name="T16" fmla="*/ 118 w 241"/>
                          <a:gd name="T17" fmla="*/ 116 h 1233"/>
                          <a:gd name="T18" fmla="*/ 107 w 241"/>
                          <a:gd name="T19" fmla="*/ 131 h 1233"/>
                          <a:gd name="T20" fmla="*/ 94 w 241"/>
                          <a:gd name="T21" fmla="*/ 149 h 1233"/>
                          <a:gd name="T22" fmla="*/ 86 w 241"/>
                          <a:gd name="T23" fmla="*/ 167 h 1233"/>
                          <a:gd name="T24" fmla="*/ 69 w 241"/>
                          <a:gd name="T25" fmla="*/ 199 h 1233"/>
                          <a:gd name="T26" fmla="*/ 56 w 241"/>
                          <a:gd name="T27" fmla="*/ 232 h 1233"/>
                          <a:gd name="T28" fmla="*/ 62 w 241"/>
                          <a:gd name="T29" fmla="*/ 251 h 1233"/>
                          <a:gd name="T30" fmla="*/ 86 w 241"/>
                          <a:gd name="T31" fmla="*/ 264 h 1233"/>
                          <a:gd name="T32" fmla="*/ 125 w 241"/>
                          <a:gd name="T33" fmla="*/ 317 h 1233"/>
                          <a:gd name="T34" fmla="*/ 32 w 241"/>
                          <a:gd name="T35" fmla="*/ 352 h 1233"/>
                          <a:gd name="T36" fmla="*/ 14 w 241"/>
                          <a:gd name="T37" fmla="*/ 357 h 1233"/>
                          <a:gd name="T38" fmla="*/ 5 w 241"/>
                          <a:gd name="T39" fmla="*/ 368 h 1233"/>
                          <a:gd name="T40" fmla="*/ 0 w 241"/>
                          <a:gd name="T41" fmla="*/ 384 h 1233"/>
                          <a:gd name="T42" fmla="*/ 12 w 241"/>
                          <a:gd name="T43" fmla="*/ 476 h 1233"/>
                          <a:gd name="T44" fmla="*/ 32 w 241"/>
                          <a:gd name="T45" fmla="*/ 575 h 1233"/>
                          <a:gd name="T46" fmla="*/ 48 w 241"/>
                          <a:gd name="T47" fmla="*/ 640 h 1233"/>
                          <a:gd name="T48" fmla="*/ 79 w 241"/>
                          <a:gd name="T49" fmla="*/ 780 h 1233"/>
                          <a:gd name="T50" fmla="*/ 85 w 241"/>
                          <a:gd name="T51" fmla="*/ 829 h 1233"/>
                          <a:gd name="T52" fmla="*/ 89 w 241"/>
                          <a:gd name="T53" fmla="*/ 871 h 1233"/>
                          <a:gd name="T54" fmla="*/ 93 w 241"/>
                          <a:gd name="T55" fmla="*/ 928 h 1233"/>
                          <a:gd name="T56" fmla="*/ 74 w 241"/>
                          <a:gd name="T57" fmla="*/ 1233 h 1233"/>
                          <a:gd name="T58" fmla="*/ 81 w 241"/>
                          <a:gd name="T59" fmla="*/ 1183 h 1233"/>
                          <a:gd name="T60" fmla="*/ 94 w 241"/>
                          <a:gd name="T61" fmla="*/ 1096 h 1233"/>
                          <a:gd name="T62" fmla="*/ 104 w 241"/>
                          <a:gd name="T63" fmla="*/ 969 h 1233"/>
                          <a:gd name="T64" fmla="*/ 117 w 241"/>
                          <a:gd name="T65" fmla="*/ 751 h 1233"/>
                          <a:gd name="T66" fmla="*/ 124 w 241"/>
                          <a:gd name="T67" fmla="*/ 486 h 1233"/>
                          <a:gd name="T68" fmla="*/ 178 w 241"/>
                          <a:gd name="T69" fmla="*/ 174 h 1233"/>
                          <a:gd name="T70" fmla="*/ 189 w 241"/>
                          <a:gd name="T71" fmla="*/ 142 h 1233"/>
                          <a:gd name="T72" fmla="*/ 196 w 241"/>
                          <a:gd name="T73" fmla="*/ 123 h 1233"/>
                          <a:gd name="T74" fmla="*/ 205 w 241"/>
                          <a:gd name="T75" fmla="*/ 92 h 1233"/>
                          <a:gd name="T76" fmla="*/ 215 w 241"/>
                          <a:gd name="T77" fmla="*/ 65 h 1233"/>
                          <a:gd name="T78" fmla="*/ 228 w 241"/>
                          <a:gd name="T79" fmla="*/ 37 h 1233"/>
                          <a:gd name="T80" fmla="*/ 239 w 241"/>
                          <a:gd name="T81" fmla="*/ 13 h 1233"/>
                          <a:gd name="T82" fmla="*/ 241 w 241"/>
                          <a:gd name="T83" fmla="*/ 0 h 123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  <a:cxn ang="0">
                            <a:pos x="T78" y="T79"/>
                          </a:cxn>
                          <a:cxn ang="0">
                            <a:pos x="T80" y="T81"/>
                          </a:cxn>
                          <a:cxn ang="0">
                            <a:pos x="T82" y="T83"/>
                          </a:cxn>
                        </a:cxnLst>
                        <a:rect l="0" t="0" r="r" b="b"/>
                        <a:pathLst>
                          <a:path w="241" h="1233">
                            <a:moveTo>
                              <a:pt x="241" y="0"/>
                            </a:moveTo>
                            <a:lnTo>
                              <a:pt x="220" y="17"/>
                            </a:lnTo>
                            <a:lnTo>
                              <a:pt x="205" y="29"/>
                            </a:lnTo>
                            <a:lnTo>
                              <a:pt x="191" y="43"/>
                            </a:lnTo>
                            <a:lnTo>
                              <a:pt x="175" y="55"/>
                            </a:lnTo>
                            <a:lnTo>
                              <a:pt x="162" y="69"/>
                            </a:lnTo>
                            <a:lnTo>
                              <a:pt x="147" y="79"/>
                            </a:lnTo>
                            <a:lnTo>
                              <a:pt x="132" y="96"/>
                            </a:lnTo>
                            <a:lnTo>
                              <a:pt x="118" y="116"/>
                            </a:lnTo>
                            <a:lnTo>
                              <a:pt x="107" y="131"/>
                            </a:lnTo>
                            <a:lnTo>
                              <a:pt x="94" y="149"/>
                            </a:lnTo>
                            <a:lnTo>
                              <a:pt x="86" y="167"/>
                            </a:lnTo>
                            <a:lnTo>
                              <a:pt x="69" y="199"/>
                            </a:lnTo>
                            <a:lnTo>
                              <a:pt x="56" y="232"/>
                            </a:lnTo>
                            <a:lnTo>
                              <a:pt x="62" y="251"/>
                            </a:lnTo>
                            <a:lnTo>
                              <a:pt x="86" y="264"/>
                            </a:lnTo>
                            <a:lnTo>
                              <a:pt x="125" y="317"/>
                            </a:lnTo>
                            <a:lnTo>
                              <a:pt x="32" y="352"/>
                            </a:lnTo>
                            <a:lnTo>
                              <a:pt x="14" y="357"/>
                            </a:lnTo>
                            <a:lnTo>
                              <a:pt x="5" y="368"/>
                            </a:lnTo>
                            <a:lnTo>
                              <a:pt x="0" y="384"/>
                            </a:lnTo>
                            <a:lnTo>
                              <a:pt x="12" y="476"/>
                            </a:lnTo>
                            <a:lnTo>
                              <a:pt x="32" y="575"/>
                            </a:lnTo>
                            <a:lnTo>
                              <a:pt x="48" y="640"/>
                            </a:lnTo>
                            <a:lnTo>
                              <a:pt x="79" y="780"/>
                            </a:lnTo>
                            <a:lnTo>
                              <a:pt x="85" y="829"/>
                            </a:lnTo>
                            <a:lnTo>
                              <a:pt x="89" y="871"/>
                            </a:lnTo>
                            <a:lnTo>
                              <a:pt x="93" y="928"/>
                            </a:lnTo>
                            <a:lnTo>
                              <a:pt x="74" y="1233"/>
                            </a:lnTo>
                            <a:lnTo>
                              <a:pt x="81" y="1183"/>
                            </a:lnTo>
                            <a:lnTo>
                              <a:pt x="94" y="1096"/>
                            </a:lnTo>
                            <a:lnTo>
                              <a:pt x="104" y="969"/>
                            </a:lnTo>
                            <a:lnTo>
                              <a:pt x="117" y="751"/>
                            </a:lnTo>
                            <a:lnTo>
                              <a:pt x="124" y="486"/>
                            </a:lnTo>
                            <a:lnTo>
                              <a:pt x="178" y="174"/>
                            </a:lnTo>
                            <a:lnTo>
                              <a:pt x="189" y="142"/>
                            </a:lnTo>
                            <a:lnTo>
                              <a:pt x="196" y="123"/>
                            </a:lnTo>
                            <a:lnTo>
                              <a:pt x="205" y="92"/>
                            </a:lnTo>
                            <a:lnTo>
                              <a:pt x="215" y="65"/>
                            </a:lnTo>
                            <a:lnTo>
                              <a:pt x="228" y="37"/>
                            </a:lnTo>
                            <a:lnTo>
                              <a:pt x="239" y="13"/>
                            </a:lnTo>
                            <a:lnTo>
                              <a:pt x="241" y="0"/>
                            </a:lnTo>
                            <a:close/>
                          </a:path>
                        </a:pathLst>
                      </a:custGeom>
                      <a:solidFill>
                        <a:srgbClr val="00BFD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327" name="Group 331"/>
                    <p:cNvGrpSpPr/>
                    <p:nvPr/>
                  </p:nvGrpSpPr>
                  <p:grpSpPr bwMode="auto">
                    <a:xfrm>
                      <a:off x="5142" y="2441"/>
                      <a:ext cx="182" cy="78"/>
                      <a:chOff x="5142" y="2441"/>
                      <a:chExt cx="182" cy="78"/>
                    </a:xfrm>
                  </p:grpSpPr>
                  <p:sp>
                    <p:nvSpPr>
                      <p:cNvPr id="328" name="Freeform 332"/>
                      <p:cNvSpPr/>
                      <p:nvPr/>
                    </p:nvSpPr>
                    <p:spPr bwMode="auto">
                      <a:xfrm>
                        <a:off x="5151" y="2441"/>
                        <a:ext cx="44" cy="52"/>
                      </a:xfrm>
                      <a:custGeom>
                        <a:avLst/>
                        <a:gdLst>
                          <a:gd name="T0" fmla="*/ 235 w 263"/>
                          <a:gd name="T1" fmla="*/ 205 h 260"/>
                          <a:gd name="T2" fmla="*/ 0 w 263"/>
                          <a:gd name="T3" fmla="*/ 260 h 260"/>
                          <a:gd name="T4" fmla="*/ 232 w 263"/>
                          <a:gd name="T5" fmla="*/ 189 h 260"/>
                          <a:gd name="T6" fmla="*/ 79 w 263"/>
                          <a:gd name="T7" fmla="*/ 188 h 260"/>
                          <a:gd name="T8" fmla="*/ 235 w 263"/>
                          <a:gd name="T9" fmla="*/ 167 h 260"/>
                          <a:gd name="T10" fmla="*/ 235 w 263"/>
                          <a:gd name="T11" fmla="*/ 136 h 260"/>
                          <a:gd name="T12" fmla="*/ 227 w 263"/>
                          <a:gd name="T13" fmla="*/ 105 h 260"/>
                          <a:gd name="T14" fmla="*/ 209 w 263"/>
                          <a:gd name="T15" fmla="*/ 68 h 260"/>
                          <a:gd name="T16" fmla="*/ 181 w 263"/>
                          <a:gd name="T17" fmla="*/ 27 h 260"/>
                          <a:gd name="T18" fmla="*/ 165 w 263"/>
                          <a:gd name="T19" fmla="*/ 0 h 260"/>
                          <a:gd name="T20" fmla="*/ 187 w 263"/>
                          <a:gd name="T21" fmla="*/ 11 h 260"/>
                          <a:gd name="T22" fmla="*/ 209 w 263"/>
                          <a:gd name="T23" fmla="*/ 42 h 260"/>
                          <a:gd name="T24" fmla="*/ 227 w 263"/>
                          <a:gd name="T25" fmla="*/ 77 h 260"/>
                          <a:gd name="T26" fmla="*/ 238 w 263"/>
                          <a:gd name="T27" fmla="*/ 102 h 260"/>
                          <a:gd name="T28" fmla="*/ 239 w 263"/>
                          <a:gd name="T29" fmla="*/ 139 h 260"/>
                          <a:gd name="T30" fmla="*/ 263 w 263"/>
                          <a:gd name="T31" fmla="*/ 84 h 260"/>
                          <a:gd name="T32" fmla="*/ 239 w 263"/>
                          <a:gd name="T33" fmla="*/ 167 h 260"/>
                          <a:gd name="T34" fmla="*/ 235 w 263"/>
                          <a:gd name="T35" fmla="*/ 205 h 26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</a:cxnLst>
                        <a:rect l="0" t="0" r="r" b="b"/>
                        <a:pathLst>
                          <a:path w="263" h="260">
                            <a:moveTo>
                              <a:pt x="235" y="205"/>
                            </a:moveTo>
                            <a:lnTo>
                              <a:pt x="0" y="260"/>
                            </a:lnTo>
                            <a:lnTo>
                              <a:pt x="232" y="189"/>
                            </a:lnTo>
                            <a:lnTo>
                              <a:pt x="79" y="188"/>
                            </a:lnTo>
                            <a:lnTo>
                              <a:pt x="235" y="167"/>
                            </a:lnTo>
                            <a:lnTo>
                              <a:pt x="235" y="136"/>
                            </a:lnTo>
                            <a:lnTo>
                              <a:pt x="227" y="105"/>
                            </a:lnTo>
                            <a:lnTo>
                              <a:pt x="209" y="68"/>
                            </a:lnTo>
                            <a:lnTo>
                              <a:pt x="181" y="27"/>
                            </a:lnTo>
                            <a:lnTo>
                              <a:pt x="165" y="0"/>
                            </a:lnTo>
                            <a:lnTo>
                              <a:pt x="187" y="11"/>
                            </a:lnTo>
                            <a:lnTo>
                              <a:pt x="209" y="42"/>
                            </a:lnTo>
                            <a:lnTo>
                              <a:pt x="227" y="77"/>
                            </a:lnTo>
                            <a:lnTo>
                              <a:pt x="238" y="102"/>
                            </a:lnTo>
                            <a:lnTo>
                              <a:pt x="239" y="139"/>
                            </a:lnTo>
                            <a:lnTo>
                              <a:pt x="263" y="84"/>
                            </a:lnTo>
                            <a:lnTo>
                              <a:pt x="239" y="167"/>
                            </a:lnTo>
                            <a:lnTo>
                              <a:pt x="235" y="205"/>
                            </a:lnTo>
                            <a:close/>
                          </a:path>
                        </a:pathLst>
                      </a:custGeom>
                      <a:solidFill>
                        <a:srgbClr val="007F9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329" name="Freeform 333"/>
                      <p:cNvSpPr/>
                      <p:nvPr/>
                    </p:nvSpPr>
                    <p:spPr bwMode="auto">
                      <a:xfrm>
                        <a:off x="5142" y="2484"/>
                        <a:ext cx="6" cy="23"/>
                      </a:xfrm>
                      <a:custGeom>
                        <a:avLst/>
                        <a:gdLst>
                          <a:gd name="T0" fmla="*/ 16 w 33"/>
                          <a:gd name="T1" fmla="*/ 0 h 114"/>
                          <a:gd name="T2" fmla="*/ 19 w 33"/>
                          <a:gd name="T3" fmla="*/ 25 h 114"/>
                          <a:gd name="T4" fmla="*/ 33 w 33"/>
                          <a:gd name="T5" fmla="*/ 50 h 114"/>
                          <a:gd name="T6" fmla="*/ 33 w 33"/>
                          <a:gd name="T7" fmla="*/ 74 h 114"/>
                          <a:gd name="T8" fmla="*/ 28 w 33"/>
                          <a:gd name="T9" fmla="*/ 95 h 114"/>
                          <a:gd name="T10" fmla="*/ 10 w 33"/>
                          <a:gd name="T11" fmla="*/ 114 h 114"/>
                          <a:gd name="T12" fmla="*/ 7 w 33"/>
                          <a:gd name="T13" fmla="*/ 45 h 114"/>
                          <a:gd name="T14" fmla="*/ 0 w 33"/>
                          <a:gd name="T15" fmla="*/ 37 h 114"/>
                          <a:gd name="T16" fmla="*/ 2 w 33"/>
                          <a:gd name="T17" fmla="*/ 21 h 114"/>
                          <a:gd name="T18" fmla="*/ 16 w 33"/>
                          <a:gd name="T19" fmla="*/ 0 h 11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</a:cxnLst>
                        <a:rect l="0" t="0" r="r" b="b"/>
                        <a:pathLst>
                          <a:path w="33" h="114">
                            <a:moveTo>
                              <a:pt x="16" y="0"/>
                            </a:moveTo>
                            <a:lnTo>
                              <a:pt x="19" y="25"/>
                            </a:lnTo>
                            <a:lnTo>
                              <a:pt x="33" y="50"/>
                            </a:lnTo>
                            <a:lnTo>
                              <a:pt x="33" y="74"/>
                            </a:lnTo>
                            <a:lnTo>
                              <a:pt x="28" y="95"/>
                            </a:lnTo>
                            <a:lnTo>
                              <a:pt x="10" y="114"/>
                            </a:lnTo>
                            <a:lnTo>
                              <a:pt x="7" y="45"/>
                            </a:lnTo>
                            <a:lnTo>
                              <a:pt x="0" y="37"/>
                            </a:lnTo>
                            <a:lnTo>
                              <a:pt x="2" y="21"/>
                            </a:lnTo>
                            <a:lnTo>
                              <a:pt x="16" y="0"/>
                            </a:lnTo>
                            <a:close/>
                          </a:path>
                        </a:pathLst>
                      </a:custGeom>
                      <a:solidFill>
                        <a:srgbClr val="007F9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330" name="Freeform 334"/>
                      <p:cNvSpPr/>
                      <p:nvPr/>
                    </p:nvSpPr>
                    <p:spPr bwMode="auto">
                      <a:xfrm>
                        <a:off x="5300" y="2493"/>
                        <a:ext cx="23" cy="26"/>
                      </a:xfrm>
                      <a:custGeom>
                        <a:avLst/>
                        <a:gdLst>
                          <a:gd name="T0" fmla="*/ 0 w 139"/>
                          <a:gd name="T1" fmla="*/ 129 h 129"/>
                          <a:gd name="T2" fmla="*/ 51 w 139"/>
                          <a:gd name="T3" fmla="*/ 90 h 129"/>
                          <a:gd name="T4" fmla="*/ 98 w 139"/>
                          <a:gd name="T5" fmla="*/ 57 h 129"/>
                          <a:gd name="T6" fmla="*/ 124 w 139"/>
                          <a:gd name="T7" fmla="*/ 19 h 129"/>
                          <a:gd name="T8" fmla="*/ 139 w 139"/>
                          <a:gd name="T9" fmla="*/ 0 h 129"/>
                          <a:gd name="T10" fmla="*/ 98 w 139"/>
                          <a:gd name="T11" fmla="*/ 26 h 129"/>
                          <a:gd name="T12" fmla="*/ 73 w 139"/>
                          <a:gd name="T13" fmla="*/ 46 h 129"/>
                          <a:gd name="T14" fmla="*/ 51 w 139"/>
                          <a:gd name="T15" fmla="*/ 61 h 129"/>
                          <a:gd name="T16" fmla="*/ 32 w 139"/>
                          <a:gd name="T17" fmla="*/ 83 h 129"/>
                          <a:gd name="T18" fmla="*/ 0 w 139"/>
                          <a:gd name="T19" fmla="*/ 129 h 129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</a:cxnLst>
                        <a:rect l="0" t="0" r="r" b="b"/>
                        <a:pathLst>
                          <a:path w="139" h="129">
                            <a:moveTo>
                              <a:pt x="0" y="129"/>
                            </a:moveTo>
                            <a:lnTo>
                              <a:pt x="51" y="90"/>
                            </a:lnTo>
                            <a:lnTo>
                              <a:pt x="98" y="57"/>
                            </a:lnTo>
                            <a:lnTo>
                              <a:pt x="124" y="19"/>
                            </a:lnTo>
                            <a:lnTo>
                              <a:pt x="139" y="0"/>
                            </a:lnTo>
                            <a:lnTo>
                              <a:pt x="98" y="26"/>
                            </a:lnTo>
                            <a:lnTo>
                              <a:pt x="73" y="46"/>
                            </a:lnTo>
                            <a:lnTo>
                              <a:pt x="51" y="61"/>
                            </a:lnTo>
                            <a:lnTo>
                              <a:pt x="32" y="83"/>
                            </a:lnTo>
                            <a:lnTo>
                              <a:pt x="0" y="129"/>
                            </a:lnTo>
                            <a:close/>
                          </a:path>
                        </a:pathLst>
                      </a:custGeom>
                      <a:solidFill>
                        <a:srgbClr val="007F9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331" name="Freeform 335"/>
                      <p:cNvSpPr/>
                      <p:nvPr/>
                    </p:nvSpPr>
                    <p:spPr bwMode="auto">
                      <a:xfrm>
                        <a:off x="5312" y="2503"/>
                        <a:ext cx="12" cy="15"/>
                      </a:xfrm>
                      <a:custGeom>
                        <a:avLst/>
                        <a:gdLst>
                          <a:gd name="T0" fmla="*/ 0 w 74"/>
                          <a:gd name="T1" fmla="*/ 77 h 77"/>
                          <a:gd name="T2" fmla="*/ 74 w 74"/>
                          <a:gd name="T3" fmla="*/ 0 h 77"/>
                          <a:gd name="T4" fmla="*/ 52 w 74"/>
                          <a:gd name="T5" fmla="*/ 50 h 77"/>
                          <a:gd name="T6" fmla="*/ 0 w 74"/>
                          <a:gd name="T7" fmla="*/ 77 h 77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</a:cxnLst>
                        <a:rect l="0" t="0" r="r" b="b"/>
                        <a:pathLst>
                          <a:path w="74" h="77">
                            <a:moveTo>
                              <a:pt x="0" y="77"/>
                            </a:moveTo>
                            <a:lnTo>
                              <a:pt x="74" y="0"/>
                            </a:lnTo>
                            <a:lnTo>
                              <a:pt x="52" y="50"/>
                            </a:lnTo>
                            <a:lnTo>
                              <a:pt x="0" y="77"/>
                            </a:lnTo>
                            <a:close/>
                          </a:path>
                        </a:pathLst>
                      </a:custGeom>
                      <a:solidFill>
                        <a:srgbClr val="007F9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332" name="Freeform 336"/>
                      <p:cNvSpPr/>
                      <p:nvPr/>
                    </p:nvSpPr>
                    <p:spPr bwMode="auto">
                      <a:xfrm>
                        <a:off x="5302" y="2464"/>
                        <a:ext cx="11" cy="45"/>
                      </a:xfrm>
                      <a:custGeom>
                        <a:avLst/>
                        <a:gdLst>
                          <a:gd name="T0" fmla="*/ 0 w 67"/>
                          <a:gd name="T1" fmla="*/ 226 h 226"/>
                          <a:gd name="T2" fmla="*/ 3 w 67"/>
                          <a:gd name="T3" fmla="*/ 132 h 226"/>
                          <a:gd name="T4" fmla="*/ 23 w 67"/>
                          <a:gd name="T5" fmla="*/ 37 h 226"/>
                          <a:gd name="T6" fmla="*/ 37 w 67"/>
                          <a:gd name="T7" fmla="*/ 0 h 226"/>
                          <a:gd name="T8" fmla="*/ 14 w 67"/>
                          <a:gd name="T9" fmla="*/ 121 h 226"/>
                          <a:gd name="T10" fmla="*/ 11 w 67"/>
                          <a:gd name="T11" fmla="*/ 186 h 226"/>
                          <a:gd name="T12" fmla="*/ 67 w 67"/>
                          <a:gd name="T13" fmla="*/ 129 h 226"/>
                          <a:gd name="T14" fmla="*/ 0 w 67"/>
                          <a:gd name="T15" fmla="*/ 226 h 226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</a:cxnLst>
                        <a:rect l="0" t="0" r="r" b="b"/>
                        <a:pathLst>
                          <a:path w="67" h="226">
                            <a:moveTo>
                              <a:pt x="0" y="226"/>
                            </a:moveTo>
                            <a:lnTo>
                              <a:pt x="3" y="132"/>
                            </a:lnTo>
                            <a:lnTo>
                              <a:pt x="23" y="37"/>
                            </a:lnTo>
                            <a:lnTo>
                              <a:pt x="37" y="0"/>
                            </a:lnTo>
                            <a:lnTo>
                              <a:pt x="14" y="121"/>
                            </a:lnTo>
                            <a:lnTo>
                              <a:pt x="11" y="186"/>
                            </a:lnTo>
                            <a:lnTo>
                              <a:pt x="67" y="129"/>
                            </a:lnTo>
                            <a:lnTo>
                              <a:pt x="0" y="226"/>
                            </a:lnTo>
                            <a:close/>
                          </a:path>
                        </a:pathLst>
                      </a:custGeom>
                      <a:solidFill>
                        <a:srgbClr val="007F9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</p:grpSp>
            </p:grpSp>
            <p:grpSp>
              <p:nvGrpSpPr>
                <p:cNvPr id="249" name="Group 337"/>
                <p:cNvGrpSpPr/>
                <p:nvPr/>
              </p:nvGrpSpPr>
              <p:grpSpPr bwMode="auto">
                <a:xfrm>
                  <a:off x="4779" y="2242"/>
                  <a:ext cx="222" cy="504"/>
                  <a:chOff x="4779" y="2242"/>
                  <a:chExt cx="222" cy="504"/>
                </a:xfrm>
              </p:grpSpPr>
              <p:grpSp>
                <p:nvGrpSpPr>
                  <p:cNvPr id="269" name="Group 338"/>
                  <p:cNvGrpSpPr/>
                  <p:nvPr/>
                </p:nvGrpSpPr>
                <p:grpSpPr bwMode="auto">
                  <a:xfrm>
                    <a:off x="4779" y="2327"/>
                    <a:ext cx="222" cy="419"/>
                    <a:chOff x="4779" y="2327"/>
                    <a:chExt cx="222" cy="419"/>
                  </a:xfrm>
                </p:grpSpPr>
                <p:sp>
                  <p:nvSpPr>
                    <p:cNvPr id="302" name="Freeform 339"/>
                    <p:cNvSpPr/>
                    <p:nvPr/>
                  </p:nvSpPr>
                  <p:spPr bwMode="auto">
                    <a:xfrm>
                      <a:off x="4971" y="2544"/>
                      <a:ext cx="30" cy="44"/>
                    </a:xfrm>
                    <a:custGeom>
                      <a:avLst/>
                      <a:gdLst>
                        <a:gd name="T0" fmla="*/ 67 w 179"/>
                        <a:gd name="T1" fmla="*/ 0 h 220"/>
                        <a:gd name="T2" fmla="*/ 179 w 179"/>
                        <a:gd name="T3" fmla="*/ 7 h 220"/>
                        <a:gd name="T4" fmla="*/ 166 w 179"/>
                        <a:gd name="T5" fmla="*/ 173 h 220"/>
                        <a:gd name="T6" fmla="*/ 159 w 179"/>
                        <a:gd name="T7" fmla="*/ 220 h 220"/>
                        <a:gd name="T8" fmla="*/ 0 w 179"/>
                        <a:gd name="T9" fmla="*/ 206 h 220"/>
                        <a:gd name="T10" fmla="*/ 67 w 179"/>
                        <a:gd name="T11" fmla="*/ 0 h 22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179" h="220">
                          <a:moveTo>
                            <a:pt x="67" y="0"/>
                          </a:moveTo>
                          <a:lnTo>
                            <a:pt x="179" y="7"/>
                          </a:lnTo>
                          <a:lnTo>
                            <a:pt x="166" y="173"/>
                          </a:lnTo>
                          <a:lnTo>
                            <a:pt x="159" y="220"/>
                          </a:lnTo>
                          <a:lnTo>
                            <a:pt x="0" y="206"/>
                          </a:lnTo>
                          <a:lnTo>
                            <a:pt x="67" y="0"/>
                          </a:lnTo>
                          <a:close/>
                        </a:path>
                      </a:pathLst>
                    </a:custGeom>
                    <a:solidFill>
                      <a:srgbClr val="F9F9F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03" name="Freeform 340"/>
                    <p:cNvSpPr/>
                    <p:nvPr/>
                  </p:nvSpPr>
                  <p:spPr bwMode="auto">
                    <a:xfrm>
                      <a:off x="4844" y="2336"/>
                      <a:ext cx="51" cy="161"/>
                    </a:xfrm>
                    <a:custGeom>
                      <a:avLst/>
                      <a:gdLst>
                        <a:gd name="T0" fmla="*/ 0 w 311"/>
                        <a:gd name="T1" fmla="*/ 0 h 804"/>
                        <a:gd name="T2" fmla="*/ 109 w 311"/>
                        <a:gd name="T3" fmla="*/ 409 h 804"/>
                        <a:gd name="T4" fmla="*/ 188 w 311"/>
                        <a:gd name="T5" fmla="*/ 804 h 804"/>
                        <a:gd name="T6" fmla="*/ 311 w 311"/>
                        <a:gd name="T7" fmla="*/ 796 h 804"/>
                        <a:gd name="T8" fmla="*/ 296 w 311"/>
                        <a:gd name="T9" fmla="*/ 446 h 804"/>
                        <a:gd name="T10" fmla="*/ 246 w 311"/>
                        <a:gd name="T11" fmla="*/ 171 h 804"/>
                        <a:gd name="T12" fmla="*/ 0 w 311"/>
                        <a:gd name="T13" fmla="*/ 0 h 80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311" h="804">
                          <a:moveTo>
                            <a:pt x="0" y="0"/>
                          </a:moveTo>
                          <a:lnTo>
                            <a:pt x="109" y="409"/>
                          </a:lnTo>
                          <a:lnTo>
                            <a:pt x="188" y="804"/>
                          </a:lnTo>
                          <a:lnTo>
                            <a:pt x="311" y="796"/>
                          </a:lnTo>
                          <a:lnTo>
                            <a:pt x="296" y="446"/>
                          </a:lnTo>
                          <a:lnTo>
                            <a:pt x="246" y="17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grpSp>
                  <p:nvGrpSpPr>
                    <p:cNvPr id="304" name="Group 341"/>
                    <p:cNvGrpSpPr/>
                    <p:nvPr/>
                  </p:nvGrpSpPr>
                  <p:grpSpPr bwMode="auto">
                    <a:xfrm>
                      <a:off x="4904" y="2700"/>
                      <a:ext cx="24" cy="44"/>
                      <a:chOff x="4904" y="2700"/>
                      <a:chExt cx="24" cy="44"/>
                    </a:xfrm>
                  </p:grpSpPr>
                  <p:sp>
                    <p:nvSpPr>
                      <p:cNvPr id="315" name="Freeform 342"/>
                      <p:cNvSpPr/>
                      <p:nvPr/>
                    </p:nvSpPr>
                    <p:spPr bwMode="auto">
                      <a:xfrm>
                        <a:off x="4907" y="2712"/>
                        <a:ext cx="16" cy="32"/>
                      </a:xfrm>
                      <a:custGeom>
                        <a:avLst/>
                        <a:gdLst>
                          <a:gd name="T0" fmla="*/ 0 w 97"/>
                          <a:gd name="T1" fmla="*/ 163 h 163"/>
                          <a:gd name="T2" fmla="*/ 97 w 97"/>
                          <a:gd name="T3" fmla="*/ 163 h 163"/>
                          <a:gd name="T4" fmla="*/ 80 w 97"/>
                          <a:gd name="T5" fmla="*/ 0 h 163"/>
                          <a:gd name="T6" fmla="*/ 3 w 97"/>
                          <a:gd name="T7" fmla="*/ 5 h 163"/>
                          <a:gd name="T8" fmla="*/ 0 w 97"/>
                          <a:gd name="T9" fmla="*/ 163 h 16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97" h="163">
                            <a:moveTo>
                              <a:pt x="0" y="163"/>
                            </a:moveTo>
                            <a:lnTo>
                              <a:pt x="97" y="163"/>
                            </a:lnTo>
                            <a:lnTo>
                              <a:pt x="80" y="0"/>
                            </a:lnTo>
                            <a:lnTo>
                              <a:pt x="3" y="5"/>
                            </a:lnTo>
                            <a:lnTo>
                              <a:pt x="0" y="163"/>
                            </a:lnTo>
                            <a:close/>
                          </a:path>
                        </a:pathLst>
                      </a:custGeom>
                      <a:solidFill>
                        <a:srgbClr val="FF9F9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316" name="Freeform 343"/>
                      <p:cNvSpPr/>
                      <p:nvPr/>
                    </p:nvSpPr>
                    <p:spPr bwMode="auto">
                      <a:xfrm>
                        <a:off x="4904" y="2700"/>
                        <a:ext cx="24" cy="18"/>
                      </a:xfrm>
                      <a:custGeom>
                        <a:avLst/>
                        <a:gdLst>
                          <a:gd name="T0" fmla="*/ 126 w 140"/>
                          <a:gd name="T1" fmla="*/ 0 h 90"/>
                          <a:gd name="T2" fmla="*/ 140 w 140"/>
                          <a:gd name="T3" fmla="*/ 76 h 90"/>
                          <a:gd name="T4" fmla="*/ 4 w 140"/>
                          <a:gd name="T5" fmla="*/ 90 h 90"/>
                          <a:gd name="T6" fmla="*/ 0 w 140"/>
                          <a:gd name="T7" fmla="*/ 12 h 90"/>
                          <a:gd name="T8" fmla="*/ 126 w 140"/>
                          <a:gd name="T9" fmla="*/ 0 h 9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140" h="90">
                            <a:moveTo>
                              <a:pt x="126" y="0"/>
                            </a:moveTo>
                            <a:lnTo>
                              <a:pt x="140" y="76"/>
                            </a:lnTo>
                            <a:lnTo>
                              <a:pt x="4" y="90"/>
                            </a:lnTo>
                            <a:lnTo>
                              <a:pt x="0" y="12"/>
                            </a:lnTo>
                            <a:lnTo>
                              <a:pt x="126" y="0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sp>
                  <p:nvSpPr>
                    <p:cNvPr id="305" name="Freeform 344"/>
                    <p:cNvSpPr/>
                    <p:nvPr/>
                  </p:nvSpPr>
                  <p:spPr bwMode="auto">
                    <a:xfrm>
                      <a:off x="4779" y="2327"/>
                      <a:ext cx="150" cy="419"/>
                    </a:xfrm>
                    <a:custGeom>
                      <a:avLst/>
                      <a:gdLst>
                        <a:gd name="T0" fmla="*/ 361 w 899"/>
                        <a:gd name="T1" fmla="*/ 34 h 2097"/>
                        <a:gd name="T2" fmla="*/ 287 w 899"/>
                        <a:gd name="T3" fmla="*/ 126 h 2097"/>
                        <a:gd name="T4" fmla="*/ 183 w 899"/>
                        <a:gd name="T5" fmla="*/ 227 h 2097"/>
                        <a:gd name="T6" fmla="*/ 109 w 899"/>
                        <a:gd name="T7" fmla="*/ 367 h 2097"/>
                        <a:gd name="T8" fmla="*/ 58 w 899"/>
                        <a:gd name="T9" fmla="*/ 552 h 2097"/>
                        <a:gd name="T10" fmla="*/ 52 w 899"/>
                        <a:gd name="T11" fmla="*/ 646 h 2097"/>
                        <a:gd name="T12" fmla="*/ 30 w 899"/>
                        <a:gd name="T13" fmla="*/ 833 h 2097"/>
                        <a:gd name="T14" fmla="*/ 29 w 899"/>
                        <a:gd name="T15" fmla="*/ 986 h 2097"/>
                        <a:gd name="T16" fmla="*/ 53 w 899"/>
                        <a:gd name="T17" fmla="*/ 1116 h 2097"/>
                        <a:gd name="T18" fmla="*/ 47 w 899"/>
                        <a:gd name="T19" fmla="*/ 1439 h 2097"/>
                        <a:gd name="T20" fmla="*/ 0 w 899"/>
                        <a:gd name="T21" fmla="*/ 2097 h 2097"/>
                        <a:gd name="T22" fmla="*/ 773 w 899"/>
                        <a:gd name="T23" fmla="*/ 1889 h 2097"/>
                        <a:gd name="T24" fmla="*/ 829 w 899"/>
                        <a:gd name="T25" fmla="*/ 1273 h 2097"/>
                        <a:gd name="T26" fmla="*/ 892 w 899"/>
                        <a:gd name="T27" fmla="*/ 721 h 2097"/>
                        <a:gd name="T28" fmla="*/ 893 w 899"/>
                        <a:gd name="T29" fmla="*/ 582 h 2097"/>
                        <a:gd name="T30" fmla="*/ 883 w 899"/>
                        <a:gd name="T31" fmla="*/ 508 h 2097"/>
                        <a:gd name="T32" fmla="*/ 870 w 899"/>
                        <a:gd name="T33" fmla="*/ 466 h 2097"/>
                        <a:gd name="T34" fmla="*/ 844 w 899"/>
                        <a:gd name="T35" fmla="*/ 426 h 2097"/>
                        <a:gd name="T36" fmla="*/ 794 w 899"/>
                        <a:gd name="T37" fmla="*/ 372 h 2097"/>
                        <a:gd name="T38" fmla="*/ 665 w 899"/>
                        <a:gd name="T39" fmla="*/ 263 h 2097"/>
                        <a:gd name="T40" fmla="*/ 626 w 899"/>
                        <a:gd name="T41" fmla="*/ 255 h 2097"/>
                        <a:gd name="T42" fmla="*/ 625 w 899"/>
                        <a:gd name="T43" fmla="*/ 330 h 2097"/>
                        <a:gd name="T44" fmla="*/ 638 w 899"/>
                        <a:gd name="T45" fmla="*/ 486 h 2097"/>
                        <a:gd name="T46" fmla="*/ 645 w 899"/>
                        <a:gd name="T47" fmla="*/ 865 h 2097"/>
                        <a:gd name="T48" fmla="*/ 593 w 899"/>
                        <a:gd name="T49" fmla="*/ 739 h 2097"/>
                        <a:gd name="T50" fmla="*/ 577 w 899"/>
                        <a:gd name="T51" fmla="*/ 666 h 2097"/>
                        <a:gd name="T52" fmla="*/ 563 w 899"/>
                        <a:gd name="T53" fmla="*/ 567 h 2097"/>
                        <a:gd name="T54" fmla="*/ 543 w 899"/>
                        <a:gd name="T55" fmla="*/ 472 h 2097"/>
                        <a:gd name="T56" fmla="*/ 509 w 899"/>
                        <a:gd name="T57" fmla="*/ 382 h 2097"/>
                        <a:gd name="T58" fmla="*/ 447 w 899"/>
                        <a:gd name="T59" fmla="*/ 246 h 2097"/>
                        <a:gd name="T60" fmla="*/ 381 w 899"/>
                        <a:gd name="T61" fmla="*/ 93 h 2097"/>
                        <a:gd name="T62" fmla="*/ 379 w 899"/>
                        <a:gd name="T63" fmla="*/ 43 h 2097"/>
                        <a:gd name="T64" fmla="*/ 391 w 899"/>
                        <a:gd name="T65" fmla="*/ 0 h 209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</a:cxnLst>
                      <a:rect l="0" t="0" r="r" b="b"/>
                      <a:pathLst>
                        <a:path w="899" h="2097">
                          <a:moveTo>
                            <a:pt x="391" y="0"/>
                          </a:moveTo>
                          <a:lnTo>
                            <a:pt x="361" y="34"/>
                          </a:lnTo>
                          <a:lnTo>
                            <a:pt x="325" y="80"/>
                          </a:lnTo>
                          <a:lnTo>
                            <a:pt x="287" y="126"/>
                          </a:lnTo>
                          <a:lnTo>
                            <a:pt x="210" y="201"/>
                          </a:lnTo>
                          <a:lnTo>
                            <a:pt x="183" y="227"/>
                          </a:lnTo>
                          <a:lnTo>
                            <a:pt x="164" y="258"/>
                          </a:lnTo>
                          <a:lnTo>
                            <a:pt x="109" y="367"/>
                          </a:lnTo>
                          <a:lnTo>
                            <a:pt x="80" y="440"/>
                          </a:lnTo>
                          <a:lnTo>
                            <a:pt x="58" y="552"/>
                          </a:lnTo>
                          <a:lnTo>
                            <a:pt x="52" y="611"/>
                          </a:lnTo>
                          <a:lnTo>
                            <a:pt x="52" y="646"/>
                          </a:lnTo>
                          <a:lnTo>
                            <a:pt x="36" y="772"/>
                          </a:lnTo>
                          <a:lnTo>
                            <a:pt x="30" y="833"/>
                          </a:lnTo>
                          <a:lnTo>
                            <a:pt x="30" y="894"/>
                          </a:lnTo>
                          <a:lnTo>
                            <a:pt x="29" y="986"/>
                          </a:lnTo>
                          <a:lnTo>
                            <a:pt x="52" y="1087"/>
                          </a:lnTo>
                          <a:lnTo>
                            <a:pt x="53" y="1116"/>
                          </a:lnTo>
                          <a:lnTo>
                            <a:pt x="54" y="1205"/>
                          </a:lnTo>
                          <a:lnTo>
                            <a:pt x="47" y="1439"/>
                          </a:lnTo>
                          <a:lnTo>
                            <a:pt x="29" y="1748"/>
                          </a:lnTo>
                          <a:lnTo>
                            <a:pt x="0" y="2097"/>
                          </a:lnTo>
                          <a:lnTo>
                            <a:pt x="773" y="2089"/>
                          </a:lnTo>
                          <a:lnTo>
                            <a:pt x="773" y="1889"/>
                          </a:lnTo>
                          <a:lnTo>
                            <a:pt x="899" y="1873"/>
                          </a:lnTo>
                          <a:lnTo>
                            <a:pt x="829" y="1273"/>
                          </a:lnTo>
                          <a:lnTo>
                            <a:pt x="871" y="821"/>
                          </a:lnTo>
                          <a:lnTo>
                            <a:pt x="892" y="721"/>
                          </a:lnTo>
                          <a:lnTo>
                            <a:pt x="893" y="615"/>
                          </a:lnTo>
                          <a:lnTo>
                            <a:pt x="893" y="582"/>
                          </a:lnTo>
                          <a:lnTo>
                            <a:pt x="889" y="547"/>
                          </a:lnTo>
                          <a:lnTo>
                            <a:pt x="883" y="508"/>
                          </a:lnTo>
                          <a:lnTo>
                            <a:pt x="877" y="487"/>
                          </a:lnTo>
                          <a:lnTo>
                            <a:pt x="870" y="466"/>
                          </a:lnTo>
                          <a:lnTo>
                            <a:pt x="861" y="449"/>
                          </a:lnTo>
                          <a:lnTo>
                            <a:pt x="844" y="426"/>
                          </a:lnTo>
                          <a:lnTo>
                            <a:pt x="810" y="400"/>
                          </a:lnTo>
                          <a:lnTo>
                            <a:pt x="794" y="372"/>
                          </a:lnTo>
                          <a:lnTo>
                            <a:pt x="696" y="266"/>
                          </a:lnTo>
                          <a:lnTo>
                            <a:pt x="665" y="263"/>
                          </a:lnTo>
                          <a:lnTo>
                            <a:pt x="644" y="259"/>
                          </a:lnTo>
                          <a:lnTo>
                            <a:pt x="626" y="255"/>
                          </a:lnTo>
                          <a:lnTo>
                            <a:pt x="606" y="250"/>
                          </a:lnTo>
                          <a:lnTo>
                            <a:pt x="625" y="330"/>
                          </a:lnTo>
                          <a:lnTo>
                            <a:pt x="635" y="408"/>
                          </a:lnTo>
                          <a:lnTo>
                            <a:pt x="638" y="486"/>
                          </a:lnTo>
                          <a:lnTo>
                            <a:pt x="653" y="634"/>
                          </a:lnTo>
                          <a:lnTo>
                            <a:pt x="645" y="865"/>
                          </a:lnTo>
                          <a:lnTo>
                            <a:pt x="602" y="784"/>
                          </a:lnTo>
                          <a:lnTo>
                            <a:pt x="593" y="739"/>
                          </a:lnTo>
                          <a:lnTo>
                            <a:pt x="586" y="697"/>
                          </a:lnTo>
                          <a:lnTo>
                            <a:pt x="577" y="666"/>
                          </a:lnTo>
                          <a:lnTo>
                            <a:pt x="570" y="615"/>
                          </a:lnTo>
                          <a:lnTo>
                            <a:pt x="563" y="567"/>
                          </a:lnTo>
                          <a:lnTo>
                            <a:pt x="553" y="519"/>
                          </a:lnTo>
                          <a:lnTo>
                            <a:pt x="543" y="472"/>
                          </a:lnTo>
                          <a:lnTo>
                            <a:pt x="530" y="430"/>
                          </a:lnTo>
                          <a:lnTo>
                            <a:pt x="509" y="382"/>
                          </a:lnTo>
                          <a:lnTo>
                            <a:pt x="472" y="303"/>
                          </a:lnTo>
                          <a:lnTo>
                            <a:pt x="447" y="246"/>
                          </a:lnTo>
                          <a:lnTo>
                            <a:pt x="414" y="167"/>
                          </a:lnTo>
                          <a:lnTo>
                            <a:pt x="381" y="93"/>
                          </a:lnTo>
                          <a:lnTo>
                            <a:pt x="371" y="64"/>
                          </a:lnTo>
                          <a:lnTo>
                            <a:pt x="379" y="43"/>
                          </a:lnTo>
                          <a:lnTo>
                            <a:pt x="394" y="13"/>
                          </a:lnTo>
                          <a:lnTo>
                            <a:pt x="391" y="0"/>
                          </a:lnTo>
                          <a:close/>
                        </a:path>
                      </a:pathLst>
                    </a:custGeom>
                    <a:solidFill>
                      <a:srgbClr val="7F7F7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06" name="Freeform 345"/>
                    <p:cNvSpPr/>
                    <p:nvPr/>
                  </p:nvSpPr>
                  <p:spPr bwMode="auto">
                    <a:xfrm>
                      <a:off x="4908" y="2401"/>
                      <a:ext cx="21" cy="303"/>
                    </a:xfrm>
                    <a:custGeom>
                      <a:avLst/>
                      <a:gdLst>
                        <a:gd name="T0" fmla="*/ 64 w 128"/>
                        <a:gd name="T1" fmla="*/ 147 h 1517"/>
                        <a:gd name="T2" fmla="*/ 75 w 128"/>
                        <a:gd name="T3" fmla="*/ 313 h 1517"/>
                        <a:gd name="T4" fmla="*/ 46 w 128"/>
                        <a:gd name="T5" fmla="*/ 691 h 1517"/>
                        <a:gd name="T6" fmla="*/ 0 w 128"/>
                        <a:gd name="T7" fmla="*/ 1061 h 1517"/>
                        <a:gd name="T8" fmla="*/ 0 w 128"/>
                        <a:gd name="T9" fmla="*/ 1517 h 1517"/>
                        <a:gd name="T10" fmla="*/ 128 w 128"/>
                        <a:gd name="T11" fmla="*/ 1501 h 1517"/>
                        <a:gd name="T12" fmla="*/ 57 w 128"/>
                        <a:gd name="T13" fmla="*/ 901 h 1517"/>
                        <a:gd name="T14" fmla="*/ 100 w 128"/>
                        <a:gd name="T15" fmla="*/ 449 h 1517"/>
                        <a:gd name="T16" fmla="*/ 121 w 128"/>
                        <a:gd name="T17" fmla="*/ 347 h 1517"/>
                        <a:gd name="T18" fmla="*/ 122 w 128"/>
                        <a:gd name="T19" fmla="*/ 242 h 1517"/>
                        <a:gd name="T20" fmla="*/ 122 w 128"/>
                        <a:gd name="T21" fmla="*/ 209 h 1517"/>
                        <a:gd name="T22" fmla="*/ 118 w 128"/>
                        <a:gd name="T23" fmla="*/ 174 h 1517"/>
                        <a:gd name="T24" fmla="*/ 112 w 128"/>
                        <a:gd name="T25" fmla="*/ 136 h 1517"/>
                        <a:gd name="T26" fmla="*/ 106 w 128"/>
                        <a:gd name="T27" fmla="*/ 115 h 1517"/>
                        <a:gd name="T28" fmla="*/ 99 w 128"/>
                        <a:gd name="T29" fmla="*/ 94 h 1517"/>
                        <a:gd name="T30" fmla="*/ 88 w 128"/>
                        <a:gd name="T31" fmla="*/ 77 h 1517"/>
                        <a:gd name="T32" fmla="*/ 72 w 128"/>
                        <a:gd name="T33" fmla="*/ 54 h 1517"/>
                        <a:gd name="T34" fmla="*/ 38 w 128"/>
                        <a:gd name="T35" fmla="*/ 28 h 1517"/>
                        <a:gd name="T36" fmla="*/ 20 w 128"/>
                        <a:gd name="T37" fmla="*/ 0 h 1517"/>
                        <a:gd name="T38" fmla="*/ 64 w 128"/>
                        <a:gd name="T39" fmla="*/ 147 h 15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28" h="1517">
                          <a:moveTo>
                            <a:pt x="64" y="147"/>
                          </a:moveTo>
                          <a:lnTo>
                            <a:pt x="75" y="313"/>
                          </a:lnTo>
                          <a:lnTo>
                            <a:pt x="46" y="691"/>
                          </a:lnTo>
                          <a:lnTo>
                            <a:pt x="0" y="1061"/>
                          </a:lnTo>
                          <a:lnTo>
                            <a:pt x="0" y="1517"/>
                          </a:lnTo>
                          <a:lnTo>
                            <a:pt x="128" y="1501"/>
                          </a:lnTo>
                          <a:lnTo>
                            <a:pt x="57" y="901"/>
                          </a:lnTo>
                          <a:lnTo>
                            <a:pt x="100" y="449"/>
                          </a:lnTo>
                          <a:lnTo>
                            <a:pt x="121" y="347"/>
                          </a:lnTo>
                          <a:lnTo>
                            <a:pt x="122" y="242"/>
                          </a:lnTo>
                          <a:lnTo>
                            <a:pt x="122" y="209"/>
                          </a:lnTo>
                          <a:lnTo>
                            <a:pt x="118" y="174"/>
                          </a:lnTo>
                          <a:lnTo>
                            <a:pt x="112" y="136"/>
                          </a:lnTo>
                          <a:lnTo>
                            <a:pt x="106" y="115"/>
                          </a:lnTo>
                          <a:lnTo>
                            <a:pt x="99" y="94"/>
                          </a:lnTo>
                          <a:lnTo>
                            <a:pt x="88" y="77"/>
                          </a:lnTo>
                          <a:lnTo>
                            <a:pt x="72" y="54"/>
                          </a:lnTo>
                          <a:lnTo>
                            <a:pt x="38" y="28"/>
                          </a:lnTo>
                          <a:lnTo>
                            <a:pt x="20" y="0"/>
                          </a:lnTo>
                          <a:lnTo>
                            <a:pt x="64" y="147"/>
                          </a:lnTo>
                          <a:close/>
                        </a:path>
                      </a:pathLst>
                    </a:custGeom>
                    <a:solidFill>
                      <a:srgbClr val="7F7F7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07" name="Freeform 346"/>
                    <p:cNvSpPr/>
                    <p:nvPr/>
                  </p:nvSpPr>
                  <p:spPr bwMode="auto">
                    <a:xfrm>
                      <a:off x="4810" y="2473"/>
                      <a:ext cx="87" cy="210"/>
                    </a:xfrm>
                    <a:custGeom>
                      <a:avLst/>
                      <a:gdLst>
                        <a:gd name="T0" fmla="*/ 0 w 525"/>
                        <a:gd name="T1" fmla="*/ 0 h 1048"/>
                        <a:gd name="T2" fmla="*/ 47 w 525"/>
                        <a:gd name="T3" fmla="*/ 135 h 1048"/>
                        <a:gd name="T4" fmla="*/ 100 w 525"/>
                        <a:gd name="T5" fmla="*/ 245 h 1048"/>
                        <a:gd name="T6" fmla="*/ 121 w 525"/>
                        <a:gd name="T7" fmla="*/ 298 h 1048"/>
                        <a:gd name="T8" fmla="*/ 128 w 525"/>
                        <a:gd name="T9" fmla="*/ 354 h 1048"/>
                        <a:gd name="T10" fmla="*/ 151 w 525"/>
                        <a:gd name="T11" fmla="*/ 376 h 1048"/>
                        <a:gd name="T12" fmla="*/ 233 w 525"/>
                        <a:gd name="T13" fmla="*/ 557 h 1048"/>
                        <a:gd name="T14" fmla="*/ 269 w 525"/>
                        <a:gd name="T15" fmla="*/ 621 h 1048"/>
                        <a:gd name="T16" fmla="*/ 330 w 525"/>
                        <a:gd name="T17" fmla="*/ 750 h 1048"/>
                        <a:gd name="T18" fmla="*/ 366 w 525"/>
                        <a:gd name="T19" fmla="*/ 822 h 1048"/>
                        <a:gd name="T20" fmla="*/ 399 w 525"/>
                        <a:gd name="T21" fmla="*/ 911 h 1048"/>
                        <a:gd name="T22" fmla="*/ 406 w 525"/>
                        <a:gd name="T23" fmla="*/ 952 h 1048"/>
                        <a:gd name="T24" fmla="*/ 489 w 525"/>
                        <a:gd name="T25" fmla="*/ 1048 h 1048"/>
                        <a:gd name="T26" fmla="*/ 517 w 525"/>
                        <a:gd name="T27" fmla="*/ 826 h 1048"/>
                        <a:gd name="T28" fmla="*/ 525 w 525"/>
                        <a:gd name="T29" fmla="*/ 710 h 1048"/>
                        <a:gd name="T30" fmla="*/ 514 w 525"/>
                        <a:gd name="T31" fmla="*/ 569 h 1048"/>
                        <a:gd name="T32" fmla="*/ 492 w 525"/>
                        <a:gd name="T33" fmla="*/ 409 h 1048"/>
                        <a:gd name="T34" fmla="*/ 464 w 525"/>
                        <a:gd name="T35" fmla="*/ 394 h 1048"/>
                        <a:gd name="T36" fmla="*/ 464 w 525"/>
                        <a:gd name="T37" fmla="*/ 491 h 1048"/>
                        <a:gd name="T38" fmla="*/ 478 w 525"/>
                        <a:gd name="T39" fmla="*/ 576 h 1048"/>
                        <a:gd name="T40" fmla="*/ 489 w 525"/>
                        <a:gd name="T41" fmla="*/ 669 h 1048"/>
                        <a:gd name="T42" fmla="*/ 485 w 525"/>
                        <a:gd name="T43" fmla="*/ 717 h 1048"/>
                        <a:gd name="T44" fmla="*/ 453 w 525"/>
                        <a:gd name="T45" fmla="*/ 565 h 1048"/>
                        <a:gd name="T46" fmla="*/ 428 w 525"/>
                        <a:gd name="T47" fmla="*/ 454 h 1048"/>
                        <a:gd name="T48" fmla="*/ 384 w 525"/>
                        <a:gd name="T49" fmla="*/ 383 h 1048"/>
                        <a:gd name="T50" fmla="*/ 110 w 525"/>
                        <a:gd name="T51" fmla="*/ 83 h 1048"/>
                        <a:gd name="T52" fmla="*/ 0 w 525"/>
                        <a:gd name="T53" fmla="*/ 0 h 104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</a:cxnLst>
                      <a:rect l="0" t="0" r="r" b="b"/>
                      <a:pathLst>
                        <a:path w="525" h="1048">
                          <a:moveTo>
                            <a:pt x="0" y="0"/>
                          </a:moveTo>
                          <a:lnTo>
                            <a:pt x="47" y="135"/>
                          </a:lnTo>
                          <a:lnTo>
                            <a:pt x="100" y="245"/>
                          </a:lnTo>
                          <a:lnTo>
                            <a:pt x="121" y="298"/>
                          </a:lnTo>
                          <a:lnTo>
                            <a:pt x="128" y="354"/>
                          </a:lnTo>
                          <a:lnTo>
                            <a:pt x="151" y="376"/>
                          </a:lnTo>
                          <a:lnTo>
                            <a:pt x="233" y="557"/>
                          </a:lnTo>
                          <a:lnTo>
                            <a:pt x="269" y="621"/>
                          </a:lnTo>
                          <a:lnTo>
                            <a:pt x="330" y="750"/>
                          </a:lnTo>
                          <a:lnTo>
                            <a:pt x="366" y="822"/>
                          </a:lnTo>
                          <a:lnTo>
                            <a:pt x="399" y="911"/>
                          </a:lnTo>
                          <a:lnTo>
                            <a:pt x="406" y="952"/>
                          </a:lnTo>
                          <a:lnTo>
                            <a:pt x="489" y="1048"/>
                          </a:lnTo>
                          <a:lnTo>
                            <a:pt x="517" y="826"/>
                          </a:lnTo>
                          <a:lnTo>
                            <a:pt x="525" y="710"/>
                          </a:lnTo>
                          <a:lnTo>
                            <a:pt x="514" y="569"/>
                          </a:lnTo>
                          <a:lnTo>
                            <a:pt x="492" y="409"/>
                          </a:lnTo>
                          <a:lnTo>
                            <a:pt x="464" y="394"/>
                          </a:lnTo>
                          <a:lnTo>
                            <a:pt x="464" y="491"/>
                          </a:lnTo>
                          <a:lnTo>
                            <a:pt x="478" y="576"/>
                          </a:lnTo>
                          <a:lnTo>
                            <a:pt x="489" y="669"/>
                          </a:lnTo>
                          <a:lnTo>
                            <a:pt x="485" y="717"/>
                          </a:lnTo>
                          <a:lnTo>
                            <a:pt x="453" y="565"/>
                          </a:lnTo>
                          <a:lnTo>
                            <a:pt x="428" y="454"/>
                          </a:lnTo>
                          <a:lnTo>
                            <a:pt x="384" y="383"/>
                          </a:lnTo>
                          <a:lnTo>
                            <a:pt x="110" y="83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3F3F3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08" name="Freeform 347"/>
                    <p:cNvSpPr/>
                    <p:nvPr/>
                  </p:nvSpPr>
                  <p:spPr bwMode="auto">
                    <a:xfrm>
                      <a:off x="4791" y="2375"/>
                      <a:ext cx="199" cy="223"/>
                    </a:xfrm>
                    <a:custGeom>
                      <a:avLst/>
                      <a:gdLst>
                        <a:gd name="T0" fmla="*/ 355 w 1198"/>
                        <a:gd name="T1" fmla="*/ 85 h 1114"/>
                        <a:gd name="T2" fmla="*/ 305 w 1198"/>
                        <a:gd name="T3" fmla="*/ 41 h 1114"/>
                        <a:gd name="T4" fmla="*/ 261 w 1198"/>
                        <a:gd name="T5" fmla="*/ 18 h 1114"/>
                        <a:gd name="T6" fmla="*/ 208 w 1198"/>
                        <a:gd name="T7" fmla="*/ 4 h 1114"/>
                        <a:gd name="T8" fmla="*/ 165 w 1198"/>
                        <a:gd name="T9" fmla="*/ 0 h 1114"/>
                        <a:gd name="T10" fmla="*/ 147 w 1198"/>
                        <a:gd name="T11" fmla="*/ 7 h 1114"/>
                        <a:gd name="T12" fmla="*/ 108 w 1198"/>
                        <a:gd name="T13" fmla="*/ 44 h 1114"/>
                        <a:gd name="T14" fmla="*/ 68 w 1198"/>
                        <a:gd name="T15" fmla="*/ 93 h 1114"/>
                        <a:gd name="T16" fmla="*/ 50 w 1198"/>
                        <a:gd name="T17" fmla="*/ 119 h 1114"/>
                        <a:gd name="T18" fmla="*/ 43 w 1198"/>
                        <a:gd name="T19" fmla="*/ 167 h 1114"/>
                        <a:gd name="T20" fmla="*/ 50 w 1198"/>
                        <a:gd name="T21" fmla="*/ 234 h 1114"/>
                        <a:gd name="T22" fmla="*/ 65 w 1198"/>
                        <a:gd name="T23" fmla="*/ 304 h 1114"/>
                        <a:gd name="T24" fmla="*/ 97 w 1198"/>
                        <a:gd name="T25" fmla="*/ 363 h 1114"/>
                        <a:gd name="T26" fmla="*/ 115 w 1198"/>
                        <a:gd name="T27" fmla="*/ 419 h 1114"/>
                        <a:gd name="T28" fmla="*/ 0 w 1198"/>
                        <a:gd name="T29" fmla="*/ 438 h 1114"/>
                        <a:gd name="T30" fmla="*/ 97 w 1198"/>
                        <a:gd name="T31" fmla="*/ 438 h 1114"/>
                        <a:gd name="T32" fmla="*/ 15 w 1198"/>
                        <a:gd name="T33" fmla="*/ 572 h 1114"/>
                        <a:gd name="T34" fmla="*/ 104 w 1198"/>
                        <a:gd name="T35" fmla="*/ 464 h 1114"/>
                        <a:gd name="T36" fmla="*/ 108 w 1198"/>
                        <a:gd name="T37" fmla="*/ 498 h 1114"/>
                        <a:gd name="T38" fmla="*/ 43 w 1198"/>
                        <a:gd name="T39" fmla="*/ 756 h 1114"/>
                        <a:gd name="T40" fmla="*/ 126 w 1198"/>
                        <a:gd name="T41" fmla="*/ 520 h 1114"/>
                        <a:gd name="T42" fmla="*/ 176 w 1198"/>
                        <a:gd name="T43" fmla="*/ 561 h 1114"/>
                        <a:gd name="T44" fmla="*/ 243 w 1198"/>
                        <a:gd name="T45" fmla="*/ 665 h 1114"/>
                        <a:gd name="T46" fmla="*/ 301 w 1198"/>
                        <a:gd name="T47" fmla="*/ 728 h 1114"/>
                        <a:gd name="T48" fmla="*/ 326 w 1198"/>
                        <a:gd name="T49" fmla="*/ 756 h 1114"/>
                        <a:gd name="T50" fmla="*/ 359 w 1198"/>
                        <a:gd name="T51" fmla="*/ 790 h 1114"/>
                        <a:gd name="T52" fmla="*/ 373 w 1198"/>
                        <a:gd name="T53" fmla="*/ 801 h 1114"/>
                        <a:gd name="T54" fmla="*/ 377 w 1198"/>
                        <a:gd name="T55" fmla="*/ 827 h 1114"/>
                        <a:gd name="T56" fmla="*/ 395 w 1198"/>
                        <a:gd name="T57" fmla="*/ 843 h 1114"/>
                        <a:gd name="T58" fmla="*/ 427 w 1198"/>
                        <a:gd name="T59" fmla="*/ 850 h 1114"/>
                        <a:gd name="T60" fmla="*/ 459 w 1198"/>
                        <a:gd name="T61" fmla="*/ 854 h 1114"/>
                        <a:gd name="T62" fmla="*/ 495 w 1198"/>
                        <a:gd name="T63" fmla="*/ 873 h 1114"/>
                        <a:gd name="T64" fmla="*/ 552 w 1198"/>
                        <a:gd name="T65" fmla="*/ 914 h 1114"/>
                        <a:gd name="T66" fmla="*/ 617 w 1198"/>
                        <a:gd name="T67" fmla="*/ 954 h 1114"/>
                        <a:gd name="T68" fmla="*/ 717 w 1198"/>
                        <a:gd name="T69" fmla="*/ 999 h 1114"/>
                        <a:gd name="T70" fmla="*/ 813 w 1198"/>
                        <a:gd name="T71" fmla="*/ 1032 h 1114"/>
                        <a:gd name="T72" fmla="*/ 900 w 1198"/>
                        <a:gd name="T73" fmla="*/ 1054 h 1114"/>
                        <a:gd name="T74" fmla="*/ 1018 w 1198"/>
                        <a:gd name="T75" fmla="*/ 1088 h 1114"/>
                        <a:gd name="T76" fmla="*/ 1137 w 1198"/>
                        <a:gd name="T77" fmla="*/ 1114 h 1114"/>
                        <a:gd name="T78" fmla="*/ 1158 w 1198"/>
                        <a:gd name="T79" fmla="*/ 1114 h 1114"/>
                        <a:gd name="T80" fmla="*/ 1155 w 1198"/>
                        <a:gd name="T81" fmla="*/ 1025 h 1114"/>
                        <a:gd name="T82" fmla="*/ 1165 w 1198"/>
                        <a:gd name="T83" fmla="*/ 984 h 1114"/>
                        <a:gd name="T84" fmla="*/ 1172 w 1198"/>
                        <a:gd name="T85" fmla="*/ 925 h 1114"/>
                        <a:gd name="T86" fmla="*/ 1190 w 1198"/>
                        <a:gd name="T87" fmla="*/ 850 h 1114"/>
                        <a:gd name="T88" fmla="*/ 1198 w 1198"/>
                        <a:gd name="T89" fmla="*/ 834 h 1114"/>
                        <a:gd name="T90" fmla="*/ 1097 w 1198"/>
                        <a:gd name="T91" fmla="*/ 812 h 1114"/>
                        <a:gd name="T92" fmla="*/ 1011 w 1198"/>
                        <a:gd name="T93" fmla="*/ 775 h 1114"/>
                        <a:gd name="T94" fmla="*/ 922 w 1198"/>
                        <a:gd name="T95" fmla="*/ 738 h 1114"/>
                        <a:gd name="T96" fmla="*/ 900 w 1198"/>
                        <a:gd name="T97" fmla="*/ 713 h 1114"/>
                        <a:gd name="T98" fmla="*/ 859 w 1198"/>
                        <a:gd name="T99" fmla="*/ 702 h 1114"/>
                        <a:gd name="T100" fmla="*/ 809 w 1198"/>
                        <a:gd name="T101" fmla="*/ 698 h 1114"/>
                        <a:gd name="T102" fmla="*/ 721 w 1198"/>
                        <a:gd name="T103" fmla="*/ 672 h 1114"/>
                        <a:gd name="T104" fmla="*/ 667 w 1198"/>
                        <a:gd name="T105" fmla="*/ 624 h 1114"/>
                        <a:gd name="T106" fmla="*/ 581 w 1198"/>
                        <a:gd name="T107" fmla="*/ 535 h 1114"/>
                        <a:gd name="T108" fmla="*/ 524 w 1198"/>
                        <a:gd name="T109" fmla="*/ 438 h 1114"/>
                        <a:gd name="T110" fmla="*/ 491 w 1198"/>
                        <a:gd name="T111" fmla="*/ 408 h 1114"/>
                        <a:gd name="T112" fmla="*/ 430 w 1198"/>
                        <a:gd name="T113" fmla="*/ 304 h 1114"/>
                        <a:gd name="T114" fmla="*/ 423 w 1198"/>
                        <a:gd name="T115" fmla="*/ 260 h 1114"/>
                        <a:gd name="T116" fmla="*/ 413 w 1198"/>
                        <a:gd name="T117" fmla="*/ 219 h 1114"/>
                        <a:gd name="T118" fmla="*/ 398 w 1198"/>
                        <a:gd name="T119" fmla="*/ 189 h 1114"/>
                        <a:gd name="T120" fmla="*/ 380 w 1198"/>
                        <a:gd name="T121" fmla="*/ 137 h 1114"/>
                        <a:gd name="T122" fmla="*/ 355 w 1198"/>
                        <a:gd name="T123" fmla="*/ 85 h 111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  <a:cxn ang="0">
                          <a:pos x="T112" y="T113"/>
                        </a:cxn>
                        <a:cxn ang="0">
                          <a:pos x="T114" y="T115"/>
                        </a:cxn>
                        <a:cxn ang="0">
                          <a:pos x="T116" y="T117"/>
                        </a:cxn>
                        <a:cxn ang="0">
                          <a:pos x="T118" y="T119"/>
                        </a:cxn>
                        <a:cxn ang="0">
                          <a:pos x="T120" y="T121"/>
                        </a:cxn>
                        <a:cxn ang="0">
                          <a:pos x="T122" y="T123"/>
                        </a:cxn>
                      </a:cxnLst>
                      <a:rect l="0" t="0" r="r" b="b"/>
                      <a:pathLst>
                        <a:path w="1198" h="1114">
                          <a:moveTo>
                            <a:pt x="355" y="85"/>
                          </a:moveTo>
                          <a:lnTo>
                            <a:pt x="305" y="41"/>
                          </a:lnTo>
                          <a:lnTo>
                            <a:pt x="261" y="18"/>
                          </a:lnTo>
                          <a:lnTo>
                            <a:pt x="208" y="4"/>
                          </a:lnTo>
                          <a:lnTo>
                            <a:pt x="165" y="0"/>
                          </a:lnTo>
                          <a:lnTo>
                            <a:pt x="147" y="7"/>
                          </a:lnTo>
                          <a:lnTo>
                            <a:pt x="108" y="44"/>
                          </a:lnTo>
                          <a:lnTo>
                            <a:pt x="68" y="93"/>
                          </a:lnTo>
                          <a:lnTo>
                            <a:pt x="50" y="119"/>
                          </a:lnTo>
                          <a:lnTo>
                            <a:pt x="43" y="167"/>
                          </a:lnTo>
                          <a:lnTo>
                            <a:pt x="50" y="234"/>
                          </a:lnTo>
                          <a:lnTo>
                            <a:pt x="65" y="304"/>
                          </a:lnTo>
                          <a:lnTo>
                            <a:pt x="97" y="363"/>
                          </a:lnTo>
                          <a:lnTo>
                            <a:pt x="115" y="419"/>
                          </a:lnTo>
                          <a:lnTo>
                            <a:pt x="0" y="438"/>
                          </a:lnTo>
                          <a:lnTo>
                            <a:pt x="97" y="438"/>
                          </a:lnTo>
                          <a:lnTo>
                            <a:pt x="15" y="572"/>
                          </a:lnTo>
                          <a:lnTo>
                            <a:pt x="104" y="464"/>
                          </a:lnTo>
                          <a:lnTo>
                            <a:pt x="108" y="498"/>
                          </a:lnTo>
                          <a:lnTo>
                            <a:pt x="43" y="756"/>
                          </a:lnTo>
                          <a:lnTo>
                            <a:pt x="126" y="520"/>
                          </a:lnTo>
                          <a:lnTo>
                            <a:pt x="176" y="561"/>
                          </a:lnTo>
                          <a:lnTo>
                            <a:pt x="243" y="665"/>
                          </a:lnTo>
                          <a:lnTo>
                            <a:pt x="301" y="728"/>
                          </a:lnTo>
                          <a:lnTo>
                            <a:pt x="326" y="756"/>
                          </a:lnTo>
                          <a:lnTo>
                            <a:pt x="359" y="790"/>
                          </a:lnTo>
                          <a:lnTo>
                            <a:pt x="373" y="801"/>
                          </a:lnTo>
                          <a:lnTo>
                            <a:pt x="377" y="827"/>
                          </a:lnTo>
                          <a:lnTo>
                            <a:pt x="395" y="843"/>
                          </a:lnTo>
                          <a:lnTo>
                            <a:pt x="427" y="850"/>
                          </a:lnTo>
                          <a:lnTo>
                            <a:pt x="459" y="854"/>
                          </a:lnTo>
                          <a:lnTo>
                            <a:pt x="495" y="873"/>
                          </a:lnTo>
                          <a:lnTo>
                            <a:pt x="552" y="914"/>
                          </a:lnTo>
                          <a:lnTo>
                            <a:pt x="617" y="954"/>
                          </a:lnTo>
                          <a:lnTo>
                            <a:pt x="717" y="999"/>
                          </a:lnTo>
                          <a:lnTo>
                            <a:pt x="813" y="1032"/>
                          </a:lnTo>
                          <a:lnTo>
                            <a:pt x="900" y="1054"/>
                          </a:lnTo>
                          <a:lnTo>
                            <a:pt x="1018" y="1088"/>
                          </a:lnTo>
                          <a:lnTo>
                            <a:pt x="1137" y="1114"/>
                          </a:lnTo>
                          <a:lnTo>
                            <a:pt x="1158" y="1114"/>
                          </a:lnTo>
                          <a:lnTo>
                            <a:pt x="1155" y="1025"/>
                          </a:lnTo>
                          <a:lnTo>
                            <a:pt x="1165" y="984"/>
                          </a:lnTo>
                          <a:lnTo>
                            <a:pt x="1172" y="925"/>
                          </a:lnTo>
                          <a:lnTo>
                            <a:pt x="1190" y="850"/>
                          </a:lnTo>
                          <a:lnTo>
                            <a:pt x="1198" y="834"/>
                          </a:lnTo>
                          <a:lnTo>
                            <a:pt x="1097" y="812"/>
                          </a:lnTo>
                          <a:lnTo>
                            <a:pt x="1011" y="775"/>
                          </a:lnTo>
                          <a:lnTo>
                            <a:pt x="922" y="738"/>
                          </a:lnTo>
                          <a:lnTo>
                            <a:pt x="900" y="713"/>
                          </a:lnTo>
                          <a:lnTo>
                            <a:pt x="859" y="702"/>
                          </a:lnTo>
                          <a:lnTo>
                            <a:pt x="809" y="698"/>
                          </a:lnTo>
                          <a:lnTo>
                            <a:pt x="721" y="672"/>
                          </a:lnTo>
                          <a:lnTo>
                            <a:pt x="667" y="624"/>
                          </a:lnTo>
                          <a:lnTo>
                            <a:pt x="581" y="535"/>
                          </a:lnTo>
                          <a:lnTo>
                            <a:pt x="524" y="438"/>
                          </a:lnTo>
                          <a:lnTo>
                            <a:pt x="491" y="408"/>
                          </a:lnTo>
                          <a:lnTo>
                            <a:pt x="430" y="304"/>
                          </a:lnTo>
                          <a:lnTo>
                            <a:pt x="423" y="260"/>
                          </a:lnTo>
                          <a:lnTo>
                            <a:pt x="413" y="219"/>
                          </a:lnTo>
                          <a:lnTo>
                            <a:pt x="398" y="189"/>
                          </a:lnTo>
                          <a:lnTo>
                            <a:pt x="380" y="137"/>
                          </a:lnTo>
                          <a:lnTo>
                            <a:pt x="355" y="85"/>
                          </a:lnTo>
                          <a:close/>
                        </a:path>
                      </a:pathLst>
                    </a:custGeom>
                    <a:solidFill>
                      <a:srgbClr val="7F7F7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09" name="Freeform 348"/>
                    <p:cNvSpPr/>
                    <p:nvPr/>
                  </p:nvSpPr>
                  <p:spPr bwMode="auto">
                    <a:xfrm>
                      <a:off x="4810" y="2406"/>
                      <a:ext cx="49" cy="50"/>
                    </a:xfrm>
                    <a:custGeom>
                      <a:avLst/>
                      <a:gdLst>
                        <a:gd name="T0" fmla="*/ 84 w 292"/>
                        <a:gd name="T1" fmla="*/ 167 h 251"/>
                        <a:gd name="T2" fmla="*/ 238 w 292"/>
                        <a:gd name="T3" fmla="*/ 3 h 251"/>
                        <a:gd name="T4" fmla="*/ 214 w 292"/>
                        <a:gd name="T5" fmla="*/ 5 h 251"/>
                        <a:gd name="T6" fmla="*/ 175 w 292"/>
                        <a:gd name="T7" fmla="*/ 15 h 251"/>
                        <a:gd name="T8" fmla="*/ 143 w 292"/>
                        <a:gd name="T9" fmla="*/ 34 h 251"/>
                        <a:gd name="T10" fmla="*/ 107 w 292"/>
                        <a:gd name="T11" fmla="*/ 71 h 251"/>
                        <a:gd name="T12" fmla="*/ 72 w 292"/>
                        <a:gd name="T13" fmla="*/ 106 h 251"/>
                        <a:gd name="T14" fmla="*/ 51 w 292"/>
                        <a:gd name="T15" fmla="*/ 141 h 251"/>
                        <a:gd name="T16" fmla="*/ 36 w 292"/>
                        <a:gd name="T17" fmla="*/ 174 h 251"/>
                        <a:gd name="T18" fmla="*/ 14 w 292"/>
                        <a:gd name="T19" fmla="*/ 210 h 251"/>
                        <a:gd name="T20" fmla="*/ 60 w 292"/>
                        <a:gd name="T21" fmla="*/ 214 h 251"/>
                        <a:gd name="T22" fmla="*/ 98 w 292"/>
                        <a:gd name="T23" fmla="*/ 209 h 251"/>
                        <a:gd name="T24" fmla="*/ 133 w 292"/>
                        <a:gd name="T25" fmla="*/ 195 h 251"/>
                        <a:gd name="T26" fmla="*/ 176 w 292"/>
                        <a:gd name="T27" fmla="*/ 168 h 251"/>
                        <a:gd name="T28" fmla="*/ 211 w 292"/>
                        <a:gd name="T29" fmla="*/ 134 h 251"/>
                        <a:gd name="T30" fmla="*/ 233 w 292"/>
                        <a:gd name="T31" fmla="*/ 120 h 251"/>
                        <a:gd name="T32" fmla="*/ 258 w 292"/>
                        <a:gd name="T33" fmla="*/ 102 h 251"/>
                        <a:gd name="T34" fmla="*/ 278 w 292"/>
                        <a:gd name="T35" fmla="*/ 97 h 251"/>
                        <a:gd name="T36" fmla="*/ 292 w 292"/>
                        <a:gd name="T37" fmla="*/ 106 h 251"/>
                        <a:gd name="T38" fmla="*/ 291 w 292"/>
                        <a:gd name="T39" fmla="*/ 129 h 251"/>
                        <a:gd name="T40" fmla="*/ 278 w 292"/>
                        <a:gd name="T41" fmla="*/ 163 h 251"/>
                        <a:gd name="T42" fmla="*/ 258 w 292"/>
                        <a:gd name="T43" fmla="*/ 183 h 251"/>
                        <a:gd name="T44" fmla="*/ 237 w 292"/>
                        <a:gd name="T45" fmla="*/ 199 h 251"/>
                        <a:gd name="T46" fmla="*/ 212 w 292"/>
                        <a:gd name="T47" fmla="*/ 214 h 251"/>
                        <a:gd name="T48" fmla="*/ 172 w 292"/>
                        <a:gd name="T49" fmla="*/ 232 h 251"/>
                        <a:gd name="T50" fmla="*/ 129 w 292"/>
                        <a:gd name="T51" fmla="*/ 247 h 251"/>
                        <a:gd name="T52" fmla="*/ 104 w 292"/>
                        <a:gd name="T53" fmla="*/ 251 h 251"/>
                        <a:gd name="T54" fmla="*/ 77 w 292"/>
                        <a:gd name="T55" fmla="*/ 246 h 251"/>
                        <a:gd name="T56" fmla="*/ 36 w 292"/>
                        <a:gd name="T57" fmla="*/ 232 h 251"/>
                        <a:gd name="T58" fmla="*/ 14 w 292"/>
                        <a:gd name="T59" fmla="*/ 221 h 251"/>
                        <a:gd name="T60" fmla="*/ 0 w 292"/>
                        <a:gd name="T61" fmla="*/ 209 h 251"/>
                        <a:gd name="T62" fmla="*/ 4 w 292"/>
                        <a:gd name="T63" fmla="*/ 168 h 251"/>
                        <a:gd name="T64" fmla="*/ 21 w 292"/>
                        <a:gd name="T65" fmla="*/ 133 h 251"/>
                        <a:gd name="T66" fmla="*/ 40 w 292"/>
                        <a:gd name="T67" fmla="*/ 102 h 251"/>
                        <a:gd name="T68" fmla="*/ 65 w 292"/>
                        <a:gd name="T69" fmla="*/ 75 h 251"/>
                        <a:gd name="T70" fmla="*/ 97 w 292"/>
                        <a:gd name="T71" fmla="*/ 49 h 251"/>
                        <a:gd name="T72" fmla="*/ 129 w 292"/>
                        <a:gd name="T73" fmla="*/ 29 h 251"/>
                        <a:gd name="T74" fmla="*/ 165 w 292"/>
                        <a:gd name="T75" fmla="*/ 15 h 251"/>
                        <a:gd name="T76" fmla="*/ 223 w 292"/>
                        <a:gd name="T77" fmla="*/ 0 h 251"/>
                        <a:gd name="T78" fmla="*/ 270 w 292"/>
                        <a:gd name="T79" fmla="*/ 1 h 251"/>
                        <a:gd name="T80" fmla="*/ 84 w 292"/>
                        <a:gd name="T81" fmla="*/ 167 h 25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</a:cxnLst>
                      <a:rect l="0" t="0" r="r" b="b"/>
                      <a:pathLst>
                        <a:path w="292" h="251">
                          <a:moveTo>
                            <a:pt x="84" y="167"/>
                          </a:moveTo>
                          <a:lnTo>
                            <a:pt x="238" y="3"/>
                          </a:lnTo>
                          <a:lnTo>
                            <a:pt x="214" y="5"/>
                          </a:lnTo>
                          <a:lnTo>
                            <a:pt x="175" y="15"/>
                          </a:lnTo>
                          <a:lnTo>
                            <a:pt x="143" y="34"/>
                          </a:lnTo>
                          <a:lnTo>
                            <a:pt x="107" y="71"/>
                          </a:lnTo>
                          <a:lnTo>
                            <a:pt x="72" y="106"/>
                          </a:lnTo>
                          <a:lnTo>
                            <a:pt x="51" y="141"/>
                          </a:lnTo>
                          <a:lnTo>
                            <a:pt x="36" y="174"/>
                          </a:lnTo>
                          <a:lnTo>
                            <a:pt x="14" y="210"/>
                          </a:lnTo>
                          <a:lnTo>
                            <a:pt x="60" y="214"/>
                          </a:lnTo>
                          <a:lnTo>
                            <a:pt x="98" y="209"/>
                          </a:lnTo>
                          <a:lnTo>
                            <a:pt x="133" y="195"/>
                          </a:lnTo>
                          <a:lnTo>
                            <a:pt x="176" y="168"/>
                          </a:lnTo>
                          <a:lnTo>
                            <a:pt x="211" y="134"/>
                          </a:lnTo>
                          <a:lnTo>
                            <a:pt x="233" y="120"/>
                          </a:lnTo>
                          <a:lnTo>
                            <a:pt x="258" y="102"/>
                          </a:lnTo>
                          <a:lnTo>
                            <a:pt x="278" y="97"/>
                          </a:lnTo>
                          <a:lnTo>
                            <a:pt x="292" y="106"/>
                          </a:lnTo>
                          <a:lnTo>
                            <a:pt x="291" y="129"/>
                          </a:lnTo>
                          <a:lnTo>
                            <a:pt x="278" y="163"/>
                          </a:lnTo>
                          <a:lnTo>
                            <a:pt x="258" y="183"/>
                          </a:lnTo>
                          <a:lnTo>
                            <a:pt x="237" y="199"/>
                          </a:lnTo>
                          <a:lnTo>
                            <a:pt x="212" y="214"/>
                          </a:lnTo>
                          <a:lnTo>
                            <a:pt x="172" y="232"/>
                          </a:lnTo>
                          <a:lnTo>
                            <a:pt x="129" y="247"/>
                          </a:lnTo>
                          <a:lnTo>
                            <a:pt x="104" y="251"/>
                          </a:lnTo>
                          <a:lnTo>
                            <a:pt x="77" y="246"/>
                          </a:lnTo>
                          <a:lnTo>
                            <a:pt x="36" y="232"/>
                          </a:lnTo>
                          <a:lnTo>
                            <a:pt x="14" y="221"/>
                          </a:lnTo>
                          <a:lnTo>
                            <a:pt x="0" y="209"/>
                          </a:lnTo>
                          <a:lnTo>
                            <a:pt x="4" y="168"/>
                          </a:lnTo>
                          <a:lnTo>
                            <a:pt x="21" y="133"/>
                          </a:lnTo>
                          <a:lnTo>
                            <a:pt x="40" y="102"/>
                          </a:lnTo>
                          <a:lnTo>
                            <a:pt x="65" y="75"/>
                          </a:lnTo>
                          <a:lnTo>
                            <a:pt x="97" y="49"/>
                          </a:lnTo>
                          <a:lnTo>
                            <a:pt x="129" y="29"/>
                          </a:lnTo>
                          <a:lnTo>
                            <a:pt x="165" y="15"/>
                          </a:lnTo>
                          <a:lnTo>
                            <a:pt x="223" y="0"/>
                          </a:lnTo>
                          <a:lnTo>
                            <a:pt x="270" y="1"/>
                          </a:lnTo>
                          <a:lnTo>
                            <a:pt x="84" y="167"/>
                          </a:lnTo>
                          <a:close/>
                        </a:path>
                      </a:pathLst>
                    </a:custGeom>
                    <a:solidFill>
                      <a:srgbClr val="5F5F5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10" name="Freeform 349"/>
                    <p:cNvSpPr/>
                    <p:nvPr/>
                  </p:nvSpPr>
                  <p:spPr bwMode="auto">
                    <a:xfrm>
                      <a:off x="4791" y="2409"/>
                      <a:ext cx="193" cy="189"/>
                    </a:xfrm>
                    <a:custGeom>
                      <a:avLst/>
                      <a:gdLst>
                        <a:gd name="T0" fmla="*/ 50 w 1158"/>
                        <a:gd name="T1" fmla="*/ 66 h 946"/>
                        <a:gd name="T2" fmla="*/ 97 w 1158"/>
                        <a:gd name="T3" fmla="*/ 195 h 946"/>
                        <a:gd name="T4" fmla="*/ 0 w 1158"/>
                        <a:gd name="T5" fmla="*/ 270 h 946"/>
                        <a:gd name="T6" fmla="*/ 15 w 1158"/>
                        <a:gd name="T7" fmla="*/ 405 h 946"/>
                        <a:gd name="T8" fmla="*/ 108 w 1158"/>
                        <a:gd name="T9" fmla="*/ 338 h 946"/>
                        <a:gd name="T10" fmla="*/ 126 w 1158"/>
                        <a:gd name="T11" fmla="*/ 353 h 946"/>
                        <a:gd name="T12" fmla="*/ 243 w 1158"/>
                        <a:gd name="T13" fmla="*/ 498 h 946"/>
                        <a:gd name="T14" fmla="*/ 326 w 1158"/>
                        <a:gd name="T15" fmla="*/ 589 h 946"/>
                        <a:gd name="T16" fmla="*/ 373 w 1158"/>
                        <a:gd name="T17" fmla="*/ 634 h 946"/>
                        <a:gd name="T18" fmla="*/ 395 w 1158"/>
                        <a:gd name="T19" fmla="*/ 675 h 946"/>
                        <a:gd name="T20" fmla="*/ 459 w 1158"/>
                        <a:gd name="T21" fmla="*/ 686 h 946"/>
                        <a:gd name="T22" fmla="*/ 552 w 1158"/>
                        <a:gd name="T23" fmla="*/ 746 h 946"/>
                        <a:gd name="T24" fmla="*/ 717 w 1158"/>
                        <a:gd name="T25" fmla="*/ 832 h 946"/>
                        <a:gd name="T26" fmla="*/ 900 w 1158"/>
                        <a:gd name="T27" fmla="*/ 887 h 946"/>
                        <a:gd name="T28" fmla="*/ 1137 w 1158"/>
                        <a:gd name="T29" fmla="*/ 946 h 946"/>
                        <a:gd name="T30" fmla="*/ 1112 w 1158"/>
                        <a:gd name="T31" fmla="*/ 921 h 946"/>
                        <a:gd name="T32" fmla="*/ 1033 w 1158"/>
                        <a:gd name="T33" fmla="*/ 880 h 946"/>
                        <a:gd name="T34" fmla="*/ 904 w 1158"/>
                        <a:gd name="T35" fmla="*/ 846 h 946"/>
                        <a:gd name="T36" fmla="*/ 838 w 1158"/>
                        <a:gd name="T37" fmla="*/ 806 h 946"/>
                        <a:gd name="T38" fmla="*/ 795 w 1158"/>
                        <a:gd name="T39" fmla="*/ 776 h 946"/>
                        <a:gd name="T40" fmla="*/ 717 w 1158"/>
                        <a:gd name="T41" fmla="*/ 761 h 946"/>
                        <a:gd name="T42" fmla="*/ 692 w 1158"/>
                        <a:gd name="T43" fmla="*/ 728 h 946"/>
                        <a:gd name="T44" fmla="*/ 620 w 1158"/>
                        <a:gd name="T45" fmla="*/ 713 h 946"/>
                        <a:gd name="T46" fmla="*/ 588 w 1158"/>
                        <a:gd name="T47" fmla="*/ 671 h 946"/>
                        <a:gd name="T48" fmla="*/ 552 w 1158"/>
                        <a:gd name="T49" fmla="*/ 652 h 946"/>
                        <a:gd name="T50" fmla="*/ 527 w 1158"/>
                        <a:gd name="T51" fmla="*/ 623 h 946"/>
                        <a:gd name="T52" fmla="*/ 473 w 1158"/>
                        <a:gd name="T53" fmla="*/ 611 h 946"/>
                        <a:gd name="T54" fmla="*/ 466 w 1158"/>
                        <a:gd name="T55" fmla="*/ 557 h 946"/>
                        <a:gd name="T56" fmla="*/ 398 w 1158"/>
                        <a:gd name="T57" fmla="*/ 557 h 946"/>
                        <a:gd name="T58" fmla="*/ 366 w 1158"/>
                        <a:gd name="T59" fmla="*/ 501 h 946"/>
                        <a:gd name="T60" fmla="*/ 309 w 1158"/>
                        <a:gd name="T61" fmla="*/ 479 h 946"/>
                        <a:gd name="T62" fmla="*/ 250 w 1158"/>
                        <a:gd name="T63" fmla="*/ 427 h 946"/>
                        <a:gd name="T64" fmla="*/ 225 w 1158"/>
                        <a:gd name="T65" fmla="*/ 372 h 946"/>
                        <a:gd name="T66" fmla="*/ 190 w 1158"/>
                        <a:gd name="T67" fmla="*/ 322 h 946"/>
                        <a:gd name="T68" fmla="*/ 133 w 1158"/>
                        <a:gd name="T69" fmla="*/ 267 h 946"/>
                        <a:gd name="T70" fmla="*/ 115 w 1158"/>
                        <a:gd name="T71" fmla="*/ 195 h 946"/>
                        <a:gd name="T72" fmla="*/ 79 w 1158"/>
                        <a:gd name="T73" fmla="*/ 110 h 946"/>
                        <a:gd name="T74" fmla="*/ 43 w 1158"/>
                        <a:gd name="T75" fmla="*/ 0 h 94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</a:cxnLst>
                      <a:rect l="0" t="0" r="r" b="b"/>
                      <a:pathLst>
                        <a:path w="1158" h="946">
                          <a:moveTo>
                            <a:pt x="43" y="0"/>
                          </a:moveTo>
                          <a:lnTo>
                            <a:pt x="50" y="66"/>
                          </a:lnTo>
                          <a:lnTo>
                            <a:pt x="65" y="135"/>
                          </a:lnTo>
                          <a:lnTo>
                            <a:pt x="97" y="195"/>
                          </a:lnTo>
                          <a:lnTo>
                            <a:pt x="115" y="252"/>
                          </a:lnTo>
                          <a:lnTo>
                            <a:pt x="0" y="270"/>
                          </a:lnTo>
                          <a:lnTo>
                            <a:pt x="97" y="270"/>
                          </a:lnTo>
                          <a:lnTo>
                            <a:pt x="15" y="405"/>
                          </a:lnTo>
                          <a:lnTo>
                            <a:pt x="104" y="296"/>
                          </a:lnTo>
                          <a:lnTo>
                            <a:pt x="108" y="338"/>
                          </a:lnTo>
                          <a:lnTo>
                            <a:pt x="43" y="589"/>
                          </a:lnTo>
                          <a:lnTo>
                            <a:pt x="126" y="353"/>
                          </a:lnTo>
                          <a:lnTo>
                            <a:pt x="176" y="394"/>
                          </a:lnTo>
                          <a:lnTo>
                            <a:pt x="243" y="498"/>
                          </a:lnTo>
                          <a:lnTo>
                            <a:pt x="301" y="560"/>
                          </a:lnTo>
                          <a:lnTo>
                            <a:pt x="326" y="589"/>
                          </a:lnTo>
                          <a:lnTo>
                            <a:pt x="359" y="623"/>
                          </a:lnTo>
                          <a:lnTo>
                            <a:pt x="373" y="634"/>
                          </a:lnTo>
                          <a:lnTo>
                            <a:pt x="377" y="660"/>
                          </a:lnTo>
                          <a:lnTo>
                            <a:pt x="395" y="675"/>
                          </a:lnTo>
                          <a:lnTo>
                            <a:pt x="427" y="682"/>
                          </a:lnTo>
                          <a:lnTo>
                            <a:pt x="459" y="686"/>
                          </a:lnTo>
                          <a:lnTo>
                            <a:pt x="495" y="704"/>
                          </a:lnTo>
                          <a:lnTo>
                            <a:pt x="552" y="746"/>
                          </a:lnTo>
                          <a:lnTo>
                            <a:pt x="617" y="787"/>
                          </a:lnTo>
                          <a:lnTo>
                            <a:pt x="717" y="832"/>
                          </a:lnTo>
                          <a:lnTo>
                            <a:pt x="813" y="865"/>
                          </a:lnTo>
                          <a:lnTo>
                            <a:pt x="900" y="887"/>
                          </a:lnTo>
                          <a:lnTo>
                            <a:pt x="1018" y="921"/>
                          </a:lnTo>
                          <a:lnTo>
                            <a:pt x="1137" y="946"/>
                          </a:lnTo>
                          <a:lnTo>
                            <a:pt x="1158" y="946"/>
                          </a:lnTo>
                          <a:lnTo>
                            <a:pt x="1112" y="921"/>
                          </a:lnTo>
                          <a:lnTo>
                            <a:pt x="1072" y="898"/>
                          </a:lnTo>
                          <a:lnTo>
                            <a:pt x="1033" y="880"/>
                          </a:lnTo>
                          <a:lnTo>
                            <a:pt x="990" y="846"/>
                          </a:lnTo>
                          <a:lnTo>
                            <a:pt x="904" y="846"/>
                          </a:lnTo>
                          <a:lnTo>
                            <a:pt x="859" y="824"/>
                          </a:lnTo>
                          <a:lnTo>
                            <a:pt x="838" y="806"/>
                          </a:lnTo>
                          <a:lnTo>
                            <a:pt x="834" y="776"/>
                          </a:lnTo>
                          <a:lnTo>
                            <a:pt x="795" y="776"/>
                          </a:lnTo>
                          <a:lnTo>
                            <a:pt x="767" y="772"/>
                          </a:lnTo>
                          <a:lnTo>
                            <a:pt x="717" y="761"/>
                          </a:lnTo>
                          <a:lnTo>
                            <a:pt x="703" y="754"/>
                          </a:lnTo>
                          <a:lnTo>
                            <a:pt x="692" y="728"/>
                          </a:lnTo>
                          <a:lnTo>
                            <a:pt x="656" y="724"/>
                          </a:lnTo>
                          <a:lnTo>
                            <a:pt x="620" y="713"/>
                          </a:lnTo>
                          <a:lnTo>
                            <a:pt x="599" y="697"/>
                          </a:lnTo>
                          <a:lnTo>
                            <a:pt x="588" y="671"/>
                          </a:lnTo>
                          <a:lnTo>
                            <a:pt x="534" y="682"/>
                          </a:lnTo>
                          <a:lnTo>
                            <a:pt x="552" y="652"/>
                          </a:lnTo>
                          <a:lnTo>
                            <a:pt x="542" y="634"/>
                          </a:lnTo>
                          <a:lnTo>
                            <a:pt x="527" y="623"/>
                          </a:lnTo>
                          <a:lnTo>
                            <a:pt x="499" y="619"/>
                          </a:lnTo>
                          <a:lnTo>
                            <a:pt x="473" y="611"/>
                          </a:lnTo>
                          <a:lnTo>
                            <a:pt x="477" y="571"/>
                          </a:lnTo>
                          <a:lnTo>
                            <a:pt x="466" y="557"/>
                          </a:lnTo>
                          <a:lnTo>
                            <a:pt x="423" y="557"/>
                          </a:lnTo>
                          <a:lnTo>
                            <a:pt x="398" y="557"/>
                          </a:lnTo>
                          <a:lnTo>
                            <a:pt x="384" y="524"/>
                          </a:lnTo>
                          <a:lnTo>
                            <a:pt x="366" y="501"/>
                          </a:lnTo>
                          <a:lnTo>
                            <a:pt x="337" y="494"/>
                          </a:lnTo>
                          <a:lnTo>
                            <a:pt x="309" y="479"/>
                          </a:lnTo>
                          <a:lnTo>
                            <a:pt x="279" y="457"/>
                          </a:lnTo>
                          <a:lnTo>
                            <a:pt x="250" y="427"/>
                          </a:lnTo>
                          <a:lnTo>
                            <a:pt x="236" y="398"/>
                          </a:lnTo>
                          <a:lnTo>
                            <a:pt x="225" y="372"/>
                          </a:lnTo>
                          <a:lnTo>
                            <a:pt x="205" y="353"/>
                          </a:lnTo>
                          <a:lnTo>
                            <a:pt x="190" y="322"/>
                          </a:lnTo>
                          <a:lnTo>
                            <a:pt x="158" y="296"/>
                          </a:lnTo>
                          <a:lnTo>
                            <a:pt x="133" y="267"/>
                          </a:lnTo>
                          <a:lnTo>
                            <a:pt x="126" y="228"/>
                          </a:lnTo>
                          <a:lnTo>
                            <a:pt x="115" y="195"/>
                          </a:lnTo>
                          <a:lnTo>
                            <a:pt x="93" y="158"/>
                          </a:lnTo>
                          <a:lnTo>
                            <a:pt x="79" y="110"/>
                          </a:lnTo>
                          <a:lnTo>
                            <a:pt x="68" y="66"/>
                          </a:lnTo>
                          <a:lnTo>
                            <a:pt x="43" y="0"/>
                          </a:lnTo>
                          <a:close/>
                        </a:path>
                      </a:pathLst>
                    </a:custGeom>
                    <a:solidFill>
                      <a:srgbClr val="5F5F5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11" name="Freeform 350"/>
                    <p:cNvSpPr/>
                    <p:nvPr/>
                  </p:nvSpPr>
                  <p:spPr bwMode="auto">
                    <a:xfrm>
                      <a:off x="4871" y="2497"/>
                      <a:ext cx="33" cy="46"/>
                    </a:xfrm>
                    <a:custGeom>
                      <a:avLst/>
                      <a:gdLst>
                        <a:gd name="T0" fmla="*/ 186 w 199"/>
                        <a:gd name="T1" fmla="*/ 69 h 231"/>
                        <a:gd name="T2" fmla="*/ 126 w 199"/>
                        <a:gd name="T3" fmla="*/ 169 h 231"/>
                        <a:gd name="T4" fmla="*/ 107 w 199"/>
                        <a:gd name="T5" fmla="*/ 217 h 231"/>
                        <a:gd name="T6" fmla="*/ 100 w 199"/>
                        <a:gd name="T7" fmla="*/ 231 h 231"/>
                        <a:gd name="T8" fmla="*/ 94 w 199"/>
                        <a:gd name="T9" fmla="*/ 231 h 231"/>
                        <a:gd name="T10" fmla="*/ 94 w 199"/>
                        <a:gd name="T11" fmla="*/ 183 h 231"/>
                        <a:gd name="T12" fmla="*/ 107 w 199"/>
                        <a:gd name="T13" fmla="*/ 116 h 231"/>
                        <a:gd name="T14" fmla="*/ 133 w 199"/>
                        <a:gd name="T15" fmla="*/ 75 h 231"/>
                        <a:gd name="T16" fmla="*/ 159 w 199"/>
                        <a:gd name="T17" fmla="*/ 40 h 231"/>
                        <a:gd name="T18" fmla="*/ 186 w 199"/>
                        <a:gd name="T19" fmla="*/ 33 h 231"/>
                        <a:gd name="T20" fmla="*/ 193 w 199"/>
                        <a:gd name="T21" fmla="*/ 27 h 231"/>
                        <a:gd name="T22" fmla="*/ 139 w 199"/>
                        <a:gd name="T23" fmla="*/ 27 h 231"/>
                        <a:gd name="T24" fmla="*/ 107 w 199"/>
                        <a:gd name="T25" fmla="*/ 53 h 231"/>
                        <a:gd name="T26" fmla="*/ 54 w 199"/>
                        <a:gd name="T27" fmla="*/ 89 h 231"/>
                        <a:gd name="T28" fmla="*/ 27 w 199"/>
                        <a:gd name="T29" fmla="*/ 128 h 231"/>
                        <a:gd name="T30" fmla="*/ 8 w 199"/>
                        <a:gd name="T31" fmla="*/ 162 h 231"/>
                        <a:gd name="T32" fmla="*/ 0 w 199"/>
                        <a:gd name="T33" fmla="*/ 178 h 231"/>
                        <a:gd name="T34" fmla="*/ 27 w 199"/>
                        <a:gd name="T35" fmla="*/ 121 h 231"/>
                        <a:gd name="T36" fmla="*/ 60 w 199"/>
                        <a:gd name="T37" fmla="*/ 61 h 231"/>
                        <a:gd name="T38" fmla="*/ 107 w 199"/>
                        <a:gd name="T39" fmla="*/ 19 h 231"/>
                        <a:gd name="T40" fmla="*/ 126 w 199"/>
                        <a:gd name="T41" fmla="*/ 6 h 231"/>
                        <a:gd name="T42" fmla="*/ 159 w 199"/>
                        <a:gd name="T43" fmla="*/ 0 h 231"/>
                        <a:gd name="T44" fmla="*/ 180 w 199"/>
                        <a:gd name="T45" fmla="*/ 6 h 231"/>
                        <a:gd name="T46" fmla="*/ 199 w 199"/>
                        <a:gd name="T47" fmla="*/ 19 h 231"/>
                        <a:gd name="T48" fmla="*/ 186 w 199"/>
                        <a:gd name="T49" fmla="*/ 69 h 23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</a:cxnLst>
                      <a:rect l="0" t="0" r="r" b="b"/>
                      <a:pathLst>
                        <a:path w="199" h="231">
                          <a:moveTo>
                            <a:pt x="186" y="69"/>
                          </a:moveTo>
                          <a:lnTo>
                            <a:pt x="126" y="169"/>
                          </a:lnTo>
                          <a:lnTo>
                            <a:pt x="107" y="217"/>
                          </a:lnTo>
                          <a:lnTo>
                            <a:pt x="100" y="231"/>
                          </a:lnTo>
                          <a:lnTo>
                            <a:pt x="94" y="231"/>
                          </a:lnTo>
                          <a:lnTo>
                            <a:pt x="94" y="183"/>
                          </a:lnTo>
                          <a:lnTo>
                            <a:pt x="107" y="116"/>
                          </a:lnTo>
                          <a:lnTo>
                            <a:pt x="133" y="75"/>
                          </a:lnTo>
                          <a:lnTo>
                            <a:pt x="159" y="40"/>
                          </a:lnTo>
                          <a:lnTo>
                            <a:pt x="186" y="33"/>
                          </a:lnTo>
                          <a:lnTo>
                            <a:pt x="193" y="27"/>
                          </a:lnTo>
                          <a:lnTo>
                            <a:pt x="139" y="27"/>
                          </a:lnTo>
                          <a:lnTo>
                            <a:pt x="107" y="53"/>
                          </a:lnTo>
                          <a:lnTo>
                            <a:pt x="54" y="89"/>
                          </a:lnTo>
                          <a:lnTo>
                            <a:pt x="27" y="128"/>
                          </a:lnTo>
                          <a:lnTo>
                            <a:pt x="8" y="162"/>
                          </a:lnTo>
                          <a:lnTo>
                            <a:pt x="0" y="178"/>
                          </a:lnTo>
                          <a:lnTo>
                            <a:pt x="27" y="121"/>
                          </a:lnTo>
                          <a:lnTo>
                            <a:pt x="60" y="61"/>
                          </a:lnTo>
                          <a:lnTo>
                            <a:pt x="107" y="19"/>
                          </a:lnTo>
                          <a:lnTo>
                            <a:pt x="126" y="6"/>
                          </a:lnTo>
                          <a:lnTo>
                            <a:pt x="159" y="0"/>
                          </a:lnTo>
                          <a:lnTo>
                            <a:pt x="180" y="6"/>
                          </a:lnTo>
                          <a:lnTo>
                            <a:pt x="199" y="19"/>
                          </a:lnTo>
                          <a:lnTo>
                            <a:pt x="186" y="69"/>
                          </a:lnTo>
                          <a:close/>
                        </a:path>
                      </a:pathLst>
                    </a:custGeom>
                    <a:solidFill>
                      <a:srgbClr val="5F5F5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grpSp>
                  <p:nvGrpSpPr>
                    <p:cNvPr id="312" name="Group 351"/>
                    <p:cNvGrpSpPr/>
                    <p:nvPr/>
                  </p:nvGrpSpPr>
                  <p:grpSpPr bwMode="auto">
                    <a:xfrm>
                      <a:off x="4842" y="2328"/>
                      <a:ext cx="46" cy="158"/>
                      <a:chOff x="4842" y="2328"/>
                      <a:chExt cx="46" cy="158"/>
                    </a:xfrm>
                  </p:grpSpPr>
                  <p:sp>
                    <p:nvSpPr>
                      <p:cNvPr id="313" name="Freeform 352"/>
                      <p:cNvSpPr/>
                      <p:nvPr/>
                    </p:nvSpPr>
                    <p:spPr bwMode="auto">
                      <a:xfrm>
                        <a:off x="4863" y="2379"/>
                        <a:ext cx="25" cy="107"/>
                      </a:xfrm>
                      <a:custGeom>
                        <a:avLst/>
                        <a:gdLst>
                          <a:gd name="T0" fmla="*/ 0 w 153"/>
                          <a:gd name="T1" fmla="*/ 111 h 534"/>
                          <a:gd name="T2" fmla="*/ 46 w 153"/>
                          <a:gd name="T3" fmla="*/ 63 h 534"/>
                          <a:gd name="T4" fmla="*/ 61 w 153"/>
                          <a:gd name="T5" fmla="*/ 93 h 534"/>
                          <a:gd name="T6" fmla="*/ 75 w 153"/>
                          <a:gd name="T7" fmla="*/ 130 h 534"/>
                          <a:gd name="T8" fmla="*/ 101 w 153"/>
                          <a:gd name="T9" fmla="*/ 402 h 534"/>
                          <a:gd name="T10" fmla="*/ 94 w 153"/>
                          <a:gd name="T11" fmla="*/ 454 h 534"/>
                          <a:gd name="T12" fmla="*/ 145 w 153"/>
                          <a:gd name="T13" fmla="*/ 534 h 534"/>
                          <a:gd name="T14" fmla="*/ 153 w 153"/>
                          <a:gd name="T15" fmla="*/ 365 h 534"/>
                          <a:gd name="T16" fmla="*/ 138 w 153"/>
                          <a:gd name="T17" fmla="*/ 302 h 534"/>
                          <a:gd name="T18" fmla="*/ 112 w 153"/>
                          <a:gd name="T19" fmla="*/ 192 h 534"/>
                          <a:gd name="T20" fmla="*/ 94 w 153"/>
                          <a:gd name="T21" fmla="*/ 105 h 534"/>
                          <a:gd name="T22" fmla="*/ 101 w 153"/>
                          <a:gd name="T23" fmla="*/ 42 h 534"/>
                          <a:gd name="T24" fmla="*/ 76 w 153"/>
                          <a:gd name="T25" fmla="*/ 0 h 534"/>
                          <a:gd name="T26" fmla="*/ 2 w 153"/>
                          <a:gd name="T27" fmla="*/ 90 h 534"/>
                          <a:gd name="T28" fmla="*/ 0 w 153"/>
                          <a:gd name="T29" fmla="*/ 111 h 53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</a:cxnLst>
                        <a:rect l="0" t="0" r="r" b="b"/>
                        <a:pathLst>
                          <a:path w="153" h="534">
                            <a:moveTo>
                              <a:pt x="0" y="111"/>
                            </a:moveTo>
                            <a:lnTo>
                              <a:pt x="46" y="63"/>
                            </a:lnTo>
                            <a:lnTo>
                              <a:pt x="61" y="93"/>
                            </a:lnTo>
                            <a:lnTo>
                              <a:pt x="75" y="130"/>
                            </a:lnTo>
                            <a:lnTo>
                              <a:pt x="101" y="402"/>
                            </a:lnTo>
                            <a:lnTo>
                              <a:pt x="94" y="454"/>
                            </a:lnTo>
                            <a:lnTo>
                              <a:pt x="145" y="534"/>
                            </a:lnTo>
                            <a:lnTo>
                              <a:pt x="153" y="365"/>
                            </a:lnTo>
                            <a:lnTo>
                              <a:pt x="138" y="302"/>
                            </a:lnTo>
                            <a:lnTo>
                              <a:pt x="112" y="192"/>
                            </a:lnTo>
                            <a:lnTo>
                              <a:pt x="94" y="105"/>
                            </a:lnTo>
                            <a:lnTo>
                              <a:pt x="101" y="42"/>
                            </a:lnTo>
                            <a:lnTo>
                              <a:pt x="76" y="0"/>
                            </a:lnTo>
                            <a:lnTo>
                              <a:pt x="2" y="90"/>
                            </a:lnTo>
                            <a:lnTo>
                              <a:pt x="0" y="111"/>
                            </a:lnTo>
                            <a:close/>
                          </a:path>
                        </a:pathLst>
                      </a:custGeom>
                      <a:solidFill>
                        <a:srgbClr val="00007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314" name="Freeform 353"/>
                      <p:cNvSpPr/>
                      <p:nvPr/>
                    </p:nvSpPr>
                    <p:spPr bwMode="auto">
                      <a:xfrm>
                        <a:off x="4842" y="2328"/>
                        <a:ext cx="42" cy="72"/>
                      </a:xfrm>
                      <a:custGeom>
                        <a:avLst/>
                        <a:gdLst>
                          <a:gd name="T0" fmla="*/ 15 w 254"/>
                          <a:gd name="T1" fmla="*/ 0 h 359"/>
                          <a:gd name="T2" fmla="*/ 34 w 254"/>
                          <a:gd name="T3" fmla="*/ 56 h 359"/>
                          <a:gd name="T4" fmla="*/ 51 w 254"/>
                          <a:gd name="T5" fmla="*/ 91 h 359"/>
                          <a:gd name="T6" fmla="*/ 70 w 254"/>
                          <a:gd name="T7" fmla="*/ 120 h 359"/>
                          <a:gd name="T8" fmla="*/ 94 w 254"/>
                          <a:gd name="T9" fmla="*/ 158 h 359"/>
                          <a:gd name="T10" fmla="*/ 123 w 254"/>
                          <a:gd name="T11" fmla="*/ 202 h 359"/>
                          <a:gd name="T12" fmla="*/ 152 w 254"/>
                          <a:gd name="T13" fmla="*/ 227 h 359"/>
                          <a:gd name="T14" fmla="*/ 181 w 254"/>
                          <a:gd name="T15" fmla="*/ 247 h 359"/>
                          <a:gd name="T16" fmla="*/ 230 w 254"/>
                          <a:gd name="T17" fmla="*/ 245 h 359"/>
                          <a:gd name="T18" fmla="*/ 254 w 254"/>
                          <a:gd name="T19" fmla="*/ 336 h 359"/>
                          <a:gd name="T20" fmla="*/ 202 w 254"/>
                          <a:gd name="T21" fmla="*/ 258 h 359"/>
                          <a:gd name="T22" fmla="*/ 127 w 254"/>
                          <a:gd name="T23" fmla="*/ 359 h 359"/>
                          <a:gd name="T24" fmla="*/ 100 w 254"/>
                          <a:gd name="T25" fmla="*/ 304 h 359"/>
                          <a:gd name="T26" fmla="*/ 73 w 254"/>
                          <a:gd name="T27" fmla="*/ 256 h 359"/>
                          <a:gd name="T28" fmla="*/ 59 w 254"/>
                          <a:gd name="T29" fmla="*/ 229 h 359"/>
                          <a:gd name="T30" fmla="*/ 47 w 254"/>
                          <a:gd name="T31" fmla="*/ 194 h 359"/>
                          <a:gd name="T32" fmla="*/ 37 w 254"/>
                          <a:gd name="T33" fmla="*/ 162 h 359"/>
                          <a:gd name="T34" fmla="*/ 29 w 254"/>
                          <a:gd name="T35" fmla="*/ 135 h 359"/>
                          <a:gd name="T36" fmla="*/ 8 w 254"/>
                          <a:gd name="T37" fmla="*/ 94 h 359"/>
                          <a:gd name="T38" fmla="*/ 2 w 254"/>
                          <a:gd name="T39" fmla="*/ 67 h 359"/>
                          <a:gd name="T40" fmla="*/ 0 w 254"/>
                          <a:gd name="T41" fmla="*/ 45 h 359"/>
                          <a:gd name="T42" fmla="*/ 15 w 254"/>
                          <a:gd name="T43" fmla="*/ 0 h 359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</a:cxnLst>
                        <a:rect l="0" t="0" r="r" b="b"/>
                        <a:pathLst>
                          <a:path w="254" h="359">
                            <a:moveTo>
                              <a:pt x="15" y="0"/>
                            </a:moveTo>
                            <a:lnTo>
                              <a:pt x="34" y="56"/>
                            </a:lnTo>
                            <a:lnTo>
                              <a:pt x="51" y="91"/>
                            </a:lnTo>
                            <a:lnTo>
                              <a:pt x="70" y="120"/>
                            </a:lnTo>
                            <a:lnTo>
                              <a:pt x="94" y="158"/>
                            </a:lnTo>
                            <a:lnTo>
                              <a:pt x="123" y="202"/>
                            </a:lnTo>
                            <a:lnTo>
                              <a:pt x="152" y="227"/>
                            </a:lnTo>
                            <a:lnTo>
                              <a:pt x="181" y="247"/>
                            </a:lnTo>
                            <a:lnTo>
                              <a:pt x="230" y="245"/>
                            </a:lnTo>
                            <a:lnTo>
                              <a:pt x="254" y="336"/>
                            </a:lnTo>
                            <a:lnTo>
                              <a:pt x="202" y="258"/>
                            </a:lnTo>
                            <a:lnTo>
                              <a:pt x="127" y="359"/>
                            </a:lnTo>
                            <a:lnTo>
                              <a:pt x="100" y="304"/>
                            </a:lnTo>
                            <a:lnTo>
                              <a:pt x="73" y="256"/>
                            </a:lnTo>
                            <a:lnTo>
                              <a:pt x="59" y="229"/>
                            </a:lnTo>
                            <a:lnTo>
                              <a:pt x="47" y="194"/>
                            </a:lnTo>
                            <a:lnTo>
                              <a:pt x="37" y="162"/>
                            </a:lnTo>
                            <a:lnTo>
                              <a:pt x="29" y="135"/>
                            </a:lnTo>
                            <a:lnTo>
                              <a:pt x="8" y="94"/>
                            </a:lnTo>
                            <a:lnTo>
                              <a:pt x="2" y="67"/>
                            </a:lnTo>
                            <a:lnTo>
                              <a:pt x="0" y="45"/>
                            </a:lnTo>
                            <a:lnTo>
                              <a:pt x="15" y="0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</p:grpSp>
              <p:grpSp>
                <p:nvGrpSpPr>
                  <p:cNvPr id="270" name="Group 354"/>
                  <p:cNvGrpSpPr/>
                  <p:nvPr/>
                </p:nvGrpSpPr>
                <p:grpSpPr bwMode="auto">
                  <a:xfrm>
                    <a:off x="4840" y="2242"/>
                    <a:ext cx="86" cy="141"/>
                    <a:chOff x="4840" y="2242"/>
                    <a:chExt cx="86" cy="141"/>
                  </a:xfrm>
                </p:grpSpPr>
                <p:sp>
                  <p:nvSpPr>
                    <p:cNvPr id="271" name="Freeform 355"/>
                    <p:cNvSpPr/>
                    <p:nvPr/>
                  </p:nvSpPr>
                  <p:spPr bwMode="auto">
                    <a:xfrm>
                      <a:off x="4842" y="2244"/>
                      <a:ext cx="83" cy="139"/>
                    </a:xfrm>
                    <a:custGeom>
                      <a:avLst/>
                      <a:gdLst>
                        <a:gd name="T0" fmla="*/ 201 w 502"/>
                        <a:gd name="T1" fmla="*/ 682 h 693"/>
                        <a:gd name="T2" fmla="*/ 224 w 502"/>
                        <a:gd name="T3" fmla="*/ 673 h 693"/>
                        <a:gd name="T4" fmla="*/ 269 w 502"/>
                        <a:gd name="T5" fmla="*/ 684 h 693"/>
                        <a:gd name="T6" fmla="*/ 302 w 502"/>
                        <a:gd name="T7" fmla="*/ 691 h 693"/>
                        <a:gd name="T8" fmla="*/ 317 w 502"/>
                        <a:gd name="T9" fmla="*/ 691 h 693"/>
                        <a:gd name="T10" fmla="*/ 336 w 502"/>
                        <a:gd name="T11" fmla="*/ 693 h 693"/>
                        <a:gd name="T12" fmla="*/ 355 w 502"/>
                        <a:gd name="T13" fmla="*/ 693 h 693"/>
                        <a:gd name="T14" fmla="*/ 371 w 502"/>
                        <a:gd name="T15" fmla="*/ 688 h 693"/>
                        <a:gd name="T16" fmla="*/ 381 w 502"/>
                        <a:gd name="T17" fmla="*/ 674 h 693"/>
                        <a:gd name="T18" fmla="*/ 390 w 502"/>
                        <a:gd name="T19" fmla="*/ 659 h 693"/>
                        <a:gd name="T20" fmla="*/ 396 w 502"/>
                        <a:gd name="T21" fmla="*/ 643 h 693"/>
                        <a:gd name="T22" fmla="*/ 403 w 502"/>
                        <a:gd name="T23" fmla="*/ 617 h 693"/>
                        <a:gd name="T24" fmla="*/ 406 w 502"/>
                        <a:gd name="T25" fmla="*/ 606 h 693"/>
                        <a:gd name="T26" fmla="*/ 422 w 502"/>
                        <a:gd name="T27" fmla="*/ 569 h 693"/>
                        <a:gd name="T28" fmla="*/ 433 w 502"/>
                        <a:gd name="T29" fmla="*/ 537 h 693"/>
                        <a:gd name="T30" fmla="*/ 445 w 502"/>
                        <a:gd name="T31" fmla="*/ 505 h 693"/>
                        <a:gd name="T32" fmla="*/ 448 w 502"/>
                        <a:gd name="T33" fmla="*/ 484 h 693"/>
                        <a:gd name="T34" fmla="*/ 461 w 502"/>
                        <a:gd name="T35" fmla="*/ 453 h 693"/>
                        <a:gd name="T36" fmla="*/ 472 w 502"/>
                        <a:gd name="T37" fmla="*/ 424 h 693"/>
                        <a:gd name="T38" fmla="*/ 475 w 502"/>
                        <a:gd name="T39" fmla="*/ 390 h 693"/>
                        <a:gd name="T40" fmla="*/ 475 w 502"/>
                        <a:gd name="T41" fmla="*/ 368 h 693"/>
                        <a:gd name="T42" fmla="*/ 500 w 502"/>
                        <a:gd name="T43" fmla="*/ 347 h 693"/>
                        <a:gd name="T44" fmla="*/ 498 w 502"/>
                        <a:gd name="T45" fmla="*/ 297 h 693"/>
                        <a:gd name="T46" fmla="*/ 502 w 502"/>
                        <a:gd name="T47" fmla="*/ 219 h 693"/>
                        <a:gd name="T48" fmla="*/ 498 w 502"/>
                        <a:gd name="T49" fmla="*/ 180 h 693"/>
                        <a:gd name="T50" fmla="*/ 488 w 502"/>
                        <a:gd name="T51" fmla="*/ 134 h 693"/>
                        <a:gd name="T52" fmla="*/ 472 w 502"/>
                        <a:gd name="T53" fmla="*/ 110 h 693"/>
                        <a:gd name="T54" fmla="*/ 451 w 502"/>
                        <a:gd name="T55" fmla="*/ 81 h 693"/>
                        <a:gd name="T56" fmla="*/ 406 w 502"/>
                        <a:gd name="T57" fmla="*/ 47 h 693"/>
                        <a:gd name="T58" fmla="*/ 348 w 502"/>
                        <a:gd name="T59" fmla="*/ 20 h 693"/>
                        <a:gd name="T60" fmla="*/ 298 w 502"/>
                        <a:gd name="T61" fmla="*/ 8 h 693"/>
                        <a:gd name="T62" fmla="*/ 245 w 502"/>
                        <a:gd name="T63" fmla="*/ 0 h 693"/>
                        <a:gd name="T64" fmla="*/ 191 w 502"/>
                        <a:gd name="T65" fmla="*/ 0 h 693"/>
                        <a:gd name="T66" fmla="*/ 152 w 502"/>
                        <a:gd name="T67" fmla="*/ 4 h 693"/>
                        <a:gd name="T68" fmla="*/ 117 w 502"/>
                        <a:gd name="T69" fmla="*/ 15 h 693"/>
                        <a:gd name="T70" fmla="*/ 81 w 502"/>
                        <a:gd name="T71" fmla="*/ 34 h 693"/>
                        <a:gd name="T72" fmla="*/ 60 w 502"/>
                        <a:gd name="T73" fmla="*/ 56 h 693"/>
                        <a:gd name="T74" fmla="*/ 36 w 502"/>
                        <a:gd name="T75" fmla="*/ 81 h 693"/>
                        <a:gd name="T76" fmla="*/ 24 w 502"/>
                        <a:gd name="T77" fmla="*/ 115 h 693"/>
                        <a:gd name="T78" fmla="*/ 11 w 502"/>
                        <a:gd name="T79" fmla="*/ 156 h 693"/>
                        <a:gd name="T80" fmla="*/ 3 w 502"/>
                        <a:gd name="T81" fmla="*/ 209 h 693"/>
                        <a:gd name="T82" fmla="*/ 0 w 502"/>
                        <a:gd name="T83" fmla="*/ 260 h 693"/>
                        <a:gd name="T84" fmla="*/ 4 w 502"/>
                        <a:gd name="T85" fmla="*/ 328 h 693"/>
                        <a:gd name="T86" fmla="*/ 7 w 502"/>
                        <a:gd name="T87" fmla="*/ 380 h 693"/>
                        <a:gd name="T88" fmla="*/ 18 w 502"/>
                        <a:gd name="T89" fmla="*/ 407 h 693"/>
                        <a:gd name="T90" fmla="*/ 28 w 502"/>
                        <a:gd name="T91" fmla="*/ 432 h 693"/>
                        <a:gd name="T92" fmla="*/ 40 w 502"/>
                        <a:gd name="T93" fmla="*/ 471 h 693"/>
                        <a:gd name="T94" fmla="*/ 62 w 502"/>
                        <a:gd name="T95" fmla="*/ 517 h 693"/>
                        <a:gd name="T96" fmla="*/ 89 w 502"/>
                        <a:gd name="T97" fmla="*/ 564 h 693"/>
                        <a:gd name="T98" fmla="*/ 107 w 502"/>
                        <a:gd name="T99" fmla="*/ 596 h 693"/>
                        <a:gd name="T100" fmla="*/ 129 w 502"/>
                        <a:gd name="T101" fmla="*/ 627 h 693"/>
                        <a:gd name="T102" fmla="*/ 146 w 502"/>
                        <a:gd name="T103" fmla="*/ 644 h 693"/>
                        <a:gd name="T104" fmla="*/ 163 w 502"/>
                        <a:gd name="T105" fmla="*/ 662 h 693"/>
                        <a:gd name="T106" fmla="*/ 181 w 502"/>
                        <a:gd name="T107" fmla="*/ 674 h 693"/>
                        <a:gd name="T108" fmla="*/ 201 w 502"/>
                        <a:gd name="T109" fmla="*/ 682 h 69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</a:cxnLst>
                      <a:rect l="0" t="0" r="r" b="b"/>
                      <a:pathLst>
                        <a:path w="502" h="693">
                          <a:moveTo>
                            <a:pt x="201" y="682"/>
                          </a:moveTo>
                          <a:lnTo>
                            <a:pt x="224" y="673"/>
                          </a:lnTo>
                          <a:lnTo>
                            <a:pt x="269" y="684"/>
                          </a:lnTo>
                          <a:lnTo>
                            <a:pt x="302" y="691"/>
                          </a:lnTo>
                          <a:lnTo>
                            <a:pt x="317" y="691"/>
                          </a:lnTo>
                          <a:lnTo>
                            <a:pt x="336" y="693"/>
                          </a:lnTo>
                          <a:lnTo>
                            <a:pt x="355" y="693"/>
                          </a:lnTo>
                          <a:lnTo>
                            <a:pt x="371" y="688"/>
                          </a:lnTo>
                          <a:lnTo>
                            <a:pt x="381" y="674"/>
                          </a:lnTo>
                          <a:lnTo>
                            <a:pt x="390" y="659"/>
                          </a:lnTo>
                          <a:lnTo>
                            <a:pt x="396" y="643"/>
                          </a:lnTo>
                          <a:lnTo>
                            <a:pt x="403" y="617"/>
                          </a:lnTo>
                          <a:lnTo>
                            <a:pt x="406" y="606"/>
                          </a:lnTo>
                          <a:lnTo>
                            <a:pt x="422" y="569"/>
                          </a:lnTo>
                          <a:lnTo>
                            <a:pt x="433" y="537"/>
                          </a:lnTo>
                          <a:lnTo>
                            <a:pt x="445" y="505"/>
                          </a:lnTo>
                          <a:lnTo>
                            <a:pt x="448" y="484"/>
                          </a:lnTo>
                          <a:lnTo>
                            <a:pt x="461" y="453"/>
                          </a:lnTo>
                          <a:lnTo>
                            <a:pt x="472" y="424"/>
                          </a:lnTo>
                          <a:lnTo>
                            <a:pt x="475" y="390"/>
                          </a:lnTo>
                          <a:lnTo>
                            <a:pt x="475" y="368"/>
                          </a:lnTo>
                          <a:lnTo>
                            <a:pt x="500" y="347"/>
                          </a:lnTo>
                          <a:lnTo>
                            <a:pt x="498" y="297"/>
                          </a:lnTo>
                          <a:lnTo>
                            <a:pt x="502" y="219"/>
                          </a:lnTo>
                          <a:lnTo>
                            <a:pt x="498" y="180"/>
                          </a:lnTo>
                          <a:lnTo>
                            <a:pt x="488" y="134"/>
                          </a:lnTo>
                          <a:lnTo>
                            <a:pt x="472" y="110"/>
                          </a:lnTo>
                          <a:lnTo>
                            <a:pt x="451" y="81"/>
                          </a:lnTo>
                          <a:lnTo>
                            <a:pt x="406" y="47"/>
                          </a:lnTo>
                          <a:lnTo>
                            <a:pt x="348" y="20"/>
                          </a:lnTo>
                          <a:lnTo>
                            <a:pt x="298" y="8"/>
                          </a:lnTo>
                          <a:lnTo>
                            <a:pt x="245" y="0"/>
                          </a:lnTo>
                          <a:lnTo>
                            <a:pt x="191" y="0"/>
                          </a:lnTo>
                          <a:lnTo>
                            <a:pt x="152" y="4"/>
                          </a:lnTo>
                          <a:lnTo>
                            <a:pt x="117" y="15"/>
                          </a:lnTo>
                          <a:lnTo>
                            <a:pt x="81" y="34"/>
                          </a:lnTo>
                          <a:lnTo>
                            <a:pt x="60" y="56"/>
                          </a:lnTo>
                          <a:lnTo>
                            <a:pt x="36" y="81"/>
                          </a:lnTo>
                          <a:lnTo>
                            <a:pt x="24" y="115"/>
                          </a:lnTo>
                          <a:lnTo>
                            <a:pt x="11" y="156"/>
                          </a:lnTo>
                          <a:lnTo>
                            <a:pt x="3" y="209"/>
                          </a:lnTo>
                          <a:lnTo>
                            <a:pt x="0" y="260"/>
                          </a:lnTo>
                          <a:lnTo>
                            <a:pt x="4" y="328"/>
                          </a:lnTo>
                          <a:lnTo>
                            <a:pt x="7" y="380"/>
                          </a:lnTo>
                          <a:lnTo>
                            <a:pt x="18" y="407"/>
                          </a:lnTo>
                          <a:lnTo>
                            <a:pt x="28" y="432"/>
                          </a:lnTo>
                          <a:lnTo>
                            <a:pt x="40" y="471"/>
                          </a:lnTo>
                          <a:lnTo>
                            <a:pt x="62" y="517"/>
                          </a:lnTo>
                          <a:lnTo>
                            <a:pt x="89" y="564"/>
                          </a:lnTo>
                          <a:lnTo>
                            <a:pt x="107" y="596"/>
                          </a:lnTo>
                          <a:lnTo>
                            <a:pt x="129" y="627"/>
                          </a:lnTo>
                          <a:lnTo>
                            <a:pt x="146" y="644"/>
                          </a:lnTo>
                          <a:lnTo>
                            <a:pt x="163" y="662"/>
                          </a:lnTo>
                          <a:lnTo>
                            <a:pt x="181" y="674"/>
                          </a:lnTo>
                          <a:lnTo>
                            <a:pt x="201" y="682"/>
                          </a:lnTo>
                          <a:close/>
                        </a:path>
                      </a:pathLst>
                    </a:custGeom>
                    <a:solidFill>
                      <a:srgbClr val="FF9F9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grpSp>
                  <p:nvGrpSpPr>
                    <p:cNvPr id="272" name="Group 356"/>
                    <p:cNvGrpSpPr/>
                    <p:nvPr/>
                  </p:nvGrpSpPr>
                  <p:grpSpPr bwMode="auto">
                    <a:xfrm>
                      <a:off x="4842" y="2244"/>
                      <a:ext cx="76" cy="139"/>
                      <a:chOff x="4842" y="2244"/>
                      <a:chExt cx="76" cy="139"/>
                    </a:xfrm>
                  </p:grpSpPr>
                  <p:sp>
                    <p:nvSpPr>
                      <p:cNvPr id="296" name="Freeform 357"/>
                      <p:cNvSpPr/>
                      <p:nvPr/>
                    </p:nvSpPr>
                    <p:spPr bwMode="auto">
                      <a:xfrm>
                        <a:off x="4842" y="2244"/>
                        <a:ext cx="61" cy="139"/>
                      </a:xfrm>
                      <a:custGeom>
                        <a:avLst/>
                        <a:gdLst>
                          <a:gd name="T0" fmla="*/ 224 w 368"/>
                          <a:gd name="T1" fmla="*/ 673 h 693"/>
                          <a:gd name="T2" fmla="*/ 304 w 368"/>
                          <a:gd name="T3" fmla="*/ 691 h 693"/>
                          <a:gd name="T4" fmla="*/ 329 w 368"/>
                          <a:gd name="T5" fmla="*/ 691 h 693"/>
                          <a:gd name="T6" fmla="*/ 356 w 368"/>
                          <a:gd name="T7" fmla="*/ 691 h 693"/>
                          <a:gd name="T8" fmla="*/ 356 w 368"/>
                          <a:gd name="T9" fmla="*/ 683 h 693"/>
                          <a:gd name="T10" fmla="*/ 340 w 368"/>
                          <a:gd name="T11" fmla="*/ 683 h 693"/>
                          <a:gd name="T12" fmla="*/ 313 w 368"/>
                          <a:gd name="T13" fmla="*/ 679 h 693"/>
                          <a:gd name="T14" fmla="*/ 291 w 368"/>
                          <a:gd name="T15" fmla="*/ 668 h 693"/>
                          <a:gd name="T16" fmla="*/ 267 w 368"/>
                          <a:gd name="T17" fmla="*/ 646 h 693"/>
                          <a:gd name="T18" fmla="*/ 251 w 368"/>
                          <a:gd name="T19" fmla="*/ 623 h 693"/>
                          <a:gd name="T20" fmla="*/ 264 w 368"/>
                          <a:gd name="T21" fmla="*/ 607 h 693"/>
                          <a:gd name="T22" fmla="*/ 258 w 368"/>
                          <a:gd name="T23" fmla="*/ 595 h 693"/>
                          <a:gd name="T24" fmla="*/ 263 w 368"/>
                          <a:gd name="T25" fmla="*/ 552 h 693"/>
                          <a:gd name="T26" fmla="*/ 246 w 368"/>
                          <a:gd name="T27" fmla="*/ 512 h 693"/>
                          <a:gd name="T28" fmla="*/ 222 w 368"/>
                          <a:gd name="T29" fmla="*/ 468 h 693"/>
                          <a:gd name="T30" fmla="*/ 232 w 368"/>
                          <a:gd name="T31" fmla="*/ 445 h 693"/>
                          <a:gd name="T32" fmla="*/ 249 w 368"/>
                          <a:gd name="T33" fmla="*/ 428 h 693"/>
                          <a:gd name="T34" fmla="*/ 236 w 368"/>
                          <a:gd name="T35" fmla="*/ 415 h 693"/>
                          <a:gd name="T36" fmla="*/ 219 w 368"/>
                          <a:gd name="T37" fmla="*/ 397 h 693"/>
                          <a:gd name="T38" fmla="*/ 201 w 368"/>
                          <a:gd name="T39" fmla="*/ 376 h 693"/>
                          <a:gd name="T40" fmla="*/ 189 w 368"/>
                          <a:gd name="T41" fmla="*/ 338 h 693"/>
                          <a:gd name="T42" fmla="*/ 202 w 368"/>
                          <a:gd name="T43" fmla="*/ 309 h 693"/>
                          <a:gd name="T44" fmla="*/ 219 w 368"/>
                          <a:gd name="T45" fmla="*/ 298 h 693"/>
                          <a:gd name="T46" fmla="*/ 240 w 368"/>
                          <a:gd name="T47" fmla="*/ 317 h 693"/>
                          <a:gd name="T48" fmla="*/ 255 w 368"/>
                          <a:gd name="T49" fmla="*/ 337 h 693"/>
                          <a:gd name="T50" fmla="*/ 267 w 368"/>
                          <a:gd name="T51" fmla="*/ 316 h 693"/>
                          <a:gd name="T52" fmla="*/ 262 w 368"/>
                          <a:gd name="T53" fmla="*/ 288 h 693"/>
                          <a:gd name="T54" fmla="*/ 267 w 368"/>
                          <a:gd name="T55" fmla="*/ 235 h 693"/>
                          <a:gd name="T56" fmla="*/ 281 w 368"/>
                          <a:gd name="T57" fmla="*/ 175 h 693"/>
                          <a:gd name="T58" fmla="*/ 273 w 368"/>
                          <a:gd name="T59" fmla="*/ 112 h 693"/>
                          <a:gd name="T60" fmla="*/ 286 w 368"/>
                          <a:gd name="T61" fmla="*/ 58 h 693"/>
                          <a:gd name="T62" fmla="*/ 349 w 368"/>
                          <a:gd name="T63" fmla="*/ 20 h 693"/>
                          <a:gd name="T64" fmla="*/ 245 w 368"/>
                          <a:gd name="T65" fmla="*/ 0 h 693"/>
                          <a:gd name="T66" fmla="*/ 152 w 368"/>
                          <a:gd name="T67" fmla="*/ 4 h 693"/>
                          <a:gd name="T68" fmla="*/ 81 w 368"/>
                          <a:gd name="T69" fmla="*/ 34 h 693"/>
                          <a:gd name="T70" fmla="*/ 36 w 368"/>
                          <a:gd name="T71" fmla="*/ 81 h 693"/>
                          <a:gd name="T72" fmla="*/ 11 w 368"/>
                          <a:gd name="T73" fmla="*/ 156 h 693"/>
                          <a:gd name="T74" fmla="*/ 0 w 368"/>
                          <a:gd name="T75" fmla="*/ 260 h 693"/>
                          <a:gd name="T76" fmla="*/ 7 w 368"/>
                          <a:gd name="T77" fmla="*/ 380 h 693"/>
                          <a:gd name="T78" fmla="*/ 28 w 368"/>
                          <a:gd name="T79" fmla="*/ 432 h 693"/>
                          <a:gd name="T80" fmla="*/ 62 w 368"/>
                          <a:gd name="T81" fmla="*/ 517 h 693"/>
                          <a:gd name="T82" fmla="*/ 108 w 368"/>
                          <a:gd name="T83" fmla="*/ 596 h 693"/>
                          <a:gd name="T84" fmla="*/ 146 w 368"/>
                          <a:gd name="T85" fmla="*/ 644 h 693"/>
                          <a:gd name="T86" fmla="*/ 181 w 368"/>
                          <a:gd name="T87" fmla="*/ 674 h 69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  <a:cxn ang="0">
                            <a:pos x="T78" y="T79"/>
                          </a:cxn>
                          <a:cxn ang="0">
                            <a:pos x="T80" y="T81"/>
                          </a:cxn>
                          <a:cxn ang="0">
                            <a:pos x="T82" y="T83"/>
                          </a:cxn>
                          <a:cxn ang="0">
                            <a:pos x="T84" y="T85"/>
                          </a:cxn>
                          <a:cxn ang="0">
                            <a:pos x="T86" y="T87"/>
                          </a:cxn>
                        </a:cxnLst>
                        <a:rect l="0" t="0" r="r" b="b"/>
                        <a:pathLst>
                          <a:path w="368" h="693">
                            <a:moveTo>
                              <a:pt x="201" y="682"/>
                            </a:moveTo>
                            <a:lnTo>
                              <a:pt x="224" y="673"/>
                            </a:lnTo>
                            <a:lnTo>
                              <a:pt x="269" y="684"/>
                            </a:lnTo>
                            <a:lnTo>
                              <a:pt x="304" y="691"/>
                            </a:lnTo>
                            <a:lnTo>
                              <a:pt x="318" y="691"/>
                            </a:lnTo>
                            <a:lnTo>
                              <a:pt x="329" y="691"/>
                            </a:lnTo>
                            <a:lnTo>
                              <a:pt x="345" y="693"/>
                            </a:lnTo>
                            <a:lnTo>
                              <a:pt x="356" y="691"/>
                            </a:lnTo>
                            <a:lnTo>
                              <a:pt x="368" y="683"/>
                            </a:lnTo>
                            <a:lnTo>
                              <a:pt x="356" y="683"/>
                            </a:lnTo>
                            <a:lnTo>
                              <a:pt x="348" y="679"/>
                            </a:lnTo>
                            <a:lnTo>
                              <a:pt x="340" y="683"/>
                            </a:lnTo>
                            <a:lnTo>
                              <a:pt x="325" y="682"/>
                            </a:lnTo>
                            <a:lnTo>
                              <a:pt x="313" y="679"/>
                            </a:lnTo>
                            <a:lnTo>
                              <a:pt x="299" y="673"/>
                            </a:lnTo>
                            <a:lnTo>
                              <a:pt x="291" y="668"/>
                            </a:lnTo>
                            <a:lnTo>
                              <a:pt x="277" y="656"/>
                            </a:lnTo>
                            <a:lnTo>
                              <a:pt x="267" y="646"/>
                            </a:lnTo>
                            <a:lnTo>
                              <a:pt x="257" y="633"/>
                            </a:lnTo>
                            <a:lnTo>
                              <a:pt x="251" y="623"/>
                            </a:lnTo>
                            <a:lnTo>
                              <a:pt x="259" y="615"/>
                            </a:lnTo>
                            <a:lnTo>
                              <a:pt x="264" y="607"/>
                            </a:lnTo>
                            <a:lnTo>
                              <a:pt x="261" y="601"/>
                            </a:lnTo>
                            <a:lnTo>
                              <a:pt x="258" y="595"/>
                            </a:lnTo>
                            <a:lnTo>
                              <a:pt x="270" y="569"/>
                            </a:lnTo>
                            <a:lnTo>
                              <a:pt x="263" y="552"/>
                            </a:lnTo>
                            <a:lnTo>
                              <a:pt x="253" y="528"/>
                            </a:lnTo>
                            <a:lnTo>
                              <a:pt x="246" y="512"/>
                            </a:lnTo>
                            <a:lnTo>
                              <a:pt x="228" y="486"/>
                            </a:lnTo>
                            <a:lnTo>
                              <a:pt x="222" y="468"/>
                            </a:lnTo>
                            <a:lnTo>
                              <a:pt x="226" y="457"/>
                            </a:lnTo>
                            <a:lnTo>
                              <a:pt x="232" y="445"/>
                            </a:lnTo>
                            <a:lnTo>
                              <a:pt x="242" y="437"/>
                            </a:lnTo>
                            <a:lnTo>
                              <a:pt x="249" y="428"/>
                            </a:lnTo>
                            <a:lnTo>
                              <a:pt x="244" y="419"/>
                            </a:lnTo>
                            <a:lnTo>
                              <a:pt x="236" y="415"/>
                            </a:lnTo>
                            <a:lnTo>
                              <a:pt x="226" y="405"/>
                            </a:lnTo>
                            <a:lnTo>
                              <a:pt x="219" y="397"/>
                            </a:lnTo>
                            <a:lnTo>
                              <a:pt x="208" y="389"/>
                            </a:lnTo>
                            <a:lnTo>
                              <a:pt x="201" y="376"/>
                            </a:lnTo>
                            <a:lnTo>
                              <a:pt x="196" y="364"/>
                            </a:lnTo>
                            <a:lnTo>
                              <a:pt x="189" y="338"/>
                            </a:lnTo>
                            <a:lnTo>
                              <a:pt x="196" y="317"/>
                            </a:lnTo>
                            <a:lnTo>
                              <a:pt x="202" y="309"/>
                            </a:lnTo>
                            <a:lnTo>
                              <a:pt x="210" y="301"/>
                            </a:lnTo>
                            <a:lnTo>
                              <a:pt x="219" y="298"/>
                            </a:lnTo>
                            <a:lnTo>
                              <a:pt x="228" y="306"/>
                            </a:lnTo>
                            <a:lnTo>
                              <a:pt x="240" y="317"/>
                            </a:lnTo>
                            <a:lnTo>
                              <a:pt x="245" y="327"/>
                            </a:lnTo>
                            <a:lnTo>
                              <a:pt x="255" y="337"/>
                            </a:lnTo>
                            <a:lnTo>
                              <a:pt x="264" y="328"/>
                            </a:lnTo>
                            <a:lnTo>
                              <a:pt x="267" y="316"/>
                            </a:lnTo>
                            <a:lnTo>
                              <a:pt x="268" y="302"/>
                            </a:lnTo>
                            <a:lnTo>
                              <a:pt x="262" y="288"/>
                            </a:lnTo>
                            <a:lnTo>
                              <a:pt x="258" y="271"/>
                            </a:lnTo>
                            <a:lnTo>
                              <a:pt x="267" y="235"/>
                            </a:lnTo>
                            <a:lnTo>
                              <a:pt x="273" y="201"/>
                            </a:lnTo>
                            <a:lnTo>
                              <a:pt x="281" y="175"/>
                            </a:lnTo>
                            <a:lnTo>
                              <a:pt x="273" y="141"/>
                            </a:lnTo>
                            <a:lnTo>
                              <a:pt x="273" y="112"/>
                            </a:lnTo>
                            <a:lnTo>
                              <a:pt x="270" y="81"/>
                            </a:lnTo>
                            <a:lnTo>
                              <a:pt x="286" y="58"/>
                            </a:lnTo>
                            <a:lnTo>
                              <a:pt x="317" y="36"/>
                            </a:lnTo>
                            <a:lnTo>
                              <a:pt x="349" y="20"/>
                            </a:lnTo>
                            <a:lnTo>
                              <a:pt x="299" y="8"/>
                            </a:lnTo>
                            <a:lnTo>
                              <a:pt x="245" y="0"/>
                            </a:lnTo>
                            <a:lnTo>
                              <a:pt x="191" y="0"/>
                            </a:lnTo>
                            <a:lnTo>
                              <a:pt x="152" y="4"/>
                            </a:lnTo>
                            <a:lnTo>
                              <a:pt x="118" y="15"/>
                            </a:lnTo>
                            <a:lnTo>
                              <a:pt x="81" y="34"/>
                            </a:lnTo>
                            <a:lnTo>
                              <a:pt x="60" y="56"/>
                            </a:lnTo>
                            <a:lnTo>
                              <a:pt x="36" y="81"/>
                            </a:lnTo>
                            <a:lnTo>
                              <a:pt x="24" y="115"/>
                            </a:lnTo>
                            <a:lnTo>
                              <a:pt x="11" y="156"/>
                            </a:lnTo>
                            <a:lnTo>
                              <a:pt x="3" y="209"/>
                            </a:lnTo>
                            <a:lnTo>
                              <a:pt x="0" y="260"/>
                            </a:lnTo>
                            <a:lnTo>
                              <a:pt x="4" y="328"/>
                            </a:lnTo>
                            <a:lnTo>
                              <a:pt x="7" y="380"/>
                            </a:lnTo>
                            <a:lnTo>
                              <a:pt x="18" y="407"/>
                            </a:lnTo>
                            <a:lnTo>
                              <a:pt x="28" y="432"/>
                            </a:lnTo>
                            <a:lnTo>
                              <a:pt x="40" y="471"/>
                            </a:lnTo>
                            <a:lnTo>
                              <a:pt x="62" y="517"/>
                            </a:lnTo>
                            <a:lnTo>
                              <a:pt x="89" y="564"/>
                            </a:lnTo>
                            <a:lnTo>
                              <a:pt x="108" y="596"/>
                            </a:lnTo>
                            <a:lnTo>
                              <a:pt x="129" y="627"/>
                            </a:lnTo>
                            <a:lnTo>
                              <a:pt x="146" y="644"/>
                            </a:lnTo>
                            <a:lnTo>
                              <a:pt x="163" y="662"/>
                            </a:lnTo>
                            <a:lnTo>
                              <a:pt x="181" y="674"/>
                            </a:lnTo>
                            <a:lnTo>
                              <a:pt x="201" y="682"/>
                            </a:lnTo>
                            <a:close/>
                          </a:path>
                        </a:pathLst>
                      </a:custGeom>
                      <a:solidFill>
                        <a:srgbClr val="FF7F7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grpSp>
                    <p:nvGrpSpPr>
                      <p:cNvPr id="297" name="Group 358"/>
                      <p:cNvGrpSpPr/>
                      <p:nvPr/>
                    </p:nvGrpSpPr>
                    <p:grpSpPr bwMode="auto">
                      <a:xfrm>
                        <a:off x="4882" y="2310"/>
                        <a:ext cx="17" cy="16"/>
                        <a:chOff x="4882" y="2310"/>
                        <a:chExt cx="17" cy="16"/>
                      </a:xfrm>
                    </p:grpSpPr>
                    <p:sp>
                      <p:nvSpPr>
                        <p:cNvPr id="300" name="Freeform 359"/>
                        <p:cNvSpPr/>
                        <p:nvPr/>
                      </p:nvSpPr>
                      <p:spPr bwMode="auto">
                        <a:xfrm>
                          <a:off x="4882" y="2310"/>
                          <a:ext cx="15" cy="15"/>
                        </a:xfrm>
                        <a:custGeom>
                          <a:avLst/>
                          <a:gdLst>
                            <a:gd name="T0" fmla="*/ 86 w 86"/>
                            <a:gd name="T1" fmla="*/ 6 h 78"/>
                            <a:gd name="T2" fmla="*/ 76 w 86"/>
                            <a:gd name="T3" fmla="*/ 12 h 78"/>
                            <a:gd name="T4" fmla="*/ 61 w 86"/>
                            <a:gd name="T5" fmla="*/ 18 h 78"/>
                            <a:gd name="T6" fmla="*/ 45 w 86"/>
                            <a:gd name="T7" fmla="*/ 24 h 78"/>
                            <a:gd name="T8" fmla="*/ 31 w 86"/>
                            <a:gd name="T9" fmla="*/ 28 h 78"/>
                            <a:gd name="T10" fmla="*/ 24 w 86"/>
                            <a:gd name="T11" fmla="*/ 32 h 78"/>
                            <a:gd name="T12" fmla="*/ 27 w 86"/>
                            <a:gd name="T13" fmla="*/ 38 h 78"/>
                            <a:gd name="T14" fmla="*/ 24 w 86"/>
                            <a:gd name="T15" fmla="*/ 42 h 78"/>
                            <a:gd name="T16" fmla="*/ 31 w 86"/>
                            <a:gd name="T17" fmla="*/ 55 h 78"/>
                            <a:gd name="T18" fmla="*/ 38 w 86"/>
                            <a:gd name="T19" fmla="*/ 64 h 78"/>
                            <a:gd name="T20" fmla="*/ 47 w 86"/>
                            <a:gd name="T21" fmla="*/ 70 h 78"/>
                            <a:gd name="T22" fmla="*/ 60 w 86"/>
                            <a:gd name="T23" fmla="*/ 78 h 78"/>
                            <a:gd name="T24" fmla="*/ 31 w 86"/>
                            <a:gd name="T25" fmla="*/ 67 h 78"/>
                            <a:gd name="T26" fmla="*/ 20 w 86"/>
                            <a:gd name="T27" fmla="*/ 59 h 78"/>
                            <a:gd name="T28" fmla="*/ 11 w 86"/>
                            <a:gd name="T29" fmla="*/ 47 h 78"/>
                            <a:gd name="T30" fmla="*/ 8 w 86"/>
                            <a:gd name="T31" fmla="*/ 39 h 78"/>
                            <a:gd name="T32" fmla="*/ 5 w 86"/>
                            <a:gd name="T33" fmla="*/ 32 h 78"/>
                            <a:gd name="T34" fmla="*/ 0 w 86"/>
                            <a:gd name="T35" fmla="*/ 26 h 78"/>
                            <a:gd name="T36" fmla="*/ 15 w 86"/>
                            <a:gd name="T37" fmla="*/ 16 h 78"/>
                            <a:gd name="T38" fmla="*/ 38 w 86"/>
                            <a:gd name="T39" fmla="*/ 1 h 78"/>
                            <a:gd name="T40" fmla="*/ 51 w 86"/>
                            <a:gd name="T41" fmla="*/ 0 h 78"/>
                            <a:gd name="T42" fmla="*/ 66 w 86"/>
                            <a:gd name="T43" fmla="*/ 1 h 78"/>
                            <a:gd name="T44" fmla="*/ 86 w 86"/>
                            <a:gd name="T45" fmla="*/ 6 h 7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  <a:cxn ang="0">
                              <a:pos x="T30" y="T31"/>
                            </a:cxn>
                            <a:cxn ang="0">
                              <a:pos x="T32" y="T33"/>
                            </a:cxn>
                            <a:cxn ang="0">
                              <a:pos x="T34" y="T35"/>
                            </a:cxn>
                            <a:cxn ang="0">
                              <a:pos x="T36" y="T37"/>
                            </a:cxn>
                            <a:cxn ang="0">
                              <a:pos x="T38" y="T39"/>
                            </a:cxn>
                            <a:cxn ang="0">
                              <a:pos x="T40" y="T41"/>
                            </a:cxn>
                            <a:cxn ang="0">
                              <a:pos x="T42" y="T43"/>
                            </a:cxn>
                            <a:cxn ang="0">
                              <a:pos x="T44" y="T45"/>
                            </a:cxn>
                          </a:cxnLst>
                          <a:rect l="0" t="0" r="r" b="b"/>
                          <a:pathLst>
                            <a:path w="86" h="78">
                              <a:moveTo>
                                <a:pt x="86" y="6"/>
                              </a:moveTo>
                              <a:lnTo>
                                <a:pt x="76" y="12"/>
                              </a:lnTo>
                              <a:lnTo>
                                <a:pt x="61" y="18"/>
                              </a:lnTo>
                              <a:lnTo>
                                <a:pt x="45" y="24"/>
                              </a:lnTo>
                              <a:lnTo>
                                <a:pt x="31" y="28"/>
                              </a:lnTo>
                              <a:lnTo>
                                <a:pt x="24" y="32"/>
                              </a:lnTo>
                              <a:lnTo>
                                <a:pt x="27" y="38"/>
                              </a:lnTo>
                              <a:lnTo>
                                <a:pt x="24" y="42"/>
                              </a:lnTo>
                              <a:lnTo>
                                <a:pt x="31" y="55"/>
                              </a:lnTo>
                              <a:lnTo>
                                <a:pt x="38" y="64"/>
                              </a:lnTo>
                              <a:lnTo>
                                <a:pt x="47" y="70"/>
                              </a:lnTo>
                              <a:lnTo>
                                <a:pt x="60" y="78"/>
                              </a:lnTo>
                              <a:lnTo>
                                <a:pt x="31" y="67"/>
                              </a:lnTo>
                              <a:lnTo>
                                <a:pt x="20" y="59"/>
                              </a:lnTo>
                              <a:lnTo>
                                <a:pt x="11" y="47"/>
                              </a:lnTo>
                              <a:lnTo>
                                <a:pt x="8" y="39"/>
                              </a:lnTo>
                              <a:lnTo>
                                <a:pt x="5" y="32"/>
                              </a:lnTo>
                              <a:lnTo>
                                <a:pt x="0" y="26"/>
                              </a:lnTo>
                              <a:lnTo>
                                <a:pt x="15" y="16"/>
                              </a:lnTo>
                              <a:lnTo>
                                <a:pt x="38" y="1"/>
                              </a:lnTo>
                              <a:lnTo>
                                <a:pt x="51" y="0"/>
                              </a:lnTo>
                              <a:lnTo>
                                <a:pt x="66" y="1"/>
                              </a:lnTo>
                              <a:lnTo>
                                <a:pt x="86" y="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7F7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  <p:sp>
                      <p:nvSpPr>
                        <p:cNvPr id="301" name="Freeform 360"/>
                        <p:cNvSpPr/>
                        <p:nvPr/>
                      </p:nvSpPr>
                      <p:spPr bwMode="auto">
                        <a:xfrm>
                          <a:off x="4888" y="2316"/>
                          <a:ext cx="11" cy="10"/>
                        </a:xfrm>
                        <a:custGeom>
                          <a:avLst/>
                          <a:gdLst>
                            <a:gd name="T0" fmla="*/ 10 w 65"/>
                            <a:gd name="T1" fmla="*/ 2 h 51"/>
                            <a:gd name="T2" fmla="*/ 26 w 65"/>
                            <a:gd name="T3" fmla="*/ 14 h 51"/>
                            <a:gd name="T4" fmla="*/ 37 w 65"/>
                            <a:gd name="T5" fmla="*/ 19 h 51"/>
                            <a:gd name="T6" fmla="*/ 46 w 65"/>
                            <a:gd name="T7" fmla="*/ 19 h 51"/>
                            <a:gd name="T8" fmla="*/ 53 w 65"/>
                            <a:gd name="T9" fmla="*/ 18 h 51"/>
                            <a:gd name="T10" fmla="*/ 65 w 65"/>
                            <a:gd name="T11" fmla="*/ 18 h 51"/>
                            <a:gd name="T12" fmla="*/ 64 w 65"/>
                            <a:gd name="T13" fmla="*/ 23 h 51"/>
                            <a:gd name="T14" fmla="*/ 65 w 65"/>
                            <a:gd name="T15" fmla="*/ 29 h 51"/>
                            <a:gd name="T16" fmla="*/ 61 w 65"/>
                            <a:gd name="T17" fmla="*/ 38 h 51"/>
                            <a:gd name="T18" fmla="*/ 52 w 65"/>
                            <a:gd name="T19" fmla="*/ 46 h 51"/>
                            <a:gd name="T20" fmla="*/ 43 w 65"/>
                            <a:gd name="T21" fmla="*/ 49 h 51"/>
                            <a:gd name="T22" fmla="*/ 33 w 65"/>
                            <a:gd name="T23" fmla="*/ 51 h 51"/>
                            <a:gd name="T24" fmla="*/ 50 w 65"/>
                            <a:gd name="T25" fmla="*/ 40 h 51"/>
                            <a:gd name="T26" fmla="*/ 57 w 65"/>
                            <a:gd name="T27" fmla="*/ 31 h 51"/>
                            <a:gd name="T28" fmla="*/ 39 w 65"/>
                            <a:gd name="T29" fmla="*/ 33 h 51"/>
                            <a:gd name="T30" fmla="*/ 32 w 65"/>
                            <a:gd name="T31" fmla="*/ 35 h 51"/>
                            <a:gd name="T32" fmla="*/ 20 w 65"/>
                            <a:gd name="T33" fmla="*/ 29 h 51"/>
                            <a:gd name="T34" fmla="*/ 8 w 65"/>
                            <a:gd name="T35" fmla="*/ 19 h 51"/>
                            <a:gd name="T36" fmla="*/ 2 w 65"/>
                            <a:gd name="T37" fmla="*/ 12 h 51"/>
                            <a:gd name="T38" fmla="*/ 0 w 65"/>
                            <a:gd name="T39" fmla="*/ 3 h 51"/>
                            <a:gd name="T40" fmla="*/ 3 w 65"/>
                            <a:gd name="T41" fmla="*/ 0 h 51"/>
                            <a:gd name="T42" fmla="*/ 10 w 65"/>
                            <a:gd name="T43" fmla="*/ 2 h 51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  <a:cxn ang="0">
                              <a:pos x="T30" y="T31"/>
                            </a:cxn>
                            <a:cxn ang="0">
                              <a:pos x="T32" y="T33"/>
                            </a:cxn>
                            <a:cxn ang="0">
                              <a:pos x="T34" y="T35"/>
                            </a:cxn>
                            <a:cxn ang="0">
                              <a:pos x="T36" y="T37"/>
                            </a:cxn>
                            <a:cxn ang="0">
                              <a:pos x="T38" y="T39"/>
                            </a:cxn>
                            <a:cxn ang="0">
                              <a:pos x="T40" y="T41"/>
                            </a:cxn>
                            <a:cxn ang="0">
                              <a:pos x="T42" y="T43"/>
                            </a:cxn>
                          </a:cxnLst>
                          <a:rect l="0" t="0" r="r" b="b"/>
                          <a:pathLst>
                            <a:path w="65" h="51">
                              <a:moveTo>
                                <a:pt x="10" y="2"/>
                              </a:moveTo>
                              <a:lnTo>
                                <a:pt x="26" y="14"/>
                              </a:lnTo>
                              <a:lnTo>
                                <a:pt x="37" y="19"/>
                              </a:lnTo>
                              <a:lnTo>
                                <a:pt x="46" y="19"/>
                              </a:lnTo>
                              <a:lnTo>
                                <a:pt x="53" y="18"/>
                              </a:lnTo>
                              <a:lnTo>
                                <a:pt x="65" y="18"/>
                              </a:lnTo>
                              <a:lnTo>
                                <a:pt x="64" y="23"/>
                              </a:lnTo>
                              <a:lnTo>
                                <a:pt x="65" y="29"/>
                              </a:lnTo>
                              <a:lnTo>
                                <a:pt x="61" y="38"/>
                              </a:lnTo>
                              <a:lnTo>
                                <a:pt x="52" y="46"/>
                              </a:lnTo>
                              <a:lnTo>
                                <a:pt x="43" y="49"/>
                              </a:lnTo>
                              <a:lnTo>
                                <a:pt x="33" y="51"/>
                              </a:lnTo>
                              <a:lnTo>
                                <a:pt x="50" y="40"/>
                              </a:lnTo>
                              <a:lnTo>
                                <a:pt x="57" y="31"/>
                              </a:lnTo>
                              <a:lnTo>
                                <a:pt x="39" y="33"/>
                              </a:lnTo>
                              <a:lnTo>
                                <a:pt x="32" y="35"/>
                              </a:lnTo>
                              <a:lnTo>
                                <a:pt x="20" y="29"/>
                              </a:lnTo>
                              <a:lnTo>
                                <a:pt x="8" y="19"/>
                              </a:lnTo>
                              <a:lnTo>
                                <a:pt x="2" y="12"/>
                              </a:lnTo>
                              <a:lnTo>
                                <a:pt x="0" y="3"/>
                              </a:lnTo>
                              <a:lnTo>
                                <a:pt x="3" y="0"/>
                              </a:lnTo>
                              <a:lnTo>
                                <a:pt x="10" y="2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7F7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</p:grpSp>
                  <p:sp>
                    <p:nvSpPr>
                      <p:cNvPr id="298" name="Freeform 361"/>
                      <p:cNvSpPr/>
                      <p:nvPr/>
                    </p:nvSpPr>
                    <p:spPr bwMode="auto">
                      <a:xfrm>
                        <a:off x="4911" y="2319"/>
                        <a:ext cx="7" cy="11"/>
                      </a:xfrm>
                      <a:custGeom>
                        <a:avLst/>
                        <a:gdLst>
                          <a:gd name="T0" fmla="*/ 0 w 42"/>
                          <a:gd name="T1" fmla="*/ 0 h 52"/>
                          <a:gd name="T2" fmla="*/ 12 w 42"/>
                          <a:gd name="T3" fmla="*/ 14 h 52"/>
                          <a:gd name="T4" fmla="*/ 22 w 42"/>
                          <a:gd name="T5" fmla="*/ 15 h 52"/>
                          <a:gd name="T6" fmla="*/ 35 w 42"/>
                          <a:gd name="T7" fmla="*/ 14 h 52"/>
                          <a:gd name="T8" fmla="*/ 42 w 42"/>
                          <a:gd name="T9" fmla="*/ 14 h 52"/>
                          <a:gd name="T10" fmla="*/ 35 w 42"/>
                          <a:gd name="T11" fmla="*/ 25 h 52"/>
                          <a:gd name="T12" fmla="*/ 30 w 42"/>
                          <a:gd name="T13" fmla="*/ 28 h 52"/>
                          <a:gd name="T14" fmla="*/ 21 w 42"/>
                          <a:gd name="T15" fmla="*/ 28 h 52"/>
                          <a:gd name="T16" fmla="*/ 13 w 42"/>
                          <a:gd name="T17" fmla="*/ 33 h 52"/>
                          <a:gd name="T18" fmla="*/ 19 w 42"/>
                          <a:gd name="T19" fmla="*/ 37 h 52"/>
                          <a:gd name="T20" fmla="*/ 28 w 42"/>
                          <a:gd name="T21" fmla="*/ 40 h 52"/>
                          <a:gd name="T22" fmla="*/ 25 w 42"/>
                          <a:gd name="T23" fmla="*/ 47 h 52"/>
                          <a:gd name="T24" fmla="*/ 16 w 42"/>
                          <a:gd name="T25" fmla="*/ 52 h 52"/>
                          <a:gd name="T26" fmla="*/ 10 w 42"/>
                          <a:gd name="T27" fmla="*/ 52 h 52"/>
                          <a:gd name="T28" fmla="*/ 4 w 42"/>
                          <a:gd name="T29" fmla="*/ 40 h 52"/>
                          <a:gd name="T30" fmla="*/ 1 w 42"/>
                          <a:gd name="T31" fmla="*/ 21 h 52"/>
                          <a:gd name="T32" fmla="*/ 0 w 42"/>
                          <a:gd name="T33" fmla="*/ 0 h 52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</a:cxnLst>
                        <a:rect l="0" t="0" r="r" b="b"/>
                        <a:pathLst>
                          <a:path w="42" h="52">
                            <a:moveTo>
                              <a:pt x="0" y="0"/>
                            </a:moveTo>
                            <a:lnTo>
                              <a:pt x="12" y="14"/>
                            </a:lnTo>
                            <a:lnTo>
                              <a:pt x="22" y="15"/>
                            </a:lnTo>
                            <a:lnTo>
                              <a:pt x="35" y="14"/>
                            </a:lnTo>
                            <a:lnTo>
                              <a:pt x="42" y="14"/>
                            </a:lnTo>
                            <a:lnTo>
                              <a:pt x="35" y="25"/>
                            </a:lnTo>
                            <a:lnTo>
                              <a:pt x="30" y="28"/>
                            </a:lnTo>
                            <a:lnTo>
                              <a:pt x="21" y="28"/>
                            </a:lnTo>
                            <a:lnTo>
                              <a:pt x="13" y="33"/>
                            </a:lnTo>
                            <a:lnTo>
                              <a:pt x="19" y="37"/>
                            </a:lnTo>
                            <a:lnTo>
                              <a:pt x="28" y="40"/>
                            </a:lnTo>
                            <a:lnTo>
                              <a:pt x="25" y="47"/>
                            </a:lnTo>
                            <a:lnTo>
                              <a:pt x="16" y="52"/>
                            </a:lnTo>
                            <a:lnTo>
                              <a:pt x="10" y="52"/>
                            </a:lnTo>
                            <a:lnTo>
                              <a:pt x="4" y="40"/>
                            </a:lnTo>
                            <a:lnTo>
                              <a:pt x="1" y="21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FF7F7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299" name="Freeform 362"/>
                      <p:cNvSpPr/>
                      <p:nvPr/>
                    </p:nvSpPr>
                    <p:spPr bwMode="auto">
                      <a:xfrm>
                        <a:off x="4890" y="2361"/>
                        <a:ext cx="16" cy="13"/>
                      </a:xfrm>
                      <a:custGeom>
                        <a:avLst/>
                        <a:gdLst>
                          <a:gd name="T0" fmla="*/ 6 w 94"/>
                          <a:gd name="T1" fmla="*/ 2 h 63"/>
                          <a:gd name="T2" fmla="*/ 21 w 94"/>
                          <a:gd name="T3" fmla="*/ 7 h 63"/>
                          <a:gd name="T4" fmla="*/ 38 w 94"/>
                          <a:gd name="T5" fmla="*/ 12 h 63"/>
                          <a:gd name="T6" fmla="*/ 49 w 94"/>
                          <a:gd name="T7" fmla="*/ 15 h 63"/>
                          <a:gd name="T8" fmla="*/ 59 w 94"/>
                          <a:gd name="T9" fmla="*/ 15 h 63"/>
                          <a:gd name="T10" fmla="*/ 75 w 94"/>
                          <a:gd name="T11" fmla="*/ 11 h 63"/>
                          <a:gd name="T12" fmla="*/ 86 w 94"/>
                          <a:gd name="T13" fmla="*/ 5 h 63"/>
                          <a:gd name="T14" fmla="*/ 94 w 94"/>
                          <a:gd name="T15" fmla="*/ 0 h 63"/>
                          <a:gd name="T16" fmla="*/ 80 w 94"/>
                          <a:gd name="T17" fmla="*/ 23 h 63"/>
                          <a:gd name="T18" fmla="*/ 86 w 94"/>
                          <a:gd name="T19" fmla="*/ 33 h 63"/>
                          <a:gd name="T20" fmla="*/ 86 w 94"/>
                          <a:gd name="T21" fmla="*/ 42 h 63"/>
                          <a:gd name="T22" fmla="*/ 78 w 94"/>
                          <a:gd name="T23" fmla="*/ 37 h 63"/>
                          <a:gd name="T24" fmla="*/ 74 w 94"/>
                          <a:gd name="T25" fmla="*/ 40 h 63"/>
                          <a:gd name="T26" fmla="*/ 66 w 94"/>
                          <a:gd name="T27" fmla="*/ 55 h 63"/>
                          <a:gd name="T28" fmla="*/ 63 w 94"/>
                          <a:gd name="T29" fmla="*/ 63 h 63"/>
                          <a:gd name="T30" fmla="*/ 63 w 94"/>
                          <a:gd name="T31" fmla="*/ 49 h 63"/>
                          <a:gd name="T32" fmla="*/ 57 w 94"/>
                          <a:gd name="T33" fmla="*/ 38 h 63"/>
                          <a:gd name="T34" fmla="*/ 49 w 94"/>
                          <a:gd name="T35" fmla="*/ 32 h 63"/>
                          <a:gd name="T36" fmla="*/ 37 w 94"/>
                          <a:gd name="T37" fmla="*/ 29 h 63"/>
                          <a:gd name="T38" fmla="*/ 16 w 94"/>
                          <a:gd name="T39" fmla="*/ 31 h 63"/>
                          <a:gd name="T40" fmla="*/ 0 w 94"/>
                          <a:gd name="T41" fmla="*/ 36 h 63"/>
                          <a:gd name="T42" fmla="*/ 19 w 94"/>
                          <a:gd name="T43" fmla="*/ 21 h 63"/>
                          <a:gd name="T44" fmla="*/ 6 w 94"/>
                          <a:gd name="T45" fmla="*/ 2 h 6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</a:cxnLst>
                        <a:rect l="0" t="0" r="r" b="b"/>
                        <a:pathLst>
                          <a:path w="94" h="63">
                            <a:moveTo>
                              <a:pt x="6" y="2"/>
                            </a:moveTo>
                            <a:lnTo>
                              <a:pt x="21" y="7"/>
                            </a:lnTo>
                            <a:lnTo>
                              <a:pt x="38" y="12"/>
                            </a:lnTo>
                            <a:lnTo>
                              <a:pt x="49" y="15"/>
                            </a:lnTo>
                            <a:lnTo>
                              <a:pt x="59" y="15"/>
                            </a:lnTo>
                            <a:lnTo>
                              <a:pt x="75" y="11"/>
                            </a:lnTo>
                            <a:lnTo>
                              <a:pt x="86" y="5"/>
                            </a:lnTo>
                            <a:lnTo>
                              <a:pt x="94" y="0"/>
                            </a:lnTo>
                            <a:lnTo>
                              <a:pt x="80" y="23"/>
                            </a:lnTo>
                            <a:lnTo>
                              <a:pt x="86" y="33"/>
                            </a:lnTo>
                            <a:lnTo>
                              <a:pt x="86" y="42"/>
                            </a:lnTo>
                            <a:lnTo>
                              <a:pt x="78" y="37"/>
                            </a:lnTo>
                            <a:lnTo>
                              <a:pt x="74" y="40"/>
                            </a:lnTo>
                            <a:lnTo>
                              <a:pt x="66" y="55"/>
                            </a:lnTo>
                            <a:lnTo>
                              <a:pt x="63" y="63"/>
                            </a:lnTo>
                            <a:lnTo>
                              <a:pt x="63" y="49"/>
                            </a:lnTo>
                            <a:lnTo>
                              <a:pt x="57" y="38"/>
                            </a:lnTo>
                            <a:lnTo>
                              <a:pt x="49" y="32"/>
                            </a:lnTo>
                            <a:lnTo>
                              <a:pt x="37" y="29"/>
                            </a:lnTo>
                            <a:lnTo>
                              <a:pt x="16" y="31"/>
                            </a:lnTo>
                            <a:lnTo>
                              <a:pt x="0" y="36"/>
                            </a:lnTo>
                            <a:lnTo>
                              <a:pt x="19" y="21"/>
                            </a:lnTo>
                            <a:lnTo>
                              <a:pt x="6" y="2"/>
                            </a:lnTo>
                            <a:close/>
                          </a:path>
                        </a:pathLst>
                      </a:custGeom>
                      <a:solidFill>
                        <a:srgbClr val="FF7F7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sp>
                  <p:nvSpPr>
                    <p:cNvPr id="273" name="Freeform 363"/>
                    <p:cNvSpPr/>
                    <p:nvPr/>
                  </p:nvSpPr>
                  <p:spPr bwMode="auto">
                    <a:xfrm>
                      <a:off x="4886" y="2349"/>
                      <a:ext cx="23" cy="11"/>
                    </a:xfrm>
                    <a:custGeom>
                      <a:avLst/>
                      <a:gdLst>
                        <a:gd name="T0" fmla="*/ 23 w 138"/>
                        <a:gd name="T1" fmla="*/ 0 h 56"/>
                        <a:gd name="T2" fmla="*/ 5 w 138"/>
                        <a:gd name="T3" fmla="*/ 15 h 56"/>
                        <a:gd name="T4" fmla="*/ 0 w 138"/>
                        <a:gd name="T5" fmla="*/ 24 h 56"/>
                        <a:gd name="T6" fmla="*/ 0 w 138"/>
                        <a:gd name="T7" fmla="*/ 35 h 56"/>
                        <a:gd name="T8" fmla="*/ 5 w 138"/>
                        <a:gd name="T9" fmla="*/ 45 h 56"/>
                        <a:gd name="T10" fmla="*/ 5 w 138"/>
                        <a:gd name="T11" fmla="*/ 32 h 56"/>
                        <a:gd name="T12" fmla="*/ 13 w 138"/>
                        <a:gd name="T13" fmla="*/ 26 h 56"/>
                        <a:gd name="T14" fmla="*/ 28 w 138"/>
                        <a:gd name="T15" fmla="*/ 26 h 56"/>
                        <a:gd name="T16" fmla="*/ 47 w 138"/>
                        <a:gd name="T17" fmla="*/ 34 h 56"/>
                        <a:gd name="T18" fmla="*/ 65 w 138"/>
                        <a:gd name="T19" fmla="*/ 41 h 56"/>
                        <a:gd name="T20" fmla="*/ 81 w 138"/>
                        <a:gd name="T21" fmla="*/ 46 h 56"/>
                        <a:gd name="T22" fmla="*/ 95 w 138"/>
                        <a:gd name="T23" fmla="*/ 47 h 56"/>
                        <a:gd name="T24" fmla="*/ 99 w 138"/>
                        <a:gd name="T25" fmla="*/ 50 h 56"/>
                        <a:gd name="T26" fmla="*/ 101 w 138"/>
                        <a:gd name="T27" fmla="*/ 56 h 56"/>
                        <a:gd name="T28" fmla="*/ 108 w 138"/>
                        <a:gd name="T29" fmla="*/ 50 h 56"/>
                        <a:gd name="T30" fmla="*/ 120 w 138"/>
                        <a:gd name="T31" fmla="*/ 45 h 56"/>
                        <a:gd name="T32" fmla="*/ 123 w 138"/>
                        <a:gd name="T33" fmla="*/ 44 h 56"/>
                        <a:gd name="T34" fmla="*/ 127 w 138"/>
                        <a:gd name="T35" fmla="*/ 41 h 56"/>
                        <a:gd name="T36" fmla="*/ 138 w 138"/>
                        <a:gd name="T37" fmla="*/ 32 h 56"/>
                        <a:gd name="T38" fmla="*/ 128 w 138"/>
                        <a:gd name="T39" fmla="*/ 23 h 56"/>
                        <a:gd name="T40" fmla="*/ 120 w 138"/>
                        <a:gd name="T41" fmla="*/ 23 h 56"/>
                        <a:gd name="T42" fmla="*/ 107 w 138"/>
                        <a:gd name="T43" fmla="*/ 25 h 56"/>
                        <a:gd name="T44" fmla="*/ 93 w 138"/>
                        <a:gd name="T45" fmla="*/ 26 h 56"/>
                        <a:gd name="T46" fmla="*/ 86 w 138"/>
                        <a:gd name="T47" fmla="*/ 25 h 56"/>
                        <a:gd name="T48" fmla="*/ 79 w 138"/>
                        <a:gd name="T49" fmla="*/ 21 h 56"/>
                        <a:gd name="T50" fmla="*/ 67 w 138"/>
                        <a:gd name="T51" fmla="*/ 21 h 56"/>
                        <a:gd name="T52" fmla="*/ 50 w 138"/>
                        <a:gd name="T53" fmla="*/ 23 h 56"/>
                        <a:gd name="T54" fmla="*/ 38 w 138"/>
                        <a:gd name="T55" fmla="*/ 20 h 56"/>
                        <a:gd name="T56" fmla="*/ 28 w 138"/>
                        <a:gd name="T57" fmla="*/ 18 h 56"/>
                        <a:gd name="T58" fmla="*/ 19 w 138"/>
                        <a:gd name="T59" fmla="*/ 11 h 56"/>
                        <a:gd name="T60" fmla="*/ 23 w 138"/>
                        <a:gd name="T61" fmla="*/ 0 h 5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</a:cxnLst>
                      <a:rect l="0" t="0" r="r" b="b"/>
                      <a:pathLst>
                        <a:path w="138" h="56">
                          <a:moveTo>
                            <a:pt x="23" y="0"/>
                          </a:moveTo>
                          <a:lnTo>
                            <a:pt x="5" y="15"/>
                          </a:lnTo>
                          <a:lnTo>
                            <a:pt x="0" y="24"/>
                          </a:lnTo>
                          <a:lnTo>
                            <a:pt x="0" y="35"/>
                          </a:lnTo>
                          <a:lnTo>
                            <a:pt x="5" y="45"/>
                          </a:lnTo>
                          <a:lnTo>
                            <a:pt x="5" y="32"/>
                          </a:lnTo>
                          <a:lnTo>
                            <a:pt x="13" y="26"/>
                          </a:lnTo>
                          <a:lnTo>
                            <a:pt x="28" y="26"/>
                          </a:lnTo>
                          <a:lnTo>
                            <a:pt x="47" y="34"/>
                          </a:lnTo>
                          <a:lnTo>
                            <a:pt x="65" y="41"/>
                          </a:lnTo>
                          <a:lnTo>
                            <a:pt x="81" y="46"/>
                          </a:lnTo>
                          <a:lnTo>
                            <a:pt x="95" y="47"/>
                          </a:lnTo>
                          <a:lnTo>
                            <a:pt x="99" y="50"/>
                          </a:lnTo>
                          <a:lnTo>
                            <a:pt x="101" y="56"/>
                          </a:lnTo>
                          <a:lnTo>
                            <a:pt x="108" y="50"/>
                          </a:lnTo>
                          <a:lnTo>
                            <a:pt x="120" y="45"/>
                          </a:lnTo>
                          <a:lnTo>
                            <a:pt x="123" y="44"/>
                          </a:lnTo>
                          <a:lnTo>
                            <a:pt x="127" y="41"/>
                          </a:lnTo>
                          <a:lnTo>
                            <a:pt x="138" y="32"/>
                          </a:lnTo>
                          <a:lnTo>
                            <a:pt x="128" y="23"/>
                          </a:lnTo>
                          <a:lnTo>
                            <a:pt x="120" y="23"/>
                          </a:lnTo>
                          <a:lnTo>
                            <a:pt x="107" y="25"/>
                          </a:lnTo>
                          <a:lnTo>
                            <a:pt x="93" y="26"/>
                          </a:lnTo>
                          <a:lnTo>
                            <a:pt x="86" y="25"/>
                          </a:lnTo>
                          <a:lnTo>
                            <a:pt x="79" y="21"/>
                          </a:lnTo>
                          <a:lnTo>
                            <a:pt x="67" y="21"/>
                          </a:lnTo>
                          <a:lnTo>
                            <a:pt x="50" y="23"/>
                          </a:lnTo>
                          <a:lnTo>
                            <a:pt x="38" y="20"/>
                          </a:lnTo>
                          <a:lnTo>
                            <a:pt x="28" y="18"/>
                          </a:lnTo>
                          <a:lnTo>
                            <a:pt x="19" y="11"/>
                          </a:lnTo>
                          <a:lnTo>
                            <a:pt x="23" y="0"/>
                          </a:lnTo>
                          <a:close/>
                        </a:path>
                      </a:pathLst>
                    </a:custGeom>
                    <a:solidFill>
                      <a:srgbClr val="5F3F1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74" name="Freeform 364"/>
                    <p:cNvSpPr/>
                    <p:nvPr/>
                  </p:nvSpPr>
                  <p:spPr bwMode="auto">
                    <a:xfrm>
                      <a:off x="4893" y="2334"/>
                      <a:ext cx="20" cy="16"/>
                    </a:xfrm>
                    <a:custGeom>
                      <a:avLst/>
                      <a:gdLst>
                        <a:gd name="T0" fmla="*/ 32 w 120"/>
                        <a:gd name="T1" fmla="*/ 0 h 81"/>
                        <a:gd name="T2" fmla="*/ 13 w 120"/>
                        <a:gd name="T3" fmla="*/ 31 h 81"/>
                        <a:gd name="T4" fmla="*/ 0 w 120"/>
                        <a:gd name="T5" fmla="*/ 37 h 81"/>
                        <a:gd name="T6" fmla="*/ 18 w 120"/>
                        <a:gd name="T7" fmla="*/ 39 h 81"/>
                        <a:gd name="T8" fmla="*/ 32 w 120"/>
                        <a:gd name="T9" fmla="*/ 43 h 81"/>
                        <a:gd name="T10" fmla="*/ 44 w 120"/>
                        <a:gd name="T11" fmla="*/ 53 h 81"/>
                        <a:gd name="T12" fmla="*/ 55 w 120"/>
                        <a:gd name="T13" fmla="*/ 81 h 81"/>
                        <a:gd name="T14" fmla="*/ 51 w 120"/>
                        <a:gd name="T15" fmla="*/ 61 h 81"/>
                        <a:gd name="T16" fmla="*/ 55 w 120"/>
                        <a:gd name="T17" fmla="*/ 54 h 81"/>
                        <a:gd name="T18" fmla="*/ 62 w 120"/>
                        <a:gd name="T19" fmla="*/ 58 h 81"/>
                        <a:gd name="T20" fmla="*/ 78 w 120"/>
                        <a:gd name="T21" fmla="*/ 59 h 81"/>
                        <a:gd name="T22" fmla="*/ 87 w 120"/>
                        <a:gd name="T23" fmla="*/ 49 h 81"/>
                        <a:gd name="T24" fmla="*/ 103 w 120"/>
                        <a:gd name="T25" fmla="*/ 47 h 81"/>
                        <a:gd name="T26" fmla="*/ 120 w 120"/>
                        <a:gd name="T27" fmla="*/ 38 h 81"/>
                        <a:gd name="T28" fmla="*/ 103 w 120"/>
                        <a:gd name="T29" fmla="*/ 38 h 81"/>
                        <a:gd name="T30" fmla="*/ 92 w 120"/>
                        <a:gd name="T31" fmla="*/ 38 h 81"/>
                        <a:gd name="T32" fmla="*/ 80 w 120"/>
                        <a:gd name="T33" fmla="*/ 32 h 81"/>
                        <a:gd name="T34" fmla="*/ 55 w 120"/>
                        <a:gd name="T35" fmla="*/ 31 h 81"/>
                        <a:gd name="T36" fmla="*/ 41 w 120"/>
                        <a:gd name="T37" fmla="*/ 34 h 81"/>
                        <a:gd name="T38" fmla="*/ 34 w 120"/>
                        <a:gd name="T39" fmla="*/ 32 h 81"/>
                        <a:gd name="T40" fmla="*/ 26 w 120"/>
                        <a:gd name="T41" fmla="*/ 26 h 81"/>
                        <a:gd name="T42" fmla="*/ 25 w 120"/>
                        <a:gd name="T43" fmla="*/ 18 h 81"/>
                        <a:gd name="T44" fmla="*/ 32 w 120"/>
                        <a:gd name="T45" fmla="*/ 0 h 8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</a:cxnLst>
                      <a:rect l="0" t="0" r="r" b="b"/>
                      <a:pathLst>
                        <a:path w="120" h="81">
                          <a:moveTo>
                            <a:pt x="32" y="0"/>
                          </a:moveTo>
                          <a:lnTo>
                            <a:pt x="13" y="31"/>
                          </a:lnTo>
                          <a:lnTo>
                            <a:pt x="0" y="37"/>
                          </a:lnTo>
                          <a:lnTo>
                            <a:pt x="18" y="39"/>
                          </a:lnTo>
                          <a:lnTo>
                            <a:pt x="32" y="43"/>
                          </a:lnTo>
                          <a:lnTo>
                            <a:pt x="44" y="53"/>
                          </a:lnTo>
                          <a:lnTo>
                            <a:pt x="55" y="81"/>
                          </a:lnTo>
                          <a:lnTo>
                            <a:pt x="51" y="61"/>
                          </a:lnTo>
                          <a:lnTo>
                            <a:pt x="55" y="54"/>
                          </a:lnTo>
                          <a:lnTo>
                            <a:pt x="62" y="58"/>
                          </a:lnTo>
                          <a:lnTo>
                            <a:pt x="78" y="59"/>
                          </a:lnTo>
                          <a:lnTo>
                            <a:pt x="87" y="49"/>
                          </a:lnTo>
                          <a:lnTo>
                            <a:pt x="103" y="47"/>
                          </a:lnTo>
                          <a:lnTo>
                            <a:pt x="120" y="38"/>
                          </a:lnTo>
                          <a:lnTo>
                            <a:pt x="103" y="38"/>
                          </a:lnTo>
                          <a:lnTo>
                            <a:pt x="92" y="38"/>
                          </a:lnTo>
                          <a:lnTo>
                            <a:pt x="80" y="32"/>
                          </a:lnTo>
                          <a:lnTo>
                            <a:pt x="55" y="31"/>
                          </a:lnTo>
                          <a:lnTo>
                            <a:pt x="41" y="34"/>
                          </a:lnTo>
                          <a:lnTo>
                            <a:pt x="34" y="32"/>
                          </a:lnTo>
                          <a:lnTo>
                            <a:pt x="26" y="26"/>
                          </a:lnTo>
                          <a:lnTo>
                            <a:pt x="25" y="18"/>
                          </a:lnTo>
                          <a:lnTo>
                            <a:pt x="32" y="0"/>
                          </a:lnTo>
                          <a:close/>
                        </a:path>
                      </a:pathLst>
                    </a:custGeom>
                    <a:solidFill>
                      <a:srgbClr val="5F3F1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75" name="Freeform 365"/>
                    <p:cNvSpPr/>
                    <p:nvPr/>
                  </p:nvSpPr>
                  <p:spPr bwMode="auto">
                    <a:xfrm>
                      <a:off x="4889" y="2354"/>
                      <a:ext cx="18" cy="9"/>
                    </a:xfrm>
                    <a:custGeom>
                      <a:avLst/>
                      <a:gdLst>
                        <a:gd name="T0" fmla="*/ 0 w 110"/>
                        <a:gd name="T1" fmla="*/ 1 h 47"/>
                        <a:gd name="T2" fmla="*/ 13 w 110"/>
                        <a:gd name="T3" fmla="*/ 0 h 47"/>
                        <a:gd name="T4" fmla="*/ 25 w 110"/>
                        <a:gd name="T5" fmla="*/ 5 h 47"/>
                        <a:gd name="T6" fmla="*/ 42 w 110"/>
                        <a:gd name="T7" fmla="*/ 10 h 47"/>
                        <a:gd name="T8" fmla="*/ 52 w 110"/>
                        <a:gd name="T9" fmla="*/ 15 h 47"/>
                        <a:gd name="T10" fmla="*/ 63 w 110"/>
                        <a:gd name="T11" fmla="*/ 19 h 47"/>
                        <a:gd name="T12" fmla="*/ 74 w 110"/>
                        <a:gd name="T13" fmla="*/ 20 h 47"/>
                        <a:gd name="T14" fmla="*/ 84 w 110"/>
                        <a:gd name="T15" fmla="*/ 21 h 47"/>
                        <a:gd name="T16" fmla="*/ 98 w 110"/>
                        <a:gd name="T17" fmla="*/ 19 h 47"/>
                        <a:gd name="T18" fmla="*/ 107 w 110"/>
                        <a:gd name="T19" fmla="*/ 14 h 47"/>
                        <a:gd name="T20" fmla="*/ 110 w 110"/>
                        <a:gd name="T21" fmla="*/ 10 h 47"/>
                        <a:gd name="T22" fmla="*/ 107 w 110"/>
                        <a:gd name="T23" fmla="*/ 26 h 47"/>
                        <a:gd name="T24" fmla="*/ 99 w 110"/>
                        <a:gd name="T25" fmla="*/ 38 h 47"/>
                        <a:gd name="T26" fmla="*/ 89 w 110"/>
                        <a:gd name="T27" fmla="*/ 45 h 47"/>
                        <a:gd name="T28" fmla="*/ 75 w 110"/>
                        <a:gd name="T29" fmla="*/ 47 h 47"/>
                        <a:gd name="T30" fmla="*/ 59 w 110"/>
                        <a:gd name="T31" fmla="*/ 46 h 47"/>
                        <a:gd name="T32" fmla="*/ 48 w 110"/>
                        <a:gd name="T33" fmla="*/ 42 h 47"/>
                        <a:gd name="T34" fmla="*/ 36 w 110"/>
                        <a:gd name="T35" fmla="*/ 33 h 47"/>
                        <a:gd name="T36" fmla="*/ 29 w 110"/>
                        <a:gd name="T37" fmla="*/ 27 h 47"/>
                        <a:gd name="T38" fmla="*/ 16 w 110"/>
                        <a:gd name="T39" fmla="*/ 17 h 47"/>
                        <a:gd name="T40" fmla="*/ 0 w 110"/>
                        <a:gd name="T41" fmla="*/ 1 h 4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</a:cxnLst>
                      <a:rect l="0" t="0" r="r" b="b"/>
                      <a:pathLst>
                        <a:path w="110" h="47">
                          <a:moveTo>
                            <a:pt x="0" y="1"/>
                          </a:moveTo>
                          <a:lnTo>
                            <a:pt x="13" y="0"/>
                          </a:lnTo>
                          <a:lnTo>
                            <a:pt x="25" y="5"/>
                          </a:lnTo>
                          <a:lnTo>
                            <a:pt x="42" y="10"/>
                          </a:lnTo>
                          <a:lnTo>
                            <a:pt x="52" y="15"/>
                          </a:lnTo>
                          <a:lnTo>
                            <a:pt x="63" y="19"/>
                          </a:lnTo>
                          <a:lnTo>
                            <a:pt x="74" y="20"/>
                          </a:lnTo>
                          <a:lnTo>
                            <a:pt x="84" y="21"/>
                          </a:lnTo>
                          <a:lnTo>
                            <a:pt x="98" y="19"/>
                          </a:lnTo>
                          <a:lnTo>
                            <a:pt x="107" y="14"/>
                          </a:lnTo>
                          <a:lnTo>
                            <a:pt x="110" y="10"/>
                          </a:lnTo>
                          <a:lnTo>
                            <a:pt x="107" y="26"/>
                          </a:lnTo>
                          <a:lnTo>
                            <a:pt x="99" y="38"/>
                          </a:lnTo>
                          <a:lnTo>
                            <a:pt x="89" y="45"/>
                          </a:lnTo>
                          <a:lnTo>
                            <a:pt x="75" y="47"/>
                          </a:lnTo>
                          <a:lnTo>
                            <a:pt x="59" y="46"/>
                          </a:lnTo>
                          <a:lnTo>
                            <a:pt x="48" y="42"/>
                          </a:lnTo>
                          <a:lnTo>
                            <a:pt x="36" y="33"/>
                          </a:lnTo>
                          <a:lnTo>
                            <a:pt x="29" y="27"/>
                          </a:lnTo>
                          <a:lnTo>
                            <a:pt x="16" y="17"/>
                          </a:lnTo>
                          <a:lnTo>
                            <a:pt x="0" y="1"/>
                          </a:lnTo>
                          <a:close/>
                        </a:path>
                      </a:pathLst>
                    </a:custGeom>
                    <a:solidFill>
                      <a:srgbClr val="BF7F3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76" name="Freeform 366"/>
                    <p:cNvSpPr/>
                    <p:nvPr/>
                  </p:nvSpPr>
                  <p:spPr bwMode="auto">
                    <a:xfrm>
                      <a:off x="4890" y="2354"/>
                      <a:ext cx="16" cy="4"/>
                    </a:xfrm>
                    <a:custGeom>
                      <a:avLst/>
                      <a:gdLst>
                        <a:gd name="T0" fmla="*/ 0 w 94"/>
                        <a:gd name="T1" fmla="*/ 0 h 21"/>
                        <a:gd name="T2" fmla="*/ 13 w 94"/>
                        <a:gd name="T3" fmla="*/ 1 h 21"/>
                        <a:gd name="T4" fmla="*/ 32 w 94"/>
                        <a:gd name="T5" fmla="*/ 2 h 21"/>
                        <a:gd name="T6" fmla="*/ 45 w 94"/>
                        <a:gd name="T7" fmla="*/ 4 h 21"/>
                        <a:gd name="T8" fmla="*/ 57 w 94"/>
                        <a:gd name="T9" fmla="*/ 10 h 21"/>
                        <a:gd name="T10" fmla="*/ 64 w 94"/>
                        <a:gd name="T11" fmla="*/ 12 h 21"/>
                        <a:gd name="T12" fmla="*/ 80 w 94"/>
                        <a:gd name="T13" fmla="*/ 8 h 21"/>
                        <a:gd name="T14" fmla="*/ 92 w 94"/>
                        <a:gd name="T15" fmla="*/ 8 h 21"/>
                        <a:gd name="T16" fmla="*/ 94 w 94"/>
                        <a:gd name="T17" fmla="*/ 20 h 21"/>
                        <a:gd name="T18" fmla="*/ 82 w 94"/>
                        <a:gd name="T19" fmla="*/ 18 h 21"/>
                        <a:gd name="T20" fmla="*/ 72 w 94"/>
                        <a:gd name="T21" fmla="*/ 20 h 21"/>
                        <a:gd name="T22" fmla="*/ 61 w 94"/>
                        <a:gd name="T23" fmla="*/ 21 h 21"/>
                        <a:gd name="T24" fmla="*/ 54 w 94"/>
                        <a:gd name="T25" fmla="*/ 21 h 21"/>
                        <a:gd name="T26" fmla="*/ 45 w 94"/>
                        <a:gd name="T27" fmla="*/ 13 h 21"/>
                        <a:gd name="T28" fmla="*/ 38 w 94"/>
                        <a:gd name="T29" fmla="*/ 7 h 21"/>
                        <a:gd name="T30" fmla="*/ 27 w 94"/>
                        <a:gd name="T31" fmla="*/ 6 h 21"/>
                        <a:gd name="T32" fmla="*/ 12 w 94"/>
                        <a:gd name="T33" fmla="*/ 4 h 21"/>
                        <a:gd name="T34" fmla="*/ 0 w 94"/>
                        <a:gd name="T35" fmla="*/ 0 h 2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</a:cxnLst>
                      <a:rect l="0" t="0" r="r" b="b"/>
                      <a:pathLst>
                        <a:path w="94" h="21">
                          <a:moveTo>
                            <a:pt x="0" y="0"/>
                          </a:moveTo>
                          <a:lnTo>
                            <a:pt x="13" y="1"/>
                          </a:lnTo>
                          <a:lnTo>
                            <a:pt x="32" y="2"/>
                          </a:lnTo>
                          <a:lnTo>
                            <a:pt x="45" y="4"/>
                          </a:lnTo>
                          <a:lnTo>
                            <a:pt x="57" y="10"/>
                          </a:lnTo>
                          <a:lnTo>
                            <a:pt x="64" y="12"/>
                          </a:lnTo>
                          <a:lnTo>
                            <a:pt x="80" y="8"/>
                          </a:lnTo>
                          <a:lnTo>
                            <a:pt x="92" y="8"/>
                          </a:lnTo>
                          <a:lnTo>
                            <a:pt x="94" y="20"/>
                          </a:lnTo>
                          <a:lnTo>
                            <a:pt x="82" y="18"/>
                          </a:lnTo>
                          <a:lnTo>
                            <a:pt x="72" y="20"/>
                          </a:lnTo>
                          <a:lnTo>
                            <a:pt x="61" y="21"/>
                          </a:lnTo>
                          <a:lnTo>
                            <a:pt x="54" y="21"/>
                          </a:lnTo>
                          <a:lnTo>
                            <a:pt x="45" y="13"/>
                          </a:lnTo>
                          <a:lnTo>
                            <a:pt x="38" y="7"/>
                          </a:lnTo>
                          <a:lnTo>
                            <a:pt x="27" y="6"/>
                          </a:lnTo>
                          <a:lnTo>
                            <a:pt x="12" y="4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grpSp>
                  <p:nvGrpSpPr>
                    <p:cNvPr id="277" name="Group 367"/>
                    <p:cNvGrpSpPr/>
                    <p:nvPr/>
                  </p:nvGrpSpPr>
                  <p:grpSpPr bwMode="auto">
                    <a:xfrm>
                      <a:off x="4840" y="2242"/>
                      <a:ext cx="86" cy="92"/>
                      <a:chOff x="4840" y="2242"/>
                      <a:chExt cx="86" cy="92"/>
                    </a:xfrm>
                  </p:grpSpPr>
                  <p:sp>
                    <p:nvSpPr>
                      <p:cNvPr id="294" name="Freeform 368"/>
                      <p:cNvSpPr/>
                      <p:nvPr/>
                    </p:nvSpPr>
                    <p:spPr bwMode="auto">
                      <a:xfrm>
                        <a:off x="4840" y="2242"/>
                        <a:ext cx="86" cy="92"/>
                      </a:xfrm>
                      <a:custGeom>
                        <a:avLst/>
                        <a:gdLst>
                          <a:gd name="T0" fmla="*/ 21 w 518"/>
                          <a:gd name="T1" fmla="*/ 463 h 463"/>
                          <a:gd name="T2" fmla="*/ 6 w 518"/>
                          <a:gd name="T3" fmla="*/ 326 h 463"/>
                          <a:gd name="T4" fmla="*/ 0 w 518"/>
                          <a:gd name="T5" fmla="*/ 248 h 463"/>
                          <a:gd name="T6" fmla="*/ 5 w 518"/>
                          <a:gd name="T7" fmla="*/ 164 h 463"/>
                          <a:gd name="T8" fmla="*/ 21 w 518"/>
                          <a:gd name="T9" fmla="*/ 90 h 463"/>
                          <a:gd name="T10" fmla="*/ 57 w 518"/>
                          <a:gd name="T11" fmla="*/ 54 h 463"/>
                          <a:gd name="T12" fmla="*/ 118 w 518"/>
                          <a:gd name="T13" fmla="*/ 18 h 463"/>
                          <a:gd name="T14" fmla="*/ 159 w 518"/>
                          <a:gd name="T15" fmla="*/ 6 h 463"/>
                          <a:gd name="T16" fmla="*/ 188 w 518"/>
                          <a:gd name="T17" fmla="*/ 4 h 463"/>
                          <a:gd name="T18" fmla="*/ 270 w 518"/>
                          <a:gd name="T19" fmla="*/ 1 h 463"/>
                          <a:gd name="T20" fmla="*/ 323 w 518"/>
                          <a:gd name="T21" fmla="*/ 10 h 463"/>
                          <a:gd name="T22" fmla="*/ 374 w 518"/>
                          <a:gd name="T23" fmla="*/ 25 h 463"/>
                          <a:gd name="T24" fmla="*/ 421 w 518"/>
                          <a:gd name="T25" fmla="*/ 41 h 463"/>
                          <a:gd name="T26" fmla="*/ 472 w 518"/>
                          <a:gd name="T27" fmla="*/ 68 h 463"/>
                          <a:gd name="T28" fmla="*/ 508 w 518"/>
                          <a:gd name="T29" fmla="*/ 96 h 463"/>
                          <a:gd name="T30" fmla="*/ 518 w 518"/>
                          <a:gd name="T31" fmla="*/ 148 h 463"/>
                          <a:gd name="T32" fmla="*/ 509 w 518"/>
                          <a:gd name="T33" fmla="*/ 210 h 463"/>
                          <a:gd name="T34" fmla="*/ 469 w 518"/>
                          <a:gd name="T35" fmla="*/ 167 h 463"/>
                          <a:gd name="T36" fmla="*/ 411 w 518"/>
                          <a:gd name="T37" fmla="*/ 151 h 463"/>
                          <a:gd name="T38" fmla="*/ 385 w 518"/>
                          <a:gd name="T39" fmla="*/ 138 h 463"/>
                          <a:gd name="T40" fmla="*/ 356 w 518"/>
                          <a:gd name="T41" fmla="*/ 135 h 463"/>
                          <a:gd name="T42" fmla="*/ 328 w 518"/>
                          <a:gd name="T43" fmla="*/ 117 h 463"/>
                          <a:gd name="T44" fmla="*/ 299 w 518"/>
                          <a:gd name="T45" fmla="*/ 94 h 463"/>
                          <a:gd name="T46" fmla="*/ 242 w 518"/>
                          <a:gd name="T47" fmla="*/ 60 h 463"/>
                          <a:gd name="T48" fmla="*/ 261 w 518"/>
                          <a:gd name="T49" fmla="*/ 90 h 463"/>
                          <a:gd name="T50" fmla="*/ 262 w 518"/>
                          <a:gd name="T51" fmla="*/ 139 h 463"/>
                          <a:gd name="T52" fmla="*/ 255 w 518"/>
                          <a:gd name="T53" fmla="*/ 189 h 463"/>
                          <a:gd name="T54" fmla="*/ 235 w 518"/>
                          <a:gd name="T55" fmla="*/ 229 h 463"/>
                          <a:gd name="T56" fmla="*/ 208 w 518"/>
                          <a:gd name="T57" fmla="*/ 257 h 463"/>
                          <a:gd name="T58" fmla="*/ 183 w 518"/>
                          <a:gd name="T59" fmla="*/ 295 h 463"/>
                          <a:gd name="T60" fmla="*/ 174 w 518"/>
                          <a:gd name="T61" fmla="*/ 322 h 463"/>
                          <a:gd name="T62" fmla="*/ 161 w 518"/>
                          <a:gd name="T63" fmla="*/ 356 h 463"/>
                          <a:gd name="T64" fmla="*/ 161 w 518"/>
                          <a:gd name="T65" fmla="*/ 392 h 463"/>
                          <a:gd name="T66" fmla="*/ 123 w 518"/>
                          <a:gd name="T67" fmla="*/ 407 h 463"/>
                          <a:gd name="T68" fmla="*/ 114 w 518"/>
                          <a:gd name="T69" fmla="*/ 372 h 463"/>
                          <a:gd name="T70" fmla="*/ 110 w 518"/>
                          <a:gd name="T71" fmla="*/ 337 h 463"/>
                          <a:gd name="T72" fmla="*/ 101 w 518"/>
                          <a:gd name="T73" fmla="*/ 288 h 463"/>
                          <a:gd name="T74" fmla="*/ 85 w 518"/>
                          <a:gd name="T75" fmla="*/ 262 h 463"/>
                          <a:gd name="T76" fmla="*/ 59 w 518"/>
                          <a:gd name="T77" fmla="*/ 253 h 463"/>
                          <a:gd name="T78" fmla="*/ 35 w 518"/>
                          <a:gd name="T79" fmla="*/ 274 h 463"/>
                          <a:gd name="T80" fmla="*/ 24 w 518"/>
                          <a:gd name="T81" fmla="*/ 311 h 463"/>
                          <a:gd name="T82" fmla="*/ 21 w 518"/>
                          <a:gd name="T83" fmla="*/ 348 h 463"/>
                          <a:gd name="T84" fmla="*/ 29 w 518"/>
                          <a:gd name="T85" fmla="*/ 408 h 463"/>
                          <a:gd name="T86" fmla="*/ 46 w 518"/>
                          <a:gd name="T87" fmla="*/ 439 h 46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  <a:cxn ang="0">
                            <a:pos x="T78" y="T79"/>
                          </a:cxn>
                          <a:cxn ang="0">
                            <a:pos x="T80" y="T81"/>
                          </a:cxn>
                          <a:cxn ang="0">
                            <a:pos x="T82" y="T83"/>
                          </a:cxn>
                          <a:cxn ang="0">
                            <a:pos x="T84" y="T85"/>
                          </a:cxn>
                          <a:cxn ang="0">
                            <a:pos x="T86" y="T87"/>
                          </a:cxn>
                        </a:cxnLst>
                        <a:rect l="0" t="0" r="r" b="b"/>
                        <a:pathLst>
                          <a:path w="518" h="463">
                            <a:moveTo>
                              <a:pt x="46" y="439"/>
                            </a:moveTo>
                            <a:lnTo>
                              <a:pt x="21" y="463"/>
                            </a:lnTo>
                            <a:lnTo>
                              <a:pt x="6" y="426"/>
                            </a:lnTo>
                            <a:lnTo>
                              <a:pt x="6" y="326"/>
                            </a:lnTo>
                            <a:lnTo>
                              <a:pt x="3" y="284"/>
                            </a:lnTo>
                            <a:lnTo>
                              <a:pt x="0" y="248"/>
                            </a:lnTo>
                            <a:lnTo>
                              <a:pt x="3" y="204"/>
                            </a:lnTo>
                            <a:lnTo>
                              <a:pt x="5" y="164"/>
                            </a:lnTo>
                            <a:lnTo>
                              <a:pt x="12" y="109"/>
                            </a:lnTo>
                            <a:lnTo>
                              <a:pt x="21" y="90"/>
                            </a:lnTo>
                            <a:lnTo>
                              <a:pt x="37" y="73"/>
                            </a:lnTo>
                            <a:lnTo>
                              <a:pt x="57" y="54"/>
                            </a:lnTo>
                            <a:lnTo>
                              <a:pt x="82" y="36"/>
                            </a:lnTo>
                            <a:lnTo>
                              <a:pt x="118" y="18"/>
                            </a:lnTo>
                            <a:lnTo>
                              <a:pt x="141" y="10"/>
                            </a:lnTo>
                            <a:lnTo>
                              <a:pt x="159" y="6"/>
                            </a:lnTo>
                            <a:lnTo>
                              <a:pt x="174" y="5"/>
                            </a:lnTo>
                            <a:lnTo>
                              <a:pt x="188" y="4"/>
                            </a:lnTo>
                            <a:lnTo>
                              <a:pt x="235" y="0"/>
                            </a:lnTo>
                            <a:lnTo>
                              <a:pt x="270" y="1"/>
                            </a:lnTo>
                            <a:lnTo>
                              <a:pt x="302" y="6"/>
                            </a:lnTo>
                            <a:lnTo>
                              <a:pt x="323" y="10"/>
                            </a:lnTo>
                            <a:lnTo>
                              <a:pt x="349" y="16"/>
                            </a:lnTo>
                            <a:lnTo>
                              <a:pt x="374" y="25"/>
                            </a:lnTo>
                            <a:lnTo>
                              <a:pt x="398" y="32"/>
                            </a:lnTo>
                            <a:lnTo>
                              <a:pt x="421" y="41"/>
                            </a:lnTo>
                            <a:lnTo>
                              <a:pt x="444" y="49"/>
                            </a:lnTo>
                            <a:lnTo>
                              <a:pt x="472" y="68"/>
                            </a:lnTo>
                            <a:lnTo>
                              <a:pt x="496" y="84"/>
                            </a:lnTo>
                            <a:lnTo>
                              <a:pt x="508" y="96"/>
                            </a:lnTo>
                            <a:lnTo>
                              <a:pt x="515" y="121"/>
                            </a:lnTo>
                            <a:lnTo>
                              <a:pt x="518" y="148"/>
                            </a:lnTo>
                            <a:lnTo>
                              <a:pt x="514" y="191"/>
                            </a:lnTo>
                            <a:lnTo>
                              <a:pt x="509" y="210"/>
                            </a:lnTo>
                            <a:lnTo>
                              <a:pt x="499" y="185"/>
                            </a:lnTo>
                            <a:lnTo>
                              <a:pt x="469" y="167"/>
                            </a:lnTo>
                            <a:lnTo>
                              <a:pt x="433" y="158"/>
                            </a:lnTo>
                            <a:lnTo>
                              <a:pt x="411" y="151"/>
                            </a:lnTo>
                            <a:lnTo>
                              <a:pt x="397" y="143"/>
                            </a:lnTo>
                            <a:lnTo>
                              <a:pt x="385" y="138"/>
                            </a:lnTo>
                            <a:lnTo>
                              <a:pt x="372" y="138"/>
                            </a:lnTo>
                            <a:lnTo>
                              <a:pt x="356" y="135"/>
                            </a:lnTo>
                            <a:lnTo>
                              <a:pt x="345" y="128"/>
                            </a:lnTo>
                            <a:lnTo>
                              <a:pt x="328" y="117"/>
                            </a:lnTo>
                            <a:lnTo>
                              <a:pt x="317" y="107"/>
                            </a:lnTo>
                            <a:lnTo>
                              <a:pt x="299" y="94"/>
                            </a:lnTo>
                            <a:lnTo>
                              <a:pt x="278" y="79"/>
                            </a:lnTo>
                            <a:lnTo>
                              <a:pt x="242" y="60"/>
                            </a:lnTo>
                            <a:lnTo>
                              <a:pt x="255" y="75"/>
                            </a:lnTo>
                            <a:lnTo>
                              <a:pt x="261" y="90"/>
                            </a:lnTo>
                            <a:lnTo>
                              <a:pt x="263" y="110"/>
                            </a:lnTo>
                            <a:lnTo>
                              <a:pt x="262" y="139"/>
                            </a:lnTo>
                            <a:lnTo>
                              <a:pt x="259" y="162"/>
                            </a:lnTo>
                            <a:lnTo>
                              <a:pt x="255" y="189"/>
                            </a:lnTo>
                            <a:lnTo>
                              <a:pt x="244" y="215"/>
                            </a:lnTo>
                            <a:lnTo>
                              <a:pt x="235" y="229"/>
                            </a:lnTo>
                            <a:lnTo>
                              <a:pt x="223" y="243"/>
                            </a:lnTo>
                            <a:lnTo>
                              <a:pt x="208" y="257"/>
                            </a:lnTo>
                            <a:lnTo>
                              <a:pt x="199" y="269"/>
                            </a:lnTo>
                            <a:lnTo>
                              <a:pt x="183" y="295"/>
                            </a:lnTo>
                            <a:lnTo>
                              <a:pt x="177" y="310"/>
                            </a:lnTo>
                            <a:lnTo>
                              <a:pt x="174" y="322"/>
                            </a:lnTo>
                            <a:lnTo>
                              <a:pt x="167" y="340"/>
                            </a:lnTo>
                            <a:lnTo>
                              <a:pt x="161" y="356"/>
                            </a:lnTo>
                            <a:lnTo>
                              <a:pt x="163" y="374"/>
                            </a:lnTo>
                            <a:lnTo>
                              <a:pt x="161" y="392"/>
                            </a:lnTo>
                            <a:lnTo>
                              <a:pt x="152" y="408"/>
                            </a:lnTo>
                            <a:lnTo>
                              <a:pt x="123" y="407"/>
                            </a:lnTo>
                            <a:lnTo>
                              <a:pt x="118" y="387"/>
                            </a:lnTo>
                            <a:lnTo>
                              <a:pt x="114" y="372"/>
                            </a:lnTo>
                            <a:lnTo>
                              <a:pt x="110" y="356"/>
                            </a:lnTo>
                            <a:lnTo>
                              <a:pt x="110" y="337"/>
                            </a:lnTo>
                            <a:lnTo>
                              <a:pt x="108" y="319"/>
                            </a:lnTo>
                            <a:lnTo>
                              <a:pt x="101" y="288"/>
                            </a:lnTo>
                            <a:lnTo>
                              <a:pt x="95" y="272"/>
                            </a:lnTo>
                            <a:lnTo>
                              <a:pt x="85" y="262"/>
                            </a:lnTo>
                            <a:lnTo>
                              <a:pt x="69" y="252"/>
                            </a:lnTo>
                            <a:lnTo>
                              <a:pt x="59" y="253"/>
                            </a:lnTo>
                            <a:lnTo>
                              <a:pt x="43" y="261"/>
                            </a:lnTo>
                            <a:lnTo>
                              <a:pt x="35" y="274"/>
                            </a:lnTo>
                            <a:lnTo>
                              <a:pt x="28" y="292"/>
                            </a:lnTo>
                            <a:lnTo>
                              <a:pt x="24" y="311"/>
                            </a:lnTo>
                            <a:lnTo>
                              <a:pt x="22" y="326"/>
                            </a:lnTo>
                            <a:lnTo>
                              <a:pt x="21" y="348"/>
                            </a:lnTo>
                            <a:lnTo>
                              <a:pt x="24" y="386"/>
                            </a:lnTo>
                            <a:lnTo>
                              <a:pt x="29" y="408"/>
                            </a:lnTo>
                            <a:lnTo>
                              <a:pt x="39" y="426"/>
                            </a:lnTo>
                            <a:lnTo>
                              <a:pt x="46" y="439"/>
                            </a:lnTo>
                            <a:close/>
                          </a:path>
                        </a:pathLst>
                      </a:custGeom>
                      <a:solidFill>
                        <a:srgbClr val="3F1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295" name="Freeform 369"/>
                      <p:cNvSpPr/>
                      <p:nvPr/>
                    </p:nvSpPr>
                    <p:spPr bwMode="auto">
                      <a:xfrm>
                        <a:off x="4860" y="2245"/>
                        <a:ext cx="65" cy="67"/>
                      </a:xfrm>
                      <a:custGeom>
                        <a:avLst/>
                        <a:gdLst>
                          <a:gd name="T0" fmla="*/ 40 w 388"/>
                          <a:gd name="T1" fmla="*/ 309 h 335"/>
                          <a:gd name="T2" fmla="*/ 16 w 388"/>
                          <a:gd name="T3" fmla="*/ 335 h 335"/>
                          <a:gd name="T4" fmla="*/ 17 w 388"/>
                          <a:gd name="T5" fmla="*/ 298 h 335"/>
                          <a:gd name="T6" fmla="*/ 14 w 388"/>
                          <a:gd name="T7" fmla="*/ 278 h 335"/>
                          <a:gd name="T8" fmla="*/ 22 w 388"/>
                          <a:gd name="T9" fmla="*/ 214 h 335"/>
                          <a:gd name="T10" fmla="*/ 23 w 388"/>
                          <a:gd name="T11" fmla="*/ 184 h 335"/>
                          <a:gd name="T12" fmla="*/ 32 w 388"/>
                          <a:gd name="T13" fmla="*/ 188 h 335"/>
                          <a:gd name="T14" fmla="*/ 36 w 388"/>
                          <a:gd name="T15" fmla="*/ 210 h 335"/>
                          <a:gd name="T16" fmla="*/ 26 w 388"/>
                          <a:gd name="T17" fmla="*/ 241 h 335"/>
                          <a:gd name="T18" fmla="*/ 36 w 388"/>
                          <a:gd name="T19" fmla="*/ 255 h 335"/>
                          <a:gd name="T20" fmla="*/ 63 w 388"/>
                          <a:gd name="T21" fmla="*/ 257 h 335"/>
                          <a:gd name="T22" fmla="*/ 99 w 388"/>
                          <a:gd name="T23" fmla="*/ 194 h 335"/>
                          <a:gd name="T24" fmla="*/ 75 w 388"/>
                          <a:gd name="T25" fmla="*/ 193 h 335"/>
                          <a:gd name="T26" fmla="*/ 78 w 388"/>
                          <a:gd name="T27" fmla="*/ 179 h 335"/>
                          <a:gd name="T28" fmla="*/ 83 w 388"/>
                          <a:gd name="T29" fmla="*/ 190 h 335"/>
                          <a:gd name="T30" fmla="*/ 104 w 388"/>
                          <a:gd name="T31" fmla="*/ 158 h 335"/>
                          <a:gd name="T32" fmla="*/ 116 w 388"/>
                          <a:gd name="T33" fmla="*/ 126 h 335"/>
                          <a:gd name="T34" fmla="*/ 124 w 388"/>
                          <a:gd name="T35" fmla="*/ 121 h 335"/>
                          <a:gd name="T36" fmla="*/ 129 w 388"/>
                          <a:gd name="T37" fmla="*/ 80 h 335"/>
                          <a:gd name="T38" fmla="*/ 127 w 388"/>
                          <a:gd name="T39" fmla="*/ 55 h 335"/>
                          <a:gd name="T40" fmla="*/ 109 w 388"/>
                          <a:gd name="T41" fmla="*/ 41 h 335"/>
                          <a:gd name="T42" fmla="*/ 75 w 388"/>
                          <a:gd name="T43" fmla="*/ 26 h 335"/>
                          <a:gd name="T44" fmla="*/ 41 w 388"/>
                          <a:gd name="T45" fmla="*/ 9 h 335"/>
                          <a:gd name="T46" fmla="*/ 49 w 388"/>
                          <a:gd name="T47" fmla="*/ 0 h 335"/>
                          <a:gd name="T48" fmla="*/ 92 w 388"/>
                          <a:gd name="T49" fmla="*/ 5 h 335"/>
                          <a:gd name="T50" fmla="*/ 123 w 388"/>
                          <a:gd name="T51" fmla="*/ 11 h 335"/>
                          <a:gd name="T52" fmla="*/ 109 w 388"/>
                          <a:gd name="T53" fmla="*/ 16 h 335"/>
                          <a:gd name="T54" fmla="*/ 143 w 388"/>
                          <a:gd name="T55" fmla="*/ 16 h 335"/>
                          <a:gd name="T56" fmla="*/ 173 w 388"/>
                          <a:gd name="T57" fmla="*/ 21 h 335"/>
                          <a:gd name="T58" fmla="*/ 147 w 388"/>
                          <a:gd name="T59" fmla="*/ 28 h 335"/>
                          <a:gd name="T60" fmla="*/ 176 w 388"/>
                          <a:gd name="T61" fmla="*/ 30 h 335"/>
                          <a:gd name="T62" fmla="*/ 133 w 388"/>
                          <a:gd name="T63" fmla="*/ 36 h 335"/>
                          <a:gd name="T64" fmla="*/ 165 w 388"/>
                          <a:gd name="T65" fmla="*/ 47 h 335"/>
                          <a:gd name="T66" fmla="*/ 218 w 388"/>
                          <a:gd name="T67" fmla="*/ 59 h 335"/>
                          <a:gd name="T68" fmla="*/ 204 w 388"/>
                          <a:gd name="T69" fmla="*/ 41 h 335"/>
                          <a:gd name="T70" fmla="*/ 246 w 388"/>
                          <a:gd name="T71" fmla="*/ 52 h 335"/>
                          <a:gd name="T72" fmla="*/ 276 w 388"/>
                          <a:gd name="T73" fmla="*/ 67 h 335"/>
                          <a:gd name="T74" fmla="*/ 312 w 388"/>
                          <a:gd name="T75" fmla="*/ 93 h 335"/>
                          <a:gd name="T76" fmla="*/ 314 w 388"/>
                          <a:gd name="T77" fmla="*/ 100 h 335"/>
                          <a:gd name="T78" fmla="*/ 350 w 388"/>
                          <a:gd name="T79" fmla="*/ 122 h 335"/>
                          <a:gd name="T80" fmla="*/ 375 w 388"/>
                          <a:gd name="T81" fmla="*/ 149 h 335"/>
                          <a:gd name="T82" fmla="*/ 388 w 388"/>
                          <a:gd name="T83" fmla="*/ 194 h 335"/>
                          <a:gd name="T84" fmla="*/ 348 w 388"/>
                          <a:gd name="T85" fmla="*/ 151 h 335"/>
                          <a:gd name="T86" fmla="*/ 289 w 388"/>
                          <a:gd name="T87" fmla="*/ 135 h 335"/>
                          <a:gd name="T88" fmla="*/ 264 w 388"/>
                          <a:gd name="T89" fmla="*/ 122 h 335"/>
                          <a:gd name="T90" fmla="*/ 235 w 388"/>
                          <a:gd name="T91" fmla="*/ 119 h 335"/>
                          <a:gd name="T92" fmla="*/ 207 w 388"/>
                          <a:gd name="T93" fmla="*/ 101 h 335"/>
                          <a:gd name="T94" fmla="*/ 178 w 388"/>
                          <a:gd name="T95" fmla="*/ 78 h 335"/>
                          <a:gd name="T96" fmla="*/ 121 w 388"/>
                          <a:gd name="T97" fmla="*/ 44 h 335"/>
                          <a:gd name="T98" fmla="*/ 140 w 388"/>
                          <a:gd name="T99" fmla="*/ 74 h 335"/>
                          <a:gd name="T100" fmla="*/ 141 w 388"/>
                          <a:gd name="T101" fmla="*/ 123 h 335"/>
                          <a:gd name="T102" fmla="*/ 134 w 388"/>
                          <a:gd name="T103" fmla="*/ 173 h 335"/>
                          <a:gd name="T104" fmla="*/ 114 w 388"/>
                          <a:gd name="T105" fmla="*/ 213 h 335"/>
                          <a:gd name="T106" fmla="*/ 86 w 388"/>
                          <a:gd name="T107" fmla="*/ 241 h 335"/>
                          <a:gd name="T108" fmla="*/ 61 w 388"/>
                          <a:gd name="T109" fmla="*/ 280 h 335"/>
                          <a:gd name="T110" fmla="*/ 51 w 388"/>
                          <a:gd name="T111" fmla="*/ 308 h 335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  <a:cxn ang="0">
                            <a:pos x="T78" y="T79"/>
                          </a:cxn>
                          <a:cxn ang="0">
                            <a:pos x="T80" y="T81"/>
                          </a:cxn>
                          <a:cxn ang="0">
                            <a:pos x="T82" y="T83"/>
                          </a:cxn>
                          <a:cxn ang="0">
                            <a:pos x="T84" y="T85"/>
                          </a:cxn>
                          <a:cxn ang="0">
                            <a:pos x="T86" y="T87"/>
                          </a:cxn>
                          <a:cxn ang="0">
                            <a:pos x="T88" y="T89"/>
                          </a:cxn>
                          <a:cxn ang="0">
                            <a:pos x="T90" y="T91"/>
                          </a:cxn>
                          <a:cxn ang="0">
                            <a:pos x="T92" y="T93"/>
                          </a:cxn>
                          <a:cxn ang="0">
                            <a:pos x="T94" y="T95"/>
                          </a:cxn>
                          <a:cxn ang="0">
                            <a:pos x="T96" y="T97"/>
                          </a:cxn>
                          <a:cxn ang="0">
                            <a:pos x="T98" y="T99"/>
                          </a:cxn>
                          <a:cxn ang="0">
                            <a:pos x="T100" y="T101"/>
                          </a:cxn>
                          <a:cxn ang="0">
                            <a:pos x="T102" y="T103"/>
                          </a:cxn>
                          <a:cxn ang="0">
                            <a:pos x="T104" y="T105"/>
                          </a:cxn>
                          <a:cxn ang="0">
                            <a:pos x="T106" y="T107"/>
                          </a:cxn>
                          <a:cxn ang="0">
                            <a:pos x="T108" y="T109"/>
                          </a:cxn>
                          <a:cxn ang="0">
                            <a:pos x="T110" y="T111"/>
                          </a:cxn>
                        </a:cxnLst>
                        <a:rect l="0" t="0" r="r" b="b"/>
                        <a:pathLst>
                          <a:path w="388" h="335">
                            <a:moveTo>
                              <a:pt x="50" y="297"/>
                            </a:moveTo>
                            <a:lnTo>
                              <a:pt x="40" y="309"/>
                            </a:lnTo>
                            <a:lnTo>
                              <a:pt x="46" y="285"/>
                            </a:lnTo>
                            <a:lnTo>
                              <a:pt x="16" y="335"/>
                            </a:lnTo>
                            <a:lnTo>
                              <a:pt x="38" y="277"/>
                            </a:lnTo>
                            <a:lnTo>
                              <a:pt x="17" y="298"/>
                            </a:lnTo>
                            <a:lnTo>
                              <a:pt x="25" y="257"/>
                            </a:lnTo>
                            <a:lnTo>
                              <a:pt x="14" y="278"/>
                            </a:lnTo>
                            <a:lnTo>
                              <a:pt x="17" y="241"/>
                            </a:lnTo>
                            <a:lnTo>
                              <a:pt x="22" y="214"/>
                            </a:lnTo>
                            <a:lnTo>
                              <a:pt x="0" y="247"/>
                            </a:lnTo>
                            <a:lnTo>
                              <a:pt x="23" y="184"/>
                            </a:lnTo>
                            <a:lnTo>
                              <a:pt x="54" y="152"/>
                            </a:lnTo>
                            <a:lnTo>
                              <a:pt x="32" y="188"/>
                            </a:lnTo>
                            <a:lnTo>
                              <a:pt x="71" y="148"/>
                            </a:lnTo>
                            <a:lnTo>
                              <a:pt x="36" y="210"/>
                            </a:lnTo>
                            <a:lnTo>
                              <a:pt x="63" y="187"/>
                            </a:lnTo>
                            <a:lnTo>
                              <a:pt x="26" y="241"/>
                            </a:lnTo>
                            <a:lnTo>
                              <a:pt x="62" y="211"/>
                            </a:lnTo>
                            <a:lnTo>
                              <a:pt x="36" y="255"/>
                            </a:lnTo>
                            <a:lnTo>
                              <a:pt x="71" y="221"/>
                            </a:lnTo>
                            <a:lnTo>
                              <a:pt x="63" y="257"/>
                            </a:lnTo>
                            <a:lnTo>
                              <a:pt x="84" y="220"/>
                            </a:lnTo>
                            <a:lnTo>
                              <a:pt x="99" y="194"/>
                            </a:lnTo>
                            <a:lnTo>
                              <a:pt x="75" y="211"/>
                            </a:lnTo>
                            <a:lnTo>
                              <a:pt x="75" y="193"/>
                            </a:lnTo>
                            <a:lnTo>
                              <a:pt x="56" y="208"/>
                            </a:lnTo>
                            <a:lnTo>
                              <a:pt x="78" y="179"/>
                            </a:lnTo>
                            <a:lnTo>
                              <a:pt x="87" y="170"/>
                            </a:lnTo>
                            <a:lnTo>
                              <a:pt x="83" y="190"/>
                            </a:lnTo>
                            <a:lnTo>
                              <a:pt x="94" y="172"/>
                            </a:lnTo>
                            <a:lnTo>
                              <a:pt x="104" y="158"/>
                            </a:lnTo>
                            <a:lnTo>
                              <a:pt x="111" y="138"/>
                            </a:lnTo>
                            <a:lnTo>
                              <a:pt x="116" y="126"/>
                            </a:lnTo>
                            <a:lnTo>
                              <a:pt x="122" y="105"/>
                            </a:lnTo>
                            <a:lnTo>
                              <a:pt x="124" y="121"/>
                            </a:lnTo>
                            <a:lnTo>
                              <a:pt x="129" y="96"/>
                            </a:lnTo>
                            <a:lnTo>
                              <a:pt x="129" y="80"/>
                            </a:lnTo>
                            <a:lnTo>
                              <a:pt x="128" y="68"/>
                            </a:lnTo>
                            <a:lnTo>
                              <a:pt x="127" y="55"/>
                            </a:lnTo>
                            <a:lnTo>
                              <a:pt x="118" y="48"/>
                            </a:lnTo>
                            <a:lnTo>
                              <a:pt x="109" y="41"/>
                            </a:lnTo>
                            <a:lnTo>
                              <a:pt x="92" y="32"/>
                            </a:lnTo>
                            <a:lnTo>
                              <a:pt x="75" y="26"/>
                            </a:lnTo>
                            <a:lnTo>
                              <a:pt x="60" y="20"/>
                            </a:lnTo>
                            <a:lnTo>
                              <a:pt x="41" y="9"/>
                            </a:lnTo>
                            <a:lnTo>
                              <a:pt x="63" y="16"/>
                            </a:lnTo>
                            <a:lnTo>
                              <a:pt x="49" y="0"/>
                            </a:lnTo>
                            <a:lnTo>
                              <a:pt x="65" y="2"/>
                            </a:lnTo>
                            <a:lnTo>
                              <a:pt x="92" y="5"/>
                            </a:lnTo>
                            <a:lnTo>
                              <a:pt x="106" y="6"/>
                            </a:lnTo>
                            <a:lnTo>
                              <a:pt x="123" y="11"/>
                            </a:lnTo>
                            <a:lnTo>
                              <a:pt x="100" y="15"/>
                            </a:lnTo>
                            <a:lnTo>
                              <a:pt x="109" y="16"/>
                            </a:lnTo>
                            <a:lnTo>
                              <a:pt x="122" y="16"/>
                            </a:lnTo>
                            <a:lnTo>
                              <a:pt x="143" y="16"/>
                            </a:lnTo>
                            <a:lnTo>
                              <a:pt x="160" y="16"/>
                            </a:lnTo>
                            <a:lnTo>
                              <a:pt x="173" y="21"/>
                            </a:lnTo>
                            <a:lnTo>
                              <a:pt x="133" y="25"/>
                            </a:lnTo>
                            <a:lnTo>
                              <a:pt x="147" y="28"/>
                            </a:lnTo>
                            <a:lnTo>
                              <a:pt x="161" y="30"/>
                            </a:lnTo>
                            <a:lnTo>
                              <a:pt x="176" y="30"/>
                            </a:lnTo>
                            <a:lnTo>
                              <a:pt x="147" y="34"/>
                            </a:lnTo>
                            <a:lnTo>
                              <a:pt x="133" y="36"/>
                            </a:lnTo>
                            <a:lnTo>
                              <a:pt x="152" y="43"/>
                            </a:lnTo>
                            <a:lnTo>
                              <a:pt x="165" y="47"/>
                            </a:lnTo>
                            <a:lnTo>
                              <a:pt x="179" y="51"/>
                            </a:lnTo>
                            <a:lnTo>
                              <a:pt x="218" y="59"/>
                            </a:lnTo>
                            <a:lnTo>
                              <a:pt x="177" y="39"/>
                            </a:lnTo>
                            <a:lnTo>
                              <a:pt x="204" y="41"/>
                            </a:lnTo>
                            <a:lnTo>
                              <a:pt x="226" y="46"/>
                            </a:lnTo>
                            <a:lnTo>
                              <a:pt x="246" y="52"/>
                            </a:lnTo>
                            <a:lnTo>
                              <a:pt x="264" y="60"/>
                            </a:lnTo>
                            <a:lnTo>
                              <a:pt x="276" y="67"/>
                            </a:lnTo>
                            <a:lnTo>
                              <a:pt x="294" y="78"/>
                            </a:lnTo>
                            <a:lnTo>
                              <a:pt x="312" y="93"/>
                            </a:lnTo>
                            <a:lnTo>
                              <a:pt x="269" y="81"/>
                            </a:lnTo>
                            <a:lnTo>
                              <a:pt x="314" y="100"/>
                            </a:lnTo>
                            <a:lnTo>
                              <a:pt x="336" y="111"/>
                            </a:lnTo>
                            <a:lnTo>
                              <a:pt x="350" y="122"/>
                            </a:lnTo>
                            <a:lnTo>
                              <a:pt x="363" y="135"/>
                            </a:lnTo>
                            <a:lnTo>
                              <a:pt x="375" y="149"/>
                            </a:lnTo>
                            <a:lnTo>
                              <a:pt x="382" y="166"/>
                            </a:lnTo>
                            <a:lnTo>
                              <a:pt x="388" y="194"/>
                            </a:lnTo>
                            <a:lnTo>
                              <a:pt x="378" y="169"/>
                            </a:lnTo>
                            <a:lnTo>
                              <a:pt x="348" y="151"/>
                            </a:lnTo>
                            <a:lnTo>
                              <a:pt x="312" y="142"/>
                            </a:lnTo>
                            <a:lnTo>
                              <a:pt x="289" y="135"/>
                            </a:lnTo>
                            <a:lnTo>
                              <a:pt x="275" y="127"/>
                            </a:lnTo>
                            <a:lnTo>
                              <a:pt x="264" y="122"/>
                            </a:lnTo>
                            <a:lnTo>
                              <a:pt x="251" y="122"/>
                            </a:lnTo>
                            <a:lnTo>
                              <a:pt x="235" y="119"/>
                            </a:lnTo>
                            <a:lnTo>
                              <a:pt x="224" y="112"/>
                            </a:lnTo>
                            <a:lnTo>
                              <a:pt x="207" y="101"/>
                            </a:lnTo>
                            <a:lnTo>
                              <a:pt x="196" y="93"/>
                            </a:lnTo>
                            <a:lnTo>
                              <a:pt x="178" y="78"/>
                            </a:lnTo>
                            <a:lnTo>
                              <a:pt x="157" y="63"/>
                            </a:lnTo>
                            <a:lnTo>
                              <a:pt x="121" y="44"/>
                            </a:lnTo>
                            <a:lnTo>
                              <a:pt x="134" y="59"/>
                            </a:lnTo>
                            <a:lnTo>
                              <a:pt x="140" y="74"/>
                            </a:lnTo>
                            <a:lnTo>
                              <a:pt x="142" y="95"/>
                            </a:lnTo>
                            <a:lnTo>
                              <a:pt x="141" y="123"/>
                            </a:lnTo>
                            <a:lnTo>
                              <a:pt x="138" y="146"/>
                            </a:lnTo>
                            <a:lnTo>
                              <a:pt x="134" y="173"/>
                            </a:lnTo>
                            <a:lnTo>
                              <a:pt x="123" y="199"/>
                            </a:lnTo>
                            <a:lnTo>
                              <a:pt x="114" y="213"/>
                            </a:lnTo>
                            <a:lnTo>
                              <a:pt x="102" y="227"/>
                            </a:lnTo>
                            <a:lnTo>
                              <a:pt x="86" y="241"/>
                            </a:lnTo>
                            <a:lnTo>
                              <a:pt x="77" y="255"/>
                            </a:lnTo>
                            <a:lnTo>
                              <a:pt x="61" y="280"/>
                            </a:lnTo>
                            <a:lnTo>
                              <a:pt x="55" y="295"/>
                            </a:lnTo>
                            <a:lnTo>
                              <a:pt x="51" y="308"/>
                            </a:lnTo>
                            <a:lnTo>
                              <a:pt x="50" y="297"/>
                            </a:lnTo>
                            <a:close/>
                          </a:path>
                        </a:pathLst>
                      </a:custGeom>
                      <a:solidFill>
                        <a:srgbClr val="7F3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278" name="Group 370"/>
                    <p:cNvGrpSpPr/>
                    <p:nvPr/>
                  </p:nvGrpSpPr>
                  <p:grpSpPr bwMode="auto">
                    <a:xfrm>
                      <a:off x="4845" y="2298"/>
                      <a:ext cx="35" cy="77"/>
                      <a:chOff x="4845" y="2298"/>
                      <a:chExt cx="35" cy="77"/>
                    </a:xfrm>
                  </p:grpSpPr>
                  <p:sp>
                    <p:nvSpPr>
                      <p:cNvPr id="292" name="Freeform 371"/>
                      <p:cNvSpPr/>
                      <p:nvPr/>
                    </p:nvSpPr>
                    <p:spPr bwMode="auto">
                      <a:xfrm>
                        <a:off x="4848" y="2330"/>
                        <a:ext cx="32" cy="45"/>
                      </a:xfrm>
                      <a:custGeom>
                        <a:avLst/>
                        <a:gdLst>
                          <a:gd name="T0" fmla="*/ 0 w 194"/>
                          <a:gd name="T1" fmla="*/ 0 h 223"/>
                          <a:gd name="T2" fmla="*/ 11 w 194"/>
                          <a:gd name="T3" fmla="*/ 13 h 223"/>
                          <a:gd name="T4" fmla="*/ 20 w 194"/>
                          <a:gd name="T5" fmla="*/ 18 h 223"/>
                          <a:gd name="T6" fmla="*/ 31 w 194"/>
                          <a:gd name="T7" fmla="*/ 19 h 223"/>
                          <a:gd name="T8" fmla="*/ 41 w 194"/>
                          <a:gd name="T9" fmla="*/ 12 h 223"/>
                          <a:gd name="T10" fmla="*/ 42 w 194"/>
                          <a:gd name="T11" fmla="*/ 0 h 223"/>
                          <a:gd name="T12" fmla="*/ 43 w 194"/>
                          <a:gd name="T13" fmla="*/ 24 h 223"/>
                          <a:gd name="T14" fmla="*/ 51 w 194"/>
                          <a:gd name="T15" fmla="*/ 37 h 223"/>
                          <a:gd name="T16" fmla="*/ 58 w 194"/>
                          <a:gd name="T17" fmla="*/ 50 h 223"/>
                          <a:gd name="T18" fmla="*/ 69 w 194"/>
                          <a:gd name="T19" fmla="*/ 70 h 223"/>
                          <a:gd name="T20" fmla="*/ 76 w 194"/>
                          <a:gd name="T21" fmla="*/ 84 h 223"/>
                          <a:gd name="T22" fmla="*/ 82 w 194"/>
                          <a:gd name="T23" fmla="*/ 96 h 223"/>
                          <a:gd name="T24" fmla="*/ 91 w 194"/>
                          <a:gd name="T25" fmla="*/ 108 h 223"/>
                          <a:gd name="T26" fmla="*/ 108 w 194"/>
                          <a:gd name="T27" fmla="*/ 124 h 223"/>
                          <a:gd name="T28" fmla="*/ 119 w 194"/>
                          <a:gd name="T29" fmla="*/ 136 h 223"/>
                          <a:gd name="T30" fmla="*/ 128 w 194"/>
                          <a:gd name="T31" fmla="*/ 145 h 223"/>
                          <a:gd name="T32" fmla="*/ 133 w 194"/>
                          <a:gd name="T33" fmla="*/ 151 h 223"/>
                          <a:gd name="T34" fmla="*/ 139 w 194"/>
                          <a:gd name="T35" fmla="*/ 166 h 223"/>
                          <a:gd name="T36" fmla="*/ 146 w 194"/>
                          <a:gd name="T37" fmla="*/ 178 h 223"/>
                          <a:gd name="T38" fmla="*/ 156 w 194"/>
                          <a:gd name="T39" fmla="*/ 191 h 223"/>
                          <a:gd name="T40" fmla="*/ 163 w 194"/>
                          <a:gd name="T41" fmla="*/ 203 h 223"/>
                          <a:gd name="T42" fmla="*/ 172 w 194"/>
                          <a:gd name="T43" fmla="*/ 212 h 223"/>
                          <a:gd name="T44" fmla="*/ 182 w 194"/>
                          <a:gd name="T45" fmla="*/ 218 h 223"/>
                          <a:gd name="T46" fmla="*/ 194 w 194"/>
                          <a:gd name="T47" fmla="*/ 223 h 223"/>
                          <a:gd name="T48" fmla="*/ 176 w 194"/>
                          <a:gd name="T49" fmla="*/ 222 h 223"/>
                          <a:gd name="T50" fmla="*/ 159 w 194"/>
                          <a:gd name="T51" fmla="*/ 219 h 223"/>
                          <a:gd name="T52" fmla="*/ 149 w 194"/>
                          <a:gd name="T53" fmla="*/ 214 h 223"/>
                          <a:gd name="T54" fmla="*/ 137 w 194"/>
                          <a:gd name="T55" fmla="*/ 204 h 223"/>
                          <a:gd name="T56" fmla="*/ 129 w 194"/>
                          <a:gd name="T57" fmla="*/ 196 h 223"/>
                          <a:gd name="T58" fmla="*/ 123 w 194"/>
                          <a:gd name="T59" fmla="*/ 188 h 223"/>
                          <a:gd name="T60" fmla="*/ 116 w 194"/>
                          <a:gd name="T61" fmla="*/ 181 h 223"/>
                          <a:gd name="T62" fmla="*/ 113 w 194"/>
                          <a:gd name="T63" fmla="*/ 181 h 223"/>
                          <a:gd name="T64" fmla="*/ 106 w 194"/>
                          <a:gd name="T65" fmla="*/ 178 h 223"/>
                          <a:gd name="T66" fmla="*/ 94 w 194"/>
                          <a:gd name="T67" fmla="*/ 171 h 223"/>
                          <a:gd name="T68" fmla="*/ 83 w 194"/>
                          <a:gd name="T69" fmla="*/ 160 h 223"/>
                          <a:gd name="T70" fmla="*/ 69 w 194"/>
                          <a:gd name="T71" fmla="*/ 145 h 223"/>
                          <a:gd name="T72" fmla="*/ 54 w 194"/>
                          <a:gd name="T73" fmla="*/ 125 h 223"/>
                          <a:gd name="T74" fmla="*/ 42 w 194"/>
                          <a:gd name="T75" fmla="*/ 109 h 223"/>
                          <a:gd name="T76" fmla="*/ 31 w 194"/>
                          <a:gd name="T77" fmla="*/ 92 h 223"/>
                          <a:gd name="T78" fmla="*/ 22 w 194"/>
                          <a:gd name="T79" fmla="*/ 76 h 223"/>
                          <a:gd name="T80" fmla="*/ 17 w 194"/>
                          <a:gd name="T81" fmla="*/ 62 h 223"/>
                          <a:gd name="T82" fmla="*/ 14 w 194"/>
                          <a:gd name="T83" fmla="*/ 46 h 223"/>
                          <a:gd name="T84" fmla="*/ 9 w 194"/>
                          <a:gd name="T85" fmla="*/ 28 h 223"/>
                          <a:gd name="T86" fmla="*/ 0 w 194"/>
                          <a:gd name="T87" fmla="*/ 0 h 22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  <a:cxn ang="0">
                            <a:pos x="T78" y="T79"/>
                          </a:cxn>
                          <a:cxn ang="0">
                            <a:pos x="T80" y="T81"/>
                          </a:cxn>
                          <a:cxn ang="0">
                            <a:pos x="T82" y="T83"/>
                          </a:cxn>
                          <a:cxn ang="0">
                            <a:pos x="T84" y="T85"/>
                          </a:cxn>
                          <a:cxn ang="0">
                            <a:pos x="T86" y="T87"/>
                          </a:cxn>
                        </a:cxnLst>
                        <a:rect l="0" t="0" r="r" b="b"/>
                        <a:pathLst>
                          <a:path w="194" h="223">
                            <a:moveTo>
                              <a:pt x="0" y="0"/>
                            </a:moveTo>
                            <a:lnTo>
                              <a:pt x="11" y="13"/>
                            </a:lnTo>
                            <a:lnTo>
                              <a:pt x="20" y="18"/>
                            </a:lnTo>
                            <a:lnTo>
                              <a:pt x="31" y="19"/>
                            </a:lnTo>
                            <a:lnTo>
                              <a:pt x="41" y="12"/>
                            </a:lnTo>
                            <a:lnTo>
                              <a:pt x="42" y="0"/>
                            </a:lnTo>
                            <a:lnTo>
                              <a:pt x="43" y="24"/>
                            </a:lnTo>
                            <a:lnTo>
                              <a:pt x="51" y="37"/>
                            </a:lnTo>
                            <a:lnTo>
                              <a:pt x="58" y="50"/>
                            </a:lnTo>
                            <a:lnTo>
                              <a:pt x="69" y="70"/>
                            </a:lnTo>
                            <a:lnTo>
                              <a:pt x="76" y="84"/>
                            </a:lnTo>
                            <a:lnTo>
                              <a:pt x="82" y="96"/>
                            </a:lnTo>
                            <a:lnTo>
                              <a:pt x="91" y="108"/>
                            </a:lnTo>
                            <a:lnTo>
                              <a:pt x="108" y="124"/>
                            </a:lnTo>
                            <a:lnTo>
                              <a:pt x="119" y="136"/>
                            </a:lnTo>
                            <a:lnTo>
                              <a:pt x="128" y="145"/>
                            </a:lnTo>
                            <a:lnTo>
                              <a:pt x="133" y="151"/>
                            </a:lnTo>
                            <a:lnTo>
                              <a:pt x="139" y="166"/>
                            </a:lnTo>
                            <a:lnTo>
                              <a:pt x="146" y="178"/>
                            </a:lnTo>
                            <a:lnTo>
                              <a:pt x="156" y="191"/>
                            </a:lnTo>
                            <a:lnTo>
                              <a:pt x="163" y="203"/>
                            </a:lnTo>
                            <a:lnTo>
                              <a:pt x="172" y="212"/>
                            </a:lnTo>
                            <a:lnTo>
                              <a:pt x="182" y="218"/>
                            </a:lnTo>
                            <a:lnTo>
                              <a:pt x="194" y="223"/>
                            </a:lnTo>
                            <a:lnTo>
                              <a:pt x="176" y="222"/>
                            </a:lnTo>
                            <a:lnTo>
                              <a:pt x="159" y="219"/>
                            </a:lnTo>
                            <a:lnTo>
                              <a:pt x="149" y="214"/>
                            </a:lnTo>
                            <a:lnTo>
                              <a:pt x="137" y="204"/>
                            </a:lnTo>
                            <a:lnTo>
                              <a:pt x="129" y="196"/>
                            </a:lnTo>
                            <a:lnTo>
                              <a:pt x="123" y="188"/>
                            </a:lnTo>
                            <a:lnTo>
                              <a:pt x="116" y="181"/>
                            </a:lnTo>
                            <a:lnTo>
                              <a:pt x="113" y="181"/>
                            </a:lnTo>
                            <a:lnTo>
                              <a:pt x="106" y="178"/>
                            </a:lnTo>
                            <a:lnTo>
                              <a:pt x="94" y="171"/>
                            </a:lnTo>
                            <a:lnTo>
                              <a:pt x="83" y="160"/>
                            </a:lnTo>
                            <a:lnTo>
                              <a:pt x="69" y="145"/>
                            </a:lnTo>
                            <a:lnTo>
                              <a:pt x="54" y="125"/>
                            </a:lnTo>
                            <a:lnTo>
                              <a:pt x="42" y="109"/>
                            </a:lnTo>
                            <a:lnTo>
                              <a:pt x="31" y="92"/>
                            </a:lnTo>
                            <a:lnTo>
                              <a:pt x="22" y="76"/>
                            </a:lnTo>
                            <a:lnTo>
                              <a:pt x="17" y="62"/>
                            </a:lnTo>
                            <a:lnTo>
                              <a:pt x="14" y="46"/>
                            </a:lnTo>
                            <a:lnTo>
                              <a:pt x="9" y="28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5F3F1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293" name="Freeform 372"/>
                      <p:cNvSpPr/>
                      <p:nvPr/>
                    </p:nvSpPr>
                    <p:spPr bwMode="auto">
                      <a:xfrm>
                        <a:off x="4845" y="2298"/>
                        <a:ext cx="9" cy="28"/>
                      </a:xfrm>
                      <a:custGeom>
                        <a:avLst/>
                        <a:gdLst>
                          <a:gd name="T0" fmla="*/ 22 w 59"/>
                          <a:gd name="T1" fmla="*/ 130 h 140"/>
                          <a:gd name="T2" fmla="*/ 13 w 59"/>
                          <a:gd name="T3" fmla="*/ 119 h 140"/>
                          <a:gd name="T4" fmla="*/ 11 w 59"/>
                          <a:gd name="T5" fmla="*/ 109 h 140"/>
                          <a:gd name="T6" fmla="*/ 8 w 59"/>
                          <a:gd name="T7" fmla="*/ 101 h 140"/>
                          <a:gd name="T8" fmla="*/ 8 w 59"/>
                          <a:gd name="T9" fmla="*/ 91 h 140"/>
                          <a:gd name="T10" fmla="*/ 12 w 59"/>
                          <a:gd name="T11" fmla="*/ 84 h 140"/>
                          <a:gd name="T12" fmla="*/ 12 w 59"/>
                          <a:gd name="T13" fmla="*/ 78 h 140"/>
                          <a:gd name="T14" fmla="*/ 8 w 59"/>
                          <a:gd name="T15" fmla="*/ 73 h 140"/>
                          <a:gd name="T16" fmla="*/ 11 w 59"/>
                          <a:gd name="T17" fmla="*/ 67 h 140"/>
                          <a:gd name="T18" fmla="*/ 13 w 59"/>
                          <a:gd name="T19" fmla="*/ 63 h 140"/>
                          <a:gd name="T20" fmla="*/ 13 w 59"/>
                          <a:gd name="T21" fmla="*/ 56 h 140"/>
                          <a:gd name="T22" fmla="*/ 13 w 59"/>
                          <a:gd name="T23" fmla="*/ 45 h 140"/>
                          <a:gd name="T24" fmla="*/ 18 w 59"/>
                          <a:gd name="T25" fmla="*/ 38 h 140"/>
                          <a:gd name="T26" fmla="*/ 22 w 59"/>
                          <a:gd name="T27" fmla="*/ 29 h 140"/>
                          <a:gd name="T28" fmla="*/ 24 w 59"/>
                          <a:gd name="T29" fmla="*/ 21 h 140"/>
                          <a:gd name="T30" fmla="*/ 26 w 59"/>
                          <a:gd name="T31" fmla="*/ 16 h 140"/>
                          <a:gd name="T32" fmla="*/ 31 w 59"/>
                          <a:gd name="T33" fmla="*/ 12 h 140"/>
                          <a:gd name="T34" fmla="*/ 37 w 59"/>
                          <a:gd name="T35" fmla="*/ 10 h 140"/>
                          <a:gd name="T36" fmla="*/ 45 w 59"/>
                          <a:gd name="T37" fmla="*/ 15 h 140"/>
                          <a:gd name="T38" fmla="*/ 50 w 59"/>
                          <a:gd name="T39" fmla="*/ 23 h 140"/>
                          <a:gd name="T40" fmla="*/ 54 w 59"/>
                          <a:gd name="T41" fmla="*/ 34 h 140"/>
                          <a:gd name="T42" fmla="*/ 55 w 59"/>
                          <a:gd name="T43" fmla="*/ 47 h 140"/>
                          <a:gd name="T44" fmla="*/ 54 w 59"/>
                          <a:gd name="T45" fmla="*/ 60 h 140"/>
                          <a:gd name="T46" fmla="*/ 47 w 59"/>
                          <a:gd name="T47" fmla="*/ 65 h 140"/>
                          <a:gd name="T48" fmla="*/ 38 w 59"/>
                          <a:gd name="T49" fmla="*/ 68 h 140"/>
                          <a:gd name="T50" fmla="*/ 34 w 59"/>
                          <a:gd name="T51" fmla="*/ 71 h 140"/>
                          <a:gd name="T52" fmla="*/ 28 w 59"/>
                          <a:gd name="T53" fmla="*/ 78 h 140"/>
                          <a:gd name="T54" fmla="*/ 25 w 59"/>
                          <a:gd name="T55" fmla="*/ 84 h 140"/>
                          <a:gd name="T56" fmla="*/ 22 w 59"/>
                          <a:gd name="T57" fmla="*/ 96 h 140"/>
                          <a:gd name="T58" fmla="*/ 23 w 59"/>
                          <a:gd name="T59" fmla="*/ 110 h 140"/>
                          <a:gd name="T60" fmla="*/ 24 w 59"/>
                          <a:gd name="T61" fmla="*/ 118 h 140"/>
                          <a:gd name="T62" fmla="*/ 30 w 59"/>
                          <a:gd name="T63" fmla="*/ 125 h 140"/>
                          <a:gd name="T64" fmla="*/ 38 w 59"/>
                          <a:gd name="T65" fmla="*/ 123 h 140"/>
                          <a:gd name="T66" fmla="*/ 38 w 59"/>
                          <a:gd name="T67" fmla="*/ 94 h 140"/>
                          <a:gd name="T68" fmla="*/ 42 w 59"/>
                          <a:gd name="T69" fmla="*/ 86 h 140"/>
                          <a:gd name="T70" fmla="*/ 51 w 59"/>
                          <a:gd name="T71" fmla="*/ 82 h 140"/>
                          <a:gd name="T72" fmla="*/ 57 w 59"/>
                          <a:gd name="T73" fmla="*/ 73 h 140"/>
                          <a:gd name="T74" fmla="*/ 59 w 59"/>
                          <a:gd name="T75" fmla="*/ 63 h 140"/>
                          <a:gd name="T76" fmla="*/ 59 w 59"/>
                          <a:gd name="T77" fmla="*/ 50 h 140"/>
                          <a:gd name="T78" fmla="*/ 56 w 59"/>
                          <a:gd name="T79" fmla="*/ 29 h 140"/>
                          <a:gd name="T80" fmla="*/ 49 w 59"/>
                          <a:gd name="T81" fmla="*/ 15 h 140"/>
                          <a:gd name="T82" fmla="*/ 38 w 59"/>
                          <a:gd name="T83" fmla="*/ 7 h 140"/>
                          <a:gd name="T84" fmla="*/ 31 w 59"/>
                          <a:gd name="T85" fmla="*/ 2 h 140"/>
                          <a:gd name="T86" fmla="*/ 24 w 59"/>
                          <a:gd name="T87" fmla="*/ 0 h 140"/>
                          <a:gd name="T88" fmla="*/ 19 w 59"/>
                          <a:gd name="T89" fmla="*/ 9 h 140"/>
                          <a:gd name="T90" fmla="*/ 12 w 59"/>
                          <a:gd name="T91" fmla="*/ 19 h 140"/>
                          <a:gd name="T92" fmla="*/ 8 w 59"/>
                          <a:gd name="T93" fmla="*/ 33 h 140"/>
                          <a:gd name="T94" fmla="*/ 4 w 59"/>
                          <a:gd name="T95" fmla="*/ 45 h 140"/>
                          <a:gd name="T96" fmla="*/ 1 w 59"/>
                          <a:gd name="T97" fmla="*/ 59 h 140"/>
                          <a:gd name="T98" fmla="*/ 0 w 59"/>
                          <a:gd name="T99" fmla="*/ 70 h 140"/>
                          <a:gd name="T100" fmla="*/ 1 w 59"/>
                          <a:gd name="T101" fmla="*/ 84 h 140"/>
                          <a:gd name="T102" fmla="*/ 2 w 59"/>
                          <a:gd name="T103" fmla="*/ 97 h 140"/>
                          <a:gd name="T104" fmla="*/ 8 w 59"/>
                          <a:gd name="T105" fmla="*/ 117 h 140"/>
                          <a:gd name="T106" fmla="*/ 12 w 59"/>
                          <a:gd name="T107" fmla="*/ 128 h 140"/>
                          <a:gd name="T108" fmla="*/ 22 w 59"/>
                          <a:gd name="T109" fmla="*/ 140 h 140"/>
                          <a:gd name="T110" fmla="*/ 22 w 59"/>
                          <a:gd name="T111" fmla="*/ 130 h 14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  <a:cxn ang="0">
                            <a:pos x="T78" y="T79"/>
                          </a:cxn>
                          <a:cxn ang="0">
                            <a:pos x="T80" y="T81"/>
                          </a:cxn>
                          <a:cxn ang="0">
                            <a:pos x="T82" y="T83"/>
                          </a:cxn>
                          <a:cxn ang="0">
                            <a:pos x="T84" y="T85"/>
                          </a:cxn>
                          <a:cxn ang="0">
                            <a:pos x="T86" y="T87"/>
                          </a:cxn>
                          <a:cxn ang="0">
                            <a:pos x="T88" y="T89"/>
                          </a:cxn>
                          <a:cxn ang="0">
                            <a:pos x="T90" y="T91"/>
                          </a:cxn>
                          <a:cxn ang="0">
                            <a:pos x="T92" y="T93"/>
                          </a:cxn>
                          <a:cxn ang="0">
                            <a:pos x="T94" y="T95"/>
                          </a:cxn>
                          <a:cxn ang="0">
                            <a:pos x="T96" y="T97"/>
                          </a:cxn>
                          <a:cxn ang="0">
                            <a:pos x="T98" y="T99"/>
                          </a:cxn>
                          <a:cxn ang="0">
                            <a:pos x="T100" y="T101"/>
                          </a:cxn>
                          <a:cxn ang="0">
                            <a:pos x="T102" y="T103"/>
                          </a:cxn>
                          <a:cxn ang="0">
                            <a:pos x="T104" y="T105"/>
                          </a:cxn>
                          <a:cxn ang="0">
                            <a:pos x="T106" y="T107"/>
                          </a:cxn>
                          <a:cxn ang="0">
                            <a:pos x="T108" y="T109"/>
                          </a:cxn>
                          <a:cxn ang="0">
                            <a:pos x="T110" y="T111"/>
                          </a:cxn>
                        </a:cxnLst>
                        <a:rect l="0" t="0" r="r" b="b"/>
                        <a:pathLst>
                          <a:path w="59" h="140">
                            <a:moveTo>
                              <a:pt x="22" y="130"/>
                            </a:moveTo>
                            <a:lnTo>
                              <a:pt x="13" y="119"/>
                            </a:lnTo>
                            <a:lnTo>
                              <a:pt x="11" y="109"/>
                            </a:lnTo>
                            <a:lnTo>
                              <a:pt x="8" y="101"/>
                            </a:lnTo>
                            <a:lnTo>
                              <a:pt x="8" y="91"/>
                            </a:lnTo>
                            <a:lnTo>
                              <a:pt x="12" y="84"/>
                            </a:lnTo>
                            <a:lnTo>
                              <a:pt x="12" y="78"/>
                            </a:lnTo>
                            <a:lnTo>
                              <a:pt x="8" y="73"/>
                            </a:lnTo>
                            <a:lnTo>
                              <a:pt x="11" y="67"/>
                            </a:lnTo>
                            <a:lnTo>
                              <a:pt x="13" y="63"/>
                            </a:lnTo>
                            <a:lnTo>
                              <a:pt x="13" y="56"/>
                            </a:lnTo>
                            <a:lnTo>
                              <a:pt x="13" y="45"/>
                            </a:lnTo>
                            <a:lnTo>
                              <a:pt x="18" y="38"/>
                            </a:lnTo>
                            <a:lnTo>
                              <a:pt x="22" y="29"/>
                            </a:lnTo>
                            <a:lnTo>
                              <a:pt x="24" y="21"/>
                            </a:lnTo>
                            <a:lnTo>
                              <a:pt x="26" y="16"/>
                            </a:lnTo>
                            <a:lnTo>
                              <a:pt x="31" y="12"/>
                            </a:lnTo>
                            <a:lnTo>
                              <a:pt x="37" y="10"/>
                            </a:lnTo>
                            <a:lnTo>
                              <a:pt x="45" y="15"/>
                            </a:lnTo>
                            <a:lnTo>
                              <a:pt x="50" y="23"/>
                            </a:lnTo>
                            <a:lnTo>
                              <a:pt x="54" y="34"/>
                            </a:lnTo>
                            <a:lnTo>
                              <a:pt x="55" y="47"/>
                            </a:lnTo>
                            <a:lnTo>
                              <a:pt x="54" y="60"/>
                            </a:lnTo>
                            <a:lnTo>
                              <a:pt x="47" y="65"/>
                            </a:lnTo>
                            <a:lnTo>
                              <a:pt x="38" y="68"/>
                            </a:lnTo>
                            <a:lnTo>
                              <a:pt x="34" y="71"/>
                            </a:lnTo>
                            <a:lnTo>
                              <a:pt x="28" y="78"/>
                            </a:lnTo>
                            <a:lnTo>
                              <a:pt x="25" y="84"/>
                            </a:lnTo>
                            <a:lnTo>
                              <a:pt x="22" y="96"/>
                            </a:lnTo>
                            <a:lnTo>
                              <a:pt x="23" y="110"/>
                            </a:lnTo>
                            <a:lnTo>
                              <a:pt x="24" y="118"/>
                            </a:lnTo>
                            <a:lnTo>
                              <a:pt x="30" y="125"/>
                            </a:lnTo>
                            <a:lnTo>
                              <a:pt x="38" y="123"/>
                            </a:lnTo>
                            <a:lnTo>
                              <a:pt x="38" y="94"/>
                            </a:lnTo>
                            <a:lnTo>
                              <a:pt x="42" y="86"/>
                            </a:lnTo>
                            <a:lnTo>
                              <a:pt x="51" y="82"/>
                            </a:lnTo>
                            <a:lnTo>
                              <a:pt x="57" y="73"/>
                            </a:lnTo>
                            <a:lnTo>
                              <a:pt x="59" y="63"/>
                            </a:lnTo>
                            <a:lnTo>
                              <a:pt x="59" y="50"/>
                            </a:lnTo>
                            <a:lnTo>
                              <a:pt x="56" y="29"/>
                            </a:lnTo>
                            <a:lnTo>
                              <a:pt x="49" y="15"/>
                            </a:lnTo>
                            <a:lnTo>
                              <a:pt x="38" y="7"/>
                            </a:lnTo>
                            <a:lnTo>
                              <a:pt x="31" y="2"/>
                            </a:lnTo>
                            <a:lnTo>
                              <a:pt x="24" y="0"/>
                            </a:lnTo>
                            <a:lnTo>
                              <a:pt x="19" y="9"/>
                            </a:lnTo>
                            <a:lnTo>
                              <a:pt x="12" y="19"/>
                            </a:lnTo>
                            <a:lnTo>
                              <a:pt x="8" y="33"/>
                            </a:lnTo>
                            <a:lnTo>
                              <a:pt x="4" y="45"/>
                            </a:lnTo>
                            <a:lnTo>
                              <a:pt x="1" y="59"/>
                            </a:lnTo>
                            <a:lnTo>
                              <a:pt x="0" y="70"/>
                            </a:lnTo>
                            <a:lnTo>
                              <a:pt x="1" y="84"/>
                            </a:lnTo>
                            <a:lnTo>
                              <a:pt x="2" y="97"/>
                            </a:lnTo>
                            <a:lnTo>
                              <a:pt x="8" y="117"/>
                            </a:lnTo>
                            <a:lnTo>
                              <a:pt x="12" y="128"/>
                            </a:lnTo>
                            <a:lnTo>
                              <a:pt x="22" y="140"/>
                            </a:lnTo>
                            <a:lnTo>
                              <a:pt x="22" y="130"/>
                            </a:lnTo>
                            <a:close/>
                          </a:path>
                        </a:pathLst>
                      </a:custGeom>
                      <a:solidFill>
                        <a:srgbClr val="5F3F1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279" name="Group 373"/>
                    <p:cNvGrpSpPr/>
                    <p:nvPr/>
                  </p:nvGrpSpPr>
                  <p:grpSpPr bwMode="auto">
                    <a:xfrm>
                      <a:off x="4887" y="2308"/>
                      <a:ext cx="39" cy="8"/>
                      <a:chOff x="4887" y="2308"/>
                      <a:chExt cx="39" cy="8"/>
                    </a:xfrm>
                  </p:grpSpPr>
                  <p:sp>
                    <p:nvSpPr>
                      <p:cNvPr id="290" name="Freeform 374"/>
                      <p:cNvSpPr/>
                      <p:nvPr/>
                    </p:nvSpPr>
                    <p:spPr bwMode="auto">
                      <a:xfrm>
                        <a:off x="4913" y="2311"/>
                        <a:ext cx="13" cy="5"/>
                      </a:xfrm>
                      <a:custGeom>
                        <a:avLst/>
                        <a:gdLst>
                          <a:gd name="T0" fmla="*/ 0 w 77"/>
                          <a:gd name="T1" fmla="*/ 14 h 21"/>
                          <a:gd name="T2" fmla="*/ 14 w 77"/>
                          <a:gd name="T3" fmla="*/ 2 h 21"/>
                          <a:gd name="T4" fmla="*/ 26 w 77"/>
                          <a:gd name="T5" fmla="*/ 2 h 21"/>
                          <a:gd name="T6" fmla="*/ 34 w 77"/>
                          <a:gd name="T7" fmla="*/ 2 h 21"/>
                          <a:gd name="T8" fmla="*/ 45 w 77"/>
                          <a:gd name="T9" fmla="*/ 0 h 21"/>
                          <a:gd name="T10" fmla="*/ 43 w 77"/>
                          <a:gd name="T11" fmla="*/ 9 h 21"/>
                          <a:gd name="T12" fmla="*/ 55 w 77"/>
                          <a:gd name="T13" fmla="*/ 4 h 21"/>
                          <a:gd name="T14" fmla="*/ 63 w 77"/>
                          <a:gd name="T15" fmla="*/ 2 h 21"/>
                          <a:gd name="T16" fmla="*/ 55 w 77"/>
                          <a:gd name="T17" fmla="*/ 9 h 21"/>
                          <a:gd name="T18" fmla="*/ 71 w 77"/>
                          <a:gd name="T19" fmla="*/ 2 h 21"/>
                          <a:gd name="T20" fmla="*/ 69 w 77"/>
                          <a:gd name="T21" fmla="*/ 8 h 21"/>
                          <a:gd name="T22" fmla="*/ 77 w 77"/>
                          <a:gd name="T23" fmla="*/ 3 h 21"/>
                          <a:gd name="T24" fmla="*/ 75 w 77"/>
                          <a:gd name="T25" fmla="*/ 13 h 21"/>
                          <a:gd name="T26" fmla="*/ 70 w 77"/>
                          <a:gd name="T27" fmla="*/ 19 h 21"/>
                          <a:gd name="T28" fmla="*/ 61 w 77"/>
                          <a:gd name="T29" fmla="*/ 21 h 21"/>
                          <a:gd name="T30" fmla="*/ 48 w 77"/>
                          <a:gd name="T31" fmla="*/ 21 h 21"/>
                          <a:gd name="T32" fmla="*/ 42 w 77"/>
                          <a:gd name="T33" fmla="*/ 19 h 21"/>
                          <a:gd name="T34" fmla="*/ 36 w 77"/>
                          <a:gd name="T35" fmla="*/ 18 h 21"/>
                          <a:gd name="T36" fmla="*/ 30 w 77"/>
                          <a:gd name="T37" fmla="*/ 15 h 21"/>
                          <a:gd name="T38" fmla="*/ 21 w 77"/>
                          <a:gd name="T39" fmla="*/ 13 h 21"/>
                          <a:gd name="T40" fmla="*/ 11 w 77"/>
                          <a:gd name="T41" fmla="*/ 9 h 21"/>
                          <a:gd name="T42" fmla="*/ 0 w 77"/>
                          <a:gd name="T43" fmla="*/ 14 h 21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</a:cxnLst>
                        <a:rect l="0" t="0" r="r" b="b"/>
                        <a:pathLst>
                          <a:path w="77" h="21">
                            <a:moveTo>
                              <a:pt x="0" y="14"/>
                            </a:moveTo>
                            <a:lnTo>
                              <a:pt x="14" y="2"/>
                            </a:lnTo>
                            <a:lnTo>
                              <a:pt x="26" y="2"/>
                            </a:lnTo>
                            <a:lnTo>
                              <a:pt x="34" y="2"/>
                            </a:lnTo>
                            <a:lnTo>
                              <a:pt x="45" y="0"/>
                            </a:lnTo>
                            <a:lnTo>
                              <a:pt x="43" y="9"/>
                            </a:lnTo>
                            <a:lnTo>
                              <a:pt x="55" y="4"/>
                            </a:lnTo>
                            <a:lnTo>
                              <a:pt x="63" y="2"/>
                            </a:lnTo>
                            <a:lnTo>
                              <a:pt x="55" y="9"/>
                            </a:lnTo>
                            <a:lnTo>
                              <a:pt x="71" y="2"/>
                            </a:lnTo>
                            <a:lnTo>
                              <a:pt x="69" y="8"/>
                            </a:lnTo>
                            <a:lnTo>
                              <a:pt x="77" y="3"/>
                            </a:lnTo>
                            <a:lnTo>
                              <a:pt x="75" y="13"/>
                            </a:lnTo>
                            <a:lnTo>
                              <a:pt x="70" y="19"/>
                            </a:lnTo>
                            <a:lnTo>
                              <a:pt x="61" y="21"/>
                            </a:lnTo>
                            <a:lnTo>
                              <a:pt x="48" y="21"/>
                            </a:lnTo>
                            <a:lnTo>
                              <a:pt x="42" y="19"/>
                            </a:lnTo>
                            <a:lnTo>
                              <a:pt x="36" y="18"/>
                            </a:lnTo>
                            <a:lnTo>
                              <a:pt x="30" y="15"/>
                            </a:lnTo>
                            <a:lnTo>
                              <a:pt x="21" y="13"/>
                            </a:lnTo>
                            <a:lnTo>
                              <a:pt x="11" y="9"/>
                            </a:lnTo>
                            <a:lnTo>
                              <a:pt x="0" y="14"/>
                            </a:lnTo>
                            <a:close/>
                          </a:path>
                        </a:pathLst>
                      </a:custGeom>
                      <a:solidFill>
                        <a:srgbClr val="3F1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291" name="Freeform 375"/>
                      <p:cNvSpPr/>
                      <p:nvPr/>
                    </p:nvSpPr>
                    <p:spPr bwMode="auto">
                      <a:xfrm>
                        <a:off x="4887" y="2308"/>
                        <a:ext cx="18" cy="5"/>
                      </a:xfrm>
                      <a:custGeom>
                        <a:avLst/>
                        <a:gdLst>
                          <a:gd name="T0" fmla="*/ 0 w 110"/>
                          <a:gd name="T1" fmla="*/ 20 h 24"/>
                          <a:gd name="T2" fmla="*/ 8 w 110"/>
                          <a:gd name="T3" fmla="*/ 11 h 24"/>
                          <a:gd name="T4" fmla="*/ 21 w 110"/>
                          <a:gd name="T5" fmla="*/ 8 h 24"/>
                          <a:gd name="T6" fmla="*/ 34 w 110"/>
                          <a:gd name="T7" fmla="*/ 4 h 24"/>
                          <a:gd name="T8" fmla="*/ 49 w 110"/>
                          <a:gd name="T9" fmla="*/ 4 h 24"/>
                          <a:gd name="T10" fmla="*/ 63 w 110"/>
                          <a:gd name="T11" fmla="*/ 5 h 24"/>
                          <a:gd name="T12" fmla="*/ 71 w 110"/>
                          <a:gd name="T13" fmla="*/ 0 h 24"/>
                          <a:gd name="T14" fmla="*/ 73 w 110"/>
                          <a:gd name="T15" fmla="*/ 8 h 24"/>
                          <a:gd name="T16" fmla="*/ 89 w 110"/>
                          <a:gd name="T17" fmla="*/ 3 h 24"/>
                          <a:gd name="T18" fmla="*/ 84 w 110"/>
                          <a:gd name="T19" fmla="*/ 12 h 24"/>
                          <a:gd name="T20" fmla="*/ 96 w 110"/>
                          <a:gd name="T21" fmla="*/ 10 h 24"/>
                          <a:gd name="T22" fmla="*/ 107 w 110"/>
                          <a:gd name="T23" fmla="*/ 4 h 24"/>
                          <a:gd name="T24" fmla="*/ 98 w 110"/>
                          <a:gd name="T25" fmla="*/ 20 h 24"/>
                          <a:gd name="T26" fmla="*/ 109 w 110"/>
                          <a:gd name="T27" fmla="*/ 14 h 24"/>
                          <a:gd name="T28" fmla="*/ 110 w 110"/>
                          <a:gd name="T29" fmla="*/ 21 h 24"/>
                          <a:gd name="T30" fmla="*/ 94 w 110"/>
                          <a:gd name="T31" fmla="*/ 24 h 24"/>
                          <a:gd name="T32" fmla="*/ 82 w 110"/>
                          <a:gd name="T33" fmla="*/ 21 h 24"/>
                          <a:gd name="T34" fmla="*/ 72 w 110"/>
                          <a:gd name="T35" fmla="*/ 16 h 24"/>
                          <a:gd name="T36" fmla="*/ 59 w 110"/>
                          <a:gd name="T37" fmla="*/ 15 h 24"/>
                          <a:gd name="T38" fmla="*/ 47 w 110"/>
                          <a:gd name="T39" fmla="*/ 15 h 24"/>
                          <a:gd name="T40" fmla="*/ 34 w 110"/>
                          <a:gd name="T41" fmla="*/ 15 h 24"/>
                          <a:gd name="T42" fmla="*/ 24 w 110"/>
                          <a:gd name="T43" fmla="*/ 11 h 24"/>
                          <a:gd name="T44" fmla="*/ 16 w 110"/>
                          <a:gd name="T45" fmla="*/ 11 h 24"/>
                          <a:gd name="T46" fmla="*/ 0 w 110"/>
                          <a:gd name="T47" fmla="*/ 20 h 2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</a:cxnLst>
                        <a:rect l="0" t="0" r="r" b="b"/>
                        <a:pathLst>
                          <a:path w="110" h="24">
                            <a:moveTo>
                              <a:pt x="0" y="20"/>
                            </a:moveTo>
                            <a:lnTo>
                              <a:pt x="8" y="11"/>
                            </a:lnTo>
                            <a:lnTo>
                              <a:pt x="21" y="8"/>
                            </a:lnTo>
                            <a:lnTo>
                              <a:pt x="34" y="4"/>
                            </a:lnTo>
                            <a:lnTo>
                              <a:pt x="49" y="4"/>
                            </a:lnTo>
                            <a:lnTo>
                              <a:pt x="63" y="5"/>
                            </a:lnTo>
                            <a:lnTo>
                              <a:pt x="71" y="0"/>
                            </a:lnTo>
                            <a:lnTo>
                              <a:pt x="73" y="8"/>
                            </a:lnTo>
                            <a:lnTo>
                              <a:pt x="89" y="3"/>
                            </a:lnTo>
                            <a:lnTo>
                              <a:pt x="84" y="12"/>
                            </a:lnTo>
                            <a:lnTo>
                              <a:pt x="96" y="10"/>
                            </a:lnTo>
                            <a:lnTo>
                              <a:pt x="107" y="4"/>
                            </a:lnTo>
                            <a:lnTo>
                              <a:pt x="98" y="20"/>
                            </a:lnTo>
                            <a:lnTo>
                              <a:pt x="109" y="14"/>
                            </a:lnTo>
                            <a:lnTo>
                              <a:pt x="110" y="21"/>
                            </a:lnTo>
                            <a:lnTo>
                              <a:pt x="94" y="24"/>
                            </a:lnTo>
                            <a:lnTo>
                              <a:pt x="82" y="21"/>
                            </a:lnTo>
                            <a:lnTo>
                              <a:pt x="72" y="16"/>
                            </a:lnTo>
                            <a:lnTo>
                              <a:pt x="59" y="15"/>
                            </a:lnTo>
                            <a:lnTo>
                              <a:pt x="47" y="15"/>
                            </a:lnTo>
                            <a:lnTo>
                              <a:pt x="34" y="15"/>
                            </a:lnTo>
                            <a:lnTo>
                              <a:pt x="24" y="11"/>
                            </a:lnTo>
                            <a:lnTo>
                              <a:pt x="16" y="11"/>
                            </a:lnTo>
                            <a:lnTo>
                              <a:pt x="0" y="20"/>
                            </a:lnTo>
                            <a:close/>
                          </a:path>
                        </a:pathLst>
                      </a:custGeom>
                      <a:solidFill>
                        <a:srgbClr val="3F1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280" name="Group 376"/>
                    <p:cNvGrpSpPr/>
                    <p:nvPr/>
                  </p:nvGrpSpPr>
                  <p:grpSpPr bwMode="auto">
                    <a:xfrm>
                      <a:off x="4889" y="2310"/>
                      <a:ext cx="17" cy="11"/>
                      <a:chOff x="4889" y="2310"/>
                      <a:chExt cx="17" cy="11"/>
                    </a:xfrm>
                  </p:grpSpPr>
                  <p:sp>
                    <p:nvSpPr>
                      <p:cNvPr id="286" name="Freeform 377"/>
                      <p:cNvSpPr/>
                      <p:nvPr/>
                    </p:nvSpPr>
                    <p:spPr bwMode="auto">
                      <a:xfrm>
                        <a:off x="4889" y="2315"/>
                        <a:ext cx="11" cy="5"/>
                      </a:xfrm>
                      <a:custGeom>
                        <a:avLst/>
                        <a:gdLst>
                          <a:gd name="T0" fmla="*/ 0 w 64"/>
                          <a:gd name="T1" fmla="*/ 0 h 22"/>
                          <a:gd name="T2" fmla="*/ 12 w 64"/>
                          <a:gd name="T3" fmla="*/ 10 h 22"/>
                          <a:gd name="T4" fmla="*/ 26 w 64"/>
                          <a:gd name="T5" fmla="*/ 21 h 22"/>
                          <a:gd name="T6" fmla="*/ 45 w 64"/>
                          <a:gd name="T7" fmla="*/ 22 h 22"/>
                          <a:gd name="T8" fmla="*/ 58 w 64"/>
                          <a:gd name="T9" fmla="*/ 9 h 22"/>
                          <a:gd name="T10" fmla="*/ 64 w 64"/>
                          <a:gd name="T11" fmla="*/ 7 h 22"/>
                          <a:gd name="T12" fmla="*/ 61 w 64"/>
                          <a:gd name="T13" fmla="*/ 0 h 22"/>
                          <a:gd name="T14" fmla="*/ 0 w 64"/>
                          <a:gd name="T15" fmla="*/ 0 h 22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</a:cxnLst>
                        <a:rect l="0" t="0" r="r" b="b"/>
                        <a:pathLst>
                          <a:path w="64" h="22">
                            <a:moveTo>
                              <a:pt x="0" y="0"/>
                            </a:moveTo>
                            <a:lnTo>
                              <a:pt x="12" y="10"/>
                            </a:lnTo>
                            <a:lnTo>
                              <a:pt x="26" y="21"/>
                            </a:lnTo>
                            <a:lnTo>
                              <a:pt x="45" y="22"/>
                            </a:lnTo>
                            <a:lnTo>
                              <a:pt x="58" y="9"/>
                            </a:lnTo>
                            <a:lnTo>
                              <a:pt x="64" y="7"/>
                            </a:lnTo>
                            <a:lnTo>
                              <a:pt x="61" y="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287" name="Freeform 378"/>
                      <p:cNvSpPr/>
                      <p:nvPr/>
                    </p:nvSpPr>
                    <p:spPr bwMode="auto">
                      <a:xfrm>
                        <a:off x="4889" y="2310"/>
                        <a:ext cx="17" cy="11"/>
                      </a:xfrm>
                      <a:custGeom>
                        <a:avLst/>
                        <a:gdLst>
                          <a:gd name="T0" fmla="*/ 25 w 98"/>
                          <a:gd name="T1" fmla="*/ 0 h 56"/>
                          <a:gd name="T2" fmla="*/ 43 w 98"/>
                          <a:gd name="T3" fmla="*/ 4 h 56"/>
                          <a:gd name="T4" fmla="*/ 55 w 98"/>
                          <a:gd name="T5" fmla="*/ 6 h 56"/>
                          <a:gd name="T6" fmla="*/ 68 w 98"/>
                          <a:gd name="T7" fmla="*/ 11 h 56"/>
                          <a:gd name="T8" fmla="*/ 75 w 98"/>
                          <a:gd name="T9" fmla="*/ 15 h 56"/>
                          <a:gd name="T10" fmla="*/ 81 w 98"/>
                          <a:gd name="T11" fmla="*/ 16 h 56"/>
                          <a:gd name="T12" fmla="*/ 92 w 98"/>
                          <a:gd name="T13" fmla="*/ 17 h 56"/>
                          <a:gd name="T14" fmla="*/ 98 w 98"/>
                          <a:gd name="T15" fmla="*/ 20 h 56"/>
                          <a:gd name="T16" fmla="*/ 98 w 98"/>
                          <a:gd name="T17" fmla="*/ 33 h 56"/>
                          <a:gd name="T18" fmla="*/ 93 w 98"/>
                          <a:gd name="T19" fmla="*/ 41 h 56"/>
                          <a:gd name="T20" fmla="*/ 89 w 98"/>
                          <a:gd name="T21" fmla="*/ 47 h 56"/>
                          <a:gd name="T22" fmla="*/ 86 w 98"/>
                          <a:gd name="T23" fmla="*/ 52 h 56"/>
                          <a:gd name="T24" fmla="*/ 77 w 98"/>
                          <a:gd name="T25" fmla="*/ 56 h 56"/>
                          <a:gd name="T26" fmla="*/ 69 w 98"/>
                          <a:gd name="T27" fmla="*/ 56 h 56"/>
                          <a:gd name="T28" fmla="*/ 63 w 98"/>
                          <a:gd name="T29" fmla="*/ 53 h 56"/>
                          <a:gd name="T30" fmla="*/ 64 w 98"/>
                          <a:gd name="T31" fmla="*/ 47 h 56"/>
                          <a:gd name="T32" fmla="*/ 63 w 98"/>
                          <a:gd name="T33" fmla="*/ 38 h 56"/>
                          <a:gd name="T34" fmla="*/ 57 w 98"/>
                          <a:gd name="T35" fmla="*/ 38 h 56"/>
                          <a:gd name="T36" fmla="*/ 49 w 98"/>
                          <a:gd name="T37" fmla="*/ 30 h 56"/>
                          <a:gd name="T38" fmla="*/ 50 w 98"/>
                          <a:gd name="T39" fmla="*/ 37 h 56"/>
                          <a:gd name="T40" fmla="*/ 45 w 98"/>
                          <a:gd name="T41" fmla="*/ 47 h 56"/>
                          <a:gd name="T42" fmla="*/ 34 w 98"/>
                          <a:gd name="T43" fmla="*/ 49 h 56"/>
                          <a:gd name="T44" fmla="*/ 22 w 98"/>
                          <a:gd name="T45" fmla="*/ 47 h 56"/>
                          <a:gd name="T46" fmla="*/ 19 w 98"/>
                          <a:gd name="T47" fmla="*/ 40 h 56"/>
                          <a:gd name="T48" fmla="*/ 16 w 98"/>
                          <a:gd name="T49" fmla="*/ 32 h 56"/>
                          <a:gd name="T50" fmla="*/ 16 w 98"/>
                          <a:gd name="T51" fmla="*/ 27 h 56"/>
                          <a:gd name="T52" fmla="*/ 0 w 98"/>
                          <a:gd name="T53" fmla="*/ 27 h 56"/>
                          <a:gd name="T54" fmla="*/ 6 w 98"/>
                          <a:gd name="T55" fmla="*/ 23 h 56"/>
                          <a:gd name="T56" fmla="*/ 55 w 98"/>
                          <a:gd name="T57" fmla="*/ 23 h 56"/>
                          <a:gd name="T58" fmla="*/ 56 w 98"/>
                          <a:gd name="T59" fmla="*/ 11 h 56"/>
                          <a:gd name="T60" fmla="*/ 45 w 98"/>
                          <a:gd name="T61" fmla="*/ 10 h 56"/>
                          <a:gd name="T62" fmla="*/ 25 w 98"/>
                          <a:gd name="T63" fmla="*/ 0 h 56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</a:cxnLst>
                        <a:rect l="0" t="0" r="r" b="b"/>
                        <a:pathLst>
                          <a:path w="98" h="56">
                            <a:moveTo>
                              <a:pt x="25" y="0"/>
                            </a:moveTo>
                            <a:lnTo>
                              <a:pt x="43" y="4"/>
                            </a:lnTo>
                            <a:lnTo>
                              <a:pt x="55" y="6"/>
                            </a:lnTo>
                            <a:lnTo>
                              <a:pt x="68" y="11"/>
                            </a:lnTo>
                            <a:lnTo>
                              <a:pt x="75" y="15"/>
                            </a:lnTo>
                            <a:lnTo>
                              <a:pt x="81" y="16"/>
                            </a:lnTo>
                            <a:lnTo>
                              <a:pt x="92" y="17"/>
                            </a:lnTo>
                            <a:lnTo>
                              <a:pt x="98" y="20"/>
                            </a:lnTo>
                            <a:lnTo>
                              <a:pt x="98" y="33"/>
                            </a:lnTo>
                            <a:lnTo>
                              <a:pt x="93" y="41"/>
                            </a:lnTo>
                            <a:lnTo>
                              <a:pt x="89" y="47"/>
                            </a:lnTo>
                            <a:lnTo>
                              <a:pt x="86" y="52"/>
                            </a:lnTo>
                            <a:lnTo>
                              <a:pt x="77" y="56"/>
                            </a:lnTo>
                            <a:lnTo>
                              <a:pt x="69" y="56"/>
                            </a:lnTo>
                            <a:lnTo>
                              <a:pt x="63" y="53"/>
                            </a:lnTo>
                            <a:lnTo>
                              <a:pt x="64" y="47"/>
                            </a:lnTo>
                            <a:lnTo>
                              <a:pt x="63" y="38"/>
                            </a:lnTo>
                            <a:lnTo>
                              <a:pt x="57" y="38"/>
                            </a:lnTo>
                            <a:lnTo>
                              <a:pt x="49" y="30"/>
                            </a:lnTo>
                            <a:lnTo>
                              <a:pt x="50" y="37"/>
                            </a:lnTo>
                            <a:lnTo>
                              <a:pt x="45" y="47"/>
                            </a:lnTo>
                            <a:lnTo>
                              <a:pt x="34" y="49"/>
                            </a:lnTo>
                            <a:lnTo>
                              <a:pt x="22" y="47"/>
                            </a:lnTo>
                            <a:lnTo>
                              <a:pt x="19" y="40"/>
                            </a:lnTo>
                            <a:lnTo>
                              <a:pt x="16" y="32"/>
                            </a:lnTo>
                            <a:lnTo>
                              <a:pt x="16" y="27"/>
                            </a:lnTo>
                            <a:lnTo>
                              <a:pt x="0" y="27"/>
                            </a:lnTo>
                            <a:lnTo>
                              <a:pt x="6" y="23"/>
                            </a:lnTo>
                            <a:lnTo>
                              <a:pt x="55" y="23"/>
                            </a:lnTo>
                            <a:lnTo>
                              <a:pt x="56" y="11"/>
                            </a:lnTo>
                            <a:lnTo>
                              <a:pt x="45" y="10"/>
                            </a:lnTo>
                            <a:lnTo>
                              <a:pt x="25" y="0"/>
                            </a:lnTo>
                            <a:close/>
                          </a:path>
                        </a:pathLst>
                      </a:custGeom>
                      <a:solidFill>
                        <a:srgbClr val="5F3F1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288" name="Oval 37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894" y="2315"/>
                        <a:ext cx="3" cy="5"/>
                      </a:xfrm>
                      <a:prstGeom prst="ellipse">
                        <a:avLst/>
                      </a:pr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289" name="Oval 38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896" y="2315"/>
                        <a:ext cx="2" cy="3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281" name="Group 381"/>
                    <p:cNvGrpSpPr/>
                    <p:nvPr/>
                  </p:nvGrpSpPr>
                  <p:grpSpPr bwMode="auto">
                    <a:xfrm>
                      <a:off x="4910" y="2314"/>
                      <a:ext cx="12" cy="8"/>
                      <a:chOff x="4910" y="2314"/>
                      <a:chExt cx="12" cy="8"/>
                    </a:xfrm>
                  </p:grpSpPr>
                  <p:sp>
                    <p:nvSpPr>
                      <p:cNvPr id="282" name="Freeform 382"/>
                      <p:cNvSpPr/>
                      <p:nvPr/>
                    </p:nvSpPr>
                    <p:spPr bwMode="auto">
                      <a:xfrm>
                        <a:off x="4912" y="2317"/>
                        <a:ext cx="8" cy="5"/>
                      </a:xfrm>
                      <a:custGeom>
                        <a:avLst/>
                        <a:gdLst>
                          <a:gd name="T0" fmla="*/ 50 w 50"/>
                          <a:gd name="T1" fmla="*/ 0 h 22"/>
                          <a:gd name="T2" fmla="*/ 48 w 50"/>
                          <a:gd name="T3" fmla="*/ 11 h 22"/>
                          <a:gd name="T4" fmla="*/ 39 w 50"/>
                          <a:gd name="T5" fmla="*/ 21 h 22"/>
                          <a:gd name="T6" fmla="*/ 19 w 50"/>
                          <a:gd name="T7" fmla="*/ 22 h 22"/>
                          <a:gd name="T8" fmla="*/ 6 w 50"/>
                          <a:gd name="T9" fmla="*/ 7 h 22"/>
                          <a:gd name="T10" fmla="*/ 0 w 50"/>
                          <a:gd name="T11" fmla="*/ 7 h 22"/>
                          <a:gd name="T12" fmla="*/ 4 w 50"/>
                          <a:gd name="T13" fmla="*/ 0 h 22"/>
                          <a:gd name="T14" fmla="*/ 50 w 50"/>
                          <a:gd name="T15" fmla="*/ 0 h 22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</a:cxnLst>
                        <a:rect l="0" t="0" r="r" b="b"/>
                        <a:pathLst>
                          <a:path w="50" h="22">
                            <a:moveTo>
                              <a:pt x="50" y="0"/>
                            </a:moveTo>
                            <a:lnTo>
                              <a:pt x="48" y="11"/>
                            </a:lnTo>
                            <a:lnTo>
                              <a:pt x="39" y="21"/>
                            </a:lnTo>
                            <a:lnTo>
                              <a:pt x="19" y="22"/>
                            </a:lnTo>
                            <a:lnTo>
                              <a:pt x="6" y="7"/>
                            </a:lnTo>
                            <a:lnTo>
                              <a:pt x="0" y="7"/>
                            </a:lnTo>
                            <a:lnTo>
                              <a:pt x="4" y="0"/>
                            </a:lnTo>
                            <a:lnTo>
                              <a:pt x="50" y="0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283" name="Freeform 383"/>
                      <p:cNvSpPr/>
                      <p:nvPr/>
                    </p:nvSpPr>
                    <p:spPr bwMode="auto">
                      <a:xfrm>
                        <a:off x="4910" y="2314"/>
                        <a:ext cx="12" cy="8"/>
                      </a:xfrm>
                      <a:custGeom>
                        <a:avLst/>
                        <a:gdLst>
                          <a:gd name="T0" fmla="*/ 47 w 70"/>
                          <a:gd name="T1" fmla="*/ 0 h 40"/>
                          <a:gd name="T2" fmla="*/ 28 w 70"/>
                          <a:gd name="T3" fmla="*/ 1 h 40"/>
                          <a:gd name="T4" fmla="*/ 18 w 70"/>
                          <a:gd name="T5" fmla="*/ 3 h 40"/>
                          <a:gd name="T6" fmla="*/ 7 w 70"/>
                          <a:gd name="T7" fmla="*/ 7 h 40"/>
                          <a:gd name="T8" fmla="*/ 0 w 70"/>
                          <a:gd name="T9" fmla="*/ 17 h 40"/>
                          <a:gd name="T10" fmla="*/ 4 w 70"/>
                          <a:gd name="T11" fmla="*/ 35 h 40"/>
                          <a:gd name="T12" fmla="*/ 15 w 70"/>
                          <a:gd name="T13" fmla="*/ 34 h 40"/>
                          <a:gd name="T14" fmla="*/ 22 w 70"/>
                          <a:gd name="T15" fmla="*/ 23 h 40"/>
                          <a:gd name="T16" fmla="*/ 29 w 70"/>
                          <a:gd name="T17" fmla="*/ 22 h 40"/>
                          <a:gd name="T18" fmla="*/ 25 w 70"/>
                          <a:gd name="T19" fmla="*/ 29 h 40"/>
                          <a:gd name="T20" fmla="*/ 29 w 70"/>
                          <a:gd name="T21" fmla="*/ 39 h 40"/>
                          <a:gd name="T22" fmla="*/ 37 w 70"/>
                          <a:gd name="T23" fmla="*/ 40 h 40"/>
                          <a:gd name="T24" fmla="*/ 46 w 70"/>
                          <a:gd name="T25" fmla="*/ 40 h 40"/>
                          <a:gd name="T26" fmla="*/ 53 w 70"/>
                          <a:gd name="T27" fmla="*/ 34 h 40"/>
                          <a:gd name="T28" fmla="*/ 54 w 70"/>
                          <a:gd name="T29" fmla="*/ 27 h 40"/>
                          <a:gd name="T30" fmla="*/ 59 w 70"/>
                          <a:gd name="T31" fmla="*/ 26 h 40"/>
                          <a:gd name="T32" fmla="*/ 70 w 70"/>
                          <a:gd name="T33" fmla="*/ 21 h 40"/>
                          <a:gd name="T34" fmla="*/ 61 w 70"/>
                          <a:gd name="T35" fmla="*/ 18 h 40"/>
                          <a:gd name="T36" fmla="*/ 55 w 70"/>
                          <a:gd name="T37" fmla="*/ 16 h 40"/>
                          <a:gd name="T38" fmla="*/ 41 w 70"/>
                          <a:gd name="T39" fmla="*/ 16 h 40"/>
                          <a:gd name="T40" fmla="*/ 36 w 70"/>
                          <a:gd name="T41" fmla="*/ 17 h 40"/>
                          <a:gd name="T42" fmla="*/ 47 w 70"/>
                          <a:gd name="T43" fmla="*/ 0 h 4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</a:cxnLst>
                        <a:rect l="0" t="0" r="r" b="b"/>
                        <a:pathLst>
                          <a:path w="70" h="40">
                            <a:moveTo>
                              <a:pt x="47" y="0"/>
                            </a:moveTo>
                            <a:lnTo>
                              <a:pt x="28" y="1"/>
                            </a:lnTo>
                            <a:lnTo>
                              <a:pt x="18" y="3"/>
                            </a:lnTo>
                            <a:lnTo>
                              <a:pt x="7" y="7"/>
                            </a:lnTo>
                            <a:lnTo>
                              <a:pt x="0" y="17"/>
                            </a:lnTo>
                            <a:lnTo>
                              <a:pt x="4" y="35"/>
                            </a:lnTo>
                            <a:lnTo>
                              <a:pt x="15" y="34"/>
                            </a:lnTo>
                            <a:lnTo>
                              <a:pt x="22" y="23"/>
                            </a:lnTo>
                            <a:lnTo>
                              <a:pt x="29" y="22"/>
                            </a:lnTo>
                            <a:lnTo>
                              <a:pt x="25" y="29"/>
                            </a:lnTo>
                            <a:lnTo>
                              <a:pt x="29" y="39"/>
                            </a:lnTo>
                            <a:lnTo>
                              <a:pt x="37" y="40"/>
                            </a:lnTo>
                            <a:lnTo>
                              <a:pt x="46" y="40"/>
                            </a:lnTo>
                            <a:lnTo>
                              <a:pt x="53" y="34"/>
                            </a:lnTo>
                            <a:lnTo>
                              <a:pt x="54" y="27"/>
                            </a:lnTo>
                            <a:lnTo>
                              <a:pt x="59" y="26"/>
                            </a:lnTo>
                            <a:lnTo>
                              <a:pt x="70" y="21"/>
                            </a:lnTo>
                            <a:lnTo>
                              <a:pt x="61" y="18"/>
                            </a:lnTo>
                            <a:lnTo>
                              <a:pt x="55" y="16"/>
                            </a:lnTo>
                            <a:lnTo>
                              <a:pt x="41" y="16"/>
                            </a:lnTo>
                            <a:lnTo>
                              <a:pt x="36" y="17"/>
                            </a:lnTo>
                            <a:lnTo>
                              <a:pt x="47" y="0"/>
                            </a:lnTo>
                            <a:close/>
                          </a:path>
                        </a:pathLst>
                      </a:custGeom>
                      <a:solidFill>
                        <a:srgbClr val="5F3F1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284" name="Oval 38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916" y="2317"/>
                        <a:ext cx="3" cy="5"/>
                      </a:xfrm>
                      <a:prstGeom prst="ellipse">
                        <a:avLst/>
                      </a:pr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285" name="Oval 38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918" y="2318"/>
                        <a:ext cx="2" cy="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</p:grpSp>
            </p:grpSp>
            <p:grpSp>
              <p:nvGrpSpPr>
                <p:cNvPr id="250" name="Group 386"/>
                <p:cNvGrpSpPr/>
                <p:nvPr/>
              </p:nvGrpSpPr>
              <p:grpSpPr bwMode="auto">
                <a:xfrm>
                  <a:off x="4981" y="2517"/>
                  <a:ext cx="120" cy="72"/>
                  <a:chOff x="4981" y="2517"/>
                  <a:chExt cx="120" cy="72"/>
                </a:xfrm>
              </p:grpSpPr>
              <p:sp>
                <p:nvSpPr>
                  <p:cNvPr id="251" name="Freeform 387"/>
                  <p:cNvSpPr/>
                  <p:nvPr/>
                </p:nvSpPr>
                <p:spPr bwMode="auto">
                  <a:xfrm>
                    <a:off x="5031" y="2517"/>
                    <a:ext cx="70" cy="60"/>
                  </a:xfrm>
                  <a:custGeom>
                    <a:avLst/>
                    <a:gdLst>
                      <a:gd name="T0" fmla="*/ 355 w 420"/>
                      <a:gd name="T1" fmla="*/ 0 h 299"/>
                      <a:gd name="T2" fmla="*/ 148 w 420"/>
                      <a:gd name="T3" fmla="*/ 100 h 299"/>
                      <a:gd name="T4" fmla="*/ 112 w 420"/>
                      <a:gd name="T5" fmla="*/ 116 h 299"/>
                      <a:gd name="T6" fmla="*/ 52 w 420"/>
                      <a:gd name="T7" fmla="*/ 127 h 299"/>
                      <a:gd name="T8" fmla="*/ 25 w 420"/>
                      <a:gd name="T9" fmla="*/ 129 h 299"/>
                      <a:gd name="T10" fmla="*/ 0 w 420"/>
                      <a:gd name="T11" fmla="*/ 155 h 299"/>
                      <a:gd name="T12" fmla="*/ 0 w 420"/>
                      <a:gd name="T13" fmla="*/ 299 h 299"/>
                      <a:gd name="T14" fmla="*/ 34 w 420"/>
                      <a:gd name="T15" fmla="*/ 291 h 299"/>
                      <a:gd name="T16" fmla="*/ 55 w 420"/>
                      <a:gd name="T17" fmla="*/ 291 h 299"/>
                      <a:gd name="T18" fmla="*/ 114 w 420"/>
                      <a:gd name="T19" fmla="*/ 247 h 299"/>
                      <a:gd name="T20" fmla="*/ 153 w 420"/>
                      <a:gd name="T21" fmla="*/ 185 h 299"/>
                      <a:gd name="T22" fmla="*/ 236 w 420"/>
                      <a:gd name="T23" fmla="*/ 171 h 299"/>
                      <a:gd name="T24" fmla="*/ 420 w 420"/>
                      <a:gd name="T25" fmla="*/ 127 h 299"/>
                      <a:gd name="T26" fmla="*/ 411 w 420"/>
                      <a:gd name="T27" fmla="*/ 65 h 299"/>
                      <a:gd name="T28" fmla="*/ 383 w 420"/>
                      <a:gd name="T29" fmla="*/ 18 h 299"/>
                      <a:gd name="T30" fmla="*/ 355 w 420"/>
                      <a:gd name="T31" fmla="*/ 0 h 29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</a:cxnLst>
                    <a:rect l="0" t="0" r="r" b="b"/>
                    <a:pathLst>
                      <a:path w="420" h="299">
                        <a:moveTo>
                          <a:pt x="355" y="0"/>
                        </a:moveTo>
                        <a:lnTo>
                          <a:pt x="148" y="100"/>
                        </a:lnTo>
                        <a:lnTo>
                          <a:pt x="112" y="116"/>
                        </a:lnTo>
                        <a:lnTo>
                          <a:pt x="52" y="127"/>
                        </a:lnTo>
                        <a:lnTo>
                          <a:pt x="25" y="129"/>
                        </a:lnTo>
                        <a:lnTo>
                          <a:pt x="0" y="155"/>
                        </a:lnTo>
                        <a:lnTo>
                          <a:pt x="0" y="299"/>
                        </a:lnTo>
                        <a:lnTo>
                          <a:pt x="34" y="291"/>
                        </a:lnTo>
                        <a:lnTo>
                          <a:pt x="55" y="291"/>
                        </a:lnTo>
                        <a:lnTo>
                          <a:pt x="114" y="247"/>
                        </a:lnTo>
                        <a:lnTo>
                          <a:pt x="153" y="185"/>
                        </a:lnTo>
                        <a:lnTo>
                          <a:pt x="236" y="171"/>
                        </a:lnTo>
                        <a:lnTo>
                          <a:pt x="420" y="127"/>
                        </a:lnTo>
                        <a:lnTo>
                          <a:pt x="411" y="65"/>
                        </a:lnTo>
                        <a:lnTo>
                          <a:pt x="383" y="18"/>
                        </a:lnTo>
                        <a:lnTo>
                          <a:pt x="355" y="0"/>
                        </a:lnTo>
                        <a:close/>
                      </a:path>
                    </a:pathLst>
                  </a:custGeom>
                  <a:solidFill>
                    <a:srgbClr val="FF9FB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grpSp>
                <p:nvGrpSpPr>
                  <p:cNvPr id="252" name="Group 388"/>
                  <p:cNvGrpSpPr/>
                  <p:nvPr/>
                </p:nvGrpSpPr>
                <p:grpSpPr bwMode="auto">
                  <a:xfrm>
                    <a:off x="4981" y="2534"/>
                    <a:ext cx="81" cy="55"/>
                    <a:chOff x="4981" y="2534"/>
                    <a:chExt cx="81" cy="55"/>
                  </a:xfrm>
                </p:grpSpPr>
                <p:grpSp>
                  <p:nvGrpSpPr>
                    <p:cNvPr id="260" name="Group 389"/>
                    <p:cNvGrpSpPr/>
                    <p:nvPr/>
                  </p:nvGrpSpPr>
                  <p:grpSpPr bwMode="auto">
                    <a:xfrm>
                      <a:off x="4981" y="2534"/>
                      <a:ext cx="81" cy="55"/>
                      <a:chOff x="4981" y="2534"/>
                      <a:chExt cx="81" cy="55"/>
                    </a:xfrm>
                  </p:grpSpPr>
                  <p:sp>
                    <p:nvSpPr>
                      <p:cNvPr id="265" name="Freeform 390"/>
                      <p:cNvSpPr/>
                      <p:nvPr/>
                    </p:nvSpPr>
                    <p:spPr bwMode="auto">
                      <a:xfrm>
                        <a:off x="4995" y="2534"/>
                        <a:ext cx="67" cy="55"/>
                      </a:xfrm>
                      <a:custGeom>
                        <a:avLst/>
                        <a:gdLst>
                          <a:gd name="T0" fmla="*/ 25 w 403"/>
                          <a:gd name="T1" fmla="*/ 63 h 277"/>
                          <a:gd name="T2" fmla="*/ 96 w 403"/>
                          <a:gd name="T3" fmla="*/ 63 h 277"/>
                          <a:gd name="T4" fmla="*/ 221 w 403"/>
                          <a:gd name="T5" fmla="*/ 0 h 277"/>
                          <a:gd name="T6" fmla="*/ 250 w 403"/>
                          <a:gd name="T7" fmla="*/ 7 h 277"/>
                          <a:gd name="T8" fmla="*/ 297 w 403"/>
                          <a:gd name="T9" fmla="*/ 39 h 277"/>
                          <a:gd name="T10" fmla="*/ 341 w 403"/>
                          <a:gd name="T11" fmla="*/ 82 h 277"/>
                          <a:gd name="T12" fmla="*/ 385 w 403"/>
                          <a:gd name="T13" fmla="*/ 129 h 277"/>
                          <a:gd name="T14" fmla="*/ 403 w 403"/>
                          <a:gd name="T15" fmla="*/ 166 h 277"/>
                          <a:gd name="T16" fmla="*/ 399 w 403"/>
                          <a:gd name="T17" fmla="*/ 181 h 277"/>
                          <a:gd name="T18" fmla="*/ 387 w 403"/>
                          <a:gd name="T19" fmla="*/ 190 h 277"/>
                          <a:gd name="T20" fmla="*/ 371 w 403"/>
                          <a:gd name="T21" fmla="*/ 186 h 277"/>
                          <a:gd name="T22" fmla="*/ 353 w 403"/>
                          <a:gd name="T23" fmla="*/ 175 h 277"/>
                          <a:gd name="T24" fmla="*/ 378 w 403"/>
                          <a:gd name="T25" fmla="*/ 205 h 277"/>
                          <a:gd name="T26" fmla="*/ 374 w 403"/>
                          <a:gd name="T27" fmla="*/ 228 h 277"/>
                          <a:gd name="T28" fmla="*/ 356 w 403"/>
                          <a:gd name="T29" fmla="*/ 238 h 277"/>
                          <a:gd name="T30" fmla="*/ 330 w 403"/>
                          <a:gd name="T31" fmla="*/ 232 h 277"/>
                          <a:gd name="T32" fmla="*/ 309 w 403"/>
                          <a:gd name="T33" fmla="*/ 220 h 277"/>
                          <a:gd name="T34" fmla="*/ 291 w 403"/>
                          <a:gd name="T35" fmla="*/ 210 h 277"/>
                          <a:gd name="T36" fmla="*/ 309 w 403"/>
                          <a:gd name="T37" fmla="*/ 234 h 277"/>
                          <a:gd name="T38" fmla="*/ 310 w 403"/>
                          <a:gd name="T39" fmla="*/ 254 h 277"/>
                          <a:gd name="T40" fmla="*/ 298 w 403"/>
                          <a:gd name="T41" fmla="*/ 265 h 277"/>
                          <a:gd name="T42" fmla="*/ 282 w 403"/>
                          <a:gd name="T43" fmla="*/ 268 h 277"/>
                          <a:gd name="T44" fmla="*/ 269 w 403"/>
                          <a:gd name="T45" fmla="*/ 262 h 277"/>
                          <a:gd name="T46" fmla="*/ 257 w 403"/>
                          <a:gd name="T47" fmla="*/ 253 h 277"/>
                          <a:gd name="T48" fmla="*/ 254 w 403"/>
                          <a:gd name="T49" fmla="*/ 268 h 277"/>
                          <a:gd name="T50" fmla="*/ 240 w 403"/>
                          <a:gd name="T51" fmla="*/ 277 h 277"/>
                          <a:gd name="T52" fmla="*/ 221 w 403"/>
                          <a:gd name="T53" fmla="*/ 275 h 277"/>
                          <a:gd name="T54" fmla="*/ 203 w 403"/>
                          <a:gd name="T55" fmla="*/ 264 h 277"/>
                          <a:gd name="T56" fmla="*/ 190 w 403"/>
                          <a:gd name="T57" fmla="*/ 258 h 277"/>
                          <a:gd name="T58" fmla="*/ 168 w 403"/>
                          <a:gd name="T59" fmla="*/ 258 h 277"/>
                          <a:gd name="T60" fmla="*/ 146 w 403"/>
                          <a:gd name="T61" fmla="*/ 253 h 277"/>
                          <a:gd name="T62" fmla="*/ 113 w 403"/>
                          <a:gd name="T63" fmla="*/ 246 h 277"/>
                          <a:gd name="T64" fmla="*/ 79 w 403"/>
                          <a:gd name="T65" fmla="*/ 236 h 277"/>
                          <a:gd name="T66" fmla="*/ 60 w 403"/>
                          <a:gd name="T67" fmla="*/ 232 h 277"/>
                          <a:gd name="T68" fmla="*/ 29 w 403"/>
                          <a:gd name="T69" fmla="*/ 228 h 277"/>
                          <a:gd name="T70" fmla="*/ 0 w 403"/>
                          <a:gd name="T71" fmla="*/ 225 h 277"/>
                          <a:gd name="T72" fmla="*/ 25 w 403"/>
                          <a:gd name="T73" fmla="*/ 63 h 277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</a:cxnLst>
                        <a:rect l="0" t="0" r="r" b="b"/>
                        <a:pathLst>
                          <a:path w="403" h="277">
                            <a:moveTo>
                              <a:pt x="25" y="63"/>
                            </a:moveTo>
                            <a:lnTo>
                              <a:pt x="96" y="63"/>
                            </a:lnTo>
                            <a:lnTo>
                              <a:pt x="221" y="0"/>
                            </a:lnTo>
                            <a:lnTo>
                              <a:pt x="250" y="7"/>
                            </a:lnTo>
                            <a:lnTo>
                              <a:pt x="297" y="39"/>
                            </a:lnTo>
                            <a:lnTo>
                              <a:pt x="341" y="82"/>
                            </a:lnTo>
                            <a:lnTo>
                              <a:pt x="385" y="129"/>
                            </a:lnTo>
                            <a:lnTo>
                              <a:pt x="403" y="166"/>
                            </a:lnTo>
                            <a:lnTo>
                              <a:pt x="399" y="181"/>
                            </a:lnTo>
                            <a:lnTo>
                              <a:pt x="387" y="190"/>
                            </a:lnTo>
                            <a:lnTo>
                              <a:pt x="371" y="186"/>
                            </a:lnTo>
                            <a:lnTo>
                              <a:pt x="353" y="175"/>
                            </a:lnTo>
                            <a:lnTo>
                              <a:pt x="378" y="205"/>
                            </a:lnTo>
                            <a:lnTo>
                              <a:pt x="374" y="228"/>
                            </a:lnTo>
                            <a:lnTo>
                              <a:pt x="356" y="238"/>
                            </a:lnTo>
                            <a:lnTo>
                              <a:pt x="330" y="232"/>
                            </a:lnTo>
                            <a:lnTo>
                              <a:pt x="309" y="220"/>
                            </a:lnTo>
                            <a:lnTo>
                              <a:pt x="291" y="210"/>
                            </a:lnTo>
                            <a:lnTo>
                              <a:pt x="309" y="234"/>
                            </a:lnTo>
                            <a:lnTo>
                              <a:pt x="310" y="254"/>
                            </a:lnTo>
                            <a:lnTo>
                              <a:pt x="298" y="265"/>
                            </a:lnTo>
                            <a:lnTo>
                              <a:pt x="282" y="268"/>
                            </a:lnTo>
                            <a:lnTo>
                              <a:pt x="269" y="262"/>
                            </a:lnTo>
                            <a:lnTo>
                              <a:pt x="257" y="253"/>
                            </a:lnTo>
                            <a:lnTo>
                              <a:pt x="254" y="268"/>
                            </a:lnTo>
                            <a:lnTo>
                              <a:pt x="240" y="277"/>
                            </a:lnTo>
                            <a:lnTo>
                              <a:pt x="221" y="275"/>
                            </a:lnTo>
                            <a:lnTo>
                              <a:pt x="203" y="264"/>
                            </a:lnTo>
                            <a:lnTo>
                              <a:pt x="190" y="258"/>
                            </a:lnTo>
                            <a:lnTo>
                              <a:pt x="168" y="258"/>
                            </a:lnTo>
                            <a:lnTo>
                              <a:pt x="146" y="253"/>
                            </a:lnTo>
                            <a:lnTo>
                              <a:pt x="113" y="246"/>
                            </a:lnTo>
                            <a:lnTo>
                              <a:pt x="79" y="236"/>
                            </a:lnTo>
                            <a:lnTo>
                              <a:pt x="60" y="232"/>
                            </a:lnTo>
                            <a:lnTo>
                              <a:pt x="29" y="228"/>
                            </a:lnTo>
                            <a:lnTo>
                              <a:pt x="0" y="225"/>
                            </a:lnTo>
                            <a:lnTo>
                              <a:pt x="25" y="63"/>
                            </a:lnTo>
                            <a:close/>
                          </a:path>
                        </a:pathLst>
                      </a:custGeom>
                      <a:solidFill>
                        <a:srgbClr val="FF9F9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grpSp>
                    <p:nvGrpSpPr>
                      <p:cNvPr id="266" name="Group 391"/>
                      <p:cNvGrpSpPr/>
                      <p:nvPr/>
                    </p:nvGrpSpPr>
                    <p:grpSpPr bwMode="auto">
                      <a:xfrm>
                        <a:off x="4981" y="2544"/>
                        <a:ext cx="21" cy="44"/>
                        <a:chOff x="4981" y="2544"/>
                        <a:chExt cx="21" cy="44"/>
                      </a:xfrm>
                    </p:grpSpPr>
                    <p:sp>
                      <p:nvSpPr>
                        <p:cNvPr id="267" name="Freeform 392"/>
                        <p:cNvSpPr/>
                        <p:nvPr/>
                      </p:nvSpPr>
                      <p:spPr bwMode="auto">
                        <a:xfrm>
                          <a:off x="4983" y="2545"/>
                          <a:ext cx="19" cy="40"/>
                        </a:xfrm>
                        <a:custGeom>
                          <a:avLst/>
                          <a:gdLst>
                            <a:gd name="T0" fmla="*/ 33 w 113"/>
                            <a:gd name="T1" fmla="*/ 0 h 203"/>
                            <a:gd name="T2" fmla="*/ 113 w 113"/>
                            <a:gd name="T3" fmla="*/ 10 h 203"/>
                            <a:gd name="T4" fmla="*/ 98 w 113"/>
                            <a:gd name="T5" fmla="*/ 176 h 203"/>
                            <a:gd name="T6" fmla="*/ 0 w 113"/>
                            <a:gd name="T7" fmla="*/ 203 h 203"/>
                            <a:gd name="T8" fmla="*/ 33 w 113"/>
                            <a:gd name="T9" fmla="*/ 0 h 203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</a:cxnLst>
                          <a:rect l="0" t="0" r="r" b="b"/>
                          <a:pathLst>
                            <a:path w="113" h="203">
                              <a:moveTo>
                                <a:pt x="33" y="0"/>
                              </a:moveTo>
                              <a:lnTo>
                                <a:pt x="113" y="10"/>
                              </a:lnTo>
                              <a:lnTo>
                                <a:pt x="98" y="176"/>
                              </a:lnTo>
                              <a:lnTo>
                                <a:pt x="0" y="203"/>
                              </a:lnTo>
                              <a:lnTo>
                                <a:pt x="33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7F7F7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  <p:sp>
                      <p:nvSpPr>
                        <p:cNvPr id="268" name="Freeform 393"/>
                        <p:cNvSpPr/>
                        <p:nvPr/>
                      </p:nvSpPr>
                      <p:spPr bwMode="auto">
                        <a:xfrm>
                          <a:off x="4981" y="2544"/>
                          <a:ext cx="20" cy="44"/>
                        </a:xfrm>
                        <a:custGeom>
                          <a:avLst/>
                          <a:gdLst>
                            <a:gd name="T0" fmla="*/ 43 w 123"/>
                            <a:gd name="T1" fmla="*/ 0 h 221"/>
                            <a:gd name="T2" fmla="*/ 123 w 123"/>
                            <a:gd name="T3" fmla="*/ 9 h 221"/>
                            <a:gd name="T4" fmla="*/ 103 w 123"/>
                            <a:gd name="T5" fmla="*/ 221 h 221"/>
                            <a:gd name="T6" fmla="*/ 0 w 123"/>
                            <a:gd name="T7" fmla="*/ 212 h 221"/>
                            <a:gd name="T8" fmla="*/ 43 w 123"/>
                            <a:gd name="T9" fmla="*/ 0 h 221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</a:cxnLst>
                          <a:rect l="0" t="0" r="r" b="b"/>
                          <a:pathLst>
                            <a:path w="123" h="221">
                              <a:moveTo>
                                <a:pt x="43" y="0"/>
                              </a:moveTo>
                              <a:lnTo>
                                <a:pt x="123" y="9"/>
                              </a:lnTo>
                              <a:lnTo>
                                <a:pt x="103" y="221"/>
                              </a:lnTo>
                              <a:lnTo>
                                <a:pt x="0" y="212"/>
                              </a:lnTo>
                              <a:lnTo>
                                <a:pt x="43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</p:grpSp>
                </p:grpSp>
                <p:grpSp>
                  <p:nvGrpSpPr>
                    <p:cNvPr id="261" name="Group 394"/>
                    <p:cNvGrpSpPr/>
                    <p:nvPr/>
                  </p:nvGrpSpPr>
                  <p:grpSpPr bwMode="auto">
                    <a:xfrm>
                      <a:off x="5029" y="2558"/>
                      <a:ext cx="25" cy="26"/>
                      <a:chOff x="5029" y="2558"/>
                      <a:chExt cx="25" cy="26"/>
                    </a:xfrm>
                  </p:grpSpPr>
                  <p:sp>
                    <p:nvSpPr>
                      <p:cNvPr id="262" name="Freeform 395"/>
                      <p:cNvSpPr/>
                      <p:nvPr/>
                    </p:nvSpPr>
                    <p:spPr bwMode="auto">
                      <a:xfrm>
                        <a:off x="5045" y="2558"/>
                        <a:ext cx="9" cy="10"/>
                      </a:xfrm>
                      <a:custGeom>
                        <a:avLst/>
                        <a:gdLst>
                          <a:gd name="T0" fmla="*/ 52 w 52"/>
                          <a:gd name="T1" fmla="*/ 54 h 54"/>
                          <a:gd name="T2" fmla="*/ 0 w 52"/>
                          <a:gd name="T3" fmla="*/ 0 h 54"/>
                          <a:gd name="T4" fmla="*/ 41 w 52"/>
                          <a:gd name="T5" fmla="*/ 54 h 54"/>
                          <a:gd name="T6" fmla="*/ 52 w 52"/>
                          <a:gd name="T7" fmla="*/ 54 h 5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</a:cxnLst>
                        <a:rect l="0" t="0" r="r" b="b"/>
                        <a:pathLst>
                          <a:path w="52" h="54">
                            <a:moveTo>
                              <a:pt x="52" y="54"/>
                            </a:moveTo>
                            <a:lnTo>
                              <a:pt x="0" y="0"/>
                            </a:lnTo>
                            <a:lnTo>
                              <a:pt x="41" y="54"/>
                            </a:lnTo>
                            <a:lnTo>
                              <a:pt x="52" y="54"/>
                            </a:lnTo>
                            <a:close/>
                          </a:path>
                        </a:pathLst>
                      </a:custGeom>
                      <a:solidFill>
                        <a:srgbClr val="BF7F3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263" name="Freeform 396"/>
                      <p:cNvSpPr/>
                      <p:nvPr/>
                    </p:nvSpPr>
                    <p:spPr bwMode="auto">
                      <a:xfrm>
                        <a:off x="5034" y="2565"/>
                        <a:ext cx="12" cy="12"/>
                      </a:xfrm>
                      <a:custGeom>
                        <a:avLst/>
                        <a:gdLst>
                          <a:gd name="T0" fmla="*/ 0 w 69"/>
                          <a:gd name="T1" fmla="*/ 0 h 58"/>
                          <a:gd name="T2" fmla="*/ 39 w 69"/>
                          <a:gd name="T3" fmla="*/ 32 h 58"/>
                          <a:gd name="T4" fmla="*/ 69 w 69"/>
                          <a:gd name="T5" fmla="*/ 54 h 58"/>
                          <a:gd name="T6" fmla="*/ 58 w 69"/>
                          <a:gd name="T7" fmla="*/ 58 h 58"/>
                          <a:gd name="T8" fmla="*/ 30 w 69"/>
                          <a:gd name="T9" fmla="*/ 34 h 58"/>
                          <a:gd name="T10" fmla="*/ 0 w 69"/>
                          <a:gd name="T11" fmla="*/ 0 h 58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</a:cxnLst>
                        <a:rect l="0" t="0" r="r" b="b"/>
                        <a:pathLst>
                          <a:path w="69" h="58">
                            <a:moveTo>
                              <a:pt x="0" y="0"/>
                            </a:moveTo>
                            <a:lnTo>
                              <a:pt x="39" y="32"/>
                            </a:lnTo>
                            <a:lnTo>
                              <a:pt x="69" y="54"/>
                            </a:lnTo>
                            <a:lnTo>
                              <a:pt x="58" y="58"/>
                            </a:lnTo>
                            <a:lnTo>
                              <a:pt x="30" y="34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BF7F3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264" name="Freeform 397"/>
                      <p:cNvSpPr/>
                      <p:nvPr/>
                    </p:nvSpPr>
                    <p:spPr bwMode="auto">
                      <a:xfrm>
                        <a:off x="5029" y="2578"/>
                        <a:ext cx="8" cy="6"/>
                      </a:xfrm>
                      <a:custGeom>
                        <a:avLst/>
                        <a:gdLst>
                          <a:gd name="T0" fmla="*/ 48 w 48"/>
                          <a:gd name="T1" fmla="*/ 29 h 29"/>
                          <a:gd name="T2" fmla="*/ 0 w 48"/>
                          <a:gd name="T3" fmla="*/ 2 h 29"/>
                          <a:gd name="T4" fmla="*/ 11 w 48"/>
                          <a:gd name="T5" fmla="*/ 0 h 29"/>
                          <a:gd name="T6" fmla="*/ 48 w 48"/>
                          <a:gd name="T7" fmla="*/ 29 h 29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</a:cxnLst>
                        <a:rect l="0" t="0" r="r" b="b"/>
                        <a:pathLst>
                          <a:path w="48" h="29">
                            <a:moveTo>
                              <a:pt x="48" y="29"/>
                            </a:moveTo>
                            <a:lnTo>
                              <a:pt x="0" y="2"/>
                            </a:lnTo>
                            <a:lnTo>
                              <a:pt x="11" y="0"/>
                            </a:lnTo>
                            <a:lnTo>
                              <a:pt x="48" y="29"/>
                            </a:lnTo>
                            <a:close/>
                          </a:path>
                        </a:pathLst>
                      </a:custGeom>
                      <a:solidFill>
                        <a:srgbClr val="BF7F3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</p:grpSp>
              <p:grpSp>
                <p:nvGrpSpPr>
                  <p:cNvPr id="253" name="Group 398"/>
                  <p:cNvGrpSpPr/>
                  <p:nvPr/>
                </p:nvGrpSpPr>
                <p:grpSpPr bwMode="auto">
                  <a:xfrm>
                    <a:off x="5016" y="2519"/>
                    <a:ext cx="48" cy="49"/>
                    <a:chOff x="5016" y="2519"/>
                    <a:chExt cx="48" cy="49"/>
                  </a:xfrm>
                </p:grpSpPr>
                <p:grpSp>
                  <p:nvGrpSpPr>
                    <p:cNvPr id="254" name="Group 399"/>
                    <p:cNvGrpSpPr/>
                    <p:nvPr/>
                  </p:nvGrpSpPr>
                  <p:grpSpPr bwMode="auto">
                    <a:xfrm>
                      <a:off x="5016" y="2519"/>
                      <a:ext cx="48" cy="49"/>
                      <a:chOff x="5016" y="2519"/>
                      <a:chExt cx="48" cy="49"/>
                    </a:xfrm>
                  </p:grpSpPr>
                  <p:sp>
                    <p:nvSpPr>
                      <p:cNvPr id="258" name="Freeform 400"/>
                      <p:cNvSpPr/>
                      <p:nvPr/>
                    </p:nvSpPr>
                    <p:spPr bwMode="auto">
                      <a:xfrm>
                        <a:off x="5016" y="2519"/>
                        <a:ext cx="44" cy="49"/>
                      </a:xfrm>
                      <a:custGeom>
                        <a:avLst/>
                        <a:gdLst>
                          <a:gd name="T0" fmla="*/ 104 w 262"/>
                          <a:gd name="T1" fmla="*/ 15 h 244"/>
                          <a:gd name="T2" fmla="*/ 118 w 262"/>
                          <a:gd name="T3" fmla="*/ 11 h 244"/>
                          <a:gd name="T4" fmla="*/ 137 w 262"/>
                          <a:gd name="T5" fmla="*/ 17 h 244"/>
                          <a:gd name="T6" fmla="*/ 165 w 262"/>
                          <a:gd name="T7" fmla="*/ 0 h 244"/>
                          <a:gd name="T8" fmla="*/ 179 w 262"/>
                          <a:gd name="T9" fmla="*/ 5 h 244"/>
                          <a:gd name="T10" fmla="*/ 192 w 262"/>
                          <a:gd name="T11" fmla="*/ 24 h 244"/>
                          <a:gd name="T12" fmla="*/ 210 w 262"/>
                          <a:gd name="T13" fmla="*/ 30 h 244"/>
                          <a:gd name="T14" fmla="*/ 229 w 262"/>
                          <a:gd name="T15" fmla="*/ 36 h 244"/>
                          <a:gd name="T16" fmla="*/ 246 w 262"/>
                          <a:gd name="T17" fmla="*/ 83 h 244"/>
                          <a:gd name="T18" fmla="*/ 258 w 262"/>
                          <a:gd name="T19" fmla="*/ 157 h 244"/>
                          <a:gd name="T20" fmla="*/ 245 w 262"/>
                          <a:gd name="T21" fmla="*/ 176 h 244"/>
                          <a:gd name="T22" fmla="*/ 227 w 262"/>
                          <a:gd name="T23" fmla="*/ 161 h 244"/>
                          <a:gd name="T24" fmla="*/ 221 w 262"/>
                          <a:gd name="T25" fmla="*/ 141 h 244"/>
                          <a:gd name="T26" fmla="*/ 204 w 262"/>
                          <a:gd name="T27" fmla="*/ 100 h 244"/>
                          <a:gd name="T28" fmla="*/ 195 w 262"/>
                          <a:gd name="T29" fmla="*/ 73 h 244"/>
                          <a:gd name="T30" fmla="*/ 188 w 262"/>
                          <a:gd name="T31" fmla="*/ 153 h 244"/>
                          <a:gd name="T32" fmla="*/ 189 w 262"/>
                          <a:gd name="T33" fmla="*/ 228 h 244"/>
                          <a:gd name="T34" fmla="*/ 170 w 262"/>
                          <a:gd name="T35" fmla="*/ 244 h 244"/>
                          <a:gd name="T36" fmla="*/ 152 w 262"/>
                          <a:gd name="T37" fmla="*/ 236 h 244"/>
                          <a:gd name="T38" fmla="*/ 141 w 262"/>
                          <a:gd name="T39" fmla="*/ 205 h 244"/>
                          <a:gd name="T40" fmla="*/ 137 w 262"/>
                          <a:gd name="T41" fmla="*/ 105 h 244"/>
                          <a:gd name="T42" fmla="*/ 128 w 262"/>
                          <a:gd name="T43" fmla="*/ 90 h 244"/>
                          <a:gd name="T44" fmla="*/ 113 w 262"/>
                          <a:gd name="T45" fmla="*/ 123 h 244"/>
                          <a:gd name="T46" fmla="*/ 117 w 262"/>
                          <a:gd name="T47" fmla="*/ 167 h 244"/>
                          <a:gd name="T48" fmla="*/ 121 w 262"/>
                          <a:gd name="T49" fmla="*/ 212 h 244"/>
                          <a:gd name="T50" fmla="*/ 109 w 262"/>
                          <a:gd name="T51" fmla="*/ 229 h 244"/>
                          <a:gd name="T52" fmla="*/ 87 w 262"/>
                          <a:gd name="T53" fmla="*/ 231 h 244"/>
                          <a:gd name="T54" fmla="*/ 74 w 262"/>
                          <a:gd name="T55" fmla="*/ 199 h 244"/>
                          <a:gd name="T56" fmla="*/ 74 w 262"/>
                          <a:gd name="T57" fmla="*/ 98 h 244"/>
                          <a:gd name="T58" fmla="*/ 57 w 262"/>
                          <a:gd name="T59" fmla="*/ 115 h 244"/>
                          <a:gd name="T60" fmla="*/ 48 w 262"/>
                          <a:gd name="T61" fmla="*/ 145 h 244"/>
                          <a:gd name="T62" fmla="*/ 41 w 262"/>
                          <a:gd name="T63" fmla="*/ 188 h 244"/>
                          <a:gd name="T64" fmla="*/ 29 w 262"/>
                          <a:gd name="T65" fmla="*/ 202 h 244"/>
                          <a:gd name="T66" fmla="*/ 6 w 262"/>
                          <a:gd name="T67" fmla="*/ 199 h 244"/>
                          <a:gd name="T68" fmla="*/ 1 w 262"/>
                          <a:gd name="T69" fmla="*/ 160 h 244"/>
                          <a:gd name="T70" fmla="*/ 14 w 262"/>
                          <a:gd name="T71" fmla="*/ 103 h 244"/>
                          <a:gd name="T72" fmla="*/ 55 w 262"/>
                          <a:gd name="T73" fmla="*/ 25 h 244"/>
                          <a:gd name="T74" fmla="*/ 70 w 262"/>
                          <a:gd name="T75" fmla="*/ 24 h 244"/>
                          <a:gd name="T76" fmla="*/ 91 w 262"/>
                          <a:gd name="T77" fmla="*/ 33 h 24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</a:cxnLst>
                        <a:rect l="0" t="0" r="r" b="b"/>
                        <a:pathLst>
                          <a:path w="262" h="244">
                            <a:moveTo>
                              <a:pt x="91" y="33"/>
                            </a:moveTo>
                            <a:lnTo>
                              <a:pt x="104" y="15"/>
                            </a:lnTo>
                            <a:lnTo>
                              <a:pt x="110" y="10"/>
                            </a:lnTo>
                            <a:lnTo>
                              <a:pt x="118" y="11"/>
                            </a:lnTo>
                            <a:lnTo>
                              <a:pt x="127" y="15"/>
                            </a:lnTo>
                            <a:lnTo>
                              <a:pt x="137" y="17"/>
                            </a:lnTo>
                            <a:lnTo>
                              <a:pt x="159" y="3"/>
                            </a:lnTo>
                            <a:lnTo>
                              <a:pt x="165" y="0"/>
                            </a:lnTo>
                            <a:lnTo>
                              <a:pt x="174" y="1"/>
                            </a:lnTo>
                            <a:lnTo>
                              <a:pt x="179" y="5"/>
                            </a:lnTo>
                            <a:lnTo>
                              <a:pt x="186" y="12"/>
                            </a:lnTo>
                            <a:lnTo>
                              <a:pt x="192" y="24"/>
                            </a:lnTo>
                            <a:lnTo>
                              <a:pt x="201" y="27"/>
                            </a:lnTo>
                            <a:lnTo>
                              <a:pt x="210" y="30"/>
                            </a:lnTo>
                            <a:lnTo>
                              <a:pt x="222" y="32"/>
                            </a:lnTo>
                            <a:lnTo>
                              <a:pt x="229" y="36"/>
                            </a:lnTo>
                            <a:lnTo>
                              <a:pt x="237" y="59"/>
                            </a:lnTo>
                            <a:lnTo>
                              <a:pt x="246" y="83"/>
                            </a:lnTo>
                            <a:lnTo>
                              <a:pt x="262" y="113"/>
                            </a:lnTo>
                            <a:lnTo>
                              <a:pt x="258" y="157"/>
                            </a:lnTo>
                            <a:lnTo>
                              <a:pt x="258" y="173"/>
                            </a:lnTo>
                            <a:lnTo>
                              <a:pt x="245" y="176"/>
                            </a:lnTo>
                            <a:lnTo>
                              <a:pt x="235" y="171"/>
                            </a:lnTo>
                            <a:lnTo>
                              <a:pt x="227" y="161"/>
                            </a:lnTo>
                            <a:lnTo>
                              <a:pt x="223" y="151"/>
                            </a:lnTo>
                            <a:lnTo>
                              <a:pt x="221" y="141"/>
                            </a:lnTo>
                            <a:lnTo>
                              <a:pt x="219" y="126"/>
                            </a:lnTo>
                            <a:lnTo>
                              <a:pt x="204" y="100"/>
                            </a:lnTo>
                            <a:lnTo>
                              <a:pt x="201" y="92"/>
                            </a:lnTo>
                            <a:lnTo>
                              <a:pt x="195" y="73"/>
                            </a:lnTo>
                            <a:lnTo>
                              <a:pt x="186" y="113"/>
                            </a:lnTo>
                            <a:lnTo>
                              <a:pt x="188" y="153"/>
                            </a:lnTo>
                            <a:lnTo>
                              <a:pt x="188" y="213"/>
                            </a:lnTo>
                            <a:lnTo>
                              <a:pt x="189" y="228"/>
                            </a:lnTo>
                            <a:lnTo>
                              <a:pt x="182" y="240"/>
                            </a:lnTo>
                            <a:lnTo>
                              <a:pt x="170" y="244"/>
                            </a:lnTo>
                            <a:lnTo>
                              <a:pt x="159" y="242"/>
                            </a:lnTo>
                            <a:lnTo>
                              <a:pt x="152" y="236"/>
                            </a:lnTo>
                            <a:lnTo>
                              <a:pt x="146" y="224"/>
                            </a:lnTo>
                            <a:lnTo>
                              <a:pt x="141" y="205"/>
                            </a:lnTo>
                            <a:lnTo>
                              <a:pt x="141" y="145"/>
                            </a:lnTo>
                            <a:lnTo>
                              <a:pt x="137" y="105"/>
                            </a:lnTo>
                            <a:lnTo>
                              <a:pt x="139" y="68"/>
                            </a:lnTo>
                            <a:lnTo>
                              <a:pt x="128" y="90"/>
                            </a:lnTo>
                            <a:lnTo>
                              <a:pt x="118" y="108"/>
                            </a:lnTo>
                            <a:lnTo>
                              <a:pt x="113" y="123"/>
                            </a:lnTo>
                            <a:lnTo>
                              <a:pt x="115" y="141"/>
                            </a:lnTo>
                            <a:lnTo>
                              <a:pt x="117" y="167"/>
                            </a:lnTo>
                            <a:lnTo>
                              <a:pt x="121" y="202"/>
                            </a:lnTo>
                            <a:lnTo>
                              <a:pt x="121" y="212"/>
                            </a:lnTo>
                            <a:lnTo>
                              <a:pt x="117" y="220"/>
                            </a:lnTo>
                            <a:lnTo>
                              <a:pt x="109" y="229"/>
                            </a:lnTo>
                            <a:lnTo>
                              <a:pt x="98" y="234"/>
                            </a:lnTo>
                            <a:lnTo>
                              <a:pt x="87" y="231"/>
                            </a:lnTo>
                            <a:lnTo>
                              <a:pt x="81" y="220"/>
                            </a:lnTo>
                            <a:lnTo>
                              <a:pt x="74" y="199"/>
                            </a:lnTo>
                            <a:lnTo>
                              <a:pt x="69" y="126"/>
                            </a:lnTo>
                            <a:lnTo>
                              <a:pt x="74" y="98"/>
                            </a:lnTo>
                            <a:lnTo>
                              <a:pt x="63" y="106"/>
                            </a:lnTo>
                            <a:lnTo>
                              <a:pt x="57" y="115"/>
                            </a:lnTo>
                            <a:lnTo>
                              <a:pt x="51" y="131"/>
                            </a:lnTo>
                            <a:lnTo>
                              <a:pt x="48" y="145"/>
                            </a:lnTo>
                            <a:lnTo>
                              <a:pt x="44" y="163"/>
                            </a:lnTo>
                            <a:lnTo>
                              <a:pt x="41" y="188"/>
                            </a:lnTo>
                            <a:lnTo>
                              <a:pt x="37" y="197"/>
                            </a:lnTo>
                            <a:lnTo>
                              <a:pt x="29" y="202"/>
                            </a:lnTo>
                            <a:lnTo>
                              <a:pt x="17" y="203"/>
                            </a:lnTo>
                            <a:lnTo>
                              <a:pt x="6" y="199"/>
                            </a:lnTo>
                            <a:lnTo>
                              <a:pt x="0" y="192"/>
                            </a:lnTo>
                            <a:lnTo>
                              <a:pt x="1" y="160"/>
                            </a:lnTo>
                            <a:lnTo>
                              <a:pt x="8" y="127"/>
                            </a:lnTo>
                            <a:lnTo>
                              <a:pt x="14" y="103"/>
                            </a:lnTo>
                            <a:lnTo>
                              <a:pt x="30" y="67"/>
                            </a:lnTo>
                            <a:lnTo>
                              <a:pt x="55" y="25"/>
                            </a:lnTo>
                            <a:lnTo>
                              <a:pt x="62" y="24"/>
                            </a:lnTo>
                            <a:lnTo>
                              <a:pt x="70" y="24"/>
                            </a:lnTo>
                            <a:lnTo>
                              <a:pt x="80" y="27"/>
                            </a:lnTo>
                            <a:lnTo>
                              <a:pt x="91" y="33"/>
                            </a:lnTo>
                            <a:close/>
                          </a:path>
                        </a:pathLst>
                      </a:custGeom>
                      <a:solidFill>
                        <a:srgbClr val="FF9F7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259" name="Freeform 401"/>
                      <p:cNvSpPr/>
                      <p:nvPr/>
                    </p:nvSpPr>
                    <p:spPr bwMode="auto">
                      <a:xfrm>
                        <a:off x="5054" y="2525"/>
                        <a:ext cx="10" cy="14"/>
                      </a:xfrm>
                      <a:custGeom>
                        <a:avLst/>
                        <a:gdLst>
                          <a:gd name="T0" fmla="*/ 0 w 61"/>
                          <a:gd name="T1" fmla="*/ 29 h 73"/>
                          <a:gd name="T2" fmla="*/ 5 w 61"/>
                          <a:gd name="T3" fmla="*/ 20 h 73"/>
                          <a:gd name="T4" fmla="*/ 15 w 61"/>
                          <a:gd name="T5" fmla="*/ 5 h 73"/>
                          <a:gd name="T6" fmla="*/ 25 w 61"/>
                          <a:gd name="T7" fmla="*/ 0 h 73"/>
                          <a:gd name="T8" fmla="*/ 38 w 61"/>
                          <a:gd name="T9" fmla="*/ 2 h 73"/>
                          <a:gd name="T10" fmla="*/ 47 w 61"/>
                          <a:gd name="T11" fmla="*/ 6 h 73"/>
                          <a:gd name="T12" fmla="*/ 59 w 61"/>
                          <a:gd name="T13" fmla="*/ 15 h 73"/>
                          <a:gd name="T14" fmla="*/ 61 w 61"/>
                          <a:gd name="T15" fmla="*/ 24 h 73"/>
                          <a:gd name="T16" fmla="*/ 61 w 61"/>
                          <a:gd name="T17" fmla="*/ 37 h 73"/>
                          <a:gd name="T18" fmla="*/ 59 w 61"/>
                          <a:gd name="T19" fmla="*/ 46 h 73"/>
                          <a:gd name="T20" fmla="*/ 55 w 61"/>
                          <a:gd name="T21" fmla="*/ 56 h 73"/>
                          <a:gd name="T22" fmla="*/ 42 w 61"/>
                          <a:gd name="T23" fmla="*/ 62 h 73"/>
                          <a:gd name="T24" fmla="*/ 18 w 61"/>
                          <a:gd name="T25" fmla="*/ 73 h 73"/>
                          <a:gd name="T26" fmla="*/ 0 w 61"/>
                          <a:gd name="T27" fmla="*/ 29 h 7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</a:cxnLst>
                        <a:rect l="0" t="0" r="r" b="b"/>
                        <a:pathLst>
                          <a:path w="61" h="73">
                            <a:moveTo>
                              <a:pt x="0" y="29"/>
                            </a:moveTo>
                            <a:lnTo>
                              <a:pt x="5" y="20"/>
                            </a:lnTo>
                            <a:lnTo>
                              <a:pt x="15" y="5"/>
                            </a:lnTo>
                            <a:lnTo>
                              <a:pt x="25" y="0"/>
                            </a:lnTo>
                            <a:lnTo>
                              <a:pt x="38" y="2"/>
                            </a:lnTo>
                            <a:lnTo>
                              <a:pt x="47" y="6"/>
                            </a:lnTo>
                            <a:lnTo>
                              <a:pt x="59" y="15"/>
                            </a:lnTo>
                            <a:lnTo>
                              <a:pt x="61" y="24"/>
                            </a:lnTo>
                            <a:lnTo>
                              <a:pt x="61" y="37"/>
                            </a:lnTo>
                            <a:lnTo>
                              <a:pt x="59" y="46"/>
                            </a:lnTo>
                            <a:lnTo>
                              <a:pt x="55" y="56"/>
                            </a:lnTo>
                            <a:lnTo>
                              <a:pt x="42" y="62"/>
                            </a:lnTo>
                            <a:lnTo>
                              <a:pt x="18" y="73"/>
                            </a:lnTo>
                            <a:lnTo>
                              <a:pt x="0" y="29"/>
                            </a:lnTo>
                            <a:close/>
                          </a:path>
                        </a:pathLst>
                      </a:custGeom>
                      <a:solidFill>
                        <a:srgbClr val="FF9F7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255" name="Group 402"/>
                    <p:cNvGrpSpPr/>
                    <p:nvPr/>
                  </p:nvGrpSpPr>
                  <p:grpSpPr bwMode="auto">
                    <a:xfrm>
                      <a:off x="5016" y="2519"/>
                      <a:ext cx="48" cy="48"/>
                      <a:chOff x="5016" y="2519"/>
                      <a:chExt cx="48" cy="48"/>
                    </a:xfrm>
                  </p:grpSpPr>
                  <p:sp>
                    <p:nvSpPr>
                      <p:cNvPr id="256" name="Freeform 403"/>
                      <p:cNvSpPr/>
                      <p:nvPr/>
                    </p:nvSpPr>
                    <p:spPr bwMode="auto">
                      <a:xfrm>
                        <a:off x="5016" y="2519"/>
                        <a:ext cx="43" cy="48"/>
                      </a:xfrm>
                      <a:custGeom>
                        <a:avLst/>
                        <a:gdLst>
                          <a:gd name="T0" fmla="*/ 103 w 261"/>
                          <a:gd name="T1" fmla="*/ 15 h 244"/>
                          <a:gd name="T2" fmla="*/ 118 w 261"/>
                          <a:gd name="T3" fmla="*/ 12 h 244"/>
                          <a:gd name="T4" fmla="*/ 137 w 261"/>
                          <a:gd name="T5" fmla="*/ 18 h 244"/>
                          <a:gd name="T6" fmla="*/ 164 w 261"/>
                          <a:gd name="T7" fmla="*/ 0 h 244"/>
                          <a:gd name="T8" fmla="*/ 179 w 261"/>
                          <a:gd name="T9" fmla="*/ 5 h 244"/>
                          <a:gd name="T10" fmla="*/ 192 w 261"/>
                          <a:gd name="T11" fmla="*/ 24 h 244"/>
                          <a:gd name="T12" fmla="*/ 210 w 261"/>
                          <a:gd name="T13" fmla="*/ 30 h 244"/>
                          <a:gd name="T14" fmla="*/ 229 w 261"/>
                          <a:gd name="T15" fmla="*/ 36 h 244"/>
                          <a:gd name="T16" fmla="*/ 246 w 261"/>
                          <a:gd name="T17" fmla="*/ 83 h 244"/>
                          <a:gd name="T18" fmla="*/ 258 w 261"/>
                          <a:gd name="T19" fmla="*/ 157 h 244"/>
                          <a:gd name="T20" fmla="*/ 245 w 261"/>
                          <a:gd name="T21" fmla="*/ 176 h 244"/>
                          <a:gd name="T22" fmla="*/ 227 w 261"/>
                          <a:gd name="T23" fmla="*/ 161 h 244"/>
                          <a:gd name="T24" fmla="*/ 221 w 261"/>
                          <a:gd name="T25" fmla="*/ 141 h 244"/>
                          <a:gd name="T26" fmla="*/ 204 w 261"/>
                          <a:gd name="T27" fmla="*/ 101 h 244"/>
                          <a:gd name="T28" fmla="*/ 194 w 261"/>
                          <a:gd name="T29" fmla="*/ 73 h 244"/>
                          <a:gd name="T30" fmla="*/ 187 w 261"/>
                          <a:gd name="T31" fmla="*/ 154 h 244"/>
                          <a:gd name="T32" fmla="*/ 188 w 261"/>
                          <a:gd name="T33" fmla="*/ 228 h 244"/>
                          <a:gd name="T34" fmla="*/ 169 w 261"/>
                          <a:gd name="T35" fmla="*/ 244 h 244"/>
                          <a:gd name="T36" fmla="*/ 151 w 261"/>
                          <a:gd name="T37" fmla="*/ 237 h 244"/>
                          <a:gd name="T38" fmla="*/ 141 w 261"/>
                          <a:gd name="T39" fmla="*/ 206 h 244"/>
                          <a:gd name="T40" fmla="*/ 137 w 261"/>
                          <a:gd name="T41" fmla="*/ 105 h 244"/>
                          <a:gd name="T42" fmla="*/ 127 w 261"/>
                          <a:gd name="T43" fmla="*/ 91 h 244"/>
                          <a:gd name="T44" fmla="*/ 113 w 261"/>
                          <a:gd name="T45" fmla="*/ 123 h 244"/>
                          <a:gd name="T46" fmla="*/ 117 w 261"/>
                          <a:gd name="T47" fmla="*/ 167 h 244"/>
                          <a:gd name="T48" fmla="*/ 120 w 261"/>
                          <a:gd name="T49" fmla="*/ 212 h 244"/>
                          <a:gd name="T50" fmla="*/ 108 w 261"/>
                          <a:gd name="T51" fmla="*/ 229 h 244"/>
                          <a:gd name="T52" fmla="*/ 87 w 261"/>
                          <a:gd name="T53" fmla="*/ 232 h 244"/>
                          <a:gd name="T54" fmla="*/ 74 w 261"/>
                          <a:gd name="T55" fmla="*/ 199 h 244"/>
                          <a:gd name="T56" fmla="*/ 74 w 261"/>
                          <a:gd name="T57" fmla="*/ 98 h 244"/>
                          <a:gd name="T58" fmla="*/ 57 w 261"/>
                          <a:gd name="T59" fmla="*/ 115 h 244"/>
                          <a:gd name="T60" fmla="*/ 47 w 261"/>
                          <a:gd name="T61" fmla="*/ 145 h 244"/>
                          <a:gd name="T62" fmla="*/ 40 w 261"/>
                          <a:gd name="T63" fmla="*/ 188 h 244"/>
                          <a:gd name="T64" fmla="*/ 28 w 261"/>
                          <a:gd name="T65" fmla="*/ 202 h 244"/>
                          <a:gd name="T66" fmla="*/ 6 w 261"/>
                          <a:gd name="T67" fmla="*/ 199 h 244"/>
                          <a:gd name="T68" fmla="*/ 1 w 261"/>
                          <a:gd name="T69" fmla="*/ 160 h 244"/>
                          <a:gd name="T70" fmla="*/ 14 w 261"/>
                          <a:gd name="T71" fmla="*/ 103 h 244"/>
                          <a:gd name="T72" fmla="*/ 55 w 261"/>
                          <a:gd name="T73" fmla="*/ 25 h 244"/>
                          <a:gd name="T74" fmla="*/ 70 w 261"/>
                          <a:gd name="T75" fmla="*/ 24 h 244"/>
                          <a:gd name="T76" fmla="*/ 90 w 261"/>
                          <a:gd name="T77" fmla="*/ 34 h 24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</a:cxnLst>
                        <a:rect l="0" t="0" r="r" b="b"/>
                        <a:pathLst>
                          <a:path w="261" h="244">
                            <a:moveTo>
                              <a:pt x="90" y="34"/>
                            </a:moveTo>
                            <a:lnTo>
                              <a:pt x="103" y="15"/>
                            </a:lnTo>
                            <a:lnTo>
                              <a:pt x="109" y="10"/>
                            </a:lnTo>
                            <a:lnTo>
                              <a:pt x="118" y="12"/>
                            </a:lnTo>
                            <a:lnTo>
                              <a:pt x="126" y="15"/>
                            </a:lnTo>
                            <a:lnTo>
                              <a:pt x="137" y="18"/>
                            </a:lnTo>
                            <a:lnTo>
                              <a:pt x="158" y="3"/>
                            </a:lnTo>
                            <a:lnTo>
                              <a:pt x="164" y="0"/>
                            </a:lnTo>
                            <a:lnTo>
                              <a:pt x="174" y="2"/>
                            </a:lnTo>
                            <a:lnTo>
                              <a:pt x="179" y="5"/>
                            </a:lnTo>
                            <a:lnTo>
                              <a:pt x="186" y="13"/>
                            </a:lnTo>
                            <a:lnTo>
                              <a:pt x="192" y="24"/>
                            </a:lnTo>
                            <a:lnTo>
                              <a:pt x="200" y="28"/>
                            </a:lnTo>
                            <a:lnTo>
                              <a:pt x="210" y="30"/>
                            </a:lnTo>
                            <a:lnTo>
                              <a:pt x="222" y="33"/>
                            </a:lnTo>
                            <a:lnTo>
                              <a:pt x="229" y="36"/>
                            </a:lnTo>
                            <a:lnTo>
                              <a:pt x="236" y="60"/>
                            </a:lnTo>
                            <a:lnTo>
                              <a:pt x="246" y="83"/>
                            </a:lnTo>
                            <a:lnTo>
                              <a:pt x="261" y="113"/>
                            </a:lnTo>
                            <a:lnTo>
                              <a:pt x="258" y="157"/>
                            </a:lnTo>
                            <a:lnTo>
                              <a:pt x="258" y="173"/>
                            </a:lnTo>
                            <a:lnTo>
                              <a:pt x="245" y="176"/>
                            </a:lnTo>
                            <a:lnTo>
                              <a:pt x="235" y="171"/>
                            </a:lnTo>
                            <a:lnTo>
                              <a:pt x="227" y="161"/>
                            </a:lnTo>
                            <a:lnTo>
                              <a:pt x="223" y="151"/>
                            </a:lnTo>
                            <a:lnTo>
                              <a:pt x="221" y="141"/>
                            </a:lnTo>
                            <a:lnTo>
                              <a:pt x="218" y="127"/>
                            </a:lnTo>
                            <a:lnTo>
                              <a:pt x="204" y="101"/>
                            </a:lnTo>
                            <a:lnTo>
                              <a:pt x="200" y="92"/>
                            </a:lnTo>
                            <a:lnTo>
                              <a:pt x="194" y="73"/>
                            </a:lnTo>
                            <a:lnTo>
                              <a:pt x="186" y="113"/>
                            </a:lnTo>
                            <a:lnTo>
                              <a:pt x="187" y="154"/>
                            </a:lnTo>
                            <a:lnTo>
                              <a:pt x="187" y="213"/>
                            </a:lnTo>
                            <a:lnTo>
                              <a:pt x="188" y="228"/>
                            </a:lnTo>
                            <a:lnTo>
                              <a:pt x="181" y="240"/>
                            </a:lnTo>
                            <a:lnTo>
                              <a:pt x="169" y="244"/>
                            </a:lnTo>
                            <a:lnTo>
                              <a:pt x="158" y="243"/>
                            </a:lnTo>
                            <a:lnTo>
                              <a:pt x="151" y="237"/>
                            </a:lnTo>
                            <a:lnTo>
                              <a:pt x="145" y="224"/>
                            </a:lnTo>
                            <a:lnTo>
                              <a:pt x="141" y="206"/>
                            </a:lnTo>
                            <a:lnTo>
                              <a:pt x="141" y="145"/>
                            </a:lnTo>
                            <a:lnTo>
                              <a:pt x="137" y="105"/>
                            </a:lnTo>
                            <a:lnTo>
                              <a:pt x="138" y="68"/>
                            </a:lnTo>
                            <a:lnTo>
                              <a:pt x="127" y="91"/>
                            </a:lnTo>
                            <a:lnTo>
                              <a:pt x="118" y="108"/>
                            </a:lnTo>
                            <a:lnTo>
                              <a:pt x="113" y="123"/>
                            </a:lnTo>
                            <a:lnTo>
                              <a:pt x="114" y="141"/>
                            </a:lnTo>
                            <a:lnTo>
                              <a:pt x="117" y="167"/>
                            </a:lnTo>
                            <a:lnTo>
                              <a:pt x="120" y="202"/>
                            </a:lnTo>
                            <a:lnTo>
                              <a:pt x="120" y="212"/>
                            </a:lnTo>
                            <a:lnTo>
                              <a:pt x="117" y="220"/>
                            </a:lnTo>
                            <a:lnTo>
                              <a:pt x="108" y="229"/>
                            </a:lnTo>
                            <a:lnTo>
                              <a:pt x="98" y="234"/>
                            </a:lnTo>
                            <a:lnTo>
                              <a:pt x="87" y="232"/>
                            </a:lnTo>
                            <a:lnTo>
                              <a:pt x="81" y="220"/>
                            </a:lnTo>
                            <a:lnTo>
                              <a:pt x="74" y="199"/>
                            </a:lnTo>
                            <a:lnTo>
                              <a:pt x="69" y="127"/>
                            </a:lnTo>
                            <a:lnTo>
                              <a:pt x="74" y="98"/>
                            </a:lnTo>
                            <a:lnTo>
                              <a:pt x="63" y="107"/>
                            </a:lnTo>
                            <a:lnTo>
                              <a:pt x="57" y="115"/>
                            </a:lnTo>
                            <a:lnTo>
                              <a:pt x="51" y="131"/>
                            </a:lnTo>
                            <a:lnTo>
                              <a:pt x="47" y="145"/>
                            </a:lnTo>
                            <a:lnTo>
                              <a:pt x="44" y="164"/>
                            </a:lnTo>
                            <a:lnTo>
                              <a:pt x="40" y="188"/>
                            </a:lnTo>
                            <a:lnTo>
                              <a:pt x="37" y="197"/>
                            </a:lnTo>
                            <a:lnTo>
                              <a:pt x="28" y="202"/>
                            </a:lnTo>
                            <a:lnTo>
                              <a:pt x="16" y="203"/>
                            </a:lnTo>
                            <a:lnTo>
                              <a:pt x="6" y="199"/>
                            </a:lnTo>
                            <a:lnTo>
                              <a:pt x="0" y="192"/>
                            </a:lnTo>
                            <a:lnTo>
                              <a:pt x="1" y="160"/>
                            </a:lnTo>
                            <a:lnTo>
                              <a:pt x="8" y="128"/>
                            </a:lnTo>
                            <a:lnTo>
                              <a:pt x="14" y="103"/>
                            </a:lnTo>
                            <a:lnTo>
                              <a:pt x="29" y="67"/>
                            </a:lnTo>
                            <a:lnTo>
                              <a:pt x="55" y="25"/>
                            </a:lnTo>
                            <a:lnTo>
                              <a:pt x="62" y="24"/>
                            </a:lnTo>
                            <a:lnTo>
                              <a:pt x="70" y="24"/>
                            </a:lnTo>
                            <a:lnTo>
                              <a:pt x="80" y="28"/>
                            </a:lnTo>
                            <a:lnTo>
                              <a:pt x="90" y="34"/>
                            </a:lnTo>
                            <a:close/>
                          </a:path>
                        </a:pathLst>
                      </a:custGeom>
                      <a:solidFill>
                        <a:srgbClr val="FF9F7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257" name="Freeform 404"/>
                      <p:cNvSpPr/>
                      <p:nvPr/>
                    </p:nvSpPr>
                    <p:spPr bwMode="auto">
                      <a:xfrm>
                        <a:off x="5054" y="2524"/>
                        <a:ext cx="10" cy="15"/>
                      </a:xfrm>
                      <a:custGeom>
                        <a:avLst/>
                        <a:gdLst>
                          <a:gd name="T0" fmla="*/ 0 w 61"/>
                          <a:gd name="T1" fmla="*/ 28 h 73"/>
                          <a:gd name="T2" fmla="*/ 5 w 61"/>
                          <a:gd name="T3" fmla="*/ 19 h 73"/>
                          <a:gd name="T4" fmla="*/ 14 w 61"/>
                          <a:gd name="T5" fmla="*/ 5 h 73"/>
                          <a:gd name="T6" fmla="*/ 25 w 61"/>
                          <a:gd name="T7" fmla="*/ 0 h 73"/>
                          <a:gd name="T8" fmla="*/ 38 w 61"/>
                          <a:gd name="T9" fmla="*/ 1 h 73"/>
                          <a:gd name="T10" fmla="*/ 46 w 61"/>
                          <a:gd name="T11" fmla="*/ 6 h 73"/>
                          <a:gd name="T12" fmla="*/ 58 w 61"/>
                          <a:gd name="T13" fmla="*/ 14 h 73"/>
                          <a:gd name="T14" fmla="*/ 61 w 61"/>
                          <a:gd name="T15" fmla="*/ 23 h 73"/>
                          <a:gd name="T16" fmla="*/ 61 w 61"/>
                          <a:gd name="T17" fmla="*/ 37 h 73"/>
                          <a:gd name="T18" fmla="*/ 58 w 61"/>
                          <a:gd name="T19" fmla="*/ 45 h 73"/>
                          <a:gd name="T20" fmla="*/ 55 w 61"/>
                          <a:gd name="T21" fmla="*/ 55 h 73"/>
                          <a:gd name="T22" fmla="*/ 42 w 61"/>
                          <a:gd name="T23" fmla="*/ 61 h 73"/>
                          <a:gd name="T24" fmla="*/ 18 w 61"/>
                          <a:gd name="T25" fmla="*/ 73 h 73"/>
                          <a:gd name="T26" fmla="*/ 0 w 61"/>
                          <a:gd name="T27" fmla="*/ 28 h 7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</a:cxnLst>
                        <a:rect l="0" t="0" r="r" b="b"/>
                        <a:pathLst>
                          <a:path w="61" h="73">
                            <a:moveTo>
                              <a:pt x="0" y="28"/>
                            </a:moveTo>
                            <a:lnTo>
                              <a:pt x="5" y="19"/>
                            </a:lnTo>
                            <a:lnTo>
                              <a:pt x="14" y="5"/>
                            </a:lnTo>
                            <a:lnTo>
                              <a:pt x="25" y="0"/>
                            </a:lnTo>
                            <a:lnTo>
                              <a:pt x="38" y="1"/>
                            </a:lnTo>
                            <a:lnTo>
                              <a:pt x="46" y="6"/>
                            </a:lnTo>
                            <a:lnTo>
                              <a:pt x="58" y="14"/>
                            </a:lnTo>
                            <a:lnTo>
                              <a:pt x="61" y="23"/>
                            </a:lnTo>
                            <a:lnTo>
                              <a:pt x="61" y="37"/>
                            </a:lnTo>
                            <a:lnTo>
                              <a:pt x="58" y="45"/>
                            </a:lnTo>
                            <a:lnTo>
                              <a:pt x="55" y="55"/>
                            </a:lnTo>
                            <a:lnTo>
                              <a:pt x="42" y="61"/>
                            </a:lnTo>
                            <a:lnTo>
                              <a:pt x="18" y="73"/>
                            </a:lnTo>
                            <a:lnTo>
                              <a:pt x="0" y="28"/>
                            </a:lnTo>
                            <a:close/>
                          </a:path>
                        </a:pathLst>
                      </a:custGeom>
                      <a:solidFill>
                        <a:srgbClr val="FF9F7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</p:grpSp>
            </p:grpSp>
          </p:grpSp>
          <p:grpSp>
            <p:nvGrpSpPr>
              <p:cNvPr id="25" name="Group 405"/>
              <p:cNvGrpSpPr/>
              <p:nvPr/>
            </p:nvGrpSpPr>
            <p:grpSpPr bwMode="auto">
              <a:xfrm>
                <a:off x="1632" y="2256"/>
                <a:ext cx="660" cy="356"/>
                <a:chOff x="546" y="2289"/>
                <a:chExt cx="708" cy="452"/>
              </a:xfrm>
            </p:grpSpPr>
            <p:grpSp>
              <p:nvGrpSpPr>
                <p:cNvPr id="145" name="Group 406"/>
                <p:cNvGrpSpPr/>
                <p:nvPr/>
              </p:nvGrpSpPr>
              <p:grpSpPr bwMode="auto">
                <a:xfrm>
                  <a:off x="1071" y="2289"/>
                  <a:ext cx="76" cy="358"/>
                  <a:chOff x="1071" y="2289"/>
                  <a:chExt cx="76" cy="358"/>
                </a:xfrm>
              </p:grpSpPr>
              <p:sp>
                <p:nvSpPr>
                  <p:cNvPr id="245" name="Freeform 407"/>
                  <p:cNvSpPr/>
                  <p:nvPr/>
                </p:nvSpPr>
                <p:spPr bwMode="auto">
                  <a:xfrm>
                    <a:off x="1071" y="2289"/>
                    <a:ext cx="27" cy="358"/>
                  </a:xfrm>
                  <a:custGeom>
                    <a:avLst/>
                    <a:gdLst>
                      <a:gd name="T0" fmla="*/ 42 w 161"/>
                      <a:gd name="T1" fmla="*/ 0 h 1791"/>
                      <a:gd name="T2" fmla="*/ 42 w 161"/>
                      <a:gd name="T3" fmla="*/ 284 h 1791"/>
                      <a:gd name="T4" fmla="*/ 29 w 161"/>
                      <a:gd name="T5" fmla="*/ 284 h 1791"/>
                      <a:gd name="T6" fmla="*/ 29 w 161"/>
                      <a:gd name="T7" fmla="*/ 569 h 1791"/>
                      <a:gd name="T8" fmla="*/ 17 w 161"/>
                      <a:gd name="T9" fmla="*/ 569 h 1791"/>
                      <a:gd name="T10" fmla="*/ 17 w 161"/>
                      <a:gd name="T11" fmla="*/ 836 h 1791"/>
                      <a:gd name="T12" fmla="*/ 8 w 161"/>
                      <a:gd name="T13" fmla="*/ 836 h 1791"/>
                      <a:gd name="T14" fmla="*/ 8 w 161"/>
                      <a:gd name="T15" fmla="*/ 1195 h 1791"/>
                      <a:gd name="T16" fmla="*/ 0 w 161"/>
                      <a:gd name="T17" fmla="*/ 1195 h 1791"/>
                      <a:gd name="T18" fmla="*/ 0 w 161"/>
                      <a:gd name="T19" fmla="*/ 1791 h 1791"/>
                      <a:gd name="T20" fmla="*/ 88 w 161"/>
                      <a:gd name="T21" fmla="*/ 1791 h 1791"/>
                      <a:gd name="T22" fmla="*/ 161 w 161"/>
                      <a:gd name="T23" fmla="*/ 1190 h 1791"/>
                      <a:gd name="T24" fmla="*/ 161 w 161"/>
                      <a:gd name="T25" fmla="*/ 835 h 1791"/>
                      <a:gd name="T26" fmla="*/ 153 w 161"/>
                      <a:gd name="T27" fmla="*/ 835 h 1791"/>
                      <a:gd name="T28" fmla="*/ 153 w 161"/>
                      <a:gd name="T29" fmla="*/ 569 h 1791"/>
                      <a:gd name="T30" fmla="*/ 143 w 161"/>
                      <a:gd name="T31" fmla="*/ 569 h 1791"/>
                      <a:gd name="T32" fmla="*/ 143 w 161"/>
                      <a:gd name="T33" fmla="*/ 284 h 1791"/>
                      <a:gd name="T34" fmla="*/ 130 w 161"/>
                      <a:gd name="T35" fmla="*/ 284 h 1791"/>
                      <a:gd name="T36" fmla="*/ 130 w 161"/>
                      <a:gd name="T37" fmla="*/ 0 h 1791"/>
                      <a:gd name="T38" fmla="*/ 42 w 161"/>
                      <a:gd name="T39" fmla="*/ 0 h 179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61" h="1791">
                        <a:moveTo>
                          <a:pt x="42" y="0"/>
                        </a:moveTo>
                        <a:lnTo>
                          <a:pt x="42" y="284"/>
                        </a:lnTo>
                        <a:lnTo>
                          <a:pt x="29" y="284"/>
                        </a:lnTo>
                        <a:lnTo>
                          <a:pt x="29" y="569"/>
                        </a:lnTo>
                        <a:lnTo>
                          <a:pt x="17" y="569"/>
                        </a:lnTo>
                        <a:lnTo>
                          <a:pt x="17" y="836"/>
                        </a:lnTo>
                        <a:lnTo>
                          <a:pt x="8" y="836"/>
                        </a:lnTo>
                        <a:lnTo>
                          <a:pt x="8" y="1195"/>
                        </a:lnTo>
                        <a:lnTo>
                          <a:pt x="0" y="1195"/>
                        </a:lnTo>
                        <a:lnTo>
                          <a:pt x="0" y="1791"/>
                        </a:lnTo>
                        <a:lnTo>
                          <a:pt x="88" y="1791"/>
                        </a:lnTo>
                        <a:lnTo>
                          <a:pt x="161" y="1190"/>
                        </a:lnTo>
                        <a:lnTo>
                          <a:pt x="161" y="835"/>
                        </a:lnTo>
                        <a:lnTo>
                          <a:pt x="153" y="835"/>
                        </a:lnTo>
                        <a:lnTo>
                          <a:pt x="153" y="569"/>
                        </a:lnTo>
                        <a:lnTo>
                          <a:pt x="143" y="569"/>
                        </a:lnTo>
                        <a:lnTo>
                          <a:pt x="143" y="284"/>
                        </a:lnTo>
                        <a:lnTo>
                          <a:pt x="130" y="284"/>
                        </a:lnTo>
                        <a:lnTo>
                          <a:pt x="130" y="0"/>
                        </a:lnTo>
                        <a:lnTo>
                          <a:pt x="42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246" name="Freeform 408"/>
                  <p:cNvSpPr/>
                  <p:nvPr/>
                </p:nvSpPr>
                <p:spPr bwMode="auto">
                  <a:xfrm>
                    <a:off x="1119" y="2289"/>
                    <a:ext cx="28" cy="358"/>
                  </a:xfrm>
                  <a:custGeom>
                    <a:avLst/>
                    <a:gdLst>
                      <a:gd name="T0" fmla="*/ 41 w 169"/>
                      <a:gd name="T1" fmla="*/ 0 h 1791"/>
                      <a:gd name="T2" fmla="*/ 41 w 169"/>
                      <a:gd name="T3" fmla="*/ 284 h 1791"/>
                      <a:gd name="T4" fmla="*/ 28 w 169"/>
                      <a:gd name="T5" fmla="*/ 284 h 1791"/>
                      <a:gd name="T6" fmla="*/ 28 w 169"/>
                      <a:gd name="T7" fmla="*/ 569 h 1791"/>
                      <a:gd name="T8" fmla="*/ 16 w 169"/>
                      <a:gd name="T9" fmla="*/ 569 h 1791"/>
                      <a:gd name="T10" fmla="*/ 16 w 169"/>
                      <a:gd name="T11" fmla="*/ 836 h 1791"/>
                      <a:gd name="T12" fmla="*/ 8 w 169"/>
                      <a:gd name="T13" fmla="*/ 836 h 1791"/>
                      <a:gd name="T14" fmla="*/ 8 w 169"/>
                      <a:gd name="T15" fmla="*/ 1195 h 1791"/>
                      <a:gd name="T16" fmla="*/ 0 w 169"/>
                      <a:gd name="T17" fmla="*/ 1195 h 1791"/>
                      <a:gd name="T18" fmla="*/ 0 w 169"/>
                      <a:gd name="T19" fmla="*/ 1791 h 1791"/>
                      <a:gd name="T20" fmla="*/ 169 w 169"/>
                      <a:gd name="T21" fmla="*/ 1791 h 1791"/>
                      <a:gd name="T22" fmla="*/ 169 w 169"/>
                      <a:gd name="T23" fmla="*/ 1193 h 1791"/>
                      <a:gd name="T24" fmla="*/ 161 w 169"/>
                      <a:gd name="T25" fmla="*/ 1193 h 1791"/>
                      <a:gd name="T26" fmla="*/ 160 w 169"/>
                      <a:gd name="T27" fmla="*/ 835 h 1791"/>
                      <a:gd name="T28" fmla="*/ 151 w 169"/>
                      <a:gd name="T29" fmla="*/ 835 h 1791"/>
                      <a:gd name="T30" fmla="*/ 151 w 169"/>
                      <a:gd name="T31" fmla="*/ 569 h 1791"/>
                      <a:gd name="T32" fmla="*/ 140 w 169"/>
                      <a:gd name="T33" fmla="*/ 569 h 1791"/>
                      <a:gd name="T34" fmla="*/ 140 w 169"/>
                      <a:gd name="T35" fmla="*/ 284 h 1791"/>
                      <a:gd name="T36" fmla="*/ 128 w 169"/>
                      <a:gd name="T37" fmla="*/ 284 h 1791"/>
                      <a:gd name="T38" fmla="*/ 128 w 169"/>
                      <a:gd name="T39" fmla="*/ 0 h 1791"/>
                      <a:gd name="T40" fmla="*/ 41 w 169"/>
                      <a:gd name="T41" fmla="*/ 0 h 179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</a:cxnLst>
                    <a:rect l="0" t="0" r="r" b="b"/>
                    <a:pathLst>
                      <a:path w="169" h="1791">
                        <a:moveTo>
                          <a:pt x="41" y="0"/>
                        </a:moveTo>
                        <a:lnTo>
                          <a:pt x="41" y="284"/>
                        </a:lnTo>
                        <a:lnTo>
                          <a:pt x="28" y="284"/>
                        </a:lnTo>
                        <a:lnTo>
                          <a:pt x="28" y="569"/>
                        </a:lnTo>
                        <a:lnTo>
                          <a:pt x="16" y="569"/>
                        </a:lnTo>
                        <a:lnTo>
                          <a:pt x="16" y="836"/>
                        </a:lnTo>
                        <a:lnTo>
                          <a:pt x="8" y="836"/>
                        </a:lnTo>
                        <a:lnTo>
                          <a:pt x="8" y="1195"/>
                        </a:lnTo>
                        <a:lnTo>
                          <a:pt x="0" y="1195"/>
                        </a:lnTo>
                        <a:lnTo>
                          <a:pt x="0" y="1791"/>
                        </a:lnTo>
                        <a:lnTo>
                          <a:pt x="169" y="1791"/>
                        </a:lnTo>
                        <a:lnTo>
                          <a:pt x="169" y="1193"/>
                        </a:lnTo>
                        <a:lnTo>
                          <a:pt x="161" y="1193"/>
                        </a:lnTo>
                        <a:lnTo>
                          <a:pt x="160" y="835"/>
                        </a:lnTo>
                        <a:lnTo>
                          <a:pt x="151" y="835"/>
                        </a:lnTo>
                        <a:lnTo>
                          <a:pt x="151" y="569"/>
                        </a:lnTo>
                        <a:lnTo>
                          <a:pt x="140" y="569"/>
                        </a:lnTo>
                        <a:lnTo>
                          <a:pt x="140" y="284"/>
                        </a:lnTo>
                        <a:lnTo>
                          <a:pt x="128" y="284"/>
                        </a:lnTo>
                        <a:lnTo>
                          <a:pt x="128" y="0"/>
                        </a:lnTo>
                        <a:lnTo>
                          <a:pt x="41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  <p:grpSp>
              <p:nvGrpSpPr>
                <p:cNvPr id="146" name="Group 409"/>
                <p:cNvGrpSpPr/>
                <p:nvPr/>
              </p:nvGrpSpPr>
              <p:grpSpPr bwMode="auto">
                <a:xfrm>
                  <a:off x="1130" y="2574"/>
                  <a:ext cx="124" cy="153"/>
                  <a:chOff x="1130" y="2574"/>
                  <a:chExt cx="124" cy="153"/>
                </a:xfrm>
              </p:grpSpPr>
              <p:grpSp>
                <p:nvGrpSpPr>
                  <p:cNvPr id="234" name="Group 410"/>
                  <p:cNvGrpSpPr/>
                  <p:nvPr/>
                </p:nvGrpSpPr>
                <p:grpSpPr bwMode="auto">
                  <a:xfrm>
                    <a:off x="1130" y="2574"/>
                    <a:ext cx="124" cy="153"/>
                    <a:chOff x="1130" y="2574"/>
                    <a:chExt cx="124" cy="153"/>
                  </a:xfrm>
                </p:grpSpPr>
                <p:grpSp>
                  <p:nvGrpSpPr>
                    <p:cNvPr id="239" name="Group 411"/>
                    <p:cNvGrpSpPr/>
                    <p:nvPr/>
                  </p:nvGrpSpPr>
                  <p:grpSpPr bwMode="auto">
                    <a:xfrm>
                      <a:off x="1161" y="2574"/>
                      <a:ext cx="35" cy="74"/>
                      <a:chOff x="1161" y="2574"/>
                      <a:chExt cx="35" cy="74"/>
                    </a:xfrm>
                  </p:grpSpPr>
                  <p:sp>
                    <p:nvSpPr>
                      <p:cNvPr id="243" name="Rectangle 41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68" y="2574"/>
                        <a:ext cx="21" cy="16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244" name="Rectangle 41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61" y="2586"/>
                        <a:ext cx="35" cy="62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240" name="Group 414"/>
                    <p:cNvGrpSpPr/>
                    <p:nvPr/>
                  </p:nvGrpSpPr>
                  <p:grpSpPr bwMode="auto">
                    <a:xfrm>
                      <a:off x="1130" y="2644"/>
                      <a:ext cx="124" cy="83"/>
                      <a:chOff x="1130" y="2644"/>
                      <a:chExt cx="124" cy="83"/>
                    </a:xfrm>
                  </p:grpSpPr>
                  <p:sp>
                    <p:nvSpPr>
                      <p:cNvPr id="241" name="Rectangle 41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34" y="2653"/>
                        <a:ext cx="116" cy="74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242" name="Rectangle 41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30" y="2644"/>
                        <a:ext cx="124" cy="12"/>
                      </a:xfrm>
                      <a:prstGeom prst="rect">
                        <a:avLst/>
                      </a:prstGeom>
                      <a:solidFill>
                        <a:srgbClr val="C0C0C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</p:grpSp>
              <p:grpSp>
                <p:nvGrpSpPr>
                  <p:cNvPr id="235" name="Group 417"/>
                  <p:cNvGrpSpPr/>
                  <p:nvPr/>
                </p:nvGrpSpPr>
                <p:grpSpPr bwMode="auto">
                  <a:xfrm>
                    <a:off x="1143" y="2664"/>
                    <a:ext cx="94" cy="50"/>
                    <a:chOff x="1143" y="2664"/>
                    <a:chExt cx="94" cy="50"/>
                  </a:xfrm>
                </p:grpSpPr>
                <p:sp>
                  <p:nvSpPr>
                    <p:cNvPr id="236" name="Rectangle 41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43" y="2664"/>
                      <a:ext cx="23" cy="50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37" name="Rectangle 41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214" y="2664"/>
                      <a:ext cx="23" cy="50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38" name="Rectangle 42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79" y="2664"/>
                      <a:ext cx="23" cy="50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  <p:grpSp>
              <p:nvGrpSpPr>
                <p:cNvPr id="147" name="Group 421"/>
                <p:cNvGrpSpPr/>
                <p:nvPr/>
              </p:nvGrpSpPr>
              <p:grpSpPr bwMode="auto">
                <a:xfrm>
                  <a:off x="546" y="2618"/>
                  <a:ext cx="124" cy="109"/>
                  <a:chOff x="546" y="2618"/>
                  <a:chExt cx="124" cy="109"/>
                </a:xfrm>
              </p:grpSpPr>
              <p:grpSp>
                <p:nvGrpSpPr>
                  <p:cNvPr id="225" name="Group 422"/>
                  <p:cNvGrpSpPr/>
                  <p:nvPr/>
                </p:nvGrpSpPr>
                <p:grpSpPr bwMode="auto">
                  <a:xfrm>
                    <a:off x="546" y="2618"/>
                    <a:ext cx="124" cy="109"/>
                    <a:chOff x="546" y="2618"/>
                    <a:chExt cx="124" cy="109"/>
                  </a:xfrm>
                </p:grpSpPr>
                <p:sp>
                  <p:nvSpPr>
                    <p:cNvPr id="230" name="Rectangle 4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618"/>
                      <a:ext cx="38" cy="30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grpSp>
                  <p:nvGrpSpPr>
                    <p:cNvPr id="231" name="Group 424"/>
                    <p:cNvGrpSpPr/>
                    <p:nvPr/>
                  </p:nvGrpSpPr>
                  <p:grpSpPr bwMode="auto">
                    <a:xfrm>
                      <a:off x="546" y="2644"/>
                      <a:ext cx="124" cy="83"/>
                      <a:chOff x="546" y="2644"/>
                      <a:chExt cx="124" cy="83"/>
                    </a:xfrm>
                  </p:grpSpPr>
                  <p:sp>
                    <p:nvSpPr>
                      <p:cNvPr id="232" name="Rectangle 42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50" y="2653"/>
                        <a:ext cx="116" cy="74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233" name="Rectangle 42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46" y="2644"/>
                        <a:ext cx="124" cy="12"/>
                      </a:xfrm>
                      <a:prstGeom prst="rect">
                        <a:avLst/>
                      </a:prstGeom>
                      <a:solidFill>
                        <a:srgbClr val="C0C0C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</p:grpSp>
              <p:grpSp>
                <p:nvGrpSpPr>
                  <p:cNvPr id="226" name="Group 427"/>
                  <p:cNvGrpSpPr/>
                  <p:nvPr/>
                </p:nvGrpSpPr>
                <p:grpSpPr bwMode="auto">
                  <a:xfrm>
                    <a:off x="558" y="2664"/>
                    <a:ext cx="98" cy="50"/>
                    <a:chOff x="558" y="2664"/>
                    <a:chExt cx="98" cy="50"/>
                  </a:xfrm>
                </p:grpSpPr>
                <p:sp>
                  <p:nvSpPr>
                    <p:cNvPr id="227" name="Rectangle 42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9" y="2664"/>
                      <a:ext cx="27" cy="50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28" name="Rectangle 42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58" y="2664"/>
                      <a:ext cx="27" cy="50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29" name="Rectangle 43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94" y="2664"/>
                      <a:ext cx="27" cy="50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  <p:grpSp>
              <p:nvGrpSpPr>
                <p:cNvPr id="148" name="Group 431"/>
                <p:cNvGrpSpPr/>
                <p:nvPr/>
              </p:nvGrpSpPr>
              <p:grpSpPr bwMode="auto">
                <a:xfrm>
                  <a:off x="654" y="2479"/>
                  <a:ext cx="488" cy="262"/>
                  <a:chOff x="654" y="2479"/>
                  <a:chExt cx="488" cy="262"/>
                </a:xfrm>
              </p:grpSpPr>
              <p:grpSp>
                <p:nvGrpSpPr>
                  <p:cNvPr id="149" name="Group 432"/>
                  <p:cNvGrpSpPr/>
                  <p:nvPr/>
                </p:nvGrpSpPr>
                <p:grpSpPr bwMode="auto">
                  <a:xfrm>
                    <a:off x="654" y="2479"/>
                    <a:ext cx="488" cy="262"/>
                    <a:chOff x="654" y="2479"/>
                    <a:chExt cx="488" cy="262"/>
                  </a:xfrm>
                </p:grpSpPr>
                <p:sp>
                  <p:nvSpPr>
                    <p:cNvPr id="220" name="Rectangle 43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62" y="2522"/>
                      <a:ext cx="471" cy="219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21" name="Rectangle 43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80" y="2486"/>
                      <a:ext cx="34" cy="26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22" name="Rectangle 43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66" y="2479"/>
                      <a:ext cx="46" cy="36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23" name="Rectangle 43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54" y="2510"/>
                      <a:ext cx="488" cy="17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24" name="Rectangle 43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62" y="2629"/>
                      <a:ext cx="471" cy="8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150" name="Group 438"/>
                  <p:cNvGrpSpPr/>
                  <p:nvPr/>
                </p:nvGrpSpPr>
                <p:grpSpPr bwMode="auto">
                  <a:xfrm>
                    <a:off x="670" y="2542"/>
                    <a:ext cx="449" cy="178"/>
                    <a:chOff x="670" y="2542"/>
                    <a:chExt cx="449" cy="178"/>
                  </a:xfrm>
                </p:grpSpPr>
                <p:grpSp>
                  <p:nvGrpSpPr>
                    <p:cNvPr id="155" name="Group 439"/>
                    <p:cNvGrpSpPr/>
                    <p:nvPr/>
                  </p:nvGrpSpPr>
                  <p:grpSpPr bwMode="auto">
                    <a:xfrm>
                      <a:off x="736" y="2649"/>
                      <a:ext cx="57" cy="71"/>
                      <a:chOff x="736" y="2649"/>
                      <a:chExt cx="57" cy="71"/>
                    </a:xfrm>
                  </p:grpSpPr>
                  <p:sp>
                    <p:nvSpPr>
                      <p:cNvPr id="216" name="Rectangle 44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739" y="2649"/>
                        <a:ext cx="51" cy="6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217" name="Rectangle 44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736" y="2715"/>
                        <a:ext cx="57" cy="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218" name="Line 442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764" y="2649"/>
                        <a:ext cx="1" cy="63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219" name="Line 443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738" y="2682"/>
                        <a:ext cx="52" cy="1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156" name="Group 444"/>
                    <p:cNvGrpSpPr/>
                    <p:nvPr/>
                  </p:nvGrpSpPr>
                  <p:grpSpPr bwMode="auto">
                    <a:xfrm>
                      <a:off x="801" y="2649"/>
                      <a:ext cx="57" cy="71"/>
                      <a:chOff x="801" y="2649"/>
                      <a:chExt cx="57" cy="71"/>
                    </a:xfrm>
                  </p:grpSpPr>
                  <p:sp>
                    <p:nvSpPr>
                      <p:cNvPr id="212" name="Rectangle 44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04" y="2649"/>
                        <a:ext cx="52" cy="6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213" name="Rectangle 44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01" y="2715"/>
                        <a:ext cx="57" cy="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214" name="Line 44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29" y="2649"/>
                        <a:ext cx="1" cy="63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215" name="Line 44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04" y="2682"/>
                        <a:ext cx="52" cy="1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157" name="Group 449"/>
                    <p:cNvGrpSpPr/>
                    <p:nvPr/>
                  </p:nvGrpSpPr>
                  <p:grpSpPr bwMode="auto">
                    <a:xfrm>
                      <a:off x="1061" y="2649"/>
                      <a:ext cx="57" cy="71"/>
                      <a:chOff x="1061" y="2649"/>
                      <a:chExt cx="57" cy="71"/>
                    </a:xfrm>
                  </p:grpSpPr>
                  <p:sp>
                    <p:nvSpPr>
                      <p:cNvPr id="208" name="Rectangle 45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063" y="2649"/>
                        <a:ext cx="52" cy="6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209" name="Rectangle 45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061" y="2715"/>
                        <a:ext cx="57" cy="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210" name="Line 452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089" y="2649"/>
                        <a:ext cx="1" cy="63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211" name="Line 453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063" y="2682"/>
                        <a:ext cx="52" cy="1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158" name="Group 454"/>
                    <p:cNvGrpSpPr/>
                    <p:nvPr/>
                  </p:nvGrpSpPr>
                  <p:grpSpPr bwMode="auto">
                    <a:xfrm>
                      <a:off x="670" y="2649"/>
                      <a:ext cx="58" cy="71"/>
                      <a:chOff x="670" y="2649"/>
                      <a:chExt cx="58" cy="71"/>
                    </a:xfrm>
                  </p:grpSpPr>
                  <p:sp>
                    <p:nvSpPr>
                      <p:cNvPr id="204" name="Rectangle 45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73" y="2649"/>
                        <a:ext cx="52" cy="6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205" name="Rectangle 45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70" y="2715"/>
                        <a:ext cx="58" cy="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206" name="Line 45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99" y="2649"/>
                        <a:ext cx="1" cy="63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207" name="Line 45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3" y="2682"/>
                        <a:ext cx="52" cy="1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159" name="Group 459"/>
                    <p:cNvGrpSpPr/>
                    <p:nvPr/>
                  </p:nvGrpSpPr>
                  <p:grpSpPr bwMode="auto">
                    <a:xfrm>
                      <a:off x="867" y="2542"/>
                      <a:ext cx="58" cy="71"/>
                      <a:chOff x="867" y="2542"/>
                      <a:chExt cx="58" cy="71"/>
                    </a:xfrm>
                  </p:grpSpPr>
                  <p:sp>
                    <p:nvSpPr>
                      <p:cNvPr id="200" name="Rectangle 46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70" y="2542"/>
                        <a:ext cx="52" cy="6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201" name="Rectangle 46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67" y="2608"/>
                        <a:ext cx="58" cy="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202" name="Line 462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96" y="2542"/>
                        <a:ext cx="1" cy="63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203" name="Line 463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70" y="2575"/>
                        <a:ext cx="52" cy="1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160" name="Group 464"/>
                    <p:cNvGrpSpPr/>
                    <p:nvPr/>
                  </p:nvGrpSpPr>
                  <p:grpSpPr bwMode="auto">
                    <a:xfrm>
                      <a:off x="931" y="2649"/>
                      <a:ext cx="57" cy="71"/>
                      <a:chOff x="931" y="2649"/>
                      <a:chExt cx="57" cy="71"/>
                    </a:xfrm>
                  </p:grpSpPr>
                  <p:sp>
                    <p:nvSpPr>
                      <p:cNvPr id="196" name="Rectangle 46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34" y="2649"/>
                        <a:ext cx="51" cy="6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197" name="Rectangle 46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31" y="2715"/>
                        <a:ext cx="57" cy="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198" name="Line 46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959" y="2649"/>
                        <a:ext cx="1" cy="63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199" name="Line 46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933" y="2682"/>
                        <a:ext cx="52" cy="1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161" name="Group 469"/>
                    <p:cNvGrpSpPr/>
                    <p:nvPr/>
                  </p:nvGrpSpPr>
                  <p:grpSpPr bwMode="auto">
                    <a:xfrm>
                      <a:off x="996" y="2649"/>
                      <a:ext cx="57" cy="71"/>
                      <a:chOff x="996" y="2649"/>
                      <a:chExt cx="57" cy="71"/>
                    </a:xfrm>
                  </p:grpSpPr>
                  <p:sp>
                    <p:nvSpPr>
                      <p:cNvPr id="192" name="Rectangle 47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98" y="2649"/>
                        <a:ext cx="52" cy="6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193" name="Rectangle 47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96" y="2715"/>
                        <a:ext cx="57" cy="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194" name="Line 472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024" y="2649"/>
                        <a:ext cx="1" cy="63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195" name="Line 473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998" y="2682"/>
                        <a:ext cx="52" cy="1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162" name="Group 474"/>
                    <p:cNvGrpSpPr/>
                    <p:nvPr/>
                  </p:nvGrpSpPr>
                  <p:grpSpPr bwMode="auto">
                    <a:xfrm>
                      <a:off x="736" y="2542"/>
                      <a:ext cx="58" cy="71"/>
                      <a:chOff x="736" y="2542"/>
                      <a:chExt cx="58" cy="71"/>
                    </a:xfrm>
                  </p:grpSpPr>
                  <p:sp>
                    <p:nvSpPr>
                      <p:cNvPr id="188" name="Rectangle 47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739" y="2542"/>
                        <a:ext cx="52" cy="6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189" name="Rectangle 47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736" y="2608"/>
                        <a:ext cx="58" cy="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190" name="Line 47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765" y="2542"/>
                        <a:ext cx="1" cy="63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191" name="Line 47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739" y="2575"/>
                        <a:ext cx="52" cy="1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163" name="Group 479"/>
                    <p:cNvGrpSpPr/>
                    <p:nvPr/>
                  </p:nvGrpSpPr>
                  <p:grpSpPr bwMode="auto">
                    <a:xfrm>
                      <a:off x="802" y="2542"/>
                      <a:ext cx="57" cy="71"/>
                      <a:chOff x="802" y="2542"/>
                      <a:chExt cx="57" cy="71"/>
                    </a:xfrm>
                  </p:grpSpPr>
                  <p:sp>
                    <p:nvSpPr>
                      <p:cNvPr id="184" name="Rectangle 48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05" y="2542"/>
                        <a:ext cx="52" cy="6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185" name="Rectangle 48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02" y="2608"/>
                        <a:ext cx="57" cy="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186" name="Line 482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30" y="2542"/>
                        <a:ext cx="1" cy="63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187" name="Line 483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04" y="2575"/>
                        <a:ext cx="52" cy="1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164" name="Group 484"/>
                    <p:cNvGrpSpPr/>
                    <p:nvPr/>
                  </p:nvGrpSpPr>
                  <p:grpSpPr bwMode="auto">
                    <a:xfrm>
                      <a:off x="1061" y="2542"/>
                      <a:ext cx="58" cy="71"/>
                      <a:chOff x="1061" y="2542"/>
                      <a:chExt cx="58" cy="71"/>
                    </a:xfrm>
                  </p:grpSpPr>
                  <p:sp>
                    <p:nvSpPr>
                      <p:cNvPr id="180" name="Rectangle 48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064" y="2542"/>
                        <a:ext cx="52" cy="6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181" name="Rectangle 48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061" y="2608"/>
                        <a:ext cx="58" cy="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182" name="Line 48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090" y="2542"/>
                        <a:ext cx="1" cy="63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183" name="Line 48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064" y="2575"/>
                        <a:ext cx="52" cy="1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165" name="Group 489"/>
                    <p:cNvGrpSpPr/>
                    <p:nvPr/>
                  </p:nvGrpSpPr>
                  <p:grpSpPr bwMode="auto">
                    <a:xfrm>
                      <a:off x="671" y="2542"/>
                      <a:ext cx="58" cy="71"/>
                      <a:chOff x="671" y="2542"/>
                      <a:chExt cx="58" cy="71"/>
                    </a:xfrm>
                  </p:grpSpPr>
                  <p:sp>
                    <p:nvSpPr>
                      <p:cNvPr id="176" name="Rectangle 49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74" y="2542"/>
                        <a:ext cx="52" cy="6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177" name="Rectangle 49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71" y="2608"/>
                        <a:ext cx="58" cy="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178" name="Line 492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99" y="2542"/>
                        <a:ext cx="1" cy="63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179" name="Line 493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4" y="2575"/>
                        <a:ext cx="52" cy="1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166" name="Group 494"/>
                    <p:cNvGrpSpPr/>
                    <p:nvPr/>
                  </p:nvGrpSpPr>
                  <p:grpSpPr bwMode="auto">
                    <a:xfrm>
                      <a:off x="931" y="2542"/>
                      <a:ext cx="58" cy="71"/>
                      <a:chOff x="931" y="2542"/>
                      <a:chExt cx="58" cy="71"/>
                    </a:xfrm>
                  </p:grpSpPr>
                  <p:sp>
                    <p:nvSpPr>
                      <p:cNvPr id="172" name="Rectangle 49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34" y="2542"/>
                        <a:ext cx="52" cy="6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173" name="Rectangle 49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31" y="2608"/>
                        <a:ext cx="58" cy="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174" name="Line 49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960" y="2542"/>
                        <a:ext cx="1" cy="63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175" name="Line 49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934" y="2575"/>
                        <a:ext cx="52" cy="1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167" name="Group 499"/>
                    <p:cNvGrpSpPr/>
                    <p:nvPr/>
                  </p:nvGrpSpPr>
                  <p:grpSpPr bwMode="auto">
                    <a:xfrm>
                      <a:off x="997" y="2542"/>
                      <a:ext cx="57" cy="71"/>
                      <a:chOff x="997" y="2542"/>
                      <a:chExt cx="57" cy="71"/>
                    </a:xfrm>
                  </p:grpSpPr>
                  <p:sp>
                    <p:nvSpPr>
                      <p:cNvPr id="168" name="Rectangle 50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99" y="2542"/>
                        <a:ext cx="52" cy="6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169" name="Rectangle 50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97" y="2608"/>
                        <a:ext cx="57" cy="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170" name="Line 502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025" y="2542"/>
                        <a:ext cx="1" cy="63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171" name="Line 503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999" y="2575"/>
                        <a:ext cx="52" cy="1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</p:grpSp>
              <p:grpSp>
                <p:nvGrpSpPr>
                  <p:cNvPr id="151" name="Group 504"/>
                  <p:cNvGrpSpPr/>
                  <p:nvPr/>
                </p:nvGrpSpPr>
                <p:grpSpPr bwMode="auto">
                  <a:xfrm>
                    <a:off x="868" y="2643"/>
                    <a:ext cx="54" cy="97"/>
                    <a:chOff x="868" y="2643"/>
                    <a:chExt cx="54" cy="97"/>
                  </a:xfrm>
                </p:grpSpPr>
                <p:sp>
                  <p:nvSpPr>
                    <p:cNvPr id="152" name="Rectangle 50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68" y="2643"/>
                      <a:ext cx="54" cy="97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53" name="Rectangle 50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74" y="2653"/>
                      <a:ext cx="41" cy="81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54" name="Oval 50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08" y="2693"/>
                      <a:ext cx="2" cy="3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</p:grpSp>
          <p:grpSp>
            <p:nvGrpSpPr>
              <p:cNvPr id="26" name="Group 508"/>
              <p:cNvGrpSpPr/>
              <p:nvPr/>
            </p:nvGrpSpPr>
            <p:grpSpPr bwMode="auto">
              <a:xfrm>
                <a:off x="2688" y="2256"/>
                <a:ext cx="612" cy="356"/>
                <a:chOff x="546" y="2289"/>
                <a:chExt cx="708" cy="452"/>
              </a:xfrm>
            </p:grpSpPr>
            <p:grpSp>
              <p:nvGrpSpPr>
                <p:cNvPr id="43" name="Group 509"/>
                <p:cNvGrpSpPr/>
                <p:nvPr/>
              </p:nvGrpSpPr>
              <p:grpSpPr bwMode="auto">
                <a:xfrm>
                  <a:off x="1071" y="2289"/>
                  <a:ext cx="76" cy="358"/>
                  <a:chOff x="1071" y="2289"/>
                  <a:chExt cx="76" cy="358"/>
                </a:xfrm>
              </p:grpSpPr>
              <p:sp>
                <p:nvSpPr>
                  <p:cNvPr id="143" name="Freeform 510"/>
                  <p:cNvSpPr/>
                  <p:nvPr/>
                </p:nvSpPr>
                <p:spPr bwMode="auto">
                  <a:xfrm>
                    <a:off x="1071" y="2289"/>
                    <a:ext cx="27" cy="358"/>
                  </a:xfrm>
                  <a:custGeom>
                    <a:avLst/>
                    <a:gdLst>
                      <a:gd name="T0" fmla="*/ 42 w 161"/>
                      <a:gd name="T1" fmla="*/ 0 h 1791"/>
                      <a:gd name="T2" fmla="*/ 42 w 161"/>
                      <a:gd name="T3" fmla="*/ 284 h 1791"/>
                      <a:gd name="T4" fmla="*/ 29 w 161"/>
                      <a:gd name="T5" fmla="*/ 284 h 1791"/>
                      <a:gd name="T6" fmla="*/ 29 w 161"/>
                      <a:gd name="T7" fmla="*/ 569 h 1791"/>
                      <a:gd name="T8" fmla="*/ 17 w 161"/>
                      <a:gd name="T9" fmla="*/ 569 h 1791"/>
                      <a:gd name="T10" fmla="*/ 17 w 161"/>
                      <a:gd name="T11" fmla="*/ 836 h 1791"/>
                      <a:gd name="T12" fmla="*/ 8 w 161"/>
                      <a:gd name="T13" fmla="*/ 836 h 1791"/>
                      <a:gd name="T14" fmla="*/ 8 w 161"/>
                      <a:gd name="T15" fmla="*/ 1195 h 1791"/>
                      <a:gd name="T16" fmla="*/ 0 w 161"/>
                      <a:gd name="T17" fmla="*/ 1195 h 1791"/>
                      <a:gd name="T18" fmla="*/ 0 w 161"/>
                      <a:gd name="T19" fmla="*/ 1791 h 1791"/>
                      <a:gd name="T20" fmla="*/ 88 w 161"/>
                      <a:gd name="T21" fmla="*/ 1791 h 1791"/>
                      <a:gd name="T22" fmla="*/ 161 w 161"/>
                      <a:gd name="T23" fmla="*/ 1190 h 1791"/>
                      <a:gd name="T24" fmla="*/ 161 w 161"/>
                      <a:gd name="T25" fmla="*/ 835 h 1791"/>
                      <a:gd name="T26" fmla="*/ 153 w 161"/>
                      <a:gd name="T27" fmla="*/ 835 h 1791"/>
                      <a:gd name="T28" fmla="*/ 153 w 161"/>
                      <a:gd name="T29" fmla="*/ 569 h 1791"/>
                      <a:gd name="T30" fmla="*/ 143 w 161"/>
                      <a:gd name="T31" fmla="*/ 569 h 1791"/>
                      <a:gd name="T32" fmla="*/ 143 w 161"/>
                      <a:gd name="T33" fmla="*/ 284 h 1791"/>
                      <a:gd name="T34" fmla="*/ 130 w 161"/>
                      <a:gd name="T35" fmla="*/ 284 h 1791"/>
                      <a:gd name="T36" fmla="*/ 130 w 161"/>
                      <a:gd name="T37" fmla="*/ 0 h 1791"/>
                      <a:gd name="T38" fmla="*/ 42 w 161"/>
                      <a:gd name="T39" fmla="*/ 0 h 179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61" h="1791">
                        <a:moveTo>
                          <a:pt x="42" y="0"/>
                        </a:moveTo>
                        <a:lnTo>
                          <a:pt x="42" y="284"/>
                        </a:lnTo>
                        <a:lnTo>
                          <a:pt x="29" y="284"/>
                        </a:lnTo>
                        <a:lnTo>
                          <a:pt x="29" y="569"/>
                        </a:lnTo>
                        <a:lnTo>
                          <a:pt x="17" y="569"/>
                        </a:lnTo>
                        <a:lnTo>
                          <a:pt x="17" y="836"/>
                        </a:lnTo>
                        <a:lnTo>
                          <a:pt x="8" y="836"/>
                        </a:lnTo>
                        <a:lnTo>
                          <a:pt x="8" y="1195"/>
                        </a:lnTo>
                        <a:lnTo>
                          <a:pt x="0" y="1195"/>
                        </a:lnTo>
                        <a:lnTo>
                          <a:pt x="0" y="1791"/>
                        </a:lnTo>
                        <a:lnTo>
                          <a:pt x="88" y="1791"/>
                        </a:lnTo>
                        <a:lnTo>
                          <a:pt x="161" y="1190"/>
                        </a:lnTo>
                        <a:lnTo>
                          <a:pt x="161" y="835"/>
                        </a:lnTo>
                        <a:lnTo>
                          <a:pt x="153" y="835"/>
                        </a:lnTo>
                        <a:lnTo>
                          <a:pt x="153" y="569"/>
                        </a:lnTo>
                        <a:lnTo>
                          <a:pt x="143" y="569"/>
                        </a:lnTo>
                        <a:lnTo>
                          <a:pt x="143" y="284"/>
                        </a:lnTo>
                        <a:lnTo>
                          <a:pt x="130" y="284"/>
                        </a:lnTo>
                        <a:lnTo>
                          <a:pt x="130" y="0"/>
                        </a:lnTo>
                        <a:lnTo>
                          <a:pt x="42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144" name="Freeform 511"/>
                  <p:cNvSpPr/>
                  <p:nvPr/>
                </p:nvSpPr>
                <p:spPr bwMode="auto">
                  <a:xfrm>
                    <a:off x="1119" y="2289"/>
                    <a:ext cx="28" cy="358"/>
                  </a:xfrm>
                  <a:custGeom>
                    <a:avLst/>
                    <a:gdLst>
                      <a:gd name="T0" fmla="*/ 41 w 169"/>
                      <a:gd name="T1" fmla="*/ 0 h 1791"/>
                      <a:gd name="T2" fmla="*/ 41 w 169"/>
                      <a:gd name="T3" fmla="*/ 284 h 1791"/>
                      <a:gd name="T4" fmla="*/ 28 w 169"/>
                      <a:gd name="T5" fmla="*/ 284 h 1791"/>
                      <a:gd name="T6" fmla="*/ 28 w 169"/>
                      <a:gd name="T7" fmla="*/ 569 h 1791"/>
                      <a:gd name="T8" fmla="*/ 16 w 169"/>
                      <a:gd name="T9" fmla="*/ 569 h 1791"/>
                      <a:gd name="T10" fmla="*/ 16 w 169"/>
                      <a:gd name="T11" fmla="*/ 836 h 1791"/>
                      <a:gd name="T12" fmla="*/ 8 w 169"/>
                      <a:gd name="T13" fmla="*/ 836 h 1791"/>
                      <a:gd name="T14" fmla="*/ 8 w 169"/>
                      <a:gd name="T15" fmla="*/ 1195 h 1791"/>
                      <a:gd name="T16" fmla="*/ 0 w 169"/>
                      <a:gd name="T17" fmla="*/ 1195 h 1791"/>
                      <a:gd name="T18" fmla="*/ 0 w 169"/>
                      <a:gd name="T19" fmla="*/ 1791 h 1791"/>
                      <a:gd name="T20" fmla="*/ 169 w 169"/>
                      <a:gd name="T21" fmla="*/ 1791 h 1791"/>
                      <a:gd name="T22" fmla="*/ 169 w 169"/>
                      <a:gd name="T23" fmla="*/ 1193 h 1791"/>
                      <a:gd name="T24" fmla="*/ 161 w 169"/>
                      <a:gd name="T25" fmla="*/ 1193 h 1791"/>
                      <a:gd name="T26" fmla="*/ 160 w 169"/>
                      <a:gd name="T27" fmla="*/ 835 h 1791"/>
                      <a:gd name="T28" fmla="*/ 151 w 169"/>
                      <a:gd name="T29" fmla="*/ 835 h 1791"/>
                      <a:gd name="T30" fmla="*/ 151 w 169"/>
                      <a:gd name="T31" fmla="*/ 569 h 1791"/>
                      <a:gd name="T32" fmla="*/ 140 w 169"/>
                      <a:gd name="T33" fmla="*/ 569 h 1791"/>
                      <a:gd name="T34" fmla="*/ 140 w 169"/>
                      <a:gd name="T35" fmla="*/ 284 h 1791"/>
                      <a:gd name="T36" fmla="*/ 128 w 169"/>
                      <a:gd name="T37" fmla="*/ 284 h 1791"/>
                      <a:gd name="T38" fmla="*/ 128 w 169"/>
                      <a:gd name="T39" fmla="*/ 0 h 1791"/>
                      <a:gd name="T40" fmla="*/ 41 w 169"/>
                      <a:gd name="T41" fmla="*/ 0 h 179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</a:cxnLst>
                    <a:rect l="0" t="0" r="r" b="b"/>
                    <a:pathLst>
                      <a:path w="169" h="1791">
                        <a:moveTo>
                          <a:pt x="41" y="0"/>
                        </a:moveTo>
                        <a:lnTo>
                          <a:pt x="41" y="284"/>
                        </a:lnTo>
                        <a:lnTo>
                          <a:pt x="28" y="284"/>
                        </a:lnTo>
                        <a:lnTo>
                          <a:pt x="28" y="569"/>
                        </a:lnTo>
                        <a:lnTo>
                          <a:pt x="16" y="569"/>
                        </a:lnTo>
                        <a:lnTo>
                          <a:pt x="16" y="836"/>
                        </a:lnTo>
                        <a:lnTo>
                          <a:pt x="8" y="836"/>
                        </a:lnTo>
                        <a:lnTo>
                          <a:pt x="8" y="1195"/>
                        </a:lnTo>
                        <a:lnTo>
                          <a:pt x="0" y="1195"/>
                        </a:lnTo>
                        <a:lnTo>
                          <a:pt x="0" y="1791"/>
                        </a:lnTo>
                        <a:lnTo>
                          <a:pt x="169" y="1791"/>
                        </a:lnTo>
                        <a:lnTo>
                          <a:pt x="169" y="1193"/>
                        </a:lnTo>
                        <a:lnTo>
                          <a:pt x="161" y="1193"/>
                        </a:lnTo>
                        <a:lnTo>
                          <a:pt x="160" y="835"/>
                        </a:lnTo>
                        <a:lnTo>
                          <a:pt x="151" y="835"/>
                        </a:lnTo>
                        <a:lnTo>
                          <a:pt x="151" y="569"/>
                        </a:lnTo>
                        <a:lnTo>
                          <a:pt x="140" y="569"/>
                        </a:lnTo>
                        <a:lnTo>
                          <a:pt x="140" y="284"/>
                        </a:lnTo>
                        <a:lnTo>
                          <a:pt x="128" y="284"/>
                        </a:lnTo>
                        <a:lnTo>
                          <a:pt x="128" y="0"/>
                        </a:lnTo>
                        <a:lnTo>
                          <a:pt x="41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  <p:grpSp>
              <p:nvGrpSpPr>
                <p:cNvPr id="44" name="Group 512"/>
                <p:cNvGrpSpPr/>
                <p:nvPr/>
              </p:nvGrpSpPr>
              <p:grpSpPr bwMode="auto">
                <a:xfrm>
                  <a:off x="1130" y="2574"/>
                  <a:ext cx="124" cy="153"/>
                  <a:chOff x="1130" y="2574"/>
                  <a:chExt cx="124" cy="153"/>
                </a:xfrm>
              </p:grpSpPr>
              <p:grpSp>
                <p:nvGrpSpPr>
                  <p:cNvPr id="132" name="Group 513"/>
                  <p:cNvGrpSpPr/>
                  <p:nvPr/>
                </p:nvGrpSpPr>
                <p:grpSpPr bwMode="auto">
                  <a:xfrm>
                    <a:off x="1130" y="2574"/>
                    <a:ext cx="124" cy="153"/>
                    <a:chOff x="1130" y="2574"/>
                    <a:chExt cx="124" cy="153"/>
                  </a:xfrm>
                </p:grpSpPr>
                <p:grpSp>
                  <p:nvGrpSpPr>
                    <p:cNvPr id="137" name="Group 514"/>
                    <p:cNvGrpSpPr/>
                    <p:nvPr/>
                  </p:nvGrpSpPr>
                  <p:grpSpPr bwMode="auto">
                    <a:xfrm>
                      <a:off x="1161" y="2574"/>
                      <a:ext cx="35" cy="74"/>
                      <a:chOff x="1161" y="2574"/>
                      <a:chExt cx="35" cy="74"/>
                    </a:xfrm>
                  </p:grpSpPr>
                  <p:sp>
                    <p:nvSpPr>
                      <p:cNvPr id="141" name="Rectangle 51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68" y="2574"/>
                        <a:ext cx="21" cy="16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142" name="Rectangle 51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61" y="2586"/>
                        <a:ext cx="35" cy="62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138" name="Group 517"/>
                    <p:cNvGrpSpPr/>
                    <p:nvPr/>
                  </p:nvGrpSpPr>
                  <p:grpSpPr bwMode="auto">
                    <a:xfrm>
                      <a:off x="1130" y="2644"/>
                      <a:ext cx="124" cy="83"/>
                      <a:chOff x="1130" y="2644"/>
                      <a:chExt cx="124" cy="83"/>
                    </a:xfrm>
                  </p:grpSpPr>
                  <p:sp>
                    <p:nvSpPr>
                      <p:cNvPr id="139" name="Rectangle 51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34" y="2653"/>
                        <a:ext cx="116" cy="74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140" name="Rectangle 51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130" y="2644"/>
                        <a:ext cx="124" cy="12"/>
                      </a:xfrm>
                      <a:prstGeom prst="rect">
                        <a:avLst/>
                      </a:prstGeom>
                      <a:solidFill>
                        <a:srgbClr val="C0C0C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</p:grpSp>
              <p:grpSp>
                <p:nvGrpSpPr>
                  <p:cNvPr id="133" name="Group 520"/>
                  <p:cNvGrpSpPr/>
                  <p:nvPr/>
                </p:nvGrpSpPr>
                <p:grpSpPr bwMode="auto">
                  <a:xfrm>
                    <a:off x="1143" y="2664"/>
                    <a:ext cx="94" cy="50"/>
                    <a:chOff x="1143" y="2664"/>
                    <a:chExt cx="94" cy="50"/>
                  </a:xfrm>
                </p:grpSpPr>
                <p:sp>
                  <p:nvSpPr>
                    <p:cNvPr id="134" name="Rectangle 52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43" y="2664"/>
                      <a:ext cx="23" cy="50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35" name="Rectangle 5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214" y="2664"/>
                      <a:ext cx="23" cy="50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36" name="Rectangle 5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79" y="2664"/>
                      <a:ext cx="23" cy="50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  <p:grpSp>
              <p:nvGrpSpPr>
                <p:cNvPr id="45" name="Group 524"/>
                <p:cNvGrpSpPr/>
                <p:nvPr/>
              </p:nvGrpSpPr>
              <p:grpSpPr bwMode="auto">
                <a:xfrm>
                  <a:off x="546" y="2618"/>
                  <a:ext cx="124" cy="109"/>
                  <a:chOff x="546" y="2618"/>
                  <a:chExt cx="124" cy="109"/>
                </a:xfrm>
              </p:grpSpPr>
              <p:grpSp>
                <p:nvGrpSpPr>
                  <p:cNvPr id="123" name="Group 525"/>
                  <p:cNvGrpSpPr/>
                  <p:nvPr/>
                </p:nvGrpSpPr>
                <p:grpSpPr bwMode="auto">
                  <a:xfrm>
                    <a:off x="546" y="2618"/>
                    <a:ext cx="124" cy="109"/>
                    <a:chOff x="546" y="2618"/>
                    <a:chExt cx="124" cy="109"/>
                  </a:xfrm>
                </p:grpSpPr>
                <p:sp>
                  <p:nvSpPr>
                    <p:cNvPr id="128" name="Rectangle 52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618"/>
                      <a:ext cx="38" cy="30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grpSp>
                  <p:nvGrpSpPr>
                    <p:cNvPr id="129" name="Group 527"/>
                    <p:cNvGrpSpPr/>
                    <p:nvPr/>
                  </p:nvGrpSpPr>
                  <p:grpSpPr bwMode="auto">
                    <a:xfrm>
                      <a:off x="546" y="2644"/>
                      <a:ext cx="124" cy="83"/>
                      <a:chOff x="546" y="2644"/>
                      <a:chExt cx="124" cy="83"/>
                    </a:xfrm>
                  </p:grpSpPr>
                  <p:sp>
                    <p:nvSpPr>
                      <p:cNvPr id="130" name="Rectangle 52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50" y="2653"/>
                        <a:ext cx="116" cy="74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131" name="Rectangle 52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46" y="2644"/>
                        <a:ext cx="124" cy="12"/>
                      </a:xfrm>
                      <a:prstGeom prst="rect">
                        <a:avLst/>
                      </a:prstGeom>
                      <a:solidFill>
                        <a:srgbClr val="C0C0C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</p:grpSp>
              <p:grpSp>
                <p:nvGrpSpPr>
                  <p:cNvPr id="124" name="Group 530"/>
                  <p:cNvGrpSpPr/>
                  <p:nvPr/>
                </p:nvGrpSpPr>
                <p:grpSpPr bwMode="auto">
                  <a:xfrm>
                    <a:off x="558" y="2664"/>
                    <a:ext cx="98" cy="50"/>
                    <a:chOff x="558" y="2664"/>
                    <a:chExt cx="98" cy="50"/>
                  </a:xfrm>
                </p:grpSpPr>
                <p:sp>
                  <p:nvSpPr>
                    <p:cNvPr id="125" name="Rectangle 53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9" y="2664"/>
                      <a:ext cx="27" cy="50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26" name="Rectangle 53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58" y="2664"/>
                      <a:ext cx="27" cy="50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27" name="Rectangle 53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94" y="2664"/>
                      <a:ext cx="27" cy="50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  <p:grpSp>
              <p:nvGrpSpPr>
                <p:cNvPr id="46" name="Group 534"/>
                <p:cNvGrpSpPr/>
                <p:nvPr/>
              </p:nvGrpSpPr>
              <p:grpSpPr bwMode="auto">
                <a:xfrm>
                  <a:off x="654" y="2479"/>
                  <a:ext cx="488" cy="262"/>
                  <a:chOff x="654" y="2479"/>
                  <a:chExt cx="488" cy="262"/>
                </a:xfrm>
              </p:grpSpPr>
              <p:grpSp>
                <p:nvGrpSpPr>
                  <p:cNvPr id="47" name="Group 535"/>
                  <p:cNvGrpSpPr/>
                  <p:nvPr/>
                </p:nvGrpSpPr>
                <p:grpSpPr bwMode="auto">
                  <a:xfrm>
                    <a:off x="654" y="2479"/>
                    <a:ext cx="488" cy="262"/>
                    <a:chOff x="654" y="2479"/>
                    <a:chExt cx="488" cy="262"/>
                  </a:xfrm>
                </p:grpSpPr>
                <p:sp>
                  <p:nvSpPr>
                    <p:cNvPr id="118" name="Rectangle 53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62" y="2522"/>
                      <a:ext cx="471" cy="219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19" name="Rectangle 53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80" y="2486"/>
                      <a:ext cx="34" cy="26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20" name="Rectangle 53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66" y="2479"/>
                      <a:ext cx="46" cy="36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21" name="Rectangle 53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54" y="2510"/>
                      <a:ext cx="488" cy="17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22" name="Rectangle 54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62" y="2629"/>
                      <a:ext cx="471" cy="8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48" name="Group 541"/>
                  <p:cNvGrpSpPr/>
                  <p:nvPr/>
                </p:nvGrpSpPr>
                <p:grpSpPr bwMode="auto">
                  <a:xfrm>
                    <a:off x="670" y="2542"/>
                    <a:ext cx="449" cy="178"/>
                    <a:chOff x="670" y="2542"/>
                    <a:chExt cx="449" cy="178"/>
                  </a:xfrm>
                </p:grpSpPr>
                <p:grpSp>
                  <p:nvGrpSpPr>
                    <p:cNvPr id="53" name="Group 542"/>
                    <p:cNvGrpSpPr/>
                    <p:nvPr/>
                  </p:nvGrpSpPr>
                  <p:grpSpPr bwMode="auto">
                    <a:xfrm>
                      <a:off x="736" y="2649"/>
                      <a:ext cx="57" cy="71"/>
                      <a:chOff x="736" y="2649"/>
                      <a:chExt cx="57" cy="71"/>
                    </a:xfrm>
                  </p:grpSpPr>
                  <p:sp>
                    <p:nvSpPr>
                      <p:cNvPr id="114" name="Rectangle 54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739" y="2649"/>
                        <a:ext cx="51" cy="6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115" name="Rectangle 54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736" y="2715"/>
                        <a:ext cx="57" cy="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116" name="Line 54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764" y="2649"/>
                        <a:ext cx="1" cy="63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117" name="Line 546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738" y="2682"/>
                        <a:ext cx="52" cy="1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54" name="Group 547"/>
                    <p:cNvGrpSpPr/>
                    <p:nvPr/>
                  </p:nvGrpSpPr>
                  <p:grpSpPr bwMode="auto">
                    <a:xfrm>
                      <a:off x="801" y="2649"/>
                      <a:ext cx="57" cy="71"/>
                      <a:chOff x="801" y="2649"/>
                      <a:chExt cx="57" cy="71"/>
                    </a:xfrm>
                  </p:grpSpPr>
                  <p:sp>
                    <p:nvSpPr>
                      <p:cNvPr id="110" name="Rectangle 54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04" y="2649"/>
                        <a:ext cx="52" cy="6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111" name="Rectangle 54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01" y="2715"/>
                        <a:ext cx="57" cy="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112" name="Line 55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29" y="2649"/>
                        <a:ext cx="1" cy="63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113" name="Line 55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04" y="2682"/>
                        <a:ext cx="52" cy="1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55" name="Group 552"/>
                    <p:cNvGrpSpPr/>
                    <p:nvPr/>
                  </p:nvGrpSpPr>
                  <p:grpSpPr bwMode="auto">
                    <a:xfrm>
                      <a:off x="1061" y="2649"/>
                      <a:ext cx="57" cy="71"/>
                      <a:chOff x="1061" y="2649"/>
                      <a:chExt cx="57" cy="71"/>
                    </a:xfrm>
                  </p:grpSpPr>
                  <p:sp>
                    <p:nvSpPr>
                      <p:cNvPr id="106" name="Rectangle 55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063" y="2649"/>
                        <a:ext cx="52" cy="6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107" name="Rectangle 55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061" y="2715"/>
                        <a:ext cx="57" cy="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108" name="Line 55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089" y="2649"/>
                        <a:ext cx="1" cy="63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109" name="Line 556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063" y="2682"/>
                        <a:ext cx="52" cy="1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56" name="Group 557"/>
                    <p:cNvGrpSpPr/>
                    <p:nvPr/>
                  </p:nvGrpSpPr>
                  <p:grpSpPr bwMode="auto">
                    <a:xfrm>
                      <a:off x="670" y="2649"/>
                      <a:ext cx="58" cy="71"/>
                      <a:chOff x="670" y="2649"/>
                      <a:chExt cx="58" cy="71"/>
                    </a:xfrm>
                  </p:grpSpPr>
                  <p:sp>
                    <p:nvSpPr>
                      <p:cNvPr id="102" name="Rectangle 55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73" y="2649"/>
                        <a:ext cx="52" cy="6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103" name="Rectangle 55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70" y="2715"/>
                        <a:ext cx="58" cy="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104" name="Line 56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99" y="2649"/>
                        <a:ext cx="1" cy="63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105" name="Line 56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3" y="2682"/>
                        <a:ext cx="52" cy="1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57" name="Group 562"/>
                    <p:cNvGrpSpPr/>
                    <p:nvPr/>
                  </p:nvGrpSpPr>
                  <p:grpSpPr bwMode="auto">
                    <a:xfrm>
                      <a:off x="867" y="2542"/>
                      <a:ext cx="58" cy="71"/>
                      <a:chOff x="867" y="2542"/>
                      <a:chExt cx="58" cy="71"/>
                    </a:xfrm>
                  </p:grpSpPr>
                  <p:sp>
                    <p:nvSpPr>
                      <p:cNvPr id="98" name="Rectangle 56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70" y="2542"/>
                        <a:ext cx="52" cy="6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99" name="Rectangle 56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67" y="2608"/>
                        <a:ext cx="58" cy="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100" name="Line 56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96" y="2542"/>
                        <a:ext cx="1" cy="63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101" name="Line 566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70" y="2575"/>
                        <a:ext cx="52" cy="1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58" name="Group 567"/>
                    <p:cNvGrpSpPr/>
                    <p:nvPr/>
                  </p:nvGrpSpPr>
                  <p:grpSpPr bwMode="auto">
                    <a:xfrm>
                      <a:off x="931" y="2649"/>
                      <a:ext cx="57" cy="71"/>
                      <a:chOff x="931" y="2649"/>
                      <a:chExt cx="57" cy="71"/>
                    </a:xfrm>
                  </p:grpSpPr>
                  <p:sp>
                    <p:nvSpPr>
                      <p:cNvPr id="94" name="Rectangle 56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34" y="2649"/>
                        <a:ext cx="51" cy="6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95" name="Rectangle 56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31" y="2715"/>
                        <a:ext cx="57" cy="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96" name="Line 57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959" y="2649"/>
                        <a:ext cx="1" cy="63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97" name="Line 57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933" y="2682"/>
                        <a:ext cx="52" cy="1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59" name="Group 572"/>
                    <p:cNvGrpSpPr/>
                    <p:nvPr/>
                  </p:nvGrpSpPr>
                  <p:grpSpPr bwMode="auto">
                    <a:xfrm>
                      <a:off x="996" y="2649"/>
                      <a:ext cx="57" cy="71"/>
                      <a:chOff x="996" y="2649"/>
                      <a:chExt cx="57" cy="71"/>
                    </a:xfrm>
                  </p:grpSpPr>
                  <p:sp>
                    <p:nvSpPr>
                      <p:cNvPr id="90" name="Rectangle 57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98" y="2649"/>
                        <a:ext cx="52" cy="6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91" name="Rectangle 57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96" y="2715"/>
                        <a:ext cx="57" cy="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92" name="Line 57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024" y="2649"/>
                        <a:ext cx="1" cy="63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93" name="Line 576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998" y="2682"/>
                        <a:ext cx="52" cy="1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60" name="Group 577"/>
                    <p:cNvGrpSpPr/>
                    <p:nvPr/>
                  </p:nvGrpSpPr>
                  <p:grpSpPr bwMode="auto">
                    <a:xfrm>
                      <a:off x="736" y="2542"/>
                      <a:ext cx="58" cy="71"/>
                      <a:chOff x="736" y="2542"/>
                      <a:chExt cx="58" cy="71"/>
                    </a:xfrm>
                  </p:grpSpPr>
                  <p:sp>
                    <p:nvSpPr>
                      <p:cNvPr id="86" name="Rectangle 57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739" y="2542"/>
                        <a:ext cx="52" cy="6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87" name="Rectangle 57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736" y="2608"/>
                        <a:ext cx="58" cy="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88" name="Line 58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765" y="2542"/>
                        <a:ext cx="1" cy="63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89" name="Line 58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739" y="2575"/>
                        <a:ext cx="52" cy="1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61" name="Group 582"/>
                    <p:cNvGrpSpPr/>
                    <p:nvPr/>
                  </p:nvGrpSpPr>
                  <p:grpSpPr bwMode="auto">
                    <a:xfrm>
                      <a:off x="802" y="2542"/>
                      <a:ext cx="57" cy="71"/>
                      <a:chOff x="802" y="2542"/>
                      <a:chExt cx="57" cy="71"/>
                    </a:xfrm>
                  </p:grpSpPr>
                  <p:sp>
                    <p:nvSpPr>
                      <p:cNvPr id="82" name="Rectangle 58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05" y="2542"/>
                        <a:ext cx="52" cy="6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83" name="Rectangle 58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02" y="2608"/>
                        <a:ext cx="57" cy="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84" name="Line 58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30" y="2542"/>
                        <a:ext cx="1" cy="63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85" name="Line 586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804" y="2575"/>
                        <a:ext cx="52" cy="1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62" name="Group 587"/>
                    <p:cNvGrpSpPr/>
                    <p:nvPr/>
                  </p:nvGrpSpPr>
                  <p:grpSpPr bwMode="auto">
                    <a:xfrm>
                      <a:off x="1061" y="2542"/>
                      <a:ext cx="58" cy="71"/>
                      <a:chOff x="1061" y="2542"/>
                      <a:chExt cx="58" cy="71"/>
                    </a:xfrm>
                  </p:grpSpPr>
                  <p:sp>
                    <p:nvSpPr>
                      <p:cNvPr id="78" name="Rectangle 58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064" y="2542"/>
                        <a:ext cx="52" cy="6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79" name="Rectangle 58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061" y="2608"/>
                        <a:ext cx="58" cy="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80" name="Line 59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090" y="2542"/>
                        <a:ext cx="1" cy="63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81" name="Line 59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064" y="2575"/>
                        <a:ext cx="52" cy="1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63" name="Group 592"/>
                    <p:cNvGrpSpPr/>
                    <p:nvPr/>
                  </p:nvGrpSpPr>
                  <p:grpSpPr bwMode="auto">
                    <a:xfrm>
                      <a:off x="671" y="2542"/>
                      <a:ext cx="58" cy="71"/>
                      <a:chOff x="671" y="2542"/>
                      <a:chExt cx="58" cy="71"/>
                    </a:xfrm>
                  </p:grpSpPr>
                  <p:sp>
                    <p:nvSpPr>
                      <p:cNvPr id="74" name="Rectangle 59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74" y="2542"/>
                        <a:ext cx="52" cy="6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75" name="Rectangle 59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71" y="2608"/>
                        <a:ext cx="58" cy="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76" name="Line 59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99" y="2542"/>
                        <a:ext cx="1" cy="63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77" name="Line 596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4" y="2575"/>
                        <a:ext cx="52" cy="1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64" name="Group 597"/>
                    <p:cNvGrpSpPr/>
                    <p:nvPr/>
                  </p:nvGrpSpPr>
                  <p:grpSpPr bwMode="auto">
                    <a:xfrm>
                      <a:off x="931" y="2542"/>
                      <a:ext cx="58" cy="71"/>
                      <a:chOff x="931" y="2542"/>
                      <a:chExt cx="58" cy="71"/>
                    </a:xfrm>
                  </p:grpSpPr>
                  <p:sp>
                    <p:nvSpPr>
                      <p:cNvPr id="70" name="Rectangle 59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34" y="2542"/>
                        <a:ext cx="52" cy="6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71" name="Rectangle 59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31" y="2608"/>
                        <a:ext cx="58" cy="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72" name="Line 60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960" y="2542"/>
                        <a:ext cx="1" cy="63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73" name="Line 60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934" y="2575"/>
                        <a:ext cx="52" cy="1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65" name="Group 602"/>
                    <p:cNvGrpSpPr/>
                    <p:nvPr/>
                  </p:nvGrpSpPr>
                  <p:grpSpPr bwMode="auto">
                    <a:xfrm>
                      <a:off x="997" y="2542"/>
                      <a:ext cx="57" cy="71"/>
                      <a:chOff x="997" y="2542"/>
                      <a:chExt cx="57" cy="71"/>
                    </a:xfrm>
                  </p:grpSpPr>
                  <p:sp>
                    <p:nvSpPr>
                      <p:cNvPr id="66" name="Rectangle 60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99" y="2542"/>
                        <a:ext cx="52" cy="6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67" name="Rectangle 60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97" y="2608"/>
                        <a:ext cx="57" cy="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317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68" name="Line 60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025" y="2542"/>
                        <a:ext cx="1" cy="63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69" name="Line 606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999" y="2575"/>
                        <a:ext cx="52" cy="1"/>
                      </a:xfrm>
                      <a:prstGeom prst="line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</p:grpSp>
              <p:grpSp>
                <p:nvGrpSpPr>
                  <p:cNvPr id="49" name="Group 607"/>
                  <p:cNvGrpSpPr/>
                  <p:nvPr/>
                </p:nvGrpSpPr>
                <p:grpSpPr bwMode="auto">
                  <a:xfrm>
                    <a:off x="868" y="2643"/>
                    <a:ext cx="54" cy="97"/>
                    <a:chOff x="868" y="2643"/>
                    <a:chExt cx="54" cy="97"/>
                  </a:xfrm>
                </p:grpSpPr>
                <p:sp>
                  <p:nvSpPr>
                    <p:cNvPr id="50" name="Rectangle 60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68" y="2643"/>
                      <a:ext cx="54" cy="97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1" name="Rectangle 60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74" y="2653"/>
                      <a:ext cx="41" cy="81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2" name="Oval 61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08" y="2693"/>
                      <a:ext cx="2" cy="3"/>
                    </a:xfrm>
                    <a:prstGeom prst="ellipse">
                      <a:avLst/>
                    </a:pr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</p:grpSp>
          <p:sp>
            <p:nvSpPr>
              <p:cNvPr id="27" name="Line 611"/>
              <p:cNvSpPr>
                <a:spLocks noChangeShapeType="1"/>
              </p:cNvSpPr>
              <p:nvPr/>
            </p:nvSpPr>
            <p:spPr bwMode="auto">
              <a:xfrm flipH="1">
                <a:off x="1269" y="2550"/>
                <a:ext cx="263" cy="5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3655" dirty="0"/>
              </a:p>
            </p:txBody>
          </p:sp>
          <p:sp>
            <p:nvSpPr>
              <p:cNvPr id="31" name="Freeform 615"/>
              <p:cNvSpPr/>
              <p:nvPr/>
            </p:nvSpPr>
            <p:spPr bwMode="auto">
              <a:xfrm>
                <a:off x="912" y="2064"/>
                <a:ext cx="912" cy="336"/>
              </a:xfrm>
              <a:custGeom>
                <a:avLst/>
                <a:gdLst>
                  <a:gd name="T0" fmla="*/ 912 w 912"/>
                  <a:gd name="T1" fmla="*/ 288 h 336"/>
                  <a:gd name="T2" fmla="*/ 912 w 912"/>
                  <a:gd name="T3" fmla="*/ 0 h 336"/>
                  <a:gd name="T4" fmla="*/ 0 w 912"/>
                  <a:gd name="T5" fmla="*/ 0 h 336"/>
                  <a:gd name="T6" fmla="*/ 0 w 912"/>
                  <a:gd name="T7" fmla="*/ 336 h 3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12" h="336">
                    <a:moveTo>
                      <a:pt x="912" y="288"/>
                    </a:moveTo>
                    <a:lnTo>
                      <a:pt x="912" y="0"/>
                    </a:lnTo>
                    <a:lnTo>
                      <a:pt x="0" y="0"/>
                    </a:lnTo>
                    <a:lnTo>
                      <a:pt x="0" y="336"/>
                    </a:lnTo>
                  </a:path>
                </a:pathLst>
              </a:custGeom>
              <a:noFill/>
              <a:ln w="76200" cap="flat">
                <a:solidFill>
                  <a:schemeClr val="tx1"/>
                </a:solidFill>
                <a:prstDash val="dash"/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3655"/>
              </a:p>
            </p:txBody>
          </p:sp>
          <p:sp>
            <p:nvSpPr>
              <p:cNvPr id="32" name="Freeform 616"/>
              <p:cNvSpPr/>
              <p:nvPr/>
            </p:nvSpPr>
            <p:spPr bwMode="auto">
              <a:xfrm>
                <a:off x="1968" y="2064"/>
                <a:ext cx="912" cy="336"/>
              </a:xfrm>
              <a:custGeom>
                <a:avLst/>
                <a:gdLst>
                  <a:gd name="T0" fmla="*/ 912 w 912"/>
                  <a:gd name="T1" fmla="*/ 288 h 336"/>
                  <a:gd name="T2" fmla="*/ 912 w 912"/>
                  <a:gd name="T3" fmla="*/ 0 h 336"/>
                  <a:gd name="T4" fmla="*/ 0 w 912"/>
                  <a:gd name="T5" fmla="*/ 0 h 336"/>
                  <a:gd name="T6" fmla="*/ 0 w 912"/>
                  <a:gd name="T7" fmla="*/ 336 h 3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12" h="336">
                    <a:moveTo>
                      <a:pt x="912" y="288"/>
                    </a:moveTo>
                    <a:lnTo>
                      <a:pt x="912" y="0"/>
                    </a:lnTo>
                    <a:lnTo>
                      <a:pt x="0" y="0"/>
                    </a:lnTo>
                    <a:lnTo>
                      <a:pt x="0" y="336"/>
                    </a:lnTo>
                  </a:path>
                </a:pathLst>
              </a:custGeom>
              <a:noFill/>
              <a:ln w="76200" cap="flat">
                <a:solidFill>
                  <a:schemeClr val="tx1"/>
                </a:solidFill>
                <a:prstDash val="dash"/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3655"/>
              </a:p>
            </p:txBody>
          </p:sp>
          <p:sp>
            <p:nvSpPr>
              <p:cNvPr id="33" name="Freeform 617"/>
              <p:cNvSpPr/>
              <p:nvPr/>
            </p:nvSpPr>
            <p:spPr bwMode="auto">
              <a:xfrm>
                <a:off x="3024" y="2064"/>
                <a:ext cx="912" cy="336"/>
              </a:xfrm>
              <a:custGeom>
                <a:avLst/>
                <a:gdLst>
                  <a:gd name="T0" fmla="*/ 912 w 912"/>
                  <a:gd name="T1" fmla="*/ 288 h 336"/>
                  <a:gd name="T2" fmla="*/ 912 w 912"/>
                  <a:gd name="T3" fmla="*/ 0 h 336"/>
                  <a:gd name="T4" fmla="*/ 0 w 912"/>
                  <a:gd name="T5" fmla="*/ 0 h 336"/>
                  <a:gd name="T6" fmla="*/ 0 w 912"/>
                  <a:gd name="T7" fmla="*/ 336 h 3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12" h="336">
                    <a:moveTo>
                      <a:pt x="912" y="288"/>
                    </a:moveTo>
                    <a:lnTo>
                      <a:pt x="912" y="0"/>
                    </a:lnTo>
                    <a:lnTo>
                      <a:pt x="0" y="0"/>
                    </a:lnTo>
                    <a:lnTo>
                      <a:pt x="0" y="336"/>
                    </a:lnTo>
                  </a:path>
                </a:pathLst>
              </a:custGeom>
              <a:noFill/>
              <a:ln w="76200" cap="flat">
                <a:solidFill>
                  <a:schemeClr val="tx1"/>
                </a:solidFill>
                <a:prstDash val="dash"/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3655"/>
              </a:p>
            </p:txBody>
          </p:sp>
          <p:sp>
            <p:nvSpPr>
              <p:cNvPr id="34" name="Line 618"/>
              <p:cNvSpPr>
                <a:spLocks noChangeShapeType="1"/>
              </p:cNvSpPr>
              <p:nvPr/>
            </p:nvSpPr>
            <p:spPr bwMode="auto">
              <a:xfrm flipH="1">
                <a:off x="4368" y="2352"/>
                <a:ext cx="432" cy="0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prstDash val="dash"/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3655"/>
              </a:p>
            </p:txBody>
          </p:sp>
          <p:sp>
            <p:nvSpPr>
              <p:cNvPr id="35" name="Text Box 619"/>
              <p:cNvSpPr txBox="1">
                <a:spLocks noChangeArrowheads="1"/>
              </p:cNvSpPr>
              <p:nvPr/>
            </p:nvSpPr>
            <p:spPr bwMode="auto">
              <a:xfrm>
                <a:off x="4495" y="2112"/>
                <a:ext cx="327" cy="1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sz="3655" dirty="0"/>
                  <a:t>用户需求</a:t>
                </a:r>
                <a:endParaRPr lang="zh-CN" altLang="en-US" sz="3655" dirty="0"/>
              </a:p>
            </p:txBody>
          </p:sp>
          <p:sp>
            <p:nvSpPr>
              <p:cNvPr id="36" name="Text Box 620"/>
              <p:cNvSpPr txBox="1">
                <a:spLocks noChangeArrowheads="1"/>
              </p:cNvSpPr>
              <p:nvPr/>
            </p:nvSpPr>
            <p:spPr bwMode="auto">
              <a:xfrm>
                <a:off x="3402" y="1872"/>
                <a:ext cx="178" cy="1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sz="3655" dirty="0"/>
                  <a:t>看板</a:t>
                </a:r>
                <a:endParaRPr lang="zh-CN" altLang="en-US" sz="3655" dirty="0"/>
              </a:p>
            </p:txBody>
          </p:sp>
          <p:sp>
            <p:nvSpPr>
              <p:cNvPr id="37" name="Text Box 621"/>
              <p:cNvSpPr txBox="1">
                <a:spLocks noChangeArrowheads="1"/>
              </p:cNvSpPr>
              <p:nvPr/>
            </p:nvSpPr>
            <p:spPr bwMode="auto">
              <a:xfrm>
                <a:off x="2292" y="1872"/>
                <a:ext cx="178" cy="1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sz="3655" dirty="0"/>
                  <a:t>看板</a:t>
                </a:r>
                <a:endParaRPr lang="zh-CN" altLang="en-US" sz="3655" dirty="0"/>
              </a:p>
            </p:txBody>
          </p:sp>
          <p:sp>
            <p:nvSpPr>
              <p:cNvPr id="38" name="Text Box 622"/>
              <p:cNvSpPr txBox="1">
                <a:spLocks noChangeArrowheads="1"/>
              </p:cNvSpPr>
              <p:nvPr/>
            </p:nvSpPr>
            <p:spPr bwMode="auto">
              <a:xfrm>
                <a:off x="1263" y="1872"/>
                <a:ext cx="178" cy="1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sz="3655" dirty="0"/>
                  <a:t>看板</a:t>
                </a:r>
                <a:endParaRPr lang="zh-CN" altLang="en-US" sz="3655" dirty="0"/>
              </a:p>
            </p:txBody>
          </p:sp>
          <p:sp>
            <p:nvSpPr>
              <p:cNvPr id="39" name="Text Box 623"/>
              <p:cNvSpPr txBox="1">
                <a:spLocks noChangeArrowheads="1"/>
              </p:cNvSpPr>
              <p:nvPr/>
            </p:nvSpPr>
            <p:spPr bwMode="auto">
              <a:xfrm>
                <a:off x="4510" y="2496"/>
                <a:ext cx="178" cy="1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sz="3655" dirty="0"/>
                  <a:t>拉动</a:t>
                </a:r>
                <a:endParaRPr lang="zh-CN" altLang="en-US" sz="3655" dirty="0"/>
              </a:p>
            </p:txBody>
          </p:sp>
          <p:sp>
            <p:nvSpPr>
              <p:cNvPr id="40" name="Text Box 624"/>
              <p:cNvSpPr txBox="1">
                <a:spLocks noChangeArrowheads="1"/>
              </p:cNvSpPr>
              <p:nvPr/>
            </p:nvSpPr>
            <p:spPr bwMode="auto">
              <a:xfrm>
                <a:off x="2397" y="2352"/>
                <a:ext cx="178" cy="1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sz="3655" dirty="0"/>
                  <a:t>拉动</a:t>
                </a:r>
                <a:endParaRPr lang="zh-CN" altLang="en-US" sz="3655" dirty="0"/>
              </a:p>
            </p:txBody>
          </p:sp>
          <p:sp>
            <p:nvSpPr>
              <p:cNvPr id="41" name="Text Box 625"/>
              <p:cNvSpPr txBox="1">
                <a:spLocks noChangeArrowheads="1"/>
              </p:cNvSpPr>
              <p:nvPr/>
            </p:nvSpPr>
            <p:spPr bwMode="auto">
              <a:xfrm>
                <a:off x="3405" y="2304"/>
                <a:ext cx="178" cy="1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sz="3655" dirty="0"/>
                  <a:t>拉动</a:t>
                </a:r>
                <a:endParaRPr lang="zh-CN" altLang="en-US" sz="3655" dirty="0"/>
              </a:p>
            </p:txBody>
          </p:sp>
          <p:sp>
            <p:nvSpPr>
              <p:cNvPr id="42" name="Text Box 626"/>
              <p:cNvSpPr txBox="1">
                <a:spLocks noChangeArrowheads="1"/>
              </p:cNvSpPr>
              <p:nvPr/>
            </p:nvSpPr>
            <p:spPr bwMode="auto">
              <a:xfrm>
                <a:off x="1341" y="2352"/>
                <a:ext cx="178" cy="1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sz="3655" dirty="0"/>
                  <a:t>拉动</a:t>
                </a:r>
                <a:endParaRPr lang="zh-CN" altLang="en-US" sz="3655" dirty="0"/>
              </a:p>
            </p:txBody>
          </p:sp>
          <p:sp>
            <p:nvSpPr>
              <p:cNvPr id="643" name="Text Box 622"/>
              <p:cNvSpPr txBox="1">
                <a:spLocks noChangeArrowheads="1"/>
              </p:cNvSpPr>
              <p:nvPr/>
            </p:nvSpPr>
            <p:spPr bwMode="auto">
              <a:xfrm>
                <a:off x="589" y="2811"/>
                <a:ext cx="476" cy="1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sz="3655" dirty="0"/>
                  <a:t>原材料供应商</a:t>
                </a:r>
                <a:endParaRPr lang="zh-CN" altLang="en-US" sz="3655" dirty="0"/>
              </a:p>
            </p:txBody>
          </p:sp>
          <p:sp>
            <p:nvSpPr>
              <p:cNvPr id="644" name="Text Box 622"/>
              <p:cNvSpPr txBox="1">
                <a:spLocks noChangeArrowheads="1"/>
              </p:cNvSpPr>
              <p:nvPr/>
            </p:nvSpPr>
            <p:spPr bwMode="auto">
              <a:xfrm>
                <a:off x="1836" y="2811"/>
                <a:ext cx="253" cy="1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sz="3655" dirty="0"/>
                  <a:t>生产商</a:t>
                </a:r>
                <a:endParaRPr lang="zh-CN" altLang="en-US" sz="3655" dirty="0"/>
              </a:p>
            </p:txBody>
          </p:sp>
          <p:sp>
            <p:nvSpPr>
              <p:cNvPr id="645" name="Text Box 622"/>
              <p:cNvSpPr txBox="1">
                <a:spLocks noChangeArrowheads="1"/>
              </p:cNvSpPr>
              <p:nvPr/>
            </p:nvSpPr>
            <p:spPr bwMode="auto">
              <a:xfrm>
                <a:off x="2878" y="2820"/>
                <a:ext cx="253" cy="1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sz="3655" dirty="0"/>
                  <a:t>分销商</a:t>
                </a:r>
                <a:endParaRPr lang="zh-CN" altLang="en-US" sz="3655" dirty="0"/>
              </a:p>
            </p:txBody>
          </p:sp>
          <p:sp>
            <p:nvSpPr>
              <p:cNvPr id="646" name="Text Box 622"/>
              <p:cNvSpPr txBox="1">
                <a:spLocks noChangeArrowheads="1"/>
              </p:cNvSpPr>
              <p:nvPr/>
            </p:nvSpPr>
            <p:spPr bwMode="auto">
              <a:xfrm>
                <a:off x="3947" y="2847"/>
                <a:ext cx="253" cy="1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sz="3655" dirty="0"/>
                  <a:t>零售商</a:t>
                </a:r>
                <a:endParaRPr lang="zh-CN" altLang="en-US" sz="3655" dirty="0"/>
              </a:p>
            </p:txBody>
          </p:sp>
          <p:sp>
            <p:nvSpPr>
              <p:cNvPr id="647" name="Text Box 622"/>
              <p:cNvSpPr txBox="1">
                <a:spLocks noChangeArrowheads="1"/>
              </p:cNvSpPr>
              <p:nvPr/>
            </p:nvSpPr>
            <p:spPr bwMode="auto">
              <a:xfrm>
                <a:off x="4981" y="2849"/>
                <a:ext cx="178" cy="1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sz="3655" dirty="0"/>
                  <a:t>用户</a:t>
                </a:r>
                <a:endParaRPr lang="zh-CN" altLang="en-US" sz="3655" dirty="0"/>
              </a:p>
            </p:txBody>
          </p:sp>
          <p:sp>
            <p:nvSpPr>
              <p:cNvPr id="650" name="Line 611"/>
              <p:cNvSpPr>
                <a:spLocks noChangeShapeType="1"/>
              </p:cNvSpPr>
              <p:nvPr/>
            </p:nvSpPr>
            <p:spPr bwMode="auto">
              <a:xfrm flipH="1">
                <a:off x="2356" y="2568"/>
                <a:ext cx="263" cy="5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3655" dirty="0"/>
              </a:p>
            </p:txBody>
          </p:sp>
          <p:sp>
            <p:nvSpPr>
              <p:cNvPr id="651" name="Line 611"/>
              <p:cNvSpPr>
                <a:spLocks noChangeShapeType="1"/>
              </p:cNvSpPr>
              <p:nvPr/>
            </p:nvSpPr>
            <p:spPr bwMode="auto">
              <a:xfrm flipH="1">
                <a:off x="3361" y="2556"/>
                <a:ext cx="263" cy="5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3655" dirty="0"/>
              </a:p>
            </p:txBody>
          </p:sp>
          <p:sp>
            <p:nvSpPr>
              <p:cNvPr id="652" name="Line 611"/>
              <p:cNvSpPr>
                <a:spLocks noChangeShapeType="1"/>
              </p:cNvSpPr>
              <p:nvPr/>
            </p:nvSpPr>
            <p:spPr bwMode="auto">
              <a:xfrm flipH="1">
                <a:off x="4399" y="2492"/>
                <a:ext cx="387" cy="0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3655" dirty="0"/>
              </a:p>
            </p:txBody>
          </p:sp>
        </p:grpSp>
        <p:grpSp>
          <p:nvGrpSpPr>
            <p:cNvPr id="6" name="Group 627"/>
            <p:cNvGrpSpPr/>
            <p:nvPr/>
          </p:nvGrpSpPr>
          <p:grpSpPr bwMode="auto">
            <a:xfrm>
              <a:off x="6328167" y="13431222"/>
              <a:ext cx="36281631" cy="1963658"/>
              <a:chOff x="384" y="2832"/>
              <a:chExt cx="4176" cy="336"/>
            </a:xfrm>
          </p:grpSpPr>
          <p:sp>
            <p:nvSpPr>
              <p:cNvPr id="7" name="Text Box 628"/>
              <p:cNvSpPr txBox="1">
                <a:spLocks noChangeArrowheads="1"/>
              </p:cNvSpPr>
              <p:nvPr/>
            </p:nvSpPr>
            <p:spPr bwMode="auto">
              <a:xfrm>
                <a:off x="3840" y="2832"/>
                <a:ext cx="343" cy="1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3655" dirty="0"/>
                  <a:t>3-5</a:t>
                </a:r>
                <a:r>
                  <a:rPr lang="zh-CN" altLang="en-US" sz="3655" dirty="0"/>
                  <a:t>个星期</a:t>
                </a:r>
                <a:endParaRPr lang="zh-CN" altLang="en-US" sz="3655" dirty="0"/>
              </a:p>
            </p:txBody>
          </p:sp>
          <p:sp>
            <p:nvSpPr>
              <p:cNvPr id="8" name="Text Box 629"/>
              <p:cNvSpPr txBox="1">
                <a:spLocks noChangeArrowheads="1"/>
              </p:cNvSpPr>
              <p:nvPr/>
            </p:nvSpPr>
            <p:spPr bwMode="auto">
              <a:xfrm>
                <a:off x="2832" y="2832"/>
                <a:ext cx="343" cy="1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3655" dirty="0"/>
                  <a:t>5-7</a:t>
                </a:r>
                <a:r>
                  <a:rPr lang="zh-CN" altLang="en-US" sz="3655" dirty="0"/>
                  <a:t>个星期</a:t>
                </a:r>
                <a:endParaRPr lang="zh-CN" altLang="en-US" sz="3655" dirty="0"/>
              </a:p>
            </p:txBody>
          </p:sp>
          <p:sp>
            <p:nvSpPr>
              <p:cNvPr id="9" name="Text Box 630"/>
              <p:cNvSpPr txBox="1">
                <a:spLocks noChangeArrowheads="1"/>
              </p:cNvSpPr>
              <p:nvPr/>
            </p:nvSpPr>
            <p:spPr bwMode="auto">
              <a:xfrm>
                <a:off x="1776" y="2832"/>
                <a:ext cx="240" cy="1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sz="3655"/>
                  <a:t>几个月</a:t>
                </a:r>
                <a:endParaRPr lang="zh-CN" altLang="en-US" sz="3655"/>
              </a:p>
            </p:txBody>
          </p:sp>
          <p:sp>
            <p:nvSpPr>
              <p:cNvPr id="10" name="Text Box 631"/>
              <p:cNvSpPr txBox="1">
                <a:spLocks noChangeArrowheads="1"/>
              </p:cNvSpPr>
              <p:nvPr/>
            </p:nvSpPr>
            <p:spPr bwMode="auto">
              <a:xfrm>
                <a:off x="720" y="2832"/>
                <a:ext cx="240" cy="1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sz="3655" dirty="0"/>
                  <a:t>几个月</a:t>
                </a:r>
                <a:endParaRPr lang="zh-CN" altLang="en-US" sz="3655" dirty="0"/>
              </a:p>
            </p:txBody>
          </p:sp>
          <p:sp>
            <p:nvSpPr>
              <p:cNvPr id="11" name="Line 632"/>
              <p:cNvSpPr>
                <a:spLocks noChangeShapeType="1"/>
              </p:cNvSpPr>
              <p:nvPr/>
            </p:nvSpPr>
            <p:spPr bwMode="auto">
              <a:xfrm>
                <a:off x="384" y="3024"/>
                <a:ext cx="10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3655"/>
              </a:p>
            </p:txBody>
          </p:sp>
          <p:sp>
            <p:nvSpPr>
              <p:cNvPr id="12" name="Line 633"/>
              <p:cNvSpPr>
                <a:spLocks noChangeShapeType="1"/>
              </p:cNvSpPr>
              <p:nvPr/>
            </p:nvSpPr>
            <p:spPr bwMode="auto">
              <a:xfrm>
                <a:off x="384" y="2928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3655"/>
              </a:p>
            </p:txBody>
          </p:sp>
          <p:sp>
            <p:nvSpPr>
              <p:cNvPr id="13" name="Line 634"/>
              <p:cNvSpPr>
                <a:spLocks noChangeShapeType="1"/>
              </p:cNvSpPr>
              <p:nvPr/>
            </p:nvSpPr>
            <p:spPr bwMode="auto">
              <a:xfrm>
                <a:off x="1392" y="2928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3655"/>
              </a:p>
            </p:txBody>
          </p:sp>
          <p:sp>
            <p:nvSpPr>
              <p:cNvPr id="14" name="Line 635"/>
              <p:cNvSpPr>
                <a:spLocks noChangeShapeType="1"/>
              </p:cNvSpPr>
              <p:nvPr/>
            </p:nvSpPr>
            <p:spPr bwMode="auto">
              <a:xfrm>
                <a:off x="1392" y="3024"/>
                <a:ext cx="10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3655"/>
              </a:p>
            </p:txBody>
          </p:sp>
          <p:sp>
            <p:nvSpPr>
              <p:cNvPr id="15" name="Line 636"/>
              <p:cNvSpPr>
                <a:spLocks noChangeShapeType="1"/>
              </p:cNvSpPr>
              <p:nvPr/>
            </p:nvSpPr>
            <p:spPr bwMode="auto">
              <a:xfrm>
                <a:off x="1392" y="2928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3655"/>
              </a:p>
            </p:txBody>
          </p:sp>
          <p:sp>
            <p:nvSpPr>
              <p:cNvPr id="16" name="Line 637"/>
              <p:cNvSpPr>
                <a:spLocks noChangeShapeType="1"/>
              </p:cNvSpPr>
              <p:nvPr/>
            </p:nvSpPr>
            <p:spPr bwMode="auto">
              <a:xfrm>
                <a:off x="2400" y="2928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3655"/>
              </a:p>
            </p:txBody>
          </p:sp>
          <p:sp>
            <p:nvSpPr>
              <p:cNvPr id="17" name="Line 638"/>
              <p:cNvSpPr>
                <a:spLocks noChangeShapeType="1"/>
              </p:cNvSpPr>
              <p:nvPr/>
            </p:nvSpPr>
            <p:spPr bwMode="auto">
              <a:xfrm>
                <a:off x="2400" y="3024"/>
                <a:ext cx="1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3655"/>
              </a:p>
            </p:txBody>
          </p:sp>
          <p:sp>
            <p:nvSpPr>
              <p:cNvPr id="18" name="Line 639"/>
              <p:cNvSpPr>
                <a:spLocks noChangeShapeType="1"/>
              </p:cNvSpPr>
              <p:nvPr/>
            </p:nvSpPr>
            <p:spPr bwMode="auto">
              <a:xfrm>
                <a:off x="2400" y="2928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3655"/>
              </a:p>
            </p:txBody>
          </p:sp>
          <p:sp>
            <p:nvSpPr>
              <p:cNvPr id="19" name="Line 640"/>
              <p:cNvSpPr>
                <a:spLocks noChangeShapeType="1"/>
              </p:cNvSpPr>
              <p:nvPr/>
            </p:nvSpPr>
            <p:spPr bwMode="auto">
              <a:xfrm>
                <a:off x="3552" y="3024"/>
                <a:ext cx="10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3655"/>
              </a:p>
            </p:txBody>
          </p:sp>
          <p:sp>
            <p:nvSpPr>
              <p:cNvPr id="20" name="Line 641"/>
              <p:cNvSpPr>
                <a:spLocks noChangeShapeType="1"/>
              </p:cNvSpPr>
              <p:nvPr/>
            </p:nvSpPr>
            <p:spPr bwMode="auto">
              <a:xfrm>
                <a:off x="3552" y="2928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3655"/>
              </a:p>
            </p:txBody>
          </p:sp>
          <p:sp>
            <p:nvSpPr>
              <p:cNvPr id="21" name="Line 642"/>
              <p:cNvSpPr>
                <a:spLocks noChangeShapeType="1"/>
              </p:cNvSpPr>
              <p:nvPr/>
            </p:nvSpPr>
            <p:spPr bwMode="auto">
              <a:xfrm>
                <a:off x="4560" y="2928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3655"/>
              </a:p>
            </p:txBody>
          </p:sp>
        </p:grpSp>
      </p:grpSp>
      <p:sp>
        <p:nvSpPr>
          <p:cNvPr id="653" name="文本框 652"/>
          <p:cNvSpPr txBox="1"/>
          <p:nvPr/>
        </p:nvSpPr>
        <p:spPr>
          <a:xfrm>
            <a:off x="8838608" y="13329275"/>
            <a:ext cx="10577392" cy="95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635" dirty="0"/>
              <a:t>“拉式”供应链</a:t>
            </a:r>
            <a:endParaRPr lang="zh-CN" altLang="en-US" sz="5635" dirty="0"/>
          </a:p>
        </p:txBody>
      </p:sp>
      <p:sp>
        <p:nvSpPr>
          <p:cNvPr id="648" name="文本框 647"/>
          <p:cNvSpPr txBox="1"/>
          <p:nvPr/>
        </p:nvSpPr>
        <p:spPr>
          <a:xfrm>
            <a:off x="27260162" y="5694492"/>
            <a:ext cx="5646744" cy="821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/>
              <a:t>特点：</a:t>
            </a:r>
            <a:endParaRPr lang="en-US" altLang="zh-CN" sz="4800" dirty="0"/>
          </a:p>
          <a:p>
            <a:pPr algn="ctr"/>
            <a:endParaRPr lang="en-US" altLang="zh-CN" sz="4800" dirty="0"/>
          </a:p>
          <a:p>
            <a:pPr algn="ctr"/>
            <a:r>
              <a:rPr lang="zh-CN" altLang="en-US" sz="4800" dirty="0"/>
              <a:t>周期长</a:t>
            </a:r>
            <a:endParaRPr lang="en-US" altLang="zh-CN" sz="4800" dirty="0"/>
          </a:p>
          <a:p>
            <a:pPr algn="ctr"/>
            <a:endParaRPr lang="en-US" altLang="zh-CN" sz="4800" dirty="0"/>
          </a:p>
          <a:p>
            <a:pPr algn="ctr"/>
            <a:r>
              <a:rPr lang="zh-CN" altLang="en-US" sz="4800" dirty="0"/>
              <a:t>库存低</a:t>
            </a:r>
            <a:endParaRPr lang="en-US" altLang="zh-CN" sz="4800" dirty="0"/>
          </a:p>
          <a:p>
            <a:pPr algn="ctr"/>
            <a:endParaRPr lang="en-US" altLang="zh-CN" sz="4800" dirty="0"/>
          </a:p>
          <a:p>
            <a:pPr algn="ctr"/>
            <a:r>
              <a:rPr lang="zh-CN" altLang="en-US" sz="4800" dirty="0"/>
              <a:t>牛鞭效应大</a:t>
            </a:r>
            <a:endParaRPr lang="en-US" altLang="zh-CN" sz="4800" dirty="0"/>
          </a:p>
          <a:p>
            <a:pPr algn="ctr"/>
            <a:endParaRPr lang="en-US" altLang="zh-CN" sz="4800" dirty="0"/>
          </a:p>
          <a:p>
            <a:pPr algn="ctr"/>
            <a:endParaRPr lang="en-US" altLang="zh-CN" sz="4800" dirty="0"/>
          </a:p>
          <a:p>
            <a:pPr algn="ctr"/>
            <a:endParaRPr lang="en-US" altLang="zh-CN" sz="4800" dirty="0"/>
          </a:p>
          <a:p>
            <a:pPr algn="ctr"/>
            <a:endParaRPr lang="zh-CN" altLang="en-US" sz="4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47628" y="1315617"/>
            <a:ext cx="30292596" cy="1803001"/>
          </a:xfrm>
        </p:spPr>
        <p:txBody>
          <a:bodyPr>
            <a:normAutofit fontScale="90000"/>
          </a:bodyPr>
          <a:lstStyle/>
          <a:p>
            <a:r>
              <a:rPr lang="zh-CN" altLang="en-US" sz="8100" dirty="0">
                <a:solidFill>
                  <a:srgbClr val="595959"/>
                </a:solidFill>
                <a:ea typeface="方正兰亭黑_GBK" panose="02000000000000000000" pitchFamily="2" charset="-122"/>
              </a:rPr>
              <a:t>敏捷供应链</a:t>
            </a:r>
            <a:br>
              <a:rPr lang="zh-CN" altLang="en-US" dirty="0"/>
            </a:br>
            <a:endParaRPr lang="zh-CN" alt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2046463" y="4549775"/>
            <a:ext cx="22901673" cy="8775504"/>
            <a:chOff x="2651918" y="6258749"/>
            <a:chExt cx="30648389" cy="9514734"/>
          </a:xfrm>
        </p:grpSpPr>
        <p:grpSp>
          <p:nvGrpSpPr>
            <p:cNvPr id="7" name="Group 5"/>
            <p:cNvGrpSpPr/>
            <p:nvPr/>
          </p:nvGrpSpPr>
          <p:grpSpPr bwMode="auto">
            <a:xfrm>
              <a:off x="23414962" y="8687682"/>
              <a:ext cx="3975766" cy="1420770"/>
              <a:chOff x="3016" y="2340"/>
              <a:chExt cx="721" cy="413"/>
            </a:xfrm>
          </p:grpSpPr>
          <p:sp>
            <p:nvSpPr>
              <p:cNvPr id="555" name="Freeform 6"/>
              <p:cNvSpPr/>
              <p:nvPr/>
            </p:nvSpPr>
            <p:spPr bwMode="auto">
              <a:xfrm>
                <a:off x="3301" y="2625"/>
                <a:ext cx="7" cy="28"/>
              </a:xfrm>
              <a:custGeom>
                <a:avLst/>
                <a:gdLst>
                  <a:gd name="T0" fmla="*/ 32 w 32"/>
                  <a:gd name="T1" fmla="*/ 34 h 110"/>
                  <a:gd name="T2" fmla="*/ 32 w 32"/>
                  <a:gd name="T3" fmla="*/ 110 h 110"/>
                  <a:gd name="T4" fmla="*/ 0 w 32"/>
                  <a:gd name="T5" fmla="*/ 106 h 110"/>
                  <a:gd name="T6" fmla="*/ 0 w 32"/>
                  <a:gd name="T7" fmla="*/ 0 h 110"/>
                  <a:gd name="T8" fmla="*/ 32 w 32"/>
                  <a:gd name="T9" fmla="*/ 34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110">
                    <a:moveTo>
                      <a:pt x="32" y="34"/>
                    </a:moveTo>
                    <a:lnTo>
                      <a:pt x="32" y="110"/>
                    </a:lnTo>
                    <a:lnTo>
                      <a:pt x="0" y="106"/>
                    </a:lnTo>
                    <a:lnTo>
                      <a:pt x="0" y="0"/>
                    </a:lnTo>
                    <a:lnTo>
                      <a:pt x="32" y="34"/>
                    </a:lnTo>
                    <a:close/>
                  </a:path>
                </a:pathLst>
              </a:custGeom>
              <a:solidFill>
                <a:srgbClr val="F9F9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 sz="3655"/>
              </a:p>
            </p:txBody>
          </p:sp>
          <p:grpSp>
            <p:nvGrpSpPr>
              <p:cNvPr id="556" name="Group 7"/>
              <p:cNvGrpSpPr/>
              <p:nvPr/>
            </p:nvGrpSpPr>
            <p:grpSpPr bwMode="auto">
              <a:xfrm>
                <a:off x="3016" y="2340"/>
                <a:ext cx="721" cy="413"/>
                <a:chOff x="3016" y="2340"/>
                <a:chExt cx="721" cy="413"/>
              </a:xfrm>
            </p:grpSpPr>
            <p:grpSp>
              <p:nvGrpSpPr>
                <p:cNvPr id="557" name="Group 8"/>
                <p:cNvGrpSpPr/>
                <p:nvPr/>
              </p:nvGrpSpPr>
              <p:grpSpPr bwMode="auto">
                <a:xfrm>
                  <a:off x="3016" y="2340"/>
                  <a:ext cx="553" cy="372"/>
                  <a:chOff x="3016" y="2340"/>
                  <a:chExt cx="553" cy="372"/>
                </a:xfrm>
              </p:grpSpPr>
              <p:sp>
                <p:nvSpPr>
                  <p:cNvPr id="618" name="Freeform 9"/>
                  <p:cNvSpPr/>
                  <p:nvPr/>
                </p:nvSpPr>
                <p:spPr bwMode="auto">
                  <a:xfrm>
                    <a:off x="3017" y="2416"/>
                    <a:ext cx="552" cy="296"/>
                  </a:xfrm>
                  <a:custGeom>
                    <a:avLst/>
                    <a:gdLst>
                      <a:gd name="T0" fmla="*/ 2760 w 2760"/>
                      <a:gd name="T1" fmla="*/ 0 h 1181"/>
                      <a:gd name="T2" fmla="*/ 2760 w 2760"/>
                      <a:gd name="T3" fmla="*/ 1181 h 1181"/>
                      <a:gd name="T4" fmla="*/ 103 w 2760"/>
                      <a:gd name="T5" fmla="*/ 1181 h 1181"/>
                      <a:gd name="T6" fmla="*/ 103 w 2760"/>
                      <a:gd name="T7" fmla="*/ 962 h 1181"/>
                      <a:gd name="T8" fmla="*/ 50 w 2760"/>
                      <a:gd name="T9" fmla="*/ 947 h 1181"/>
                      <a:gd name="T10" fmla="*/ 50 w 2760"/>
                      <a:gd name="T11" fmla="*/ 800 h 1181"/>
                      <a:gd name="T12" fmla="*/ 0 w 2760"/>
                      <a:gd name="T13" fmla="*/ 778 h 1181"/>
                      <a:gd name="T14" fmla="*/ 2760 w 2760"/>
                      <a:gd name="T15" fmla="*/ 0 h 118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2760" h="1181">
                        <a:moveTo>
                          <a:pt x="2760" y="0"/>
                        </a:moveTo>
                        <a:lnTo>
                          <a:pt x="2760" y="1181"/>
                        </a:lnTo>
                        <a:lnTo>
                          <a:pt x="103" y="1181"/>
                        </a:lnTo>
                        <a:lnTo>
                          <a:pt x="103" y="962"/>
                        </a:lnTo>
                        <a:lnTo>
                          <a:pt x="50" y="947"/>
                        </a:lnTo>
                        <a:lnTo>
                          <a:pt x="50" y="800"/>
                        </a:lnTo>
                        <a:lnTo>
                          <a:pt x="0" y="778"/>
                        </a:lnTo>
                        <a:lnTo>
                          <a:pt x="276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grpSp>
                <p:nvGrpSpPr>
                  <p:cNvPr id="619" name="Group 10"/>
                  <p:cNvGrpSpPr/>
                  <p:nvPr/>
                </p:nvGrpSpPr>
                <p:grpSpPr bwMode="auto">
                  <a:xfrm>
                    <a:off x="3061" y="2651"/>
                    <a:ext cx="35" cy="22"/>
                    <a:chOff x="3061" y="2651"/>
                    <a:chExt cx="35" cy="22"/>
                  </a:xfrm>
                </p:grpSpPr>
                <p:sp>
                  <p:nvSpPr>
                    <p:cNvPr id="644" name="Oval 1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91" y="2651"/>
                      <a:ext cx="5" cy="19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45" name="Oval 1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84" y="2651"/>
                      <a:ext cx="5" cy="20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46" name="Oval 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79" y="2652"/>
                      <a:ext cx="4" cy="20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47" name="Oval 1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73" y="2652"/>
                      <a:ext cx="5" cy="20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48" name="Oval 1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67" y="2653"/>
                      <a:ext cx="5" cy="20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49" name="Oval 1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61" y="2653"/>
                      <a:ext cx="5" cy="20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620" name="Group 17"/>
                  <p:cNvGrpSpPr/>
                  <p:nvPr/>
                </p:nvGrpSpPr>
                <p:grpSpPr bwMode="auto">
                  <a:xfrm>
                    <a:off x="3133" y="2624"/>
                    <a:ext cx="59" cy="41"/>
                    <a:chOff x="3133" y="2624"/>
                    <a:chExt cx="59" cy="41"/>
                  </a:xfrm>
                </p:grpSpPr>
                <p:sp>
                  <p:nvSpPr>
                    <p:cNvPr id="637" name="Freeform 18"/>
                    <p:cNvSpPr/>
                    <p:nvPr/>
                  </p:nvSpPr>
                  <p:spPr bwMode="auto">
                    <a:xfrm>
                      <a:off x="3185" y="2624"/>
                      <a:ext cx="7" cy="33"/>
                    </a:xfrm>
                    <a:custGeom>
                      <a:avLst/>
                      <a:gdLst>
                        <a:gd name="T0" fmla="*/ 0 w 38"/>
                        <a:gd name="T1" fmla="*/ 0 h 131"/>
                        <a:gd name="T2" fmla="*/ 0 w 38"/>
                        <a:gd name="T3" fmla="*/ 131 h 131"/>
                        <a:gd name="T4" fmla="*/ 38 w 38"/>
                        <a:gd name="T5" fmla="*/ 131 h 131"/>
                        <a:gd name="T6" fmla="*/ 38 w 38"/>
                        <a:gd name="T7" fmla="*/ 52 h 131"/>
                        <a:gd name="T8" fmla="*/ 0 w 38"/>
                        <a:gd name="T9" fmla="*/ 0 h 13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38" h="131">
                          <a:moveTo>
                            <a:pt x="0" y="0"/>
                          </a:moveTo>
                          <a:lnTo>
                            <a:pt x="0" y="131"/>
                          </a:lnTo>
                          <a:lnTo>
                            <a:pt x="38" y="131"/>
                          </a:lnTo>
                          <a:lnTo>
                            <a:pt x="38" y="52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38" name="Freeform 19"/>
                    <p:cNvSpPr/>
                    <p:nvPr/>
                  </p:nvSpPr>
                  <p:spPr bwMode="auto">
                    <a:xfrm>
                      <a:off x="3175" y="2625"/>
                      <a:ext cx="8" cy="33"/>
                    </a:xfrm>
                    <a:custGeom>
                      <a:avLst/>
                      <a:gdLst>
                        <a:gd name="T0" fmla="*/ 0 w 38"/>
                        <a:gd name="T1" fmla="*/ 0 h 130"/>
                        <a:gd name="T2" fmla="*/ 0 w 38"/>
                        <a:gd name="T3" fmla="*/ 130 h 130"/>
                        <a:gd name="T4" fmla="*/ 38 w 38"/>
                        <a:gd name="T5" fmla="*/ 130 h 130"/>
                        <a:gd name="T6" fmla="*/ 38 w 38"/>
                        <a:gd name="T7" fmla="*/ 52 h 130"/>
                        <a:gd name="T8" fmla="*/ 0 w 38"/>
                        <a:gd name="T9" fmla="*/ 0 h 13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38" h="130">
                          <a:moveTo>
                            <a:pt x="0" y="0"/>
                          </a:moveTo>
                          <a:lnTo>
                            <a:pt x="0" y="130"/>
                          </a:lnTo>
                          <a:lnTo>
                            <a:pt x="38" y="130"/>
                          </a:lnTo>
                          <a:lnTo>
                            <a:pt x="38" y="52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39" name="Freeform 20"/>
                    <p:cNvSpPr/>
                    <p:nvPr/>
                  </p:nvSpPr>
                  <p:spPr bwMode="auto">
                    <a:xfrm>
                      <a:off x="3167" y="2626"/>
                      <a:ext cx="7" cy="33"/>
                    </a:xfrm>
                    <a:custGeom>
                      <a:avLst/>
                      <a:gdLst>
                        <a:gd name="T0" fmla="*/ 0 w 37"/>
                        <a:gd name="T1" fmla="*/ 0 h 131"/>
                        <a:gd name="T2" fmla="*/ 0 w 37"/>
                        <a:gd name="T3" fmla="*/ 131 h 131"/>
                        <a:gd name="T4" fmla="*/ 37 w 37"/>
                        <a:gd name="T5" fmla="*/ 131 h 131"/>
                        <a:gd name="T6" fmla="*/ 37 w 37"/>
                        <a:gd name="T7" fmla="*/ 52 h 131"/>
                        <a:gd name="T8" fmla="*/ 0 w 37"/>
                        <a:gd name="T9" fmla="*/ 0 h 13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37" h="131">
                          <a:moveTo>
                            <a:pt x="0" y="0"/>
                          </a:moveTo>
                          <a:lnTo>
                            <a:pt x="0" y="131"/>
                          </a:lnTo>
                          <a:lnTo>
                            <a:pt x="37" y="131"/>
                          </a:lnTo>
                          <a:lnTo>
                            <a:pt x="37" y="52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40" name="Freeform 21"/>
                    <p:cNvSpPr/>
                    <p:nvPr/>
                  </p:nvSpPr>
                  <p:spPr bwMode="auto">
                    <a:xfrm>
                      <a:off x="3159" y="2628"/>
                      <a:ext cx="7" cy="33"/>
                    </a:xfrm>
                    <a:custGeom>
                      <a:avLst/>
                      <a:gdLst>
                        <a:gd name="T0" fmla="*/ 0 w 37"/>
                        <a:gd name="T1" fmla="*/ 0 h 129"/>
                        <a:gd name="T2" fmla="*/ 0 w 37"/>
                        <a:gd name="T3" fmla="*/ 129 h 129"/>
                        <a:gd name="T4" fmla="*/ 37 w 37"/>
                        <a:gd name="T5" fmla="*/ 129 h 129"/>
                        <a:gd name="T6" fmla="*/ 37 w 37"/>
                        <a:gd name="T7" fmla="*/ 50 h 129"/>
                        <a:gd name="T8" fmla="*/ 0 w 37"/>
                        <a:gd name="T9" fmla="*/ 0 h 1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37" h="129">
                          <a:moveTo>
                            <a:pt x="0" y="0"/>
                          </a:moveTo>
                          <a:lnTo>
                            <a:pt x="0" y="129"/>
                          </a:lnTo>
                          <a:lnTo>
                            <a:pt x="37" y="129"/>
                          </a:lnTo>
                          <a:lnTo>
                            <a:pt x="37" y="5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41" name="Freeform 22"/>
                    <p:cNvSpPr/>
                    <p:nvPr/>
                  </p:nvSpPr>
                  <p:spPr bwMode="auto">
                    <a:xfrm>
                      <a:off x="3150" y="2628"/>
                      <a:ext cx="8" cy="33"/>
                    </a:xfrm>
                    <a:custGeom>
                      <a:avLst/>
                      <a:gdLst>
                        <a:gd name="T0" fmla="*/ 0 w 38"/>
                        <a:gd name="T1" fmla="*/ 0 h 129"/>
                        <a:gd name="T2" fmla="*/ 0 w 38"/>
                        <a:gd name="T3" fmla="*/ 129 h 129"/>
                        <a:gd name="T4" fmla="*/ 38 w 38"/>
                        <a:gd name="T5" fmla="*/ 129 h 129"/>
                        <a:gd name="T6" fmla="*/ 38 w 38"/>
                        <a:gd name="T7" fmla="*/ 52 h 129"/>
                        <a:gd name="T8" fmla="*/ 0 w 38"/>
                        <a:gd name="T9" fmla="*/ 0 h 1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38" h="129">
                          <a:moveTo>
                            <a:pt x="0" y="0"/>
                          </a:moveTo>
                          <a:lnTo>
                            <a:pt x="0" y="129"/>
                          </a:lnTo>
                          <a:lnTo>
                            <a:pt x="38" y="129"/>
                          </a:lnTo>
                          <a:lnTo>
                            <a:pt x="38" y="52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42" name="Freeform 23"/>
                    <p:cNvSpPr/>
                    <p:nvPr/>
                  </p:nvSpPr>
                  <p:spPr bwMode="auto">
                    <a:xfrm>
                      <a:off x="3142" y="2630"/>
                      <a:ext cx="8" cy="33"/>
                    </a:xfrm>
                    <a:custGeom>
                      <a:avLst/>
                      <a:gdLst>
                        <a:gd name="T0" fmla="*/ 0 w 37"/>
                        <a:gd name="T1" fmla="*/ 0 h 131"/>
                        <a:gd name="T2" fmla="*/ 0 w 37"/>
                        <a:gd name="T3" fmla="*/ 131 h 131"/>
                        <a:gd name="T4" fmla="*/ 37 w 37"/>
                        <a:gd name="T5" fmla="*/ 131 h 131"/>
                        <a:gd name="T6" fmla="*/ 37 w 37"/>
                        <a:gd name="T7" fmla="*/ 52 h 131"/>
                        <a:gd name="T8" fmla="*/ 0 w 37"/>
                        <a:gd name="T9" fmla="*/ 0 h 13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37" h="131">
                          <a:moveTo>
                            <a:pt x="0" y="0"/>
                          </a:moveTo>
                          <a:lnTo>
                            <a:pt x="0" y="131"/>
                          </a:lnTo>
                          <a:lnTo>
                            <a:pt x="37" y="131"/>
                          </a:lnTo>
                          <a:lnTo>
                            <a:pt x="37" y="52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43" name="Freeform 24"/>
                    <p:cNvSpPr/>
                    <p:nvPr/>
                  </p:nvSpPr>
                  <p:spPr bwMode="auto">
                    <a:xfrm>
                      <a:off x="3133" y="2632"/>
                      <a:ext cx="8" cy="33"/>
                    </a:xfrm>
                    <a:custGeom>
                      <a:avLst/>
                      <a:gdLst>
                        <a:gd name="T0" fmla="*/ 0 w 38"/>
                        <a:gd name="T1" fmla="*/ 0 h 130"/>
                        <a:gd name="T2" fmla="*/ 0 w 38"/>
                        <a:gd name="T3" fmla="*/ 130 h 130"/>
                        <a:gd name="T4" fmla="*/ 38 w 38"/>
                        <a:gd name="T5" fmla="*/ 130 h 130"/>
                        <a:gd name="T6" fmla="*/ 38 w 38"/>
                        <a:gd name="T7" fmla="*/ 52 h 130"/>
                        <a:gd name="T8" fmla="*/ 0 w 38"/>
                        <a:gd name="T9" fmla="*/ 0 h 13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38" h="130">
                          <a:moveTo>
                            <a:pt x="0" y="0"/>
                          </a:moveTo>
                          <a:lnTo>
                            <a:pt x="0" y="130"/>
                          </a:lnTo>
                          <a:lnTo>
                            <a:pt x="38" y="130"/>
                          </a:lnTo>
                          <a:lnTo>
                            <a:pt x="38" y="52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621" name="Group 25"/>
                  <p:cNvGrpSpPr/>
                  <p:nvPr/>
                </p:nvGrpSpPr>
                <p:grpSpPr bwMode="auto">
                  <a:xfrm>
                    <a:off x="3248" y="2601"/>
                    <a:ext cx="80" cy="48"/>
                    <a:chOff x="3248" y="2601"/>
                    <a:chExt cx="80" cy="48"/>
                  </a:xfrm>
                </p:grpSpPr>
                <p:sp>
                  <p:nvSpPr>
                    <p:cNvPr id="631" name="Freeform 26"/>
                    <p:cNvSpPr/>
                    <p:nvPr/>
                  </p:nvSpPr>
                  <p:spPr bwMode="auto">
                    <a:xfrm>
                      <a:off x="3318" y="2601"/>
                      <a:ext cx="10" cy="39"/>
                    </a:xfrm>
                    <a:custGeom>
                      <a:avLst/>
                      <a:gdLst>
                        <a:gd name="T0" fmla="*/ 0 w 49"/>
                        <a:gd name="T1" fmla="*/ 0 h 153"/>
                        <a:gd name="T2" fmla="*/ 0 w 49"/>
                        <a:gd name="T3" fmla="*/ 153 h 153"/>
                        <a:gd name="T4" fmla="*/ 49 w 49"/>
                        <a:gd name="T5" fmla="*/ 153 h 153"/>
                        <a:gd name="T6" fmla="*/ 49 w 49"/>
                        <a:gd name="T7" fmla="*/ 44 h 153"/>
                        <a:gd name="T8" fmla="*/ 0 w 49"/>
                        <a:gd name="T9" fmla="*/ 0 h 15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9" h="153">
                          <a:moveTo>
                            <a:pt x="0" y="0"/>
                          </a:moveTo>
                          <a:lnTo>
                            <a:pt x="0" y="153"/>
                          </a:lnTo>
                          <a:lnTo>
                            <a:pt x="49" y="153"/>
                          </a:lnTo>
                          <a:lnTo>
                            <a:pt x="49" y="44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32" name="Freeform 27"/>
                    <p:cNvSpPr/>
                    <p:nvPr/>
                  </p:nvSpPr>
                  <p:spPr bwMode="auto">
                    <a:xfrm>
                      <a:off x="3304" y="2604"/>
                      <a:ext cx="10" cy="38"/>
                    </a:xfrm>
                    <a:custGeom>
                      <a:avLst/>
                      <a:gdLst>
                        <a:gd name="T0" fmla="*/ 0 w 48"/>
                        <a:gd name="T1" fmla="*/ 0 h 153"/>
                        <a:gd name="T2" fmla="*/ 0 w 48"/>
                        <a:gd name="T3" fmla="*/ 153 h 153"/>
                        <a:gd name="T4" fmla="*/ 48 w 48"/>
                        <a:gd name="T5" fmla="*/ 153 h 153"/>
                        <a:gd name="T6" fmla="*/ 48 w 48"/>
                        <a:gd name="T7" fmla="*/ 44 h 153"/>
                        <a:gd name="T8" fmla="*/ 0 w 48"/>
                        <a:gd name="T9" fmla="*/ 0 h 15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8" h="153">
                          <a:moveTo>
                            <a:pt x="0" y="0"/>
                          </a:moveTo>
                          <a:lnTo>
                            <a:pt x="0" y="153"/>
                          </a:lnTo>
                          <a:lnTo>
                            <a:pt x="48" y="153"/>
                          </a:lnTo>
                          <a:lnTo>
                            <a:pt x="48" y="44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33" name="Freeform 28"/>
                    <p:cNvSpPr/>
                    <p:nvPr/>
                  </p:nvSpPr>
                  <p:spPr bwMode="auto">
                    <a:xfrm>
                      <a:off x="3291" y="2605"/>
                      <a:ext cx="9" cy="39"/>
                    </a:xfrm>
                    <a:custGeom>
                      <a:avLst/>
                      <a:gdLst>
                        <a:gd name="T0" fmla="*/ 0 w 49"/>
                        <a:gd name="T1" fmla="*/ 0 h 154"/>
                        <a:gd name="T2" fmla="*/ 0 w 49"/>
                        <a:gd name="T3" fmla="*/ 154 h 154"/>
                        <a:gd name="T4" fmla="*/ 49 w 49"/>
                        <a:gd name="T5" fmla="*/ 154 h 154"/>
                        <a:gd name="T6" fmla="*/ 49 w 49"/>
                        <a:gd name="T7" fmla="*/ 44 h 154"/>
                        <a:gd name="T8" fmla="*/ 0 w 49"/>
                        <a:gd name="T9" fmla="*/ 0 h 1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9" h="154">
                          <a:moveTo>
                            <a:pt x="0" y="0"/>
                          </a:moveTo>
                          <a:lnTo>
                            <a:pt x="0" y="154"/>
                          </a:lnTo>
                          <a:lnTo>
                            <a:pt x="49" y="154"/>
                          </a:lnTo>
                          <a:lnTo>
                            <a:pt x="49" y="44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34" name="Freeform 29"/>
                    <p:cNvSpPr/>
                    <p:nvPr/>
                  </p:nvSpPr>
                  <p:spPr bwMode="auto">
                    <a:xfrm>
                      <a:off x="3276" y="2607"/>
                      <a:ext cx="10" cy="38"/>
                    </a:xfrm>
                    <a:custGeom>
                      <a:avLst/>
                      <a:gdLst>
                        <a:gd name="T0" fmla="*/ 0 w 49"/>
                        <a:gd name="T1" fmla="*/ 0 h 155"/>
                        <a:gd name="T2" fmla="*/ 0 w 49"/>
                        <a:gd name="T3" fmla="*/ 155 h 155"/>
                        <a:gd name="T4" fmla="*/ 49 w 49"/>
                        <a:gd name="T5" fmla="*/ 155 h 155"/>
                        <a:gd name="T6" fmla="*/ 49 w 49"/>
                        <a:gd name="T7" fmla="*/ 45 h 155"/>
                        <a:gd name="T8" fmla="*/ 0 w 49"/>
                        <a:gd name="T9" fmla="*/ 0 h 15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9" h="155">
                          <a:moveTo>
                            <a:pt x="0" y="0"/>
                          </a:moveTo>
                          <a:lnTo>
                            <a:pt x="0" y="155"/>
                          </a:lnTo>
                          <a:lnTo>
                            <a:pt x="49" y="155"/>
                          </a:lnTo>
                          <a:lnTo>
                            <a:pt x="49" y="45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35" name="Freeform 30"/>
                    <p:cNvSpPr/>
                    <p:nvPr/>
                  </p:nvSpPr>
                  <p:spPr bwMode="auto">
                    <a:xfrm>
                      <a:off x="3262" y="2609"/>
                      <a:ext cx="10" cy="38"/>
                    </a:xfrm>
                    <a:custGeom>
                      <a:avLst/>
                      <a:gdLst>
                        <a:gd name="T0" fmla="*/ 0 w 49"/>
                        <a:gd name="T1" fmla="*/ 0 h 153"/>
                        <a:gd name="T2" fmla="*/ 0 w 49"/>
                        <a:gd name="T3" fmla="*/ 153 h 153"/>
                        <a:gd name="T4" fmla="*/ 49 w 49"/>
                        <a:gd name="T5" fmla="*/ 153 h 153"/>
                        <a:gd name="T6" fmla="*/ 49 w 49"/>
                        <a:gd name="T7" fmla="*/ 44 h 153"/>
                        <a:gd name="T8" fmla="*/ 0 w 49"/>
                        <a:gd name="T9" fmla="*/ 0 h 15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9" h="153">
                          <a:moveTo>
                            <a:pt x="0" y="0"/>
                          </a:moveTo>
                          <a:lnTo>
                            <a:pt x="0" y="153"/>
                          </a:lnTo>
                          <a:lnTo>
                            <a:pt x="49" y="153"/>
                          </a:lnTo>
                          <a:lnTo>
                            <a:pt x="49" y="44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36" name="Freeform 31"/>
                    <p:cNvSpPr/>
                    <p:nvPr/>
                  </p:nvSpPr>
                  <p:spPr bwMode="auto">
                    <a:xfrm>
                      <a:off x="3248" y="2610"/>
                      <a:ext cx="9" cy="39"/>
                    </a:xfrm>
                    <a:custGeom>
                      <a:avLst/>
                      <a:gdLst>
                        <a:gd name="T0" fmla="*/ 0 w 49"/>
                        <a:gd name="T1" fmla="*/ 0 h 155"/>
                        <a:gd name="T2" fmla="*/ 0 w 49"/>
                        <a:gd name="T3" fmla="*/ 155 h 155"/>
                        <a:gd name="T4" fmla="*/ 49 w 49"/>
                        <a:gd name="T5" fmla="*/ 155 h 155"/>
                        <a:gd name="T6" fmla="*/ 49 w 49"/>
                        <a:gd name="T7" fmla="*/ 45 h 155"/>
                        <a:gd name="T8" fmla="*/ 0 w 49"/>
                        <a:gd name="T9" fmla="*/ 0 h 15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9" h="155">
                          <a:moveTo>
                            <a:pt x="0" y="0"/>
                          </a:moveTo>
                          <a:lnTo>
                            <a:pt x="0" y="155"/>
                          </a:lnTo>
                          <a:lnTo>
                            <a:pt x="49" y="155"/>
                          </a:lnTo>
                          <a:lnTo>
                            <a:pt x="49" y="45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622" name="Group 32"/>
                  <p:cNvGrpSpPr/>
                  <p:nvPr/>
                </p:nvGrpSpPr>
                <p:grpSpPr bwMode="auto">
                  <a:xfrm>
                    <a:off x="3435" y="2576"/>
                    <a:ext cx="105" cy="49"/>
                    <a:chOff x="3435" y="2576"/>
                    <a:chExt cx="105" cy="49"/>
                  </a:xfrm>
                </p:grpSpPr>
                <p:sp>
                  <p:nvSpPr>
                    <p:cNvPr id="626" name="Freeform 33"/>
                    <p:cNvSpPr/>
                    <p:nvPr/>
                  </p:nvSpPr>
                  <p:spPr bwMode="auto">
                    <a:xfrm>
                      <a:off x="3530" y="2576"/>
                      <a:ext cx="10" cy="37"/>
                    </a:xfrm>
                    <a:custGeom>
                      <a:avLst/>
                      <a:gdLst>
                        <a:gd name="T0" fmla="*/ 0 w 50"/>
                        <a:gd name="T1" fmla="*/ 0 h 148"/>
                        <a:gd name="T2" fmla="*/ 0 w 50"/>
                        <a:gd name="T3" fmla="*/ 148 h 148"/>
                        <a:gd name="T4" fmla="*/ 50 w 50"/>
                        <a:gd name="T5" fmla="*/ 148 h 148"/>
                        <a:gd name="T6" fmla="*/ 50 w 50"/>
                        <a:gd name="T7" fmla="*/ 34 h 148"/>
                        <a:gd name="T8" fmla="*/ 0 w 50"/>
                        <a:gd name="T9" fmla="*/ 0 h 14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50" h="148">
                          <a:moveTo>
                            <a:pt x="0" y="0"/>
                          </a:moveTo>
                          <a:lnTo>
                            <a:pt x="0" y="148"/>
                          </a:lnTo>
                          <a:lnTo>
                            <a:pt x="50" y="148"/>
                          </a:lnTo>
                          <a:lnTo>
                            <a:pt x="50" y="34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27" name="Freeform 34"/>
                    <p:cNvSpPr/>
                    <p:nvPr/>
                  </p:nvSpPr>
                  <p:spPr bwMode="auto">
                    <a:xfrm>
                      <a:off x="3506" y="2578"/>
                      <a:ext cx="10" cy="37"/>
                    </a:xfrm>
                    <a:custGeom>
                      <a:avLst/>
                      <a:gdLst>
                        <a:gd name="T0" fmla="*/ 0 w 50"/>
                        <a:gd name="T1" fmla="*/ 0 h 148"/>
                        <a:gd name="T2" fmla="*/ 0 w 50"/>
                        <a:gd name="T3" fmla="*/ 148 h 148"/>
                        <a:gd name="T4" fmla="*/ 50 w 50"/>
                        <a:gd name="T5" fmla="*/ 148 h 148"/>
                        <a:gd name="T6" fmla="*/ 50 w 50"/>
                        <a:gd name="T7" fmla="*/ 33 h 148"/>
                        <a:gd name="T8" fmla="*/ 0 w 50"/>
                        <a:gd name="T9" fmla="*/ 0 h 14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50" h="148">
                          <a:moveTo>
                            <a:pt x="0" y="0"/>
                          </a:moveTo>
                          <a:lnTo>
                            <a:pt x="0" y="148"/>
                          </a:lnTo>
                          <a:lnTo>
                            <a:pt x="50" y="148"/>
                          </a:lnTo>
                          <a:lnTo>
                            <a:pt x="50" y="33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28" name="Freeform 35"/>
                    <p:cNvSpPr/>
                    <p:nvPr/>
                  </p:nvSpPr>
                  <p:spPr bwMode="auto">
                    <a:xfrm>
                      <a:off x="3482" y="2580"/>
                      <a:ext cx="10" cy="37"/>
                    </a:xfrm>
                    <a:custGeom>
                      <a:avLst/>
                      <a:gdLst>
                        <a:gd name="T0" fmla="*/ 0 w 49"/>
                        <a:gd name="T1" fmla="*/ 0 h 149"/>
                        <a:gd name="T2" fmla="*/ 0 w 49"/>
                        <a:gd name="T3" fmla="*/ 149 h 149"/>
                        <a:gd name="T4" fmla="*/ 49 w 49"/>
                        <a:gd name="T5" fmla="*/ 149 h 149"/>
                        <a:gd name="T6" fmla="*/ 49 w 49"/>
                        <a:gd name="T7" fmla="*/ 33 h 149"/>
                        <a:gd name="T8" fmla="*/ 0 w 49"/>
                        <a:gd name="T9" fmla="*/ 0 h 14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9" h="149">
                          <a:moveTo>
                            <a:pt x="0" y="0"/>
                          </a:moveTo>
                          <a:lnTo>
                            <a:pt x="0" y="149"/>
                          </a:lnTo>
                          <a:lnTo>
                            <a:pt x="49" y="149"/>
                          </a:lnTo>
                          <a:lnTo>
                            <a:pt x="49" y="33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29" name="Freeform 36"/>
                    <p:cNvSpPr/>
                    <p:nvPr/>
                  </p:nvSpPr>
                  <p:spPr bwMode="auto">
                    <a:xfrm>
                      <a:off x="3458" y="2583"/>
                      <a:ext cx="10" cy="37"/>
                    </a:xfrm>
                    <a:custGeom>
                      <a:avLst/>
                      <a:gdLst>
                        <a:gd name="T0" fmla="*/ 0 w 50"/>
                        <a:gd name="T1" fmla="*/ 0 h 147"/>
                        <a:gd name="T2" fmla="*/ 0 w 50"/>
                        <a:gd name="T3" fmla="*/ 147 h 147"/>
                        <a:gd name="T4" fmla="*/ 50 w 50"/>
                        <a:gd name="T5" fmla="*/ 147 h 147"/>
                        <a:gd name="T6" fmla="*/ 50 w 50"/>
                        <a:gd name="T7" fmla="*/ 33 h 147"/>
                        <a:gd name="T8" fmla="*/ 0 w 50"/>
                        <a:gd name="T9" fmla="*/ 0 h 14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50" h="147">
                          <a:moveTo>
                            <a:pt x="0" y="0"/>
                          </a:moveTo>
                          <a:lnTo>
                            <a:pt x="0" y="147"/>
                          </a:lnTo>
                          <a:lnTo>
                            <a:pt x="50" y="147"/>
                          </a:lnTo>
                          <a:lnTo>
                            <a:pt x="50" y="33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30" name="Freeform 37"/>
                    <p:cNvSpPr/>
                    <p:nvPr/>
                  </p:nvSpPr>
                  <p:spPr bwMode="auto">
                    <a:xfrm>
                      <a:off x="3435" y="2588"/>
                      <a:ext cx="10" cy="37"/>
                    </a:xfrm>
                    <a:custGeom>
                      <a:avLst/>
                      <a:gdLst>
                        <a:gd name="T0" fmla="*/ 0 w 49"/>
                        <a:gd name="T1" fmla="*/ 0 h 148"/>
                        <a:gd name="T2" fmla="*/ 0 w 49"/>
                        <a:gd name="T3" fmla="*/ 148 h 148"/>
                        <a:gd name="T4" fmla="*/ 49 w 49"/>
                        <a:gd name="T5" fmla="*/ 148 h 148"/>
                        <a:gd name="T6" fmla="*/ 49 w 49"/>
                        <a:gd name="T7" fmla="*/ 32 h 148"/>
                        <a:gd name="T8" fmla="*/ 0 w 49"/>
                        <a:gd name="T9" fmla="*/ 0 h 14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9" h="148">
                          <a:moveTo>
                            <a:pt x="0" y="0"/>
                          </a:moveTo>
                          <a:lnTo>
                            <a:pt x="0" y="148"/>
                          </a:lnTo>
                          <a:lnTo>
                            <a:pt x="49" y="148"/>
                          </a:lnTo>
                          <a:lnTo>
                            <a:pt x="49" y="32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sp>
                <p:nvSpPr>
                  <p:cNvPr id="623" name="Freeform 38"/>
                  <p:cNvSpPr/>
                  <p:nvPr/>
                </p:nvSpPr>
                <p:spPr bwMode="auto">
                  <a:xfrm>
                    <a:off x="3038" y="2605"/>
                    <a:ext cx="530" cy="90"/>
                  </a:xfrm>
                  <a:custGeom>
                    <a:avLst/>
                    <a:gdLst>
                      <a:gd name="T0" fmla="*/ 2653 w 2653"/>
                      <a:gd name="T1" fmla="*/ 197 h 359"/>
                      <a:gd name="T2" fmla="*/ 2653 w 2653"/>
                      <a:gd name="T3" fmla="*/ 0 h 359"/>
                      <a:gd name="T4" fmla="*/ 0 w 2653"/>
                      <a:gd name="T5" fmla="*/ 262 h 359"/>
                      <a:gd name="T6" fmla="*/ 0 w 2653"/>
                      <a:gd name="T7" fmla="*/ 359 h 359"/>
                      <a:gd name="T8" fmla="*/ 2653 w 2653"/>
                      <a:gd name="T9" fmla="*/ 197 h 35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653" h="359">
                        <a:moveTo>
                          <a:pt x="2653" y="197"/>
                        </a:moveTo>
                        <a:lnTo>
                          <a:pt x="2653" y="0"/>
                        </a:lnTo>
                        <a:lnTo>
                          <a:pt x="0" y="262"/>
                        </a:lnTo>
                        <a:lnTo>
                          <a:pt x="0" y="359"/>
                        </a:lnTo>
                        <a:lnTo>
                          <a:pt x="2653" y="197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624" name="Freeform 39"/>
                  <p:cNvSpPr/>
                  <p:nvPr/>
                </p:nvSpPr>
                <p:spPr bwMode="auto">
                  <a:xfrm>
                    <a:off x="3027" y="2505"/>
                    <a:ext cx="541" cy="149"/>
                  </a:xfrm>
                  <a:custGeom>
                    <a:avLst/>
                    <a:gdLst>
                      <a:gd name="T0" fmla="*/ 2707 w 2707"/>
                      <a:gd name="T1" fmla="*/ 164 h 595"/>
                      <a:gd name="T2" fmla="*/ 2707 w 2707"/>
                      <a:gd name="T3" fmla="*/ 0 h 595"/>
                      <a:gd name="T4" fmla="*/ 0 w 2707"/>
                      <a:gd name="T5" fmla="*/ 523 h 595"/>
                      <a:gd name="T6" fmla="*/ 0 w 2707"/>
                      <a:gd name="T7" fmla="*/ 595 h 595"/>
                      <a:gd name="T8" fmla="*/ 2707 w 2707"/>
                      <a:gd name="T9" fmla="*/ 164 h 59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07" h="595">
                        <a:moveTo>
                          <a:pt x="2707" y="164"/>
                        </a:moveTo>
                        <a:lnTo>
                          <a:pt x="2707" y="0"/>
                        </a:lnTo>
                        <a:lnTo>
                          <a:pt x="0" y="523"/>
                        </a:lnTo>
                        <a:lnTo>
                          <a:pt x="0" y="595"/>
                        </a:lnTo>
                        <a:lnTo>
                          <a:pt x="2707" y="164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625" name="Freeform 40"/>
                  <p:cNvSpPr/>
                  <p:nvPr/>
                </p:nvSpPr>
                <p:spPr bwMode="auto">
                  <a:xfrm>
                    <a:off x="3016" y="2340"/>
                    <a:ext cx="552" cy="272"/>
                  </a:xfrm>
                  <a:custGeom>
                    <a:avLst/>
                    <a:gdLst>
                      <a:gd name="T0" fmla="*/ 2761 w 2761"/>
                      <a:gd name="T1" fmla="*/ 383 h 1088"/>
                      <a:gd name="T2" fmla="*/ 2761 w 2761"/>
                      <a:gd name="T3" fmla="*/ 0 h 1088"/>
                      <a:gd name="T4" fmla="*/ 0 w 2761"/>
                      <a:gd name="T5" fmla="*/ 948 h 1088"/>
                      <a:gd name="T6" fmla="*/ 0 w 2761"/>
                      <a:gd name="T7" fmla="*/ 1088 h 1088"/>
                      <a:gd name="T8" fmla="*/ 2761 w 2761"/>
                      <a:gd name="T9" fmla="*/ 383 h 10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761" h="1088">
                        <a:moveTo>
                          <a:pt x="2761" y="383"/>
                        </a:moveTo>
                        <a:lnTo>
                          <a:pt x="2761" y="0"/>
                        </a:lnTo>
                        <a:lnTo>
                          <a:pt x="0" y="948"/>
                        </a:lnTo>
                        <a:lnTo>
                          <a:pt x="0" y="1088"/>
                        </a:lnTo>
                        <a:lnTo>
                          <a:pt x="2761" y="383"/>
                        </a:lnTo>
                        <a:close/>
                      </a:path>
                    </a:pathLst>
                  </a:custGeom>
                  <a:solidFill>
                    <a:srgbClr val="9F9F9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  <p:grpSp>
              <p:nvGrpSpPr>
                <p:cNvPr id="558" name="Group 41"/>
                <p:cNvGrpSpPr/>
                <p:nvPr/>
              </p:nvGrpSpPr>
              <p:grpSpPr bwMode="auto">
                <a:xfrm>
                  <a:off x="3568" y="2341"/>
                  <a:ext cx="169" cy="370"/>
                  <a:chOff x="3568" y="2341"/>
                  <a:chExt cx="169" cy="370"/>
                </a:xfrm>
              </p:grpSpPr>
              <p:sp>
                <p:nvSpPr>
                  <p:cNvPr id="580" name="Freeform 42"/>
                  <p:cNvSpPr/>
                  <p:nvPr/>
                </p:nvSpPr>
                <p:spPr bwMode="auto">
                  <a:xfrm>
                    <a:off x="3569" y="2672"/>
                    <a:ext cx="125" cy="39"/>
                  </a:xfrm>
                  <a:custGeom>
                    <a:avLst/>
                    <a:gdLst>
                      <a:gd name="T0" fmla="*/ 0 w 624"/>
                      <a:gd name="T1" fmla="*/ 0 h 156"/>
                      <a:gd name="T2" fmla="*/ 624 w 624"/>
                      <a:gd name="T3" fmla="*/ 48 h 156"/>
                      <a:gd name="T4" fmla="*/ 624 w 624"/>
                      <a:gd name="T5" fmla="*/ 115 h 156"/>
                      <a:gd name="T6" fmla="*/ 0 w 624"/>
                      <a:gd name="T7" fmla="*/ 156 h 156"/>
                      <a:gd name="T8" fmla="*/ 0 w 624"/>
                      <a:gd name="T9" fmla="*/ 0 h 15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24" h="156">
                        <a:moveTo>
                          <a:pt x="0" y="0"/>
                        </a:moveTo>
                        <a:lnTo>
                          <a:pt x="624" y="48"/>
                        </a:lnTo>
                        <a:lnTo>
                          <a:pt x="624" y="115"/>
                        </a:lnTo>
                        <a:lnTo>
                          <a:pt x="0" y="15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5F5F5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581" name="Freeform 43"/>
                  <p:cNvSpPr/>
                  <p:nvPr/>
                </p:nvSpPr>
                <p:spPr bwMode="auto">
                  <a:xfrm>
                    <a:off x="3568" y="2429"/>
                    <a:ext cx="169" cy="260"/>
                  </a:xfrm>
                  <a:custGeom>
                    <a:avLst/>
                    <a:gdLst>
                      <a:gd name="T0" fmla="*/ 0 w 842"/>
                      <a:gd name="T1" fmla="*/ 0 h 1042"/>
                      <a:gd name="T2" fmla="*/ 842 w 842"/>
                      <a:gd name="T3" fmla="*/ 546 h 1042"/>
                      <a:gd name="T4" fmla="*/ 739 w 842"/>
                      <a:gd name="T5" fmla="*/ 546 h 1042"/>
                      <a:gd name="T6" fmla="*/ 739 w 842"/>
                      <a:gd name="T7" fmla="*/ 738 h 1042"/>
                      <a:gd name="T8" fmla="*/ 775 w 842"/>
                      <a:gd name="T9" fmla="*/ 760 h 1042"/>
                      <a:gd name="T10" fmla="*/ 739 w 842"/>
                      <a:gd name="T11" fmla="*/ 759 h 1042"/>
                      <a:gd name="T12" fmla="*/ 738 w 842"/>
                      <a:gd name="T13" fmla="*/ 1010 h 1042"/>
                      <a:gd name="T14" fmla="*/ 642 w 842"/>
                      <a:gd name="T15" fmla="*/ 1042 h 1042"/>
                      <a:gd name="T16" fmla="*/ 0 w 842"/>
                      <a:gd name="T17" fmla="*/ 1000 h 1042"/>
                      <a:gd name="T18" fmla="*/ 0 w 842"/>
                      <a:gd name="T19" fmla="*/ 0 h 104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842" h="1042">
                        <a:moveTo>
                          <a:pt x="0" y="0"/>
                        </a:moveTo>
                        <a:lnTo>
                          <a:pt x="842" y="546"/>
                        </a:lnTo>
                        <a:lnTo>
                          <a:pt x="739" y="546"/>
                        </a:lnTo>
                        <a:lnTo>
                          <a:pt x="739" y="738"/>
                        </a:lnTo>
                        <a:lnTo>
                          <a:pt x="775" y="760"/>
                        </a:lnTo>
                        <a:lnTo>
                          <a:pt x="739" y="759"/>
                        </a:lnTo>
                        <a:lnTo>
                          <a:pt x="738" y="1010"/>
                        </a:lnTo>
                        <a:lnTo>
                          <a:pt x="642" y="1042"/>
                        </a:lnTo>
                        <a:lnTo>
                          <a:pt x="0" y="10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582" name="Freeform 44"/>
                  <p:cNvSpPr/>
                  <p:nvPr/>
                </p:nvSpPr>
                <p:spPr bwMode="auto">
                  <a:xfrm>
                    <a:off x="3568" y="2341"/>
                    <a:ext cx="169" cy="225"/>
                  </a:xfrm>
                  <a:custGeom>
                    <a:avLst/>
                    <a:gdLst>
                      <a:gd name="T0" fmla="*/ 0 w 842"/>
                      <a:gd name="T1" fmla="*/ 0 h 903"/>
                      <a:gd name="T2" fmla="*/ 0 w 842"/>
                      <a:gd name="T3" fmla="*/ 382 h 903"/>
                      <a:gd name="T4" fmla="*/ 842 w 842"/>
                      <a:gd name="T5" fmla="*/ 903 h 903"/>
                      <a:gd name="T6" fmla="*/ 842 w 842"/>
                      <a:gd name="T7" fmla="*/ 682 h 903"/>
                      <a:gd name="T8" fmla="*/ 0 w 842"/>
                      <a:gd name="T9" fmla="*/ 0 h 90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842" h="903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842" y="903"/>
                        </a:lnTo>
                        <a:lnTo>
                          <a:pt x="842" y="68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grpSp>
                <p:nvGrpSpPr>
                  <p:cNvPr id="583" name="Group 45"/>
                  <p:cNvGrpSpPr/>
                  <p:nvPr/>
                </p:nvGrpSpPr>
                <p:grpSpPr bwMode="auto">
                  <a:xfrm>
                    <a:off x="3570" y="2556"/>
                    <a:ext cx="129" cy="123"/>
                    <a:chOff x="3570" y="2556"/>
                    <a:chExt cx="129" cy="123"/>
                  </a:xfrm>
                </p:grpSpPr>
                <p:sp>
                  <p:nvSpPr>
                    <p:cNvPr id="602" name="Freeform 46"/>
                    <p:cNvSpPr/>
                    <p:nvPr/>
                  </p:nvSpPr>
                  <p:spPr bwMode="auto">
                    <a:xfrm>
                      <a:off x="3683" y="2620"/>
                      <a:ext cx="16" cy="59"/>
                    </a:xfrm>
                    <a:custGeom>
                      <a:avLst/>
                      <a:gdLst>
                        <a:gd name="T0" fmla="*/ 0 w 81"/>
                        <a:gd name="T1" fmla="*/ 47 h 236"/>
                        <a:gd name="T2" fmla="*/ 0 w 81"/>
                        <a:gd name="T3" fmla="*/ 215 h 236"/>
                        <a:gd name="T4" fmla="*/ 81 w 81"/>
                        <a:gd name="T5" fmla="*/ 236 h 236"/>
                        <a:gd name="T6" fmla="*/ 81 w 81"/>
                        <a:gd name="T7" fmla="*/ 0 h 236"/>
                        <a:gd name="T8" fmla="*/ 0 w 81"/>
                        <a:gd name="T9" fmla="*/ 47 h 2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1" h="236">
                          <a:moveTo>
                            <a:pt x="0" y="47"/>
                          </a:moveTo>
                          <a:lnTo>
                            <a:pt x="0" y="215"/>
                          </a:lnTo>
                          <a:lnTo>
                            <a:pt x="81" y="236"/>
                          </a:lnTo>
                          <a:lnTo>
                            <a:pt x="81" y="0"/>
                          </a:lnTo>
                          <a:lnTo>
                            <a:pt x="0" y="47"/>
                          </a:lnTo>
                          <a:close/>
                        </a:path>
                      </a:pathLst>
                    </a:custGeom>
                    <a:solidFill>
                      <a:srgbClr val="3F3F3F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03" name="Freeform 47"/>
                    <p:cNvSpPr/>
                    <p:nvPr/>
                  </p:nvSpPr>
                  <p:spPr bwMode="auto">
                    <a:xfrm>
                      <a:off x="3676" y="2616"/>
                      <a:ext cx="16" cy="58"/>
                    </a:xfrm>
                    <a:custGeom>
                      <a:avLst/>
                      <a:gdLst>
                        <a:gd name="T0" fmla="*/ 0 w 82"/>
                        <a:gd name="T1" fmla="*/ 45 h 234"/>
                        <a:gd name="T2" fmla="*/ 0 w 82"/>
                        <a:gd name="T3" fmla="*/ 214 h 234"/>
                        <a:gd name="T4" fmla="*/ 82 w 82"/>
                        <a:gd name="T5" fmla="*/ 234 h 234"/>
                        <a:gd name="T6" fmla="*/ 82 w 82"/>
                        <a:gd name="T7" fmla="*/ 0 h 234"/>
                        <a:gd name="T8" fmla="*/ 0 w 82"/>
                        <a:gd name="T9" fmla="*/ 45 h 2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2" h="234">
                          <a:moveTo>
                            <a:pt x="0" y="45"/>
                          </a:moveTo>
                          <a:lnTo>
                            <a:pt x="0" y="214"/>
                          </a:lnTo>
                          <a:lnTo>
                            <a:pt x="82" y="234"/>
                          </a:lnTo>
                          <a:lnTo>
                            <a:pt x="82" y="0"/>
                          </a:lnTo>
                          <a:lnTo>
                            <a:pt x="0" y="45"/>
                          </a:lnTo>
                          <a:close/>
                        </a:path>
                      </a:pathLst>
                    </a:custGeom>
                    <a:solidFill>
                      <a:srgbClr val="3F3F3F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04" name="Freeform 48"/>
                    <p:cNvSpPr/>
                    <p:nvPr/>
                  </p:nvSpPr>
                  <p:spPr bwMode="auto">
                    <a:xfrm>
                      <a:off x="3668" y="2611"/>
                      <a:ext cx="16" cy="59"/>
                    </a:xfrm>
                    <a:custGeom>
                      <a:avLst/>
                      <a:gdLst>
                        <a:gd name="T0" fmla="*/ 0 w 81"/>
                        <a:gd name="T1" fmla="*/ 45 h 235"/>
                        <a:gd name="T2" fmla="*/ 0 w 81"/>
                        <a:gd name="T3" fmla="*/ 214 h 235"/>
                        <a:gd name="T4" fmla="*/ 81 w 81"/>
                        <a:gd name="T5" fmla="*/ 235 h 235"/>
                        <a:gd name="T6" fmla="*/ 81 w 81"/>
                        <a:gd name="T7" fmla="*/ 0 h 235"/>
                        <a:gd name="T8" fmla="*/ 0 w 81"/>
                        <a:gd name="T9" fmla="*/ 45 h 23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1" h="235">
                          <a:moveTo>
                            <a:pt x="0" y="45"/>
                          </a:moveTo>
                          <a:lnTo>
                            <a:pt x="0" y="214"/>
                          </a:lnTo>
                          <a:lnTo>
                            <a:pt x="81" y="235"/>
                          </a:lnTo>
                          <a:lnTo>
                            <a:pt x="81" y="0"/>
                          </a:lnTo>
                          <a:lnTo>
                            <a:pt x="0" y="45"/>
                          </a:lnTo>
                          <a:close/>
                        </a:path>
                      </a:pathLst>
                    </a:custGeom>
                    <a:solidFill>
                      <a:srgbClr val="5F5F5F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05" name="Freeform 49"/>
                    <p:cNvSpPr/>
                    <p:nvPr/>
                  </p:nvSpPr>
                  <p:spPr bwMode="auto">
                    <a:xfrm>
                      <a:off x="3661" y="2607"/>
                      <a:ext cx="16" cy="59"/>
                    </a:xfrm>
                    <a:custGeom>
                      <a:avLst/>
                      <a:gdLst>
                        <a:gd name="T0" fmla="*/ 0 w 81"/>
                        <a:gd name="T1" fmla="*/ 45 h 235"/>
                        <a:gd name="T2" fmla="*/ 0 w 81"/>
                        <a:gd name="T3" fmla="*/ 213 h 235"/>
                        <a:gd name="T4" fmla="*/ 81 w 81"/>
                        <a:gd name="T5" fmla="*/ 235 h 235"/>
                        <a:gd name="T6" fmla="*/ 81 w 81"/>
                        <a:gd name="T7" fmla="*/ 0 h 235"/>
                        <a:gd name="T8" fmla="*/ 0 w 81"/>
                        <a:gd name="T9" fmla="*/ 45 h 23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1" h="235">
                          <a:moveTo>
                            <a:pt x="0" y="45"/>
                          </a:moveTo>
                          <a:lnTo>
                            <a:pt x="0" y="213"/>
                          </a:lnTo>
                          <a:lnTo>
                            <a:pt x="81" y="235"/>
                          </a:lnTo>
                          <a:lnTo>
                            <a:pt x="81" y="0"/>
                          </a:lnTo>
                          <a:lnTo>
                            <a:pt x="0" y="45"/>
                          </a:lnTo>
                          <a:close/>
                        </a:path>
                      </a:pathLst>
                    </a:custGeom>
                    <a:solidFill>
                      <a:srgbClr val="5F5F5F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06" name="Freeform 50"/>
                    <p:cNvSpPr/>
                    <p:nvPr/>
                  </p:nvSpPr>
                  <p:spPr bwMode="auto">
                    <a:xfrm>
                      <a:off x="3653" y="2603"/>
                      <a:ext cx="16" cy="58"/>
                    </a:xfrm>
                    <a:custGeom>
                      <a:avLst/>
                      <a:gdLst>
                        <a:gd name="T0" fmla="*/ 0 w 80"/>
                        <a:gd name="T1" fmla="*/ 46 h 235"/>
                        <a:gd name="T2" fmla="*/ 0 w 80"/>
                        <a:gd name="T3" fmla="*/ 214 h 235"/>
                        <a:gd name="T4" fmla="*/ 80 w 80"/>
                        <a:gd name="T5" fmla="*/ 235 h 235"/>
                        <a:gd name="T6" fmla="*/ 80 w 80"/>
                        <a:gd name="T7" fmla="*/ 0 h 235"/>
                        <a:gd name="T8" fmla="*/ 0 w 80"/>
                        <a:gd name="T9" fmla="*/ 46 h 23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0" h="235">
                          <a:moveTo>
                            <a:pt x="0" y="46"/>
                          </a:moveTo>
                          <a:lnTo>
                            <a:pt x="0" y="214"/>
                          </a:lnTo>
                          <a:lnTo>
                            <a:pt x="80" y="235"/>
                          </a:lnTo>
                          <a:lnTo>
                            <a:pt x="80" y="0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rgbClr val="5F5F5F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07" name="Freeform 51"/>
                    <p:cNvSpPr/>
                    <p:nvPr/>
                  </p:nvSpPr>
                  <p:spPr bwMode="auto">
                    <a:xfrm>
                      <a:off x="3646" y="2599"/>
                      <a:ext cx="16" cy="59"/>
                    </a:xfrm>
                    <a:custGeom>
                      <a:avLst/>
                      <a:gdLst>
                        <a:gd name="T0" fmla="*/ 0 w 80"/>
                        <a:gd name="T1" fmla="*/ 45 h 235"/>
                        <a:gd name="T2" fmla="*/ 0 w 80"/>
                        <a:gd name="T3" fmla="*/ 214 h 235"/>
                        <a:gd name="T4" fmla="*/ 80 w 80"/>
                        <a:gd name="T5" fmla="*/ 235 h 235"/>
                        <a:gd name="T6" fmla="*/ 80 w 80"/>
                        <a:gd name="T7" fmla="*/ 0 h 235"/>
                        <a:gd name="T8" fmla="*/ 0 w 80"/>
                        <a:gd name="T9" fmla="*/ 45 h 23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0" h="235">
                          <a:moveTo>
                            <a:pt x="0" y="45"/>
                          </a:moveTo>
                          <a:lnTo>
                            <a:pt x="0" y="214"/>
                          </a:lnTo>
                          <a:lnTo>
                            <a:pt x="80" y="235"/>
                          </a:lnTo>
                          <a:lnTo>
                            <a:pt x="80" y="0"/>
                          </a:lnTo>
                          <a:lnTo>
                            <a:pt x="0" y="45"/>
                          </a:lnTo>
                          <a:close/>
                        </a:path>
                      </a:pathLst>
                    </a:custGeom>
                    <a:solidFill>
                      <a:srgbClr val="5F5F5F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08" name="Freeform 52"/>
                    <p:cNvSpPr/>
                    <p:nvPr/>
                  </p:nvSpPr>
                  <p:spPr bwMode="auto">
                    <a:xfrm>
                      <a:off x="3638" y="2594"/>
                      <a:ext cx="16" cy="59"/>
                    </a:xfrm>
                    <a:custGeom>
                      <a:avLst/>
                      <a:gdLst>
                        <a:gd name="T0" fmla="*/ 0 w 80"/>
                        <a:gd name="T1" fmla="*/ 45 h 235"/>
                        <a:gd name="T2" fmla="*/ 0 w 80"/>
                        <a:gd name="T3" fmla="*/ 213 h 235"/>
                        <a:gd name="T4" fmla="*/ 80 w 80"/>
                        <a:gd name="T5" fmla="*/ 235 h 235"/>
                        <a:gd name="T6" fmla="*/ 80 w 80"/>
                        <a:gd name="T7" fmla="*/ 0 h 235"/>
                        <a:gd name="T8" fmla="*/ 0 w 80"/>
                        <a:gd name="T9" fmla="*/ 45 h 23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0" h="235">
                          <a:moveTo>
                            <a:pt x="0" y="45"/>
                          </a:moveTo>
                          <a:lnTo>
                            <a:pt x="0" y="213"/>
                          </a:lnTo>
                          <a:lnTo>
                            <a:pt x="80" y="235"/>
                          </a:lnTo>
                          <a:lnTo>
                            <a:pt x="80" y="0"/>
                          </a:lnTo>
                          <a:lnTo>
                            <a:pt x="0" y="45"/>
                          </a:lnTo>
                          <a:close/>
                        </a:path>
                      </a:pathLst>
                    </a:cu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09" name="Freeform 53"/>
                    <p:cNvSpPr/>
                    <p:nvPr/>
                  </p:nvSpPr>
                  <p:spPr bwMode="auto">
                    <a:xfrm>
                      <a:off x="3630" y="2591"/>
                      <a:ext cx="16" cy="58"/>
                    </a:xfrm>
                    <a:custGeom>
                      <a:avLst/>
                      <a:gdLst>
                        <a:gd name="T0" fmla="*/ 0 w 80"/>
                        <a:gd name="T1" fmla="*/ 46 h 235"/>
                        <a:gd name="T2" fmla="*/ 0 w 80"/>
                        <a:gd name="T3" fmla="*/ 213 h 235"/>
                        <a:gd name="T4" fmla="*/ 80 w 80"/>
                        <a:gd name="T5" fmla="*/ 235 h 235"/>
                        <a:gd name="T6" fmla="*/ 80 w 80"/>
                        <a:gd name="T7" fmla="*/ 0 h 235"/>
                        <a:gd name="T8" fmla="*/ 0 w 80"/>
                        <a:gd name="T9" fmla="*/ 46 h 23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0" h="235">
                          <a:moveTo>
                            <a:pt x="0" y="46"/>
                          </a:moveTo>
                          <a:lnTo>
                            <a:pt x="0" y="213"/>
                          </a:lnTo>
                          <a:lnTo>
                            <a:pt x="80" y="235"/>
                          </a:lnTo>
                          <a:lnTo>
                            <a:pt x="80" y="0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10" name="Freeform 54"/>
                    <p:cNvSpPr/>
                    <p:nvPr/>
                  </p:nvSpPr>
                  <p:spPr bwMode="auto">
                    <a:xfrm>
                      <a:off x="3622" y="2587"/>
                      <a:ext cx="17" cy="58"/>
                    </a:xfrm>
                    <a:custGeom>
                      <a:avLst/>
                      <a:gdLst>
                        <a:gd name="T0" fmla="*/ 0 w 81"/>
                        <a:gd name="T1" fmla="*/ 45 h 234"/>
                        <a:gd name="T2" fmla="*/ 0 w 81"/>
                        <a:gd name="T3" fmla="*/ 212 h 234"/>
                        <a:gd name="T4" fmla="*/ 81 w 81"/>
                        <a:gd name="T5" fmla="*/ 234 h 234"/>
                        <a:gd name="T6" fmla="*/ 81 w 81"/>
                        <a:gd name="T7" fmla="*/ 0 h 234"/>
                        <a:gd name="T8" fmla="*/ 0 w 81"/>
                        <a:gd name="T9" fmla="*/ 45 h 2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1" h="234">
                          <a:moveTo>
                            <a:pt x="0" y="45"/>
                          </a:moveTo>
                          <a:lnTo>
                            <a:pt x="0" y="212"/>
                          </a:lnTo>
                          <a:lnTo>
                            <a:pt x="81" y="234"/>
                          </a:lnTo>
                          <a:lnTo>
                            <a:pt x="81" y="0"/>
                          </a:lnTo>
                          <a:lnTo>
                            <a:pt x="0" y="45"/>
                          </a:lnTo>
                          <a:close/>
                        </a:path>
                      </a:pathLst>
                    </a:cu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11" name="Freeform 55"/>
                    <p:cNvSpPr/>
                    <p:nvPr/>
                  </p:nvSpPr>
                  <p:spPr bwMode="auto">
                    <a:xfrm>
                      <a:off x="3615" y="2582"/>
                      <a:ext cx="16" cy="59"/>
                    </a:xfrm>
                    <a:custGeom>
                      <a:avLst/>
                      <a:gdLst>
                        <a:gd name="T0" fmla="*/ 0 w 80"/>
                        <a:gd name="T1" fmla="*/ 47 h 234"/>
                        <a:gd name="T2" fmla="*/ 0 w 80"/>
                        <a:gd name="T3" fmla="*/ 214 h 234"/>
                        <a:gd name="T4" fmla="*/ 80 w 80"/>
                        <a:gd name="T5" fmla="*/ 234 h 234"/>
                        <a:gd name="T6" fmla="*/ 80 w 80"/>
                        <a:gd name="T7" fmla="*/ 0 h 234"/>
                        <a:gd name="T8" fmla="*/ 0 w 80"/>
                        <a:gd name="T9" fmla="*/ 47 h 2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0" h="234">
                          <a:moveTo>
                            <a:pt x="0" y="47"/>
                          </a:moveTo>
                          <a:lnTo>
                            <a:pt x="0" y="214"/>
                          </a:lnTo>
                          <a:lnTo>
                            <a:pt x="80" y="234"/>
                          </a:lnTo>
                          <a:lnTo>
                            <a:pt x="80" y="0"/>
                          </a:lnTo>
                          <a:lnTo>
                            <a:pt x="0" y="47"/>
                          </a:lnTo>
                          <a:close/>
                        </a:path>
                      </a:pathLst>
                    </a:cu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12" name="Freeform 56"/>
                    <p:cNvSpPr/>
                    <p:nvPr/>
                  </p:nvSpPr>
                  <p:spPr bwMode="auto">
                    <a:xfrm>
                      <a:off x="3608" y="2577"/>
                      <a:ext cx="16" cy="59"/>
                    </a:xfrm>
                    <a:custGeom>
                      <a:avLst/>
                      <a:gdLst>
                        <a:gd name="T0" fmla="*/ 0 w 81"/>
                        <a:gd name="T1" fmla="*/ 46 h 234"/>
                        <a:gd name="T2" fmla="*/ 0 w 81"/>
                        <a:gd name="T3" fmla="*/ 213 h 234"/>
                        <a:gd name="T4" fmla="*/ 81 w 81"/>
                        <a:gd name="T5" fmla="*/ 234 h 234"/>
                        <a:gd name="T6" fmla="*/ 81 w 81"/>
                        <a:gd name="T7" fmla="*/ 0 h 234"/>
                        <a:gd name="T8" fmla="*/ 0 w 81"/>
                        <a:gd name="T9" fmla="*/ 46 h 2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1" h="234">
                          <a:moveTo>
                            <a:pt x="0" y="46"/>
                          </a:moveTo>
                          <a:lnTo>
                            <a:pt x="0" y="213"/>
                          </a:lnTo>
                          <a:lnTo>
                            <a:pt x="81" y="234"/>
                          </a:lnTo>
                          <a:lnTo>
                            <a:pt x="81" y="0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rgbClr val="9F9F9F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13" name="Freeform 57"/>
                    <p:cNvSpPr/>
                    <p:nvPr/>
                  </p:nvSpPr>
                  <p:spPr bwMode="auto">
                    <a:xfrm>
                      <a:off x="3600" y="2573"/>
                      <a:ext cx="16" cy="59"/>
                    </a:xfrm>
                    <a:custGeom>
                      <a:avLst/>
                      <a:gdLst>
                        <a:gd name="T0" fmla="*/ 0 w 81"/>
                        <a:gd name="T1" fmla="*/ 45 h 234"/>
                        <a:gd name="T2" fmla="*/ 0 w 81"/>
                        <a:gd name="T3" fmla="*/ 213 h 234"/>
                        <a:gd name="T4" fmla="*/ 81 w 81"/>
                        <a:gd name="T5" fmla="*/ 234 h 234"/>
                        <a:gd name="T6" fmla="*/ 81 w 81"/>
                        <a:gd name="T7" fmla="*/ 0 h 234"/>
                        <a:gd name="T8" fmla="*/ 0 w 81"/>
                        <a:gd name="T9" fmla="*/ 45 h 2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1" h="234">
                          <a:moveTo>
                            <a:pt x="0" y="45"/>
                          </a:moveTo>
                          <a:lnTo>
                            <a:pt x="0" y="213"/>
                          </a:lnTo>
                          <a:lnTo>
                            <a:pt x="81" y="234"/>
                          </a:lnTo>
                          <a:lnTo>
                            <a:pt x="81" y="0"/>
                          </a:lnTo>
                          <a:lnTo>
                            <a:pt x="0" y="45"/>
                          </a:lnTo>
                          <a:close/>
                        </a:path>
                      </a:pathLst>
                    </a:custGeom>
                    <a:solidFill>
                      <a:srgbClr val="9F9F9F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14" name="Freeform 58"/>
                    <p:cNvSpPr/>
                    <p:nvPr/>
                  </p:nvSpPr>
                  <p:spPr bwMode="auto">
                    <a:xfrm>
                      <a:off x="3592" y="2569"/>
                      <a:ext cx="16" cy="59"/>
                    </a:xfrm>
                    <a:custGeom>
                      <a:avLst/>
                      <a:gdLst>
                        <a:gd name="T0" fmla="*/ 0 w 80"/>
                        <a:gd name="T1" fmla="*/ 45 h 234"/>
                        <a:gd name="T2" fmla="*/ 0 w 80"/>
                        <a:gd name="T3" fmla="*/ 212 h 234"/>
                        <a:gd name="T4" fmla="*/ 80 w 80"/>
                        <a:gd name="T5" fmla="*/ 234 h 234"/>
                        <a:gd name="T6" fmla="*/ 80 w 80"/>
                        <a:gd name="T7" fmla="*/ 0 h 234"/>
                        <a:gd name="T8" fmla="*/ 0 w 80"/>
                        <a:gd name="T9" fmla="*/ 45 h 2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0" h="234">
                          <a:moveTo>
                            <a:pt x="0" y="45"/>
                          </a:moveTo>
                          <a:lnTo>
                            <a:pt x="0" y="212"/>
                          </a:lnTo>
                          <a:lnTo>
                            <a:pt x="80" y="234"/>
                          </a:lnTo>
                          <a:lnTo>
                            <a:pt x="80" y="0"/>
                          </a:lnTo>
                          <a:lnTo>
                            <a:pt x="0" y="45"/>
                          </a:lnTo>
                          <a:close/>
                        </a:path>
                      </a:pathLst>
                    </a:custGeom>
                    <a:solidFill>
                      <a:srgbClr val="9F9F9F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15" name="Freeform 59"/>
                    <p:cNvSpPr/>
                    <p:nvPr/>
                  </p:nvSpPr>
                  <p:spPr bwMode="auto">
                    <a:xfrm>
                      <a:off x="3585" y="2565"/>
                      <a:ext cx="16" cy="59"/>
                    </a:xfrm>
                    <a:custGeom>
                      <a:avLst/>
                      <a:gdLst>
                        <a:gd name="T0" fmla="*/ 0 w 80"/>
                        <a:gd name="T1" fmla="*/ 47 h 234"/>
                        <a:gd name="T2" fmla="*/ 0 w 80"/>
                        <a:gd name="T3" fmla="*/ 214 h 234"/>
                        <a:gd name="T4" fmla="*/ 80 w 80"/>
                        <a:gd name="T5" fmla="*/ 234 h 234"/>
                        <a:gd name="T6" fmla="*/ 80 w 80"/>
                        <a:gd name="T7" fmla="*/ 0 h 234"/>
                        <a:gd name="T8" fmla="*/ 0 w 80"/>
                        <a:gd name="T9" fmla="*/ 47 h 2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0" h="234">
                          <a:moveTo>
                            <a:pt x="0" y="47"/>
                          </a:moveTo>
                          <a:lnTo>
                            <a:pt x="0" y="214"/>
                          </a:lnTo>
                          <a:lnTo>
                            <a:pt x="80" y="234"/>
                          </a:lnTo>
                          <a:lnTo>
                            <a:pt x="80" y="0"/>
                          </a:lnTo>
                          <a:lnTo>
                            <a:pt x="0" y="47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16" name="Freeform 60"/>
                    <p:cNvSpPr/>
                    <p:nvPr/>
                  </p:nvSpPr>
                  <p:spPr bwMode="auto">
                    <a:xfrm>
                      <a:off x="3577" y="2561"/>
                      <a:ext cx="17" cy="59"/>
                    </a:xfrm>
                    <a:custGeom>
                      <a:avLst/>
                      <a:gdLst>
                        <a:gd name="T0" fmla="*/ 0 w 82"/>
                        <a:gd name="T1" fmla="*/ 45 h 234"/>
                        <a:gd name="T2" fmla="*/ 0 w 82"/>
                        <a:gd name="T3" fmla="*/ 213 h 234"/>
                        <a:gd name="T4" fmla="*/ 82 w 82"/>
                        <a:gd name="T5" fmla="*/ 234 h 234"/>
                        <a:gd name="T6" fmla="*/ 82 w 82"/>
                        <a:gd name="T7" fmla="*/ 0 h 234"/>
                        <a:gd name="T8" fmla="*/ 0 w 82"/>
                        <a:gd name="T9" fmla="*/ 45 h 2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2" h="234">
                          <a:moveTo>
                            <a:pt x="0" y="45"/>
                          </a:moveTo>
                          <a:lnTo>
                            <a:pt x="0" y="213"/>
                          </a:lnTo>
                          <a:lnTo>
                            <a:pt x="82" y="234"/>
                          </a:lnTo>
                          <a:lnTo>
                            <a:pt x="82" y="0"/>
                          </a:lnTo>
                          <a:lnTo>
                            <a:pt x="0" y="45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17" name="Freeform 61"/>
                    <p:cNvSpPr/>
                    <p:nvPr/>
                  </p:nvSpPr>
                  <p:spPr bwMode="auto">
                    <a:xfrm>
                      <a:off x="3570" y="2556"/>
                      <a:ext cx="16" cy="59"/>
                    </a:xfrm>
                    <a:custGeom>
                      <a:avLst/>
                      <a:gdLst>
                        <a:gd name="T0" fmla="*/ 0 w 81"/>
                        <a:gd name="T1" fmla="*/ 46 h 234"/>
                        <a:gd name="T2" fmla="*/ 0 w 81"/>
                        <a:gd name="T3" fmla="*/ 213 h 234"/>
                        <a:gd name="T4" fmla="*/ 81 w 81"/>
                        <a:gd name="T5" fmla="*/ 234 h 234"/>
                        <a:gd name="T6" fmla="*/ 81 w 81"/>
                        <a:gd name="T7" fmla="*/ 0 h 234"/>
                        <a:gd name="T8" fmla="*/ 0 w 81"/>
                        <a:gd name="T9" fmla="*/ 46 h 2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1" h="234">
                          <a:moveTo>
                            <a:pt x="0" y="46"/>
                          </a:moveTo>
                          <a:lnTo>
                            <a:pt x="0" y="213"/>
                          </a:lnTo>
                          <a:lnTo>
                            <a:pt x="81" y="234"/>
                          </a:lnTo>
                          <a:lnTo>
                            <a:pt x="81" y="0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584" name="Group 62"/>
                  <p:cNvGrpSpPr/>
                  <p:nvPr/>
                </p:nvGrpSpPr>
                <p:grpSpPr bwMode="auto">
                  <a:xfrm>
                    <a:off x="3569" y="2472"/>
                    <a:ext cx="123" cy="131"/>
                    <a:chOff x="3569" y="2472"/>
                    <a:chExt cx="123" cy="131"/>
                  </a:xfrm>
                </p:grpSpPr>
                <p:sp>
                  <p:nvSpPr>
                    <p:cNvPr id="587" name="Freeform 63"/>
                    <p:cNvSpPr/>
                    <p:nvPr/>
                  </p:nvSpPr>
                  <p:spPr bwMode="auto">
                    <a:xfrm>
                      <a:off x="3675" y="2553"/>
                      <a:ext cx="17" cy="50"/>
                    </a:xfrm>
                    <a:custGeom>
                      <a:avLst/>
                      <a:gdLst>
                        <a:gd name="T0" fmla="*/ 0 w 81"/>
                        <a:gd name="T1" fmla="*/ 46 h 198"/>
                        <a:gd name="T2" fmla="*/ 0 w 81"/>
                        <a:gd name="T3" fmla="*/ 164 h 198"/>
                        <a:gd name="T4" fmla="*/ 81 w 81"/>
                        <a:gd name="T5" fmla="*/ 198 h 198"/>
                        <a:gd name="T6" fmla="*/ 81 w 81"/>
                        <a:gd name="T7" fmla="*/ 0 h 198"/>
                        <a:gd name="T8" fmla="*/ 0 w 81"/>
                        <a:gd name="T9" fmla="*/ 46 h 19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1" h="198">
                          <a:moveTo>
                            <a:pt x="0" y="46"/>
                          </a:moveTo>
                          <a:lnTo>
                            <a:pt x="0" y="164"/>
                          </a:lnTo>
                          <a:lnTo>
                            <a:pt x="81" y="198"/>
                          </a:lnTo>
                          <a:lnTo>
                            <a:pt x="81" y="0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88" name="Freeform 64"/>
                    <p:cNvSpPr/>
                    <p:nvPr/>
                  </p:nvSpPr>
                  <p:spPr bwMode="auto">
                    <a:xfrm>
                      <a:off x="3668" y="2547"/>
                      <a:ext cx="16" cy="48"/>
                    </a:xfrm>
                    <a:custGeom>
                      <a:avLst/>
                      <a:gdLst>
                        <a:gd name="T0" fmla="*/ 0 w 81"/>
                        <a:gd name="T1" fmla="*/ 45 h 192"/>
                        <a:gd name="T2" fmla="*/ 0 w 81"/>
                        <a:gd name="T3" fmla="*/ 160 h 192"/>
                        <a:gd name="T4" fmla="*/ 81 w 81"/>
                        <a:gd name="T5" fmla="*/ 192 h 192"/>
                        <a:gd name="T6" fmla="*/ 81 w 81"/>
                        <a:gd name="T7" fmla="*/ 0 h 192"/>
                        <a:gd name="T8" fmla="*/ 0 w 81"/>
                        <a:gd name="T9" fmla="*/ 45 h 19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1" h="192">
                          <a:moveTo>
                            <a:pt x="0" y="45"/>
                          </a:moveTo>
                          <a:lnTo>
                            <a:pt x="0" y="160"/>
                          </a:lnTo>
                          <a:lnTo>
                            <a:pt x="81" y="192"/>
                          </a:lnTo>
                          <a:lnTo>
                            <a:pt x="81" y="0"/>
                          </a:lnTo>
                          <a:lnTo>
                            <a:pt x="0" y="45"/>
                          </a:lnTo>
                          <a:close/>
                        </a:path>
                      </a:pathLst>
                    </a:cu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89" name="Freeform 65"/>
                    <p:cNvSpPr/>
                    <p:nvPr/>
                  </p:nvSpPr>
                  <p:spPr bwMode="auto">
                    <a:xfrm>
                      <a:off x="3660" y="2542"/>
                      <a:ext cx="17" cy="50"/>
                    </a:xfrm>
                    <a:custGeom>
                      <a:avLst/>
                      <a:gdLst>
                        <a:gd name="T0" fmla="*/ 0 w 81"/>
                        <a:gd name="T1" fmla="*/ 46 h 201"/>
                        <a:gd name="T2" fmla="*/ 0 w 81"/>
                        <a:gd name="T3" fmla="*/ 183 h 201"/>
                        <a:gd name="T4" fmla="*/ 81 w 81"/>
                        <a:gd name="T5" fmla="*/ 201 h 201"/>
                        <a:gd name="T6" fmla="*/ 81 w 81"/>
                        <a:gd name="T7" fmla="*/ 0 h 201"/>
                        <a:gd name="T8" fmla="*/ 0 w 81"/>
                        <a:gd name="T9" fmla="*/ 46 h 20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1" h="201">
                          <a:moveTo>
                            <a:pt x="0" y="46"/>
                          </a:moveTo>
                          <a:lnTo>
                            <a:pt x="0" y="183"/>
                          </a:lnTo>
                          <a:lnTo>
                            <a:pt x="81" y="201"/>
                          </a:lnTo>
                          <a:lnTo>
                            <a:pt x="81" y="0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90" name="Freeform 66"/>
                    <p:cNvSpPr/>
                    <p:nvPr/>
                  </p:nvSpPr>
                  <p:spPr bwMode="auto">
                    <a:xfrm>
                      <a:off x="3653" y="2535"/>
                      <a:ext cx="16" cy="52"/>
                    </a:xfrm>
                    <a:custGeom>
                      <a:avLst/>
                      <a:gdLst>
                        <a:gd name="T0" fmla="*/ 0 w 82"/>
                        <a:gd name="T1" fmla="*/ 45 h 205"/>
                        <a:gd name="T2" fmla="*/ 0 w 82"/>
                        <a:gd name="T3" fmla="*/ 184 h 205"/>
                        <a:gd name="T4" fmla="*/ 82 w 82"/>
                        <a:gd name="T5" fmla="*/ 205 h 205"/>
                        <a:gd name="T6" fmla="*/ 82 w 82"/>
                        <a:gd name="T7" fmla="*/ 0 h 205"/>
                        <a:gd name="T8" fmla="*/ 0 w 82"/>
                        <a:gd name="T9" fmla="*/ 45 h 20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2" h="205">
                          <a:moveTo>
                            <a:pt x="0" y="45"/>
                          </a:moveTo>
                          <a:lnTo>
                            <a:pt x="0" y="184"/>
                          </a:lnTo>
                          <a:lnTo>
                            <a:pt x="82" y="205"/>
                          </a:lnTo>
                          <a:lnTo>
                            <a:pt x="82" y="0"/>
                          </a:lnTo>
                          <a:lnTo>
                            <a:pt x="0" y="45"/>
                          </a:lnTo>
                          <a:close/>
                        </a:path>
                      </a:pathLst>
                    </a:cu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91" name="Freeform 67"/>
                    <p:cNvSpPr/>
                    <p:nvPr/>
                  </p:nvSpPr>
                  <p:spPr bwMode="auto">
                    <a:xfrm>
                      <a:off x="3646" y="2530"/>
                      <a:ext cx="16" cy="58"/>
                    </a:xfrm>
                    <a:custGeom>
                      <a:avLst/>
                      <a:gdLst>
                        <a:gd name="T0" fmla="*/ 0 w 80"/>
                        <a:gd name="T1" fmla="*/ 46 h 234"/>
                        <a:gd name="T2" fmla="*/ 0 w 80"/>
                        <a:gd name="T3" fmla="*/ 214 h 234"/>
                        <a:gd name="T4" fmla="*/ 80 w 80"/>
                        <a:gd name="T5" fmla="*/ 234 h 234"/>
                        <a:gd name="T6" fmla="*/ 80 w 80"/>
                        <a:gd name="T7" fmla="*/ 0 h 234"/>
                        <a:gd name="T8" fmla="*/ 0 w 80"/>
                        <a:gd name="T9" fmla="*/ 46 h 2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0" h="234">
                          <a:moveTo>
                            <a:pt x="0" y="46"/>
                          </a:moveTo>
                          <a:lnTo>
                            <a:pt x="0" y="214"/>
                          </a:lnTo>
                          <a:lnTo>
                            <a:pt x="80" y="234"/>
                          </a:lnTo>
                          <a:lnTo>
                            <a:pt x="80" y="0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92" name="Freeform 68"/>
                    <p:cNvSpPr/>
                    <p:nvPr/>
                  </p:nvSpPr>
                  <p:spPr bwMode="auto">
                    <a:xfrm>
                      <a:off x="3638" y="2524"/>
                      <a:ext cx="16" cy="58"/>
                    </a:xfrm>
                    <a:custGeom>
                      <a:avLst/>
                      <a:gdLst>
                        <a:gd name="T0" fmla="*/ 0 w 80"/>
                        <a:gd name="T1" fmla="*/ 46 h 234"/>
                        <a:gd name="T2" fmla="*/ 0 w 80"/>
                        <a:gd name="T3" fmla="*/ 214 h 234"/>
                        <a:gd name="T4" fmla="*/ 80 w 80"/>
                        <a:gd name="T5" fmla="*/ 234 h 234"/>
                        <a:gd name="T6" fmla="*/ 80 w 80"/>
                        <a:gd name="T7" fmla="*/ 0 h 234"/>
                        <a:gd name="T8" fmla="*/ 0 w 80"/>
                        <a:gd name="T9" fmla="*/ 46 h 2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0" h="234">
                          <a:moveTo>
                            <a:pt x="0" y="46"/>
                          </a:moveTo>
                          <a:lnTo>
                            <a:pt x="0" y="214"/>
                          </a:lnTo>
                          <a:lnTo>
                            <a:pt x="80" y="234"/>
                          </a:lnTo>
                          <a:lnTo>
                            <a:pt x="80" y="0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rgbClr val="9F9F9F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93" name="Freeform 69"/>
                    <p:cNvSpPr/>
                    <p:nvPr/>
                  </p:nvSpPr>
                  <p:spPr bwMode="auto">
                    <a:xfrm>
                      <a:off x="3630" y="2518"/>
                      <a:ext cx="16" cy="59"/>
                    </a:xfrm>
                    <a:custGeom>
                      <a:avLst/>
                      <a:gdLst>
                        <a:gd name="T0" fmla="*/ 0 w 80"/>
                        <a:gd name="T1" fmla="*/ 46 h 235"/>
                        <a:gd name="T2" fmla="*/ 0 w 80"/>
                        <a:gd name="T3" fmla="*/ 213 h 235"/>
                        <a:gd name="T4" fmla="*/ 80 w 80"/>
                        <a:gd name="T5" fmla="*/ 235 h 235"/>
                        <a:gd name="T6" fmla="*/ 80 w 80"/>
                        <a:gd name="T7" fmla="*/ 0 h 235"/>
                        <a:gd name="T8" fmla="*/ 0 w 80"/>
                        <a:gd name="T9" fmla="*/ 46 h 23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0" h="235">
                          <a:moveTo>
                            <a:pt x="0" y="46"/>
                          </a:moveTo>
                          <a:lnTo>
                            <a:pt x="0" y="213"/>
                          </a:lnTo>
                          <a:lnTo>
                            <a:pt x="80" y="235"/>
                          </a:lnTo>
                          <a:lnTo>
                            <a:pt x="80" y="0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rgbClr val="9F9F9F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94" name="Freeform 70"/>
                    <p:cNvSpPr/>
                    <p:nvPr/>
                  </p:nvSpPr>
                  <p:spPr bwMode="auto">
                    <a:xfrm>
                      <a:off x="3622" y="2512"/>
                      <a:ext cx="16" cy="59"/>
                    </a:xfrm>
                    <a:custGeom>
                      <a:avLst/>
                      <a:gdLst>
                        <a:gd name="T0" fmla="*/ 0 w 80"/>
                        <a:gd name="T1" fmla="*/ 45 h 234"/>
                        <a:gd name="T2" fmla="*/ 0 w 80"/>
                        <a:gd name="T3" fmla="*/ 213 h 234"/>
                        <a:gd name="T4" fmla="*/ 80 w 80"/>
                        <a:gd name="T5" fmla="*/ 234 h 234"/>
                        <a:gd name="T6" fmla="*/ 80 w 80"/>
                        <a:gd name="T7" fmla="*/ 0 h 234"/>
                        <a:gd name="T8" fmla="*/ 0 w 80"/>
                        <a:gd name="T9" fmla="*/ 45 h 2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0" h="234">
                          <a:moveTo>
                            <a:pt x="0" y="45"/>
                          </a:moveTo>
                          <a:lnTo>
                            <a:pt x="0" y="213"/>
                          </a:lnTo>
                          <a:lnTo>
                            <a:pt x="80" y="234"/>
                          </a:lnTo>
                          <a:lnTo>
                            <a:pt x="80" y="0"/>
                          </a:lnTo>
                          <a:lnTo>
                            <a:pt x="0" y="45"/>
                          </a:lnTo>
                          <a:close/>
                        </a:path>
                      </a:pathLst>
                    </a:custGeom>
                    <a:solidFill>
                      <a:srgbClr val="9F9F9F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95" name="Freeform 71"/>
                    <p:cNvSpPr/>
                    <p:nvPr/>
                  </p:nvSpPr>
                  <p:spPr bwMode="auto">
                    <a:xfrm>
                      <a:off x="3615" y="2506"/>
                      <a:ext cx="16" cy="59"/>
                    </a:xfrm>
                    <a:custGeom>
                      <a:avLst/>
                      <a:gdLst>
                        <a:gd name="T0" fmla="*/ 0 w 81"/>
                        <a:gd name="T1" fmla="*/ 45 h 234"/>
                        <a:gd name="T2" fmla="*/ 0 w 81"/>
                        <a:gd name="T3" fmla="*/ 214 h 234"/>
                        <a:gd name="T4" fmla="*/ 81 w 81"/>
                        <a:gd name="T5" fmla="*/ 234 h 234"/>
                        <a:gd name="T6" fmla="*/ 81 w 81"/>
                        <a:gd name="T7" fmla="*/ 0 h 234"/>
                        <a:gd name="T8" fmla="*/ 0 w 81"/>
                        <a:gd name="T9" fmla="*/ 45 h 2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1" h="234">
                          <a:moveTo>
                            <a:pt x="0" y="45"/>
                          </a:moveTo>
                          <a:lnTo>
                            <a:pt x="0" y="214"/>
                          </a:lnTo>
                          <a:lnTo>
                            <a:pt x="81" y="234"/>
                          </a:lnTo>
                          <a:lnTo>
                            <a:pt x="81" y="0"/>
                          </a:lnTo>
                          <a:lnTo>
                            <a:pt x="0" y="45"/>
                          </a:lnTo>
                          <a:close/>
                        </a:path>
                      </a:pathLst>
                    </a:custGeom>
                    <a:solidFill>
                      <a:srgbClr val="9F9F9F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96" name="Freeform 72"/>
                    <p:cNvSpPr/>
                    <p:nvPr/>
                  </p:nvSpPr>
                  <p:spPr bwMode="auto">
                    <a:xfrm>
                      <a:off x="3607" y="2500"/>
                      <a:ext cx="16" cy="59"/>
                    </a:xfrm>
                    <a:custGeom>
                      <a:avLst/>
                      <a:gdLst>
                        <a:gd name="T0" fmla="*/ 0 w 80"/>
                        <a:gd name="T1" fmla="*/ 47 h 234"/>
                        <a:gd name="T2" fmla="*/ 0 w 80"/>
                        <a:gd name="T3" fmla="*/ 214 h 234"/>
                        <a:gd name="T4" fmla="*/ 80 w 80"/>
                        <a:gd name="T5" fmla="*/ 234 h 234"/>
                        <a:gd name="T6" fmla="*/ 80 w 80"/>
                        <a:gd name="T7" fmla="*/ 0 h 234"/>
                        <a:gd name="T8" fmla="*/ 0 w 80"/>
                        <a:gd name="T9" fmla="*/ 47 h 2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0" h="234">
                          <a:moveTo>
                            <a:pt x="0" y="47"/>
                          </a:moveTo>
                          <a:lnTo>
                            <a:pt x="0" y="214"/>
                          </a:lnTo>
                          <a:lnTo>
                            <a:pt x="80" y="234"/>
                          </a:lnTo>
                          <a:lnTo>
                            <a:pt x="80" y="0"/>
                          </a:lnTo>
                          <a:lnTo>
                            <a:pt x="0" y="47"/>
                          </a:lnTo>
                          <a:close/>
                        </a:path>
                      </a:pathLst>
                    </a:custGeom>
                    <a:solidFill>
                      <a:srgbClr val="9F9F9F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97" name="Freeform 73"/>
                    <p:cNvSpPr/>
                    <p:nvPr/>
                  </p:nvSpPr>
                  <p:spPr bwMode="auto">
                    <a:xfrm>
                      <a:off x="3600" y="2495"/>
                      <a:ext cx="16" cy="59"/>
                    </a:xfrm>
                    <a:custGeom>
                      <a:avLst/>
                      <a:gdLst>
                        <a:gd name="T0" fmla="*/ 0 w 80"/>
                        <a:gd name="T1" fmla="*/ 45 h 234"/>
                        <a:gd name="T2" fmla="*/ 0 w 80"/>
                        <a:gd name="T3" fmla="*/ 213 h 234"/>
                        <a:gd name="T4" fmla="*/ 80 w 80"/>
                        <a:gd name="T5" fmla="*/ 234 h 234"/>
                        <a:gd name="T6" fmla="*/ 80 w 80"/>
                        <a:gd name="T7" fmla="*/ 0 h 234"/>
                        <a:gd name="T8" fmla="*/ 0 w 80"/>
                        <a:gd name="T9" fmla="*/ 45 h 2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0" h="234">
                          <a:moveTo>
                            <a:pt x="0" y="45"/>
                          </a:moveTo>
                          <a:lnTo>
                            <a:pt x="0" y="213"/>
                          </a:lnTo>
                          <a:lnTo>
                            <a:pt x="80" y="234"/>
                          </a:lnTo>
                          <a:lnTo>
                            <a:pt x="80" y="0"/>
                          </a:lnTo>
                          <a:lnTo>
                            <a:pt x="0" y="45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98" name="Freeform 74"/>
                    <p:cNvSpPr/>
                    <p:nvPr/>
                  </p:nvSpPr>
                  <p:spPr bwMode="auto">
                    <a:xfrm>
                      <a:off x="3592" y="2489"/>
                      <a:ext cx="16" cy="59"/>
                    </a:xfrm>
                    <a:custGeom>
                      <a:avLst/>
                      <a:gdLst>
                        <a:gd name="T0" fmla="*/ 0 w 81"/>
                        <a:gd name="T1" fmla="*/ 46 h 234"/>
                        <a:gd name="T2" fmla="*/ 0 w 81"/>
                        <a:gd name="T3" fmla="*/ 214 h 234"/>
                        <a:gd name="T4" fmla="*/ 81 w 81"/>
                        <a:gd name="T5" fmla="*/ 234 h 234"/>
                        <a:gd name="T6" fmla="*/ 81 w 81"/>
                        <a:gd name="T7" fmla="*/ 0 h 234"/>
                        <a:gd name="T8" fmla="*/ 0 w 81"/>
                        <a:gd name="T9" fmla="*/ 46 h 2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1" h="234">
                          <a:moveTo>
                            <a:pt x="0" y="46"/>
                          </a:moveTo>
                          <a:lnTo>
                            <a:pt x="0" y="214"/>
                          </a:lnTo>
                          <a:lnTo>
                            <a:pt x="81" y="234"/>
                          </a:lnTo>
                          <a:lnTo>
                            <a:pt x="81" y="0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99" name="Freeform 75"/>
                    <p:cNvSpPr/>
                    <p:nvPr/>
                  </p:nvSpPr>
                  <p:spPr bwMode="auto">
                    <a:xfrm>
                      <a:off x="3585" y="2483"/>
                      <a:ext cx="16" cy="59"/>
                    </a:xfrm>
                    <a:custGeom>
                      <a:avLst/>
                      <a:gdLst>
                        <a:gd name="T0" fmla="*/ 0 w 80"/>
                        <a:gd name="T1" fmla="*/ 47 h 234"/>
                        <a:gd name="T2" fmla="*/ 0 w 80"/>
                        <a:gd name="T3" fmla="*/ 214 h 234"/>
                        <a:gd name="T4" fmla="*/ 80 w 80"/>
                        <a:gd name="T5" fmla="*/ 234 h 234"/>
                        <a:gd name="T6" fmla="*/ 80 w 80"/>
                        <a:gd name="T7" fmla="*/ 0 h 234"/>
                        <a:gd name="T8" fmla="*/ 0 w 80"/>
                        <a:gd name="T9" fmla="*/ 47 h 2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0" h="234">
                          <a:moveTo>
                            <a:pt x="0" y="47"/>
                          </a:moveTo>
                          <a:lnTo>
                            <a:pt x="0" y="214"/>
                          </a:lnTo>
                          <a:lnTo>
                            <a:pt x="80" y="234"/>
                          </a:lnTo>
                          <a:lnTo>
                            <a:pt x="80" y="0"/>
                          </a:lnTo>
                          <a:lnTo>
                            <a:pt x="0" y="47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00" name="Freeform 76"/>
                    <p:cNvSpPr/>
                    <p:nvPr/>
                  </p:nvSpPr>
                  <p:spPr bwMode="auto">
                    <a:xfrm>
                      <a:off x="3577" y="2477"/>
                      <a:ext cx="16" cy="59"/>
                    </a:xfrm>
                    <a:custGeom>
                      <a:avLst/>
                      <a:gdLst>
                        <a:gd name="T0" fmla="*/ 0 w 80"/>
                        <a:gd name="T1" fmla="*/ 47 h 235"/>
                        <a:gd name="T2" fmla="*/ 0 w 80"/>
                        <a:gd name="T3" fmla="*/ 214 h 235"/>
                        <a:gd name="T4" fmla="*/ 80 w 80"/>
                        <a:gd name="T5" fmla="*/ 235 h 235"/>
                        <a:gd name="T6" fmla="*/ 80 w 80"/>
                        <a:gd name="T7" fmla="*/ 0 h 235"/>
                        <a:gd name="T8" fmla="*/ 0 w 80"/>
                        <a:gd name="T9" fmla="*/ 47 h 23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0" h="235">
                          <a:moveTo>
                            <a:pt x="0" y="47"/>
                          </a:moveTo>
                          <a:lnTo>
                            <a:pt x="0" y="214"/>
                          </a:lnTo>
                          <a:lnTo>
                            <a:pt x="80" y="235"/>
                          </a:lnTo>
                          <a:lnTo>
                            <a:pt x="80" y="0"/>
                          </a:lnTo>
                          <a:lnTo>
                            <a:pt x="0" y="47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01" name="Freeform 77"/>
                    <p:cNvSpPr/>
                    <p:nvPr/>
                  </p:nvSpPr>
                  <p:spPr bwMode="auto">
                    <a:xfrm>
                      <a:off x="3569" y="2472"/>
                      <a:ext cx="17" cy="58"/>
                    </a:xfrm>
                    <a:custGeom>
                      <a:avLst/>
                      <a:gdLst>
                        <a:gd name="T0" fmla="*/ 0 w 82"/>
                        <a:gd name="T1" fmla="*/ 45 h 234"/>
                        <a:gd name="T2" fmla="*/ 0 w 82"/>
                        <a:gd name="T3" fmla="*/ 212 h 234"/>
                        <a:gd name="T4" fmla="*/ 82 w 82"/>
                        <a:gd name="T5" fmla="*/ 234 h 234"/>
                        <a:gd name="T6" fmla="*/ 82 w 82"/>
                        <a:gd name="T7" fmla="*/ 0 h 234"/>
                        <a:gd name="T8" fmla="*/ 0 w 82"/>
                        <a:gd name="T9" fmla="*/ 45 h 2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2" h="234">
                          <a:moveTo>
                            <a:pt x="0" y="45"/>
                          </a:moveTo>
                          <a:lnTo>
                            <a:pt x="0" y="212"/>
                          </a:lnTo>
                          <a:lnTo>
                            <a:pt x="82" y="234"/>
                          </a:lnTo>
                          <a:lnTo>
                            <a:pt x="82" y="0"/>
                          </a:lnTo>
                          <a:lnTo>
                            <a:pt x="0" y="45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prstDash val="solid"/>
                      <a:round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sp>
                <p:nvSpPr>
                  <p:cNvPr id="585" name="Freeform 78"/>
                  <p:cNvSpPr/>
                  <p:nvPr/>
                </p:nvSpPr>
                <p:spPr bwMode="auto">
                  <a:xfrm>
                    <a:off x="3568" y="2506"/>
                    <a:ext cx="156" cy="114"/>
                  </a:xfrm>
                  <a:custGeom>
                    <a:avLst/>
                    <a:gdLst>
                      <a:gd name="T0" fmla="*/ 0 w 780"/>
                      <a:gd name="T1" fmla="*/ 0 h 457"/>
                      <a:gd name="T2" fmla="*/ 780 w 780"/>
                      <a:gd name="T3" fmla="*/ 362 h 457"/>
                      <a:gd name="T4" fmla="*/ 780 w 780"/>
                      <a:gd name="T5" fmla="*/ 457 h 457"/>
                      <a:gd name="T6" fmla="*/ 0 w 780"/>
                      <a:gd name="T7" fmla="*/ 162 h 457"/>
                      <a:gd name="T8" fmla="*/ 0 w 780"/>
                      <a:gd name="T9" fmla="*/ 0 h 45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80" h="457">
                        <a:moveTo>
                          <a:pt x="0" y="0"/>
                        </a:moveTo>
                        <a:lnTo>
                          <a:pt x="780" y="362"/>
                        </a:lnTo>
                        <a:lnTo>
                          <a:pt x="780" y="457"/>
                        </a:lnTo>
                        <a:lnTo>
                          <a:pt x="0" y="16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9F9F9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586" name="Freeform 79"/>
                  <p:cNvSpPr/>
                  <p:nvPr/>
                </p:nvSpPr>
                <p:spPr bwMode="auto">
                  <a:xfrm>
                    <a:off x="3568" y="2605"/>
                    <a:ext cx="149" cy="77"/>
                  </a:xfrm>
                  <a:custGeom>
                    <a:avLst/>
                    <a:gdLst>
                      <a:gd name="T0" fmla="*/ 0 w 746"/>
                      <a:gd name="T1" fmla="*/ 0 h 310"/>
                      <a:gd name="T2" fmla="*/ 746 w 746"/>
                      <a:gd name="T3" fmla="*/ 201 h 310"/>
                      <a:gd name="T4" fmla="*/ 746 w 746"/>
                      <a:gd name="T5" fmla="*/ 310 h 310"/>
                      <a:gd name="T6" fmla="*/ 0 w 746"/>
                      <a:gd name="T7" fmla="*/ 197 h 310"/>
                      <a:gd name="T8" fmla="*/ 0 w 746"/>
                      <a:gd name="T9" fmla="*/ 0 h 3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46" h="310">
                        <a:moveTo>
                          <a:pt x="0" y="0"/>
                        </a:moveTo>
                        <a:lnTo>
                          <a:pt x="746" y="201"/>
                        </a:lnTo>
                        <a:lnTo>
                          <a:pt x="746" y="310"/>
                        </a:lnTo>
                        <a:lnTo>
                          <a:pt x="0" y="19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9F9F9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  <p:grpSp>
              <p:nvGrpSpPr>
                <p:cNvPr id="559" name="Group 80"/>
                <p:cNvGrpSpPr/>
                <p:nvPr/>
              </p:nvGrpSpPr>
              <p:grpSpPr bwMode="auto">
                <a:xfrm>
                  <a:off x="3033" y="2348"/>
                  <a:ext cx="439" cy="405"/>
                  <a:chOff x="3033" y="2348"/>
                  <a:chExt cx="439" cy="405"/>
                </a:xfrm>
              </p:grpSpPr>
              <p:grpSp>
                <p:nvGrpSpPr>
                  <p:cNvPr id="560" name="Group 81"/>
                  <p:cNvGrpSpPr/>
                  <p:nvPr/>
                </p:nvGrpSpPr>
                <p:grpSpPr bwMode="auto">
                  <a:xfrm>
                    <a:off x="3210" y="2436"/>
                    <a:ext cx="72" cy="317"/>
                    <a:chOff x="3210" y="2436"/>
                    <a:chExt cx="72" cy="317"/>
                  </a:xfrm>
                </p:grpSpPr>
                <p:sp>
                  <p:nvSpPr>
                    <p:cNvPr id="576" name="Freeform 82"/>
                    <p:cNvSpPr/>
                    <p:nvPr/>
                  </p:nvSpPr>
                  <p:spPr bwMode="auto">
                    <a:xfrm>
                      <a:off x="3215" y="2436"/>
                      <a:ext cx="67" cy="317"/>
                    </a:xfrm>
                    <a:custGeom>
                      <a:avLst/>
                      <a:gdLst>
                        <a:gd name="T0" fmla="*/ 333 w 333"/>
                        <a:gd name="T1" fmla="*/ 109 h 1264"/>
                        <a:gd name="T2" fmla="*/ 153 w 333"/>
                        <a:gd name="T3" fmla="*/ 0 h 1264"/>
                        <a:gd name="T4" fmla="*/ 132 w 333"/>
                        <a:gd name="T5" fmla="*/ 0 h 1264"/>
                        <a:gd name="T6" fmla="*/ 95 w 333"/>
                        <a:gd name="T7" fmla="*/ 5 h 1264"/>
                        <a:gd name="T8" fmla="*/ 33 w 333"/>
                        <a:gd name="T9" fmla="*/ 69 h 1264"/>
                        <a:gd name="T10" fmla="*/ 0 w 333"/>
                        <a:gd name="T11" fmla="*/ 49 h 1264"/>
                        <a:gd name="T12" fmla="*/ 0 w 333"/>
                        <a:gd name="T13" fmla="*/ 1261 h 1264"/>
                        <a:gd name="T14" fmla="*/ 49 w 333"/>
                        <a:gd name="T15" fmla="*/ 1210 h 1264"/>
                        <a:gd name="T16" fmla="*/ 91 w 333"/>
                        <a:gd name="T17" fmla="*/ 1210 h 1264"/>
                        <a:gd name="T18" fmla="*/ 91 w 333"/>
                        <a:gd name="T19" fmla="*/ 1264 h 1264"/>
                        <a:gd name="T20" fmla="*/ 133 w 333"/>
                        <a:gd name="T21" fmla="*/ 1264 h 1264"/>
                        <a:gd name="T22" fmla="*/ 162 w 333"/>
                        <a:gd name="T23" fmla="*/ 1236 h 1264"/>
                        <a:gd name="T24" fmla="*/ 162 w 333"/>
                        <a:gd name="T25" fmla="*/ 167 h 1264"/>
                        <a:gd name="T26" fmla="*/ 333 w 333"/>
                        <a:gd name="T27" fmla="*/ 109 h 126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</a:cxnLst>
                      <a:rect l="0" t="0" r="r" b="b"/>
                      <a:pathLst>
                        <a:path w="333" h="1264">
                          <a:moveTo>
                            <a:pt x="333" y="109"/>
                          </a:moveTo>
                          <a:lnTo>
                            <a:pt x="153" y="0"/>
                          </a:lnTo>
                          <a:lnTo>
                            <a:pt x="132" y="0"/>
                          </a:lnTo>
                          <a:lnTo>
                            <a:pt x="95" y="5"/>
                          </a:lnTo>
                          <a:lnTo>
                            <a:pt x="33" y="69"/>
                          </a:lnTo>
                          <a:lnTo>
                            <a:pt x="0" y="49"/>
                          </a:lnTo>
                          <a:lnTo>
                            <a:pt x="0" y="1261"/>
                          </a:lnTo>
                          <a:lnTo>
                            <a:pt x="49" y="1210"/>
                          </a:lnTo>
                          <a:lnTo>
                            <a:pt x="91" y="1210"/>
                          </a:lnTo>
                          <a:lnTo>
                            <a:pt x="91" y="1264"/>
                          </a:lnTo>
                          <a:lnTo>
                            <a:pt x="133" y="1264"/>
                          </a:lnTo>
                          <a:lnTo>
                            <a:pt x="162" y="1236"/>
                          </a:lnTo>
                          <a:lnTo>
                            <a:pt x="162" y="167"/>
                          </a:lnTo>
                          <a:lnTo>
                            <a:pt x="333" y="109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77" name="Freeform 83"/>
                    <p:cNvSpPr/>
                    <p:nvPr/>
                  </p:nvSpPr>
                  <p:spPr bwMode="auto">
                    <a:xfrm>
                      <a:off x="3210" y="2449"/>
                      <a:ext cx="5" cy="303"/>
                    </a:xfrm>
                    <a:custGeom>
                      <a:avLst/>
                      <a:gdLst>
                        <a:gd name="T0" fmla="*/ 28 w 28"/>
                        <a:gd name="T1" fmla="*/ 0 h 1213"/>
                        <a:gd name="T2" fmla="*/ 28 w 28"/>
                        <a:gd name="T3" fmla="*/ 1213 h 1213"/>
                        <a:gd name="T4" fmla="*/ 0 w 28"/>
                        <a:gd name="T5" fmla="*/ 1213 h 1213"/>
                        <a:gd name="T6" fmla="*/ 0 w 28"/>
                        <a:gd name="T7" fmla="*/ 9 h 1213"/>
                        <a:gd name="T8" fmla="*/ 28 w 28"/>
                        <a:gd name="T9" fmla="*/ 0 h 121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8" h="1213">
                          <a:moveTo>
                            <a:pt x="28" y="0"/>
                          </a:moveTo>
                          <a:lnTo>
                            <a:pt x="28" y="1213"/>
                          </a:lnTo>
                          <a:lnTo>
                            <a:pt x="0" y="1213"/>
                          </a:lnTo>
                          <a:lnTo>
                            <a:pt x="0" y="9"/>
                          </a:lnTo>
                          <a:lnTo>
                            <a:pt x="28" y="0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78" name="Freeform 84"/>
                    <p:cNvSpPr/>
                    <p:nvPr/>
                  </p:nvSpPr>
                  <p:spPr bwMode="auto">
                    <a:xfrm>
                      <a:off x="3233" y="2436"/>
                      <a:ext cx="8" cy="317"/>
                    </a:xfrm>
                    <a:custGeom>
                      <a:avLst/>
                      <a:gdLst>
                        <a:gd name="T0" fmla="*/ 0 w 41"/>
                        <a:gd name="T1" fmla="*/ 5 h 1264"/>
                        <a:gd name="T2" fmla="*/ 41 w 41"/>
                        <a:gd name="T3" fmla="*/ 0 h 1264"/>
                        <a:gd name="T4" fmla="*/ 41 w 41"/>
                        <a:gd name="T5" fmla="*/ 1264 h 1264"/>
                        <a:gd name="T6" fmla="*/ 0 w 41"/>
                        <a:gd name="T7" fmla="*/ 1264 h 1264"/>
                        <a:gd name="T8" fmla="*/ 0 w 41"/>
                        <a:gd name="T9" fmla="*/ 5 h 126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1" h="1264">
                          <a:moveTo>
                            <a:pt x="0" y="5"/>
                          </a:moveTo>
                          <a:lnTo>
                            <a:pt x="41" y="0"/>
                          </a:lnTo>
                          <a:lnTo>
                            <a:pt x="41" y="1264"/>
                          </a:lnTo>
                          <a:lnTo>
                            <a:pt x="0" y="1264"/>
                          </a:lnTo>
                          <a:lnTo>
                            <a:pt x="0" y="5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79" name="Freeform 85"/>
                    <p:cNvSpPr/>
                    <p:nvPr/>
                  </p:nvSpPr>
                  <p:spPr bwMode="auto">
                    <a:xfrm>
                      <a:off x="3222" y="2444"/>
                      <a:ext cx="11" cy="299"/>
                    </a:xfrm>
                    <a:custGeom>
                      <a:avLst/>
                      <a:gdLst>
                        <a:gd name="T0" fmla="*/ 0 w 58"/>
                        <a:gd name="T1" fmla="*/ 1195 h 1195"/>
                        <a:gd name="T2" fmla="*/ 0 w 58"/>
                        <a:gd name="T3" fmla="*/ 58 h 1195"/>
                        <a:gd name="T4" fmla="*/ 58 w 58"/>
                        <a:gd name="T5" fmla="*/ 0 h 1195"/>
                        <a:gd name="T6" fmla="*/ 58 w 58"/>
                        <a:gd name="T7" fmla="*/ 1195 h 1195"/>
                        <a:gd name="T8" fmla="*/ 0 w 58"/>
                        <a:gd name="T9" fmla="*/ 1195 h 119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58" h="1195">
                          <a:moveTo>
                            <a:pt x="0" y="1195"/>
                          </a:moveTo>
                          <a:lnTo>
                            <a:pt x="0" y="58"/>
                          </a:lnTo>
                          <a:lnTo>
                            <a:pt x="58" y="0"/>
                          </a:lnTo>
                          <a:lnTo>
                            <a:pt x="58" y="1195"/>
                          </a:lnTo>
                          <a:lnTo>
                            <a:pt x="0" y="1195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561" name="Group 86"/>
                  <p:cNvGrpSpPr/>
                  <p:nvPr/>
                </p:nvGrpSpPr>
                <p:grpSpPr bwMode="auto">
                  <a:xfrm>
                    <a:off x="3380" y="2348"/>
                    <a:ext cx="92" cy="403"/>
                    <a:chOff x="3380" y="2348"/>
                    <a:chExt cx="92" cy="403"/>
                  </a:xfrm>
                </p:grpSpPr>
                <p:sp>
                  <p:nvSpPr>
                    <p:cNvPr id="572" name="Freeform 87"/>
                    <p:cNvSpPr/>
                    <p:nvPr/>
                  </p:nvSpPr>
                  <p:spPr bwMode="auto">
                    <a:xfrm>
                      <a:off x="3387" y="2348"/>
                      <a:ext cx="85" cy="403"/>
                    </a:xfrm>
                    <a:custGeom>
                      <a:avLst/>
                      <a:gdLst>
                        <a:gd name="T0" fmla="*/ 425 w 425"/>
                        <a:gd name="T1" fmla="*/ 137 h 1613"/>
                        <a:gd name="T2" fmla="*/ 196 w 425"/>
                        <a:gd name="T3" fmla="*/ 0 h 1613"/>
                        <a:gd name="T4" fmla="*/ 168 w 425"/>
                        <a:gd name="T5" fmla="*/ 0 h 1613"/>
                        <a:gd name="T6" fmla="*/ 122 w 425"/>
                        <a:gd name="T7" fmla="*/ 6 h 1613"/>
                        <a:gd name="T8" fmla="*/ 42 w 425"/>
                        <a:gd name="T9" fmla="*/ 86 h 1613"/>
                        <a:gd name="T10" fmla="*/ 0 w 425"/>
                        <a:gd name="T11" fmla="*/ 61 h 1613"/>
                        <a:gd name="T12" fmla="*/ 0 w 425"/>
                        <a:gd name="T13" fmla="*/ 1607 h 1613"/>
                        <a:gd name="T14" fmla="*/ 64 w 425"/>
                        <a:gd name="T15" fmla="*/ 1544 h 1613"/>
                        <a:gd name="T16" fmla="*/ 117 w 425"/>
                        <a:gd name="T17" fmla="*/ 1544 h 1613"/>
                        <a:gd name="T18" fmla="*/ 117 w 425"/>
                        <a:gd name="T19" fmla="*/ 1613 h 1613"/>
                        <a:gd name="T20" fmla="*/ 170 w 425"/>
                        <a:gd name="T21" fmla="*/ 1613 h 1613"/>
                        <a:gd name="T22" fmla="*/ 207 w 425"/>
                        <a:gd name="T23" fmla="*/ 1576 h 1613"/>
                        <a:gd name="T24" fmla="*/ 207 w 425"/>
                        <a:gd name="T25" fmla="*/ 211 h 1613"/>
                        <a:gd name="T26" fmla="*/ 425 w 425"/>
                        <a:gd name="T27" fmla="*/ 137 h 161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</a:cxnLst>
                      <a:rect l="0" t="0" r="r" b="b"/>
                      <a:pathLst>
                        <a:path w="425" h="1613">
                          <a:moveTo>
                            <a:pt x="425" y="137"/>
                          </a:moveTo>
                          <a:lnTo>
                            <a:pt x="196" y="0"/>
                          </a:lnTo>
                          <a:lnTo>
                            <a:pt x="168" y="0"/>
                          </a:lnTo>
                          <a:lnTo>
                            <a:pt x="122" y="6"/>
                          </a:lnTo>
                          <a:lnTo>
                            <a:pt x="42" y="86"/>
                          </a:lnTo>
                          <a:lnTo>
                            <a:pt x="0" y="61"/>
                          </a:lnTo>
                          <a:lnTo>
                            <a:pt x="0" y="1607"/>
                          </a:lnTo>
                          <a:lnTo>
                            <a:pt x="64" y="1544"/>
                          </a:lnTo>
                          <a:lnTo>
                            <a:pt x="117" y="1544"/>
                          </a:lnTo>
                          <a:lnTo>
                            <a:pt x="117" y="1613"/>
                          </a:lnTo>
                          <a:lnTo>
                            <a:pt x="170" y="1613"/>
                          </a:lnTo>
                          <a:lnTo>
                            <a:pt x="207" y="1576"/>
                          </a:lnTo>
                          <a:lnTo>
                            <a:pt x="207" y="211"/>
                          </a:lnTo>
                          <a:lnTo>
                            <a:pt x="425" y="137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73" name="Freeform 88"/>
                    <p:cNvSpPr/>
                    <p:nvPr/>
                  </p:nvSpPr>
                  <p:spPr bwMode="auto">
                    <a:xfrm>
                      <a:off x="3380" y="2363"/>
                      <a:ext cx="7" cy="387"/>
                    </a:xfrm>
                    <a:custGeom>
                      <a:avLst/>
                      <a:gdLst>
                        <a:gd name="T0" fmla="*/ 35 w 35"/>
                        <a:gd name="T1" fmla="*/ 0 h 1548"/>
                        <a:gd name="T2" fmla="*/ 35 w 35"/>
                        <a:gd name="T3" fmla="*/ 1548 h 1548"/>
                        <a:gd name="T4" fmla="*/ 0 w 35"/>
                        <a:gd name="T5" fmla="*/ 1548 h 1548"/>
                        <a:gd name="T6" fmla="*/ 0 w 35"/>
                        <a:gd name="T7" fmla="*/ 11 h 1548"/>
                        <a:gd name="T8" fmla="*/ 35 w 35"/>
                        <a:gd name="T9" fmla="*/ 0 h 154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35" h="1548">
                          <a:moveTo>
                            <a:pt x="35" y="0"/>
                          </a:moveTo>
                          <a:lnTo>
                            <a:pt x="35" y="1548"/>
                          </a:lnTo>
                          <a:lnTo>
                            <a:pt x="0" y="1548"/>
                          </a:lnTo>
                          <a:lnTo>
                            <a:pt x="0" y="11"/>
                          </a:lnTo>
                          <a:lnTo>
                            <a:pt x="35" y="0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74" name="Freeform 89"/>
                    <p:cNvSpPr/>
                    <p:nvPr/>
                  </p:nvSpPr>
                  <p:spPr bwMode="auto">
                    <a:xfrm>
                      <a:off x="3410" y="2348"/>
                      <a:ext cx="10" cy="403"/>
                    </a:xfrm>
                    <a:custGeom>
                      <a:avLst/>
                      <a:gdLst>
                        <a:gd name="T0" fmla="*/ 0 w 51"/>
                        <a:gd name="T1" fmla="*/ 6 h 1613"/>
                        <a:gd name="T2" fmla="*/ 51 w 51"/>
                        <a:gd name="T3" fmla="*/ 0 h 1613"/>
                        <a:gd name="T4" fmla="*/ 51 w 51"/>
                        <a:gd name="T5" fmla="*/ 1613 h 1613"/>
                        <a:gd name="T6" fmla="*/ 0 w 51"/>
                        <a:gd name="T7" fmla="*/ 1613 h 1613"/>
                        <a:gd name="T8" fmla="*/ 0 w 51"/>
                        <a:gd name="T9" fmla="*/ 6 h 161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51" h="1613">
                          <a:moveTo>
                            <a:pt x="0" y="6"/>
                          </a:moveTo>
                          <a:lnTo>
                            <a:pt x="51" y="0"/>
                          </a:lnTo>
                          <a:lnTo>
                            <a:pt x="51" y="1613"/>
                          </a:lnTo>
                          <a:lnTo>
                            <a:pt x="0" y="1613"/>
                          </a:lnTo>
                          <a:lnTo>
                            <a:pt x="0" y="6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75" name="Freeform 90"/>
                    <p:cNvSpPr/>
                    <p:nvPr/>
                  </p:nvSpPr>
                  <p:spPr bwMode="auto">
                    <a:xfrm>
                      <a:off x="3395" y="2358"/>
                      <a:ext cx="15" cy="381"/>
                    </a:xfrm>
                    <a:custGeom>
                      <a:avLst/>
                      <a:gdLst>
                        <a:gd name="T0" fmla="*/ 0 w 75"/>
                        <a:gd name="T1" fmla="*/ 1525 h 1525"/>
                        <a:gd name="T2" fmla="*/ 0 w 75"/>
                        <a:gd name="T3" fmla="*/ 75 h 1525"/>
                        <a:gd name="T4" fmla="*/ 75 w 75"/>
                        <a:gd name="T5" fmla="*/ 0 h 1525"/>
                        <a:gd name="T6" fmla="*/ 75 w 75"/>
                        <a:gd name="T7" fmla="*/ 1525 h 1525"/>
                        <a:gd name="T8" fmla="*/ 0 w 75"/>
                        <a:gd name="T9" fmla="*/ 1525 h 152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75" h="1525">
                          <a:moveTo>
                            <a:pt x="0" y="1525"/>
                          </a:moveTo>
                          <a:lnTo>
                            <a:pt x="0" y="75"/>
                          </a:lnTo>
                          <a:lnTo>
                            <a:pt x="75" y="0"/>
                          </a:lnTo>
                          <a:lnTo>
                            <a:pt x="75" y="1525"/>
                          </a:lnTo>
                          <a:lnTo>
                            <a:pt x="0" y="1525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562" name="Group 91"/>
                  <p:cNvGrpSpPr/>
                  <p:nvPr/>
                </p:nvGrpSpPr>
                <p:grpSpPr bwMode="auto">
                  <a:xfrm>
                    <a:off x="3105" y="2493"/>
                    <a:ext cx="57" cy="254"/>
                    <a:chOff x="3105" y="2493"/>
                    <a:chExt cx="57" cy="254"/>
                  </a:xfrm>
                </p:grpSpPr>
                <p:sp>
                  <p:nvSpPr>
                    <p:cNvPr id="568" name="Freeform 92"/>
                    <p:cNvSpPr/>
                    <p:nvPr/>
                  </p:nvSpPr>
                  <p:spPr bwMode="auto">
                    <a:xfrm>
                      <a:off x="3109" y="2493"/>
                      <a:ext cx="53" cy="254"/>
                    </a:xfrm>
                    <a:custGeom>
                      <a:avLst/>
                      <a:gdLst>
                        <a:gd name="T0" fmla="*/ 265 w 265"/>
                        <a:gd name="T1" fmla="*/ 88 h 1016"/>
                        <a:gd name="T2" fmla="*/ 122 w 265"/>
                        <a:gd name="T3" fmla="*/ 0 h 1016"/>
                        <a:gd name="T4" fmla="*/ 105 w 265"/>
                        <a:gd name="T5" fmla="*/ 0 h 1016"/>
                        <a:gd name="T6" fmla="*/ 77 w 265"/>
                        <a:gd name="T7" fmla="*/ 4 h 1016"/>
                        <a:gd name="T8" fmla="*/ 27 w 265"/>
                        <a:gd name="T9" fmla="*/ 55 h 1016"/>
                        <a:gd name="T10" fmla="*/ 0 w 265"/>
                        <a:gd name="T11" fmla="*/ 39 h 1016"/>
                        <a:gd name="T12" fmla="*/ 0 w 265"/>
                        <a:gd name="T13" fmla="*/ 1012 h 1016"/>
                        <a:gd name="T14" fmla="*/ 40 w 265"/>
                        <a:gd name="T15" fmla="*/ 971 h 1016"/>
                        <a:gd name="T16" fmla="*/ 72 w 265"/>
                        <a:gd name="T17" fmla="*/ 971 h 1016"/>
                        <a:gd name="T18" fmla="*/ 72 w 265"/>
                        <a:gd name="T19" fmla="*/ 1016 h 1016"/>
                        <a:gd name="T20" fmla="*/ 106 w 265"/>
                        <a:gd name="T21" fmla="*/ 1016 h 1016"/>
                        <a:gd name="T22" fmla="*/ 130 w 265"/>
                        <a:gd name="T23" fmla="*/ 992 h 1016"/>
                        <a:gd name="T24" fmla="*/ 130 w 265"/>
                        <a:gd name="T25" fmla="*/ 134 h 1016"/>
                        <a:gd name="T26" fmla="*/ 265 w 265"/>
                        <a:gd name="T27" fmla="*/ 88 h 101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</a:cxnLst>
                      <a:rect l="0" t="0" r="r" b="b"/>
                      <a:pathLst>
                        <a:path w="265" h="1016">
                          <a:moveTo>
                            <a:pt x="265" y="88"/>
                          </a:moveTo>
                          <a:lnTo>
                            <a:pt x="122" y="0"/>
                          </a:lnTo>
                          <a:lnTo>
                            <a:pt x="105" y="0"/>
                          </a:lnTo>
                          <a:lnTo>
                            <a:pt x="77" y="4"/>
                          </a:lnTo>
                          <a:lnTo>
                            <a:pt x="27" y="55"/>
                          </a:lnTo>
                          <a:lnTo>
                            <a:pt x="0" y="39"/>
                          </a:lnTo>
                          <a:lnTo>
                            <a:pt x="0" y="1012"/>
                          </a:lnTo>
                          <a:lnTo>
                            <a:pt x="40" y="971"/>
                          </a:lnTo>
                          <a:lnTo>
                            <a:pt x="72" y="971"/>
                          </a:lnTo>
                          <a:lnTo>
                            <a:pt x="72" y="1016"/>
                          </a:lnTo>
                          <a:lnTo>
                            <a:pt x="106" y="1016"/>
                          </a:lnTo>
                          <a:lnTo>
                            <a:pt x="130" y="992"/>
                          </a:lnTo>
                          <a:lnTo>
                            <a:pt x="130" y="134"/>
                          </a:lnTo>
                          <a:lnTo>
                            <a:pt x="265" y="8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69" name="Freeform 93"/>
                    <p:cNvSpPr/>
                    <p:nvPr/>
                  </p:nvSpPr>
                  <p:spPr bwMode="auto">
                    <a:xfrm>
                      <a:off x="3105" y="2502"/>
                      <a:ext cx="4" cy="244"/>
                    </a:xfrm>
                    <a:custGeom>
                      <a:avLst/>
                      <a:gdLst>
                        <a:gd name="T0" fmla="*/ 22 w 22"/>
                        <a:gd name="T1" fmla="*/ 0 h 974"/>
                        <a:gd name="T2" fmla="*/ 22 w 22"/>
                        <a:gd name="T3" fmla="*/ 974 h 974"/>
                        <a:gd name="T4" fmla="*/ 0 w 22"/>
                        <a:gd name="T5" fmla="*/ 974 h 974"/>
                        <a:gd name="T6" fmla="*/ 0 w 22"/>
                        <a:gd name="T7" fmla="*/ 7 h 974"/>
                        <a:gd name="T8" fmla="*/ 22 w 22"/>
                        <a:gd name="T9" fmla="*/ 0 h 97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2" h="974">
                          <a:moveTo>
                            <a:pt x="22" y="0"/>
                          </a:moveTo>
                          <a:lnTo>
                            <a:pt x="22" y="974"/>
                          </a:lnTo>
                          <a:lnTo>
                            <a:pt x="0" y="974"/>
                          </a:lnTo>
                          <a:lnTo>
                            <a:pt x="0" y="7"/>
                          </a:lnTo>
                          <a:lnTo>
                            <a:pt x="22" y="0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70" name="Freeform 94"/>
                    <p:cNvSpPr/>
                    <p:nvPr/>
                  </p:nvSpPr>
                  <p:spPr bwMode="auto">
                    <a:xfrm>
                      <a:off x="3123" y="2493"/>
                      <a:ext cx="7" cy="253"/>
                    </a:xfrm>
                    <a:custGeom>
                      <a:avLst/>
                      <a:gdLst>
                        <a:gd name="T0" fmla="*/ 0 w 34"/>
                        <a:gd name="T1" fmla="*/ 8 h 1013"/>
                        <a:gd name="T2" fmla="*/ 34 w 34"/>
                        <a:gd name="T3" fmla="*/ 0 h 1013"/>
                        <a:gd name="T4" fmla="*/ 34 w 34"/>
                        <a:gd name="T5" fmla="*/ 1013 h 1013"/>
                        <a:gd name="T6" fmla="*/ 0 w 34"/>
                        <a:gd name="T7" fmla="*/ 1013 h 1013"/>
                        <a:gd name="T8" fmla="*/ 0 w 34"/>
                        <a:gd name="T9" fmla="*/ 8 h 101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34" h="1013">
                          <a:moveTo>
                            <a:pt x="0" y="8"/>
                          </a:moveTo>
                          <a:lnTo>
                            <a:pt x="34" y="0"/>
                          </a:lnTo>
                          <a:lnTo>
                            <a:pt x="34" y="1013"/>
                          </a:lnTo>
                          <a:lnTo>
                            <a:pt x="0" y="1013"/>
                          </a:lnTo>
                          <a:lnTo>
                            <a:pt x="0" y="8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71" name="Freeform 95"/>
                    <p:cNvSpPr/>
                    <p:nvPr/>
                  </p:nvSpPr>
                  <p:spPr bwMode="auto">
                    <a:xfrm>
                      <a:off x="3114" y="2499"/>
                      <a:ext cx="9" cy="240"/>
                    </a:xfrm>
                    <a:custGeom>
                      <a:avLst/>
                      <a:gdLst>
                        <a:gd name="T0" fmla="*/ 0 w 45"/>
                        <a:gd name="T1" fmla="*/ 960 h 960"/>
                        <a:gd name="T2" fmla="*/ 0 w 45"/>
                        <a:gd name="T3" fmla="*/ 44 h 960"/>
                        <a:gd name="T4" fmla="*/ 45 w 45"/>
                        <a:gd name="T5" fmla="*/ 0 h 960"/>
                        <a:gd name="T6" fmla="*/ 45 w 45"/>
                        <a:gd name="T7" fmla="*/ 960 h 960"/>
                        <a:gd name="T8" fmla="*/ 0 w 45"/>
                        <a:gd name="T9" fmla="*/ 960 h 96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5" h="960">
                          <a:moveTo>
                            <a:pt x="0" y="960"/>
                          </a:moveTo>
                          <a:lnTo>
                            <a:pt x="0" y="44"/>
                          </a:lnTo>
                          <a:lnTo>
                            <a:pt x="45" y="0"/>
                          </a:lnTo>
                          <a:lnTo>
                            <a:pt x="45" y="960"/>
                          </a:lnTo>
                          <a:lnTo>
                            <a:pt x="0" y="96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563" name="Group 96"/>
                  <p:cNvGrpSpPr/>
                  <p:nvPr/>
                </p:nvGrpSpPr>
                <p:grpSpPr bwMode="auto">
                  <a:xfrm>
                    <a:off x="3033" y="2532"/>
                    <a:ext cx="50" cy="208"/>
                    <a:chOff x="3033" y="2532"/>
                    <a:chExt cx="50" cy="208"/>
                  </a:xfrm>
                </p:grpSpPr>
                <p:sp>
                  <p:nvSpPr>
                    <p:cNvPr id="564" name="Freeform 97"/>
                    <p:cNvSpPr/>
                    <p:nvPr/>
                  </p:nvSpPr>
                  <p:spPr bwMode="auto">
                    <a:xfrm>
                      <a:off x="3037" y="2532"/>
                      <a:ext cx="46" cy="207"/>
                    </a:xfrm>
                    <a:custGeom>
                      <a:avLst/>
                      <a:gdLst>
                        <a:gd name="T0" fmla="*/ 232 w 232"/>
                        <a:gd name="T1" fmla="*/ 66 h 830"/>
                        <a:gd name="T2" fmla="*/ 106 w 232"/>
                        <a:gd name="T3" fmla="*/ 0 h 830"/>
                        <a:gd name="T4" fmla="*/ 91 w 232"/>
                        <a:gd name="T5" fmla="*/ 0 h 830"/>
                        <a:gd name="T6" fmla="*/ 66 w 232"/>
                        <a:gd name="T7" fmla="*/ 3 h 830"/>
                        <a:gd name="T8" fmla="*/ 24 w 232"/>
                        <a:gd name="T9" fmla="*/ 45 h 830"/>
                        <a:gd name="T10" fmla="*/ 0 w 232"/>
                        <a:gd name="T11" fmla="*/ 32 h 830"/>
                        <a:gd name="T12" fmla="*/ 0 w 232"/>
                        <a:gd name="T13" fmla="*/ 829 h 830"/>
                        <a:gd name="T14" fmla="*/ 35 w 232"/>
                        <a:gd name="T15" fmla="*/ 796 h 830"/>
                        <a:gd name="T16" fmla="*/ 64 w 232"/>
                        <a:gd name="T17" fmla="*/ 796 h 830"/>
                        <a:gd name="T18" fmla="*/ 64 w 232"/>
                        <a:gd name="T19" fmla="*/ 830 h 830"/>
                        <a:gd name="T20" fmla="*/ 93 w 232"/>
                        <a:gd name="T21" fmla="*/ 830 h 830"/>
                        <a:gd name="T22" fmla="*/ 114 w 232"/>
                        <a:gd name="T23" fmla="*/ 813 h 830"/>
                        <a:gd name="T24" fmla="*/ 114 w 232"/>
                        <a:gd name="T25" fmla="*/ 108 h 830"/>
                        <a:gd name="T26" fmla="*/ 232 w 232"/>
                        <a:gd name="T27" fmla="*/ 66 h 83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</a:cxnLst>
                      <a:rect l="0" t="0" r="r" b="b"/>
                      <a:pathLst>
                        <a:path w="232" h="830">
                          <a:moveTo>
                            <a:pt x="232" y="66"/>
                          </a:moveTo>
                          <a:lnTo>
                            <a:pt x="106" y="0"/>
                          </a:lnTo>
                          <a:lnTo>
                            <a:pt x="91" y="0"/>
                          </a:lnTo>
                          <a:lnTo>
                            <a:pt x="66" y="3"/>
                          </a:lnTo>
                          <a:lnTo>
                            <a:pt x="24" y="45"/>
                          </a:lnTo>
                          <a:lnTo>
                            <a:pt x="0" y="32"/>
                          </a:lnTo>
                          <a:lnTo>
                            <a:pt x="0" y="829"/>
                          </a:lnTo>
                          <a:lnTo>
                            <a:pt x="35" y="796"/>
                          </a:lnTo>
                          <a:lnTo>
                            <a:pt x="64" y="796"/>
                          </a:lnTo>
                          <a:lnTo>
                            <a:pt x="64" y="830"/>
                          </a:lnTo>
                          <a:lnTo>
                            <a:pt x="93" y="830"/>
                          </a:lnTo>
                          <a:lnTo>
                            <a:pt x="114" y="813"/>
                          </a:lnTo>
                          <a:lnTo>
                            <a:pt x="114" y="108"/>
                          </a:lnTo>
                          <a:lnTo>
                            <a:pt x="232" y="66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65" name="Freeform 98"/>
                    <p:cNvSpPr/>
                    <p:nvPr/>
                  </p:nvSpPr>
                  <p:spPr bwMode="auto">
                    <a:xfrm>
                      <a:off x="3033" y="2539"/>
                      <a:ext cx="4" cy="200"/>
                    </a:xfrm>
                    <a:custGeom>
                      <a:avLst/>
                      <a:gdLst>
                        <a:gd name="T0" fmla="*/ 19 w 19"/>
                        <a:gd name="T1" fmla="*/ 0 h 797"/>
                        <a:gd name="T2" fmla="*/ 19 w 19"/>
                        <a:gd name="T3" fmla="*/ 797 h 797"/>
                        <a:gd name="T4" fmla="*/ 0 w 19"/>
                        <a:gd name="T5" fmla="*/ 797 h 797"/>
                        <a:gd name="T6" fmla="*/ 0 w 19"/>
                        <a:gd name="T7" fmla="*/ 5 h 797"/>
                        <a:gd name="T8" fmla="*/ 19 w 19"/>
                        <a:gd name="T9" fmla="*/ 0 h 79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9" h="797">
                          <a:moveTo>
                            <a:pt x="19" y="0"/>
                          </a:moveTo>
                          <a:lnTo>
                            <a:pt x="19" y="797"/>
                          </a:lnTo>
                          <a:lnTo>
                            <a:pt x="0" y="797"/>
                          </a:lnTo>
                          <a:lnTo>
                            <a:pt x="0" y="5"/>
                          </a:lnTo>
                          <a:lnTo>
                            <a:pt x="19" y="0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66" name="Freeform 99"/>
                    <p:cNvSpPr/>
                    <p:nvPr/>
                  </p:nvSpPr>
                  <p:spPr bwMode="auto">
                    <a:xfrm>
                      <a:off x="3050" y="2532"/>
                      <a:ext cx="5" cy="208"/>
                    </a:xfrm>
                    <a:custGeom>
                      <a:avLst/>
                      <a:gdLst>
                        <a:gd name="T0" fmla="*/ 0 w 28"/>
                        <a:gd name="T1" fmla="*/ 4 h 832"/>
                        <a:gd name="T2" fmla="*/ 28 w 28"/>
                        <a:gd name="T3" fmla="*/ 0 h 832"/>
                        <a:gd name="T4" fmla="*/ 28 w 28"/>
                        <a:gd name="T5" fmla="*/ 832 h 832"/>
                        <a:gd name="T6" fmla="*/ 0 w 28"/>
                        <a:gd name="T7" fmla="*/ 832 h 832"/>
                        <a:gd name="T8" fmla="*/ 0 w 28"/>
                        <a:gd name="T9" fmla="*/ 4 h 8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8" h="832">
                          <a:moveTo>
                            <a:pt x="0" y="4"/>
                          </a:moveTo>
                          <a:lnTo>
                            <a:pt x="28" y="0"/>
                          </a:lnTo>
                          <a:lnTo>
                            <a:pt x="28" y="832"/>
                          </a:lnTo>
                          <a:lnTo>
                            <a:pt x="0" y="832"/>
                          </a:lnTo>
                          <a:lnTo>
                            <a:pt x="0" y="4"/>
                          </a:lnTo>
                          <a:close/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67" name="Freeform 100"/>
                    <p:cNvSpPr/>
                    <p:nvPr/>
                  </p:nvSpPr>
                  <p:spPr bwMode="auto">
                    <a:xfrm>
                      <a:off x="3042" y="2536"/>
                      <a:ext cx="8" cy="197"/>
                    </a:xfrm>
                    <a:custGeom>
                      <a:avLst/>
                      <a:gdLst>
                        <a:gd name="T0" fmla="*/ 0 w 40"/>
                        <a:gd name="T1" fmla="*/ 785 h 785"/>
                        <a:gd name="T2" fmla="*/ 0 w 40"/>
                        <a:gd name="T3" fmla="*/ 41 h 785"/>
                        <a:gd name="T4" fmla="*/ 40 w 40"/>
                        <a:gd name="T5" fmla="*/ 0 h 785"/>
                        <a:gd name="T6" fmla="*/ 40 w 40"/>
                        <a:gd name="T7" fmla="*/ 785 h 785"/>
                        <a:gd name="T8" fmla="*/ 0 w 40"/>
                        <a:gd name="T9" fmla="*/ 785 h 78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0" h="785">
                          <a:moveTo>
                            <a:pt x="0" y="785"/>
                          </a:moveTo>
                          <a:lnTo>
                            <a:pt x="0" y="41"/>
                          </a:lnTo>
                          <a:lnTo>
                            <a:pt x="40" y="0"/>
                          </a:lnTo>
                          <a:lnTo>
                            <a:pt x="40" y="785"/>
                          </a:lnTo>
                          <a:lnTo>
                            <a:pt x="0" y="785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</p:grpSp>
        </p:grpSp>
        <p:grpSp>
          <p:nvGrpSpPr>
            <p:cNvPr id="8" name="Group 101"/>
            <p:cNvGrpSpPr/>
            <p:nvPr/>
          </p:nvGrpSpPr>
          <p:grpSpPr bwMode="auto">
            <a:xfrm>
              <a:off x="2651918" y="8687682"/>
              <a:ext cx="4618250" cy="1514191"/>
              <a:chOff x="546" y="2289"/>
              <a:chExt cx="708" cy="452"/>
            </a:xfrm>
          </p:grpSpPr>
          <p:grpSp>
            <p:nvGrpSpPr>
              <p:cNvPr id="453" name="Group 102"/>
              <p:cNvGrpSpPr/>
              <p:nvPr/>
            </p:nvGrpSpPr>
            <p:grpSpPr bwMode="auto">
              <a:xfrm>
                <a:off x="1071" y="2289"/>
                <a:ext cx="76" cy="358"/>
                <a:chOff x="1071" y="2289"/>
                <a:chExt cx="76" cy="358"/>
              </a:xfrm>
            </p:grpSpPr>
            <p:sp>
              <p:nvSpPr>
                <p:cNvPr id="553" name="Freeform 103"/>
                <p:cNvSpPr/>
                <p:nvPr/>
              </p:nvSpPr>
              <p:spPr bwMode="auto">
                <a:xfrm>
                  <a:off x="1071" y="2289"/>
                  <a:ext cx="27" cy="358"/>
                </a:xfrm>
                <a:custGeom>
                  <a:avLst/>
                  <a:gdLst>
                    <a:gd name="T0" fmla="*/ 42 w 161"/>
                    <a:gd name="T1" fmla="*/ 0 h 1791"/>
                    <a:gd name="T2" fmla="*/ 42 w 161"/>
                    <a:gd name="T3" fmla="*/ 284 h 1791"/>
                    <a:gd name="T4" fmla="*/ 29 w 161"/>
                    <a:gd name="T5" fmla="*/ 284 h 1791"/>
                    <a:gd name="T6" fmla="*/ 29 w 161"/>
                    <a:gd name="T7" fmla="*/ 569 h 1791"/>
                    <a:gd name="T8" fmla="*/ 17 w 161"/>
                    <a:gd name="T9" fmla="*/ 569 h 1791"/>
                    <a:gd name="T10" fmla="*/ 17 w 161"/>
                    <a:gd name="T11" fmla="*/ 836 h 1791"/>
                    <a:gd name="T12" fmla="*/ 8 w 161"/>
                    <a:gd name="T13" fmla="*/ 836 h 1791"/>
                    <a:gd name="T14" fmla="*/ 8 w 161"/>
                    <a:gd name="T15" fmla="*/ 1195 h 1791"/>
                    <a:gd name="T16" fmla="*/ 0 w 161"/>
                    <a:gd name="T17" fmla="*/ 1195 h 1791"/>
                    <a:gd name="T18" fmla="*/ 0 w 161"/>
                    <a:gd name="T19" fmla="*/ 1791 h 1791"/>
                    <a:gd name="T20" fmla="*/ 88 w 161"/>
                    <a:gd name="T21" fmla="*/ 1791 h 1791"/>
                    <a:gd name="T22" fmla="*/ 161 w 161"/>
                    <a:gd name="T23" fmla="*/ 1190 h 1791"/>
                    <a:gd name="T24" fmla="*/ 161 w 161"/>
                    <a:gd name="T25" fmla="*/ 835 h 1791"/>
                    <a:gd name="T26" fmla="*/ 153 w 161"/>
                    <a:gd name="T27" fmla="*/ 835 h 1791"/>
                    <a:gd name="T28" fmla="*/ 153 w 161"/>
                    <a:gd name="T29" fmla="*/ 569 h 1791"/>
                    <a:gd name="T30" fmla="*/ 143 w 161"/>
                    <a:gd name="T31" fmla="*/ 569 h 1791"/>
                    <a:gd name="T32" fmla="*/ 143 w 161"/>
                    <a:gd name="T33" fmla="*/ 284 h 1791"/>
                    <a:gd name="T34" fmla="*/ 130 w 161"/>
                    <a:gd name="T35" fmla="*/ 284 h 1791"/>
                    <a:gd name="T36" fmla="*/ 130 w 161"/>
                    <a:gd name="T37" fmla="*/ 0 h 1791"/>
                    <a:gd name="T38" fmla="*/ 42 w 161"/>
                    <a:gd name="T39" fmla="*/ 0 h 17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61" h="1791">
                      <a:moveTo>
                        <a:pt x="42" y="0"/>
                      </a:moveTo>
                      <a:lnTo>
                        <a:pt x="42" y="284"/>
                      </a:lnTo>
                      <a:lnTo>
                        <a:pt x="29" y="284"/>
                      </a:lnTo>
                      <a:lnTo>
                        <a:pt x="29" y="569"/>
                      </a:lnTo>
                      <a:lnTo>
                        <a:pt x="17" y="569"/>
                      </a:lnTo>
                      <a:lnTo>
                        <a:pt x="17" y="836"/>
                      </a:lnTo>
                      <a:lnTo>
                        <a:pt x="8" y="836"/>
                      </a:lnTo>
                      <a:lnTo>
                        <a:pt x="8" y="1195"/>
                      </a:lnTo>
                      <a:lnTo>
                        <a:pt x="0" y="1195"/>
                      </a:lnTo>
                      <a:lnTo>
                        <a:pt x="0" y="1791"/>
                      </a:lnTo>
                      <a:lnTo>
                        <a:pt x="88" y="1791"/>
                      </a:lnTo>
                      <a:lnTo>
                        <a:pt x="161" y="1190"/>
                      </a:lnTo>
                      <a:lnTo>
                        <a:pt x="161" y="835"/>
                      </a:lnTo>
                      <a:lnTo>
                        <a:pt x="153" y="835"/>
                      </a:lnTo>
                      <a:lnTo>
                        <a:pt x="153" y="569"/>
                      </a:lnTo>
                      <a:lnTo>
                        <a:pt x="143" y="569"/>
                      </a:lnTo>
                      <a:lnTo>
                        <a:pt x="143" y="284"/>
                      </a:lnTo>
                      <a:lnTo>
                        <a:pt x="130" y="284"/>
                      </a:lnTo>
                      <a:lnTo>
                        <a:pt x="130" y="0"/>
                      </a:lnTo>
                      <a:lnTo>
                        <a:pt x="4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w="3175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 sz="3655"/>
                </a:p>
              </p:txBody>
            </p:sp>
            <p:sp>
              <p:nvSpPr>
                <p:cNvPr id="554" name="Freeform 104"/>
                <p:cNvSpPr/>
                <p:nvPr/>
              </p:nvSpPr>
              <p:spPr bwMode="auto">
                <a:xfrm>
                  <a:off x="1119" y="2289"/>
                  <a:ext cx="28" cy="358"/>
                </a:xfrm>
                <a:custGeom>
                  <a:avLst/>
                  <a:gdLst>
                    <a:gd name="T0" fmla="*/ 41 w 169"/>
                    <a:gd name="T1" fmla="*/ 0 h 1791"/>
                    <a:gd name="T2" fmla="*/ 41 w 169"/>
                    <a:gd name="T3" fmla="*/ 284 h 1791"/>
                    <a:gd name="T4" fmla="*/ 28 w 169"/>
                    <a:gd name="T5" fmla="*/ 284 h 1791"/>
                    <a:gd name="T6" fmla="*/ 28 w 169"/>
                    <a:gd name="T7" fmla="*/ 569 h 1791"/>
                    <a:gd name="T8" fmla="*/ 16 w 169"/>
                    <a:gd name="T9" fmla="*/ 569 h 1791"/>
                    <a:gd name="T10" fmla="*/ 16 w 169"/>
                    <a:gd name="T11" fmla="*/ 836 h 1791"/>
                    <a:gd name="T12" fmla="*/ 8 w 169"/>
                    <a:gd name="T13" fmla="*/ 836 h 1791"/>
                    <a:gd name="T14" fmla="*/ 8 w 169"/>
                    <a:gd name="T15" fmla="*/ 1195 h 1791"/>
                    <a:gd name="T16" fmla="*/ 0 w 169"/>
                    <a:gd name="T17" fmla="*/ 1195 h 1791"/>
                    <a:gd name="T18" fmla="*/ 0 w 169"/>
                    <a:gd name="T19" fmla="*/ 1791 h 1791"/>
                    <a:gd name="T20" fmla="*/ 169 w 169"/>
                    <a:gd name="T21" fmla="*/ 1791 h 1791"/>
                    <a:gd name="T22" fmla="*/ 169 w 169"/>
                    <a:gd name="T23" fmla="*/ 1193 h 1791"/>
                    <a:gd name="T24" fmla="*/ 161 w 169"/>
                    <a:gd name="T25" fmla="*/ 1193 h 1791"/>
                    <a:gd name="T26" fmla="*/ 160 w 169"/>
                    <a:gd name="T27" fmla="*/ 835 h 1791"/>
                    <a:gd name="T28" fmla="*/ 151 w 169"/>
                    <a:gd name="T29" fmla="*/ 835 h 1791"/>
                    <a:gd name="T30" fmla="*/ 151 w 169"/>
                    <a:gd name="T31" fmla="*/ 569 h 1791"/>
                    <a:gd name="T32" fmla="*/ 140 w 169"/>
                    <a:gd name="T33" fmla="*/ 569 h 1791"/>
                    <a:gd name="T34" fmla="*/ 140 w 169"/>
                    <a:gd name="T35" fmla="*/ 284 h 1791"/>
                    <a:gd name="T36" fmla="*/ 128 w 169"/>
                    <a:gd name="T37" fmla="*/ 284 h 1791"/>
                    <a:gd name="T38" fmla="*/ 128 w 169"/>
                    <a:gd name="T39" fmla="*/ 0 h 1791"/>
                    <a:gd name="T40" fmla="*/ 41 w 169"/>
                    <a:gd name="T41" fmla="*/ 0 h 17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69" h="1791">
                      <a:moveTo>
                        <a:pt x="41" y="0"/>
                      </a:moveTo>
                      <a:lnTo>
                        <a:pt x="41" y="284"/>
                      </a:lnTo>
                      <a:lnTo>
                        <a:pt x="28" y="284"/>
                      </a:lnTo>
                      <a:lnTo>
                        <a:pt x="28" y="569"/>
                      </a:lnTo>
                      <a:lnTo>
                        <a:pt x="16" y="569"/>
                      </a:lnTo>
                      <a:lnTo>
                        <a:pt x="16" y="836"/>
                      </a:lnTo>
                      <a:lnTo>
                        <a:pt x="8" y="836"/>
                      </a:lnTo>
                      <a:lnTo>
                        <a:pt x="8" y="1195"/>
                      </a:lnTo>
                      <a:lnTo>
                        <a:pt x="0" y="1195"/>
                      </a:lnTo>
                      <a:lnTo>
                        <a:pt x="0" y="1791"/>
                      </a:lnTo>
                      <a:lnTo>
                        <a:pt x="169" y="1791"/>
                      </a:lnTo>
                      <a:lnTo>
                        <a:pt x="169" y="1193"/>
                      </a:lnTo>
                      <a:lnTo>
                        <a:pt x="161" y="1193"/>
                      </a:lnTo>
                      <a:lnTo>
                        <a:pt x="160" y="835"/>
                      </a:lnTo>
                      <a:lnTo>
                        <a:pt x="151" y="835"/>
                      </a:lnTo>
                      <a:lnTo>
                        <a:pt x="151" y="569"/>
                      </a:lnTo>
                      <a:lnTo>
                        <a:pt x="140" y="569"/>
                      </a:lnTo>
                      <a:lnTo>
                        <a:pt x="140" y="284"/>
                      </a:lnTo>
                      <a:lnTo>
                        <a:pt x="128" y="284"/>
                      </a:lnTo>
                      <a:lnTo>
                        <a:pt x="128" y="0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w="3175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 sz="3655"/>
                </a:p>
              </p:txBody>
            </p:sp>
          </p:grpSp>
          <p:grpSp>
            <p:nvGrpSpPr>
              <p:cNvPr id="454" name="Group 105"/>
              <p:cNvGrpSpPr/>
              <p:nvPr/>
            </p:nvGrpSpPr>
            <p:grpSpPr bwMode="auto">
              <a:xfrm>
                <a:off x="1130" y="2574"/>
                <a:ext cx="124" cy="153"/>
                <a:chOff x="1130" y="2574"/>
                <a:chExt cx="124" cy="153"/>
              </a:xfrm>
            </p:grpSpPr>
            <p:grpSp>
              <p:nvGrpSpPr>
                <p:cNvPr id="542" name="Group 106"/>
                <p:cNvGrpSpPr/>
                <p:nvPr/>
              </p:nvGrpSpPr>
              <p:grpSpPr bwMode="auto">
                <a:xfrm>
                  <a:off x="1130" y="2574"/>
                  <a:ext cx="124" cy="153"/>
                  <a:chOff x="1130" y="2574"/>
                  <a:chExt cx="124" cy="153"/>
                </a:xfrm>
              </p:grpSpPr>
              <p:grpSp>
                <p:nvGrpSpPr>
                  <p:cNvPr id="547" name="Group 107"/>
                  <p:cNvGrpSpPr/>
                  <p:nvPr/>
                </p:nvGrpSpPr>
                <p:grpSpPr bwMode="auto">
                  <a:xfrm>
                    <a:off x="1161" y="2574"/>
                    <a:ext cx="35" cy="74"/>
                    <a:chOff x="1161" y="2574"/>
                    <a:chExt cx="35" cy="74"/>
                  </a:xfrm>
                </p:grpSpPr>
                <p:sp>
                  <p:nvSpPr>
                    <p:cNvPr id="551" name="Rectangle 10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68" y="2574"/>
                      <a:ext cx="21" cy="16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52" name="Rectangle 10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61" y="2586"/>
                      <a:ext cx="35" cy="62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548" name="Group 110"/>
                  <p:cNvGrpSpPr/>
                  <p:nvPr/>
                </p:nvGrpSpPr>
                <p:grpSpPr bwMode="auto">
                  <a:xfrm>
                    <a:off x="1130" y="2644"/>
                    <a:ext cx="124" cy="83"/>
                    <a:chOff x="1130" y="2644"/>
                    <a:chExt cx="124" cy="83"/>
                  </a:xfrm>
                </p:grpSpPr>
                <p:sp>
                  <p:nvSpPr>
                    <p:cNvPr id="549" name="Rectangle 11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34" y="2653"/>
                      <a:ext cx="116" cy="74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50" name="Rectangle 11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30" y="2644"/>
                      <a:ext cx="124" cy="12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  <p:grpSp>
              <p:nvGrpSpPr>
                <p:cNvPr id="543" name="Group 113"/>
                <p:cNvGrpSpPr/>
                <p:nvPr/>
              </p:nvGrpSpPr>
              <p:grpSpPr bwMode="auto">
                <a:xfrm>
                  <a:off x="1143" y="2664"/>
                  <a:ext cx="94" cy="50"/>
                  <a:chOff x="1143" y="2664"/>
                  <a:chExt cx="94" cy="50"/>
                </a:xfrm>
              </p:grpSpPr>
              <p:sp>
                <p:nvSpPr>
                  <p:cNvPr id="544" name="Rectangle 114"/>
                  <p:cNvSpPr>
                    <a:spLocks noChangeArrowheads="1"/>
                  </p:cNvSpPr>
                  <p:nvPr/>
                </p:nvSpPr>
                <p:spPr bwMode="auto">
                  <a:xfrm>
                    <a:off x="1143" y="2664"/>
                    <a:ext cx="23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545" name="Rectangle 115"/>
                  <p:cNvSpPr>
                    <a:spLocks noChangeArrowheads="1"/>
                  </p:cNvSpPr>
                  <p:nvPr/>
                </p:nvSpPr>
                <p:spPr bwMode="auto">
                  <a:xfrm>
                    <a:off x="1214" y="2664"/>
                    <a:ext cx="23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546" name="Rectangle 116"/>
                  <p:cNvSpPr>
                    <a:spLocks noChangeArrowheads="1"/>
                  </p:cNvSpPr>
                  <p:nvPr/>
                </p:nvSpPr>
                <p:spPr bwMode="auto">
                  <a:xfrm>
                    <a:off x="1179" y="2664"/>
                    <a:ext cx="23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</p:grpSp>
          <p:grpSp>
            <p:nvGrpSpPr>
              <p:cNvPr id="455" name="Group 117"/>
              <p:cNvGrpSpPr/>
              <p:nvPr/>
            </p:nvGrpSpPr>
            <p:grpSpPr bwMode="auto">
              <a:xfrm>
                <a:off x="546" y="2618"/>
                <a:ext cx="124" cy="109"/>
                <a:chOff x="546" y="2618"/>
                <a:chExt cx="124" cy="109"/>
              </a:xfrm>
            </p:grpSpPr>
            <p:grpSp>
              <p:nvGrpSpPr>
                <p:cNvPr id="533" name="Group 118"/>
                <p:cNvGrpSpPr/>
                <p:nvPr/>
              </p:nvGrpSpPr>
              <p:grpSpPr bwMode="auto">
                <a:xfrm>
                  <a:off x="546" y="2618"/>
                  <a:ext cx="124" cy="109"/>
                  <a:chOff x="546" y="2618"/>
                  <a:chExt cx="124" cy="109"/>
                </a:xfrm>
              </p:grpSpPr>
              <p:sp>
                <p:nvSpPr>
                  <p:cNvPr id="538" name="Rectangle 119"/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618"/>
                    <a:ext cx="38" cy="30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grpSp>
                <p:nvGrpSpPr>
                  <p:cNvPr id="539" name="Group 120"/>
                  <p:cNvGrpSpPr/>
                  <p:nvPr/>
                </p:nvGrpSpPr>
                <p:grpSpPr bwMode="auto">
                  <a:xfrm>
                    <a:off x="546" y="2644"/>
                    <a:ext cx="124" cy="83"/>
                    <a:chOff x="546" y="2644"/>
                    <a:chExt cx="124" cy="83"/>
                  </a:xfrm>
                </p:grpSpPr>
                <p:sp>
                  <p:nvSpPr>
                    <p:cNvPr id="540" name="Rectangle 12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50" y="2653"/>
                      <a:ext cx="116" cy="74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41" name="Rectangle 1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6" y="2644"/>
                      <a:ext cx="124" cy="12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  <p:grpSp>
              <p:nvGrpSpPr>
                <p:cNvPr id="534" name="Group 123"/>
                <p:cNvGrpSpPr/>
                <p:nvPr/>
              </p:nvGrpSpPr>
              <p:grpSpPr bwMode="auto">
                <a:xfrm>
                  <a:off x="558" y="2664"/>
                  <a:ext cx="98" cy="50"/>
                  <a:chOff x="558" y="2664"/>
                  <a:chExt cx="98" cy="50"/>
                </a:xfrm>
              </p:grpSpPr>
              <p:sp>
                <p:nvSpPr>
                  <p:cNvPr id="535" name="Rectangle 124"/>
                  <p:cNvSpPr>
                    <a:spLocks noChangeArrowheads="1"/>
                  </p:cNvSpPr>
                  <p:nvPr/>
                </p:nvSpPr>
                <p:spPr bwMode="auto">
                  <a:xfrm>
                    <a:off x="629" y="2664"/>
                    <a:ext cx="27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536" name="Rectangle 125"/>
                  <p:cNvSpPr>
                    <a:spLocks noChangeArrowheads="1"/>
                  </p:cNvSpPr>
                  <p:nvPr/>
                </p:nvSpPr>
                <p:spPr bwMode="auto">
                  <a:xfrm>
                    <a:off x="558" y="2664"/>
                    <a:ext cx="27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537" name="Rectangle 126"/>
                  <p:cNvSpPr>
                    <a:spLocks noChangeArrowheads="1"/>
                  </p:cNvSpPr>
                  <p:nvPr/>
                </p:nvSpPr>
                <p:spPr bwMode="auto">
                  <a:xfrm>
                    <a:off x="594" y="2664"/>
                    <a:ext cx="27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</p:grpSp>
          <p:grpSp>
            <p:nvGrpSpPr>
              <p:cNvPr id="456" name="Group 127"/>
              <p:cNvGrpSpPr/>
              <p:nvPr/>
            </p:nvGrpSpPr>
            <p:grpSpPr bwMode="auto">
              <a:xfrm>
                <a:off x="654" y="2479"/>
                <a:ext cx="488" cy="262"/>
                <a:chOff x="654" y="2479"/>
                <a:chExt cx="488" cy="262"/>
              </a:xfrm>
            </p:grpSpPr>
            <p:grpSp>
              <p:nvGrpSpPr>
                <p:cNvPr id="457" name="Group 128"/>
                <p:cNvGrpSpPr/>
                <p:nvPr/>
              </p:nvGrpSpPr>
              <p:grpSpPr bwMode="auto">
                <a:xfrm>
                  <a:off x="654" y="2479"/>
                  <a:ext cx="488" cy="262"/>
                  <a:chOff x="654" y="2479"/>
                  <a:chExt cx="488" cy="262"/>
                </a:xfrm>
              </p:grpSpPr>
              <p:sp>
                <p:nvSpPr>
                  <p:cNvPr id="528" name="Rectangle 129"/>
                  <p:cNvSpPr>
                    <a:spLocks noChangeArrowheads="1"/>
                  </p:cNvSpPr>
                  <p:nvPr/>
                </p:nvSpPr>
                <p:spPr bwMode="auto">
                  <a:xfrm>
                    <a:off x="662" y="2522"/>
                    <a:ext cx="471" cy="219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529" name="Rectangle 130"/>
                  <p:cNvSpPr>
                    <a:spLocks noChangeArrowheads="1"/>
                  </p:cNvSpPr>
                  <p:nvPr/>
                </p:nvSpPr>
                <p:spPr bwMode="auto">
                  <a:xfrm>
                    <a:off x="780" y="2486"/>
                    <a:ext cx="34" cy="26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530" name="Rectangle 131"/>
                  <p:cNvSpPr>
                    <a:spLocks noChangeArrowheads="1"/>
                  </p:cNvSpPr>
                  <p:nvPr/>
                </p:nvSpPr>
                <p:spPr bwMode="auto">
                  <a:xfrm>
                    <a:off x="866" y="2479"/>
                    <a:ext cx="46" cy="36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531" name="Rectangle 132"/>
                  <p:cNvSpPr>
                    <a:spLocks noChangeArrowheads="1"/>
                  </p:cNvSpPr>
                  <p:nvPr/>
                </p:nvSpPr>
                <p:spPr bwMode="auto">
                  <a:xfrm>
                    <a:off x="654" y="2510"/>
                    <a:ext cx="488" cy="17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532" name="Rectangle 133"/>
                  <p:cNvSpPr>
                    <a:spLocks noChangeArrowheads="1"/>
                  </p:cNvSpPr>
                  <p:nvPr/>
                </p:nvSpPr>
                <p:spPr bwMode="auto">
                  <a:xfrm>
                    <a:off x="662" y="2629"/>
                    <a:ext cx="471" cy="8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  <p:grpSp>
              <p:nvGrpSpPr>
                <p:cNvPr id="458" name="Group 134"/>
                <p:cNvGrpSpPr/>
                <p:nvPr/>
              </p:nvGrpSpPr>
              <p:grpSpPr bwMode="auto">
                <a:xfrm>
                  <a:off x="670" y="2542"/>
                  <a:ext cx="449" cy="178"/>
                  <a:chOff x="670" y="2542"/>
                  <a:chExt cx="449" cy="178"/>
                </a:xfrm>
              </p:grpSpPr>
              <p:grpSp>
                <p:nvGrpSpPr>
                  <p:cNvPr id="463" name="Group 135"/>
                  <p:cNvGrpSpPr/>
                  <p:nvPr/>
                </p:nvGrpSpPr>
                <p:grpSpPr bwMode="auto">
                  <a:xfrm>
                    <a:off x="736" y="2649"/>
                    <a:ext cx="57" cy="71"/>
                    <a:chOff x="736" y="2649"/>
                    <a:chExt cx="57" cy="71"/>
                  </a:xfrm>
                </p:grpSpPr>
                <p:sp>
                  <p:nvSpPr>
                    <p:cNvPr id="524" name="Rectangle 13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39" y="2649"/>
                      <a:ext cx="51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25" name="Rectangle 13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36" y="2715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26" name="Line 13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64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27" name="Line 13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38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464" name="Group 140"/>
                  <p:cNvGrpSpPr/>
                  <p:nvPr/>
                </p:nvGrpSpPr>
                <p:grpSpPr bwMode="auto">
                  <a:xfrm>
                    <a:off x="801" y="2649"/>
                    <a:ext cx="57" cy="71"/>
                    <a:chOff x="801" y="2649"/>
                    <a:chExt cx="57" cy="71"/>
                  </a:xfrm>
                </p:grpSpPr>
                <p:sp>
                  <p:nvSpPr>
                    <p:cNvPr id="520" name="Rectangle 14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04" y="2649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21" name="Rectangle 14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01" y="2715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22" name="Line 14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29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23" name="Line 14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04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465" name="Group 145"/>
                  <p:cNvGrpSpPr/>
                  <p:nvPr/>
                </p:nvGrpSpPr>
                <p:grpSpPr bwMode="auto">
                  <a:xfrm>
                    <a:off x="1061" y="2649"/>
                    <a:ext cx="57" cy="71"/>
                    <a:chOff x="1061" y="2649"/>
                    <a:chExt cx="57" cy="71"/>
                  </a:xfrm>
                </p:grpSpPr>
                <p:sp>
                  <p:nvSpPr>
                    <p:cNvPr id="516" name="Rectangle 14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63" y="2649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17" name="Rectangle 14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61" y="2715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18" name="Line 14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89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19" name="Line 14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63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466" name="Group 150"/>
                  <p:cNvGrpSpPr/>
                  <p:nvPr/>
                </p:nvGrpSpPr>
                <p:grpSpPr bwMode="auto">
                  <a:xfrm>
                    <a:off x="670" y="2649"/>
                    <a:ext cx="58" cy="71"/>
                    <a:chOff x="670" y="2649"/>
                    <a:chExt cx="58" cy="71"/>
                  </a:xfrm>
                </p:grpSpPr>
                <p:sp>
                  <p:nvSpPr>
                    <p:cNvPr id="512" name="Rectangle 15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3" y="2649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13" name="Rectangle 15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0" y="2715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14" name="Line 15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99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15" name="Line 15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3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467" name="Group 155"/>
                  <p:cNvGrpSpPr/>
                  <p:nvPr/>
                </p:nvGrpSpPr>
                <p:grpSpPr bwMode="auto">
                  <a:xfrm>
                    <a:off x="867" y="2542"/>
                    <a:ext cx="58" cy="71"/>
                    <a:chOff x="867" y="2542"/>
                    <a:chExt cx="58" cy="71"/>
                  </a:xfrm>
                </p:grpSpPr>
                <p:sp>
                  <p:nvSpPr>
                    <p:cNvPr id="508" name="Rectangle 15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70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09" name="Rectangle 15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67" y="2608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10" name="Line 15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96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11" name="Line 15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70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468" name="Group 160"/>
                  <p:cNvGrpSpPr/>
                  <p:nvPr/>
                </p:nvGrpSpPr>
                <p:grpSpPr bwMode="auto">
                  <a:xfrm>
                    <a:off x="931" y="2649"/>
                    <a:ext cx="57" cy="71"/>
                    <a:chOff x="931" y="2649"/>
                    <a:chExt cx="57" cy="71"/>
                  </a:xfrm>
                </p:grpSpPr>
                <p:sp>
                  <p:nvSpPr>
                    <p:cNvPr id="504" name="Rectangle 16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4" y="2649"/>
                      <a:ext cx="51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05" name="Rectangle 16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1" y="2715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06" name="Line 16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59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07" name="Line 16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33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469" name="Group 165"/>
                  <p:cNvGrpSpPr/>
                  <p:nvPr/>
                </p:nvGrpSpPr>
                <p:grpSpPr bwMode="auto">
                  <a:xfrm>
                    <a:off x="996" y="2649"/>
                    <a:ext cx="57" cy="71"/>
                    <a:chOff x="996" y="2649"/>
                    <a:chExt cx="57" cy="71"/>
                  </a:xfrm>
                </p:grpSpPr>
                <p:sp>
                  <p:nvSpPr>
                    <p:cNvPr id="500" name="Rectangle 16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98" y="2649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01" name="Rectangle 16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96" y="2715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02" name="Line 16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24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03" name="Line 16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98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470" name="Group 170"/>
                  <p:cNvGrpSpPr/>
                  <p:nvPr/>
                </p:nvGrpSpPr>
                <p:grpSpPr bwMode="auto">
                  <a:xfrm>
                    <a:off x="736" y="2542"/>
                    <a:ext cx="58" cy="71"/>
                    <a:chOff x="736" y="2542"/>
                    <a:chExt cx="58" cy="71"/>
                  </a:xfrm>
                </p:grpSpPr>
                <p:sp>
                  <p:nvSpPr>
                    <p:cNvPr id="496" name="Rectangle 17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39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97" name="Rectangle 17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36" y="2608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98" name="Line 17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65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99" name="Line 17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39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471" name="Group 175"/>
                  <p:cNvGrpSpPr/>
                  <p:nvPr/>
                </p:nvGrpSpPr>
                <p:grpSpPr bwMode="auto">
                  <a:xfrm>
                    <a:off x="802" y="2542"/>
                    <a:ext cx="57" cy="71"/>
                    <a:chOff x="802" y="2542"/>
                    <a:chExt cx="57" cy="71"/>
                  </a:xfrm>
                </p:grpSpPr>
                <p:sp>
                  <p:nvSpPr>
                    <p:cNvPr id="492" name="Rectangle 17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05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93" name="Rectangle 17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02" y="2608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94" name="Line 17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30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95" name="Line 17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04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472" name="Group 180"/>
                  <p:cNvGrpSpPr/>
                  <p:nvPr/>
                </p:nvGrpSpPr>
                <p:grpSpPr bwMode="auto">
                  <a:xfrm>
                    <a:off x="1061" y="2542"/>
                    <a:ext cx="58" cy="71"/>
                    <a:chOff x="1061" y="2542"/>
                    <a:chExt cx="58" cy="71"/>
                  </a:xfrm>
                </p:grpSpPr>
                <p:sp>
                  <p:nvSpPr>
                    <p:cNvPr id="488" name="Rectangle 18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64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89" name="Rectangle 18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61" y="2608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90" name="Line 18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90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91" name="Line 18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64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473" name="Group 185"/>
                  <p:cNvGrpSpPr/>
                  <p:nvPr/>
                </p:nvGrpSpPr>
                <p:grpSpPr bwMode="auto">
                  <a:xfrm>
                    <a:off x="671" y="2542"/>
                    <a:ext cx="58" cy="71"/>
                    <a:chOff x="671" y="2542"/>
                    <a:chExt cx="58" cy="71"/>
                  </a:xfrm>
                </p:grpSpPr>
                <p:sp>
                  <p:nvSpPr>
                    <p:cNvPr id="484" name="Rectangle 18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4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85" name="Rectangle 18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1" y="2608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86" name="Line 18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99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87" name="Line 18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4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474" name="Group 190"/>
                  <p:cNvGrpSpPr/>
                  <p:nvPr/>
                </p:nvGrpSpPr>
                <p:grpSpPr bwMode="auto">
                  <a:xfrm>
                    <a:off x="931" y="2542"/>
                    <a:ext cx="58" cy="71"/>
                    <a:chOff x="931" y="2542"/>
                    <a:chExt cx="58" cy="71"/>
                  </a:xfrm>
                </p:grpSpPr>
                <p:sp>
                  <p:nvSpPr>
                    <p:cNvPr id="480" name="Rectangle 19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4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81" name="Rectangle 19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1" y="2608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82" name="Line 19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60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83" name="Line 19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34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475" name="Group 195"/>
                  <p:cNvGrpSpPr/>
                  <p:nvPr/>
                </p:nvGrpSpPr>
                <p:grpSpPr bwMode="auto">
                  <a:xfrm>
                    <a:off x="997" y="2542"/>
                    <a:ext cx="57" cy="71"/>
                    <a:chOff x="997" y="2542"/>
                    <a:chExt cx="57" cy="71"/>
                  </a:xfrm>
                </p:grpSpPr>
                <p:sp>
                  <p:nvSpPr>
                    <p:cNvPr id="476" name="Rectangle 19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99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77" name="Rectangle 19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97" y="2608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78" name="Line 19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25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79" name="Line 19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99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  <p:grpSp>
              <p:nvGrpSpPr>
                <p:cNvPr id="459" name="Group 200"/>
                <p:cNvGrpSpPr/>
                <p:nvPr/>
              </p:nvGrpSpPr>
              <p:grpSpPr bwMode="auto">
                <a:xfrm>
                  <a:off x="868" y="2643"/>
                  <a:ext cx="54" cy="97"/>
                  <a:chOff x="868" y="2643"/>
                  <a:chExt cx="54" cy="97"/>
                </a:xfrm>
              </p:grpSpPr>
              <p:sp>
                <p:nvSpPr>
                  <p:cNvPr id="460" name="Rectangle 201"/>
                  <p:cNvSpPr>
                    <a:spLocks noChangeArrowheads="1"/>
                  </p:cNvSpPr>
                  <p:nvPr/>
                </p:nvSpPr>
                <p:spPr bwMode="auto">
                  <a:xfrm>
                    <a:off x="868" y="2643"/>
                    <a:ext cx="54" cy="97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461" name="Rectangle 202"/>
                  <p:cNvSpPr>
                    <a:spLocks noChangeArrowheads="1"/>
                  </p:cNvSpPr>
                  <p:nvPr/>
                </p:nvSpPr>
                <p:spPr bwMode="auto">
                  <a:xfrm>
                    <a:off x="874" y="2653"/>
                    <a:ext cx="41" cy="81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462" name="Oval 203"/>
                  <p:cNvSpPr>
                    <a:spLocks noChangeArrowheads="1"/>
                  </p:cNvSpPr>
                  <p:nvPr/>
                </p:nvSpPr>
                <p:spPr bwMode="auto">
                  <a:xfrm>
                    <a:off x="908" y="2693"/>
                    <a:ext cx="2" cy="3"/>
                  </a:xfrm>
                  <a:prstGeom prst="ellipse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</p:grpSp>
        </p:grpSp>
        <p:grpSp>
          <p:nvGrpSpPr>
            <p:cNvPr id="9" name="Group 204"/>
            <p:cNvGrpSpPr/>
            <p:nvPr/>
          </p:nvGrpSpPr>
          <p:grpSpPr bwMode="auto">
            <a:xfrm>
              <a:off x="30437755" y="8314000"/>
              <a:ext cx="2862552" cy="1720495"/>
              <a:chOff x="4779" y="2206"/>
              <a:chExt cx="567" cy="540"/>
            </a:xfrm>
          </p:grpSpPr>
          <p:grpSp>
            <p:nvGrpSpPr>
              <p:cNvPr id="255" name="Group 205"/>
              <p:cNvGrpSpPr/>
              <p:nvPr/>
            </p:nvGrpSpPr>
            <p:grpSpPr bwMode="auto">
              <a:xfrm>
                <a:off x="4986" y="2206"/>
                <a:ext cx="218" cy="537"/>
                <a:chOff x="4986" y="2206"/>
                <a:chExt cx="218" cy="537"/>
              </a:xfrm>
            </p:grpSpPr>
            <p:grpSp>
              <p:nvGrpSpPr>
                <p:cNvPr id="395" name="Group 206"/>
                <p:cNvGrpSpPr/>
                <p:nvPr/>
              </p:nvGrpSpPr>
              <p:grpSpPr bwMode="auto">
                <a:xfrm>
                  <a:off x="4986" y="2302"/>
                  <a:ext cx="218" cy="441"/>
                  <a:chOff x="4986" y="2302"/>
                  <a:chExt cx="218" cy="441"/>
                </a:xfrm>
              </p:grpSpPr>
              <p:grpSp>
                <p:nvGrpSpPr>
                  <p:cNvPr id="435" name="Group 207"/>
                  <p:cNvGrpSpPr/>
                  <p:nvPr/>
                </p:nvGrpSpPr>
                <p:grpSpPr bwMode="auto">
                  <a:xfrm>
                    <a:off x="5060" y="2303"/>
                    <a:ext cx="86" cy="275"/>
                    <a:chOff x="5060" y="2303"/>
                    <a:chExt cx="86" cy="275"/>
                  </a:xfrm>
                </p:grpSpPr>
                <p:sp>
                  <p:nvSpPr>
                    <p:cNvPr id="448" name="Freeform 208"/>
                    <p:cNvSpPr/>
                    <p:nvPr/>
                  </p:nvSpPr>
                  <p:spPr bwMode="auto">
                    <a:xfrm>
                      <a:off x="5060" y="2315"/>
                      <a:ext cx="86" cy="248"/>
                    </a:xfrm>
                    <a:custGeom>
                      <a:avLst/>
                      <a:gdLst>
                        <a:gd name="T0" fmla="*/ 0 w 514"/>
                        <a:gd name="T1" fmla="*/ 0 h 1240"/>
                        <a:gd name="T2" fmla="*/ 54 w 514"/>
                        <a:gd name="T3" fmla="*/ 580 h 1240"/>
                        <a:gd name="T4" fmla="*/ 90 w 514"/>
                        <a:gd name="T5" fmla="*/ 1240 h 1240"/>
                        <a:gd name="T6" fmla="*/ 514 w 514"/>
                        <a:gd name="T7" fmla="*/ 1240 h 1240"/>
                        <a:gd name="T8" fmla="*/ 456 w 514"/>
                        <a:gd name="T9" fmla="*/ 230 h 1240"/>
                        <a:gd name="T10" fmla="*/ 399 w 514"/>
                        <a:gd name="T11" fmla="*/ 0 h 1240"/>
                        <a:gd name="T12" fmla="*/ 0 w 514"/>
                        <a:gd name="T13" fmla="*/ 0 h 124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14" h="1240">
                          <a:moveTo>
                            <a:pt x="0" y="0"/>
                          </a:moveTo>
                          <a:lnTo>
                            <a:pt x="54" y="580"/>
                          </a:lnTo>
                          <a:lnTo>
                            <a:pt x="90" y="1240"/>
                          </a:lnTo>
                          <a:lnTo>
                            <a:pt x="514" y="1240"/>
                          </a:lnTo>
                          <a:lnTo>
                            <a:pt x="456" y="230"/>
                          </a:lnTo>
                          <a:lnTo>
                            <a:pt x="399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FD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49" name="Freeform 209"/>
                    <p:cNvSpPr/>
                    <p:nvPr/>
                  </p:nvSpPr>
                  <p:spPr bwMode="auto">
                    <a:xfrm>
                      <a:off x="5119" y="2316"/>
                      <a:ext cx="20" cy="217"/>
                    </a:xfrm>
                    <a:custGeom>
                      <a:avLst/>
                      <a:gdLst>
                        <a:gd name="T0" fmla="*/ 0 w 121"/>
                        <a:gd name="T1" fmla="*/ 200 h 1084"/>
                        <a:gd name="T2" fmla="*/ 41 w 121"/>
                        <a:gd name="T3" fmla="*/ 335 h 1084"/>
                        <a:gd name="T4" fmla="*/ 52 w 121"/>
                        <a:gd name="T5" fmla="*/ 390 h 1084"/>
                        <a:gd name="T6" fmla="*/ 55 w 121"/>
                        <a:gd name="T7" fmla="*/ 472 h 1084"/>
                        <a:gd name="T8" fmla="*/ 59 w 121"/>
                        <a:gd name="T9" fmla="*/ 575 h 1084"/>
                        <a:gd name="T10" fmla="*/ 66 w 121"/>
                        <a:gd name="T11" fmla="*/ 615 h 1084"/>
                        <a:gd name="T12" fmla="*/ 77 w 121"/>
                        <a:gd name="T13" fmla="*/ 652 h 1084"/>
                        <a:gd name="T14" fmla="*/ 80 w 121"/>
                        <a:gd name="T15" fmla="*/ 708 h 1084"/>
                        <a:gd name="T16" fmla="*/ 84 w 121"/>
                        <a:gd name="T17" fmla="*/ 833 h 1084"/>
                        <a:gd name="T18" fmla="*/ 87 w 121"/>
                        <a:gd name="T19" fmla="*/ 870 h 1084"/>
                        <a:gd name="T20" fmla="*/ 96 w 121"/>
                        <a:gd name="T21" fmla="*/ 922 h 1084"/>
                        <a:gd name="T22" fmla="*/ 106 w 121"/>
                        <a:gd name="T23" fmla="*/ 989 h 1084"/>
                        <a:gd name="T24" fmla="*/ 121 w 121"/>
                        <a:gd name="T25" fmla="*/ 1084 h 1084"/>
                        <a:gd name="T26" fmla="*/ 106 w 121"/>
                        <a:gd name="T27" fmla="*/ 502 h 1084"/>
                        <a:gd name="T28" fmla="*/ 80 w 121"/>
                        <a:gd name="T29" fmla="*/ 196 h 1084"/>
                        <a:gd name="T30" fmla="*/ 69 w 121"/>
                        <a:gd name="T31" fmla="*/ 74 h 1084"/>
                        <a:gd name="T32" fmla="*/ 44 w 121"/>
                        <a:gd name="T33" fmla="*/ 0 h 1084"/>
                        <a:gd name="T34" fmla="*/ 0 w 121"/>
                        <a:gd name="T35" fmla="*/ 200 h 108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</a:cxnLst>
                      <a:rect l="0" t="0" r="r" b="b"/>
                      <a:pathLst>
                        <a:path w="121" h="1084">
                          <a:moveTo>
                            <a:pt x="0" y="200"/>
                          </a:moveTo>
                          <a:lnTo>
                            <a:pt x="41" y="335"/>
                          </a:lnTo>
                          <a:lnTo>
                            <a:pt x="52" y="390"/>
                          </a:lnTo>
                          <a:lnTo>
                            <a:pt x="55" y="472"/>
                          </a:lnTo>
                          <a:lnTo>
                            <a:pt x="59" y="575"/>
                          </a:lnTo>
                          <a:lnTo>
                            <a:pt x="66" y="615"/>
                          </a:lnTo>
                          <a:lnTo>
                            <a:pt x="77" y="652"/>
                          </a:lnTo>
                          <a:lnTo>
                            <a:pt x="80" y="708"/>
                          </a:lnTo>
                          <a:lnTo>
                            <a:pt x="84" y="833"/>
                          </a:lnTo>
                          <a:lnTo>
                            <a:pt x="87" y="870"/>
                          </a:lnTo>
                          <a:lnTo>
                            <a:pt x="96" y="922"/>
                          </a:lnTo>
                          <a:lnTo>
                            <a:pt x="106" y="989"/>
                          </a:lnTo>
                          <a:lnTo>
                            <a:pt x="121" y="1084"/>
                          </a:lnTo>
                          <a:lnTo>
                            <a:pt x="106" y="502"/>
                          </a:lnTo>
                          <a:lnTo>
                            <a:pt x="80" y="196"/>
                          </a:lnTo>
                          <a:lnTo>
                            <a:pt x="69" y="74"/>
                          </a:lnTo>
                          <a:lnTo>
                            <a:pt x="44" y="0"/>
                          </a:lnTo>
                          <a:lnTo>
                            <a:pt x="0" y="200"/>
                          </a:lnTo>
                          <a:close/>
                        </a:path>
                      </a:pathLst>
                    </a:custGeom>
                    <a:solidFill>
                      <a:srgbClr val="BFBFB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50" name="Freeform 210"/>
                    <p:cNvSpPr/>
                    <p:nvPr/>
                  </p:nvSpPr>
                  <p:spPr bwMode="auto">
                    <a:xfrm>
                      <a:off x="5092" y="2344"/>
                      <a:ext cx="38" cy="234"/>
                    </a:xfrm>
                    <a:custGeom>
                      <a:avLst/>
                      <a:gdLst>
                        <a:gd name="T0" fmla="*/ 0 w 227"/>
                        <a:gd name="T1" fmla="*/ 52 h 1166"/>
                        <a:gd name="T2" fmla="*/ 50 w 227"/>
                        <a:gd name="T3" fmla="*/ 137 h 1166"/>
                        <a:gd name="T4" fmla="*/ 36 w 227"/>
                        <a:gd name="T5" fmla="*/ 717 h 1166"/>
                        <a:gd name="T6" fmla="*/ 32 w 227"/>
                        <a:gd name="T7" fmla="*/ 976 h 1166"/>
                        <a:gd name="T8" fmla="*/ 43 w 227"/>
                        <a:gd name="T9" fmla="*/ 1069 h 1166"/>
                        <a:gd name="T10" fmla="*/ 151 w 227"/>
                        <a:gd name="T11" fmla="*/ 1166 h 1166"/>
                        <a:gd name="T12" fmla="*/ 227 w 227"/>
                        <a:gd name="T13" fmla="*/ 1036 h 1166"/>
                        <a:gd name="T14" fmla="*/ 177 w 227"/>
                        <a:gd name="T15" fmla="*/ 661 h 1166"/>
                        <a:gd name="T16" fmla="*/ 147 w 227"/>
                        <a:gd name="T17" fmla="*/ 441 h 1166"/>
                        <a:gd name="T18" fmla="*/ 109 w 227"/>
                        <a:gd name="T19" fmla="*/ 185 h 1166"/>
                        <a:gd name="T20" fmla="*/ 98 w 227"/>
                        <a:gd name="T21" fmla="*/ 119 h 1166"/>
                        <a:gd name="T22" fmla="*/ 147 w 227"/>
                        <a:gd name="T23" fmla="*/ 41 h 1166"/>
                        <a:gd name="T24" fmla="*/ 129 w 227"/>
                        <a:gd name="T25" fmla="*/ 4 h 1166"/>
                        <a:gd name="T26" fmla="*/ 66 w 227"/>
                        <a:gd name="T27" fmla="*/ 0 h 1166"/>
                        <a:gd name="T28" fmla="*/ 0 w 227"/>
                        <a:gd name="T29" fmla="*/ 52 h 116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</a:cxnLst>
                      <a:rect l="0" t="0" r="r" b="b"/>
                      <a:pathLst>
                        <a:path w="227" h="1166">
                          <a:moveTo>
                            <a:pt x="0" y="52"/>
                          </a:moveTo>
                          <a:lnTo>
                            <a:pt x="50" y="137"/>
                          </a:lnTo>
                          <a:lnTo>
                            <a:pt x="36" y="717"/>
                          </a:lnTo>
                          <a:lnTo>
                            <a:pt x="32" y="976"/>
                          </a:lnTo>
                          <a:lnTo>
                            <a:pt x="43" y="1069"/>
                          </a:lnTo>
                          <a:lnTo>
                            <a:pt x="151" y="1166"/>
                          </a:lnTo>
                          <a:lnTo>
                            <a:pt x="227" y="1036"/>
                          </a:lnTo>
                          <a:lnTo>
                            <a:pt x="177" y="661"/>
                          </a:lnTo>
                          <a:lnTo>
                            <a:pt x="147" y="441"/>
                          </a:lnTo>
                          <a:lnTo>
                            <a:pt x="109" y="185"/>
                          </a:lnTo>
                          <a:lnTo>
                            <a:pt x="98" y="119"/>
                          </a:lnTo>
                          <a:lnTo>
                            <a:pt x="147" y="41"/>
                          </a:lnTo>
                          <a:lnTo>
                            <a:pt x="129" y="4"/>
                          </a:lnTo>
                          <a:lnTo>
                            <a:pt x="66" y="0"/>
                          </a:lnTo>
                          <a:lnTo>
                            <a:pt x="0" y="52"/>
                          </a:lnTo>
                          <a:close/>
                        </a:path>
                      </a:pathLst>
                    </a:custGeom>
                    <a:solidFill>
                      <a:srgbClr val="3F3F3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51" name="Freeform 211"/>
                    <p:cNvSpPr/>
                    <p:nvPr/>
                  </p:nvSpPr>
                  <p:spPr bwMode="auto">
                    <a:xfrm>
                      <a:off x="5064" y="2305"/>
                      <a:ext cx="59" cy="74"/>
                    </a:xfrm>
                    <a:custGeom>
                      <a:avLst/>
                      <a:gdLst>
                        <a:gd name="T0" fmla="*/ 3 w 355"/>
                        <a:gd name="T1" fmla="*/ 0 h 372"/>
                        <a:gd name="T2" fmla="*/ 14 w 355"/>
                        <a:gd name="T3" fmla="*/ 34 h 372"/>
                        <a:gd name="T4" fmla="*/ 21 w 355"/>
                        <a:gd name="T5" fmla="*/ 47 h 372"/>
                        <a:gd name="T6" fmla="*/ 36 w 355"/>
                        <a:gd name="T7" fmla="*/ 72 h 372"/>
                        <a:gd name="T8" fmla="*/ 49 w 355"/>
                        <a:gd name="T9" fmla="*/ 92 h 372"/>
                        <a:gd name="T10" fmla="*/ 64 w 355"/>
                        <a:gd name="T11" fmla="*/ 108 h 372"/>
                        <a:gd name="T12" fmla="*/ 86 w 355"/>
                        <a:gd name="T13" fmla="*/ 131 h 372"/>
                        <a:gd name="T14" fmla="*/ 114 w 355"/>
                        <a:gd name="T15" fmla="*/ 152 h 372"/>
                        <a:gd name="T16" fmla="*/ 142 w 355"/>
                        <a:gd name="T17" fmla="*/ 173 h 372"/>
                        <a:gd name="T18" fmla="*/ 168 w 355"/>
                        <a:gd name="T19" fmla="*/ 187 h 372"/>
                        <a:gd name="T20" fmla="*/ 199 w 355"/>
                        <a:gd name="T21" fmla="*/ 199 h 372"/>
                        <a:gd name="T22" fmla="*/ 228 w 355"/>
                        <a:gd name="T23" fmla="*/ 202 h 372"/>
                        <a:gd name="T24" fmla="*/ 259 w 355"/>
                        <a:gd name="T25" fmla="*/ 202 h 372"/>
                        <a:gd name="T26" fmla="*/ 278 w 355"/>
                        <a:gd name="T27" fmla="*/ 189 h 372"/>
                        <a:gd name="T28" fmla="*/ 296 w 355"/>
                        <a:gd name="T29" fmla="*/ 176 h 372"/>
                        <a:gd name="T30" fmla="*/ 313 w 355"/>
                        <a:gd name="T31" fmla="*/ 150 h 372"/>
                        <a:gd name="T32" fmla="*/ 330 w 355"/>
                        <a:gd name="T33" fmla="*/ 124 h 372"/>
                        <a:gd name="T34" fmla="*/ 340 w 355"/>
                        <a:gd name="T35" fmla="*/ 102 h 372"/>
                        <a:gd name="T36" fmla="*/ 346 w 355"/>
                        <a:gd name="T37" fmla="*/ 60 h 372"/>
                        <a:gd name="T38" fmla="*/ 353 w 355"/>
                        <a:gd name="T39" fmla="*/ 48 h 372"/>
                        <a:gd name="T40" fmla="*/ 355 w 355"/>
                        <a:gd name="T41" fmla="*/ 116 h 372"/>
                        <a:gd name="T42" fmla="*/ 341 w 355"/>
                        <a:gd name="T43" fmla="*/ 346 h 372"/>
                        <a:gd name="T44" fmla="*/ 241 w 355"/>
                        <a:gd name="T45" fmla="*/ 214 h 372"/>
                        <a:gd name="T46" fmla="*/ 230 w 355"/>
                        <a:gd name="T47" fmla="*/ 214 h 372"/>
                        <a:gd name="T48" fmla="*/ 130 w 355"/>
                        <a:gd name="T49" fmla="*/ 314 h 372"/>
                        <a:gd name="T50" fmla="*/ 73 w 355"/>
                        <a:gd name="T51" fmla="*/ 372 h 372"/>
                        <a:gd name="T52" fmla="*/ 18 w 355"/>
                        <a:gd name="T53" fmla="*/ 186 h 372"/>
                        <a:gd name="T54" fmla="*/ 0 w 355"/>
                        <a:gd name="T55" fmla="*/ 113 h 372"/>
                        <a:gd name="T56" fmla="*/ 3 w 355"/>
                        <a:gd name="T57" fmla="*/ 0 h 37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</a:cxnLst>
                      <a:rect l="0" t="0" r="r" b="b"/>
                      <a:pathLst>
                        <a:path w="355" h="372">
                          <a:moveTo>
                            <a:pt x="3" y="0"/>
                          </a:moveTo>
                          <a:lnTo>
                            <a:pt x="14" y="34"/>
                          </a:lnTo>
                          <a:lnTo>
                            <a:pt x="21" y="47"/>
                          </a:lnTo>
                          <a:lnTo>
                            <a:pt x="36" y="72"/>
                          </a:lnTo>
                          <a:lnTo>
                            <a:pt x="49" y="92"/>
                          </a:lnTo>
                          <a:lnTo>
                            <a:pt x="64" y="108"/>
                          </a:lnTo>
                          <a:lnTo>
                            <a:pt x="86" y="131"/>
                          </a:lnTo>
                          <a:lnTo>
                            <a:pt x="114" y="152"/>
                          </a:lnTo>
                          <a:lnTo>
                            <a:pt x="142" y="173"/>
                          </a:lnTo>
                          <a:lnTo>
                            <a:pt x="168" y="187"/>
                          </a:lnTo>
                          <a:lnTo>
                            <a:pt x="199" y="199"/>
                          </a:lnTo>
                          <a:lnTo>
                            <a:pt x="228" y="202"/>
                          </a:lnTo>
                          <a:lnTo>
                            <a:pt x="259" y="202"/>
                          </a:lnTo>
                          <a:lnTo>
                            <a:pt x="278" y="189"/>
                          </a:lnTo>
                          <a:lnTo>
                            <a:pt x="296" y="176"/>
                          </a:lnTo>
                          <a:lnTo>
                            <a:pt x="313" y="150"/>
                          </a:lnTo>
                          <a:lnTo>
                            <a:pt x="330" y="124"/>
                          </a:lnTo>
                          <a:lnTo>
                            <a:pt x="340" y="102"/>
                          </a:lnTo>
                          <a:lnTo>
                            <a:pt x="346" y="60"/>
                          </a:lnTo>
                          <a:lnTo>
                            <a:pt x="353" y="48"/>
                          </a:lnTo>
                          <a:lnTo>
                            <a:pt x="355" y="116"/>
                          </a:lnTo>
                          <a:lnTo>
                            <a:pt x="341" y="346"/>
                          </a:lnTo>
                          <a:lnTo>
                            <a:pt x="241" y="214"/>
                          </a:lnTo>
                          <a:lnTo>
                            <a:pt x="230" y="214"/>
                          </a:lnTo>
                          <a:lnTo>
                            <a:pt x="130" y="314"/>
                          </a:lnTo>
                          <a:lnTo>
                            <a:pt x="73" y="372"/>
                          </a:lnTo>
                          <a:lnTo>
                            <a:pt x="18" y="186"/>
                          </a:lnTo>
                          <a:lnTo>
                            <a:pt x="0" y="113"/>
                          </a:lnTo>
                          <a:lnTo>
                            <a:pt x="3" y="0"/>
                          </a:lnTo>
                          <a:close/>
                        </a:path>
                      </a:pathLst>
                    </a:custGeom>
                    <a:solidFill>
                      <a:srgbClr val="3F3F3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52" name="Freeform 212"/>
                    <p:cNvSpPr/>
                    <p:nvPr/>
                  </p:nvSpPr>
                  <p:spPr bwMode="auto">
                    <a:xfrm>
                      <a:off x="5066" y="2303"/>
                      <a:ext cx="59" cy="75"/>
                    </a:xfrm>
                    <a:custGeom>
                      <a:avLst/>
                      <a:gdLst>
                        <a:gd name="T0" fmla="*/ 4 w 355"/>
                        <a:gd name="T1" fmla="*/ 0 h 373"/>
                        <a:gd name="T2" fmla="*/ 15 w 355"/>
                        <a:gd name="T3" fmla="*/ 34 h 373"/>
                        <a:gd name="T4" fmla="*/ 22 w 355"/>
                        <a:gd name="T5" fmla="*/ 47 h 373"/>
                        <a:gd name="T6" fmla="*/ 36 w 355"/>
                        <a:gd name="T7" fmla="*/ 72 h 373"/>
                        <a:gd name="T8" fmla="*/ 49 w 355"/>
                        <a:gd name="T9" fmla="*/ 92 h 373"/>
                        <a:gd name="T10" fmla="*/ 65 w 355"/>
                        <a:gd name="T11" fmla="*/ 108 h 373"/>
                        <a:gd name="T12" fmla="*/ 86 w 355"/>
                        <a:gd name="T13" fmla="*/ 131 h 373"/>
                        <a:gd name="T14" fmla="*/ 115 w 355"/>
                        <a:gd name="T15" fmla="*/ 152 h 373"/>
                        <a:gd name="T16" fmla="*/ 142 w 355"/>
                        <a:gd name="T17" fmla="*/ 173 h 373"/>
                        <a:gd name="T18" fmla="*/ 169 w 355"/>
                        <a:gd name="T19" fmla="*/ 187 h 373"/>
                        <a:gd name="T20" fmla="*/ 200 w 355"/>
                        <a:gd name="T21" fmla="*/ 199 h 373"/>
                        <a:gd name="T22" fmla="*/ 229 w 355"/>
                        <a:gd name="T23" fmla="*/ 202 h 373"/>
                        <a:gd name="T24" fmla="*/ 260 w 355"/>
                        <a:gd name="T25" fmla="*/ 202 h 373"/>
                        <a:gd name="T26" fmla="*/ 279 w 355"/>
                        <a:gd name="T27" fmla="*/ 191 h 373"/>
                        <a:gd name="T28" fmla="*/ 297 w 355"/>
                        <a:gd name="T29" fmla="*/ 176 h 373"/>
                        <a:gd name="T30" fmla="*/ 313 w 355"/>
                        <a:gd name="T31" fmla="*/ 150 h 373"/>
                        <a:gd name="T32" fmla="*/ 330 w 355"/>
                        <a:gd name="T33" fmla="*/ 124 h 373"/>
                        <a:gd name="T34" fmla="*/ 341 w 355"/>
                        <a:gd name="T35" fmla="*/ 102 h 373"/>
                        <a:gd name="T36" fmla="*/ 347 w 355"/>
                        <a:gd name="T37" fmla="*/ 60 h 373"/>
                        <a:gd name="T38" fmla="*/ 354 w 355"/>
                        <a:gd name="T39" fmla="*/ 49 h 373"/>
                        <a:gd name="T40" fmla="*/ 355 w 355"/>
                        <a:gd name="T41" fmla="*/ 117 h 373"/>
                        <a:gd name="T42" fmla="*/ 342 w 355"/>
                        <a:gd name="T43" fmla="*/ 347 h 373"/>
                        <a:gd name="T44" fmla="*/ 242 w 355"/>
                        <a:gd name="T45" fmla="*/ 214 h 373"/>
                        <a:gd name="T46" fmla="*/ 231 w 355"/>
                        <a:gd name="T47" fmla="*/ 214 h 373"/>
                        <a:gd name="T48" fmla="*/ 131 w 355"/>
                        <a:gd name="T49" fmla="*/ 314 h 373"/>
                        <a:gd name="T50" fmla="*/ 73 w 355"/>
                        <a:gd name="T51" fmla="*/ 373 h 373"/>
                        <a:gd name="T52" fmla="*/ 18 w 355"/>
                        <a:gd name="T53" fmla="*/ 186 h 373"/>
                        <a:gd name="T54" fmla="*/ 0 w 355"/>
                        <a:gd name="T55" fmla="*/ 113 h 373"/>
                        <a:gd name="T56" fmla="*/ 4 w 355"/>
                        <a:gd name="T57" fmla="*/ 0 h 37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</a:cxnLst>
                      <a:rect l="0" t="0" r="r" b="b"/>
                      <a:pathLst>
                        <a:path w="355" h="373">
                          <a:moveTo>
                            <a:pt x="4" y="0"/>
                          </a:moveTo>
                          <a:lnTo>
                            <a:pt x="15" y="34"/>
                          </a:lnTo>
                          <a:lnTo>
                            <a:pt x="22" y="47"/>
                          </a:lnTo>
                          <a:lnTo>
                            <a:pt x="36" y="72"/>
                          </a:lnTo>
                          <a:lnTo>
                            <a:pt x="49" y="92"/>
                          </a:lnTo>
                          <a:lnTo>
                            <a:pt x="65" y="108"/>
                          </a:lnTo>
                          <a:lnTo>
                            <a:pt x="86" y="131"/>
                          </a:lnTo>
                          <a:lnTo>
                            <a:pt x="115" y="152"/>
                          </a:lnTo>
                          <a:lnTo>
                            <a:pt x="142" y="173"/>
                          </a:lnTo>
                          <a:lnTo>
                            <a:pt x="169" y="187"/>
                          </a:lnTo>
                          <a:lnTo>
                            <a:pt x="200" y="199"/>
                          </a:lnTo>
                          <a:lnTo>
                            <a:pt x="229" y="202"/>
                          </a:lnTo>
                          <a:lnTo>
                            <a:pt x="260" y="202"/>
                          </a:lnTo>
                          <a:lnTo>
                            <a:pt x="279" y="191"/>
                          </a:lnTo>
                          <a:lnTo>
                            <a:pt x="297" y="176"/>
                          </a:lnTo>
                          <a:lnTo>
                            <a:pt x="313" y="150"/>
                          </a:lnTo>
                          <a:lnTo>
                            <a:pt x="330" y="124"/>
                          </a:lnTo>
                          <a:lnTo>
                            <a:pt x="341" y="102"/>
                          </a:lnTo>
                          <a:lnTo>
                            <a:pt x="347" y="60"/>
                          </a:lnTo>
                          <a:lnTo>
                            <a:pt x="354" y="49"/>
                          </a:lnTo>
                          <a:lnTo>
                            <a:pt x="355" y="117"/>
                          </a:lnTo>
                          <a:lnTo>
                            <a:pt x="342" y="347"/>
                          </a:lnTo>
                          <a:lnTo>
                            <a:pt x="242" y="214"/>
                          </a:lnTo>
                          <a:lnTo>
                            <a:pt x="231" y="214"/>
                          </a:lnTo>
                          <a:lnTo>
                            <a:pt x="131" y="314"/>
                          </a:lnTo>
                          <a:lnTo>
                            <a:pt x="73" y="373"/>
                          </a:lnTo>
                          <a:lnTo>
                            <a:pt x="18" y="186"/>
                          </a:lnTo>
                          <a:lnTo>
                            <a:pt x="0" y="113"/>
                          </a:lnTo>
                          <a:lnTo>
                            <a:pt x="4" y="0"/>
                          </a:lnTo>
                          <a:close/>
                        </a:path>
                      </a:pathLst>
                    </a:custGeom>
                    <a:solidFill>
                      <a:srgbClr val="BFD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436" name="Group 213"/>
                  <p:cNvGrpSpPr/>
                  <p:nvPr/>
                </p:nvGrpSpPr>
                <p:grpSpPr bwMode="auto">
                  <a:xfrm>
                    <a:off x="4986" y="2302"/>
                    <a:ext cx="218" cy="441"/>
                    <a:chOff x="4986" y="2302"/>
                    <a:chExt cx="218" cy="441"/>
                  </a:xfrm>
                </p:grpSpPr>
                <p:sp>
                  <p:nvSpPr>
                    <p:cNvPr id="437" name="Freeform 214"/>
                    <p:cNvSpPr/>
                    <p:nvPr/>
                  </p:nvSpPr>
                  <p:spPr bwMode="auto">
                    <a:xfrm>
                      <a:off x="5024" y="2558"/>
                      <a:ext cx="156" cy="185"/>
                    </a:xfrm>
                    <a:custGeom>
                      <a:avLst/>
                      <a:gdLst>
                        <a:gd name="T0" fmla="*/ 51 w 937"/>
                        <a:gd name="T1" fmla="*/ 0 h 925"/>
                        <a:gd name="T2" fmla="*/ 356 w 937"/>
                        <a:gd name="T3" fmla="*/ 23 h 925"/>
                        <a:gd name="T4" fmla="*/ 542 w 937"/>
                        <a:gd name="T5" fmla="*/ 30 h 925"/>
                        <a:gd name="T6" fmla="*/ 815 w 937"/>
                        <a:gd name="T7" fmla="*/ 15 h 925"/>
                        <a:gd name="T8" fmla="*/ 908 w 937"/>
                        <a:gd name="T9" fmla="*/ 8 h 925"/>
                        <a:gd name="T10" fmla="*/ 937 w 937"/>
                        <a:gd name="T11" fmla="*/ 662 h 925"/>
                        <a:gd name="T12" fmla="*/ 937 w 937"/>
                        <a:gd name="T13" fmla="*/ 925 h 925"/>
                        <a:gd name="T14" fmla="*/ 599 w 937"/>
                        <a:gd name="T15" fmla="*/ 925 h 925"/>
                        <a:gd name="T16" fmla="*/ 507 w 937"/>
                        <a:gd name="T17" fmla="*/ 573 h 925"/>
                        <a:gd name="T18" fmla="*/ 471 w 937"/>
                        <a:gd name="T19" fmla="*/ 925 h 925"/>
                        <a:gd name="T20" fmla="*/ 43 w 937"/>
                        <a:gd name="T21" fmla="*/ 925 h 925"/>
                        <a:gd name="T22" fmla="*/ 0 w 937"/>
                        <a:gd name="T23" fmla="*/ 373 h 925"/>
                        <a:gd name="T24" fmla="*/ 51 w 937"/>
                        <a:gd name="T25" fmla="*/ 0 h 92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</a:cxnLst>
                      <a:rect l="0" t="0" r="r" b="b"/>
                      <a:pathLst>
                        <a:path w="937" h="925">
                          <a:moveTo>
                            <a:pt x="51" y="0"/>
                          </a:moveTo>
                          <a:lnTo>
                            <a:pt x="356" y="23"/>
                          </a:lnTo>
                          <a:lnTo>
                            <a:pt x="542" y="30"/>
                          </a:lnTo>
                          <a:lnTo>
                            <a:pt x="815" y="15"/>
                          </a:lnTo>
                          <a:lnTo>
                            <a:pt x="908" y="8"/>
                          </a:lnTo>
                          <a:lnTo>
                            <a:pt x="937" y="662"/>
                          </a:lnTo>
                          <a:lnTo>
                            <a:pt x="937" y="925"/>
                          </a:lnTo>
                          <a:lnTo>
                            <a:pt x="599" y="925"/>
                          </a:lnTo>
                          <a:lnTo>
                            <a:pt x="507" y="573"/>
                          </a:lnTo>
                          <a:lnTo>
                            <a:pt x="471" y="925"/>
                          </a:lnTo>
                          <a:lnTo>
                            <a:pt x="43" y="925"/>
                          </a:lnTo>
                          <a:lnTo>
                            <a:pt x="0" y="373"/>
                          </a:lnTo>
                          <a:lnTo>
                            <a:pt x="51" y="0"/>
                          </a:lnTo>
                          <a:close/>
                        </a:path>
                      </a:pathLst>
                    </a:custGeom>
                    <a:solidFill>
                      <a:srgbClr val="3F3F3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grpSp>
                  <p:nvGrpSpPr>
                    <p:cNvPr id="438" name="Group 215"/>
                    <p:cNvGrpSpPr/>
                    <p:nvPr/>
                  </p:nvGrpSpPr>
                  <p:grpSpPr bwMode="auto">
                    <a:xfrm>
                      <a:off x="4986" y="2302"/>
                      <a:ext cx="218" cy="379"/>
                      <a:chOff x="4986" y="2302"/>
                      <a:chExt cx="218" cy="379"/>
                    </a:xfrm>
                  </p:grpSpPr>
                  <p:grpSp>
                    <p:nvGrpSpPr>
                      <p:cNvPr id="439" name="Group 216"/>
                      <p:cNvGrpSpPr/>
                      <p:nvPr/>
                    </p:nvGrpSpPr>
                    <p:grpSpPr bwMode="auto">
                      <a:xfrm>
                        <a:off x="4986" y="2302"/>
                        <a:ext cx="218" cy="379"/>
                        <a:chOff x="4986" y="2302"/>
                        <a:chExt cx="218" cy="379"/>
                      </a:xfrm>
                    </p:grpSpPr>
                    <p:sp>
                      <p:nvSpPr>
                        <p:cNvPr id="446" name="Freeform 217"/>
                        <p:cNvSpPr/>
                        <p:nvPr/>
                      </p:nvSpPr>
                      <p:spPr bwMode="auto">
                        <a:xfrm>
                          <a:off x="5124" y="2311"/>
                          <a:ext cx="80" cy="369"/>
                        </a:xfrm>
                        <a:custGeom>
                          <a:avLst/>
                          <a:gdLst>
                            <a:gd name="T0" fmla="*/ 12 w 484"/>
                            <a:gd name="T1" fmla="*/ 0 h 1845"/>
                            <a:gd name="T2" fmla="*/ 24 w 484"/>
                            <a:gd name="T3" fmla="*/ 12 h 1845"/>
                            <a:gd name="T4" fmla="*/ 48 w 484"/>
                            <a:gd name="T5" fmla="*/ 53 h 1845"/>
                            <a:gd name="T6" fmla="*/ 330 w 484"/>
                            <a:gd name="T7" fmla="*/ 160 h 1845"/>
                            <a:gd name="T8" fmla="*/ 357 w 484"/>
                            <a:gd name="T9" fmla="*/ 170 h 1845"/>
                            <a:gd name="T10" fmla="*/ 381 w 484"/>
                            <a:gd name="T11" fmla="*/ 185 h 1845"/>
                            <a:gd name="T12" fmla="*/ 396 w 484"/>
                            <a:gd name="T13" fmla="*/ 198 h 1845"/>
                            <a:gd name="T14" fmla="*/ 409 w 484"/>
                            <a:gd name="T15" fmla="*/ 217 h 1845"/>
                            <a:gd name="T16" fmla="*/ 418 w 484"/>
                            <a:gd name="T17" fmla="*/ 243 h 1845"/>
                            <a:gd name="T18" fmla="*/ 427 w 484"/>
                            <a:gd name="T19" fmla="*/ 301 h 1845"/>
                            <a:gd name="T20" fmla="*/ 434 w 484"/>
                            <a:gd name="T21" fmla="*/ 420 h 1845"/>
                            <a:gd name="T22" fmla="*/ 448 w 484"/>
                            <a:gd name="T23" fmla="*/ 1102 h 1845"/>
                            <a:gd name="T24" fmla="*/ 484 w 484"/>
                            <a:gd name="T25" fmla="*/ 1630 h 1845"/>
                            <a:gd name="T26" fmla="*/ 377 w 484"/>
                            <a:gd name="T27" fmla="*/ 1667 h 1845"/>
                            <a:gd name="T28" fmla="*/ 384 w 484"/>
                            <a:gd name="T29" fmla="*/ 1734 h 1845"/>
                            <a:gd name="T30" fmla="*/ 297 w 484"/>
                            <a:gd name="T31" fmla="*/ 1786 h 1845"/>
                            <a:gd name="T32" fmla="*/ 196 w 484"/>
                            <a:gd name="T33" fmla="*/ 1823 h 1845"/>
                            <a:gd name="T34" fmla="*/ 87 w 484"/>
                            <a:gd name="T35" fmla="*/ 1845 h 1845"/>
                            <a:gd name="T36" fmla="*/ 30 w 484"/>
                            <a:gd name="T37" fmla="*/ 1845 h 1845"/>
                            <a:gd name="T38" fmla="*/ 59 w 484"/>
                            <a:gd name="T39" fmla="*/ 1221 h 1845"/>
                            <a:gd name="T40" fmla="*/ 73 w 484"/>
                            <a:gd name="T41" fmla="*/ 889 h 1845"/>
                            <a:gd name="T42" fmla="*/ 73 w 484"/>
                            <a:gd name="T43" fmla="*/ 628 h 1845"/>
                            <a:gd name="T44" fmla="*/ 41 w 484"/>
                            <a:gd name="T45" fmla="*/ 303 h 1845"/>
                            <a:gd name="T46" fmla="*/ 17 w 484"/>
                            <a:gd name="T47" fmla="*/ 109 h 1845"/>
                            <a:gd name="T48" fmla="*/ 0 w 484"/>
                            <a:gd name="T49" fmla="*/ 17 h 1845"/>
                            <a:gd name="T50" fmla="*/ 12 w 484"/>
                            <a:gd name="T51" fmla="*/ 0 h 1845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  <a:cxn ang="0">
                              <a:pos x="T30" y="T31"/>
                            </a:cxn>
                            <a:cxn ang="0">
                              <a:pos x="T32" y="T33"/>
                            </a:cxn>
                            <a:cxn ang="0">
                              <a:pos x="T34" y="T35"/>
                            </a:cxn>
                            <a:cxn ang="0">
                              <a:pos x="T36" y="T37"/>
                            </a:cxn>
                            <a:cxn ang="0">
                              <a:pos x="T38" y="T39"/>
                            </a:cxn>
                            <a:cxn ang="0">
                              <a:pos x="T40" y="T41"/>
                            </a:cxn>
                            <a:cxn ang="0">
                              <a:pos x="T42" y="T43"/>
                            </a:cxn>
                            <a:cxn ang="0">
                              <a:pos x="T44" y="T45"/>
                            </a:cxn>
                            <a:cxn ang="0">
                              <a:pos x="T46" y="T47"/>
                            </a:cxn>
                            <a:cxn ang="0">
                              <a:pos x="T48" y="T49"/>
                            </a:cxn>
                            <a:cxn ang="0">
                              <a:pos x="T50" y="T51"/>
                            </a:cxn>
                          </a:cxnLst>
                          <a:rect l="0" t="0" r="r" b="b"/>
                          <a:pathLst>
                            <a:path w="484" h="1845">
                              <a:moveTo>
                                <a:pt x="12" y="0"/>
                              </a:moveTo>
                              <a:lnTo>
                                <a:pt x="24" y="12"/>
                              </a:lnTo>
                              <a:lnTo>
                                <a:pt x="48" y="53"/>
                              </a:lnTo>
                              <a:lnTo>
                                <a:pt x="330" y="160"/>
                              </a:lnTo>
                              <a:lnTo>
                                <a:pt x="357" y="170"/>
                              </a:lnTo>
                              <a:lnTo>
                                <a:pt x="381" y="185"/>
                              </a:lnTo>
                              <a:lnTo>
                                <a:pt x="396" y="198"/>
                              </a:lnTo>
                              <a:lnTo>
                                <a:pt x="409" y="217"/>
                              </a:lnTo>
                              <a:lnTo>
                                <a:pt x="418" y="243"/>
                              </a:lnTo>
                              <a:lnTo>
                                <a:pt x="427" y="301"/>
                              </a:lnTo>
                              <a:lnTo>
                                <a:pt x="434" y="420"/>
                              </a:lnTo>
                              <a:lnTo>
                                <a:pt x="448" y="1102"/>
                              </a:lnTo>
                              <a:lnTo>
                                <a:pt x="484" y="1630"/>
                              </a:lnTo>
                              <a:lnTo>
                                <a:pt x="377" y="1667"/>
                              </a:lnTo>
                              <a:lnTo>
                                <a:pt x="384" y="1734"/>
                              </a:lnTo>
                              <a:lnTo>
                                <a:pt x="297" y="1786"/>
                              </a:lnTo>
                              <a:lnTo>
                                <a:pt x="196" y="1823"/>
                              </a:lnTo>
                              <a:lnTo>
                                <a:pt x="87" y="1845"/>
                              </a:lnTo>
                              <a:lnTo>
                                <a:pt x="30" y="1845"/>
                              </a:lnTo>
                              <a:lnTo>
                                <a:pt x="59" y="1221"/>
                              </a:lnTo>
                              <a:lnTo>
                                <a:pt x="73" y="889"/>
                              </a:lnTo>
                              <a:lnTo>
                                <a:pt x="73" y="628"/>
                              </a:lnTo>
                              <a:lnTo>
                                <a:pt x="41" y="303"/>
                              </a:lnTo>
                              <a:lnTo>
                                <a:pt x="17" y="109"/>
                              </a:lnTo>
                              <a:lnTo>
                                <a:pt x="0" y="17"/>
                              </a:lnTo>
                              <a:lnTo>
                                <a:pt x="12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7F7F7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  <p:sp>
                      <p:nvSpPr>
                        <p:cNvPr id="447" name="Freeform 218"/>
                        <p:cNvSpPr/>
                        <p:nvPr/>
                      </p:nvSpPr>
                      <p:spPr bwMode="auto">
                        <a:xfrm>
                          <a:off x="4986" y="2302"/>
                          <a:ext cx="101" cy="379"/>
                        </a:xfrm>
                        <a:custGeom>
                          <a:avLst/>
                          <a:gdLst>
                            <a:gd name="T0" fmla="*/ 485 w 607"/>
                            <a:gd name="T1" fmla="*/ 0 h 1899"/>
                            <a:gd name="T2" fmla="*/ 429 w 607"/>
                            <a:gd name="T3" fmla="*/ 51 h 1899"/>
                            <a:gd name="T4" fmla="*/ 401 w 607"/>
                            <a:gd name="T5" fmla="*/ 73 h 1899"/>
                            <a:gd name="T6" fmla="*/ 353 w 607"/>
                            <a:gd name="T7" fmla="*/ 95 h 1899"/>
                            <a:gd name="T8" fmla="*/ 251 w 607"/>
                            <a:gd name="T9" fmla="*/ 147 h 1899"/>
                            <a:gd name="T10" fmla="*/ 98 w 607"/>
                            <a:gd name="T11" fmla="*/ 231 h 1899"/>
                            <a:gd name="T12" fmla="*/ 62 w 607"/>
                            <a:gd name="T13" fmla="*/ 247 h 1899"/>
                            <a:gd name="T14" fmla="*/ 55 w 607"/>
                            <a:gd name="T15" fmla="*/ 272 h 1899"/>
                            <a:gd name="T16" fmla="*/ 50 w 607"/>
                            <a:gd name="T17" fmla="*/ 333 h 1899"/>
                            <a:gd name="T18" fmla="*/ 43 w 607"/>
                            <a:gd name="T19" fmla="*/ 504 h 1899"/>
                            <a:gd name="T20" fmla="*/ 14 w 607"/>
                            <a:gd name="T21" fmla="*/ 696 h 1899"/>
                            <a:gd name="T22" fmla="*/ 0 w 607"/>
                            <a:gd name="T23" fmla="*/ 852 h 1899"/>
                            <a:gd name="T24" fmla="*/ 14 w 607"/>
                            <a:gd name="T25" fmla="*/ 972 h 1899"/>
                            <a:gd name="T26" fmla="*/ 50 w 607"/>
                            <a:gd name="T27" fmla="*/ 1068 h 1899"/>
                            <a:gd name="T28" fmla="*/ 179 w 607"/>
                            <a:gd name="T29" fmla="*/ 1215 h 1899"/>
                            <a:gd name="T30" fmla="*/ 193 w 607"/>
                            <a:gd name="T31" fmla="*/ 1706 h 1899"/>
                            <a:gd name="T32" fmla="*/ 265 w 607"/>
                            <a:gd name="T33" fmla="*/ 1802 h 1899"/>
                            <a:gd name="T34" fmla="*/ 365 w 607"/>
                            <a:gd name="T35" fmla="*/ 1869 h 1899"/>
                            <a:gd name="T36" fmla="*/ 470 w 607"/>
                            <a:gd name="T37" fmla="*/ 1899 h 1899"/>
                            <a:gd name="T38" fmla="*/ 607 w 607"/>
                            <a:gd name="T39" fmla="*/ 1899 h 1899"/>
                            <a:gd name="T40" fmla="*/ 607 w 607"/>
                            <a:gd name="T41" fmla="*/ 1334 h 1899"/>
                            <a:gd name="T42" fmla="*/ 589 w 607"/>
                            <a:gd name="T43" fmla="*/ 1090 h 1899"/>
                            <a:gd name="T44" fmla="*/ 542 w 607"/>
                            <a:gd name="T45" fmla="*/ 586 h 1899"/>
                            <a:gd name="T46" fmla="*/ 523 w 607"/>
                            <a:gd name="T47" fmla="*/ 355 h 1899"/>
                            <a:gd name="T48" fmla="*/ 516 w 607"/>
                            <a:gd name="T49" fmla="*/ 300 h 1899"/>
                            <a:gd name="T50" fmla="*/ 506 w 607"/>
                            <a:gd name="T51" fmla="*/ 247 h 1899"/>
                            <a:gd name="T52" fmla="*/ 487 w 607"/>
                            <a:gd name="T53" fmla="*/ 146 h 1899"/>
                            <a:gd name="T54" fmla="*/ 479 w 607"/>
                            <a:gd name="T55" fmla="*/ 101 h 1899"/>
                            <a:gd name="T56" fmla="*/ 478 w 607"/>
                            <a:gd name="T57" fmla="*/ 75 h 1899"/>
                            <a:gd name="T58" fmla="*/ 478 w 607"/>
                            <a:gd name="T59" fmla="*/ 43 h 1899"/>
                            <a:gd name="T60" fmla="*/ 485 w 607"/>
                            <a:gd name="T61" fmla="*/ 0 h 1899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  <a:cxn ang="0">
                              <a:pos x="T30" y="T31"/>
                            </a:cxn>
                            <a:cxn ang="0">
                              <a:pos x="T32" y="T33"/>
                            </a:cxn>
                            <a:cxn ang="0">
                              <a:pos x="T34" y="T35"/>
                            </a:cxn>
                            <a:cxn ang="0">
                              <a:pos x="T36" y="T37"/>
                            </a:cxn>
                            <a:cxn ang="0">
                              <a:pos x="T38" y="T39"/>
                            </a:cxn>
                            <a:cxn ang="0">
                              <a:pos x="T40" y="T41"/>
                            </a:cxn>
                            <a:cxn ang="0">
                              <a:pos x="T42" y="T43"/>
                            </a:cxn>
                            <a:cxn ang="0">
                              <a:pos x="T44" y="T45"/>
                            </a:cxn>
                            <a:cxn ang="0">
                              <a:pos x="T46" y="T47"/>
                            </a:cxn>
                            <a:cxn ang="0">
                              <a:pos x="T48" y="T49"/>
                            </a:cxn>
                            <a:cxn ang="0">
                              <a:pos x="T50" y="T51"/>
                            </a:cxn>
                            <a:cxn ang="0">
                              <a:pos x="T52" y="T53"/>
                            </a:cxn>
                            <a:cxn ang="0">
                              <a:pos x="T54" y="T55"/>
                            </a:cxn>
                            <a:cxn ang="0">
                              <a:pos x="T56" y="T57"/>
                            </a:cxn>
                            <a:cxn ang="0">
                              <a:pos x="T58" y="T59"/>
                            </a:cxn>
                            <a:cxn ang="0">
                              <a:pos x="T60" y="T61"/>
                            </a:cxn>
                          </a:cxnLst>
                          <a:rect l="0" t="0" r="r" b="b"/>
                          <a:pathLst>
                            <a:path w="607" h="1899">
                              <a:moveTo>
                                <a:pt x="485" y="0"/>
                              </a:moveTo>
                              <a:lnTo>
                                <a:pt x="429" y="51"/>
                              </a:lnTo>
                              <a:lnTo>
                                <a:pt x="401" y="73"/>
                              </a:lnTo>
                              <a:lnTo>
                                <a:pt x="353" y="95"/>
                              </a:lnTo>
                              <a:lnTo>
                                <a:pt x="251" y="147"/>
                              </a:lnTo>
                              <a:lnTo>
                                <a:pt x="98" y="231"/>
                              </a:lnTo>
                              <a:lnTo>
                                <a:pt x="62" y="247"/>
                              </a:lnTo>
                              <a:lnTo>
                                <a:pt x="55" y="272"/>
                              </a:lnTo>
                              <a:lnTo>
                                <a:pt x="50" y="333"/>
                              </a:lnTo>
                              <a:lnTo>
                                <a:pt x="43" y="504"/>
                              </a:lnTo>
                              <a:lnTo>
                                <a:pt x="14" y="696"/>
                              </a:lnTo>
                              <a:lnTo>
                                <a:pt x="0" y="852"/>
                              </a:lnTo>
                              <a:lnTo>
                                <a:pt x="14" y="972"/>
                              </a:lnTo>
                              <a:lnTo>
                                <a:pt x="50" y="1068"/>
                              </a:lnTo>
                              <a:lnTo>
                                <a:pt x="179" y="1215"/>
                              </a:lnTo>
                              <a:lnTo>
                                <a:pt x="193" y="1706"/>
                              </a:lnTo>
                              <a:lnTo>
                                <a:pt x="265" y="1802"/>
                              </a:lnTo>
                              <a:lnTo>
                                <a:pt x="365" y="1869"/>
                              </a:lnTo>
                              <a:lnTo>
                                <a:pt x="470" y="1899"/>
                              </a:lnTo>
                              <a:lnTo>
                                <a:pt x="607" y="1899"/>
                              </a:lnTo>
                              <a:lnTo>
                                <a:pt x="607" y="1334"/>
                              </a:lnTo>
                              <a:lnTo>
                                <a:pt x="589" y="1090"/>
                              </a:lnTo>
                              <a:lnTo>
                                <a:pt x="542" y="586"/>
                              </a:lnTo>
                              <a:lnTo>
                                <a:pt x="523" y="355"/>
                              </a:lnTo>
                              <a:lnTo>
                                <a:pt x="516" y="300"/>
                              </a:lnTo>
                              <a:lnTo>
                                <a:pt x="506" y="247"/>
                              </a:lnTo>
                              <a:lnTo>
                                <a:pt x="487" y="146"/>
                              </a:lnTo>
                              <a:lnTo>
                                <a:pt x="479" y="101"/>
                              </a:lnTo>
                              <a:lnTo>
                                <a:pt x="478" y="75"/>
                              </a:lnTo>
                              <a:lnTo>
                                <a:pt x="478" y="43"/>
                              </a:lnTo>
                              <a:lnTo>
                                <a:pt x="485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7F7F7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</p:grpSp>
                  <p:grpSp>
                    <p:nvGrpSpPr>
                      <p:cNvPr id="440" name="Group 219"/>
                      <p:cNvGrpSpPr/>
                      <p:nvPr/>
                    </p:nvGrpSpPr>
                    <p:grpSpPr bwMode="auto">
                      <a:xfrm>
                        <a:off x="5042" y="2323"/>
                        <a:ext cx="115" cy="261"/>
                        <a:chOff x="5042" y="2323"/>
                        <a:chExt cx="115" cy="261"/>
                      </a:xfrm>
                    </p:grpSpPr>
                    <p:sp>
                      <p:nvSpPr>
                        <p:cNvPr id="444" name="Freeform 220"/>
                        <p:cNvSpPr/>
                        <p:nvPr/>
                      </p:nvSpPr>
                      <p:spPr bwMode="auto">
                        <a:xfrm>
                          <a:off x="5042" y="2332"/>
                          <a:ext cx="32" cy="202"/>
                        </a:xfrm>
                        <a:custGeom>
                          <a:avLst/>
                          <a:gdLst>
                            <a:gd name="T0" fmla="*/ 84 w 196"/>
                            <a:gd name="T1" fmla="*/ 0 h 1010"/>
                            <a:gd name="T2" fmla="*/ 36 w 196"/>
                            <a:gd name="T3" fmla="*/ 200 h 1010"/>
                            <a:gd name="T4" fmla="*/ 137 w 196"/>
                            <a:gd name="T5" fmla="*/ 260 h 1010"/>
                            <a:gd name="T6" fmla="*/ 25 w 196"/>
                            <a:gd name="T7" fmla="*/ 331 h 1010"/>
                            <a:gd name="T8" fmla="*/ 196 w 196"/>
                            <a:gd name="T9" fmla="*/ 1010 h 1010"/>
                            <a:gd name="T10" fmla="*/ 0 w 196"/>
                            <a:gd name="T11" fmla="*/ 327 h 1010"/>
                            <a:gd name="T12" fmla="*/ 127 w 196"/>
                            <a:gd name="T13" fmla="*/ 260 h 1010"/>
                            <a:gd name="T14" fmla="*/ 21 w 196"/>
                            <a:gd name="T15" fmla="*/ 218 h 1010"/>
                            <a:gd name="T16" fmla="*/ 84 w 196"/>
                            <a:gd name="T17" fmla="*/ 0 h 1010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</a:cxnLst>
                          <a:rect l="0" t="0" r="r" b="b"/>
                          <a:pathLst>
                            <a:path w="196" h="1010">
                              <a:moveTo>
                                <a:pt x="84" y="0"/>
                              </a:moveTo>
                              <a:lnTo>
                                <a:pt x="36" y="200"/>
                              </a:lnTo>
                              <a:lnTo>
                                <a:pt x="137" y="260"/>
                              </a:lnTo>
                              <a:lnTo>
                                <a:pt x="25" y="331"/>
                              </a:lnTo>
                              <a:lnTo>
                                <a:pt x="196" y="1010"/>
                              </a:lnTo>
                              <a:lnTo>
                                <a:pt x="0" y="327"/>
                              </a:lnTo>
                              <a:lnTo>
                                <a:pt x="127" y="260"/>
                              </a:lnTo>
                              <a:lnTo>
                                <a:pt x="21" y="218"/>
                              </a:lnTo>
                              <a:lnTo>
                                <a:pt x="84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F3F3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  <p:sp>
                      <p:nvSpPr>
                        <p:cNvPr id="445" name="Freeform 221"/>
                        <p:cNvSpPr/>
                        <p:nvPr/>
                      </p:nvSpPr>
                      <p:spPr bwMode="auto">
                        <a:xfrm>
                          <a:off x="5133" y="2323"/>
                          <a:ext cx="24" cy="261"/>
                        </a:xfrm>
                        <a:custGeom>
                          <a:avLst/>
                          <a:gdLst>
                            <a:gd name="T0" fmla="*/ 0 w 142"/>
                            <a:gd name="T1" fmla="*/ 0 h 1303"/>
                            <a:gd name="T2" fmla="*/ 128 w 142"/>
                            <a:gd name="T3" fmla="*/ 211 h 1303"/>
                            <a:gd name="T4" fmla="*/ 55 w 142"/>
                            <a:gd name="T5" fmla="*/ 252 h 1303"/>
                            <a:gd name="T6" fmla="*/ 142 w 142"/>
                            <a:gd name="T7" fmla="*/ 304 h 1303"/>
                            <a:gd name="T8" fmla="*/ 80 w 142"/>
                            <a:gd name="T9" fmla="*/ 1303 h 1303"/>
                            <a:gd name="T10" fmla="*/ 124 w 142"/>
                            <a:gd name="T11" fmla="*/ 296 h 1303"/>
                            <a:gd name="T12" fmla="*/ 44 w 142"/>
                            <a:gd name="T13" fmla="*/ 248 h 1303"/>
                            <a:gd name="T14" fmla="*/ 105 w 142"/>
                            <a:gd name="T15" fmla="*/ 200 h 1303"/>
                            <a:gd name="T16" fmla="*/ 0 w 142"/>
                            <a:gd name="T17" fmla="*/ 0 h 1303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</a:cxnLst>
                          <a:rect l="0" t="0" r="r" b="b"/>
                          <a:pathLst>
                            <a:path w="142" h="1303">
                              <a:moveTo>
                                <a:pt x="0" y="0"/>
                              </a:moveTo>
                              <a:lnTo>
                                <a:pt x="128" y="211"/>
                              </a:lnTo>
                              <a:lnTo>
                                <a:pt x="55" y="252"/>
                              </a:lnTo>
                              <a:lnTo>
                                <a:pt x="142" y="304"/>
                              </a:lnTo>
                              <a:lnTo>
                                <a:pt x="80" y="1303"/>
                              </a:lnTo>
                              <a:lnTo>
                                <a:pt x="124" y="296"/>
                              </a:lnTo>
                              <a:lnTo>
                                <a:pt x="44" y="248"/>
                              </a:lnTo>
                              <a:lnTo>
                                <a:pt x="105" y="200"/>
                              </a:lnTo>
                              <a:lnTo>
                                <a:pt x="0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F3F3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</p:grpSp>
                  <p:sp>
                    <p:nvSpPr>
                      <p:cNvPr id="441" name="Freeform 222"/>
                      <p:cNvSpPr/>
                      <p:nvPr/>
                    </p:nvSpPr>
                    <p:spPr bwMode="auto">
                      <a:xfrm>
                        <a:off x="4986" y="2349"/>
                        <a:ext cx="80" cy="197"/>
                      </a:xfrm>
                      <a:custGeom>
                        <a:avLst/>
                        <a:gdLst>
                          <a:gd name="T0" fmla="*/ 181 w 480"/>
                          <a:gd name="T1" fmla="*/ 42 h 985"/>
                          <a:gd name="T2" fmla="*/ 123 w 480"/>
                          <a:gd name="T3" fmla="*/ 19 h 985"/>
                          <a:gd name="T4" fmla="*/ 98 w 480"/>
                          <a:gd name="T5" fmla="*/ 0 h 985"/>
                          <a:gd name="T6" fmla="*/ 62 w 480"/>
                          <a:gd name="T7" fmla="*/ 16 h 985"/>
                          <a:gd name="T8" fmla="*/ 55 w 480"/>
                          <a:gd name="T9" fmla="*/ 40 h 985"/>
                          <a:gd name="T10" fmla="*/ 50 w 480"/>
                          <a:gd name="T11" fmla="*/ 101 h 985"/>
                          <a:gd name="T12" fmla="*/ 43 w 480"/>
                          <a:gd name="T13" fmla="*/ 273 h 985"/>
                          <a:gd name="T14" fmla="*/ 14 w 480"/>
                          <a:gd name="T15" fmla="*/ 464 h 985"/>
                          <a:gd name="T16" fmla="*/ 0 w 480"/>
                          <a:gd name="T17" fmla="*/ 620 h 985"/>
                          <a:gd name="T18" fmla="*/ 14 w 480"/>
                          <a:gd name="T19" fmla="*/ 741 h 985"/>
                          <a:gd name="T20" fmla="*/ 50 w 480"/>
                          <a:gd name="T21" fmla="*/ 838 h 985"/>
                          <a:gd name="T22" fmla="*/ 179 w 480"/>
                          <a:gd name="T23" fmla="*/ 985 h 985"/>
                          <a:gd name="T24" fmla="*/ 358 w 480"/>
                          <a:gd name="T25" fmla="*/ 948 h 985"/>
                          <a:gd name="T26" fmla="*/ 469 w 480"/>
                          <a:gd name="T27" fmla="*/ 919 h 985"/>
                          <a:gd name="T28" fmla="*/ 480 w 480"/>
                          <a:gd name="T29" fmla="*/ 886 h 985"/>
                          <a:gd name="T30" fmla="*/ 466 w 480"/>
                          <a:gd name="T31" fmla="*/ 861 h 985"/>
                          <a:gd name="T32" fmla="*/ 438 w 480"/>
                          <a:gd name="T33" fmla="*/ 830 h 985"/>
                          <a:gd name="T34" fmla="*/ 407 w 480"/>
                          <a:gd name="T35" fmla="*/ 793 h 985"/>
                          <a:gd name="T36" fmla="*/ 380 w 480"/>
                          <a:gd name="T37" fmla="*/ 764 h 985"/>
                          <a:gd name="T38" fmla="*/ 341 w 480"/>
                          <a:gd name="T39" fmla="*/ 724 h 985"/>
                          <a:gd name="T40" fmla="*/ 316 w 480"/>
                          <a:gd name="T41" fmla="*/ 688 h 985"/>
                          <a:gd name="T42" fmla="*/ 298 w 480"/>
                          <a:gd name="T43" fmla="*/ 656 h 985"/>
                          <a:gd name="T44" fmla="*/ 279 w 480"/>
                          <a:gd name="T45" fmla="*/ 608 h 985"/>
                          <a:gd name="T46" fmla="*/ 273 w 480"/>
                          <a:gd name="T47" fmla="*/ 584 h 985"/>
                          <a:gd name="T48" fmla="*/ 270 w 480"/>
                          <a:gd name="T49" fmla="*/ 560 h 985"/>
                          <a:gd name="T50" fmla="*/ 266 w 480"/>
                          <a:gd name="T51" fmla="*/ 535 h 985"/>
                          <a:gd name="T52" fmla="*/ 267 w 480"/>
                          <a:gd name="T53" fmla="*/ 455 h 985"/>
                          <a:gd name="T54" fmla="*/ 258 w 480"/>
                          <a:gd name="T55" fmla="*/ 306 h 985"/>
                          <a:gd name="T56" fmla="*/ 253 w 480"/>
                          <a:gd name="T57" fmla="*/ 159 h 985"/>
                          <a:gd name="T58" fmla="*/ 223 w 480"/>
                          <a:gd name="T59" fmla="*/ 63 h 985"/>
                          <a:gd name="T60" fmla="*/ 181 w 480"/>
                          <a:gd name="T61" fmla="*/ 42 h 985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</a:cxnLst>
                        <a:rect l="0" t="0" r="r" b="b"/>
                        <a:pathLst>
                          <a:path w="480" h="985">
                            <a:moveTo>
                              <a:pt x="181" y="42"/>
                            </a:moveTo>
                            <a:lnTo>
                              <a:pt x="123" y="19"/>
                            </a:lnTo>
                            <a:lnTo>
                              <a:pt x="98" y="0"/>
                            </a:lnTo>
                            <a:lnTo>
                              <a:pt x="62" y="16"/>
                            </a:lnTo>
                            <a:lnTo>
                              <a:pt x="55" y="40"/>
                            </a:lnTo>
                            <a:lnTo>
                              <a:pt x="50" y="101"/>
                            </a:lnTo>
                            <a:lnTo>
                              <a:pt x="43" y="273"/>
                            </a:lnTo>
                            <a:lnTo>
                              <a:pt x="14" y="464"/>
                            </a:lnTo>
                            <a:lnTo>
                              <a:pt x="0" y="620"/>
                            </a:lnTo>
                            <a:lnTo>
                              <a:pt x="14" y="741"/>
                            </a:lnTo>
                            <a:lnTo>
                              <a:pt x="50" y="838"/>
                            </a:lnTo>
                            <a:lnTo>
                              <a:pt x="179" y="985"/>
                            </a:lnTo>
                            <a:lnTo>
                              <a:pt x="358" y="948"/>
                            </a:lnTo>
                            <a:lnTo>
                              <a:pt x="469" y="919"/>
                            </a:lnTo>
                            <a:lnTo>
                              <a:pt x="480" y="886"/>
                            </a:lnTo>
                            <a:lnTo>
                              <a:pt x="466" y="861"/>
                            </a:lnTo>
                            <a:lnTo>
                              <a:pt x="438" y="830"/>
                            </a:lnTo>
                            <a:lnTo>
                              <a:pt x="407" y="793"/>
                            </a:lnTo>
                            <a:lnTo>
                              <a:pt x="380" y="764"/>
                            </a:lnTo>
                            <a:lnTo>
                              <a:pt x="341" y="724"/>
                            </a:lnTo>
                            <a:lnTo>
                              <a:pt x="316" y="688"/>
                            </a:lnTo>
                            <a:lnTo>
                              <a:pt x="298" y="656"/>
                            </a:lnTo>
                            <a:lnTo>
                              <a:pt x="279" y="608"/>
                            </a:lnTo>
                            <a:lnTo>
                              <a:pt x="273" y="584"/>
                            </a:lnTo>
                            <a:lnTo>
                              <a:pt x="270" y="560"/>
                            </a:lnTo>
                            <a:lnTo>
                              <a:pt x="266" y="535"/>
                            </a:lnTo>
                            <a:lnTo>
                              <a:pt x="267" y="455"/>
                            </a:lnTo>
                            <a:lnTo>
                              <a:pt x="258" y="306"/>
                            </a:lnTo>
                            <a:lnTo>
                              <a:pt x="253" y="159"/>
                            </a:lnTo>
                            <a:lnTo>
                              <a:pt x="223" y="63"/>
                            </a:lnTo>
                            <a:lnTo>
                              <a:pt x="181" y="42"/>
                            </a:lnTo>
                            <a:close/>
                          </a:path>
                        </a:pathLst>
                      </a:custGeom>
                      <a:solidFill>
                        <a:srgbClr val="5F5F5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442" name="Freeform 223"/>
                      <p:cNvSpPr/>
                      <p:nvPr/>
                    </p:nvSpPr>
                    <p:spPr bwMode="auto">
                      <a:xfrm>
                        <a:off x="4994" y="2392"/>
                        <a:ext cx="47" cy="101"/>
                      </a:xfrm>
                      <a:custGeom>
                        <a:avLst/>
                        <a:gdLst>
                          <a:gd name="T0" fmla="*/ 2 w 281"/>
                          <a:gd name="T1" fmla="*/ 508 h 508"/>
                          <a:gd name="T2" fmla="*/ 0 w 281"/>
                          <a:gd name="T3" fmla="*/ 458 h 508"/>
                          <a:gd name="T4" fmla="*/ 5 w 281"/>
                          <a:gd name="T5" fmla="*/ 428 h 508"/>
                          <a:gd name="T6" fmla="*/ 11 w 281"/>
                          <a:gd name="T7" fmla="*/ 393 h 508"/>
                          <a:gd name="T8" fmla="*/ 20 w 281"/>
                          <a:gd name="T9" fmla="*/ 371 h 508"/>
                          <a:gd name="T10" fmla="*/ 35 w 281"/>
                          <a:gd name="T11" fmla="*/ 348 h 508"/>
                          <a:gd name="T12" fmla="*/ 54 w 281"/>
                          <a:gd name="T13" fmla="*/ 332 h 508"/>
                          <a:gd name="T14" fmla="*/ 89 w 281"/>
                          <a:gd name="T15" fmla="*/ 315 h 508"/>
                          <a:gd name="T16" fmla="*/ 113 w 281"/>
                          <a:gd name="T17" fmla="*/ 312 h 508"/>
                          <a:gd name="T18" fmla="*/ 137 w 281"/>
                          <a:gd name="T19" fmla="*/ 308 h 508"/>
                          <a:gd name="T20" fmla="*/ 163 w 281"/>
                          <a:gd name="T21" fmla="*/ 312 h 508"/>
                          <a:gd name="T22" fmla="*/ 201 w 281"/>
                          <a:gd name="T23" fmla="*/ 322 h 508"/>
                          <a:gd name="T24" fmla="*/ 202 w 281"/>
                          <a:gd name="T25" fmla="*/ 0 h 508"/>
                          <a:gd name="T26" fmla="*/ 220 w 281"/>
                          <a:gd name="T27" fmla="*/ 286 h 508"/>
                          <a:gd name="T28" fmla="*/ 220 w 281"/>
                          <a:gd name="T29" fmla="*/ 330 h 508"/>
                          <a:gd name="T30" fmla="*/ 224 w 281"/>
                          <a:gd name="T31" fmla="*/ 366 h 508"/>
                          <a:gd name="T32" fmla="*/ 232 w 281"/>
                          <a:gd name="T33" fmla="*/ 395 h 508"/>
                          <a:gd name="T34" fmla="*/ 247 w 281"/>
                          <a:gd name="T35" fmla="*/ 435 h 508"/>
                          <a:gd name="T36" fmla="*/ 271 w 281"/>
                          <a:gd name="T37" fmla="*/ 481 h 508"/>
                          <a:gd name="T38" fmla="*/ 281 w 281"/>
                          <a:gd name="T39" fmla="*/ 502 h 508"/>
                          <a:gd name="T40" fmla="*/ 245 w 281"/>
                          <a:gd name="T41" fmla="*/ 458 h 508"/>
                          <a:gd name="T42" fmla="*/ 224 w 281"/>
                          <a:gd name="T43" fmla="*/ 428 h 508"/>
                          <a:gd name="T44" fmla="*/ 199 w 281"/>
                          <a:gd name="T45" fmla="*/ 393 h 508"/>
                          <a:gd name="T46" fmla="*/ 173 w 281"/>
                          <a:gd name="T47" fmla="*/ 375 h 508"/>
                          <a:gd name="T48" fmla="*/ 149 w 281"/>
                          <a:gd name="T49" fmla="*/ 369 h 508"/>
                          <a:gd name="T50" fmla="*/ 124 w 281"/>
                          <a:gd name="T51" fmla="*/ 366 h 508"/>
                          <a:gd name="T52" fmla="*/ 92 w 281"/>
                          <a:gd name="T53" fmla="*/ 375 h 508"/>
                          <a:gd name="T54" fmla="*/ 66 w 281"/>
                          <a:gd name="T55" fmla="*/ 393 h 508"/>
                          <a:gd name="T56" fmla="*/ 48 w 281"/>
                          <a:gd name="T57" fmla="*/ 419 h 508"/>
                          <a:gd name="T58" fmla="*/ 34 w 281"/>
                          <a:gd name="T59" fmla="*/ 448 h 508"/>
                          <a:gd name="T60" fmla="*/ 18 w 281"/>
                          <a:gd name="T61" fmla="*/ 472 h 508"/>
                          <a:gd name="T62" fmla="*/ 2 w 281"/>
                          <a:gd name="T63" fmla="*/ 508 h 508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</a:cxnLst>
                        <a:rect l="0" t="0" r="r" b="b"/>
                        <a:pathLst>
                          <a:path w="281" h="508">
                            <a:moveTo>
                              <a:pt x="2" y="508"/>
                            </a:moveTo>
                            <a:lnTo>
                              <a:pt x="0" y="458"/>
                            </a:lnTo>
                            <a:lnTo>
                              <a:pt x="5" y="428"/>
                            </a:lnTo>
                            <a:lnTo>
                              <a:pt x="11" y="393"/>
                            </a:lnTo>
                            <a:lnTo>
                              <a:pt x="20" y="371"/>
                            </a:lnTo>
                            <a:lnTo>
                              <a:pt x="35" y="348"/>
                            </a:lnTo>
                            <a:lnTo>
                              <a:pt x="54" y="332"/>
                            </a:lnTo>
                            <a:lnTo>
                              <a:pt x="89" y="315"/>
                            </a:lnTo>
                            <a:lnTo>
                              <a:pt x="113" y="312"/>
                            </a:lnTo>
                            <a:lnTo>
                              <a:pt x="137" y="308"/>
                            </a:lnTo>
                            <a:lnTo>
                              <a:pt x="163" y="312"/>
                            </a:lnTo>
                            <a:lnTo>
                              <a:pt x="201" y="322"/>
                            </a:lnTo>
                            <a:lnTo>
                              <a:pt x="202" y="0"/>
                            </a:lnTo>
                            <a:lnTo>
                              <a:pt x="220" y="286"/>
                            </a:lnTo>
                            <a:lnTo>
                              <a:pt x="220" y="330"/>
                            </a:lnTo>
                            <a:lnTo>
                              <a:pt x="224" y="366"/>
                            </a:lnTo>
                            <a:lnTo>
                              <a:pt x="232" y="395"/>
                            </a:lnTo>
                            <a:lnTo>
                              <a:pt x="247" y="435"/>
                            </a:lnTo>
                            <a:lnTo>
                              <a:pt x="271" y="481"/>
                            </a:lnTo>
                            <a:lnTo>
                              <a:pt x="281" y="502"/>
                            </a:lnTo>
                            <a:lnTo>
                              <a:pt x="245" y="458"/>
                            </a:lnTo>
                            <a:lnTo>
                              <a:pt x="224" y="428"/>
                            </a:lnTo>
                            <a:lnTo>
                              <a:pt x="199" y="393"/>
                            </a:lnTo>
                            <a:lnTo>
                              <a:pt x="173" y="375"/>
                            </a:lnTo>
                            <a:lnTo>
                              <a:pt x="149" y="369"/>
                            </a:lnTo>
                            <a:lnTo>
                              <a:pt x="124" y="366"/>
                            </a:lnTo>
                            <a:lnTo>
                              <a:pt x="92" y="375"/>
                            </a:lnTo>
                            <a:lnTo>
                              <a:pt x="66" y="393"/>
                            </a:lnTo>
                            <a:lnTo>
                              <a:pt x="48" y="419"/>
                            </a:lnTo>
                            <a:lnTo>
                              <a:pt x="34" y="448"/>
                            </a:lnTo>
                            <a:lnTo>
                              <a:pt x="18" y="472"/>
                            </a:lnTo>
                            <a:lnTo>
                              <a:pt x="2" y="508"/>
                            </a:lnTo>
                            <a:close/>
                          </a:path>
                        </a:pathLst>
                      </a:custGeom>
                      <a:solidFill>
                        <a:srgbClr val="3F3F3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443" name="Freeform 224"/>
                      <p:cNvSpPr/>
                      <p:nvPr/>
                    </p:nvSpPr>
                    <p:spPr bwMode="auto">
                      <a:xfrm>
                        <a:off x="5174" y="2348"/>
                        <a:ext cx="29" cy="296"/>
                      </a:xfrm>
                      <a:custGeom>
                        <a:avLst/>
                        <a:gdLst>
                          <a:gd name="T0" fmla="*/ 4 w 174"/>
                          <a:gd name="T1" fmla="*/ 57 h 1482"/>
                          <a:gd name="T2" fmla="*/ 32 w 174"/>
                          <a:gd name="T3" fmla="*/ 15 h 1482"/>
                          <a:gd name="T4" fmla="*/ 70 w 174"/>
                          <a:gd name="T5" fmla="*/ 0 h 1482"/>
                          <a:gd name="T6" fmla="*/ 84 w 174"/>
                          <a:gd name="T7" fmla="*/ 13 h 1482"/>
                          <a:gd name="T8" fmla="*/ 98 w 174"/>
                          <a:gd name="T9" fmla="*/ 32 h 1482"/>
                          <a:gd name="T10" fmla="*/ 107 w 174"/>
                          <a:gd name="T11" fmla="*/ 58 h 1482"/>
                          <a:gd name="T12" fmla="*/ 115 w 174"/>
                          <a:gd name="T13" fmla="*/ 116 h 1482"/>
                          <a:gd name="T14" fmla="*/ 123 w 174"/>
                          <a:gd name="T15" fmla="*/ 235 h 1482"/>
                          <a:gd name="T16" fmla="*/ 138 w 174"/>
                          <a:gd name="T17" fmla="*/ 917 h 1482"/>
                          <a:gd name="T18" fmla="*/ 174 w 174"/>
                          <a:gd name="T19" fmla="*/ 1445 h 1482"/>
                          <a:gd name="T20" fmla="*/ 65 w 174"/>
                          <a:gd name="T21" fmla="*/ 1482 h 1482"/>
                          <a:gd name="T22" fmla="*/ 44 w 174"/>
                          <a:gd name="T23" fmla="*/ 1371 h 1482"/>
                          <a:gd name="T24" fmla="*/ 14 w 174"/>
                          <a:gd name="T25" fmla="*/ 906 h 1482"/>
                          <a:gd name="T26" fmla="*/ 7 w 174"/>
                          <a:gd name="T27" fmla="*/ 283 h 1482"/>
                          <a:gd name="T28" fmla="*/ 0 w 174"/>
                          <a:gd name="T29" fmla="*/ 127 h 1482"/>
                          <a:gd name="T30" fmla="*/ 4 w 174"/>
                          <a:gd name="T31" fmla="*/ 57 h 1482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</a:cxnLst>
                        <a:rect l="0" t="0" r="r" b="b"/>
                        <a:pathLst>
                          <a:path w="174" h="1482">
                            <a:moveTo>
                              <a:pt x="4" y="57"/>
                            </a:moveTo>
                            <a:lnTo>
                              <a:pt x="32" y="15"/>
                            </a:lnTo>
                            <a:lnTo>
                              <a:pt x="70" y="0"/>
                            </a:lnTo>
                            <a:lnTo>
                              <a:pt x="84" y="13"/>
                            </a:lnTo>
                            <a:lnTo>
                              <a:pt x="98" y="32"/>
                            </a:lnTo>
                            <a:lnTo>
                              <a:pt x="107" y="58"/>
                            </a:lnTo>
                            <a:lnTo>
                              <a:pt x="115" y="116"/>
                            </a:lnTo>
                            <a:lnTo>
                              <a:pt x="123" y="235"/>
                            </a:lnTo>
                            <a:lnTo>
                              <a:pt x="138" y="917"/>
                            </a:lnTo>
                            <a:lnTo>
                              <a:pt x="174" y="1445"/>
                            </a:lnTo>
                            <a:lnTo>
                              <a:pt x="65" y="1482"/>
                            </a:lnTo>
                            <a:lnTo>
                              <a:pt x="44" y="1371"/>
                            </a:lnTo>
                            <a:lnTo>
                              <a:pt x="14" y="906"/>
                            </a:lnTo>
                            <a:lnTo>
                              <a:pt x="7" y="283"/>
                            </a:lnTo>
                            <a:lnTo>
                              <a:pt x="0" y="127"/>
                            </a:lnTo>
                            <a:lnTo>
                              <a:pt x="4" y="57"/>
                            </a:lnTo>
                            <a:close/>
                          </a:path>
                        </a:pathLst>
                      </a:custGeom>
                      <a:solidFill>
                        <a:srgbClr val="5F5F5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</p:grpSp>
            </p:grpSp>
            <p:grpSp>
              <p:nvGrpSpPr>
                <p:cNvPr id="396" name="Group 225"/>
                <p:cNvGrpSpPr/>
                <p:nvPr/>
              </p:nvGrpSpPr>
              <p:grpSpPr bwMode="auto">
                <a:xfrm>
                  <a:off x="5060" y="2206"/>
                  <a:ext cx="84" cy="138"/>
                  <a:chOff x="5060" y="2206"/>
                  <a:chExt cx="84" cy="138"/>
                </a:xfrm>
              </p:grpSpPr>
              <p:sp>
                <p:nvSpPr>
                  <p:cNvPr id="397" name="Freeform 226"/>
                  <p:cNvSpPr/>
                  <p:nvPr/>
                </p:nvSpPr>
                <p:spPr bwMode="auto">
                  <a:xfrm>
                    <a:off x="5060" y="2207"/>
                    <a:ext cx="80" cy="137"/>
                  </a:xfrm>
                  <a:custGeom>
                    <a:avLst/>
                    <a:gdLst>
                      <a:gd name="T0" fmla="*/ 26 w 481"/>
                      <a:gd name="T1" fmla="*/ 244 h 683"/>
                      <a:gd name="T2" fmla="*/ 6 w 481"/>
                      <a:gd name="T3" fmla="*/ 257 h 683"/>
                      <a:gd name="T4" fmla="*/ 0 w 481"/>
                      <a:gd name="T5" fmla="*/ 272 h 683"/>
                      <a:gd name="T6" fmla="*/ 2 w 481"/>
                      <a:gd name="T7" fmla="*/ 285 h 683"/>
                      <a:gd name="T8" fmla="*/ 7 w 481"/>
                      <a:gd name="T9" fmla="*/ 320 h 683"/>
                      <a:gd name="T10" fmla="*/ 17 w 481"/>
                      <a:gd name="T11" fmla="*/ 352 h 683"/>
                      <a:gd name="T12" fmla="*/ 27 w 481"/>
                      <a:gd name="T13" fmla="*/ 379 h 683"/>
                      <a:gd name="T14" fmla="*/ 27 w 481"/>
                      <a:gd name="T15" fmla="*/ 400 h 683"/>
                      <a:gd name="T16" fmla="*/ 34 w 481"/>
                      <a:gd name="T17" fmla="*/ 416 h 683"/>
                      <a:gd name="T18" fmla="*/ 46 w 481"/>
                      <a:gd name="T19" fmla="*/ 424 h 683"/>
                      <a:gd name="T20" fmla="*/ 50 w 481"/>
                      <a:gd name="T21" fmla="*/ 427 h 683"/>
                      <a:gd name="T22" fmla="*/ 38 w 481"/>
                      <a:gd name="T23" fmla="*/ 494 h 683"/>
                      <a:gd name="T24" fmla="*/ 60 w 481"/>
                      <a:gd name="T25" fmla="*/ 540 h 683"/>
                      <a:gd name="T26" fmla="*/ 85 w 481"/>
                      <a:gd name="T27" fmla="*/ 576 h 683"/>
                      <a:gd name="T28" fmla="*/ 125 w 481"/>
                      <a:gd name="T29" fmla="*/ 614 h 683"/>
                      <a:gd name="T30" fmla="*/ 179 w 481"/>
                      <a:gd name="T31" fmla="*/ 662 h 683"/>
                      <a:gd name="T32" fmla="*/ 236 w 481"/>
                      <a:gd name="T33" fmla="*/ 681 h 683"/>
                      <a:gd name="T34" fmla="*/ 290 w 481"/>
                      <a:gd name="T35" fmla="*/ 683 h 683"/>
                      <a:gd name="T36" fmla="*/ 328 w 481"/>
                      <a:gd name="T37" fmla="*/ 659 h 683"/>
                      <a:gd name="T38" fmla="*/ 362 w 481"/>
                      <a:gd name="T39" fmla="*/ 613 h 683"/>
                      <a:gd name="T40" fmla="*/ 377 w 481"/>
                      <a:gd name="T41" fmla="*/ 576 h 683"/>
                      <a:gd name="T42" fmla="*/ 381 w 481"/>
                      <a:gd name="T43" fmla="*/ 542 h 683"/>
                      <a:gd name="T44" fmla="*/ 403 w 481"/>
                      <a:gd name="T45" fmla="*/ 505 h 683"/>
                      <a:gd name="T46" fmla="*/ 411 w 481"/>
                      <a:gd name="T47" fmla="*/ 489 h 683"/>
                      <a:gd name="T48" fmla="*/ 416 w 481"/>
                      <a:gd name="T49" fmla="*/ 472 h 683"/>
                      <a:gd name="T50" fmla="*/ 428 w 481"/>
                      <a:gd name="T51" fmla="*/ 436 h 683"/>
                      <a:gd name="T52" fmla="*/ 438 w 481"/>
                      <a:gd name="T53" fmla="*/ 398 h 683"/>
                      <a:gd name="T54" fmla="*/ 446 w 481"/>
                      <a:gd name="T55" fmla="*/ 372 h 683"/>
                      <a:gd name="T56" fmla="*/ 456 w 481"/>
                      <a:gd name="T57" fmla="*/ 345 h 683"/>
                      <a:gd name="T58" fmla="*/ 465 w 481"/>
                      <a:gd name="T59" fmla="*/ 309 h 683"/>
                      <a:gd name="T60" fmla="*/ 478 w 481"/>
                      <a:gd name="T61" fmla="*/ 230 h 683"/>
                      <a:gd name="T62" fmla="*/ 481 w 481"/>
                      <a:gd name="T63" fmla="*/ 184 h 683"/>
                      <a:gd name="T64" fmla="*/ 474 w 481"/>
                      <a:gd name="T65" fmla="*/ 144 h 683"/>
                      <a:gd name="T66" fmla="*/ 460 w 481"/>
                      <a:gd name="T67" fmla="*/ 109 h 683"/>
                      <a:gd name="T68" fmla="*/ 437 w 481"/>
                      <a:gd name="T69" fmla="*/ 74 h 683"/>
                      <a:gd name="T70" fmla="*/ 420 w 481"/>
                      <a:gd name="T71" fmla="*/ 58 h 683"/>
                      <a:gd name="T72" fmla="*/ 408 w 481"/>
                      <a:gd name="T73" fmla="*/ 48 h 683"/>
                      <a:gd name="T74" fmla="*/ 376 w 481"/>
                      <a:gd name="T75" fmla="*/ 26 h 683"/>
                      <a:gd name="T76" fmla="*/ 344 w 481"/>
                      <a:gd name="T77" fmla="*/ 11 h 683"/>
                      <a:gd name="T78" fmla="*/ 308 w 481"/>
                      <a:gd name="T79" fmla="*/ 3 h 683"/>
                      <a:gd name="T80" fmla="*/ 279 w 481"/>
                      <a:gd name="T81" fmla="*/ 0 h 683"/>
                      <a:gd name="T82" fmla="*/ 235 w 481"/>
                      <a:gd name="T83" fmla="*/ 1 h 683"/>
                      <a:gd name="T84" fmla="*/ 189 w 481"/>
                      <a:gd name="T85" fmla="*/ 12 h 683"/>
                      <a:gd name="T86" fmla="*/ 155 w 481"/>
                      <a:gd name="T87" fmla="*/ 26 h 683"/>
                      <a:gd name="T88" fmla="*/ 126 w 481"/>
                      <a:gd name="T89" fmla="*/ 45 h 683"/>
                      <a:gd name="T90" fmla="*/ 104 w 481"/>
                      <a:gd name="T91" fmla="*/ 63 h 683"/>
                      <a:gd name="T92" fmla="*/ 85 w 481"/>
                      <a:gd name="T93" fmla="*/ 89 h 683"/>
                      <a:gd name="T94" fmla="*/ 68 w 481"/>
                      <a:gd name="T95" fmla="*/ 116 h 683"/>
                      <a:gd name="T96" fmla="*/ 50 w 481"/>
                      <a:gd name="T97" fmla="*/ 149 h 683"/>
                      <a:gd name="T98" fmla="*/ 42 w 481"/>
                      <a:gd name="T99" fmla="*/ 174 h 683"/>
                      <a:gd name="T100" fmla="*/ 33 w 481"/>
                      <a:gd name="T101" fmla="*/ 207 h 683"/>
                      <a:gd name="T102" fmla="*/ 26 w 481"/>
                      <a:gd name="T103" fmla="*/ 244 h 68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</a:cxnLst>
                    <a:rect l="0" t="0" r="r" b="b"/>
                    <a:pathLst>
                      <a:path w="481" h="683">
                        <a:moveTo>
                          <a:pt x="26" y="244"/>
                        </a:moveTo>
                        <a:lnTo>
                          <a:pt x="6" y="257"/>
                        </a:lnTo>
                        <a:lnTo>
                          <a:pt x="0" y="272"/>
                        </a:lnTo>
                        <a:lnTo>
                          <a:pt x="2" y="285"/>
                        </a:lnTo>
                        <a:lnTo>
                          <a:pt x="7" y="320"/>
                        </a:lnTo>
                        <a:lnTo>
                          <a:pt x="17" y="352"/>
                        </a:lnTo>
                        <a:lnTo>
                          <a:pt x="27" y="379"/>
                        </a:lnTo>
                        <a:lnTo>
                          <a:pt x="27" y="400"/>
                        </a:lnTo>
                        <a:lnTo>
                          <a:pt x="34" y="416"/>
                        </a:lnTo>
                        <a:lnTo>
                          <a:pt x="46" y="424"/>
                        </a:lnTo>
                        <a:lnTo>
                          <a:pt x="50" y="427"/>
                        </a:lnTo>
                        <a:lnTo>
                          <a:pt x="38" y="494"/>
                        </a:lnTo>
                        <a:lnTo>
                          <a:pt x="60" y="540"/>
                        </a:lnTo>
                        <a:lnTo>
                          <a:pt x="85" y="576"/>
                        </a:lnTo>
                        <a:lnTo>
                          <a:pt x="125" y="614"/>
                        </a:lnTo>
                        <a:lnTo>
                          <a:pt x="179" y="662"/>
                        </a:lnTo>
                        <a:lnTo>
                          <a:pt x="236" y="681"/>
                        </a:lnTo>
                        <a:lnTo>
                          <a:pt x="290" y="683"/>
                        </a:lnTo>
                        <a:lnTo>
                          <a:pt x="328" y="659"/>
                        </a:lnTo>
                        <a:lnTo>
                          <a:pt x="362" y="613"/>
                        </a:lnTo>
                        <a:lnTo>
                          <a:pt x="377" y="576"/>
                        </a:lnTo>
                        <a:lnTo>
                          <a:pt x="381" y="542"/>
                        </a:lnTo>
                        <a:lnTo>
                          <a:pt x="403" y="505"/>
                        </a:lnTo>
                        <a:lnTo>
                          <a:pt x="411" y="489"/>
                        </a:lnTo>
                        <a:lnTo>
                          <a:pt x="416" y="472"/>
                        </a:lnTo>
                        <a:lnTo>
                          <a:pt x="428" y="436"/>
                        </a:lnTo>
                        <a:lnTo>
                          <a:pt x="438" y="398"/>
                        </a:lnTo>
                        <a:lnTo>
                          <a:pt x="446" y="372"/>
                        </a:lnTo>
                        <a:lnTo>
                          <a:pt x="456" y="345"/>
                        </a:lnTo>
                        <a:lnTo>
                          <a:pt x="465" y="309"/>
                        </a:lnTo>
                        <a:lnTo>
                          <a:pt x="478" y="230"/>
                        </a:lnTo>
                        <a:lnTo>
                          <a:pt x="481" y="184"/>
                        </a:lnTo>
                        <a:lnTo>
                          <a:pt x="474" y="144"/>
                        </a:lnTo>
                        <a:lnTo>
                          <a:pt x="460" y="109"/>
                        </a:lnTo>
                        <a:lnTo>
                          <a:pt x="437" y="74"/>
                        </a:lnTo>
                        <a:lnTo>
                          <a:pt x="420" y="58"/>
                        </a:lnTo>
                        <a:lnTo>
                          <a:pt x="408" y="48"/>
                        </a:lnTo>
                        <a:lnTo>
                          <a:pt x="376" y="26"/>
                        </a:lnTo>
                        <a:lnTo>
                          <a:pt x="344" y="11"/>
                        </a:lnTo>
                        <a:lnTo>
                          <a:pt x="308" y="3"/>
                        </a:lnTo>
                        <a:lnTo>
                          <a:pt x="279" y="0"/>
                        </a:lnTo>
                        <a:lnTo>
                          <a:pt x="235" y="1"/>
                        </a:lnTo>
                        <a:lnTo>
                          <a:pt x="189" y="12"/>
                        </a:lnTo>
                        <a:lnTo>
                          <a:pt x="155" y="26"/>
                        </a:lnTo>
                        <a:lnTo>
                          <a:pt x="126" y="45"/>
                        </a:lnTo>
                        <a:lnTo>
                          <a:pt x="104" y="63"/>
                        </a:lnTo>
                        <a:lnTo>
                          <a:pt x="85" y="89"/>
                        </a:lnTo>
                        <a:lnTo>
                          <a:pt x="68" y="116"/>
                        </a:lnTo>
                        <a:lnTo>
                          <a:pt x="50" y="149"/>
                        </a:lnTo>
                        <a:lnTo>
                          <a:pt x="42" y="174"/>
                        </a:lnTo>
                        <a:lnTo>
                          <a:pt x="33" y="207"/>
                        </a:lnTo>
                        <a:lnTo>
                          <a:pt x="26" y="244"/>
                        </a:lnTo>
                        <a:close/>
                      </a:path>
                    </a:pathLst>
                  </a:custGeom>
                  <a:solidFill>
                    <a:srgbClr val="FF9F7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98" name="Freeform 227"/>
                  <p:cNvSpPr/>
                  <p:nvPr/>
                </p:nvSpPr>
                <p:spPr bwMode="auto">
                  <a:xfrm>
                    <a:off x="5114" y="2299"/>
                    <a:ext cx="5" cy="4"/>
                  </a:xfrm>
                  <a:custGeom>
                    <a:avLst/>
                    <a:gdLst>
                      <a:gd name="T0" fmla="*/ 1 w 32"/>
                      <a:gd name="T1" fmla="*/ 20 h 20"/>
                      <a:gd name="T2" fmla="*/ 20 w 32"/>
                      <a:gd name="T3" fmla="*/ 8 h 20"/>
                      <a:gd name="T4" fmla="*/ 32 w 32"/>
                      <a:gd name="T5" fmla="*/ 0 h 20"/>
                      <a:gd name="T6" fmla="*/ 15 w 32"/>
                      <a:gd name="T7" fmla="*/ 1 h 20"/>
                      <a:gd name="T8" fmla="*/ 0 w 32"/>
                      <a:gd name="T9" fmla="*/ 4 h 20"/>
                      <a:gd name="T10" fmla="*/ 1 w 32"/>
                      <a:gd name="T11" fmla="*/ 20 h 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32" h="20">
                        <a:moveTo>
                          <a:pt x="1" y="20"/>
                        </a:moveTo>
                        <a:lnTo>
                          <a:pt x="20" y="8"/>
                        </a:lnTo>
                        <a:lnTo>
                          <a:pt x="32" y="0"/>
                        </a:lnTo>
                        <a:lnTo>
                          <a:pt x="15" y="1"/>
                        </a:lnTo>
                        <a:lnTo>
                          <a:pt x="0" y="4"/>
                        </a:lnTo>
                        <a:lnTo>
                          <a:pt x="1" y="2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99" name="Freeform 228"/>
                  <p:cNvSpPr/>
                  <p:nvPr/>
                </p:nvSpPr>
                <p:spPr bwMode="auto">
                  <a:xfrm>
                    <a:off x="5102" y="2303"/>
                    <a:ext cx="8" cy="4"/>
                  </a:xfrm>
                  <a:custGeom>
                    <a:avLst/>
                    <a:gdLst>
                      <a:gd name="T0" fmla="*/ 0 w 43"/>
                      <a:gd name="T1" fmla="*/ 0 h 21"/>
                      <a:gd name="T2" fmla="*/ 21 w 43"/>
                      <a:gd name="T3" fmla="*/ 14 h 21"/>
                      <a:gd name="T4" fmla="*/ 29 w 43"/>
                      <a:gd name="T5" fmla="*/ 21 h 21"/>
                      <a:gd name="T6" fmla="*/ 39 w 43"/>
                      <a:gd name="T7" fmla="*/ 18 h 21"/>
                      <a:gd name="T8" fmla="*/ 43 w 43"/>
                      <a:gd name="T9" fmla="*/ 7 h 21"/>
                      <a:gd name="T10" fmla="*/ 0 w 43"/>
                      <a:gd name="T11" fmla="*/ 0 h 2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43" h="21">
                        <a:moveTo>
                          <a:pt x="0" y="0"/>
                        </a:moveTo>
                        <a:lnTo>
                          <a:pt x="21" y="14"/>
                        </a:lnTo>
                        <a:lnTo>
                          <a:pt x="29" y="21"/>
                        </a:lnTo>
                        <a:lnTo>
                          <a:pt x="39" y="18"/>
                        </a:lnTo>
                        <a:lnTo>
                          <a:pt x="43" y="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BF7F3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400" name="Freeform 229"/>
                  <p:cNvSpPr/>
                  <p:nvPr/>
                </p:nvSpPr>
                <p:spPr bwMode="auto">
                  <a:xfrm>
                    <a:off x="5095" y="2297"/>
                    <a:ext cx="20" cy="8"/>
                  </a:xfrm>
                  <a:custGeom>
                    <a:avLst/>
                    <a:gdLst>
                      <a:gd name="T0" fmla="*/ 0 w 122"/>
                      <a:gd name="T1" fmla="*/ 3 h 39"/>
                      <a:gd name="T2" fmla="*/ 58 w 122"/>
                      <a:gd name="T3" fmla="*/ 0 h 39"/>
                      <a:gd name="T4" fmla="*/ 79 w 122"/>
                      <a:gd name="T5" fmla="*/ 2 h 39"/>
                      <a:gd name="T6" fmla="*/ 106 w 122"/>
                      <a:gd name="T7" fmla="*/ 11 h 39"/>
                      <a:gd name="T8" fmla="*/ 122 w 122"/>
                      <a:gd name="T9" fmla="*/ 12 h 39"/>
                      <a:gd name="T10" fmla="*/ 121 w 122"/>
                      <a:gd name="T11" fmla="*/ 31 h 39"/>
                      <a:gd name="T12" fmla="*/ 100 w 122"/>
                      <a:gd name="T13" fmla="*/ 36 h 39"/>
                      <a:gd name="T14" fmla="*/ 86 w 122"/>
                      <a:gd name="T15" fmla="*/ 39 h 39"/>
                      <a:gd name="T16" fmla="*/ 70 w 122"/>
                      <a:gd name="T17" fmla="*/ 38 h 39"/>
                      <a:gd name="T18" fmla="*/ 50 w 122"/>
                      <a:gd name="T19" fmla="*/ 34 h 39"/>
                      <a:gd name="T20" fmla="*/ 39 w 122"/>
                      <a:gd name="T21" fmla="*/ 31 h 39"/>
                      <a:gd name="T22" fmla="*/ 21 w 122"/>
                      <a:gd name="T23" fmla="*/ 23 h 39"/>
                      <a:gd name="T24" fmla="*/ 7 w 122"/>
                      <a:gd name="T25" fmla="*/ 17 h 39"/>
                      <a:gd name="T26" fmla="*/ 0 w 122"/>
                      <a:gd name="T27" fmla="*/ 3 h 3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122" h="39">
                        <a:moveTo>
                          <a:pt x="0" y="3"/>
                        </a:moveTo>
                        <a:lnTo>
                          <a:pt x="58" y="0"/>
                        </a:lnTo>
                        <a:lnTo>
                          <a:pt x="79" y="2"/>
                        </a:lnTo>
                        <a:lnTo>
                          <a:pt x="106" y="11"/>
                        </a:lnTo>
                        <a:lnTo>
                          <a:pt x="122" y="12"/>
                        </a:lnTo>
                        <a:lnTo>
                          <a:pt x="121" y="31"/>
                        </a:lnTo>
                        <a:lnTo>
                          <a:pt x="100" y="36"/>
                        </a:lnTo>
                        <a:lnTo>
                          <a:pt x="86" y="39"/>
                        </a:lnTo>
                        <a:lnTo>
                          <a:pt x="70" y="38"/>
                        </a:lnTo>
                        <a:lnTo>
                          <a:pt x="50" y="34"/>
                        </a:lnTo>
                        <a:lnTo>
                          <a:pt x="39" y="31"/>
                        </a:lnTo>
                        <a:lnTo>
                          <a:pt x="21" y="23"/>
                        </a:lnTo>
                        <a:lnTo>
                          <a:pt x="7" y="17"/>
                        </a:lnTo>
                        <a:lnTo>
                          <a:pt x="0" y="3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401" name="Freeform 230"/>
                  <p:cNvSpPr/>
                  <p:nvPr/>
                </p:nvSpPr>
                <p:spPr bwMode="auto">
                  <a:xfrm>
                    <a:off x="5091" y="2279"/>
                    <a:ext cx="29" cy="22"/>
                  </a:xfrm>
                  <a:custGeom>
                    <a:avLst/>
                    <a:gdLst>
                      <a:gd name="T0" fmla="*/ 65 w 171"/>
                      <a:gd name="T1" fmla="*/ 0 h 112"/>
                      <a:gd name="T2" fmla="*/ 48 w 171"/>
                      <a:gd name="T3" fmla="*/ 12 h 112"/>
                      <a:gd name="T4" fmla="*/ 34 w 171"/>
                      <a:gd name="T5" fmla="*/ 27 h 112"/>
                      <a:gd name="T6" fmla="*/ 21 w 171"/>
                      <a:gd name="T7" fmla="*/ 43 h 112"/>
                      <a:gd name="T8" fmla="*/ 11 w 171"/>
                      <a:gd name="T9" fmla="*/ 57 h 112"/>
                      <a:gd name="T10" fmla="*/ 4 w 171"/>
                      <a:gd name="T11" fmla="*/ 73 h 112"/>
                      <a:gd name="T12" fmla="*/ 2 w 171"/>
                      <a:gd name="T13" fmla="*/ 93 h 112"/>
                      <a:gd name="T14" fmla="*/ 0 w 171"/>
                      <a:gd name="T15" fmla="*/ 103 h 112"/>
                      <a:gd name="T16" fmla="*/ 23 w 171"/>
                      <a:gd name="T17" fmla="*/ 103 h 112"/>
                      <a:gd name="T18" fmla="*/ 45 w 171"/>
                      <a:gd name="T19" fmla="*/ 105 h 112"/>
                      <a:gd name="T20" fmla="*/ 66 w 171"/>
                      <a:gd name="T21" fmla="*/ 104 h 112"/>
                      <a:gd name="T22" fmla="*/ 88 w 171"/>
                      <a:gd name="T23" fmla="*/ 104 h 112"/>
                      <a:gd name="T24" fmla="*/ 98 w 171"/>
                      <a:gd name="T25" fmla="*/ 104 h 112"/>
                      <a:gd name="T26" fmla="*/ 109 w 171"/>
                      <a:gd name="T27" fmla="*/ 106 h 112"/>
                      <a:gd name="T28" fmla="*/ 134 w 171"/>
                      <a:gd name="T29" fmla="*/ 111 h 112"/>
                      <a:gd name="T30" fmla="*/ 149 w 171"/>
                      <a:gd name="T31" fmla="*/ 112 h 112"/>
                      <a:gd name="T32" fmla="*/ 171 w 171"/>
                      <a:gd name="T33" fmla="*/ 106 h 112"/>
                      <a:gd name="T34" fmla="*/ 161 w 171"/>
                      <a:gd name="T35" fmla="*/ 100 h 112"/>
                      <a:gd name="T36" fmla="*/ 146 w 171"/>
                      <a:gd name="T37" fmla="*/ 96 h 112"/>
                      <a:gd name="T38" fmla="*/ 129 w 171"/>
                      <a:gd name="T39" fmla="*/ 93 h 112"/>
                      <a:gd name="T40" fmla="*/ 119 w 171"/>
                      <a:gd name="T41" fmla="*/ 91 h 112"/>
                      <a:gd name="T42" fmla="*/ 109 w 171"/>
                      <a:gd name="T43" fmla="*/ 95 h 112"/>
                      <a:gd name="T44" fmla="*/ 86 w 171"/>
                      <a:gd name="T45" fmla="*/ 85 h 112"/>
                      <a:gd name="T46" fmla="*/ 75 w 171"/>
                      <a:gd name="T47" fmla="*/ 85 h 112"/>
                      <a:gd name="T48" fmla="*/ 59 w 171"/>
                      <a:gd name="T49" fmla="*/ 89 h 112"/>
                      <a:gd name="T50" fmla="*/ 26 w 171"/>
                      <a:gd name="T51" fmla="*/ 94 h 112"/>
                      <a:gd name="T52" fmla="*/ 28 w 171"/>
                      <a:gd name="T53" fmla="*/ 85 h 112"/>
                      <a:gd name="T54" fmla="*/ 33 w 171"/>
                      <a:gd name="T55" fmla="*/ 77 h 112"/>
                      <a:gd name="T56" fmla="*/ 40 w 171"/>
                      <a:gd name="T57" fmla="*/ 66 h 112"/>
                      <a:gd name="T58" fmla="*/ 52 w 171"/>
                      <a:gd name="T59" fmla="*/ 66 h 112"/>
                      <a:gd name="T60" fmla="*/ 66 w 171"/>
                      <a:gd name="T61" fmla="*/ 63 h 112"/>
                      <a:gd name="T62" fmla="*/ 84 w 171"/>
                      <a:gd name="T63" fmla="*/ 59 h 112"/>
                      <a:gd name="T64" fmla="*/ 95 w 171"/>
                      <a:gd name="T65" fmla="*/ 56 h 112"/>
                      <a:gd name="T66" fmla="*/ 112 w 171"/>
                      <a:gd name="T67" fmla="*/ 48 h 112"/>
                      <a:gd name="T68" fmla="*/ 89 w 171"/>
                      <a:gd name="T69" fmla="*/ 32 h 112"/>
                      <a:gd name="T70" fmla="*/ 65 w 171"/>
                      <a:gd name="T71" fmla="*/ 0 h 1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</a:cxnLst>
                    <a:rect l="0" t="0" r="r" b="b"/>
                    <a:pathLst>
                      <a:path w="171" h="112">
                        <a:moveTo>
                          <a:pt x="65" y="0"/>
                        </a:moveTo>
                        <a:lnTo>
                          <a:pt x="48" y="12"/>
                        </a:lnTo>
                        <a:lnTo>
                          <a:pt x="34" y="27"/>
                        </a:lnTo>
                        <a:lnTo>
                          <a:pt x="21" y="43"/>
                        </a:lnTo>
                        <a:lnTo>
                          <a:pt x="11" y="57"/>
                        </a:lnTo>
                        <a:lnTo>
                          <a:pt x="4" y="73"/>
                        </a:lnTo>
                        <a:lnTo>
                          <a:pt x="2" y="93"/>
                        </a:lnTo>
                        <a:lnTo>
                          <a:pt x="0" y="103"/>
                        </a:lnTo>
                        <a:lnTo>
                          <a:pt x="23" y="103"/>
                        </a:lnTo>
                        <a:lnTo>
                          <a:pt x="45" y="105"/>
                        </a:lnTo>
                        <a:lnTo>
                          <a:pt x="66" y="104"/>
                        </a:lnTo>
                        <a:lnTo>
                          <a:pt x="88" y="104"/>
                        </a:lnTo>
                        <a:lnTo>
                          <a:pt x="98" y="104"/>
                        </a:lnTo>
                        <a:lnTo>
                          <a:pt x="109" y="106"/>
                        </a:lnTo>
                        <a:lnTo>
                          <a:pt x="134" y="111"/>
                        </a:lnTo>
                        <a:lnTo>
                          <a:pt x="149" y="112"/>
                        </a:lnTo>
                        <a:lnTo>
                          <a:pt x="171" y="106"/>
                        </a:lnTo>
                        <a:lnTo>
                          <a:pt x="161" y="100"/>
                        </a:lnTo>
                        <a:lnTo>
                          <a:pt x="146" y="96"/>
                        </a:lnTo>
                        <a:lnTo>
                          <a:pt x="129" y="93"/>
                        </a:lnTo>
                        <a:lnTo>
                          <a:pt x="119" y="91"/>
                        </a:lnTo>
                        <a:lnTo>
                          <a:pt x="109" y="95"/>
                        </a:lnTo>
                        <a:lnTo>
                          <a:pt x="86" y="85"/>
                        </a:lnTo>
                        <a:lnTo>
                          <a:pt x="75" y="85"/>
                        </a:lnTo>
                        <a:lnTo>
                          <a:pt x="59" y="89"/>
                        </a:lnTo>
                        <a:lnTo>
                          <a:pt x="26" y="94"/>
                        </a:lnTo>
                        <a:lnTo>
                          <a:pt x="28" y="85"/>
                        </a:lnTo>
                        <a:lnTo>
                          <a:pt x="33" y="77"/>
                        </a:lnTo>
                        <a:lnTo>
                          <a:pt x="40" y="66"/>
                        </a:lnTo>
                        <a:lnTo>
                          <a:pt x="52" y="66"/>
                        </a:lnTo>
                        <a:lnTo>
                          <a:pt x="66" y="63"/>
                        </a:lnTo>
                        <a:lnTo>
                          <a:pt x="84" y="59"/>
                        </a:lnTo>
                        <a:lnTo>
                          <a:pt x="95" y="56"/>
                        </a:lnTo>
                        <a:lnTo>
                          <a:pt x="112" y="48"/>
                        </a:lnTo>
                        <a:lnTo>
                          <a:pt x="89" y="32"/>
                        </a:lnTo>
                        <a:lnTo>
                          <a:pt x="65" y="0"/>
                        </a:lnTo>
                        <a:close/>
                      </a:path>
                    </a:pathLst>
                  </a:custGeom>
                  <a:solidFill>
                    <a:srgbClr val="FF7F3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402" name="Freeform 231"/>
                  <p:cNvSpPr/>
                  <p:nvPr/>
                </p:nvSpPr>
                <p:spPr bwMode="auto">
                  <a:xfrm>
                    <a:off x="5089" y="2254"/>
                    <a:ext cx="19" cy="21"/>
                  </a:xfrm>
                  <a:custGeom>
                    <a:avLst/>
                    <a:gdLst>
                      <a:gd name="T0" fmla="*/ 113 w 113"/>
                      <a:gd name="T1" fmla="*/ 43 h 103"/>
                      <a:gd name="T2" fmla="*/ 113 w 113"/>
                      <a:gd name="T3" fmla="*/ 69 h 103"/>
                      <a:gd name="T4" fmla="*/ 80 w 113"/>
                      <a:gd name="T5" fmla="*/ 103 h 103"/>
                      <a:gd name="T6" fmla="*/ 83 w 113"/>
                      <a:gd name="T7" fmla="*/ 75 h 103"/>
                      <a:gd name="T8" fmla="*/ 83 w 113"/>
                      <a:gd name="T9" fmla="*/ 60 h 103"/>
                      <a:gd name="T10" fmla="*/ 80 w 113"/>
                      <a:gd name="T11" fmla="*/ 48 h 103"/>
                      <a:gd name="T12" fmla="*/ 70 w 113"/>
                      <a:gd name="T13" fmla="*/ 40 h 103"/>
                      <a:gd name="T14" fmla="*/ 55 w 113"/>
                      <a:gd name="T15" fmla="*/ 32 h 103"/>
                      <a:gd name="T16" fmla="*/ 40 w 113"/>
                      <a:gd name="T17" fmla="*/ 24 h 103"/>
                      <a:gd name="T18" fmla="*/ 27 w 113"/>
                      <a:gd name="T19" fmla="*/ 23 h 103"/>
                      <a:gd name="T20" fmla="*/ 10 w 113"/>
                      <a:gd name="T21" fmla="*/ 27 h 103"/>
                      <a:gd name="T22" fmla="*/ 0 w 113"/>
                      <a:gd name="T23" fmla="*/ 31 h 103"/>
                      <a:gd name="T24" fmla="*/ 14 w 113"/>
                      <a:gd name="T25" fmla="*/ 2 h 103"/>
                      <a:gd name="T26" fmla="*/ 21 w 113"/>
                      <a:gd name="T27" fmla="*/ 0 h 103"/>
                      <a:gd name="T28" fmla="*/ 36 w 113"/>
                      <a:gd name="T29" fmla="*/ 0 h 103"/>
                      <a:gd name="T30" fmla="*/ 58 w 113"/>
                      <a:gd name="T31" fmla="*/ 3 h 103"/>
                      <a:gd name="T32" fmla="*/ 77 w 113"/>
                      <a:gd name="T33" fmla="*/ 8 h 103"/>
                      <a:gd name="T34" fmla="*/ 95 w 113"/>
                      <a:gd name="T35" fmla="*/ 16 h 103"/>
                      <a:gd name="T36" fmla="*/ 107 w 113"/>
                      <a:gd name="T37" fmla="*/ 28 h 103"/>
                      <a:gd name="T38" fmla="*/ 113 w 113"/>
                      <a:gd name="T39" fmla="*/ 43 h 10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13" h="103">
                        <a:moveTo>
                          <a:pt x="113" y="43"/>
                        </a:moveTo>
                        <a:lnTo>
                          <a:pt x="113" y="69"/>
                        </a:lnTo>
                        <a:lnTo>
                          <a:pt x="80" y="103"/>
                        </a:lnTo>
                        <a:lnTo>
                          <a:pt x="83" y="75"/>
                        </a:lnTo>
                        <a:lnTo>
                          <a:pt x="83" y="60"/>
                        </a:lnTo>
                        <a:lnTo>
                          <a:pt x="80" y="48"/>
                        </a:lnTo>
                        <a:lnTo>
                          <a:pt x="70" y="40"/>
                        </a:lnTo>
                        <a:lnTo>
                          <a:pt x="55" y="32"/>
                        </a:lnTo>
                        <a:lnTo>
                          <a:pt x="40" y="24"/>
                        </a:lnTo>
                        <a:lnTo>
                          <a:pt x="27" y="23"/>
                        </a:lnTo>
                        <a:lnTo>
                          <a:pt x="10" y="27"/>
                        </a:lnTo>
                        <a:lnTo>
                          <a:pt x="0" y="31"/>
                        </a:lnTo>
                        <a:lnTo>
                          <a:pt x="14" y="2"/>
                        </a:lnTo>
                        <a:lnTo>
                          <a:pt x="21" y="0"/>
                        </a:lnTo>
                        <a:lnTo>
                          <a:pt x="36" y="0"/>
                        </a:lnTo>
                        <a:lnTo>
                          <a:pt x="58" y="3"/>
                        </a:lnTo>
                        <a:lnTo>
                          <a:pt x="77" y="8"/>
                        </a:lnTo>
                        <a:lnTo>
                          <a:pt x="95" y="16"/>
                        </a:lnTo>
                        <a:lnTo>
                          <a:pt x="107" y="28"/>
                        </a:lnTo>
                        <a:lnTo>
                          <a:pt x="113" y="43"/>
                        </a:lnTo>
                        <a:close/>
                      </a:path>
                    </a:pathLst>
                  </a:custGeom>
                  <a:solidFill>
                    <a:srgbClr val="BF7F3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403" name="Freeform 232"/>
                  <p:cNvSpPr/>
                  <p:nvPr/>
                </p:nvSpPr>
                <p:spPr bwMode="auto">
                  <a:xfrm>
                    <a:off x="5060" y="2206"/>
                    <a:ext cx="80" cy="137"/>
                  </a:xfrm>
                  <a:custGeom>
                    <a:avLst/>
                    <a:gdLst>
                      <a:gd name="T0" fmla="*/ 0 w 481"/>
                      <a:gd name="T1" fmla="*/ 272 h 684"/>
                      <a:gd name="T2" fmla="*/ 17 w 481"/>
                      <a:gd name="T3" fmla="*/ 352 h 684"/>
                      <a:gd name="T4" fmla="*/ 34 w 481"/>
                      <a:gd name="T5" fmla="*/ 417 h 684"/>
                      <a:gd name="T6" fmla="*/ 38 w 481"/>
                      <a:gd name="T7" fmla="*/ 495 h 684"/>
                      <a:gd name="T8" fmla="*/ 168 w 481"/>
                      <a:gd name="T9" fmla="*/ 415 h 684"/>
                      <a:gd name="T10" fmla="*/ 213 w 481"/>
                      <a:gd name="T11" fmla="*/ 392 h 684"/>
                      <a:gd name="T12" fmla="*/ 236 w 481"/>
                      <a:gd name="T13" fmla="*/ 366 h 684"/>
                      <a:gd name="T14" fmla="*/ 198 w 481"/>
                      <a:gd name="T15" fmla="*/ 376 h 684"/>
                      <a:gd name="T16" fmla="*/ 164 w 481"/>
                      <a:gd name="T17" fmla="*/ 357 h 684"/>
                      <a:gd name="T18" fmla="*/ 187 w 481"/>
                      <a:gd name="T19" fmla="*/ 329 h 684"/>
                      <a:gd name="T20" fmla="*/ 240 w 481"/>
                      <a:gd name="T21" fmla="*/ 347 h 684"/>
                      <a:gd name="T22" fmla="*/ 300 w 481"/>
                      <a:gd name="T23" fmla="*/ 234 h 684"/>
                      <a:gd name="T24" fmla="*/ 259 w 481"/>
                      <a:gd name="T25" fmla="*/ 185 h 684"/>
                      <a:gd name="T26" fmla="*/ 309 w 481"/>
                      <a:gd name="T27" fmla="*/ 103 h 684"/>
                      <a:gd name="T28" fmla="*/ 381 w 481"/>
                      <a:gd name="T29" fmla="*/ 122 h 684"/>
                      <a:gd name="T30" fmla="*/ 418 w 481"/>
                      <a:gd name="T31" fmla="*/ 177 h 684"/>
                      <a:gd name="T32" fmla="*/ 411 w 481"/>
                      <a:gd name="T33" fmla="*/ 225 h 684"/>
                      <a:gd name="T34" fmla="*/ 413 w 481"/>
                      <a:gd name="T35" fmla="*/ 262 h 684"/>
                      <a:gd name="T36" fmla="*/ 395 w 481"/>
                      <a:gd name="T37" fmla="*/ 346 h 684"/>
                      <a:gd name="T38" fmla="*/ 423 w 481"/>
                      <a:gd name="T39" fmla="*/ 372 h 684"/>
                      <a:gd name="T40" fmla="*/ 413 w 481"/>
                      <a:gd name="T41" fmla="*/ 410 h 684"/>
                      <a:gd name="T42" fmla="*/ 373 w 481"/>
                      <a:gd name="T43" fmla="*/ 396 h 684"/>
                      <a:gd name="T44" fmla="*/ 352 w 481"/>
                      <a:gd name="T45" fmla="*/ 403 h 684"/>
                      <a:gd name="T46" fmla="*/ 385 w 481"/>
                      <a:gd name="T47" fmla="*/ 429 h 684"/>
                      <a:gd name="T48" fmla="*/ 400 w 481"/>
                      <a:gd name="T49" fmla="*/ 460 h 684"/>
                      <a:gd name="T50" fmla="*/ 386 w 481"/>
                      <a:gd name="T51" fmla="*/ 498 h 684"/>
                      <a:gd name="T52" fmla="*/ 357 w 481"/>
                      <a:gd name="T53" fmla="*/ 533 h 684"/>
                      <a:gd name="T54" fmla="*/ 318 w 481"/>
                      <a:gd name="T55" fmla="*/ 555 h 684"/>
                      <a:gd name="T56" fmla="*/ 279 w 481"/>
                      <a:gd name="T57" fmla="*/ 565 h 684"/>
                      <a:gd name="T58" fmla="*/ 245 w 481"/>
                      <a:gd name="T59" fmla="*/ 549 h 684"/>
                      <a:gd name="T60" fmla="*/ 208 w 481"/>
                      <a:gd name="T61" fmla="*/ 503 h 684"/>
                      <a:gd name="T62" fmla="*/ 190 w 481"/>
                      <a:gd name="T63" fmla="*/ 472 h 684"/>
                      <a:gd name="T64" fmla="*/ 171 w 481"/>
                      <a:gd name="T65" fmla="*/ 488 h 684"/>
                      <a:gd name="T66" fmla="*/ 49 w 481"/>
                      <a:gd name="T67" fmla="*/ 524 h 684"/>
                      <a:gd name="T68" fmla="*/ 122 w 481"/>
                      <a:gd name="T69" fmla="*/ 623 h 684"/>
                      <a:gd name="T70" fmla="*/ 290 w 481"/>
                      <a:gd name="T71" fmla="*/ 684 h 684"/>
                      <a:gd name="T72" fmla="*/ 377 w 481"/>
                      <a:gd name="T73" fmla="*/ 576 h 684"/>
                      <a:gd name="T74" fmla="*/ 403 w 481"/>
                      <a:gd name="T75" fmla="*/ 506 h 684"/>
                      <a:gd name="T76" fmla="*/ 428 w 481"/>
                      <a:gd name="T77" fmla="*/ 436 h 684"/>
                      <a:gd name="T78" fmla="*/ 456 w 481"/>
                      <a:gd name="T79" fmla="*/ 345 h 684"/>
                      <a:gd name="T80" fmla="*/ 481 w 481"/>
                      <a:gd name="T81" fmla="*/ 184 h 684"/>
                      <a:gd name="T82" fmla="*/ 437 w 481"/>
                      <a:gd name="T83" fmla="*/ 74 h 684"/>
                      <a:gd name="T84" fmla="*/ 376 w 481"/>
                      <a:gd name="T85" fmla="*/ 26 h 684"/>
                      <a:gd name="T86" fmla="*/ 279 w 481"/>
                      <a:gd name="T87" fmla="*/ 0 h 684"/>
                      <a:gd name="T88" fmla="*/ 155 w 481"/>
                      <a:gd name="T89" fmla="*/ 26 h 684"/>
                      <a:gd name="T90" fmla="*/ 85 w 481"/>
                      <a:gd name="T91" fmla="*/ 89 h 684"/>
                      <a:gd name="T92" fmla="*/ 42 w 481"/>
                      <a:gd name="T93" fmla="*/ 174 h 68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</a:cxnLst>
                    <a:rect l="0" t="0" r="r" b="b"/>
                    <a:pathLst>
                      <a:path w="481" h="684">
                        <a:moveTo>
                          <a:pt x="26" y="245"/>
                        </a:moveTo>
                        <a:lnTo>
                          <a:pt x="6" y="257"/>
                        </a:lnTo>
                        <a:lnTo>
                          <a:pt x="0" y="272"/>
                        </a:lnTo>
                        <a:lnTo>
                          <a:pt x="2" y="286"/>
                        </a:lnTo>
                        <a:lnTo>
                          <a:pt x="7" y="320"/>
                        </a:lnTo>
                        <a:lnTo>
                          <a:pt x="17" y="352"/>
                        </a:lnTo>
                        <a:lnTo>
                          <a:pt x="27" y="380"/>
                        </a:lnTo>
                        <a:lnTo>
                          <a:pt x="27" y="401"/>
                        </a:lnTo>
                        <a:lnTo>
                          <a:pt x="34" y="417"/>
                        </a:lnTo>
                        <a:lnTo>
                          <a:pt x="46" y="424"/>
                        </a:lnTo>
                        <a:lnTo>
                          <a:pt x="50" y="428"/>
                        </a:lnTo>
                        <a:lnTo>
                          <a:pt x="38" y="495"/>
                        </a:lnTo>
                        <a:lnTo>
                          <a:pt x="140" y="423"/>
                        </a:lnTo>
                        <a:lnTo>
                          <a:pt x="152" y="417"/>
                        </a:lnTo>
                        <a:lnTo>
                          <a:pt x="168" y="415"/>
                        </a:lnTo>
                        <a:lnTo>
                          <a:pt x="186" y="408"/>
                        </a:lnTo>
                        <a:lnTo>
                          <a:pt x="201" y="399"/>
                        </a:lnTo>
                        <a:lnTo>
                          <a:pt x="213" y="392"/>
                        </a:lnTo>
                        <a:lnTo>
                          <a:pt x="222" y="387"/>
                        </a:lnTo>
                        <a:lnTo>
                          <a:pt x="232" y="377"/>
                        </a:lnTo>
                        <a:lnTo>
                          <a:pt x="236" y="366"/>
                        </a:lnTo>
                        <a:lnTo>
                          <a:pt x="223" y="371"/>
                        </a:lnTo>
                        <a:lnTo>
                          <a:pt x="210" y="375"/>
                        </a:lnTo>
                        <a:lnTo>
                          <a:pt x="198" y="376"/>
                        </a:lnTo>
                        <a:lnTo>
                          <a:pt x="183" y="372"/>
                        </a:lnTo>
                        <a:lnTo>
                          <a:pt x="168" y="366"/>
                        </a:lnTo>
                        <a:lnTo>
                          <a:pt x="164" y="357"/>
                        </a:lnTo>
                        <a:lnTo>
                          <a:pt x="165" y="346"/>
                        </a:lnTo>
                        <a:lnTo>
                          <a:pt x="173" y="334"/>
                        </a:lnTo>
                        <a:lnTo>
                          <a:pt x="187" y="329"/>
                        </a:lnTo>
                        <a:lnTo>
                          <a:pt x="202" y="328"/>
                        </a:lnTo>
                        <a:lnTo>
                          <a:pt x="220" y="331"/>
                        </a:lnTo>
                        <a:lnTo>
                          <a:pt x="240" y="347"/>
                        </a:lnTo>
                        <a:lnTo>
                          <a:pt x="254" y="357"/>
                        </a:lnTo>
                        <a:lnTo>
                          <a:pt x="281" y="258"/>
                        </a:lnTo>
                        <a:lnTo>
                          <a:pt x="300" y="234"/>
                        </a:lnTo>
                        <a:lnTo>
                          <a:pt x="281" y="220"/>
                        </a:lnTo>
                        <a:lnTo>
                          <a:pt x="263" y="210"/>
                        </a:lnTo>
                        <a:lnTo>
                          <a:pt x="259" y="185"/>
                        </a:lnTo>
                        <a:lnTo>
                          <a:pt x="281" y="147"/>
                        </a:lnTo>
                        <a:lnTo>
                          <a:pt x="300" y="122"/>
                        </a:lnTo>
                        <a:lnTo>
                          <a:pt x="309" y="103"/>
                        </a:lnTo>
                        <a:lnTo>
                          <a:pt x="330" y="103"/>
                        </a:lnTo>
                        <a:lnTo>
                          <a:pt x="358" y="109"/>
                        </a:lnTo>
                        <a:lnTo>
                          <a:pt x="381" y="122"/>
                        </a:lnTo>
                        <a:lnTo>
                          <a:pt x="395" y="135"/>
                        </a:lnTo>
                        <a:lnTo>
                          <a:pt x="410" y="155"/>
                        </a:lnTo>
                        <a:lnTo>
                          <a:pt x="418" y="177"/>
                        </a:lnTo>
                        <a:lnTo>
                          <a:pt x="426" y="202"/>
                        </a:lnTo>
                        <a:lnTo>
                          <a:pt x="416" y="221"/>
                        </a:lnTo>
                        <a:lnTo>
                          <a:pt x="411" y="225"/>
                        </a:lnTo>
                        <a:lnTo>
                          <a:pt x="403" y="237"/>
                        </a:lnTo>
                        <a:lnTo>
                          <a:pt x="423" y="240"/>
                        </a:lnTo>
                        <a:lnTo>
                          <a:pt x="413" y="262"/>
                        </a:lnTo>
                        <a:lnTo>
                          <a:pt x="403" y="281"/>
                        </a:lnTo>
                        <a:lnTo>
                          <a:pt x="420" y="321"/>
                        </a:lnTo>
                        <a:lnTo>
                          <a:pt x="395" y="346"/>
                        </a:lnTo>
                        <a:lnTo>
                          <a:pt x="404" y="350"/>
                        </a:lnTo>
                        <a:lnTo>
                          <a:pt x="412" y="359"/>
                        </a:lnTo>
                        <a:lnTo>
                          <a:pt x="423" y="372"/>
                        </a:lnTo>
                        <a:lnTo>
                          <a:pt x="431" y="389"/>
                        </a:lnTo>
                        <a:lnTo>
                          <a:pt x="428" y="406"/>
                        </a:lnTo>
                        <a:lnTo>
                          <a:pt x="413" y="410"/>
                        </a:lnTo>
                        <a:lnTo>
                          <a:pt x="394" y="407"/>
                        </a:lnTo>
                        <a:lnTo>
                          <a:pt x="382" y="402"/>
                        </a:lnTo>
                        <a:lnTo>
                          <a:pt x="373" y="396"/>
                        </a:lnTo>
                        <a:lnTo>
                          <a:pt x="352" y="380"/>
                        </a:lnTo>
                        <a:lnTo>
                          <a:pt x="336" y="383"/>
                        </a:lnTo>
                        <a:lnTo>
                          <a:pt x="352" y="403"/>
                        </a:lnTo>
                        <a:lnTo>
                          <a:pt x="362" y="412"/>
                        </a:lnTo>
                        <a:lnTo>
                          <a:pt x="374" y="423"/>
                        </a:lnTo>
                        <a:lnTo>
                          <a:pt x="385" y="429"/>
                        </a:lnTo>
                        <a:lnTo>
                          <a:pt x="397" y="439"/>
                        </a:lnTo>
                        <a:lnTo>
                          <a:pt x="400" y="449"/>
                        </a:lnTo>
                        <a:lnTo>
                          <a:pt x="400" y="460"/>
                        </a:lnTo>
                        <a:lnTo>
                          <a:pt x="399" y="477"/>
                        </a:lnTo>
                        <a:lnTo>
                          <a:pt x="393" y="488"/>
                        </a:lnTo>
                        <a:lnTo>
                          <a:pt x="386" y="498"/>
                        </a:lnTo>
                        <a:lnTo>
                          <a:pt x="375" y="509"/>
                        </a:lnTo>
                        <a:lnTo>
                          <a:pt x="367" y="524"/>
                        </a:lnTo>
                        <a:lnTo>
                          <a:pt x="357" y="533"/>
                        </a:lnTo>
                        <a:lnTo>
                          <a:pt x="343" y="529"/>
                        </a:lnTo>
                        <a:lnTo>
                          <a:pt x="330" y="545"/>
                        </a:lnTo>
                        <a:lnTo>
                          <a:pt x="318" y="555"/>
                        </a:lnTo>
                        <a:lnTo>
                          <a:pt x="307" y="565"/>
                        </a:lnTo>
                        <a:lnTo>
                          <a:pt x="291" y="567"/>
                        </a:lnTo>
                        <a:lnTo>
                          <a:pt x="279" y="565"/>
                        </a:lnTo>
                        <a:lnTo>
                          <a:pt x="266" y="563"/>
                        </a:lnTo>
                        <a:lnTo>
                          <a:pt x="257" y="558"/>
                        </a:lnTo>
                        <a:lnTo>
                          <a:pt x="245" y="549"/>
                        </a:lnTo>
                        <a:lnTo>
                          <a:pt x="238" y="540"/>
                        </a:lnTo>
                        <a:lnTo>
                          <a:pt x="216" y="511"/>
                        </a:lnTo>
                        <a:lnTo>
                          <a:pt x="208" y="503"/>
                        </a:lnTo>
                        <a:lnTo>
                          <a:pt x="202" y="496"/>
                        </a:lnTo>
                        <a:lnTo>
                          <a:pt x="195" y="487"/>
                        </a:lnTo>
                        <a:lnTo>
                          <a:pt x="190" y="472"/>
                        </a:lnTo>
                        <a:lnTo>
                          <a:pt x="186" y="457"/>
                        </a:lnTo>
                        <a:lnTo>
                          <a:pt x="178" y="473"/>
                        </a:lnTo>
                        <a:lnTo>
                          <a:pt x="171" y="488"/>
                        </a:lnTo>
                        <a:lnTo>
                          <a:pt x="162" y="478"/>
                        </a:lnTo>
                        <a:lnTo>
                          <a:pt x="154" y="464"/>
                        </a:lnTo>
                        <a:lnTo>
                          <a:pt x="49" y="524"/>
                        </a:lnTo>
                        <a:lnTo>
                          <a:pt x="72" y="567"/>
                        </a:lnTo>
                        <a:lnTo>
                          <a:pt x="99" y="598"/>
                        </a:lnTo>
                        <a:lnTo>
                          <a:pt x="122" y="623"/>
                        </a:lnTo>
                        <a:lnTo>
                          <a:pt x="179" y="663"/>
                        </a:lnTo>
                        <a:lnTo>
                          <a:pt x="236" y="681"/>
                        </a:lnTo>
                        <a:lnTo>
                          <a:pt x="290" y="684"/>
                        </a:lnTo>
                        <a:lnTo>
                          <a:pt x="328" y="659"/>
                        </a:lnTo>
                        <a:lnTo>
                          <a:pt x="362" y="613"/>
                        </a:lnTo>
                        <a:lnTo>
                          <a:pt x="377" y="576"/>
                        </a:lnTo>
                        <a:lnTo>
                          <a:pt x="381" y="543"/>
                        </a:lnTo>
                        <a:lnTo>
                          <a:pt x="395" y="525"/>
                        </a:lnTo>
                        <a:lnTo>
                          <a:pt x="403" y="506"/>
                        </a:lnTo>
                        <a:lnTo>
                          <a:pt x="411" y="490"/>
                        </a:lnTo>
                        <a:lnTo>
                          <a:pt x="416" y="472"/>
                        </a:lnTo>
                        <a:lnTo>
                          <a:pt x="428" y="436"/>
                        </a:lnTo>
                        <a:lnTo>
                          <a:pt x="438" y="398"/>
                        </a:lnTo>
                        <a:lnTo>
                          <a:pt x="446" y="372"/>
                        </a:lnTo>
                        <a:lnTo>
                          <a:pt x="456" y="345"/>
                        </a:lnTo>
                        <a:lnTo>
                          <a:pt x="465" y="309"/>
                        </a:lnTo>
                        <a:lnTo>
                          <a:pt x="478" y="230"/>
                        </a:lnTo>
                        <a:lnTo>
                          <a:pt x="481" y="184"/>
                        </a:lnTo>
                        <a:lnTo>
                          <a:pt x="474" y="145"/>
                        </a:lnTo>
                        <a:lnTo>
                          <a:pt x="460" y="109"/>
                        </a:lnTo>
                        <a:lnTo>
                          <a:pt x="437" y="74"/>
                        </a:lnTo>
                        <a:lnTo>
                          <a:pt x="420" y="58"/>
                        </a:lnTo>
                        <a:lnTo>
                          <a:pt x="408" y="48"/>
                        </a:lnTo>
                        <a:lnTo>
                          <a:pt x="376" y="26"/>
                        </a:lnTo>
                        <a:lnTo>
                          <a:pt x="344" y="11"/>
                        </a:lnTo>
                        <a:lnTo>
                          <a:pt x="308" y="4"/>
                        </a:lnTo>
                        <a:lnTo>
                          <a:pt x="279" y="0"/>
                        </a:lnTo>
                        <a:lnTo>
                          <a:pt x="235" y="1"/>
                        </a:lnTo>
                        <a:lnTo>
                          <a:pt x="189" y="12"/>
                        </a:lnTo>
                        <a:lnTo>
                          <a:pt x="155" y="26"/>
                        </a:lnTo>
                        <a:lnTo>
                          <a:pt x="126" y="46"/>
                        </a:lnTo>
                        <a:lnTo>
                          <a:pt x="104" y="63"/>
                        </a:lnTo>
                        <a:lnTo>
                          <a:pt x="85" y="89"/>
                        </a:lnTo>
                        <a:lnTo>
                          <a:pt x="68" y="116"/>
                        </a:lnTo>
                        <a:lnTo>
                          <a:pt x="50" y="145"/>
                        </a:lnTo>
                        <a:lnTo>
                          <a:pt x="42" y="174"/>
                        </a:lnTo>
                        <a:lnTo>
                          <a:pt x="33" y="208"/>
                        </a:lnTo>
                        <a:lnTo>
                          <a:pt x="26" y="245"/>
                        </a:lnTo>
                        <a:close/>
                      </a:path>
                    </a:pathLst>
                  </a:custGeom>
                  <a:solidFill>
                    <a:srgbClr val="FF7F3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404" name="Freeform 233"/>
                  <p:cNvSpPr/>
                  <p:nvPr/>
                </p:nvSpPr>
                <p:spPr bwMode="auto">
                  <a:xfrm>
                    <a:off x="5060" y="2207"/>
                    <a:ext cx="81" cy="137"/>
                  </a:xfrm>
                  <a:custGeom>
                    <a:avLst/>
                    <a:gdLst>
                      <a:gd name="T0" fmla="*/ 281 w 483"/>
                      <a:gd name="T1" fmla="*/ 355 h 682"/>
                      <a:gd name="T2" fmla="*/ 273 w 483"/>
                      <a:gd name="T3" fmla="*/ 381 h 682"/>
                      <a:gd name="T4" fmla="*/ 309 w 483"/>
                      <a:gd name="T5" fmla="*/ 393 h 682"/>
                      <a:gd name="T6" fmla="*/ 298 w 483"/>
                      <a:gd name="T7" fmla="*/ 405 h 682"/>
                      <a:gd name="T8" fmla="*/ 269 w 483"/>
                      <a:gd name="T9" fmla="*/ 394 h 682"/>
                      <a:gd name="T10" fmla="*/ 238 w 483"/>
                      <a:gd name="T11" fmla="*/ 388 h 682"/>
                      <a:gd name="T12" fmla="*/ 244 w 483"/>
                      <a:gd name="T13" fmla="*/ 363 h 682"/>
                      <a:gd name="T14" fmla="*/ 258 w 483"/>
                      <a:gd name="T15" fmla="*/ 308 h 682"/>
                      <a:gd name="T16" fmla="*/ 245 w 483"/>
                      <a:gd name="T17" fmla="*/ 273 h 682"/>
                      <a:gd name="T18" fmla="*/ 203 w 483"/>
                      <a:gd name="T19" fmla="*/ 257 h 682"/>
                      <a:gd name="T20" fmla="*/ 139 w 483"/>
                      <a:gd name="T21" fmla="*/ 272 h 682"/>
                      <a:gd name="T22" fmla="*/ 113 w 483"/>
                      <a:gd name="T23" fmla="*/ 276 h 682"/>
                      <a:gd name="T24" fmla="*/ 99 w 483"/>
                      <a:gd name="T25" fmla="*/ 310 h 682"/>
                      <a:gd name="T26" fmla="*/ 109 w 483"/>
                      <a:gd name="T27" fmla="*/ 351 h 682"/>
                      <a:gd name="T28" fmla="*/ 134 w 483"/>
                      <a:gd name="T29" fmla="*/ 371 h 682"/>
                      <a:gd name="T30" fmla="*/ 147 w 483"/>
                      <a:gd name="T31" fmla="*/ 466 h 682"/>
                      <a:gd name="T32" fmla="*/ 167 w 483"/>
                      <a:gd name="T33" fmla="*/ 540 h 682"/>
                      <a:gd name="T34" fmla="*/ 190 w 483"/>
                      <a:gd name="T35" fmla="*/ 577 h 682"/>
                      <a:gd name="T36" fmla="*/ 256 w 483"/>
                      <a:gd name="T37" fmla="*/ 609 h 682"/>
                      <a:gd name="T38" fmla="*/ 306 w 483"/>
                      <a:gd name="T39" fmla="*/ 612 h 682"/>
                      <a:gd name="T40" fmla="*/ 349 w 483"/>
                      <a:gd name="T41" fmla="*/ 592 h 682"/>
                      <a:gd name="T42" fmla="*/ 365 w 483"/>
                      <a:gd name="T43" fmla="*/ 598 h 682"/>
                      <a:gd name="T44" fmla="*/ 318 w 483"/>
                      <a:gd name="T45" fmla="*/ 663 h 682"/>
                      <a:gd name="T46" fmla="*/ 242 w 483"/>
                      <a:gd name="T47" fmla="*/ 680 h 682"/>
                      <a:gd name="T48" fmla="*/ 173 w 483"/>
                      <a:gd name="T49" fmla="*/ 658 h 682"/>
                      <a:gd name="T50" fmla="*/ 91 w 483"/>
                      <a:gd name="T51" fmla="*/ 581 h 682"/>
                      <a:gd name="T52" fmla="*/ 35 w 483"/>
                      <a:gd name="T53" fmla="*/ 498 h 682"/>
                      <a:gd name="T54" fmla="*/ 29 w 483"/>
                      <a:gd name="T55" fmla="*/ 412 h 682"/>
                      <a:gd name="T56" fmla="*/ 18 w 483"/>
                      <a:gd name="T57" fmla="*/ 355 h 682"/>
                      <a:gd name="T58" fmla="*/ 0 w 483"/>
                      <a:gd name="T59" fmla="*/ 273 h 682"/>
                      <a:gd name="T60" fmla="*/ 29 w 483"/>
                      <a:gd name="T61" fmla="*/ 236 h 682"/>
                      <a:gd name="T62" fmla="*/ 50 w 483"/>
                      <a:gd name="T63" fmla="*/ 148 h 682"/>
                      <a:gd name="T64" fmla="*/ 104 w 483"/>
                      <a:gd name="T65" fmla="*/ 67 h 682"/>
                      <a:gd name="T66" fmla="*/ 166 w 483"/>
                      <a:gd name="T67" fmla="*/ 18 h 682"/>
                      <a:gd name="T68" fmla="*/ 285 w 483"/>
                      <a:gd name="T69" fmla="*/ 0 h 682"/>
                      <a:gd name="T70" fmla="*/ 380 w 483"/>
                      <a:gd name="T71" fmla="*/ 23 h 682"/>
                      <a:gd name="T72" fmla="*/ 453 w 483"/>
                      <a:gd name="T73" fmla="*/ 96 h 682"/>
                      <a:gd name="T74" fmla="*/ 483 w 483"/>
                      <a:gd name="T75" fmla="*/ 208 h 682"/>
                      <a:gd name="T76" fmla="*/ 455 w 483"/>
                      <a:gd name="T77" fmla="*/ 282 h 682"/>
                      <a:gd name="T78" fmla="*/ 447 w 483"/>
                      <a:gd name="T79" fmla="*/ 200 h 682"/>
                      <a:gd name="T80" fmla="*/ 446 w 483"/>
                      <a:gd name="T81" fmla="*/ 154 h 682"/>
                      <a:gd name="T82" fmla="*/ 404 w 483"/>
                      <a:gd name="T83" fmla="*/ 86 h 682"/>
                      <a:gd name="T84" fmla="*/ 352 w 483"/>
                      <a:gd name="T85" fmla="*/ 43 h 682"/>
                      <a:gd name="T86" fmla="*/ 270 w 483"/>
                      <a:gd name="T87" fmla="*/ 27 h 682"/>
                      <a:gd name="T88" fmla="*/ 213 w 483"/>
                      <a:gd name="T89" fmla="*/ 46 h 682"/>
                      <a:gd name="T90" fmla="*/ 177 w 483"/>
                      <a:gd name="T91" fmla="*/ 90 h 682"/>
                      <a:gd name="T92" fmla="*/ 154 w 483"/>
                      <a:gd name="T93" fmla="*/ 145 h 682"/>
                      <a:gd name="T94" fmla="*/ 152 w 483"/>
                      <a:gd name="T95" fmla="*/ 245 h 682"/>
                      <a:gd name="T96" fmla="*/ 211 w 483"/>
                      <a:gd name="T97" fmla="*/ 234 h 682"/>
                      <a:gd name="T98" fmla="*/ 269 w 483"/>
                      <a:gd name="T99" fmla="*/ 250 h 68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</a:cxnLst>
                    <a:rect l="0" t="0" r="r" b="b"/>
                    <a:pathLst>
                      <a:path w="483" h="682">
                        <a:moveTo>
                          <a:pt x="287" y="276"/>
                        </a:moveTo>
                        <a:lnTo>
                          <a:pt x="287" y="351"/>
                        </a:lnTo>
                        <a:lnTo>
                          <a:pt x="281" y="355"/>
                        </a:lnTo>
                        <a:lnTo>
                          <a:pt x="275" y="362"/>
                        </a:lnTo>
                        <a:lnTo>
                          <a:pt x="271" y="372"/>
                        </a:lnTo>
                        <a:lnTo>
                          <a:pt x="273" y="381"/>
                        </a:lnTo>
                        <a:lnTo>
                          <a:pt x="281" y="384"/>
                        </a:lnTo>
                        <a:lnTo>
                          <a:pt x="288" y="391"/>
                        </a:lnTo>
                        <a:lnTo>
                          <a:pt x="309" y="393"/>
                        </a:lnTo>
                        <a:lnTo>
                          <a:pt x="317" y="391"/>
                        </a:lnTo>
                        <a:lnTo>
                          <a:pt x="304" y="402"/>
                        </a:lnTo>
                        <a:lnTo>
                          <a:pt x="298" y="405"/>
                        </a:lnTo>
                        <a:lnTo>
                          <a:pt x="289" y="404"/>
                        </a:lnTo>
                        <a:lnTo>
                          <a:pt x="279" y="401"/>
                        </a:lnTo>
                        <a:lnTo>
                          <a:pt x="269" y="394"/>
                        </a:lnTo>
                        <a:lnTo>
                          <a:pt x="261" y="391"/>
                        </a:lnTo>
                        <a:lnTo>
                          <a:pt x="245" y="389"/>
                        </a:lnTo>
                        <a:lnTo>
                          <a:pt x="238" y="388"/>
                        </a:lnTo>
                        <a:lnTo>
                          <a:pt x="236" y="379"/>
                        </a:lnTo>
                        <a:lnTo>
                          <a:pt x="237" y="371"/>
                        </a:lnTo>
                        <a:lnTo>
                          <a:pt x="244" y="363"/>
                        </a:lnTo>
                        <a:lnTo>
                          <a:pt x="249" y="357"/>
                        </a:lnTo>
                        <a:lnTo>
                          <a:pt x="255" y="335"/>
                        </a:lnTo>
                        <a:lnTo>
                          <a:pt x="258" y="308"/>
                        </a:lnTo>
                        <a:lnTo>
                          <a:pt x="258" y="293"/>
                        </a:lnTo>
                        <a:lnTo>
                          <a:pt x="255" y="281"/>
                        </a:lnTo>
                        <a:lnTo>
                          <a:pt x="245" y="273"/>
                        </a:lnTo>
                        <a:lnTo>
                          <a:pt x="230" y="265"/>
                        </a:lnTo>
                        <a:lnTo>
                          <a:pt x="215" y="258"/>
                        </a:lnTo>
                        <a:lnTo>
                          <a:pt x="203" y="257"/>
                        </a:lnTo>
                        <a:lnTo>
                          <a:pt x="176" y="265"/>
                        </a:lnTo>
                        <a:lnTo>
                          <a:pt x="159" y="268"/>
                        </a:lnTo>
                        <a:lnTo>
                          <a:pt x="139" y="272"/>
                        </a:lnTo>
                        <a:lnTo>
                          <a:pt x="129" y="268"/>
                        </a:lnTo>
                        <a:lnTo>
                          <a:pt x="119" y="268"/>
                        </a:lnTo>
                        <a:lnTo>
                          <a:pt x="113" y="276"/>
                        </a:lnTo>
                        <a:lnTo>
                          <a:pt x="105" y="283"/>
                        </a:lnTo>
                        <a:lnTo>
                          <a:pt x="99" y="294"/>
                        </a:lnTo>
                        <a:lnTo>
                          <a:pt x="99" y="310"/>
                        </a:lnTo>
                        <a:lnTo>
                          <a:pt x="103" y="328"/>
                        </a:lnTo>
                        <a:lnTo>
                          <a:pt x="105" y="341"/>
                        </a:lnTo>
                        <a:lnTo>
                          <a:pt x="109" y="351"/>
                        </a:lnTo>
                        <a:lnTo>
                          <a:pt x="117" y="362"/>
                        </a:lnTo>
                        <a:lnTo>
                          <a:pt x="127" y="370"/>
                        </a:lnTo>
                        <a:lnTo>
                          <a:pt x="134" y="371"/>
                        </a:lnTo>
                        <a:lnTo>
                          <a:pt x="135" y="391"/>
                        </a:lnTo>
                        <a:lnTo>
                          <a:pt x="139" y="419"/>
                        </a:lnTo>
                        <a:lnTo>
                          <a:pt x="147" y="466"/>
                        </a:lnTo>
                        <a:lnTo>
                          <a:pt x="156" y="496"/>
                        </a:lnTo>
                        <a:lnTo>
                          <a:pt x="160" y="518"/>
                        </a:lnTo>
                        <a:lnTo>
                          <a:pt x="167" y="540"/>
                        </a:lnTo>
                        <a:lnTo>
                          <a:pt x="173" y="551"/>
                        </a:lnTo>
                        <a:lnTo>
                          <a:pt x="179" y="564"/>
                        </a:lnTo>
                        <a:lnTo>
                          <a:pt x="190" y="577"/>
                        </a:lnTo>
                        <a:lnTo>
                          <a:pt x="207" y="592"/>
                        </a:lnTo>
                        <a:lnTo>
                          <a:pt x="225" y="604"/>
                        </a:lnTo>
                        <a:lnTo>
                          <a:pt x="256" y="609"/>
                        </a:lnTo>
                        <a:lnTo>
                          <a:pt x="275" y="609"/>
                        </a:lnTo>
                        <a:lnTo>
                          <a:pt x="289" y="611"/>
                        </a:lnTo>
                        <a:lnTo>
                          <a:pt x="306" y="612"/>
                        </a:lnTo>
                        <a:lnTo>
                          <a:pt x="323" y="608"/>
                        </a:lnTo>
                        <a:lnTo>
                          <a:pt x="338" y="602"/>
                        </a:lnTo>
                        <a:lnTo>
                          <a:pt x="349" y="592"/>
                        </a:lnTo>
                        <a:lnTo>
                          <a:pt x="360" y="583"/>
                        </a:lnTo>
                        <a:lnTo>
                          <a:pt x="374" y="574"/>
                        </a:lnTo>
                        <a:lnTo>
                          <a:pt x="365" y="598"/>
                        </a:lnTo>
                        <a:lnTo>
                          <a:pt x="352" y="618"/>
                        </a:lnTo>
                        <a:lnTo>
                          <a:pt x="338" y="639"/>
                        </a:lnTo>
                        <a:lnTo>
                          <a:pt x="318" y="663"/>
                        </a:lnTo>
                        <a:lnTo>
                          <a:pt x="293" y="676"/>
                        </a:lnTo>
                        <a:lnTo>
                          <a:pt x="264" y="682"/>
                        </a:lnTo>
                        <a:lnTo>
                          <a:pt x="242" y="680"/>
                        </a:lnTo>
                        <a:lnTo>
                          <a:pt x="221" y="679"/>
                        </a:lnTo>
                        <a:lnTo>
                          <a:pt x="200" y="671"/>
                        </a:lnTo>
                        <a:lnTo>
                          <a:pt x="173" y="658"/>
                        </a:lnTo>
                        <a:lnTo>
                          <a:pt x="153" y="642"/>
                        </a:lnTo>
                        <a:lnTo>
                          <a:pt x="124" y="613"/>
                        </a:lnTo>
                        <a:lnTo>
                          <a:pt x="91" y="581"/>
                        </a:lnTo>
                        <a:lnTo>
                          <a:pt x="70" y="555"/>
                        </a:lnTo>
                        <a:lnTo>
                          <a:pt x="52" y="530"/>
                        </a:lnTo>
                        <a:lnTo>
                          <a:pt x="35" y="498"/>
                        </a:lnTo>
                        <a:lnTo>
                          <a:pt x="49" y="426"/>
                        </a:lnTo>
                        <a:lnTo>
                          <a:pt x="38" y="420"/>
                        </a:lnTo>
                        <a:lnTo>
                          <a:pt x="29" y="412"/>
                        </a:lnTo>
                        <a:lnTo>
                          <a:pt x="25" y="398"/>
                        </a:lnTo>
                        <a:lnTo>
                          <a:pt x="24" y="375"/>
                        </a:lnTo>
                        <a:lnTo>
                          <a:pt x="18" y="355"/>
                        </a:lnTo>
                        <a:lnTo>
                          <a:pt x="7" y="329"/>
                        </a:lnTo>
                        <a:lnTo>
                          <a:pt x="4" y="295"/>
                        </a:lnTo>
                        <a:lnTo>
                          <a:pt x="0" y="273"/>
                        </a:lnTo>
                        <a:lnTo>
                          <a:pt x="3" y="257"/>
                        </a:lnTo>
                        <a:lnTo>
                          <a:pt x="17" y="247"/>
                        </a:lnTo>
                        <a:lnTo>
                          <a:pt x="29" y="236"/>
                        </a:lnTo>
                        <a:lnTo>
                          <a:pt x="31" y="205"/>
                        </a:lnTo>
                        <a:lnTo>
                          <a:pt x="37" y="176"/>
                        </a:lnTo>
                        <a:lnTo>
                          <a:pt x="50" y="148"/>
                        </a:lnTo>
                        <a:lnTo>
                          <a:pt x="65" y="117"/>
                        </a:lnTo>
                        <a:lnTo>
                          <a:pt x="85" y="86"/>
                        </a:lnTo>
                        <a:lnTo>
                          <a:pt x="104" y="67"/>
                        </a:lnTo>
                        <a:lnTo>
                          <a:pt x="122" y="48"/>
                        </a:lnTo>
                        <a:lnTo>
                          <a:pt x="142" y="31"/>
                        </a:lnTo>
                        <a:lnTo>
                          <a:pt x="166" y="18"/>
                        </a:lnTo>
                        <a:lnTo>
                          <a:pt x="203" y="2"/>
                        </a:lnTo>
                        <a:lnTo>
                          <a:pt x="249" y="0"/>
                        </a:lnTo>
                        <a:lnTo>
                          <a:pt x="285" y="0"/>
                        </a:lnTo>
                        <a:lnTo>
                          <a:pt x="323" y="4"/>
                        </a:lnTo>
                        <a:lnTo>
                          <a:pt x="353" y="11"/>
                        </a:lnTo>
                        <a:lnTo>
                          <a:pt x="380" y="23"/>
                        </a:lnTo>
                        <a:lnTo>
                          <a:pt x="406" y="43"/>
                        </a:lnTo>
                        <a:lnTo>
                          <a:pt x="434" y="70"/>
                        </a:lnTo>
                        <a:lnTo>
                          <a:pt x="453" y="96"/>
                        </a:lnTo>
                        <a:lnTo>
                          <a:pt x="469" y="130"/>
                        </a:lnTo>
                        <a:lnTo>
                          <a:pt x="481" y="174"/>
                        </a:lnTo>
                        <a:lnTo>
                          <a:pt x="483" y="208"/>
                        </a:lnTo>
                        <a:lnTo>
                          <a:pt x="475" y="252"/>
                        </a:lnTo>
                        <a:lnTo>
                          <a:pt x="460" y="311"/>
                        </a:lnTo>
                        <a:lnTo>
                          <a:pt x="455" y="282"/>
                        </a:lnTo>
                        <a:lnTo>
                          <a:pt x="454" y="250"/>
                        </a:lnTo>
                        <a:lnTo>
                          <a:pt x="451" y="224"/>
                        </a:lnTo>
                        <a:lnTo>
                          <a:pt x="447" y="200"/>
                        </a:lnTo>
                        <a:lnTo>
                          <a:pt x="438" y="178"/>
                        </a:lnTo>
                        <a:lnTo>
                          <a:pt x="418" y="158"/>
                        </a:lnTo>
                        <a:lnTo>
                          <a:pt x="446" y="154"/>
                        </a:lnTo>
                        <a:lnTo>
                          <a:pt x="434" y="127"/>
                        </a:lnTo>
                        <a:lnTo>
                          <a:pt x="420" y="108"/>
                        </a:lnTo>
                        <a:lnTo>
                          <a:pt x="404" y="86"/>
                        </a:lnTo>
                        <a:lnTo>
                          <a:pt x="385" y="72"/>
                        </a:lnTo>
                        <a:lnTo>
                          <a:pt x="368" y="54"/>
                        </a:lnTo>
                        <a:lnTo>
                          <a:pt x="352" y="43"/>
                        </a:lnTo>
                        <a:lnTo>
                          <a:pt x="326" y="30"/>
                        </a:lnTo>
                        <a:lnTo>
                          <a:pt x="297" y="25"/>
                        </a:lnTo>
                        <a:lnTo>
                          <a:pt x="270" y="27"/>
                        </a:lnTo>
                        <a:lnTo>
                          <a:pt x="249" y="31"/>
                        </a:lnTo>
                        <a:lnTo>
                          <a:pt x="232" y="37"/>
                        </a:lnTo>
                        <a:lnTo>
                          <a:pt x="213" y="46"/>
                        </a:lnTo>
                        <a:lnTo>
                          <a:pt x="199" y="59"/>
                        </a:lnTo>
                        <a:lnTo>
                          <a:pt x="184" y="75"/>
                        </a:lnTo>
                        <a:lnTo>
                          <a:pt x="177" y="90"/>
                        </a:lnTo>
                        <a:lnTo>
                          <a:pt x="167" y="105"/>
                        </a:lnTo>
                        <a:lnTo>
                          <a:pt x="163" y="121"/>
                        </a:lnTo>
                        <a:lnTo>
                          <a:pt x="154" y="145"/>
                        </a:lnTo>
                        <a:lnTo>
                          <a:pt x="151" y="173"/>
                        </a:lnTo>
                        <a:lnTo>
                          <a:pt x="148" y="209"/>
                        </a:lnTo>
                        <a:lnTo>
                          <a:pt x="152" y="245"/>
                        </a:lnTo>
                        <a:lnTo>
                          <a:pt x="165" y="239"/>
                        </a:lnTo>
                        <a:lnTo>
                          <a:pt x="184" y="235"/>
                        </a:lnTo>
                        <a:lnTo>
                          <a:pt x="211" y="234"/>
                        </a:lnTo>
                        <a:lnTo>
                          <a:pt x="233" y="237"/>
                        </a:lnTo>
                        <a:lnTo>
                          <a:pt x="252" y="242"/>
                        </a:lnTo>
                        <a:lnTo>
                          <a:pt x="269" y="250"/>
                        </a:lnTo>
                        <a:lnTo>
                          <a:pt x="281" y="261"/>
                        </a:lnTo>
                        <a:lnTo>
                          <a:pt x="287" y="276"/>
                        </a:lnTo>
                        <a:close/>
                      </a:path>
                    </a:pathLst>
                  </a:custGeom>
                  <a:solidFill>
                    <a:srgbClr val="7F3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405" name="Freeform 234"/>
                  <p:cNvSpPr/>
                  <p:nvPr/>
                </p:nvSpPr>
                <p:spPr bwMode="auto">
                  <a:xfrm>
                    <a:off x="5114" y="2258"/>
                    <a:ext cx="20" cy="12"/>
                  </a:xfrm>
                  <a:custGeom>
                    <a:avLst/>
                    <a:gdLst>
                      <a:gd name="T0" fmla="*/ 0 w 118"/>
                      <a:gd name="T1" fmla="*/ 19 h 60"/>
                      <a:gd name="T2" fmla="*/ 12 w 118"/>
                      <a:gd name="T3" fmla="*/ 14 h 60"/>
                      <a:gd name="T4" fmla="*/ 26 w 118"/>
                      <a:gd name="T5" fmla="*/ 9 h 60"/>
                      <a:gd name="T6" fmla="*/ 40 w 118"/>
                      <a:gd name="T7" fmla="*/ 4 h 60"/>
                      <a:gd name="T8" fmla="*/ 57 w 118"/>
                      <a:gd name="T9" fmla="*/ 0 h 60"/>
                      <a:gd name="T10" fmla="*/ 74 w 118"/>
                      <a:gd name="T11" fmla="*/ 0 h 60"/>
                      <a:gd name="T12" fmla="*/ 95 w 118"/>
                      <a:gd name="T13" fmla="*/ 5 h 60"/>
                      <a:gd name="T14" fmla="*/ 107 w 118"/>
                      <a:gd name="T15" fmla="*/ 16 h 60"/>
                      <a:gd name="T16" fmla="*/ 115 w 118"/>
                      <a:gd name="T17" fmla="*/ 30 h 60"/>
                      <a:gd name="T18" fmla="*/ 118 w 118"/>
                      <a:gd name="T19" fmla="*/ 39 h 60"/>
                      <a:gd name="T20" fmla="*/ 101 w 118"/>
                      <a:gd name="T21" fmla="*/ 52 h 60"/>
                      <a:gd name="T22" fmla="*/ 87 w 118"/>
                      <a:gd name="T23" fmla="*/ 58 h 60"/>
                      <a:gd name="T24" fmla="*/ 80 w 118"/>
                      <a:gd name="T25" fmla="*/ 60 h 60"/>
                      <a:gd name="T26" fmla="*/ 74 w 118"/>
                      <a:gd name="T27" fmla="*/ 51 h 60"/>
                      <a:gd name="T28" fmla="*/ 63 w 118"/>
                      <a:gd name="T29" fmla="*/ 42 h 60"/>
                      <a:gd name="T30" fmla="*/ 51 w 118"/>
                      <a:gd name="T31" fmla="*/ 39 h 60"/>
                      <a:gd name="T32" fmla="*/ 38 w 118"/>
                      <a:gd name="T33" fmla="*/ 39 h 60"/>
                      <a:gd name="T34" fmla="*/ 21 w 118"/>
                      <a:gd name="T35" fmla="*/ 44 h 60"/>
                      <a:gd name="T36" fmla="*/ 8 w 118"/>
                      <a:gd name="T37" fmla="*/ 52 h 60"/>
                      <a:gd name="T38" fmla="*/ 2 w 118"/>
                      <a:gd name="T39" fmla="*/ 57 h 60"/>
                      <a:gd name="T40" fmla="*/ 5 w 118"/>
                      <a:gd name="T41" fmla="*/ 47 h 60"/>
                      <a:gd name="T42" fmla="*/ 0 w 118"/>
                      <a:gd name="T43" fmla="*/ 19 h 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</a:cxnLst>
                    <a:rect l="0" t="0" r="r" b="b"/>
                    <a:pathLst>
                      <a:path w="118" h="60">
                        <a:moveTo>
                          <a:pt x="0" y="19"/>
                        </a:moveTo>
                        <a:lnTo>
                          <a:pt x="12" y="14"/>
                        </a:lnTo>
                        <a:lnTo>
                          <a:pt x="26" y="9"/>
                        </a:lnTo>
                        <a:lnTo>
                          <a:pt x="40" y="4"/>
                        </a:lnTo>
                        <a:lnTo>
                          <a:pt x="57" y="0"/>
                        </a:lnTo>
                        <a:lnTo>
                          <a:pt x="74" y="0"/>
                        </a:lnTo>
                        <a:lnTo>
                          <a:pt x="95" y="5"/>
                        </a:lnTo>
                        <a:lnTo>
                          <a:pt x="107" y="16"/>
                        </a:lnTo>
                        <a:lnTo>
                          <a:pt x="115" y="30"/>
                        </a:lnTo>
                        <a:lnTo>
                          <a:pt x="118" y="39"/>
                        </a:lnTo>
                        <a:lnTo>
                          <a:pt x="101" y="52"/>
                        </a:lnTo>
                        <a:lnTo>
                          <a:pt x="87" y="58"/>
                        </a:lnTo>
                        <a:lnTo>
                          <a:pt x="80" y="60"/>
                        </a:lnTo>
                        <a:lnTo>
                          <a:pt x="74" y="51"/>
                        </a:lnTo>
                        <a:lnTo>
                          <a:pt x="63" y="42"/>
                        </a:lnTo>
                        <a:lnTo>
                          <a:pt x="51" y="39"/>
                        </a:lnTo>
                        <a:lnTo>
                          <a:pt x="38" y="39"/>
                        </a:lnTo>
                        <a:lnTo>
                          <a:pt x="21" y="44"/>
                        </a:lnTo>
                        <a:lnTo>
                          <a:pt x="8" y="52"/>
                        </a:lnTo>
                        <a:lnTo>
                          <a:pt x="2" y="57"/>
                        </a:lnTo>
                        <a:lnTo>
                          <a:pt x="5" y="47"/>
                        </a:lnTo>
                        <a:lnTo>
                          <a:pt x="0" y="19"/>
                        </a:lnTo>
                        <a:close/>
                      </a:path>
                    </a:pathLst>
                  </a:custGeom>
                  <a:solidFill>
                    <a:srgbClr val="FF9F7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406" name="Freeform 235"/>
                  <p:cNvSpPr/>
                  <p:nvPr/>
                </p:nvSpPr>
                <p:spPr bwMode="auto">
                  <a:xfrm>
                    <a:off x="5114" y="2258"/>
                    <a:ext cx="18" cy="11"/>
                  </a:xfrm>
                  <a:custGeom>
                    <a:avLst/>
                    <a:gdLst>
                      <a:gd name="T0" fmla="*/ 0 w 106"/>
                      <a:gd name="T1" fmla="*/ 19 h 57"/>
                      <a:gd name="T2" fmla="*/ 12 w 106"/>
                      <a:gd name="T3" fmla="*/ 15 h 57"/>
                      <a:gd name="T4" fmla="*/ 27 w 106"/>
                      <a:gd name="T5" fmla="*/ 9 h 57"/>
                      <a:gd name="T6" fmla="*/ 40 w 106"/>
                      <a:gd name="T7" fmla="*/ 4 h 57"/>
                      <a:gd name="T8" fmla="*/ 57 w 106"/>
                      <a:gd name="T9" fmla="*/ 0 h 57"/>
                      <a:gd name="T10" fmla="*/ 74 w 106"/>
                      <a:gd name="T11" fmla="*/ 0 h 57"/>
                      <a:gd name="T12" fmla="*/ 95 w 106"/>
                      <a:gd name="T13" fmla="*/ 5 h 57"/>
                      <a:gd name="T14" fmla="*/ 106 w 106"/>
                      <a:gd name="T15" fmla="*/ 12 h 57"/>
                      <a:gd name="T16" fmla="*/ 83 w 106"/>
                      <a:gd name="T17" fmla="*/ 30 h 57"/>
                      <a:gd name="T18" fmla="*/ 73 w 106"/>
                      <a:gd name="T19" fmla="*/ 36 h 57"/>
                      <a:gd name="T20" fmla="*/ 63 w 106"/>
                      <a:gd name="T21" fmla="*/ 44 h 57"/>
                      <a:gd name="T22" fmla="*/ 51 w 106"/>
                      <a:gd name="T23" fmla="*/ 39 h 57"/>
                      <a:gd name="T24" fmla="*/ 38 w 106"/>
                      <a:gd name="T25" fmla="*/ 39 h 57"/>
                      <a:gd name="T26" fmla="*/ 27 w 106"/>
                      <a:gd name="T27" fmla="*/ 44 h 57"/>
                      <a:gd name="T28" fmla="*/ 16 w 106"/>
                      <a:gd name="T29" fmla="*/ 47 h 57"/>
                      <a:gd name="T30" fmla="*/ 3 w 106"/>
                      <a:gd name="T31" fmla="*/ 57 h 57"/>
                      <a:gd name="T32" fmla="*/ 6 w 106"/>
                      <a:gd name="T33" fmla="*/ 29 h 57"/>
                      <a:gd name="T34" fmla="*/ 0 w 106"/>
                      <a:gd name="T35" fmla="*/ 19 h 5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</a:cxnLst>
                    <a:rect l="0" t="0" r="r" b="b"/>
                    <a:pathLst>
                      <a:path w="106" h="57">
                        <a:moveTo>
                          <a:pt x="0" y="19"/>
                        </a:moveTo>
                        <a:lnTo>
                          <a:pt x="12" y="15"/>
                        </a:lnTo>
                        <a:lnTo>
                          <a:pt x="27" y="9"/>
                        </a:lnTo>
                        <a:lnTo>
                          <a:pt x="40" y="4"/>
                        </a:lnTo>
                        <a:lnTo>
                          <a:pt x="57" y="0"/>
                        </a:lnTo>
                        <a:lnTo>
                          <a:pt x="74" y="0"/>
                        </a:lnTo>
                        <a:lnTo>
                          <a:pt x="95" y="5"/>
                        </a:lnTo>
                        <a:lnTo>
                          <a:pt x="106" y="12"/>
                        </a:lnTo>
                        <a:lnTo>
                          <a:pt x="83" y="30"/>
                        </a:lnTo>
                        <a:lnTo>
                          <a:pt x="73" y="36"/>
                        </a:lnTo>
                        <a:lnTo>
                          <a:pt x="63" y="44"/>
                        </a:lnTo>
                        <a:lnTo>
                          <a:pt x="51" y="39"/>
                        </a:lnTo>
                        <a:lnTo>
                          <a:pt x="38" y="39"/>
                        </a:lnTo>
                        <a:lnTo>
                          <a:pt x="27" y="44"/>
                        </a:lnTo>
                        <a:lnTo>
                          <a:pt x="16" y="47"/>
                        </a:lnTo>
                        <a:lnTo>
                          <a:pt x="3" y="57"/>
                        </a:lnTo>
                        <a:lnTo>
                          <a:pt x="6" y="29"/>
                        </a:lnTo>
                        <a:lnTo>
                          <a:pt x="0" y="19"/>
                        </a:lnTo>
                        <a:close/>
                      </a:path>
                    </a:pathLst>
                  </a:custGeom>
                  <a:solidFill>
                    <a:srgbClr val="FF7F3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407" name="Freeform 236"/>
                  <p:cNvSpPr/>
                  <p:nvPr/>
                </p:nvSpPr>
                <p:spPr bwMode="auto">
                  <a:xfrm>
                    <a:off x="5114" y="2284"/>
                    <a:ext cx="3" cy="3"/>
                  </a:xfrm>
                  <a:custGeom>
                    <a:avLst/>
                    <a:gdLst>
                      <a:gd name="T0" fmla="*/ 12 w 21"/>
                      <a:gd name="T1" fmla="*/ 0 h 18"/>
                      <a:gd name="T2" fmla="*/ 0 w 21"/>
                      <a:gd name="T3" fmla="*/ 12 h 18"/>
                      <a:gd name="T4" fmla="*/ 11 w 21"/>
                      <a:gd name="T5" fmla="*/ 18 h 18"/>
                      <a:gd name="T6" fmla="*/ 20 w 21"/>
                      <a:gd name="T7" fmla="*/ 12 h 18"/>
                      <a:gd name="T8" fmla="*/ 21 w 21"/>
                      <a:gd name="T9" fmla="*/ 0 h 18"/>
                      <a:gd name="T10" fmla="*/ 12 w 21"/>
                      <a:gd name="T11" fmla="*/ 0 h 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1" h="18">
                        <a:moveTo>
                          <a:pt x="12" y="0"/>
                        </a:moveTo>
                        <a:lnTo>
                          <a:pt x="0" y="12"/>
                        </a:lnTo>
                        <a:lnTo>
                          <a:pt x="11" y="18"/>
                        </a:lnTo>
                        <a:lnTo>
                          <a:pt x="20" y="12"/>
                        </a:lnTo>
                        <a:lnTo>
                          <a:pt x="21" y="0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BF7F3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408" name="Freeform 237"/>
                  <p:cNvSpPr/>
                  <p:nvPr/>
                </p:nvSpPr>
                <p:spPr bwMode="auto">
                  <a:xfrm>
                    <a:off x="5110" y="2272"/>
                    <a:ext cx="6" cy="9"/>
                  </a:xfrm>
                  <a:custGeom>
                    <a:avLst/>
                    <a:gdLst>
                      <a:gd name="T0" fmla="*/ 17 w 32"/>
                      <a:gd name="T1" fmla="*/ 0 h 47"/>
                      <a:gd name="T2" fmla="*/ 4 w 32"/>
                      <a:gd name="T3" fmla="*/ 7 h 47"/>
                      <a:gd name="T4" fmla="*/ 0 w 32"/>
                      <a:gd name="T5" fmla="*/ 17 h 47"/>
                      <a:gd name="T6" fmla="*/ 0 w 32"/>
                      <a:gd name="T7" fmla="*/ 27 h 47"/>
                      <a:gd name="T8" fmla="*/ 6 w 32"/>
                      <a:gd name="T9" fmla="*/ 35 h 47"/>
                      <a:gd name="T10" fmla="*/ 14 w 32"/>
                      <a:gd name="T11" fmla="*/ 42 h 47"/>
                      <a:gd name="T12" fmla="*/ 18 w 32"/>
                      <a:gd name="T13" fmla="*/ 47 h 47"/>
                      <a:gd name="T14" fmla="*/ 32 w 32"/>
                      <a:gd name="T15" fmla="*/ 47 h 47"/>
                      <a:gd name="T16" fmla="*/ 25 w 32"/>
                      <a:gd name="T17" fmla="*/ 32 h 47"/>
                      <a:gd name="T18" fmla="*/ 19 w 32"/>
                      <a:gd name="T19" fmla="*/ 22 h 47"/>
                      <a:gd name="T20" fmla="*/ 17 w 32"/>
                      <a:gd name="T21" fmla="*/ 0 h 4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32" h="47">
                        <a:moveTo>
                          <a:pt x="17" y="0"/>
                        </a:moveTo>
                        <a:lnTo>
                          <a:pt x="4" y="7"/>
                        </a:lnTo>
                        <a:lnTo>
                          <a:pt x="0" y="17"/>
                        </a:lnTo>
                        <a:lnTo>
                          <a:pt x="0" y="27"/>
                        </a:lnTo>
                        <a:lnTo>
                          <a:pt x="6" y="35"/>
                        </a:lnTo>
                        <a:lnTo>
                          <a:pt x="14" y="42"/>
                        </a:lnTo>
                        <a:lnTo>
                          <a:pt x="18" y="47"/>
                        </a:lnTo>
                        <a:lnTo>
                          <a:pt x="32" y="47"/>
                        </a:lnTo>
                        <a:lnTo>
                          <a:pt x="25" y="32"/>
                        </a:lnTo>
                        <a:lnTo>
                          <a:pt x="19" y="22"/>
                        </a:lnTo>
                        <a:lnTo>
                          <a:pt x="17" y="0"/>
                        </a:lnTo>
                        <a:close/>
                      </a:path>
                    </a:pathLst>
                  </a:custGeom>
                  <a:solidFill>
                    <a:srgbClr val="FF7F3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grpSp>
                <p:nvGrpSpPr>
                  <p:cNvPr id="409" name="Group 238"/>
                  <p:cNvGrpSpPr/>
                  <p:nvPr/>
                </p:nvGrpSpPr>
                <p:grpSpPr bwMode="auto">
                  <a:xfrm>
                    <a:off x="5079" y="2288"/>
                    <a:ext cx="45" cy="28"/>
                    <a:chOff x="5079" y="2288"/>
                    <a:chExt cx="45" cy="28"/>
                  </a:xfrm>
                </p:grpSpPr>
                <p:sp>
                  <p:nvSpPr>
                    <p:cNvPr id="431" name="Freeform 239"/>
                    <p:cNvSpPr/>
                    <p:nvPr/>
                  </p:nvSpPr>
                  <p:spPr bwMode="auto">
                    <a:xfrm>
                      <a:off x="5096" y="2308"/>
                      <a:ext cx="14" cy="6"/>
                    </a:xfrm>
                    <a:custGeom>
                      <a:avLst/>
                      <a:gdLst>
                        <a:gd name="T0" fmla="*/ 0 w 80"/>
                        <a:gd name="T1" fmla="*/ 0 h 34"/>
                        <a:gd name="T2" fmla="*/ 10 w 80"/>
                        <a:gd name="T3" fmla="*/ 12 h 34"/>
                        <a:gd name="T4" fmla="*/ 19 w 80"/>
                        <a:gd name="T5" fmla="*/ 17 h 34"/>
                        <a:gd name="T6" fmla="*/ 36 w 80"/>
                        <a:gd name="T7" fmla="*/ 22 h 34"/>
                        <a:gd name="T8" fmla="*/ 53 w 80"/>
                        <a:gd name="T9" fmla="*/ 27 h 34"/>
                        <a:gd name="T10" fmla="*/ 65 w 80"/>
                        <a:gd name="T11" fmla="*/ 28 h 34"/>
                        <a:gd name="T12" fmla="*/ 80 w 80"/>
                        <a:gd name="T13" fmla="*/ 28 h 34"/>
                        <a:gd name="T14" fmla="*/ 65 w 80"/>
                        <a:gd name="T15" fmla="*/ 34 h 34"/>
                        <a:gd name="T16" fmla="*/ 48 w 80"/>
                        <a:gd name="T17" fmla="*/ 34 h 34"/>
                        <a:gd name="T18" fmla="*/ 34 w 80"/>
                        <a:gd name="T19" fmla="*/ 31 h 34"/>
                        <a:gd name="T20" fmla="*/ 19 w 80"/>
                        <a:gd name="T21" fmla="*/ 27 h 34"/>
                        <a:gd name="T22" fmla="*/ 11 w 80"/>
                        <a:gd name="T23" fmla="*/ 22 h 34"/>
                        <a:gd name="T24" fmla="*/ 5 w 80"/>
                        <a:gd name="T25" fmla="*/ 12 h 34"/>
                        <a:gd name="T26" fmla="*/ 0 w 80"/>
                        <a:gd name="T27" fmla="*/ 0 h 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</a:cxnLst>
                      <a:rect l="0" t="0" r="r" b="b"/>
                      <a:pathLst>
                        <a:path w="80" h="34">
                          <a:moveTo>
                            <a:pt x="0" y="0"/>
                          </a:moveTo>
                          <a:lnTo>
                            <a:pt x="10" y="12"/>
                          </a:lnTo>
                          <a:lnTo>
                            <a:pt x="19" y="17"/>
                          </a:lnTo>
                          <a:lnTo>
                            <a:pt x="36" y="22"/>
                          </a:lnTo>
                          <a:lnTo>
                            <a:pt x="53" y="27"/>
                          </a:lnTo>
                          <a:lnTo>
                            <a:pt x="65" y="28"/>
                          </a:lnTo>
                          <a:lnTo>
                            <a:pt x="80" y="28"/>
                          </a:lnTo>
                          <a:lnTo>
                            <a:pt x="65" y="34"/>
                          </a:lnTo>
                          <a:lnTo>
                            <a:pt x="48" y="34"/>
                          </a:lnTo>
                          <a:lnTo>
                            <a:pt x="34" y="31"/>
                          </a:lnTo>
                          <a:lnTo>
                            <a:pt x="19" y="27"/>
                          </a:lnTo>
                          <a:lnTo>
                            <a:pt x="11" y="22"/>
                          </a:lnTo>
                          <a:lnTo>
                            <a:pt x="5" y="12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5F3F1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32" name="Freeform 240"/>
                    <p:cNvSpPr/>
                    <p:nvPr/>
                  </p:nvSpPr>
                  <p:spPr bwMode="auto">
                    <a:xfrm>
                      <a:off x="5079" y="2294"/>
                      <a:ext cx="8" cy="22"/>
                    </a:xfrm>
                    <a:custGeom>
                      <a:avLst/>
                      <a:gdLst>
                        <a:gd name="T0" fmla="*/ 5 w 47"/>
                        <a:gd name="T1" fmla="*/ 0 h 110"/>
                        <a:gd name="T2" fmla="*/ 0 w 47"/>
                        <a:gd name="T3" fmla="*/ 18 h 110"/>
                        <a:gd name="T4" fmla="*/ 31 w 47"/>
                        <a:gd name="T5" fmla="*/ 87 h 110"/>
                        <a:gd name="T6" fmla="*/ 47 w 47"/>
                        <a:gd name="T7" fmla="*/ 110 h 110"/>
                        <a:gd name="T8" fmla="*/ 29 w 47"/>
                        <a:gd name="T9" fmla="*/ 64 h 110"/>
                        <a:gd name="T10" fmla="*/ 18 w 47"/>
                        <a:gd name="T11" fmla="*/ 34 h 110"/>
                        <a:gd name="T12" fmla="*/ 5 w 47"/>
                        <a:gd name="T13" fmla="*/ 0 h 11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47" h="110">
                          <a:moveTo>
                            <a:pt x="5" y="0"/>
                          </a:moveTo>
                          <a:lnTo>
                            <a:pt x="0" y="18"/>
                          </a:lnTo>
                          <a:lnTo>
                            <a:pt x="31" y="87"/>
                          </a:lnTo>
                          <a:lnTo>
                            <a:pt x="47" y="110"/>
                          </a:lnTo>
                          <a:lnTo>
                            <a:pt x="29" y="64"/>
                          </a:lnTo>
                          <a:lnTo>
                            <a:pt x="18" y="34"/>
                          </a:lnTo>
                          <a:lnTo>
                            <a:pt x="5" y="0"/>
                          </a:lnTo>
                          <a:close/>
                        </a:path>
                      </a:pathLst>
                    </a:custGeom>
                    <a:solidFill>
                      <a:srgbClr val="5F3F1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33" name="Freeform 241"/>
                    <p:cNvSpPr/>
                    <p:nvPr/>
                  </p:nvSpPr>
                  <p:spPr bwMode="auto">
                    <a:xfrm>
                      <a:off x="5119" y="2288"/>
                      <a:ext cx="5" cy="11"/>
                    </a:xfrm>
                    <a:custGeom>
                      <a:avLst/>
                      <a:gdLst>
                        <a:gd name="T0" fmla="*/ 0 w 28"/>
                        <a:gd name="T1" fmla="*/ 0 h 52"/>
                        <a:gd name="T2" fmla="*/ 14 w 28"/>
                        <a:gd name="T3" fmla="*/ 15 h 52"/>
                        <a:gd name="T4" fmla="*/ 22 w 28"/>
                        <a:gd name="T5" fmla="*/ 26 h 52"/>
                        <a:gd name="T6" fmla="*/ 27 w 28"/>
                        <a:gd name="T7" fmla="*/ 32 h 52"/>
                        <a:gd name="T8" fmla="*/ 28 w 28"/>
                        <a:gd name="T9" fmla="*/ 41 h 52"/>
                        <a:gd name="T10" fmla="*/ 28 w 28"/>
                        <a:gd name="T11" fmla="*/ 52 h 5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8" h="52">
                          <a:moveTo>
                            <a:pt x="0" y="0"/>
                          </a:moveTo>
                          <a:lnTo>
                            <a:pt x="14" y="15"/>
                          </a:lnTo>
                          <a:lnTo>
                            <a:pt x="22" y="26"/>
                          </a:lnTo>
                          <a:lnTo>
                            <a:pt x="27" y="32"/>
                          </a:lnTo>
                          <a:lnTo>
                            <a:pt x="28" y="41"/>
                          </a:lnTo>
                          <a:lnTo>
                            <a:pt x="28" y="52"/>
                          </a:lnTo>
                        </a:path>
                      </a:pathLst>
                    </a:custGeom>
                    <a:noFill/>
                    <a:ln w="1588">
                      <a:solidFill>
                        <a:srgbClr val="000000"/>
                      </a:solidFill>
                      <a:prstDash val="solid"/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34" name="Freeform 242"/>
                    <p:cNvSpPr/>
                    <p:nvPr/>
                  </p:nvSpPr>
                  <p:spPr bwMode="auto">
                    <a:xfrm>
                      <a:off x="5110" y="2302"/>
                      <a:ext cx="7" cy="7"/>
                    </a:xfrm>
                    <a:custGeom>
                      <a:avLst/>
                      <a:gdLst>
                        <a:gd name="T0" fmla="*/ 0 w 41"/>
                        <a:gd name="T1" fmla="*/ 13 h 32"/>
                        <a:gd name="T2" fmla="*/ 20 w 41"/>
                        <a:gd name="T3" fmla="*/ 12 h 32"/>
                        <a:gd name="T4" fmla="*/ 31 w 41"/>
                        <a:gd name="T5" fmla="*/ 6 h 32"/>
                        <a:gd name="T6" fmla="*/ 41 w 41"/>
                        <a:gd name="T7" fmla="*/ 0 h 32"/>
                        <a:gd name="T8" fmla="*/ 28 w 41"/>
                        <a:gd name="T9" fmla="*/ 16 h 32"/>
                        <a:gd name="T10" fmla="*/ 14 w 41"/>
                        <a:gd name="T11" fmla="*/ 28 h 32"/>
                        <a:gd name="T12" fmla="*/ 9 w 41"/>
                        <a:gd name="T13" fmla="*/ 32 h 32"/>
                        <a:gd name="T14" fmla="*/ 12 w 41"/>
                        <a:gd name="T15" fmla="*/ 22 h 32"/>
                        <a:gd name="T16" fmla="*/ 0 w 41"/>
                        <a:gd name="T17" fmla="*/ 13 h 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41" h="32">
                          <a:moveTo>
                            <a:pt x="0" y="13"/>
                          </a:moveTo>
                          <a:lnTo>
                            <a:pt x="20" y="12"/>
                          </a:lnTo>
                          <a:lnTo>
                            <a:pt x="31" y="6"/>
                          </a:lnTo>
                          <a:lnTo>
                            <a:pt x="41" y="0"/>
                          </a:lnTo>
                          <a:lnTo>
                            <a:pt x="28" y="16"/>
                          </a:lnTo>
                          <a:lnTo>
                            <a:pt x="14" y="28"/>
                          </a:lnTo>
                          <a:lnTo>
                            <a:pt x="9" y="32"/>
                          </a:lnTo>
                          <a:lnTo>
                            <a:pt x="12" y="22"/>
                          </a:lnTo>
                          <a:lnTo>
                            <a:pt x="0" y="13"/>
                          </a:lnTo>
                          <a:close/>
                        </a:path>
                      </a:pathLst>
                    </a:custGeom>
                    <a:solidFill>
                      <a:srgbClr val="7F5F3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sp>
                <p:nvSpPr>
                  <p:cNvPr id="410" name="Oval 243"/>
                  <p:cNvSpPr>
                    <a:spLocks noChangeArrowheads="1"/>
                  </p:cNvSpPr>
                  <p:nvPr/>
                </p:nvSpPr>
                <p:spPr bwMode="auto">
                  <a:xfrm>
                    <a:off x="5111" y="2282"/>
                    <a:ext cx="2" cy="3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grpSp>
                <p:nvGrpSpPr>
                  <p:cNvPr id="411" name="Group 244"/>
                  <p:cNvGrpSpPr/>
                  <p:nvPr/>
                </p:nvGrpSpPr>
                <p:grpSpPr bwMode="auto">
                  <a:xfrm>
                    <a:off x="5063" y="2206"/>
                    <a:ext cx="81" cy="71"/>
                    <a:chOff x="5063" y="2206"/>
                    <a:chExt cx="81" cy="71"/>
                  </a:xfrm>
                </p:grpSpPr>
                <p:sp>
                  <p:nvSpPr>
                    <p:cNvPr id="429" name="Freeform 245"/>
                    <p:cNvSpPr/>
                    <p:nvPr/>
                  </p:nvSpPr>
                  <p:spPr bwMode="auto">
                    <a:xfrm>
                      <a:off x="5063" y="2206"/>
                      <a:ext cx="81" cy="71"/>
                    </a:xfrm>
                    <a:custGeom>
                      <a:avLst/>
                      <a:gdLst>
                        <a:gd name="T0" fmla="*/ 2 w 485"/>
                        <a:gd name="T1" fmla="*/ 208 h 353"/>
                        <a:gd name="T2" fmla="*/ 20 w 485"/>
                        <a:gd name="T3" fmla="*/ 157 h 353"/>
                        <a:gd name="T4" fmla="*/ 49 w 485"/>
                        <a:gd name="T5" fmla="*/ 108 h 353"/>
                        <a:gd name="T6" fmla="*/ 67 w 485"/>
                        <a:gd name="T7" fmla="*/ 81 h 353"/>
                        <a:gd name="T8" fmla="*/ 85 w 485"/>
                        <a:gd name="T9" fmla="*/ 55 h 353"/>
                        <a:gd name="T10" fmla="*/ 136 w 485"/>
                        <a:gd name="T11" fmla="*/ 22 h 353"/>
                        <a:gd name="T12" fmla="*/ 187 w 485"/>
                        <a:gd name="T13" fmla="*/ 3 h 353"/>
                        <a:gd name="T14" fmla="*/ 251 w 485"/>
                        <a:gd name="T15" fmla="*/ 0 h 353"/>
                        <a:gd name="T16" fmla="*/ 307 w 485"/>
                        <a:gd name="T17" fmla="*/ 3 h 353"/>
                        <a:gd name="T18" fmla="*/ 369 w 485"/>
                        <a:gd name="T19" fmla="*/ 25 h 353"/>
                        <a:gd name="T20" fmla="*/ 402 w 485"/>
                        <a:gd name="T21" fmla="*/ 54 h 353"/>
                        <a:gd name="T22" fmla="*/ 444 w 485"/>
                        <a:gd name="T23" fmla="*/ 100 h 353"/>
                        <a:gd name="T24" fmla="*/ 473 w 485"/>
                        <a:gd name="T25" fmla="*/ 145 h 353"/>
                        <a:gd name="T26" fmla="*/ 484 w 485"/>
                        <a:gd name="T27" fmla="*/ 185 h 353"/>
                        <a:gd name="T28" fmla="*/ 478 w 485"/>
                        <a:gd name="T29" fmla="*/ 248 h 353"/>
                        <a:gd name="T30" fmla="*/ 453 w 485"/>
                        <a:gd name="T31" fmla="*/ 305 h 353"/>
                        <a:gd name="T32" fmla="*/ 435 w 485"/>
                        <a:gd name="T33" fmla="*/ 353 h 353"/>
                        <a:gd name="T34" fmla="*/ 445 w 485"/>
                        <a:gd name="T35" fmla="*/ 274 h 353"/>
                        <a:gd name="T36" fmla="*/ 455 w 485"/>
                        <a:gd name="T37" fmla="*/ 212 h 353"/>
                        <a:gd name="T38" fmla="*/ 442 w 485"/>
                        <a:gd name="T39" fmla="*/ 152 h 353"/>
                        <a:gd name="T40" fmla="*/ 416 w 485"/>
                        <a:gd name="T41" fmla="*/ 96 h 353"/>
                        <a:gd name="T42" fmla="*/ 377 w 485"/>
                        <a:gd name="T43" fmla="*/ 55 h 353"/>
                        <a:gd name="T44" fmla="*/ 332 w 485"/>
                        <a:gd name="T45" fmla="*/ 29 h 353"/>
                        <a:gd name="T46" fmla="*/ 290 w 485"/>
                        <a:gd name="T47" fmla="*/ 13 h 353"/>
                        <a:gd name="T48" fmla="*/ 218 w 485"/>
                        <a:gd name="T49" fmla="*/ 13 h 353"/>
                        <a:gd name="T50" fmla="*/ 175 w 485"/>
                        <a:gd name="T51" fmla="*/ 24 h 353"/>
                        <a:gd name="T52" fmla="*/ 132 w 485"/>
                        <a:gd name="T53" fmla="*/ 50 h 353"/>
                        <a:gd name="T54" fmla="*/ 106 w 485"/>
                        <a:gd name="T55" fmla="*/ 84 h 353"/>
                        <a:gd name="T56" fmla="*/ 89 w 485"/>
                        <a:gd name="T57" fmla="*/ 123 h 353"/>
                        <a:gd name="T58" fmla="*/ 71 w 485"/>
                        <a:gd name="T59" fmla="*/ 168 h 353"/>
                        <a:gd name="T60" fmla="*/ 67 w 485"/>
                        <a:gd name="T61" fmla="*/ 207 h 353"/>
                        <a:gd name="T62" fmla="*/ 82 w 485"/>
                        <a:gd name="T63" fmla="*/ 243 h 353"/>
                        <a:gd name="T64" fmla="*/ 81 w 485"/>
                        <a:gd name="T65" fmla="*/ 274 h 353"/>
                        <a:gd name="T66" fmla="*/ 70 w 485"/>
                        <a:gd name="T67" fmla="*/ 304 h 353"/>
                        <a:gd name="T68" fmla="*/ 64 w 485"/>
                        <a:gd name="T69" fmla="*/ 341 h 353"/>
                        <a:gd name="T70" fmla="*/ 50 w 485"/>
                        <a:gd name="T71" fmla="*/ 341 h 353"/>
                        <a:gd name="T72" fmla="*/ 39 w 485"/>
                        <a:gd name="T73" fmla="*/ 293 h 353"/>
                        <a:gd name="T74" fmla="*/ 0 w 485"/>
                        <a:gd name="T75" fmla="*/ 252 h 35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</a:cxnLst>
                      <a:rect l="0" t="0" r="r" b="b"/>
                      <a:pathLst>
                        <a:path w="485" h="353">
                          <a:moveTo>
                            <a:pt x="0" y="252"/>
                          </a:moveTo>
                          <a:lnTo>
                            <a:pt x="2" y="208"/>
                          </a:lnTo>
                          <a:lnTo>
                            <a:pt x="9" y="175"/>
                          </a:lnTo>
                          <a:lnTo>
                            <a:pt x="20" y="157"/>
                          </a:lnTo>
                          <a:lnTo>
                            <a:pt x="32" y="133"/>
                          </a:lnTo>
                          <a:lnTo>
                            <a:pt x="49" y="108"/>
                          </a:lnTo>
                          <a:lnTo>
                            <a:pt x="57" y="96"/>
                          </a:lnTo>
                          <a:lnTo>
                            <a:pt x="67" y="81"/>
                          </a:lnTo>
                          <a:lnTo>
                            <a:pt x="75" y="66"/>
                          </a:lnTo>
                          <a:lnTo>
                            <a:pt x="85" y="55"/>
                          </a:lnTo>
                          <a:lnTo>
                            <a:pt x="113" y="37"/>
                          </a:lnTo>
                          <a:lnTo>
                            <a:pt x="136" y="22"/>
                          </a:lnTo>
                          <a:lnTo>
                            <a:pt x="162" y="9"/>
                          </a:lnTo>
                          <a:lnTo>
                            <a:pt x="187" y="3"/>
                          </a:lnTo>
                          <a:lnTo>
                            <a:pt x="216" y="0"/>
                          </a:lnTo>
                          <a:lnTo>
                            <a:pt x="251" y="0"/>
                          </a:lnTo>
                          <a:lnTo>
                            <a:pt x="281" y="0"/>
                          </a:lnTo>
                          <a:lnTo>
                            <a:pt x="307" y="3"/>
                          </a:lnTo>
                          <a:lnTo>
                            <a:pt x="344" y="14"/>
                          </a:lnTo>
                          <a:lnTo>
                            <a:pt x="369" y="25"/>
                          </a:lnTo>
                          <a:lnTo>
                            <a:pt x="387" y="39"/>
                          </a:lnTo>
                          <a:lnTo>
                            <a:pt x="402" y="54"/>
                          </a:lnTo>
                          <a:lnTo>
                            <a:pt x="426" y="77"/>
                          </a:lnTo>
                          <a:lnTo>
                            <a:pt x="444" y="100"/>
                          </a:lnTo>
                          <a:lnTo>
                            <a:pt x="462" y="123"/>
                          </a:lnTo>
                          <a:lnTo>
                            <a:pt x="473" y="145"/>
                          </a:lnTo>
                          <a:lnTo>
                            <a:pt x="480" y="163"/>
                          </a:lnTo>
                          <a:lnTo>
                            <a:pt x="484" y="185"/>
                          </a:lnTo>
                          <a:lnTo>
                            <a:pt x="485" y="216"/>
                          </a:lnTo>
                          <a:lnTo>
                            <a:pt x="478" y="248"/>
                          </a:lnTo>
                          <a:lnTo>
                            <a:pt x="463" y="278"/>
                          </a:lnTo>
                          <a:lnTo>
                            <a:pt x="453" y="305"/>
                          </a:lnTo>
                          <a:lnTo>
                            <a:pt x="442" y="337"/>
                          </a:lnTo>
                          <a:lnTo>
                            <a:pt x="435" y="353"/>
                          </a:lnTo>
                          <a:lnTo>
                            <a:pt x="442" y="307"/>
                          </a:lnTo>
                          <a:lnTo>
                            <a:pt x="445" y="274"/>
                          </a:lnTo>
                          <a:lnTo>
                            <a:pt x="448" y="239"/>
                          </a:lnTo>
                          <a:lnTo>
                            <a:pt x="455" y="212"/>
                          </a:lnTo>
                          <a:lnTo>
                            <a:pt x="451" y="178"/>
                          </a:lnTo>
                          <a:lnTo>
                            <a:pt x="442" y="152"/>
                          </a:lnTo>
                          <a:lnTo>
                            <a:pt x="430" y="123"/>
                          </a:lnTo>
                          <a:lnTo>
                            <a:pt x="416" y="96"/>
                          </a:lnTo>
                          <a:lnTo>
                            <a:pt x="398" y="76"/>
                          </a:lnTo>
                          <a:lnTo>
                            <a:pt x="377" y="55"/>
                          </a:lnTo>
                          <a:lnTo>
                            <a:pt x="353" y="43"/>
                          </a:lnTo>
                          <a:lnTo>
                            <a:pt x="332" y="29"/>
                          </a:lnTo>
                          <a:lnTo>
                            <a:pt x="310" y="21"/>
                          </a:lnTo>
                          <a:lnTo>
                            <a:pt x="290" y="13"/>
                          </a:lnTo>
                          <a:lnTo>
                            <a:pt x="258" y="9"/>
                          </a:lnTo>
                          <a:lnTo>
                            <a:pt x="218" y="13"/>
                          </a:lnTo>
                          <a:lnTo>
                            <a:pt x="193" y="17"/>
                          </a:lnTo>
                          <a:lnTo>
                            <a:pt x="175" y="24"/>
                          </a:lnTo>
                          <a:lnTo>
                            <a:pt x="151" y="37"/>
                          </a:lnTo>
                          <a:lnTo>
                            <a:pt x="132" y="50"/>
                          </a:lnTo>
                          <a:lnTo>
                            <a:pt x="113" y="70"/>
                          </a:lnTo>
                          <a:lnTo>
                            <a:pt x="106" y="84"/>
                          </a:lnTo>
                          <a:lnTo>
                            <a:pt x="97" y="101"/>
                          </a:lnTo>
                          <a:lnTo>
                            <a:pt x="89" y="123"/>
                          </a:lnTo>
                          <a:lnTo>
                            <a:pt x="81" y="144"/>
                          </a:lnTo>
                          <a:lnTo>
                            <a:pt x="71" y="168"/>
                          </a:lnTo>
                          <a:lnTo>
                            <a:pt x="67" y="186"/>
                          </a:lnTo>
                          <a:lnTo>
                            <a:pt x="67" y="207"/>
                          </a:lnTo>
                          <a:lnTo>
                            <a:pt x="74" y="227"/>
                          </a:lnTo>
                          <a:lnTo>
                            <a:pt x="82" y="243"/>
                          </a:lnTo>
                          <a:lnTo>
                            <a:pt x="86" y="259"/>
                          </a:lnTo>
                          <a:lnTo>
                            <a:pt x="81" y="274"/>
                          </a:lnTo>
                          <a:lnTo>
                            <a:pt x="74" y="285"/>
                          </a:lnTo>
                          <a:lnTo>
                            <a:pt x="70" y="304"/>
                          </a:lnTo>
                          <a:lnTo>
                            <a:pt x="64" y="322"/>
                          </a:lnTo>
                          <a:lnTo>
                            <a:pt x="64" y="341"/>
                          </a:lnTo>
                          <a:lnTo>
                            <a:pt x="64" y="353"/>
                          </a:lnTo>
                          <a:lnTo>
                            <a:pt x="50" y="341"/>
                          </a:lnTo>
                          <a:lnTo>
                            <a:pt x="45" y="312"/>
                          </a:lnTo>
                          <a:lnTo>
                            <a:pt x="39" y="293"/>
                          </a:lnTo>
                          <a:lnTo>
                            <a:pt x="31" y="274"/>
                          </a:lnTo>
                          <a:lnTo>
                            <a:pt x="0" y="252"/>
                          </a:lnTo>
                          <a:close/>
                        </a:path>
                      </a:pathLst>
                    </a:custGeom>
                    <a:solidFill>
                      <a:srgbClr val="BFBFB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30" name="Freeform 246"/>
                    <p:cNvSpPr/>
                    <p:nvPr/>
                  </p:nvSpPr>
                  <p:spPr bwMode="auto">
                    <a:xfrm>
                      <a:off x="5063" y="2206"/>
                      <a:ext cx="81" cy="71"/>
                    </a:xfrm>
                    <a:custGeom>
                      <a:avLst/>
                      <a:gdLst>
                        <a:gd name="T0" fmla="*/ 2 w 485"/>
                        <a:gd name="T1" fmla="*/ 208 h 353"/>
                        <a:gd name="T2" fmla="*/ 20 w 485"/>
                        <a:gd name="T3" fmla="*/ 157 h 353"/>
                        <a:gd name="T4" fmla="*/ 49 w 485"/>
                        <a:gd name="T5" fmla="*/ 108 h 353"/>
                        <a:gd name="T6" fmla="*/ 66 w 485"/>
                        <a:gd name="T7" fmla="*/ 81 h 353"/>
                        <a:gd name="T8" fmla="*/ 84 w 485"/>
                        <a:gd name="T9" fmla="*/ 55 h 353"/>
                        <a:gd name="T10" fmla="*/ 136 w 485"/>
                        <a:gd name="T11" fmla="*/ 22 h 353"/>
                        <a:gd name="T12" fmla="*/ 187 w 485"/>
                        <a:gd name="T13" fmla="*/ 3 h 353"/>
                        <a:gd name="T14" fmla="*/ 250 w 485"/>
                        <a:gd name="T15" fmla="*/ 0 h 353"/>
                        <a:gd name="T16" fmla="*/ 307 w 485"/>
                        <a:gd name="T17" fmla="*/ 3 h 353"/>
                        <a:gd name="T18" fmla="*/ 369 w 485"/>
                        <a:gd name="T19" fmla="*/ 25 h 353"/>
                        <a:gd name="T20" fmla="*/ 402 w 485"/>
                        <a:gd name="T21" fmla="*/ 54 h 353"/>
                        <a:gd name="T22" fmla="*/ 444 w 485"/>
                        <a:gd name="T23" fmla="*/ 100 h 353"/>
                        <a:gd name="T24" fmla="*/ 473 w 485"/>
                        <a:gd name="T25" fmla="*/ 145 h 353"/>
                        <a:gd name="T26" fmla="*/ 483 w 485"/>
                        <a:gd name="T27" fmla="*/ 185 h 353"/>
                        <a:gd name="T28" fmla="*/ 478 w 485"/>
                        <a:gd name="T29" fmla="*/ 248 h 353"/>
                        <a:gd name="T30" fmla="*/ 452 w 485"/>
                        <a:gd name="T31" fmla="*/ 305 h 353"/>
                        <a:gd name="T32" fmla="*/ 435 w 485"/>
                        <a:gd name="T33" fmla="*/ 353 h 353"/>
                        <a:gd name="T34" fmla="*/ 445 w 485"/>
                        <a:gd name="T35" fmla="*/ 274 h 353"/>
                        <a:gd name="T36" fmla="*/ 455 w 485"/>
                        <a:gd name="T37" fmla="*/ 212 h 353"/>
                        <a:gd name="T38" fmla="*/ 442 w 485"/>
                        <a:gd name="T39" fmla="*/ 152 h 353"/>
                        <a:gd name="T40" fmla="*/ 415 w 485"/>
                        <a:gd name="T41" fmla="*/ 96 h 353"/>
                        <a:gd name="T42" fmla="*/ 377 w 485"/>
                        <a:gd name="T43" fmla="*/ 55 h 353"/>
                        <a:gd name="T44" fmla="*/ 332 w 485"/>
                        <a:gd name="T45" fmla="*/ 29 h 353"/>
                        <a:gd name="T46" fmla="*/ 290 w 485"/>
                        <a:gd name="T47" fmla="*/ 13 h 353"/>
                        <a:gd name="T48" fmla="*/ 218 w 485"/>
                        <a:gd name="T49" fmla="*/ 13 h 353"/>
                        <a:gd name="T50" fmla="*/ 175 w 485"/>
                        <a:gd name="T51" fmla="*/ 24 h 353"/>
                        <a:gd name="T52" fmla="*/ 132 w 485"/>
                        <a:gd name="T53" fmla="*/ 50 h 353"/>
                        <a:gd name="T54" fmla="*/ 106 w 485"/>
                        <a:gd name="T55" fmla="*/ 84 h 353"/>
                        <a:gd name="T56" fmla="*/ 92 w 485"/>
                        <a:gd name="T57" fmla="*/ 89 h 353"/>
                        <a:gd name="T58" fmla="*/ 72 w 485"/>
                        <a:gd name="T59" fmla="*/ 103 h 353"/>
                        <a:gd name="T60" fmla="*/ 58 w 485"/>
                        <a:gd name="T61" fmla="*/ 127 h 353"/>
                        <a:gd name="T62" fmla="*/ 49 w 485"/>
                        <a:gd name="T63" fmla="*/ 168 h 353"/>
                        <a:gd name="T64" fmla="*/ 46 w 485"/>
                        <a:gd name="T65" fmla="*/ 223 h 353"/>
                        <a:gd name="T66" fmla="*/ 45 w 485"/>
                        <a:gd name="T67" fmla="*/ 312 h 353"/>
                        <a:gd name="T68" fmla="*/ 31 w 485"/>
                        <a:gd name="T69" fmla="*/ 274 h 35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</a:cxnLst>
                      <a:rect l="0" t="0" r="r" b="b"/>
                      <a:pathLst>
                        <a:path w="485" h="353">
                          <a:moveTo>
                            <a:pt x="0" y="252"/>
                          </a:moveTo>
                          <a:lnTo>
                            <a:pt x="2" y="208"/>
                          </a:lnTo>
                          <a:lnTo>
                            <a:pt x="9" y="175"/>
                          </a:lnTo>
                          <a:lnTo>
                            <a:pt x="20" y="157"/>
                          </a:lnTo>
                          <a:lnTo>
                            <a:pt x="32" y="133"/>
                          </a:lnTo>
                          <a:lnTo>
                            <a:pt x="49" y="108"/>
                          </a:lnTo>
                          <a:lnTo>
                            <a:pt x="57" y="96"/>
                          </a:lnTo>
                          <a:lnTo>
                            <a:pt x="66" y="81"/>
                          </a:lnTo>
                          <a:lnTo>
                            <a:pt x="75" y="66"/>
                          </a:lnTo>
                          <a:lnTo>
                            <a:pt x="84" y="55"/>
                          </a:lnTo>
                          <a:lnTo>
                            <a:pt x="113" y="37"/>
                          </a:lnTo>
                          <a:lnTo>
                            <a:pt x="136" y="22"/>
                          </a:lnTo>
                          <a:lnTo>
                            <a:pt x="162" y="9"/>
                          </a:lnTo>
                          <a:lnTo>
                            <a:pt x="187" y="3"/>
                          </a:lnTo>
                          <a:lnTo>
                            <a:pt x="216" y="0"/>
                          </a:lnTo>
                          <a:lnTo>
                            <a:pt x="250" y="0"/>
                          </a:lnTo>
                          <a:lnTo>
                            <a:pt x="280" y="0"/>
                          </a:lnTo>
                          <a:lnTo>
                            <a:pt x="307" y="3"/>
                          </a:lnTo>
                          <a:lnTo>
                            <a:pt x="344" y="14"/>
                          </a:lnTo>
                          <a:lnTo>
                            <a:pt x="369" y="25"/>
                          </a:lnTo>
                          <a:lnTo>
                            <a:pt x="387" y="39"/>
                          </a:lnTo>
                          <a:lnTo>
                            <a:pt x="402" y="54"/>
                          </a:lnTo>
                          <a:lnTo>
                            <a:pt x="426" y="77"/>
                          </a:lnTo>
                          <a:lnTo>
                            <a:pt x="444" y="100"/>
                          </a:lnTo>
                          <a:lnTo>
                            <a:pt x="462" y="123"/>
                          </a:lnTo>
                          <a:lnTo>
                            <a:pt x="473" y="145"/>
                          </a:lnTo>
                          <a:lnTo>
                            <a:pt x="480" y="163"/>
                          </a:lnTo>
                          <a:lnTo>
                            <a:pt x="483" y="185"/>
                          </a:lnTo>
                          <a:lnTo>
                            <a:pt x="485" y="216"/>
                          </a:lnTo>
                          <a:lnTo>
                            <a:pt x="478" y="248"/>
                          </a:lnTo>
                          <a:lnTo>
                            <a:pt x="463" y="278"/>
                          </a:lnTo>
                          <a:lnTo>
                            <a:pt x="452" y="305"/>
                          </a:lnTo>
                          <a:lnTo>
                            <a:pt x="442" y="337"/>
                          </a:lnTo>
                          <a:lnTo>
                            <a:pt x="435" y="353"/>
                          </a:lnTo>
                          <a:lnTo>
                            <a:pt x="442" y="307"/>
                          </a:lnTo>
                          <a:lnTo>
                            <a:pt x="445" y="274"/>
                          </a:lnTo>
                          <a:lnTo>
                            <a:pt x="448" y="239"/>
                          </a:lnTo>
                          <a:lnTo>
                            <a:pt x="455" y="212"/>
                          </a:lnTo>
                          <a:lnTo>
                            <a:pt x="451" y="178"/>
                          </a:lnTo>
                          <a:lnTo>
                            <a:pt x="442" y="152"/>
                          </a:lnTo>
                          <a:lnTo>
                            <a:pt x="430" y="123"/>
                          </a:lnTo>
                          <a:lnTo>
                            <a:pt x="415" y="96"/>
                          </a:lnTo>
                          <a:lnTo>
                            <a:pt x="397" y="76"/>
                          </a:lnTo>
                          <a:lnTo>
                            <a:pt x="377" y="55"/>
                          </a:lnTo>
                          <a:lnTo>
                            <a:pt x="353" y="43"/>
                          </a:lnTo>
                          <a:lnTo>
                            <a:pt x="332" y="29"/>
                          </a:lnTo>
                          <a:lnTo>
                            <a:pt x="310" y="21"/>
                          </a:lnTo>
                          <a:lnTo>
                            <a:pt x="290" y="13"/>
                          </a:lnTo>
                          <a:lnTo>
                            <a:pt x="258" y="9"/>
                          </a:lnTo>
                          <a:lnTo>
                            <a:pt x="218" y="13"/>
                          </a:lnTo>
                          <a:lnTo>
                            <a:pt x="193" y="17"/>
                          </a:lnTo>
                          <a:lnTo>
                            <a:pt x="175" y="24"/>
                          </a:lnTo>
                          <a:lnTo>
                            <a:pt x="151" y="37"/>
                          </a:lnTo>
                          <a:lnTo>
                            <a:pt x="132" y="50"/>
                          </a:lnTo>
                          <a:lnTo>
                            <a:pt x="113" y="70"/>
                          </a:lnTo>
                          <a:lnTo>
                            <a:pt x="106" y="84"/>
                          </a:lnTo>
                          <a:lnTo>
                            <a:pt x="100" y="85"/>
                          </a:lnTo>
                          <a:lnTo>
                            <a:pt x="92" y="89"/>
                          </a:lnTo>
                          <a:lnTo>
                            <a:pt x="81" y="96"/>
                          </a:lnTo>
                          <a:lnTo>
                            <a:pt x="72" y="103"/>
                          </a:lnTo>
                          <a:lnTo>
                            <a:pt x="65" y="111"/>
                          </a:lnTo>
                          <a:lnTo>
                            <a:pt x="58" y="127"/>
                          </a:lnTo>
                          <a:lnTo>
                            <a:pt x="55" y="143"/>
                          </a:lnTo>
                          <a:lnTo>
                            <a:pt x="49" y="168"/>
                          </a:lnTo>
                          <a:lnTo>
                            <a:pt x="46" y="192"/>
                          </a:lnTo>
                          <a:lnTo>
                            <a:pt x="46" y="223"/>
                          </a:lnTo>
                          <a:lnTo>
                            <a:pt x="44" y="262"/>
                          </a:lnTo>
                          <a:lnTo>
                            <a:pt x="45" y="312"/>
                          </a:lnTo>
                          <a:lnTo>
                            <a:pt x="39" y="293"/>
                          </a:lnTo>
                          <a:lnTo>
                            <a:pt x="31" y="274"/>
                          </a:lnTo>
                          <a:lnTo>
                            <a:pt x="0" y="252"/>
                          </a:lnTo>
                          <a:close/>
                        </a:path>
                      </a:pathLst>
                    </a:custGeom>
                    <a:solidFill>
                      <a:srgbClr val="9F9F9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412" name="Group 247"/>
                  <p:cNvGrpSpPr/>
                  <p:nvPr/>
                </p:nvGrpSpPr>
                <p:grpSpPr bwMode="auto">
                  <a:xfrm>
                    <a:off x="5084" y="2252"/>
                    <a:ext cx="50" cy="15"/>
                    <a:chOff x="5084" y="2252"/>
                    <a:chExt cx="50" cy="15"/>
                  </a:xfrm>
                </p:grpSpPr>
                <p:sp>
                  <p:nvSpPr>
                    <p:cNvPr id="427" name="Freeform 248"/>
                    <p:cNvSpPr/>
                    <p:nvPr/>
                  </p:nvSpPr>
                  <p:spPr bwMode="auto">
                    <a:xfrm>
                      <a:off x="5084" y="2252"/>
                      <a:ext cx="24" cy="9"/>
                    </a:xfrm>
                    <a:custGeom>
                      <a:avLst/>
                      <a:gdLst>
                        <a:gd name="T0" fmla="*/ 143 w 143"/>
                        <a:gd name="T1" fmla="*/ 45 h 45"/>
                        <a:gd name="T2" fmla="*/ 143 w 143"/>
                        <a:gd name="T3" fmla="*/ 37 h 45"/>
                        <a:gd name="T4" fmla="*/ 140 w 143"/>
                        <a:gd name="T5" fmla="*/ 26 h 45"/>
                        <a:gd name="T6" fmla="*/ 129 w 143"/>
                        <a:gd name="T7" fmla="*/ 18 h 45"/>
                        <a:gd name="T8" fmla="*/ 117 w 143"/>
                        <a:gd name="T9" fmla="*/ 10 h 45"/>
                        <a:gd name="T10" fmla="*/ 106 w 143"/>
                        <a:gd name="T11" fmla="*/ 3 h 45"/>
                        <a:gd name="T12" fmla="*/ 97 w 143"/>
                        <a:gd name="T13" fmla="*/ 3 h 45"/>
                        <a:gd name="T14" fmla="*/ 82 w 143"/>
                        <a:gd name="T15" fmla="*/ 3 h 45"/>
                        <a:gd name="T16" fmla="*/ 74 w 143"/>
                        <a:gd name="T17" fmla="*/ 0 h 45"/>
                        <a:gd name="T18" fmla="*/ 52 w 143"/>
                        <a:gd name="T19" fmla="*/ 0 h 45"/>
                        <a:gd name="T20" fmla="*/ 38 w 143"/>
                        <a:gd name="T21" fmla="*/ 1 h 45"/>
                        <a:gd name="T22" fmla="*/ 24 w 143"/>
                        <a:gd name="T23" fmla="*/ 6 h 45"/>
                        <a:gd name="T24" fmla="*/ 12 w 143"/>
                        <a:gd name="T25" fmla="*/ 15 h 45"/>
                        <a:gd name="T26" fmla="*/ 0 w 143"/>
                        <a:gd name="T27" fmla="*/ 24 h 45"/>
                        <a:gd name="T28" fmla="*/ 15 w 143"/>
                        <a:gd name="T29" fmla="*/ 17 h 45"/>
                        <a:gd name="T30" fmla="*/ 30 w 143"/>
                        <a:gd name="T31" fmla="*/ 16 h 45"/>
                        <a:gd name="T32" fmla="*/ 43 w 143"/>
                        <a:gd name="T33" fmla="*/ 15 h 45"/>
                        <a:gd name="T34" fmla="*/ 64 w 143"/>
                        <a:gd name="T35" fmla="*/ 17 h 45"/>
                        <a:gd name="T36" fmla="*/ 77 w 143"/>
                        <a:gd name="T37" fmla="*/ 17 h 45"/>
                        <a:gd name="T38" fmla="*/ 91 w 143"/>
                        <a:gd name="T39" fmla="*/ 18 h 45"/>
                        <a:gd name="T40" fmla="*/ 112 w 143"/>
                        <a:gd name="T41" fmla="*/ 27 h 45"/>
                        <a:gd name="T42" fmla="*/ 129 w 143"/>
                        <a:gd name="T43" fmla="*/ 37 h 45"/>
                        <a:gd name="T44" fmla="*/ 143 w 143"/>
                        <a:gd name="T45" fmla="*/ 45 h 4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</a:cxnLst>
                      <a:rect l="0" t="0" r="r" b="b"/>
                      <a:pathLst>
                        <a:path w="143" h="45">
                          <a:moveTo>
                            <a:pt x="143" y="45"/>
                          </a:moveTo>
                          <a:lnTo>
                            <a:pt x="143" y="37"/>
                          </a:lnTo>
                          <a:lnTo>
                            <a:pt x="140" y="26"/>
                          </a:lnTo>
                          <a:lnTo>
                            <a:pt x="129" y="18"/>
                          </a:lnTo>
                          <a:lnTo>
                            <a:pt x="117" y="10"/>
                          </a:lnTo>
                          <a:lnTo>
                            <a:pt x="106" y="3"/>
                          </a:lnTo>
                          <a:lnTo>
                            <a:pt x="97" y="3"/>
                          </a:lnTo>
                          <a:lnTo>
                            <a:pt x="82" y="3"/>
                          </a:lnTo>
                          <a:lnTo>
                            <a:pt x="74" y="0"/>
                          </a:lnTo>
                          <a:lnTo>
                            <a:pt x="52" y="0"/>
                          </a:lnTo>
                          <a:lnTo>
                            <a:pt x="38" y="1"/>
                          </a:lnTo>
                          <a:lnTo>
                            <a:pt x="24" y="6"/>
                          </a:lnTo>
                          <a:lnTo>
                            <a:pt x="12" y="15"/>
                          </a:lnTo>
                          <a:lnTo>
                            <a:pt x="0" y="24"/>
                          </a:lnTo>
                          <a:lnTo>
                            <a:pt x="15" y="17"/>
                          </a:lnTo>
                          <a:lnTo>
                            <a:pt x="30" y="16"/>
                          </a:lnTo>
                          <a:lnTo>
                            <a:pt x="43" y="15"/>
                          </a:lnTo>
                          <a:lnTo>
                            <a:pt x="64" y="17"/>
                          </a:lnTo>
                          <a:lnTo>
                            <a:pt x="77" y="17"/>
                          </a:lnTo>
                          <a:lnTo>
                            <a:pt x="91" y="18"/>
                          </a:lnTo>
                          <a:lnTo>
                            <a:pt x="112" y="27"/>
                          </a:lnTo>
                          <a:lnTo>
                            <a:pt x="129" y="37"/>
                          </a:lnTo>
                          <a:lnTo>
                            <a:pt x="143" y="45"/>
                          </a:lnTo>
                          <a:close/>
                        </a:path>
                      </a:pathLst>
                    </a:custGeom>
                    <a:solidFill>
                      <a:srgbClr val="5F3F1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28" name="Freeform 249"/>
                    <p:cNvSpPr/>
                    <p:nvPr/>
                  </p:nvSpPr>
                  <p:spPr bwMode="auto">
                    <a:xfrm>
                      <a:off x="5116" y="2256"/>
                      <a:ext cx="18" cy="11"/>
                    </a:xfrm>
                    <a:custGeom>
                      <a:avLst/>
                      <a:gdLst>
                        <a:gd name="T0" fmla="*/ 0 w 110"/>
                        <a:gd name="T1" fmla="*/ 23 h 55"/>
                        <a:gd name="T2" fmla="*/ 4 w 110"/>
                        <a:gd name="T3" fmla="*/ 18 h 55"/>
                        <a:gd name="T4" fmla="*/ 15 w 110"/>
                        <a:gd name="T5" fmla="*/ 11 h 55"/>
                        <a:gd name="T6" fmla="*/ 31 w 110"/>
                        <a:gd name="T7" fmla="*/ 3 h 55"/>
                        <a:gd name="T8" fmla="*/ 44 w 110"/>
                        <a:gd name="T9" fmla="*/ 0 h 55"/>
                        <a:gd name="T10" fmla="*/ 62 w 110"/>
                        <a:gd name="T11" fmla="*/ 0 h 55"/>
                        <a:gd name="T12" fmla="*/ 79 w 110"/>
                        <a:gd name="T13" fmla="*/ 2 h 55"/>
                        <a:gd name="T14" fmla="*/ 96 w 110"/>
                        <a:gd name="T15" fmla="*/ 12 h 55"/>
                        <a:gd name="T16" fmla="*/ 103 w 110"/>
                        <a:gd name="T17" fmla="*/ 20 h 55"/>
                        <a:gd name="T18" fmla="*/ 108 w 110"/>
                        <a:gd name="T19" fmla="*/ 32 h 55"/>
                        <a:gd name="T20" fmla="*/ 110 w 110"/>
                        <a:gd name="T21" fmla="*/ 45 h 55"/>
                        <a:gd name="T22" fmla="*/ 108 w 110"/>
                        <a:gd name="T23" fmla="*/ 55 h 55"/>
                        <a:gd name="T24" fmla="*/ 104 w 110"/>
                        <a:gd name="T25" fmla="*/ 39 h 55"/>
                        <a:gd name="T26" fmla="*/ 97 w 110"/>
                        <a:gd name="T27" fmla="*/ 29 h 55"/>
                        <a:gd name="T28" fmla="*/ 87 w 110"/>
                        <a:gd name="T29" fmla="*/ 18 h 55"/>
                        <a:gd name="T30" fmla="*/ 74 w 110"/>
                        <a:gd name="T31" fmla="*/ 15 h 55"/>
                        <a:gd name="T32" fmla="*/ 62 w 110"/>
                        <a:gd name="T33" fmla="*/ 17 h 55"/>
                        <a:gd name="T34" fmla="*/ 53 w 110"/>
                        <a:gd name="T35" fmla="*/ 16 h 55"/>
                        <a:gd name="T36" fmla="*/ 42 w 110"/>
                        <a:gd name="T37" fmla="*/ 16 h 55"/>
                        <a:gd name="T38" fmla="*/ 31 w 110"/>
                        <a:gd name="T39" fmla="*/ 20 h 55"/>
                        <a:gd name="T40" fmla="*/ 16 w 110"/>
                        <a:gd name="T41" fmla="*/ 27 h 55"/>
                        <a:gd name="T42" fmla="*/ 3 w 110"/>
                        <a:gd name="T43" fmla="*/ 28 h 55"/>
                        <a:gd name="T44" fmla="*/ 0 w 110"/>
                        <a:gd name="T45" fmla="*/ 23 h 5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</a:cxnLst>
                      <a:rect l="0" t="0" r="r" b="b"/>
                      <a:pathLst>
                        <a:path w="110" h="55">
                          <a:moveTo>
                            <a:pt x="0" y="23"/>
                          </a:moveTo>
                          <a:lnTo>
                            <a:pt x="4" y="18"/>
                          </a:lnTo>
                          <a:lnTo>
                            <a:pt x="15" y="11"/>
                          </a:lnTo>
                          <a:lnTo>
                            <a:pt x="31" y="3"/>
                          </a:lnTo>
                          <a:lnTo>
                            <a:pt x="44" y="0"/>
                          </a:lnTo>
                          <a:lnTo>
                            <a:pt x="62" y="0"/>
                          </a:lnTo>
                          <a:lnTo>
                            <a:pt x="79" y="2"/>
                          </a:lnTo>
                          <a:lnTo>
                            <a:pt x="96" y="12"/>
                          </a:lnTo>
                          <a:lnTo>
                            <a:pt x="103" y="20"/>
                          </a:lnTo>
                          <a:lnTo>
                            <a:pt x="108" y="32"/>
                          </a:lnTo>
                          <a:lnTo>
                            <a:pt x="110" y="45"/>
                          </a:lnTo>
                          <a:lnTo>
                            <a:pt x="108" y="55"/>
                          </a:lnTo>
                          <a:lnTo>
                            <a:pt x="104" y="39"/>
                          </a:lnTo>
                          <a:lnTo>
                            <a:pt x="97" y="29"/>
                          </a:lnTo>
                          <a:lnTo>
                            <a:pt x="87" y="18"/>
                          </a:lnTo>
                          <a:lnTo>
                            <a:pt x="74" y="15"/>
                          </a:lnTo>
                          <a:lnTo>
                            <a:pt x="62" y="17"/>
                          </a:lnTo>
                          <a:lnTo>
                            <a:pt x="53" y="16"/>
                          </a:lnTo>
                          <a:lnTo>
                            <a:pt x="42" y="16"/>
                          </a:lnTo>
                          <a:lnTo>
                            <a:pt x="31" y="20"/>
                          </a:lnTo>
                          <a:lnTo>
                            <a:pt x="16" y="27"/>
                          </a:lnTo>
                          <a:lnTo>
                            <a:pt x="3" y="28"/>
                          </a:lnTo>
                          <a:lnTo>
                            <a:pt x="0" y="23"/>
                          </a:lnTo>
                          <a:close/>
                        </a:path>
                      </a:pathLst>
                    </a:custGeom>
                    <a:solidFill>
                      <a:srgbClr val="5F3F1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413" name="Group 250"/>
                  <p:cNvGrpSpPr/>
                  <p:nvPr/>
                </p:nvGrpSpPr>
                <p:grpSpPr bwMode="auto">
                  <a:xfrm>
                    <a:off x="5115" y="2265"/>
                    <a:ext cx="13" cy="9"/>
                    <a:chOff x="5115" y="2265"/>
                    <a:chExt cx="13" cy="9"/>
                  </a:xfrm>
                </p:grpSpPr>
                <p:sp>
                  <p:nvSpPr>
                    <p:cNvPr id="421" name="Freeform 251"/>
                    <p:cNvSpPr/>
                    <p:nvPr/>
                  </p:nvSpPr>
                  <p:spPr bwMode="auto">
                    <a:xfrm>
                      <a:off x="5116" y="2265"/>
                      <a:ext cx="12" cy="7"/>
                    </a:xfrm>
                    <a:custGeom>
                      <a:avLst/>
                      <a:gdLst>
                        <a:gd name="T0" fmla="*/ 0 w 71"/>
                        <a:gd name="T1" fmla="*/ 16 h 35"/>
                        <a:gd name="T2" fmla="*/ 6 w 71"/>
                        <a:gd name="T3" fmla="*/ 8 h 35"/>
                        <a:gd name="T4" fmla="*/ 19 w 71"/>
                        <a:gd name="T5" fmla="*/ 1 h 35"/>
                        <a:gd name="T6" fmla="*/ 32 w 71"/>
                        <a:gd name="T7" fmla="*/ 0 h 35"/>
                        <a:gd name="T8" fmla="*/ 44 w 71"/>
                        <a:gd name="T9" fmla="*/ 3 h 35"/>
                        <a:gd name="T10" fmla="*/ 51 w 71"/>
                        <a:gd name="T11" fmla="*/ 5 h 35"/>
                        <a:gd name="T12" fmla="*/ 64 w 71"/>
                        <a:gd name="T13" fmla="*/ 14 h 35"/>
                        <a:gd name="T14" fmla="*/ 71 w 71"/>
                        <a:gd name="T15" fmla="*/ 27 h 35"/>
                        <a:gd name="T16" fmla="*/ 61 w 71"/>
                        <a:gd name="T17" fmla="*/ 29 h 35"/>
                        <a:gd name="T18" fmla="*/ 50 w 71"/>
                        <a:gd name="T19" fmla="*/ 32 h 35"/>
                        <a:gd name="T20" fmla="*/ 40 w 71"/>
                        <a:gd name="T21" fmla="*/ 35 h 35"/>
                        <a:gd name="T22" fmla="*/ 28 w 71"/>
                        <a:gd name="T23" fmla="*/ 35 h 35"/>
                        <a:gd name="T24" fmla="*/ 19 w 71"/>
                        <a:gd name="T25" fmla="*/ 31 h 35"/>
                        <a:gd name="T26" fmla="*/ 0 w 71"/>
                        <a:gd name="T27" fmla="*/ 16 h 3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</a:cxnLst>
                      <a:rect l="0" t="0" r="r" b="b"/>
                      <a:pathLst>
                        <a:path w="71" h="35">
                          <a:moveTo>
                            <a:pt x="0" y="16"/>
                          </a:moveTo>
                          <a:lnTo>
                            <a:pt x="6" y="8"/>
                          </a:lnTo>
                          <a:lnTo>
                            <a:pt x="19" y="1"/>
                          </a:lnTo>
                          <a:lnTo>
                            <a:pt x="32" y="0"/>
                          </a:lnTo>
                          <a:lnTo>
                            <a:pt x="44" y="3"/>
                          </a:lnTo>
                          <a:lnTo>
                            <a:pt x="51" y="5"/>
                          </a:lnTo>
                          <a:lnTo>
                            <a:pt x="64" y="14"/>
                          </a:lnTo>
                          <a:lnTo>
                            <a:pt x="71" y="27"/>
                          </a:lnTo>
                          <a:lnTo>
                            <a:pt x="61" y="29"/>
                          </a:lnTo>
                          <a:lnTo>
                            <a:pt x="50" y="32"/>
                          </a:lnTo>
                          <a:lnTo>
                            <a:pt x="40" y="35"/>
                          </a:lnTo>
                          <a:lnTo>
                            <a:pt x="28" y="35"/>
                          </a:lnTo>
                          <a:lnTo>
                            <a:pt x="19" y="31"/>
                          </a:lnTo>
                          <a:lnTo>
                            <a:pt x="0" y="16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grpSp>
                  <p:nvGrpSpPr>
                    <p:cNvPr id="422" name="Group 252"/>
                    <p:cNvGrpSpPr/>
                    <p:nvPr/>
                  </p:nvGrpSpPr>
                  <p:grpSpPr bwMode="auto">
                    <a:xfrm>
                      <a:off x="5118" y="2265"/>
                      <a:ext cx="9" cy="9"/>
                      <a:chOff x="5118" y="2265"/>
                      <a:chExt cx="9" cy="9"/>
                    </a:xfrm>
                  </p:grpSpPr>
                  <p:sp>
                    <p:nvSpPr>
                      <p:cNvPr id="424" name="Oval 25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118" y="2265"/>
                        <a:ext cx="9" cy="9"/>
                      </a:xfrm>
                      <a:prstGeom prst="ellipse">
                        <a:avLst/>
                      </a:prstGeom>
                      <a:solidFill>
                        <a:srgbClr val="7F3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425" name="Oval 25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120" y="2266"/>
                        <a:ext cx="6" cy="8"/>
                      </a:xfrm>
                      <a:prstGeom prst="ellipse">
                        <a:avLst/>
                      </a:pr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426" name="Oval 25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124" y="2268"/>
                        <a:ext cx="1" cy="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sp>
                  <p:nvSpPr>
                    <p:cNvPr id="423" name="Freeform 256"/>
                    <p:cNvSpPr/>
                    <p:nvPr/>
                  </p:nvSpPr>
                  <p:spPr bwMode="auto">
                    <a:xfrm>
                      <a:off x="5115" y="2265"/>
                      <a:ext cx="13" cy="5"/>
                    </a:xfrm>
                    <a:custGeom>
                      <a:avLst/>
                      <a:gdLst>
                        <a:gd name="T0" fmla="*/ 9 w 76"/>
                        <a:gd name="T1" fmla="*/ 22 h 26"/>
                        <a:gd name="T2" fmla="*/ 0 w 76"/>
                        <a:gd name="T3" fmla="*/ 23 h 26"/>
                        <a:gd name="T4" fmla="*/ 10 w 76"/>
                        <a:gd name="T5" fmla="*/ 13 h 26"/>
                        <a:gd name="T6" fmla="*/ 19 w 76"/>
                        <a:gd name="T7" fmla="*/ 5 h 26"/>
                        <a:gd name="T8" fmla="*/ 34 w 76"/>
                        <a:gd name="T9" fmla="*/ 0 h 26"/>
                        <a:gd name="T10" fmla="*/ 49 w 76"/>
                        <a:gd name="T11" fmla="*/ 0 h 26"/>
                        <a:gd name="T12" fmla="*/ 61 w 76"/>
                        <a:gd name="T13" fmla="*/ 6 h 26"/>
                        <a:gd name="T14" fmla="*/ 67 w 76"/>
                        <a:gd name="T15" fmla="*/ 13 h 26"/>
                        <a:gd name="T16" fmla="*/ 73 w 76"/>
                        <a:gd name="T17" fmla="*/ 22 h 26"/>
                        <a:gd name="T18" fmla="*/ 76 w 76"/>
                        <a:gd name="T19" fmla="*/ 26 h 2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</a:cxnLst>
                      <a:rect l="0" t="0" r="r" b="b"/>
                      <a:pathLst>
                        <a:path w="76" h="26">
                          <a:moveTo>
                            <a:pt x="9" y="22"/>
                          </a:moveTo>
                          <a:lnTo>
                            <a:pt x="0" y="23"/>
                          </a:lnTo>
                          <a:lnTo>
                            <a:pt x="10" y="13"/>
                          </a:lnTo>
                          <a:lnTo>
                            <a:pt x="19" y="5"/>
                          </a:lnTo>
                          <a:lnTo>
                            <a:pt x="34" y="0"/>
                          </a:lnTo>
                          <a:lnTo>
                            <a:pt x="49" y="0"/>
                          </a:lnTo>
                          <a:lnTo>
                            <a:pt x="61" y="6"/>
                          </a:lnTo>
                          <a:lnTo>
                            <a:pt x="67" y="13"/>
                          </a:lnTo>
                          <a:lnTo>
                            <a:pt x="73" y="22"/>
                          </a:lnTo>
                          <a:lnTo>
                            <a:pt x="76" y="26"/>
                          </a:lnTo>
                        </a:path>
                      </a:pathLst>
                    </a:custGeom>
                    <a:noFill/>
                    <a:ln w="1588">
                      <a:solidFill>
                        <a:srgbClr val="000000"/>
                      </a:solidFill>
                      <a:prstDash val="solid"/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414" name="Group 257"/>
                  <p:cNvGrpSpPr/>
                  <p:nvPr/>
                </p:nvGrpSpPr>
                <p:grpSpPr bwMode="auto">
                  <a:xfrm>
                    <a:off x="5088" y="2260"/>
                    <a:ext cx="14" cy="9"/>
                    <a:chOff x="5088" y="2260"/>
                    <a:chExt cx="14" cy="9"/>
                  </a:xfrm>
                </p:grpSpPr>
                <p:sp>
                  <p:nvSpPr>
                    <p:cNvPr id="415" name="Freeform 258"/>
                    <p:cNvSpPr/>
                    <p:nvPr/>
                  </p:nvSpPr>
                  <p:spPr bwMode="auto">
                    <a:xfrm>
                      <a:off x="5090" y="2260"/>
                      <a:ext cx="12" cy="7"/>
                    </a:xfrm>
                    <a:custGeom>
                      <a:avLst/>
                      <a:gdLst>
                        <a:gd name="T0" fmla="*/ 74 w 74"/>
                        <a:gd name="T1" fmla="*/ 23 h 33"/>
                        <a:gd name="T2" fmla="*/ 60 w 74"/>
                        <a:gd name="T3" fmla="*/ 12 h 33"/>
                        <a:gd name="T4" fmla="*/ 50 w 74"/>
                        <a:gd name="T5" fmla="*/ 4 h 33"/>
                        <a:gd name="T6" fmla="*/ 41 w 74"/>
                        <a:gd name="T7" fmla="*/ 2 h 33"/>
                        <a:gd name="T8" fmla="*/ 34 w 74"/>
                        <a:gd name="T9" fmla="*/ 0 h 33"/>
                        <a:gd name="T10" fmla="*/ 25 w 74"/>
                        <a:gd name="T11" fmla="*/ 0 h 33"/>
                        <a:gd name="T12" fmla="*/ 15 w 74"/>
                        <a:gd name="T13" fmla="*/ 4 h 33"/>
                        <a:gd name="T14" fmla="*/ 7 w 74"/>
                        <a:gd name="T15" fmla="*/ 11 h 33"/>
                        <a:gd name="T16" fmla="*/ 0 w 74"/>
                        <a:gd name="T17" fmla="*/ 18 h 33"/>
                        <a:gd name="T18" fmla="*/ 6 w 74"/>
                        <a:gd name="T19" fmla="*/ 22 h 33"/>
                        <a:gd name="T20" fmla="*/ 19 w 74"/>
                        <a:gd name="T21" fmla="*/ 29 h 33"/>
                        <a:gd name="T22" fmla="*/ 34 w 74"/>
                        <a:gd name="T23" fmla="*/ 33 h 33"/>
                        <a:gd name="T24" fmla="*/ 48 w 74"/>
                        <a:gd name="T25" fmla="*/ 32 h 33"/>
                        <a:gd name="T26" fmla="*/ 56 w 74"/>
                        <a:gd name="T27" fmla="*/ 27 h 33"/>
                        <a:gd name="T28" fmla="*/ 62 w 74"/>
                        <a:gd name="T29" fmla="*/ 25 h 33"/>
                        <a:gd name="T30" fmla="*/ 74 w 74"/>
                        <a:gd name="T31" fmla="*/ 23 h 3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</a:cxnLst>
                      <a:rect l="0" t="0" r="r" b="b"/>
                      <a:pathLst>
                        <a:path w="74" h="33">
                          <a:moveTo>
                            <a:pt x="74" y="23"/>
                          </a:moveTo>
                          <a:lnTo>
                            <a:pt x="60" y="12"/>
                          </a:lnTo>
                          <a:lnTo>
                            <a:pt x="50" y="4"/>
                          </a:lnTo>
                          <a:lnTo>
                            <a:pt x="41" y="2"/>
                          </a:lnTo>
                          <a:lnTo>
                            <a:pt x="34" y="0"/>
                          </a:lnTo>
                          <a:lnTo>
                            <a:pt x="25" y="0"/>
                          </a:lnTo>
                          <a:lnTo>
                            <a:pt x="15" y="4"/>
                          </a:lnTo>
                          <a:lnTo>
                            <a:pt x="7" y="11"/>
                          </a:lnTo>
                          <a:lnTo>
                            <a:pt x="0" y="18"/>
                          </a:lnTo>
                          <a:lnTo>
                            <a:pt x="6" y="22"/>
                          </a:lnTo>
                          <a:lnTo>
                            <a:pt x="19" y="29"/>
                          </a:lnTo>
                          <a:lnTo>
                            <a:pt x="34" y="33"/>
                          </a:lnTo>
                          <a:lnTo>
                            <a:pt x="48" y="32"/>
                          </a:lnTo>
                          <a:lnTo>
                            <a:pt x="56" y="27"/>
                          </a:lnTo>
                          <a:lnTo>
                            <a:pt x="62" y="25"/>
                          </a:lnTo>
                          <a:lnTo>
                            <a:pt x="74" y="23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grpSp>
                  <p:nvGrpSpPr>
                    <p:cNvPr id="416" name="Group 259"/>
                    <p:cNvGrpSpPr/>
                    <p:nvPr/>
                  </p:nvGrpSpPr>
                  <p:grpSpPr bwMode="auto">
                    <a:xfrm>
                      <a:off x="5093" y="2260"/>
                      <a:ext cx="9" cy="9"/>
                      <a:chOff x="5093" y="2260"/>
                      <a:chExt cx="9" cy="9"/>
                    </a:xfrm>
                  </p:grpSpPr>
                  <p:sp>
                    <p:nvSpPr>
                      <p:cNvPr id="418" name="Oval 26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093" y="2260"/>
                        <a:ext cx="9" cy="9"/>
                      </a:xfrm>
                      <a:prstGeom prst="ellipse">
                        <a:avLst/>
                      </a:prstGeom>
                      <a:solidFill>
                        <a:srgbClr val="7F3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419" name="Oval 26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095" y="2262"/>
                        <a:ext cx="5" cy="7"/>
                      </a:xfrm>
                      <a:prstGeom prst="ellipse">
                        <a:avLst/>
                      </a:pr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420" name="Oval 26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098" y="2263"/>
                        <a:ext cx="2" cy="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sp>
                  <p:nvSpPr>
                    <p:cNvPr id="417" name="Freeform 263"/>
                    <p:cNvSpPr/>
                    <p:nvPr/>
                  </p:nvSpPr>
                  <p:spPr bwMode="auto">
                    <a:xfrm>
                      <a:off x="5088" y="2260"/>
                      <a:ext cx="13" cy="4"/>
                    </a:xfrm>
                    <a:custGeom>
                      <a:avLst/>
                      <a:gdLst>
                        <a:gd name="T0" fmla="*/ 76 w 76"/>
                        <a:gd name="T1" fmla="*/ 19 h 21"/>
                        <a:gd name="T2" fmla="*/ 67 w 76"/>
                        <a:gd name="T3" fmla="*/ 10 h 21"/>
                        <a:gd name="T4" fmla="*/ 59 w 76"/>
                        <a:gd name="T5" fmla="*/ 4 h 21"/>
                        <a:gd name="T6" fmla="*/ 50 w 76"/>
                        <a:gd name="T7" fmla="*/ 0 h 21"/>
                        <a:gd name="T8" fmla="*/ 40 w 76"/>
                        <a:gd name="T9" fmla="*/ 0 h 21"/>
                        <a:gd name="T10" fmla="*/ 32 w 76"/>
                        <a:gd name="T11" fmla="*/ 2 h 21"/>
                        <a:gd name="T12" fmla="*/ 24 w 76"/>
                        <a:gd name="T13" fmla="*/ 8 h 21"/>
                        <a:gd name="T14" fmla="*/ 15 w 76"/>
                        <a:gd name="T15" fmla="*/ 13 h 21"/>
                        <a:gd name="T16" fmla="*/ 8 w 76"/>
                        <a:gd name="T17" fmla="*/ 20 h 21"/>
                        <a:gd name="T18" fmla="*/ 0 w 76"/>
                        <a:gd name="T19" fmla="*/ 21 h 2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</a:cxnLst>
                      <a:rect l="0" t="0" r="r" b="b"/>
                      <a:pathLst>
                        <a:path w="76" h="21">
                          <a:moveTo>
                            <a:pt x="76" y="19"/>
                          </a:moveTo>
                          <a:lnTo>
                            <a:pt x="67" y="10"/>
                          </a:lnTo>
                          <a:lnTo>
                            <a:pt x="59" y="4"/>
                          </a:lnTo>
                          <a:lnTo>
                            <a:pt x="50" y="0"/>
                          </a:lnTo>
                          <a:lnTo>
                            <a:pt x="40" y="0"/>
                          </a:lnTo>
                          <a:lnTo>
                            <a:pt x="32" y="2"/>
                          </a:lnTo>
                          <a:lnTo>
                            <a:pt x="24" y="8"/>
                          </a:lnTo>
                          <a:lnTo>
                            <a:pt x="15" y="13"/>
                          </a:lnTo>
                          <a:lnTo>
                            <a:pt x="8" y="20"/>
                          </a:lnTo>
                          <a:lnTo>
                            <a:pt x="0" y="21"/>
                          </a:lnTo>
                        </a:path>
                      </a:pathLst>
                    </a:custGeom>
                    <a:noFill/>
                    <a:ln w="1588">
                      <a:solidFill>
                        <a:srgbClr val="000000"/>
                      </a:solidFill>
                      <a:prstDash val="solid"/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</p:grpSp>
          <p:grpSp>
            <p:nvGrpSpPr>
              <p:cNvPr id="256" name="Group 264"/>
              <p:cNvGrpSpPr/>
              <p:nvPr/>
            </p:nvGrpSpPr>
            <p:grpSpPr bwMode="auto">
              <a:xfrm>
                <a:off x="5085" y="2258"/>
                <a:ext cx="261" cy="488"/>
                <a:chOff x="5085" y="2258"/>
                <a:chExt cx="261" cy="488"/>
              </a:xfrm>
            </p:grpSpPr>
            <p:grpSp>
              <p:nvGrpSpPr>
                <p:cNvPr id="325" name="Group 265"/>
                <p:cNvGrpSpPr/>
                <p:nvPr/>
              </p:nvGrpSpPr>
              <p:grpSpPr bwMode="auto">
                <a:xfrm>
                  <a:off x="5314" y="2616"/>
                  <a:ext cx="32" cy="121"/>
                  <a:chOff x="5314" y="2616"/>
                  <a:chExt cx="32" cy="121"/>
                </a:xfrm>
              </p:grpSpPr>
              <p:sp>
                <p:nvSpPr>
                  <p:cNvPr id="393" name="Freeform 266"/>
                  <p:cNvSpPr/>
                  <p:nvPr/>
                </p:nvSpPr>
                <p:spPr bwMode="auto">
                  <a:xfrm>
                    <a:off x="5314" y="2616"/>
                    <a:ext cx="32" cy="121"/>
                  </a:xfrm>
                  <a:custGeom>
                    <a:avLst/>
                    <a:gdLst>
                      <a:gd name="T0" fmla="*/ 141 w 191"/>
                      <a:gd name="T1" fmla="*/ 0 h 606"/>
                      <a:gd name="T2" fmla="*/ 136 w 191"/>
                      <a:gd name="T3" fmla="*/ 106 h 606"/>
                      <a:gd name="T4" fmla="*/ 134 w 191"/>
                      <a:gd name="T5" fmla="*/ 202 h 606"/>
                      <a:gd name="T6" fmla="*/ 125 w 191"/>
                      <a:gd name="T7" fmla="*/ 296 h 606"/>
                      <a:gd name="T8" fmla="*/ 136 w 191"/>
                      <a:gd name="T9" fmla="*/ 328 h 606"/>
                      <a:gd name="T10" fmla="*/ 149 w 191"/>
                      <a:gd name="T11" fmla="*/ 363 h 606"/>
                      <a:gd name="T12" fmla="*/ 166 w 191"/>
                      <a:gd name="T13" fmla="*/ 399 h 606"/>
                      <a:gd name="T14" fmla="*/ 171 w 191"/>
                      <a:gd name="T15" fmla="*/ 413 h 606"/>
                      <a:gd name="T16" fmla="*/ 177 w 191"/>
                      <a:gd name="T17" fmla="*/ 421 h 606"/>
                      <a:gd name="T18" fmla="*/ 182 w 191"/>
                      <a:gd name="T19" fmla="*/ 442 h 606"/>
                      <a:gd name="T20" fmla="*/ 191 w 191"/>
                      <a:gd name="T21" fmla="*/ 484 h 606"/>
                      <a:gd name="T22" fmla="*/ 185 w 191"/>
                      <a:gd name="T23" fmla="*/ 506 h 606"/>
                      <a:gd name="T24" fmla="*/ 177 w 191"/>
                      <a:gd name="T25" fmla="*/ 511 h 606"/>
                      <a:gd name="T26" fmla="*/ 173 w 191"/>
                      <a:gd name="T27" fmla="*/ 525 h 606"/>
                      <a:gd name="T28" fmla="*/ 167 w 191"/>
                      <a:gd name="T29" fmla="*/ 532 h 606"/>
                      <a:gd name="T30" fmla="*/ 153 w 191"/>
                      <a:gd name="T31" fmla="*/ 537 h 606"/>
                      <a:gd name="T32" fmla="*/ 155 w 191"/>
                      <a:gd name="T33" fmla="*/ 554 h 606"/>
                      <a:gd name="T34" fmla="*/ 152 w 191"/>
                      <a:gd name="T35" fmla="*/ 559 h 606"/>
                      <a:gd name="T36" fmla="*/ 129 w 191"/>
                      <a:gd name="T37" fmla="*/ 562 h 606"/>
                      <a:gd name="T38" fmla="*/ 123 w 191"/>
                      <a:gd name="T39" fmla="*/ 589 h 606"/>
                      <a:gd name="T40" fmla="*/ 80 w 191"/>
                      <a:gd name="T41" fmla="*/ 606 h 606"/>
                      <a:gd name="T42" fmla="*/ 57 w 191"/>
                      <a:gd name="T43" fmla="*/ 588 h 606"/>
                      <a:gd name="T44" fmla="*/ 47 w 191"/>
                      <a:gd name="T45" fmla="*/ 578 h 606"/>
                      <a:gd name="T46" fmla="*/ 45 w 191"/>
                      <a:gd name="T47" fmla="*/ 552 h 606"/>
                      <a:gd name="T48" fmla="*/ 69 w 191"/>
                      <a:gd name="T49" fmla="*/ 522 h 606"/>
                      <a:gd name="T50" fmla="*/ 55 w 191"/>
                      <a:gd name="T51" fmla="*/ 496 h 606"/>
                      <a:gd name="T52" fmla="*/ 36 w 191"/>
                      <a:gd name="T53" fmla="*/ 517 h 606"/>
                      <a:gd name="T54" fmla="*/ 35 w 191"/>
                      <a:gd name="T55" fmla="*/ 540 h 606"/>
                      <a:gd name="T56" fmla="*/ 27 w 191"/>
                      <a:gd name="T57" fmla="*/ 556 h 606"/>
                      <a:gd name="T58" fmla="*/ 19 w 191"/>
                      <a:gd name="T59" fmla="*/ 561 h 606"/>
                      <a:gd name="T60" fmla="*/ 10 w 191"/>
                      <a:gd name="T61" fmla="*/ 569 h 606"/>
                      <a:gd name="T62" fmla="*/ 0 w 191"/>
                      <a:gd name="T63" fmla="*/ 562 h 606"/>
                      <a:gd name="T64" fmla="*/ 4 w 191"/>
                      <a:gd name="T65" fmla="*/ 543 h 606"/>
                      <a:gd name="T66" fmla="*/ 2 w 191"/>
                      <a:gd name="T67" fmla="*/ 511 h 606"/>
                      <a:gd name="T68" fmla="*/ 10 w 191"/>
                      <a:gd name="T69" fmla="*/ 450 h 606"/>
                      <a:gd name="T70" fmla="*/ 18 w 191"/>
                      <a:gd name="T71" fmla="*/ 421 h 606"/>
                      <a:gd name="T72" fmla="*/ 32 w 191"/>
                      <a:gd name="T73" fmla="*/ 404 h 606"/>
                      <a:gd name="T74" fmla="*/ 50 w 191"/>
                      <a:gd name="T75" fmla="*/ 384 h 606"/>
                      <a:gd name="T76" fmla="*/ 54 w 191"/>
                      <a:gd name="T77" fmla="*/ 361 h 606"/>
                      <a:gd name="T78" fmla="*/ 57 w 191"/>
                      <a:gd name="T79" fmla="*/ 298 h 606"/>
                      <a:gd name="T80" fmla="*/ 29 w 191"/>
                      <a:gd name="T81" fmla="*/ 135 h 606"/>
                      <a:gd name="T82" fmla="*/ 13 w 191"/>
                      <a:gd name="T83" fmla="*/ 45 h 606"/>
                      <a:gd name="T84" fmla="*/ 141 w 191"/>
                      <a:gd name="T85" fmla="*/ 0 h 6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</a:cxnLst>
                    <a:rect l="0" t="0" r="r" b="b"/>
                    <a:pathLst>
                      <a:path w="191" h="606">
                        <a:moveTo>
                          <a:pt x="141" y="0"/>
                        </a:moveTo>
                        <a:lnTo>
                          <a:pt x="136" y="106"/>
                        </a:lnTo>
                        <a:lnTo>
                          <a:pt x="134" y="202"/>
                        </a:lnTo>
                        <a:lnTo>
                          <a:pt x="125" y="296"/>
                        </a:lnTo>
                        <a:lnTo>
                          <a:pt x="136" y="328"/>
                        </a:lnTo>
                        <a:lnTo>
                          <a:pt x="149" y="363"/>
                        </a:lnTo>
                        <a:lnTo>
                          <a:pt x="166" y="399"/>
                        </a:lnTo>
                        <a:lnTo>
                          <a:pt x="171" y="413"/>
                        </a:lnTo>
                        <a:lnTo>
                          <a:pt x="177" y="421"/>
                        </a:lnTo>
                        <a:lnTo>
                          <a:pt x="182" y="442"/>
                        </a:lnTo>
                        <a:lnTo>
                          <a:pt x="191" y="484"/>
                        </a:lnTo>
                        <a:lnTo>
                          <a:pt x="185" y="506"/>
                        </a:lnTo>
                        <a:lnTo>
                          <a:pt x="177" y="511"/>
                        </a:lnTo>
                        <a:lnTo>
                          <a:pt x="173" y="525"/>
                        </a:lnTo>
                        <a:lnTo>
                          <a:pt x="167" y="532"/>
                        </a:lnTo>
                        <a:lnTo>
                          <a:pt x="153" y="537"/>
                        </a:lnTo>
                        <a:lnTo>
                          <a:pt x="155" y="554"/>
                        </a:lnTo>
                        <a:lnTo>
                          <a:pt x="152" y="559"/>
                        </a:lnTo>
                        <a:lnTo>
                          <a:pt x="129" y="562"/>
                        </a:lnTo>
                        <a:lnTo>
                          <a:pt x="123" y="589"/>
                        </a:lnTo>
                        <a:lnTo>
                          <a:pt x="80" y="606"/>
                        </a:lnTo>
                        <a:lnTo>
                          <a:pt x="57" y="588"/>
                        </a:lnTo>
                        <a:lnTo>
                          <a:pt x="47" y="578"/>
                        </a:lnTo>
                        <a:lnTo>
                          <a:pt x="45" y="552"/>
                        </a:lnTo>
                        <a:lnTo>
                          <a:pt x="69" y="522"/>
                        </a:lnTo>
                        <a:lnTo>
                          <a:pt x="55" y="496"/>
                        </a:lnTo>
                        <a:lnTo>
                          <a:pt x="36" y="517"/>
                        </a:lnTo>
                        <a:lnTo>
                          <a:pt x="35" y="540"/>
                        </a:lnTo>
                        <a:lnTo>
                          <a:pt x="27" y="556"/>
                        </a:lnTo>
                        <a:lnTo>
                          <a:pt x="19" y="561"/>
                        </a:lnTo>
                        <a:lnTo>
                          <a:pt x="10" y="569"/>
                        </a:lnTo>
                        <a:lnTo>
                          <a:pt x="0" y="562"/>
                        </a:lnTo>
                        <a:lnTo>
                          <a:pt x="4" y="543"/>
                        </a:lnTo>
                        <a:lnTo>
                          <a:pt x="2" y="511"/>
                        </a:lnTo>
                        <a:lnTo>
                          <a:pt x="10" y="450"/>
                        </a:lnTo>
                        <a:lnTo>
                          <a:pt x="18" y="421"/>
                        </a:lnTo>
                        <a:lnTo>
                          <a:pt x="32" y="404"/>
                        </a:lnTo>
                        <a:lnTo>
                          <a:pt x="50" y="384"/>
                        </a:lnTo>
                        <a:lnTo>
                          <a:pt x="54" y="361"/>
                        </a:lnTo>
                        <a:lnTo>
                          <a:pt x="57" y="298"/>
                        </a:lnTo>
                        <a:lnTo>
                          <a:pt x="29" y="135"/>
                        </a:lnTo>
                        <a:lnTo>
                          <a:pt x="13" y="45"/>
                        </a:lnTo>
                        <a:lnTo>
                          <a:pt x="141" y="0"/>
                        </a:lnTo>
                        <a:close/>
                      </a:path>
                    </a:pathLst>
                  </a:custGeom>
                  <a:solidFill>
                    <a:srgbClr val="FF9F7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94" name="Freeform 267"/>
                  <p:cNvSpPr/>
                  <p:nvPr/>
                </p:nvSpPr>
                <p:spPr bwMode="auto">
                  <a:xfrm>
                    <a:off x="5322" y="2711"/>
                    <a:ext cx="7" cy="23"/>
                  </a:xfrm>
                  <a:custGeom>
                    <a:avLst/>
                    <a:gdLst>
                      <a:gd name="T0" fmla="*/ 0 w 45"/>
                      <a:gd name="T1" fmla="*/ 0 h 117"/>
                      <a:gd name="T2" fmla="*/ 14 w 45"/>
                      <a:gd name="T3" fmla="*/ 17 h 117"/>
                      <a:gd name="T4" fmla="*/ 28 w 45"/>
                      <a:gd name="T5" fmla="*/ 38 h 117"/>
                      <a:gd name="T6" fmla="*/ 35 w 45"/>
                      <a:gd name="T7" fmla="*/ 48 h 117"/>
                      <a:gd name="T8" fmla="*/ 39 w 45"/>
                      <a:gd name="T9" fmla="*/ 59 h 117"/>
                      <a:gd name="T10" fmla="*/ 40 w 45"/>
                      <a:gd name="T11" fmla="*/ 70 h 117"/>
                      <a:gd name="T12" fmla="*/ 41 w 45"/>
                      <a:gd name="T13" fmla="*/ 82 h 117"/>
                      <a:gd name="T14" fmla="*/ 41 w 45"/>
                      <a:gd name="T15" fmla="*/ 93 h 117"/>
                      <a:gd name="T16" fmla="*/ 42 w 45"/>
                      <a:gd name="T17" fmla="*/ 106 h 117"/>
                      <a:gd name="T18" fmla="*/ 43 w 45"/>
                      <a:gd name="T19" fmla="*/ 117 h 117"/>
                      <a:gd name="T20" fmla="*/ 45 w 45"/>
                      <a:gd name="T21" fmla="*/ 117 h 117"/>
                      <a:gd name="T22" fmla="*/ 35 w 45"/>
                      <a:gd name="T23" fmla="*/ 96 h 117"/>
                      <a:gd name="T24" fmla="*/ 12 w 45"/>
                      <a:gd name="T25" fmla="*/ 101 h 117"/>
                      <a:gd name="T26" fmla="*/ 28 w 45"/>
                      <a:gd name="T27" fmla="*/ 85 h 117"/>
                      <a:gd name="T28" fmla="*/ 34 w 45"/>
                      <a:gd name="T29" fmla="*/ 78 h 117"/>
                      <a:gd name="T30" fmla="*/ 28 w 45"/>
                      <a:gd name="T31" fmla="*/ 72 h 117"/>
                      <a:gd name="T32" fmla="*/ 15 w 45"/>
                      <a:gd name="T33" fmla="*/ 74 h 117"/>
                      <a:gd name="T34" fmla="*/ 24 w 45"/>
                      <a:gd name="T35" fmla="*/ 46 h 117"/>
                      <a:gd name="T36" fmla="*/ 4 w 45"/>
                      <a:gd name="T37" fmla="*/ 11 h 117"/>
                      <a:gd name="T38" fmla="*/ 0 w 45"/>
                      <a:gd name="T39" fmla="*/ 0 h 1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45" h="117">
                        <a:moveTo>
                          <a:pt x="0" y="0"/>
                        </a:moveTo>
                        <a:lnTo>
                          <a:pt x="14" y="17"/>
                        </a:lnTo>
                        <a:lnTo>
                          <a:pt x="28" y="38"/>
                        </a:lnTo>
                        <a:lnTo>
                          <a:pt x="35" y="48"/>
                        </a:lnTo>
                        <a:lnTo>
                          <a:pt x="39" y="59"/>
                        </a:lnTo>
                        <a:lnTo>
                          <a:pt x="40" y="70"/>
                        </a:lnTo>
                        <a:lnTo>
                          <a:pt x="41" y="82"/>
                        </a:lnTo>
                        <a:lnTo>
                          <a:pt x="41" y="93"/>
                        </a:lnTo>
                        <a:lnTo>
                          <a:pt x="42" y="106"/>
                        </a:lnTo>
                        <a:lnTo>
                          <a:pt x="43" y="117"/>
                        </a:lnTo>
                        <a:lnTo>
                          <a:pt x="45" y="117"/>
                        </a:lnTo>
                        <a:lnTo>
                          <a:pt x="35" y="96"/>
                        </a:lnTo>
                        <a:lnTo>
                          <a:pt x="12" y="101"/>
                        </a:lnTo>
                        <a:lnTo>
                          <a:pt x="28" y="85"/>
                        </a:lnTo>
                        <a:lnTo>
                          <a:pt x="34" y="78"/>
                        </a:lnTo>
                        <a:lnTo>
                          <a:pt x="28" y="72"/>
                        </a:lnTo>
                        <a:lnTo>
                          <a:pt x="15" y="74"/>
                        </a:lnTo>
                        <a:lnTo>
                          <a:pt x="24" y="46"/>
                        </a:lnTo>
                        <a:lnTo>
                          <a:pt x="4" y="1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BF3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  <p:grpSp>
              <p:nvGrpSpPr>
                <p:cNvPr id="326" name="Group 268"/>
                <p:cNvGrpSpPr/>
                <p:nvPr/>
              </p:nvGrpSpPr>
              <p:grpSpPr bwMode="auto">
                <a:xfrm>
                  <a:off x="5159" y="2399"/>
                  <a:ext cx="175" cy="347"/>
                  <a:chOff x="5159" y="2399"/>
                  <a:chExt cx="175" cy="347"/>
                </a:xfrm>
              </p:grpSpPr>
              <p:sp>
                <p:nvSpPr>
                  <p:cNvPr id="390" name="Freeform 269"/>
                  <p:cNvSpPr/>
                  <p:nvPr/>
                </p:nvSpPr>
                <p:spPr bwMode="auto">
                  <a:xfrm>
                    <a:off x="5159" y="2400"/>
                    <a:ext cx="175" cy="346"/>
                  </a:xfrm>
                  <a:custGeom>
                    <a:avLst/>
                    <a:gdLst>
                      <a:gd name="T0" fmla="*/ 373 w 1051"/>
                      <a:gd name="T1" fmla="*/ 11 h 1731"/>
                      <a:gd name="T2" fmla="*/ 251 w 1051"/>
                      <a:gd name="T3" fmla="*/ 22 h 1731"/>
                      <a:gd name="T4" fmla="*/ 187 w 1051"/>
                      <a:gd name="T5" fmla="*/ 89 h 1731"/>
                      <a:gd name="T6" fmla="*/ 36 w 1051"/>
                      <a:gd name="T7" fmla="*/ 258 h 1731"/>
                      <a:gd name="T8" fmla="*/ 51 w 1051"/>
                      <a:gd name="T9" fmla="*/ 332 h 1731"/>
                      <a:gd name="T10" fmla="*/ 97 w 1051"/>
                      <a:gd name="T11" fmla="*/ 408 h 1731"/>
                      <a:gd name="T12" fmla="*/ 194 w 1051"/>
                      <a:gd name="T13" fmla="*/ 393 h 1731"/>
                      <a:gd name="T14" fmla="*/ 212 w 1051"/>
                      <a:gd name="T15" fmla="*/ 453 h 1731"/>
                      <a:gd name="T16" fmla="*/ 248 w 1051"/>
                      <a:gd name="T17" fmla="*/ 572 h 1731"/>
                      <a:gd name="T18" fmla="*/ 287 w 1051"/>
                      <a:gd name="T19" fmla="*/ 638 h 1731"/>
                      <a:gd name="T20" fmla="*/ 301 w 1051"/>
                      <a:gd name="T21" fmla="*/ 749 h 1731"/>
                      <a:gd name="T22" fmla="*/ 294 w 1051"/>
                      <a:gd name="T23" fmla="*/ 912 h 1731"/>
                      <a:gd name="T24" fmla="*/ 237 w 1051"/>
                      <a:gd name="T25" fmla="*/ 1209 h 1731"/>
                      <a:gd name="T26" fmla="*/ 208 w 1051"/>
                      <a:gd name="T27" fmla="*/ 1470 h 1731"/>
                      <a:gd name="T28" fmla="*/ 965 w 1051"/>
                      <a:gd name="T29" fmla="*/ 1731 h 1731"/>
                      <a:gd name="T30" fmla="*/ 929 w 1051"/>
                      <a:gd name="T31" fmla="*/ 1470 h 1731"/>
                      <a:gd name="T32" fmla="*/ 822 w 1051"/>
                      <a:gd name="T33" fmla="*/ 1053 h 1731"/>
                      <a:gd name="T34" fmla="*/ 794 w 1051"/>
                      <a:gd name="T35" fmla="*/ 886 h 1731"/>
                      <a:gd name="T36" fmla="*/ 826 w 1051"/>
                      <a:gd name="T37" fmla="*/ 671 h 1731"/>
                      <a:gd name="T38" fmla="*/ 854 w 1051"/>
                      <a:gd name="T39" fmla="*/ 587 h 1731"/>
                      <a:gd name="T40" fmla="*/ 879 w 1051"/>
                      <a:gd name="T41" fmla="*/ 675 h 1731"/>
                      <a:gd name="T42" fmla="*/ 989 w 1051"/>
                      <a:gd name="T43" fmla="*/ 645 h 1731"/>
                      <a:gd name="T44" fmla="*/ 1033 w 1051"/>
                      <a:gd name="T45" fmla="*/ 517 h 1731"/>
                      <a:gd name="T46" fmla="*/ 989 w 1051"/>
                      <a:gd name="T47" fmla="*/ 262 h 1731"/>
                      <a:gd name="T48" fmla="*/ 886 w 1051"/>
                      <a:gd name="T49" fmla="*/ 141 h 1731"/>
                      <a:gd name="T50" fmla="*/ 685 w 1051"/>
                      <a:gd name="T51" fmla="*/ 18 h 1731"/>
                      <a:gd name="T52" fmla="*/ 689 w 1051"/>
                      <a:gd name="T53" fmla="*/ 97 h 1731"/>
                      <a:gd name="T54" fmla="*/ 674 w 1051"/>
                      <a:gd name="T55" fmla="*/ 151 h 1731"/>
                      <a:gd name="T56" fmla="*/ 648 w 1051"/>
                      <a:gd name="T57" fmla="*/ 190 h 1731"/>
                      <a:gd name="T58" fmla="*/ 605 w 1051"/>
                      <a:gd name="T59" fmla="*/ 217 h 1731"/>
                      <a:gd name="T60" fmla="*/ 561 w 1051"/>
                      <a:gd name="T61" fmla="*/ 219 h 1731"/>
                      <a:gd name="T62" fmla="*/ 506 w 1051"/>
                      <a:gd name="T63" fmla="*/ 200 h 1731"/>
                      <a:gd name="T64" fmla="*/ 462 w 1051"/>
                      <a:gd name="T65" fmla="*/ 169 h 1731"/>
                      <a:gd name="T66" fmla="*/ 432 w 1051"/>
                      <a:gd name="T67" fmla="*/ 137 h 1731"/>
                      <a:gd name="T68" fmla="*/ 415 w 1051"/>
                      <a:gd name="T69" fmla="*/ 96 h 1731"/>
                      <a:gd name="T70" fmla="*/ 434 w 1051"/>
                      <a:gd name="T71" fmla="*/ 0 h 17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</a:cxnLst>
                    <a:rect l="0" t="0" r="r" b="b"/>
                    <a:pathLst>
                      <a:path w="1051" h="1731">
                        <a:moveTo>
                          <a:pt x="434" y="0"/>
                        </a:moveTo>
                        <a:lnTo>
                          <a:pt x="373" y="11"/>
                        </a:lnTo>
                        <a:lnTo>
                          <a:pt x="301" y="22"/>
                        </a:lnTo>
                        <a:lnTo>
                          <a:pt x="251" y="22"/>
                        </a:lnTo>
                        <a:lnTo>
                          <a:pt x="237" y="26"/>
                        </a:lnTo>
                        <a:lnTo>
                          <a:pt x="187" y="89"/>
                        </a:lnTo>
                        <a:lnTo>
                          <a:pt x="94" y="199"/>
                        </a:lnTo>
                        <a:lnTo>
                          <a:pt x="36" y="258"/>
                        </a:lnTo>
                        <a:lnTo>
                          <a:pt x="0" y="299"/>
                        </a:lnTo>
                        <a:lnTo>
                          <a:pt x="51" y="332"/>
                        </a:lnTo>
                        <a:lnTo>
                          <a:pt x="76" y="369"/>
                        </a:lnTo>
                        <a:lnTo>
                          <a:pt x="97" y="408"/>
                        </a:lnTo>
                        <a:lnTo>
                          <a:pt x="111" y="461"/>
                        </a:lnTo>
                        <a:lnTo>
                          <a:pt x="194" y="393"/>
                        </a:lnTo>
                        <a:lnTo>
                          <a:pt x="205" y="411"/>
                        </a:lnTo>
                        <a:lnTo>
                          <a:pt x="212" y="453"/>
                        </a:lnTo>
                        <a:lnTo>
                          <a:pt x="230" y="531"/>
                        </a:lnTo>
                        <a:lnTo>
                          <a:pt x="248" y="572"/>
                        </a:lnTo>
                        <a:lnTo>
                          <a:pt x="262" y="606"/>
                        </a:lnTo>
                        <a:lnTo>
                          <a:pt x="287" y="638"/>
                        </a:lnTo>
                        <a:lnTo>
                          <a:pt x="298" y="697"/>
                        </a:lnTo>
                        <a:lnTo>
                          <a:pt x="301" y="749"/>
                        </a:lnTo>
                        <a:lnTo>
                          <a:pt x="294" y="801"/>
                        </a:lnTo>
                        <a:lnTo>
                          <a:pt x="294" y="912"/>
                        </a:lnTo>
                        <a:lnTo>
                          <a:pt x="284" y="1072"/>
                        </a:lnTo>
                        <a:lnTo>
                          <a:pt x="237" y="1209"/>
                        </a:lnTo>
                        <a:lnTo>
                          <a:pt x="219" y="1318"/>
                        </a:lnTo>
                        <a:lnTo>
                          <a:pt x="208" y="1470"/>
                        </a:lnTo>
                        <a:lnTo>
                          <a:pt x="201" y="1731"/>
                        </a:lnTo>
                        <a:lnTo>
                          <a:pt x="965" y="1731"/>
                        </a:lnTo>
                        <a:lnTo>
                          <a:pt x="954" y="1587"/>
                        </a:lnTo>
                        <a:lnTo>
                          <a:pt x="929" y="1470"/>
                        </a:lnTo>
                        <a:lnTo>
                          <a:pt x="886" y="1257"/>
                        </a:lnTo>
                        <a:lnTo>
                          <a:pt x="822" y="1053"/>
                        </a:lnTo>
                        <a:lnTo>
                          <a:pt x="805" y="964"/>
                        </a:lnTo>
                        <a:lnTo>
                          <a:pt x="794" y="886"/>
                        </a:lnTo>
                        <a:lnTo>
                          <a:pt x="801" y="786"/>
                        </a:lnTo>
                        <a:lnTo>
                          <a:pt x="826" y="671"/>
                        </a:lnTo>
                        <a:lnTo>
                          <a:pt x="840" y="634"/>
                        </a:lnTo>
                        <a:lnTo>
                          <a:pt x="854" y="587"/>
                        </a:lnTo>
                        <a:lnTo>
                          <a:pt x="871" y="623"/>
                        </a:lnTo>
                        <a:lnTo>
                          <a:pt x="879" y="675"/>
                        </a:lnTo>
                        <a:lnTo>
                          <a:pt x="932" y="656"/>
                        </a:lnTo>
                        <a:lnTo>
                          <a:pt x="989" y="645"/>
                        </a:lnTo>
                        <a:lnTo>
                          <a:pt x="1051" y="638"/>
                        </a:lnTo>
                        <a:lnTo>
                          <a:pt x="1033" y="517"/>
                        </a:lnTo>
                        <a:lnTo>
                          <a:pt x="1022" y="411"/>
                        </a:lnTo>
                        <a:lnTo>
                          <a:pt x="989" y="262"/>
                        </a:lnTo>
                        <a:lnTo>
                          <a:pt x="979" y="195"/>
                        </a:lnTo>
                        <a:lnTo>
                          <a:pt x="886" y="141"/>
                        </a:lnTo>
                        <a:lnTo>
                          <a:pt x="794" y="85"/>
                        </a:lnTo>
                        <a:lnTo>
                          <a:pt x="685" y="18"/>
                        </a:lnTo>
                        <a:lnTo>
                          <a:pt x="689" y="74"/>
                        </a:lnTo>
                        <a:lnTo>
                          <a:pt x="689" y="97"/>
                        </a:lnTo>
                        <a:lnTo>
                          <a:pt x="681" y="130"/>
                        </a:lnTo>
                        <a:lnTo>
                          <a:pt x="674" y="151"/>
                        </a:lnTo>
                        <a:lnTo>
                          <a:pt x="664" y="173"/>
                        </a:lnTo>
                        <a:lnTo>
                          <a:pt x="648" y="190"/>
                        </a:lnTo>
                        <a:lnTo>
                          <a:pt x="632" y="201"/>
                        </a:lnTo>
                        <a:lnTo>
                          <a:pt x="605" y="217"/>
                        </a:lnTo>
                        <a:lnTo>
                          <a:pt x="581" y="220"/>
                        </a:lnTo>
                        <a:lnTo>
                          <a:pt x="561" y="219"/>
                        </a:lnTo>
                        <a:lnTo>
                          <a:pt x="531" y="211"/>
                        </a:lnTo>
                        <a:lnTo>
                          <a:pt x="506" y="200"/>
                        </a:lnTo>
                        <a:lnTo>
                          <a:pt x="481" y="185"/>
                        </a:lnTo>
                        <a:lnTo>
                          <a:pt x="462" y="169"/>
                        </a:lnTo>
                        <a:lnTo>
                          <a:pt x="446" y="154"/>
                        </a:lnTo>
                        <a:lnTo>
                          <a:pt x="432" y="137"/>
                        </a:lnTo>
                        <a:lnTo>
                          <a:pt x="421" y="117"/>
                        </a:lnTo>
                        <a:lnTo>
                          <a:pt x="415" y="96"/>
                        </a:lnTo>
                        <a:lnTo>
                          <a:pt x="413" y="70"/>
                        </a:lnTo>
                        <a:lnTo>
                          <a:pt x="434" y="0"/>
                        </a:lnTo>
                        <a:close/>
                      </a:path>
                    </a:pathLst>
                  </a:custGeom>
                  <a:solidFill>
                    <a:srgbClr val="DFFFB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91" name="Freeform 270"/>
                  <p:cNvSpPr/>
                  <p:nvPr/>
                </p:nvSpPr>
                <p:spPr bwMode="auto">
                  <a:xfrm>
                    <a:off x="5159" y="2399"/>
                    <a:ext cx="78" cy="347"/>
                  </a:xfrm>
                  <a:custGeom>
                    <a:avLst/>
                    <a:gdLst>
                      <a:gd name="T0" fmla="*/ 374 w 471"/>
                      <a:gd name="T1" fmla="*/ 11 h 1735"/>
                      <a:gd name="T2" fmla="*/ 252 w 471"/>
                      <a:gd name="T3" fmla="*/ 22 h 1735"/>
                      <a:gd name="T4" fmla="*/ 188 w 471"/>
                      <a:gd name="T5" fmla="*/ 89 h 1735"/>
                      <a:gd name="T6" fmla="*/ 36 w 471"/>
                      <a:gd name="T7" fmla="*/ 258 h 1735"/>
                      <a:gd name="T8" fmla="*/ 51 w 471"/>
                      <a:gd name="T9" fmla="*/ 333 h 1735"/>
                      <a:gd name="T10" fmla="*/ 97 w 471"/>
                      <a:gd name="T11" fmla="*/ 408 h 1735"/>
                      <a:gd name="T12" fmla="*/ 195 w 471"/>
                      <a:gd name="T13" fmla="*/ 393 h 1735"/>
                      <a:gd name="T14" fmla="*/ 213 w 471"/>
                      <a:gd name="T15" fmla="*/ 454 h 1735"/>
                      <a:gd name="T16" fmla="*/ 249 w 471"/>
                      <a:gd name="T17" fmla="*/ 572 h 1735"/>
                      <a:gd name="T18" fmla="*/ 287 w 471"/>
                      <a:gd name="T19" fmla="*/ 638 h 1735"/>
                      <a:gd name="T20" fmla="*/ 301 w 471"/>
                      <a:gd name="T21" fmla="*/ 749 h 1735"/>
                      <a:gd name="T22" fmla="*/ 294 w 471"/>
                      <a:gd name="T23" fmla="*/ 912 h 1735"/>
                      <a:gd name="T24" fmla="*/ 238 w 471"/>
                      <a:gd name="T25" fmla="*/ 1209 h 1735"/>
                      <a:gd name="T26" fmla="*/ 209 w 471"/>
                      <a:gd name="T27" fmla="*/ 1470 h 1735"/>
                      <a:gd name="T28" fmla="*/ 294 w 471"/>
                      <a:gd name="T29" fmla="*/ 1735 h 1735"/>
                      <a:gd name="T30" fmla="*/ 309 w 471"/>
                      <a:gd name="T31" fmla="*/ 1610 h 1735"/>
                      <a:gd name="T32" fmla="*/ 344 w 471"/>
                      <a:gd name="T33" fmla="*/ 1558 h 1735"/>
                      <a:gd name="T34" fmla="*/ 385 w 471"/>
                      <a:gd name="T35" fmla="*/ 1545 h 1735"/>
                      <a:gd name="T36" fmla="*/ 403 w 471"/>
                      <a:gd name="T37" fmla="*/ 1491 h 1735"/>
                      <a:gd name="T38" fmla="*/ 399 w 471"/>
                      <a:gd name="T39" fmla="*/ 1428 h 1735"/>
                      <a:gd name="T40" fmla="*/ 399 w 471"/>
                      <a:gd name="T41" fmla="*/ 1361 h 1735"/>
                      <a:gd name="T42" fmla="*/ 396 w 471"/>
                      <a:gd name="T43" fmla="*/ 1297 h 1735"/>
                      <a:gd name="T44" fmla="*/ 407 w 471"/>
                      <a:gd name="T45" fmla="*/ 1208 h 1735"/>
                      <a:gd name="T46" fmla="*/ 421 w 471"/>
                      <a:gd name="T47" fmla="*/ 1089 h 1735"/>
                      <a:gd name="T48" fmla="*/ 435 w 471"/>
                      <a:gd name="T49" fmla="*/ 1019 h 1735"/>
                      <a:gd name="T50" fmla="*/ 439 w 471"/>
                      <a:gd name="T51" fmla="*/ 933 h 1735"/>
                      <a:gd name="T52" fmla="*/ 432 w 471"/>
                      <a:gd name="T53" fmla="*/ 870 h 1735"/>
                      <a:gd name="T54" fmla="*/ 410 w 471"/>
                      <a:gd name="T55" fmla="*/ 789 h 1735"/>
                      <a:gd name="T56" fmla="*/ 457 w 471"/>
                      <a:gd name="T57" fmla="*/ 778 h 1735"/>
                      <a:gd name="T58" fmla="*/ 471 w 471"/>
                      <a:gd name="T59" fmla="*/ 760 h 1735"/>
                      <a:gd name="T60" fmla="*/ 435 w 471"/>
                      <a:gd name="T61" fmla="*/ 598 h 1735"/>
                      <a:gd name="T62" fmla="*/ 460 w 471"/>
                      <a:gd name="T63" fmla="*/ 561 h 1735"/>
                      <a:gd name="T64" fmla="*/ 446 w 471"/>
                      <a:gd name="T65" fmla="*/ 454 h 1735"/>
                      <a:gd name="T66" fmla="*/ 442 w 471"/>
                      <a:gd name="T67" fmla="*/ 325 h 1735"/>
                      <a:gd name="T68" fmla="*/ 442 w 471"/>
                      <a:gd name="T69" fmla="*/ 198 h 1735"/>
                      <a:gd name="T70" fmla="*/ 447 w 471"/>
                      <a:gd name="T71" fmla="*/ 155 h 1735"/>
                      <a:gd name="T72" fmla="*/ 422 w 471"/>
                      <a:gd name="T73" fmla="*/ 118 h 1735"/>
                      <a:gd name="T74" fmla="*/ 414 w 471"/>
                      <a:gd name="T75" fmla="*/ 71 h 17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</a:cxnLst>
                    <a:rect l="0" t="0" r="r" b="b"/>
                    <a:pathLst>
                      <a:path w="471" h="1735">
                        <a:moveTo>
                          <a:pt x="435" y="0"/>
                        </a:moveTo>
                        <a:lnTo>
                          <a:pt x="374" y="11"/>
                        </a:lnTo>
                        <a:lnTo>
                          <a:pt x="301" y="22"/>
                        </a:lnTo>
                        <a:lnTo>
                          <a:pt x="252" y="22"/>
                        </a:lnTo>
                        <a:lnTo>
                          <a:pt x="238" y="26"/>
                        </a:lnTo>
                        <a:lnTo>
                          <a:pt x="188" y="89"/>
                        </a:lnTo>
                        <a:lnTo>
                          <a:pt x="94" y="199"/>
                        </a:lnTo>
                        <a:lnTo>
                          <a:pt x="36" y="258"/>
                        </a:lnTo>
                        <a:lnTo>
                          <a:pt x="0" y="299"/>
                        </a:lnTo>
                        <a:lnTo>
                          <a:pt x="51" y="333"/>
                        </a:lnTo>
                        <a:lnTo>
                          <a:pt x="76" y="370"/>
                        </a:lnTo>
                        <a:lnTo>
                          <a:pt x="97" y="408"/>
                        </a:lnTo>
                        <a:lnTo>
                          <a:pt x="111" y="461"/>
                        </a:lnTo>
                        <a:lnTo>
                          <a:pt x="195" y="393"/>
                        </a:lnTo>
                        <a:lnTo>
                          <a:pt x="206" y="412"/>
                        </a:lnTo>
                        <a:lnTo>
                          <a:pt x="213" y="454"/>
                        </a:lnTo>
                        <a:lnTo>
                          <a:pt x="231" y="532"/>
                        </a:lnTo>
                        <a:lnTo>
                          <a:pt x="249" y="572"/>
                        </a:lnTo>
                        <a:lnTo>
                          <a:pt x="263" y="606"/>
                        </a:lnTo>
                        <a:lnTo>
                          <a:pt x="287" y="638"/>
                        </a:lnTo>
                        <a:lnTo>
                          <a:pt x="298" y="697"/>
                        </a:lnTo>
                        <a:lnTo>
                          <a:pt x="301" y="749"/>
                        </a:lnTo>
                        <a:lnTo>
                          <a:pt x="294" y="801"/>
                        </a:lnTo>
                        <a:lnTo>
                          <a:pt x="294" y="912"/>
                        </a:lnTo>
                        <a:lnTo>
                          <a:pt x="284" y="1072"/>
                        </a:lnTo>
                        <a:lnTo>
                          <a:pt x="238" y="1209"/>
                        </a:lnTo>
                        <a:lnTo>
                          <a:pt x="220" y="1318"/>
                        </a:lnTo>
                        <a:lnTo>
                          <a:pt x="209" y="1470"/>
                        </a:lnTo>
                        <a:lnTo>
                          <a:pt x="202" y="1725"/>
                        </a:lnTo>
                        <a:lnTo>
                          <a:pt x="294" y="1735"/>
                        </a:lnTo>
                        <a:lnTo>
                          <a:pt x="301" y="1653"/>
                        </a:lnTo>
                        <a:lnTo>
                          <a:pt x="309" y="1610"/>
                        </a:lnTo>
                        <a:lnTo>
                          <a:pt x="327" y="1576"/>
                        </a:lnTo>
                        <a:lnTo>
                          <a:pt x="344" y="1558"/>
                        </a:lnTo>
                        <a:lnTo>
                          <a:pt x="371" y="1553"/>
                        </a:lnTo>
                        <a:lnTo>
                          <a:pt x="385" y="1545"/>
                        </a:lnTo>
                        <a:lnTo>
                          <a:pt x="396" y="1519"/>
                        </a:lnTo>
                        <a:lnTo>
                          <a:pt x="403" y="1491"/>
                        </a:lnTo>
                        <a:lnTo>
                          <a:pt x="399" y="1458"/>
                        </a:lnTo>
                        <a:lnTo>
                          <a:pt x="399" y="1428"/>
                        </a:lnTo>
                        <a:lnTo>
                          <a:pt x="396" y="1395"/>
                        </a:lnTo>
                        <a:lnTo>
                          <a:pt x="399" y="1361"/>
                        </a:lnTo>
                        <a:lnTo>
                          <a:pt x="396" y="1332"/>
                        </a:lnTo>
                        <a:lnTo>
                          <a:pt x="396" y="1297"/>
                        </a:lnTo>
                        <a:lnTo>
                          <a:pt x="403" y="1260"/>
                        </a:lnTo>
                        <a:lnTo>
                          <a:pt x="407" y="1208"/>
                        </a:lnTo>
                        <a:lnTo>
                          <a:pt x="414" y="1115"/>
                        </a:lnTo>
                        <a:lnTo>
                          <a:pt x="421" y="1089"/>
                        </a:lnTo>
                        <a:lnTo>
                          <a:pt x="439" y="1063"/>
                        </a:lnTo>
                        <a:lnTo>
                          <a:pt x="435" y="1019"/>
                        </a:lnTo>
                        <a:lnTo>
                          <a:pt x="435" y="978"/>
                        </a:lnTo>
                        <a:lnTo>
                          <a:pt x="439" y="933"/>
                        </a:lnTo>
                        <a:lnTo>
                          <a:pt x="439" y="900"/>
                        </a:lnTo>
                        <a:lnTo>
                          <a:pt x="432" y="870"/>
                        </a:lnTo>
                        <a:lnTo>
                          <a:pt x="417" y="826"/>
                        </a:lnTo>
                        <a:lnTo>
                          <a:pt x="410" y="789"/>
                        </a:lnTo>
                        <a:lnTo>
                          <a:pt x="414" y="763"/>
                        </a:lnTo>
                        <a:lnTo>
                          <a:pt x="457" y="778"/>
                        </a:lnTo>
                        <a:lnTo>
                          <a:pt x="471" y="770"/>
                        </a:lnTo>
                        <a:lnTo>
                          <a:pt x="471" y="760"/>
                        </a:lnTo>
                        <a:lnTo>
                          <a:pt x="468" y="742"/>
                        </a:lnTo>
                        <a:lnTo>
                          <a:pt x="435" y="598"/>
                        </a:lnTo>
                        <a:lnTo>
                          <a:pt x="468" y="623"/>
                        </a:lnTo>
                        <a:lnTo>
                          <a:pt x="460" y="561"/>
                        </a:lnTo>
                        <a:lnTo>
                          <a:pt x="450" y="506"/>
                        </a:lnTo>
                        <a:lnTo>
                          <a:pt x="446" y="454"/>
                        </a:lnTo>
                        <a:lnTo>
                          <a:pt x="439" y="397"/>
                        </a:lnTo>
                        <a:lnTo>
                          <a:pt x="442" y="325"/>
                        </a:lnTo>
                        <a:lnTo>
                          <a:pt x="439" y="246"/>
                        </a:lnTo>
                        <a:lnTo>
                          <a:pt x="442" y="198"/>
                        </a:lnTo>
                        <a:lnTo>
                          <a:pt x="463" y="169"/>
                        </a:lnTo>
                        <a:lnTo>
                          <a:pt x="447" y="155"/>
                        </a:lnTo>
                        <a:lnTo>
                          <a:pt x="433" y="137"/>
                        </a:lnTo>
                        <a:lnTo>
                          <a:pt x="422" y="118"/>
                        </a:lnTo>
                        <a:lnTo>
                          <a:pt x="416" y="96"/>
                        </a:lnTo>
                        <a:lnTo>
                          <a:pt x="414" y="71"/>
                        </a:lnTo>
                        <a:lnTo>
                          <a:pt x="435" y="0"/>
                        </a:lnTo>
                        <a:close/>
                      </a:path>
                    </a:pathLst>
                  </a:custGeom>
                  <a:solidFill>
                    <a:srgbClr val="BFFFB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92" name="Freeform 271"/>
                  <p:cNvSpPr/>
                  <p:nvPr/>
                </p:nvSpPr>
                <p:spPr bwMode="auto">
                  <a:xfrm>
                    <a:off x="5247" y="2402"/>
                    <a:ext cx="87" cy="342"/>
                  </a:xfrm>
                  <a:custGeom>
                    <a:avLst/>
                    <a:gdLst>
                      <a:gd name="T0" fmla="*/ 23 w 522"/>
                      <a:gd name="T1" fmla="*/ 737 h 1712"/>
                      <a:gd name="T2" fmla="*/ 34 w 522"/>
                      <a:gd name="T3" fmla="*/ 935 h 1712"/>
                      <a:gd name="T4" fmla="*/ 51 w 522"/>
                      <a:gd name="T5" fmla="*/ 1193 h 1712"/>
                      <a:gd name="T6" fmla="*/ 61 w 522"/>
                      <a:gd name="T7" fmla="*/ 1257 h 1712"/>
                      <a:gd name="T8" fmla="*/ 100 w 522"/>
                      <a:gd name="T9" fmla="*/ 1492 h 1712"/>
                      <a:gd name="T10" fmla="*/ 99 w 522"/>
                      <a:gd name="T11" fmla="*/ 1550 h 1712"/>
                      <a:gd name="T12" fmla="*/ 115 w 522"/>
                      <a:gd name="T13" fmla="*/ 1593 h 1712"/>
                      <a:gd name="T14" fmla="*/ 159 w 522"/>
                      <a:gd name="T15" fmla="*/ 1632 h 1712"/>
                      <a:gd name="T16" fmla="*/ 270 w 522"/>
                      <a:gd name="T17" fmla="*/ 1650 h 1712"/>
                      <a:gd name="T18" fmla="*/ 344 w 522"/>
                      <a:gd name="T19" fmla="*/ 1658 h 1712"/>
                      <a:gd name="T20" fmla="*/ 436 w 522"/>
                      <a:gd name="T21" fmla="*/ 1706 h 1712"/>
                      <a:gd name="T22" fmla="*/ 400 w 522"/>
                      <a:gd name="T23" fmla="*/ 1451 h 1712"/>
                      <a:gd name="T24" fmla="*/ 293 w 522"/>
                      <a:gd name="T25" fmla="*/ 1035 h 1712"/>
                      <a:gd name="T26" fmla="*/ 264 w 522"/>
                      <a:gd name="T27" fmla="*/ 868 h 1712"/>
                      <a:gd name="T28" fmla="*/ 296 w 522"/>
                      <a:gd name="T29" fmla="*/ 653 h 1712"/>
                      <a:gd name="T30" fmla="*/ 324 w 522"/>
                      <a:gd name="T31" fmla="*/ 569 h 1712"/>
                      <a:gd name="T32" fmla="*/ 349 w 522"/>
                      <a:gd name="T33" fmla="*/ 656 h 1712"/>
                      <a:gd name="T34" fmla="*/ 458 w 522"/>
                      <a:gd name="T35" fmla="*/ 627 h 1712"/>
                      <a:gd name="T36" fmla="*/ 504 w 522"/>
                      <a:gd name="T37" fmla="*/ 498 h 1712"/>
                      <a:gd name="T38" fmla="*/ 458 w 522"/>
                      <a:gd name="T39" fmla="*/ 243 h 1712"/>
                      <a:gd name="T40" fmla="*/ 356 w 522"/>
                      <a:gd name="T41" fmla="*/ 122 h 1712"/>
                      <a:gd name="T42" fmla="*/ 157 w 522"/>
                      <a:gd name="T43" fmla="*/ 0 h 1712"/>
                      <a:gd name="T44" fmla="*/ 160 w 522"/>
                      <a:gd name="T45" fmla="*/ 79 h 1712"/>
                      <a:gd name="T46" fmla="*/ 146 w 522"/>
                      <a:gd name="T47" fmla="*/ 132 h 1712"/>
                      <a:gd name="T48" fmla="*/ 122 w 522"/>
                      <a:gd name="T49" fmla="*/ 190 h 1712"/>
                      <a:gd name="T50" fmla="*/ 83 w 522"/>
                      <a:gd name="T51" fmla="*/ 284 h 1712"/>
                      <a:gd name="T52" fmla="*/ 50 w 522"/>
                      <a:gd name="T53" fmla="*/ 293 h 1712"/>
                      <a:gd name="T54" fmla="*/ 36 w 522"/>
                      <a:gd name="T55" fmla="*/ 325 h 1712"/>
                      <a:gd name="T56" fmla="*/ 29 w 522"/>
                      <a:gd name="T57" fmla="*/ 425 h 1712"/>
                      <a:gd name="T58" fmla="*/ 8 w 522"/>
                      <a:gd name="T59" fmla="*/ 489 h 1712"/>
                      <a:gd name="T60" fmla="*/ 0 w 522"/>
                      <a:gd name="T61" fmla="*/ 538 h 1712"/>
                      <a:gd name="T62" fmla="*/ 8 w 522"/>
                      <a:gd name="T63" fmla="*/ 617 h 17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</a:cxnLst>
                    <a:rect l="0" t="0" r="r" b="b"/>
                    <a:pathLst>
                      <a:path w="522" h="1712">
                        <a:moveTo>
                          <a:pt x="16" y="671"/>
                        </a:moveTo>
                        <a:lnTo>
                          <a:pt x="23" y="737"/>
                        </a:lnTo>
                        <a:lnTo>
                          <a:pt x="25" y="797"/>
                        </a:lnTo>
                        <a:lnTo>
                          <a:pt x="34" y="935"/>
                        </a:lnTo>
                        <a:lnTo>
                          <a:pt x="41" y="1061"/>
                        </a:lnTo>
                        <a:lnTo>
                          <a:pt x="51" y="1193"/>
                        </a:lnTo>
                        <a:lnTo>
                          <a:pt x="54" y="1228"/>
                        </a:lnTo>
                        <a:lnTo>
                          <a:pt x="61" y="1257"/>
                        </a:lnTo>
                        <a:lnTo>
                          <a:pt x="77" y="1298"/>
                        </a:lnTo>
                        <a:lnTo>
                          <a:pt x="100" y="1492"/>
                        </a:lnTo>
                        <a:lnTo>
                          <a:pt x="100" y="1533"/>
                        </a:lnTo>
                        <a:lnTo>
                          <a:pt x="99" y="1550"/>
                        </a:lnTo>
                        <a:lnTo>
                          <a:pt x="102" y="1571"/>
                        </a:lnTo>
                        <a:lnTo>
                          <a:pt x="115" y="1593"/>
                        </a:lnTo>
                        <a:lnTo>
                          <a:pt x="129" y="1616"/>
                        </a:lnTo>
                        <a:lnTo>
                          <a:pt x="159" y="1632"/>
                        </a:lnTo>
                        <a:lnTo>
                          <a:pt x="197" y="1642"/>
                        </a:lnTo>
                        <a:lnTo>
                          <a:pt x="270" y="1650"/>
                        </a:lnTo>
                        <a:lnTo>
                          <a:pt x="319" y="1655"/>
                        </a:lnTo>
                        <a:lnTo>
                          <a:pt x="344" y="1658"/>
                        </a:lnTo>
                        <a:lnTo>
                          <a:pt x="405" y="1712"/>
                        </a:lnTo>
                        <a:lnTo>
                          <a:pt x="436" y="1706"/>
                        </a:lnTo>
                        <a:lnTo>
                          <a:pt x="425" y="1569"/>
                        </a:lnTo>
                        <a:lnTo>
                          <a:pt x="400" y="1451"/>
                        </a:lnTo>
                        <a:lnTo>
                          <a:pt x="356" y="1239"/>
                        </a:lnTo>
                        <a:lnTo>
                          <a:pt x="293" y="1035"/>
                        </a:lnTo>
                        <a:lnTo>
                          <a:pt x="275" y="946"/>
                        </a:lnTo>
                        <a:lnTo>
                          <a:pt x="264" y="868"/>
                        </a:lnTo>
                        <a:lnTo>
                          <a:pt x="271" y="768"/>
                        </a:lnTo>
                        <a:lnTo>
                          <a:pt x="296" y="653"/>
                        </a:lnTo>
                        <a:lnTo>
                          <a:pt x="310" y="616"/>
                        </a:lnTo>
                        <a:lnTo>
                          <a:pt x="324" y="569"/>
                        </a:lnTo>
                        <a:lnTo>
                          <a:pt x="342" y="604"/>
                        </a:lnTo>
                        <a:lnTo>
                          <a:pt x="349" y="656"/>
                        </a:lnTo>
                        <a:lnTo>
                          <a:pt x="404" y="638"/>
                        </a:lnTo>
                        <a:lnTo>
                          <a:pt x="458" y="627"/>
                        </a:lnTo>
                        <a:lnTo>
                          <a:pt x="522" y="619"/>
                        </a:lnTo>
                        <a:lnTo>
                          <a:pt x="504" y="498"/>
                        </a:lnTo>
                        <a:lnTo>
                          <a:pt x="494" y="393"/>
                        </a:lnTo>
                        <a:lnTo>
                          <a:pt x="458" y="243"/>
                        </a:lnTo>
                        <a:lnTo>
                          <a:pt x="451" y="177"/>
                        </a:lnTo>
                        <a:lnTo>
                          <a:pt x="356" y="122"/>
                        </a:lnTo>
                        <a:lnTo>
                          <a:pt x="264" y="67"/>
                        </a:lnTo>
                        <a:lnTo>
                          <a:pt x="157" y="0"/>
                        </a:lnTo>
                        <a:lnTo>
                          <a:pt x="160" y="56"/>
                        </a:lnTo>
                        <a:lnTo>
                          <a:pt x="160" y="79"/>
                        </a:lnTo>
                        <a:lnTo>
                          <a:pt x="153" y="111"/>
                        </a:lnTo>
                        <a:lnTo>
                          <a:pt x="146" y="132"/>
                        </a:lnTo>
                        <a:lnTo>
                          <a:pt x="135" y="154"/>
                        </a:lnTo>
                        <a:lnTo>
                          <a:pt x="122" y="190"/>
                        </a:lnTo>
                        <a:lnTo>
                          <a:pt x="99" y="243"/>
                        </a:lnTo>
                        <a:lnTo>
                          <a:pt x="83" y="284"/>
                        </a:lnTo>
                        <a:lnTo>
                          <a:pt x="68" y="288"/>
                        </a:lnTo>
                        <a:lnTo>
                          <a:pt x="50" y="293"/>
                        </a:lnTo>
                        <a:lnTo>
                          <a:pt x="36" y="308"/>
                        </a:lnTo>
                        <a:lnTo>
                          <a:pt x="36" y="325"/>
                        </a:lnTo>
                        <a:lnTo>
                          <a:pt x="34" y="378"/>
                        </a:lnTo>
                        <a:lnTo>
                          <a:pt x="29" y="425"/>
                        </a:lnTo>
                        <a:lnTo>
                          <a:pt x="16" y="467"/>
                        </a:lnTo>
                        <a:lnTo>
                          <a:pt x="8" y="489"/>
                        </a:lnTo>
                        <a:lnTo>
                          <a:pt x="1" y="517"/>
                        </a:lnTo>
                        <a:lnTo>
                          <a:pt x="0" y="538"/>
                        </a:lnTo>
                        <a:lnTo>
                          <a:pt x="5" y="570"/>
                        </a:lnTo>
                        <a:lnTo>
                          <a:pt x="8" y="617"/>
                        </a:lnTo>
                        <a:lnTo>
                          <a:pt x="16" y="671"/>
                        </a:lnTo>
                        <a:close/>
                      </a:path>
                    </a:pathLst>
                  </a:custGeom>
                  <a:solidFill>
                    <a:srgbClr val="BFFFB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  <p:grpSp>
              <p:nvGrpSpPr>
                <p:cNvPr id="327" name="Group 272"/>
                <p:cNvGrpSpPr/>
                <p:nvPr/>
              </p:nvGrpSpPr>
              <p:grpSpPr bwMode="auto">
                <a:xfrm>
                  <a:off x="5204" y="2258"/>
                  <a:ext cx="90" cy="191"/>
                  <a:chOff x="5204" y="2258"/>
                  <a:chExt cx="90" cy="191"/>
                </a:xfrm>
              </p:grpSpPr>
              <p:grpSp>
                <p:nvGrpSpPr>
                  <p:cNvPr id="347" name="Group 273"/>
                  <p:cNvGrpSpPr/>
                  <p:nvPr/>
                </p:nvGrpSpPr>
                <p:grpSpPr bwMode="auto">
                  <a:xfrm>
                    <a:off x="5225" y="2354"/>
                    <a:ext cx="47" cy="95"/>
                    <a:chOff x="5225" y="2354"/>
                    <a:chExt cx="47" cy="95"/>
                  </a:xfrm>
                </p:grpSpPr>
                <p:sp>
                  <p:nvSpPr>
                    <p:cNvPr id="388" name="Freeform 274"/>
                    <p:cNvSpPr/>
                    <p:nvPr/>
                  </p:nvSpPr>
                  <p:spPr bwMode="auto">
                    <a:xfrm>
                      <a:off x="5225" y="2354"/>
                      <a:ext cx="47" cy="95"/>
                    </a:xfrm>
                    <a:custGeom>
                      <a:avLst/>
                      <a:gdLst>
                        <a:gd name="T0" fmla="*/ 240 w 278"/>
                        <a:gd name="T1" fmla="*/ 0 h 477"/>
                        <a:gd name="T2" fmla="*/ 253 w 278"/>
                        <a:gd name="T3" fmla="*/ 135 h 477"/>
                        <a:gd name="T4" fmla="*/ 261 w 278"/>
                        <a:gd name="T5" fmla="*/ 206 h 477"/>
                        <a:gd name="T6" fmla="*/ 268 w 278"/>
                        <a:gd name="T7" fmla="*/ 231 h 477"/>
                        <a:gd name="T8" fmla="*/ 278 w 278"/>
                        <a:gd name="T9" fmla="*/ 292 h 477"/>
                        <a:gd name="T10" fmla="*/ 272 w 278"/>
                        <a:gd name="T11" fmla="*/ 339 h 477"/>
                        <a:gd name="T12" fmla="*/ 261 w 278"/>
                        <a:gd name="T13" fmla="*/ 387 h 477"/>
                        <a:gd name="T14" fmla="*/ 243 w 278"/>
                        <a:gd name="T15" fmla="*/ 431 h 477"/>
                        <a:gd name="T16" fmla="*/ 224 w 278"/>
                        <a:gd name="T17" fmla="*/ 455 h 477"/>
                        <a:gd name="T18" fmla="*/ 191 w 278"/>
                        <a:gd name="T19" fmla="*/ 470 h 477"/>
                        <a:gd name="T20" fmla="*/ 148 w 278"/>
                        <a:gd name="T21" fmla="*/ 477 h 477"/>
                        <a:gd name="T22" fmla="*/ 102 w 278"/>
                        <a:gd name="T23" fmla="*/ 470 h 477"/>
                        <a:gd name="T24" fmla="*/ 65 w 278"/>
                        <a:gd name="T25" fmla="*/ 451 h 477"/>
                        <a:gd name="T26" fmla="*/ 43 w 278"/>
                        <a:gd name="T27" fmla="*/ 431 h 477"/>
                        <a:gd name="T28" fmla="*/ 22 w 278"/>
                        <a:gd name="T29" fmla="*/ 402 h 477"/>
                        <a:gd name="T30" fmla="*/ 3 w 278"/>
                        <a:gd name="T31" fmla="*/ 360 h 477"/>
                        <a:gd name="T32" fmla="*/ 0 w 278"/>
                        <a:gd name="T33" fmla="*/ 332 h 477"/>
                        <a:gd name="T34" fmla="*/ 3 w 278"/>
                        <a:gd name="T35" fmla="*/ 305 h 477"/>
                        <a:gd name="T36" fmla="*/ 12 w 278"/>
                        <a:gd name="T37" fmla="*/ 283 h 477"/>
                        <a:gd name="T38" fmla="*/ 25 w 278"/>
                        <a:gd name="T39" fmla="*/ 262 h 477"/>
                        <a:gd name="T40" fmla="*/ 51 w 278"/>
                        <a:gd name="T41" fmla="*/ 240 h 477"/>
                        <a:gd name="T42" fmla="*/ 53 w 278"/>
                        <a:gd name="T43" fmla="*/ 195 h 477"/>
                        <a:gd name="T44" fmla="*/ 51 w 278"/>
                        <a:gd name="T45" fmla="*/ 121 h 477"/>
                        <a:gd name="T46" fmla="*/ 92 w 278"/>
                        <a:gd name="T47" fmla="*/ 121 h 477"/>
                        <a:gd name="T48" fmla="*/ 120 w 278"/>
                        <a:gd name="T49" fmla="*/ 112 h 477"/>
                        <a:gd name="T50" fmla="*/ 148 w 278"/>
                        <a:gd name="T51" fmla="*/ 97 h 477"/>
                        <a:gd name="T52" fmla="*/ 167 w 278"/>
                        <a:gd name="T53" fmla="*/ 72 h 477"/>
                        <a:gd name="T54" fmla="*/ 192 w 278"/>
                        <a:gd name="T55" fmla="*/ 38 h 477"/>
                        <a:gd name="T56" fmla="*/ 240 w 278"/>
                        <a:gd name="T57" fmla="*/ 0 h 47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</a:cxnLst>
                      <a:rect l="0" t="0" r="r" b="b"/>
                      <a:pathLst>
                        <a:path w="278" h="477">
                          <a:moveTo>
                            <a:pt x="240" y="0"/>
                          </a:moveTo>
                          <a:lnTo>
                            <a:pt x="253" y="135"/>
                          </a:lnTo>
                          <a:lnTo>
                            <a:pt x="261" y="206"/>
                          </a:lnTo>
                          <a:lnTo>
                            <a:pt x="268" y="231"/>
                          </a:lnTo>
                          <a:lnTo>
                            <a:pt x="278" y="292"/>
                          </a:lnTo>
                          <a:lnTo>
                            <a:pt x="272" y="339"/>
                          </a:lnTo>
                          <a:lnTo>
                            <a:pt x="261" y="387"/>
                          </a:lnTo>
                          <a:lnTo>
                            <a:pt x="243" y="431"/>
                          </a:lnTo>
                          <a:lnTo>
                            <a:pt x="224" y="455"/>
                          </a:lnTo>
                          <a:lnTo>
                            <a:pt x="191" y="470"/>
                          </a:lnTo>
                          <a:lnTo>
                            <a:pt x="148" y="477"/>
                          </a:lnTo>
                          <a:lnTo>
                            <a:pt x="102" y="470"/>
                          </a:lnTo>
                          <a:lnTo>
                            <a:pt x="65" y="451"/>
                          </a:lnTo>
                          <a:lnTo>
                            <a:pt x="43" y="431"/>
                          </a:lnTo>
                          <a:lnTo>
                            <a:pt x="22" y="402"/>
                          </a:lnTo>
                          <a:lnTo>
                            <a:pt x="3" y="360"/>
                          </a:lnTo>
                          <a:lnTo>
                            <a:pt x="0" y="332"/>
                          </a:lnTo>
                          <a:lnTo>
                            <a:pt x="3" y="305"/>
                          </a:lnTo>
                          <a:lnTo>
                            <a:pt x="12" y="283"/>
                          </a:lnTo>
                          <a:lnTo>
                            <a:pt x="25" y="262"/>
                          </a:lnTo>
                          <a:lnTo>
                            <a:pt x="51" y="240"/>
                          </a:lnTo>
                          <a:lnTo>
                            <a:pt x="53" y="195"/>
                          </a:lnTo>
                          <a:lnTo>
                            <a:pt x="51" y="121"/>
                          </a:lnTo>
                          <a:lnTo>
                            <a:pt x="92" y="121"/>
                          </a:lnTo>
                          <a:lnTo>
                            <a:pt x="120" y="112"/>
                          </a:lnTo>
                          <a:lnTo>
                            <a:pt x="148" y="97"/>
                          </a:lnTo>
                          <a:lnTo>
                            <a:pt x="167" y="72"/>
                          </a:lnTo>
                          <a:lnTo>
                            <a:pt x="192" y="38"/>
                          </a:lnTo>
                          <a:lnTo>
                            <a:pt x="240" y="0"/>
                          </a:lnTo>
                          <a:close/>
                        </a:path>
                      </a:pathLst>
                    </a:custGeom>
                    <a:solidFill>
                      <a:srgbClr val="FF9F9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89" name="Freeform 275"/>
                    <p:cNvSpPr/>
                    <p:nvPr/>
                  </p:nvSpPr>
                  <p:spPr bwMode="auto">
                    <a:xfrm>
                      <a:off x="5225" y="2354"/>
                      <a:ext cx="46" cy="87"/>
                    </a:xfrm>
                    <a:custGeom>
                      <a:avLst/>
                      <a:gdLst>
                        <a:gd name="T0" fmla="*/ 240 w 279"/>
                        <a:gd name="T1" fmla="*/ 0 h 434"/>
                        <a:gd name="T2" fmla="*/ 254 w 279"/>
                        <a:gd name="T3" fmla="*/ 135 h 434"/>
                        <a:gd name="T4" fmla="*/ 262 w 279"/>
                        <a:gd name="T5" fmla="*/ 206 h 434"/>
                        <a:gd name="T6" fmla="*/ 269 w 279"/>
                        <a:gd name="T7" fmla="*/ 231 h 434"/>
                        <a:gd name="T8" fmla="*/ 279 w 279"/>
                        <a:gd name="T9" fmla="*/ 292 h 434"/>
                        <a:gd name="T10" fmla="*/ 273 w 279"/>
                        <a:gd name="T11" fmla="*/ 340 h 434"/>
                        <a:gd name="T12" fmla="*/ 262 w 279"/>
                        <a:gd name="T13" fmla="*/ 387 h 434"/>
                        <a:gd name="T14" fmla="*/ 245 w 279"/>
                        <a:gd name="T15" fmla="*/ 431 h 434"/>
                        <a:gd name="T16" fmla="*/ 234 w 279"/>
                        <a:gd name="T17" fmla="*/ 407 h 434"/>
                        <a:gd name="T18" fmla="*/ 214 w 279"/>
                        <a:gd name="T19" fmla="*/ 398 h 434"/>
                        <a:gd name="T20" fmla="*/ 199 w 279"/>
                        <a:gd name="T21" fmla="*/ 403 h 434"/>
                        <a:gd name="T22" fmla="*/ 185 w 279"/>
                        <a:gd name="T23" fmla="*/ 415 h 434"/>
                        <a:gd name="T24" fmla="*/ 163 w 279"/>
                        <a:gd name="T25" fmla="*/ 434 h 434"/>
                        <a:gd name="T26" fmla="*/ 133 w 279"/>
                        <a:gd name="T27" fmla="*/ 434 h 434"/>
                        <a:gd name="T28" fmla="*/ 146 w 279"/>
                        <a:gd name="T29" fmla="*/ 410 h 434"/>
                        <a:gd name="T30" fmla="*/ 173 w 279"/>
                        <a:gd name="T31" fmla="*/ 374 h 434"/>
                        <a:gd name="T32" fmla="*/ 201 w 279"/>
                        <a:gd name="T33" fmla="*/ 351 h 434"/>
                        <a:gd name="T34" fmla="*/ 217 w 279"/>
                        <a:gd name="T35" fmla="*/ 334 h 434"/>
                        <a:gd name="T36" fmla="*/ 224 w 279"/>
                        <a:gd name="T37" fmla="*/ 309 h 434"/>
                        <a:gd name="T38" fmla="*/ 227 w 279"/>
                        <a:gd name="T39" fmla="*/ 285 h 434"/>
                        <a:gd name="T40" fmla="*/ 228 w 279"/>
                        <a:gd name="T41" fmla="*/ 258 h 434"/>
                        <a:gd name="T42" fmla="*/ 225 w 279"/>
                        <a:gd name="T43" fmla="*/ 230 h 434"/>
                        <a:gd name="T44" fmla="*/ 227 w 279"/>
                        <a:gd name="T45" fmla="*/ 189 h 434"/>
                        <a:gd name="T46" fmla="*/ 213 w 279"/>
                        <a:gd name="T47" fmla="*/ 193 h 434"/>
                        <a:gd name="T48" fmla="*/ 177 w 279"/>
                        <a:gd name="T49" fmla="*/ 194 h 434"/>
                        <a:gd name="T50" fmla="*/ 147 w 279"/>
                        <a:gd name="T51" fmla="*/ 191 h 434"/>
                        <a:gd name="T52" fmla="*/ 116 w 279"/>
                        <a:gd name="T53" fmla="*/ 186 h 434"/>
                        <a:gd name="T54" fmla="*/ 93 w 279"/>
                        <a:gd name="T55" fmla="*/ 178 h 434"/>
                        <a:gd name="T56" fmla="*/ 76 w 279"/>
                        <a:gd name="T57" fmla="*/ 169 h 434"/>
                        <a:gd name="T58" fmla="*/ 76 w 279"/>
                        <a:gd name="T59" fmla="*/ 196 h 434"/>
                        <a:gd name="T60" fmla="*/ 76 w 279"/>
                        <a:gd name="T61" fmla="*/ 231 h 434"/>
                        <a:gd name="T62" fmla="*/ 68 w 279"/>
                        <a:gd name="T63" fmla="*/ 262 h 434"/>
                        <a:gd name="T64" fmla="*/ 67 w 279"/>
                        <a:gd name="T65" fmla="*/ 292 h 434"/>
                        <a:gd name="T66" fmla="*/ 78 w 279"/>
                        <a:gd name="T67" fmla="*/ 322 h 434"/>
                        <a:gd name="T68" fmla="*/ 90 w 279"/>
                        <a:gd name="T69" fmla="*/ 348 h 434"/>
                        <a:gd name="T70" fmla="*/ 107 w 279"/>
                        <a:gd name="T71" fmla="*/ 378 h 434"/>
                        <a:gd name="T72" fmla="*/ 98 w 279"/>
                        <a:gd name="T73" fmla="*/ 400 h 434"/>
                        <a:gd name="T74" fmla="*/ 84 w 279"/>
                        <a:gd name="T75" fmla="*/ 387 h 434"/>
                        <a:gd name="T76" fmla="*/ 59 w 279"/>
                        <a:gd name="T77" fmla="*/ 369 h 434"/>
                        <a:gd name="T78" fmla="*/ 43 w 279"/>
                        <a:gd name="T79" fmla="*/ 353 h 434"/>
                        <a:gd name="T80" fmla="*/ 22 w 279"/>
                        <a:gd name="T81" fmla="*/ 342 h 434"/>
                        <a:gd name="T82" fmla="*/ 0 w 279"/>
                        <a:gd name="T83" fmla="*/ 334 h 434"/>
                        <a:gd name="T84" fmla="*/ 4 w 279"/>
                        <a:gd name="T85" fmla="*/ 305 h 434"/>
                        <a:gd name="T86" fmla="*/ 12 w 279"/>
                        <a:gd name="T87" fmla="*/ 283 h 434"/>
                        <a:gd name="T88" fmla="*/ 25 w 279"/>
                        <a:gd name="T89" fmla="*/ 262 h 434"/>
                        <a:gd name="T90" fmla="*/ 52 w 279"/>
                        <a:gd name="T91" fmla="*/ 240 h 434"/>
                        <a:gd name="T92" fmla="*/ 54 w 279"/>
                        <a:gd name="T93" fmla="*/ 195 h 434"/>
                        <a:gd name="T94" fmla="*/ 52 w 279"/>
                        <a:gd name="T95" fmla="*/ 121 h 434"/>
                        <a:gd name="T96" fmla="*/ 92 w 279"/>
                        <a:gd name="T97" fmla="*/ 121 h 434"/>
                        <a:gd name="T98" fmla="*/ 121 w 279"/>
                        <a:gd name="T99" fmla="*/ 114 h 434"/>
                        <a:gd name="T100" fmla="*/ 148 w 279"/>
                        <a:gd name="T101" fmla="*/ 97 h 434"/>
                        <a:gd name="T102" fmla="*/ 168 w 279"/>
                        <a:gd name="T103" fmla="*/ 72 h 434"/>
                        <a:gd name="T104" fmla="*/ 193 w 279"/>
                        <a:gd name="T105" fmla="*/ 38 h 434"/>
                        <a:gd name="T106" fmla="*/ 240 w 279"/>
                        <a:gd name="T107" fmla="*/ 0 h 4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</a:cxnLst>
                      <a:rect l="0" t="0" r="r" b="b"/>
                      <a:pathLst>
                        <a:path w="279" h="434">
                          <a:moveTo>
                            <a:pt x="240" y="0"/>
                          </a:moveTo>
                          <a:lnTo>
                            <a:pt x="254" y="135"/>
                          </a:lnTo>
                          <a:lnTo>
                            <a:pt x="262" y="206"/>
                          </a:lnTo>
                          <a:lnTo>
                            <a:pt x="269" y="231"/>
                          </a:lnTo>
                          <a:lnTo>
                            <a:pt x="279" y="292"/>
                          </a:lnTo>
                          <a:lnTo>
                            <a:pt x="273" y="340"/>
                          </a:lnTo>
                          <a:lnTo>
                            <a:pt x="262" y="387"/>
                          </a:lnTo>
                          <a:lnTo>
                            <a:pt x="245" y="431"/>
                          </a:lnTo>
                          <a:lnTo>
                            <a:pt x="234" y="407"/>
                          </a:lnTo>
                          <a:lnTo>
                            <a:pt x="214" y="398"/>
                          </a:lnTo>
                          <a:lnTo>
                            <a:pt x="199" y="403"/>
                          </a:lnTo>
                          <a:lnTo>
                            <a:pt x="185" y="415"/>
                          </a:lnTo>
                          <a:lnTo>
                            <a:pt x="163" y="434"/>
                          </a:lnTo>
                          <a:lnTo>
                            <a:pt x="133" y="434"/>
                          </a:lnTo>
                          <a:lnTo>
                            <a:pt x="146" y="410"/>
                          </a:lnTo>
                          <a:lnTo>
                            <a:pt x="173" y="374"/>
                          </a:lnTo>
                          <a:lnTo>
                            <a:pt x="201" y="351"/>
                          </a:lnTo>
                          <a:lnTo>
                            <a:pt x="217" y="334"/>
                          </a:lnTo>
                          <a:lnTo>
                            <a:pt x="224" y="309"/>
                          </a:lnTo>
                          <a:lnTo>
                            <a:pt x="227" y="285"/>
                          </a:lnTo>
                          <a:lnTo>
                            <a:pt x="228" y="258"/>
                          </a:lnTo>
                          <a:lnTo>
                            <a:pt x="225" y="230"/>
                          </a:lnTo>
                          <a:lnTo>
                            <a:pt x="227" y="189"/>
                          </a:lnTo>
                          <a:lnTo>
                            <a:pt x="213" y="193"/>
                          </a:lnTo>
                          <a:lnTo>
                            <a:pt x="177" y="194"/>
                          </a:lnTo>
                          <a:lnTo>
                            <a:pt x="147" y="191"/>
                          </a:lnTo>
                          <a:lnTo>
                            <a:pt x="116" y="186"/>
                          </a:lnTo>
                          <a:lnTo>
                            <a:pt x="93" y="178"/>
                          </a:lnTo>
                          <a:lnTo>
                            <a:pt x="76" y="169"/>
                          </a:lnTo>
                          <a:lnTo>
                            <a:pt x="76" y="196"/>
                          </a:lnTo>
                          <a:lnTo>
                            <a:pt x="76" y="231"/>
                          </a:lnTo>
                          <a:lnTo>
                            <a:pt x="68" y="262"/>
                          </a:lnTo>
                          <a:lnTo>
                            <a:pt x="67" y="292"/>
                          </a:lnTo>
                          <a:lnTo>
                            <a:pt x="78" y="322"/>
                          </a:lnTo>
                          <a:lnTo>
                            <a:pt x="90" y="348"/>
                          </a:lnTo>
                          <a:lnTo>
                            <a:pt x="107" y="378"/>
                          </a:lnTo>
                          <a:lnTo>
                            <a:pt x="98" y="400"/>
                          </a:lnTo>
                          <a:lnTo>
                            <a:pt x="84" y="387"/>
                          </a:lnTo>
                          <a:lnTo>
                            <a:pt x="59" y="369"/>
                          </a:lnTo>
                          <a:lnTo>
                            <a:pt x="43" y="353"/>
                          </a:lnTo>
                          <a:lnTo>
                            <a:pt x="22" y="342"/>
                          </a:lnTo>
                          <a:lnTo>
                            <a:pt x="0" y="334"/>
                          </a:lnTo>
                          <a:lnTo>
                            <a:pt x="4" y="305"/>
                          </a:lnTo>
                          <a:lnTo>
                            <a:pt x="12" y="283"/>
                          </a:lnTo>
                          <a:lnTo>
                            <a:pt x="25" y="262"/>
                          </a:lnTo>
                          <a:lnTo>
                            <a:pt x="52" y="240"/>
                          </a:lnTo>
                          <a:lnTo>
                            <a:pt x="54" y="195"/>
                          </a:lnTo>
                          <a:lnTo>
                            <a:pt x="52" y="121"/>
                          </a:lnTo>
                          <a:lnTo>
                            <a:pt x="92" y="121"/>
                          </a:lnTo>
                          <a:lnTo>
                            <a:pt x="121" y="114"/>
                          </a:lnTo>
                          <a:lnTo>
                            <a:pt x="148" y="97"/>
                          </a:lnTo>
                          <a:lnTo>
                            <a:pt x="168" y="72"/>
                          </a:lnTo>
                          <a:lnTo>
                            <a:pt x="193" y="38"/>
                          </a:lnTo>
                          <a:lnTo>
                            <a:pt x="240" y="0"/>
                          </a:lnTo>
                          <a:close/>
                        </a:path>
                      </a:pathLst>
                    </a:custGeom>
                    <a:solidFill>
                      <a:srgbClr val="FF7F7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sp>
                <p:nvSpPr>
                  <p:cNvPr id="348" name="Freeform 276"/>
                  <p:cNvSpPr/>
                  <p:nvPr/>
                </p:nvSpPr>
                <p:spPr bwMode="auto">
                  <a:xfrm>
                    <a:off x="5214" y="2266"/>
                    <a:ext cx="63" cy="116"/>
                  </a:xfrm>
                  <a:custGeom>
                    <a:avLst/>
                    <a:gdLst>
                      <a:gd name="T0" fmla="*/ 34 w 376"/>
                      <a:gd name="T1" fmla="*/ 100 h 582"/>
                      <a:gd name="T2" fmla="*/ 19 w 376"/>
                      <a:gd name="T3" fmla="*/ 137 h 582"/>
                      <a:gd name="T4" fmla="*/ 8 w 376"/>
                      <a:gd name="T5" fmla="*/ 169 h 582"/>
                      <a:gd name="T6" fmla="*/ 1 w 376"/>
                      <a:gd name="T7" fmla="*/ 195 h 582"/>
                      <a:gd name="T8" fmla="*/ 0 w 376"/>
                      <a:gd name="T9" fmla="*/ 215 h 582"/>
                      <a:gd name="T10" fmla="*/ 2 w 376"/>
                      <a:gd name="T11" fmla="*/ 233 h 582"/>
                      <a:gd name="T12" fmla="*/ 6 w 376"/>
                      <a:gd name="T13" fmla="*/ 262 h 582"/>
                      <a:gd name="T14" fmla="*/ 4 w 376"/>
                      <a:gd name="T15" fmla="*/ 275 h 582"/>
                      <a:gd name="T16" fmla="*/ 6 w 376"/>
                      <a:gd name="T17" fmla="*/ 291 h 582"/>
                      <a:gd name="T18" fmla="*/ 13 w 376"/>
                      <a:gd name="T19" fmla="*/ 312 h 582"/>
                      <a:gd name="T20" fmla="*/ 15 w 376"/>
                      <a:gd name="T21" fmla="*/ 325 h 582"/>
                      <a:gd name="T22" fmla="*/ 12 w 376"/>
                      <a:gd name="T23" fmla="*/ 362 h 582"/>
                      <a:gd name="T24" fmla="*/ 15 w 376"/>
                      <a:gd name="T25" fmla="*/ 388 h 582"/>
                      <a:gd name="T26" fmla="*/ 22 w 376"/>
                      <a:gd name="T27" fmla="*/ 414 h 582"/>
                      <a:gd name="T28" fmla="*/ 34 w 376"/>
                      <a:gd name="T29" fmla="*/ 445 h 582"/>
                      <a:gd name="T30" fmla="*/ 49 w 376"/>
                      <a:gd name="T31" fmla="*/ 477 h 582"/>
                      <a:gd name="T32" fmla="*/ 62 w 376"/>
                      <a:gd name="T33" fmla="*/ 507 h 582"/>
                      <a:gd name="T34" fmla="*/ 70 w 376"/>
                      <a:gd name="T35" fmla="*/ 530 h 582"/>
                      <a:gd name="T36" fmla="*/ 77 w 376"/>
                      <a:gd name="T37" fmla="*/ 555 h 582"/>
                      <a:gd name="T38" fmla="*/ 88 w 376"/>
                      <a:gd name="T39" fmla="*/ 570 h 582"/>
                      <a:gd name="T40" fmla="*/ 104 w 376"/>
                      <a:gd name="T41" fmla="*/ 578 h 582"/>
                      <a:gd name="T42" fmla="*/ 129 w 376"/>
                      <a:gd name="T43" fmla="*/ 582 h 582"/>
                      <a:gd name="T44" fmla="*/ 163 w 376"/>
                      <a:gd name="T45" fmla="*/ 578 h 582"/>
                      <a:gd name="T46" fmla="*/ 193 w 376"/>
                      <a:gd name="T47" fmla="*/ 571 h 582"/>
                      <a:gd name="T48" fmla="*/ 210 w 376"/>
                      <a:gd name="T49" fmla="*/ 559 h 582"/>
                      <a:gd name="T50" fmla="*/ 235 w 376"/>
                      <a:gd name="T51" fmla="*/ 541 h 582"/>
                      <a:gd name="T52" fmla="*/ 261 w 376"/>
                      <a:gd name="T53" fmla="*/ 507 h 582"/>
                      <a:gd name="T54" fmla="*/ 304 w 376"/>
                      <a:gd name="T55" fmla="*/ 444 h 582"/>
                      <a:gd name="T56" fmla="*/ 315 w 376"/>
                      <a:gd name="T57" fmla="*/ 424 h 582"/>
                      <a:gd name="T58" fmla="*/ 324 w 376"/>
                      <a:gd name="T59" fmla="*/ 429 h 582"/>
                      <a:gd name="T60" fmla="*/ 337 w 376"/>
                      <a:gd name="T61" fmla="*/ 429 h 582"/>
                      <a:gd name="T62" fmla="*/ 344 w 376"/>
                      <a:gd name="T63" fmla="*/ 410 h 582"/>
                      <a:gd name="T64" fmla="*/ 356 w 376"/>
                      <a:gd name="T65" fmla="*/ 372 h 582"/>
                      <a:gd name="T66" fmla="*/ 365 w 376"/>
                      <a:gd name="T67" fmla="*/ 336 h 582"/>
                      <a:gd name="T68" fmla="*/ 363 w 376"/>
                      <a:gd name="T69" fmla="*/ 288 h 582"/>
                      <a:gd name="T70" fmla="*/ 373 w 376"/>
                      <a:gd name="T71" fmla="*/ 206 h 582"/>
                      <a:gd name="T72" fmla="*/ 376 w 376"/>
                      <a:gd name="T73" fmla="*/ 157 h 582"/>
                      <a:gd name="T74" fmla="*/ 374 w 376"/>
                      <a:gd name="T75" fmla="*/ 116 h 582"/>
                      <a:gd name="T76" fmla="*/ 365 w 376"/>
                      <a:gd name="T77" fmla="*/ 86 h 582"/>
                      <a:gd name="T78" fmla="*/ 340 w 376"/>
                      <a:gd name="T79" fmla="*/ 48 h 582"/>
                      <a:gd name="T80" fmla="*/ 304 w 376"/>
                      <a:gd name="T81" fmla="*/ 22 h 582"/>
                      <a:gd name="T82" fmla="*/ 265 w 376"/>
                      <a:gd name="T83" fmla="*/ 7 h 582"/>
                      <a:gd name="T84" fmla="*/ 222 w 376"/>
                      <a:gd name="T85" fmla="*/ 0 h 582"/>
                      <a:gd name="T86" fmla="*/ 178 w 376"/>
                      <a:gd name="T87" fmla="*/ 0 h 582"/>
                      <a:gd name="T88" fmla="*/ 136 w 376"/>
                      <a:gd name="T89" fmla="*/ 7 h 582"/>
                      <a:gd name="T90" fmla="*/ 95 w 376"/>
                      <a:gd name="T91" fmla="*/ 27 h 582"/>
                      <a:gd name="T92" fmla="*/ 65 w 376"/>
                      <a:gd name="T93" fmla="*/ 53 h 582"/>
                      <a:gd name="T94" fmla="*/ 34 w 376"/>
                      <a:gd name="T95" fmla="*/ 100 h 58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</a:cxnLst>
                    <a:rect l="0" t="0" r="r" b="b"/>
                    <a:pathLst>
                      <a:path w="376" h="582">
                        <a:moveTo>
                          <a:pt x="34" y="100"/>
                        </a:moveTo>
                        <a:lnTo>
                          <a:pt x="19" y="137"/>
                        </a:lnTo>
                        <a:lnTo>
                          <a:pt x="8" y="169"/>
                        </a:lnTo>
                        <a:lnTo>
                          <a:pt x="1" y="195"/>
                        </a:lnTo>
                        <a:lnTo>
                          <a:pt x="0" y="215"/>
                        </a:lnTo>
                        <a:lnTo>
                          <a:pt x="2" y="233"/>
                        </a:lnTo>
                        <a:lnTo>
                          <a:pt x="6" y="262"/>
                        </a:lnTo>
                        <a:lnTo>
                          <a:pt x="4" y="275"/>
                        </a:lnTo>
                        <a:lnTo>
                          <a:pt x="6" y="291"/>
                        </a:lnTo>
                        <a:lnTo>
                          <a:pt x="13" y="312"/>
                        </a:lnTo>
                        <a:lnTo>
                          <a:pt x="15" y="325"/>
                        </a:lnTo>
                        <a:lnTo>
                          <a:pt x="12" y="362"/>
                        </a:lnTo>
                        <a:lnTo>
                          <a:pt x="15" y="388"/>
                        </a:lnTo>
                        <a:lnTo>
                          <a:pt x="22" y="414"/>
                        </a:lnTo>
                        <a:lnTo>
                          <a:pt x="34" y="445"/>
                        </a:lnTo>
                        <a:lnTo>
                          <a:pt x="49" y="477"/>
                        </a:lnTo>
                        <a:lnTo>
                          <a:pt x="62" y="507"/>
                        </a:lnTo>
                        <a:lnTo>
                          <a:pt x="70" y="530"/>
                        </a:lnTo>
                        <a:lnTo>
                          <a:pt x="77" y="555"/>
                        </a:lnTo>
                        <a:lnTo>
                          <a:pt x="88" y="570"/>
                        </a:lnTo>
                        <a:lnTo>
                          <a:pt x="104" y="578"/>
                        </a:lnTo>
                        <a:lnTo>
                          <a:pt x="129" y="582"/>
                        </a:lnTo>
                        <a:lnTo>
                          <a:pt x="163" y="578"/>
                        </a:lnTo>
                        <a:lnTo>
                          <a:pt x="193" y="571"/>
                        </a:lnTo>
                        <a:lnTo>
                          <a:pt x="210" y="559"/>
                        </a:lnTo>
                        <a:lnTo>
                          <a:pt x="235" y="541"/>
                        </a:lnTo>
                        <a:lnTo>
                          <a:pt x="261" y="507"/>
                        </a:lnTo>
                        <a:lnTo>
                          <a:pt x="304" y="444"/>
                        </a:lnTo>
                        <a:lnTo>
                          <a:pt x="315" y="424"/>
                        </a:lnTo>
                        <a:lnTo>
                          <a:pt x="324" y="429"/>
                        </a:lnTo>
                        <a:lnTo>
                          <a:pt x="337" y="429"/>
                        </a:lnTo>
                        <a:lnTo>
                          <a:pt x="344" y="410"/>
                        </a:lnTo>
                        <a:lnTo>
                          <a:pt x="356" y="372"/>
                        </a:lnTo>
                        <a:lnTo>
                          <a:pt x="365" y="336"/>
                        </a:lnTo>
                        <a:lnTo>
                          <a:pt x="363" y="288"/>
                        </a:lnTo>
                        <a:lnTo>
                          <a:pt x="373" y="206"/>
                        </a:lnTo>
                        <a:lnTo>
                          <a:pt x="376" y="157"/>
                        </a:lnTo>
                        <a:lnTo>
                          <a:pt x="374" y="116"/>
                        </a:lnTo>
                        <a:lnTo>
                          <a:pt x="365" y="86"/>
                        </a:lnTo>
                        <a:lnTo>
                          <a:pt x="340" y="48"/>
                        </a:lnTo>
                        <a:lnTo>
                          <a:pt x="304" y="22"/>
                        </a:lnTo>
                        <a:lnTo>
                          <a:pt x="265" y="7"/>
                        </a:lnTo>
                        <a:lnTo>
                          <a:pt x="222" y="0"/>
                        </a:lnTo>
                        <a:lnTo>
                          <a:pt x="178" y="0"/>
                        </a:lnTo>
                        <a:lnTo>
                          <a:pt x="136" y="7"/>
                        </a:lnTo>
                        <a:lnTo>
                          <a:pt x="95" y="27"/>
                        </a:lnTo>
                        <a:lnTo>
                          <a:pt x="65" y="53"/>
                        </a:lnTo>
                        <a:lnTo>
                          <a:pt x="34" y="100"/>
                        </a:lnTo>
                        <a:close/>
                      </a:path>
                    </a:pathLst>
                  </a:custGeom>
                  <a:solidFill>
                    <a:srgbClr val="FF9F9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grpSp>
                <p:nvGrpSpPr>
                  <p:cNvPr id="349" name="Group 277"/>
                  <p:cNvGrpSpPr/>
                  <p:nvPr/>
                </p:nvGrpSpPr>
                <p:grpSpPr bwMode="auto">
                  <a:xfrm>
                    <a:off x="5204" y="2258"/>
                    <a:ext cx="90" cy="143"/>
                    <a:chOff x="5204" y="2258"/>
                    <a:chExt cx="90" cy="143"/>
                  </a:xfrm>
                </p:grpSpPr>
                <p:grpSp>
                  <p:nvGrpSpPr>
                    <p:cNvPr id="384" name="Group 278"/>
                    <p:cNvGrpSpPr/>
                    <p:nvPr/>
                  </p:nvGrpSpPr>
                  <p:grpSpPr bwMode="auto">
                    <a:xfrm>
                      <a:off x="5204" y="2258"/>
                      <a:ext cx="90" cy="143"/>
                      <a:chOff x="5204" y="2258"/>
                      <a:chExt cx="90" cy="143"/>
                    </a:xfrm>
                  </p:grpSpPr>
                  <p:sp>
                    <p:nvSpPr>
                      <p:cNvPr id="386" name="Freeform 279"/>
                      <p:cNvSpPr/>
                      <p:nvPr/>
                    </p:nvSpPr>
                    <p:spPr bwMode="auto">
                      <a:xfrm>
                        <a:off x="5225" y="2293"/>
                        <a:ext cx="7" cy="14"/>
                      </a:xfrm>
                      <a:custGeom>
                        <a:avLst/>
                        <a:gdLst>
                          <a:gd name="T0" fmla="*/ 7 w 45"/>
                          <a:gd name="T1" fmla="*/ 0 h 70"/>
                          <a:gd name="T2" fmla="*/ 1 w 45"/>
                          <a:gd name="T3" fmla="*/ 11 h 70"/>
                          <a:gd name="T4" fmla="*/ 0 w 45"/>
                          <a:gd name="T5" fmla="*/ 25 h 70"/>
                          <a:gd name="T6" fmla="*/ 4 w 45"/>
                          <a:gd name="T7" fmla="*/ 37 h 70"/>
                          <a:gd name="T8" fmla="*/ 12 w 45"/>
                          <a:gd name="T9" fmla="*/ 46 h 70"/>
                          <a:gd name="T10" fmla="*/ 24 w 45"/>
                          <a:gd name="T11" fmla="*/ 57 h 70"/>
                          <a:gd name="T12" fmla="*/ 45 w 45"/>
                          <a:gd name="T13" fmla="*/ 70 h 70"/>
                          <a:gd name="T14" fmla="*/ 26 w 45"/>
                          <a:gd name="T15" fmla="*/ 51 h 70"/>
                          <a:gd name="T16" fmla="*/ 19 w 45"/>
                          <a:gd name="T17" fmla="*/ 41 h 70"/>
                          <a:gd name="T18" fmla="*/ 14 w 45"/>
                          <a:gd name="T19" fmla="*/ 32 h 70"/>
                          <a:gd name="T20" fmla="*/ 10 w 45"/>
                          <a:gd name="T21" fmla="*/ 20 h 70"/>
                          <a:gd name="T22" fmla="*/ 7 w 45"/>
                          <a:gd name="T23" fmla="*/ 0 h 7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</a:cxnLst>
                        <a:rect l="0" t="0" r="r" b="b"/>
                        <a:pathLst>
                          <a:path w="45" h="70">
                            <a:moveTo>
                              <a:pt x="7" y="0"/>
                            </a:moveTo>
                            <a:lnTo>
                              <a:pt x="1" y="11"/>
                            </a:lnTo>
                            <a:lnTo>
                              <a:pt x="0" y="25"/>
                            </a:lnTo>
                            <a:lnTo>
                              <a:pt x="4" y="37"/>
                            </a:lnTo>
                            <a:lnTo>
                              <a:pt x="12" y="46"/>
                            </a:lnTo>
                            <a:lnTo>
                              <a:pt x="24" y="57"/>
                            </a:lnTo>
                            <a:lnTo>
                              <a:pt x="45" y="70"/>
                            </a:lnTo>
                            <a:lnTo>
                              <a:pt x="26" y="51"/>
                            </a:lnTo>
                            <a:lnTo>
                              <a:pt x="19" y="41"/>
                            </a:lnTo>
                            <a:lnTo>
                              <a:pt x="14" y="32"/>
                            </a:lnTo>
                            <a:lnTo>
                              <a:pt x="10" y="20"/>
                            </a:lnTo>
                            <a:lnTo>
                              <a:pt x="7" y="0"/>
                            </a:lnTo>
                            <a:close/>
                          </a:path>
                        </a:pathLst>
                      </a:custGeom>
                      <a:solidFill>
                        <a:srgbClr val="7F3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387" name="Freeform 280"/>
                      <p:cNvSpPr/>
                      <p:nvPr/>
                    </p:nvSpPr>
                    <p:spPr bwMode="auto">
                      <a:xfrm>
                        <a:off x="5204" y="2258"/>
                        <a:ext cx="90" cy="143"/>
                      </a:xfrm>
                      <a:custGeom>
                        <a:avLst/>
                        <a:gdLst>
                          <a:gd name="T0" fmla="*/ 49 w 540"/>
                          <a:gd name="T1" fmla="*/ 109 h 714"/>
                          <a:gd name="T2" fmla="*/ 7 w 540"/>
                          <a:gd name="T3" fmla="*/ 151 h 714"/>
                          <a:gd name="T4" fmla="*/ 12 w 540"/>
                          <a:gd name="T5" fmla="*/ 207 h 714"/>
                          <a:gd name="T6" fmla="*/ 13 w 540"/>
                          <a:gd name="T7" fmla="*/ 160 h 714"/>
                          <a:gd name="T8" fmla="*/ 49 w 540"/>
                          <a:gd name="T9" fmla="*/ 129 h 714"/>
                          <a:gd name="T10" fmla="*/ 20 w 540"/>
                          <a:gd name="T11" fmla="*/ 175 h 714"/>
                          <a:gd name="T12" fmla="*/ 55 w 540"/>
                          <a:gd name="T13" fmla="*/ 138 h 714"/>
                          <a:gd name="T14" fmla="*/ 28 w 540"/>
                          <a:gd name="T15" fmla="*/ 181 h 714"/>
                          <a:gd name="T16" fmla="*/ 51 w 540"/>
                          <a:gd name="T17" fmla="*/ 237 h 714"/>
                          <a:gd name="T18" fmla="*/ 36 w 540"/>
                          <a:gd name="T19" fmla="*/ 173 h 714"/>
                          <a:gd name="T20" fmla="*/ 54 w 540"/>
                          <a:gd name="T21" fmla="*/ 156 h 714"/>
                          <a:gd name="T22" fmla="*/ 57 w 540"/>
                          <a:gd name="T23" fmla="*/ 203 h 714"/>
                          <a:gd name="T24" fmla="*/ 63 w 540"/>
                          <a:gd name="T25" fmla="*/ 204 h 714"/>
                          <a:gd name="T26" fmla="*/ 71 w 540"/>
                          <a:gd name="T27" fmla="*/ 159 h 714"/>
                          <a:gd name="T28" fmla="*/ 79 w 540"/>
                          <a:gd name="T29" fmla="*/ 214 h 714"/>
                          <a:gd name="T30" fmla="*/ 77 w 540"/>
                          <a:gd name="T31" fmla="*/ 190 h 714"/>
                          <a:gd name="T32" fmla="*/ 89 w 540"/>
                          <a:gd name="T33" fmla="*/ 198 h 714"/>
                          <a:gd name="T34" fmla="*/ 97 w 540"/>
                          <a:gd name="T35" fmla="*/ 207 h 714"/>
                          <a:gd name="T36" fmla="*/ 111 w 540"/>
                          <a:gd name="T37" fmla="*/ 228 h 714"/>
                          <a:gd name="T38" fmla="*/ 134 w 540"/>
                          <a:gd name="T39" fmla="*/ 253 h 714"/>
                          <a:gd name="T40" fmla="*/ 101 w 540"/>
                          <a:gd name="T41" fmla="*/ 185 h 714"/>
                          <a:gd name="T42" fmla="*/ 117 w 540"/>
                          <a:gd name="T43" fmla="*/ 212 h 714"/>
                          <a:gd name="T44" fmla="*/ 118 w 540"/>
                          <a:gd name="T45" fmla="*/ 201 h 714"/>
                          <a:gd name="T46" fmla="*/ 149 w 540"/>
                          <a:gd name="T47" fmla="*/ 199 h 714"/>
                          <a:gd name="T48" fmla="*/ 153 w 540"/>
                          <a:gd name="T49" fmla="*/ 187 h 714"/>
                          <a:gd name="T50" fmla="*/ 175 w 540"/>
                          <a:gd name="T51" fmla="*/ 220 h 714"/>
                          <a:gd name="T52" fmla="*/ 175 w 540"/>
                          <a:gd name="T53" fmla="*/ 203 h 714"/>
                          <a:gd name="T54" fmla="*/ 185 w 540"/>
                          <a:gd name="T55" fmla="*/ 201 h 714"/>
                          <a:gd name="T56" fmla="*/ 192 w 540"/>
                          <a:gd name="T57" fmla="*/ 194 h 714"/>
                          <a:gd name="T58" fmla="*/ 224 w 540"/>
                          <a:gd name="T59" fmla="*/ 159 h 714"/>
                          <a:gd name="T60" fmla="*/ 242 w 540"/>
                          <a:gd name="T61" fmla="*/ 224 h 714"/>
                          <a:gd name="T62" fmla="*/ 346 w 540"/>
                          <a:gd name="T63" fmla="*/ 343 h 714"/>
                          <a:gd name="T64" fmla="*/ 376 w 540"/>
                          <a:gd name="T65" fmla="*/ 345 h 714"/>
                          <a:gd name="T66" fmla="*/ 389 w 540"/>
                          <a:gd name="T67" fmla="*/ 288 h 714"/>
                          <a:gd name="T68" fmla="*/ 426 w 540"/>
                          <a:gd name="T69" fmla="*/ 345 h 714"/>
                          <a:gd name="T70" fmla="*/ 353 w 540"/>
                          <a:gd name="T71" fmla="*/ 516 h 714"/>
                          <a:gd name="T72" fmla="*/ 339 w 540"/>
                          <a:gd name="T73" fmla="*/ 644 h 714"/>
                          <a:gd name="T74" fmla="*/ 393 w 540"/>
                          <a:gd name="T75" fmla="*/ 706 h 714"/>
                          <a:gd name="T76" fmla="*/ 480 w 540"/>
                          <a:gd name="T77" fmla="*/ 700 h 714"/>
                          <a:gd name="T78" fmla="*/ 518 w 540"/>
                          <a:gd name="T79" fmla="*/ 605 h 714"/>
                          <a:gd name="T80" fmla="*/ 536 w 540"/>
                          <a:gd name="T81" fmla="*/ 527 h 714"/>
                          <a:gd name="T82" fmla="*/ 484 w 540"/>
                          <a:gd name="T83" fmla="*/ 424 h 714"/>
                          <a:gd name="T84" fmla="*/ 493 w 540"/>
                          <a:gd name="T85" fmla="*/ 232 h 714"/>
                          <a:gd name="T86" fmla="*/ 451 w 540"/>
                          <a:gd name="T87" fmla="*/ 89 h 714"/>
                          <a:gd name="T88" fmla="*/ 386 w 540"/>
                          <a:gd name="T89" fmla="*/ 20 h 714"/>
                          <a:gd name="T90" fmla="*/ 300 w 540"/>
                          <a:gd name="T91" fmla="*/ 0 h 714"/>
                          <a:gd name="T92" fmla="*/ 204 w 540"/>
                          <a:gd name="T93" fmla="*/ 23 h 714"/>
                          <a:gd name="T94" fmla="*/ 146 w 540"/>
                          <a:gd name="T95" fmla="*/ 61 h 714"/>
                          <a:gd name="T96" fmla="*/ 125 w 540"/>
                          <a:gd name="T97" fmla="*/ 66 h 714"/>
                          <a:gd name="T98" fmla="*/ 101 w 540"/>
                          <a:gd name="T99" fmla="*/ 73 h 714"/>
                          <a:gd name="T100" fmla="*/ 94 w 540"/>
                          <a:gd name="T101" fmla="*/ 51 h 71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  <a:cxn ang="0">
                            <a:pos x="T78" y="T79"/>
                          </a:cxn>
                          <a:cxn ang="0">
                            <a:pos x="T80" y="T81"/>
                          </a:cxn>
                          <a:cxn ang="0">
                            <a:pos x="T82" y="T83"/>
                          </a:cxn>
                          <a:cxn ang="0">
                            <a:pos x="T84" y="T85"/>
                          </a:cxn>
                          <a:cxn ang="0">
                            <a:pos x="T86" y="T87"/>
                          </a:cxn>
                          <a:cxn ang="0">
                            <a:pos x="T88" y="T89"/>
                          </a:cxn>
                          <a:cxn ang="0">
                            <a:pos x="T90" y="T91"/>
                          </a:cxn>
                          <a:cxn ang="0">
                            <a:pos x="T92" y="T93"/>
                          </a:cxn>
                          <a:cxn ang="0">
                            <a:pos x="T94" y="T95"/>
                          </a:cxn>
                          <a:cxn ang="0">
                            <a:pos x="T96" y="T97"/>
                          </a:cxn>
                          <a:cxn ang="0">
                            <a:pos x="T98" y="T99"/>
                          </a:cxn>
                          <a:cxn ang="0">
                            <a:pos x="T100" y="T101"/>
                          </a:cxn>
                        </a:cxnLst>
                        <a:rect l="0" t="0" r="r" b="b"/>
                        <a:pathLst>
                          <a:path w="540" h="714">
                            <a:moveTo>
                              <a:pt x="71" y="71"/>
                            </a:moveTo>
                            <a:lnTo>
                              <a:pt x="60" y="80"/>
                            </a:lnTo>
                            <a:lnTo>
                              <a:pt x="54" y="88"/>
                            </a:lnTo>
                            <a:lnTo>
                              <a:pt x="50" y="99"/>
                            </a:lnTo>
                            <a:lnTo>
                              <a:pt x="49" y="109"/>
                            </a:lnTo>
                            <a:lnTo>
                              <a:pt x="49" y="120"/>
                            </a:lnTo>
                            <a:lnTo>
                              <a:pt x="32" y="125"/>
                            </a:lnTo>
                            <a:lnTo>
                              <a:pt x="20" y="133"/>
                            </a:lnTo>
                            <a:lnTo>
                              <a:pt x="12" y="141"/>
                            </a:lnTo>
                            <a:lnTo>
                              <a:pt x="7" y="151"/>
                            </a:lnTo>
                            <a:lnTo>
                              <a:pt x="5" y="165"/>
                            </a:lnTo>
                            <a:lnTo>
                              <a:pt x="0" y="175"/>
                            </a:lnTo>
                            <a:lnTo>
                              <a:pt x="5" y="186"/>
                            </a:lnTo>
                            <a:lnTo>
                              <a:pt x="8" y="197"/>
                            </a:lnTo>
                            <a:lnTo>
                              <a:pt x="12" y="207"/>
                            </a:lnTo>
                            <a:lnTo>
                              <a:pt x="18" y="217"/>
                            </a:lnTo>
                            <a:lnTo>
                              <a:pt x="13" y="199"/>
                            </a:lnTo>
                            <a:lnTo>
                              <a:pt x="11" y="186"/>
                            </a:lnTo>
                            <a:lnTo>
                              <a:pt x="11" y="173"/>
                            </a:lnTo>
                            <a:lnTo>
                              <a:pt x="13" y="160"/>
                            </a:lnTo>
                            <a:lnTo>
                              <a:pt x="18" y="148"/>
                            </a:lnTo>
                            <a:lnTo>
                              <a:pt x="24" y="141"/>
                            </a:lnTo>
                            <a:lnTo>
                              <a:pt x="32" y="136"/>
                            </a:lnTo>
                            <a:lnTo>
                              <a:pt x="39" y="133"/>
                            </a:lnTo>
                            <a:lnTo>
                              <a:pt x="49" y="129"/>
                            </a:lnTo>
                            <a:lnTo>
                              <a:pt x="34" y="139"/>
                            </a:lnTo>
                            <a:lnTo>
                              <a:pt x="27" y="146"/>
                            </a:lnTo>
                            <a:lnTo>
                              <a:pt x="22" y="155"/>
                            </a:lnTo>
                            <a:lnTo>
                              <a:pt x="20" y="162"/>
                            </a:lnTo>
                            <a:lnTo>
                              <a:pt x="20" y="175"/>
                            </a:lnTo>
                            <a:lnTo>
                              <a:pt x="24" y="162"/>
                            </a:lnTo>
                            <a:lnTo>
                              <a:pt x="28" y="152"/>
                            </a:lnTo>
                            <a:lnTo>
                              <a:pt x="37" y="145"/>
                            </a:lnTo>
                            <a:lnTo>
                              <a:pt x="46" y="140"/>
                            </a:lnTo>
                            <a:lnTo>
                              <a:pt x="55" y="138"/>
                            </a:lnTo>
                            <a:lnTo>
                              <a:pt x="44" y="144"/>
                            </a:lnTo>
                            <a:lnTo>
                              <a:pt x="38" y="150"/>
                            </a:lnTo>
                            <a:lnTo>
                              <a:pt x="32" y="160"/>
                            </a:lnTo>
                            <a:lnTo>
                              <a:pt x="30" y="170"/>
                            </a:lnTo>
                            <a:lnTo>
                              <a:pt x="28" y="181"/>
                            </a:lnTo>
                            <a:lnTo>
                              <a:pt x="28" y="191"/>
                            </a:lnTo>
                            <a:lnTo>
                              <a:pt x="30" y="198"/>
                            </a:lnTo>
                            <a:lnTo>
                              <a:pt x="33" y="207"/>
                            </a:lnTo>
                            <a:lnTo>
                              <a:pt x="38" y="217"/>
                            </a:lnTo>
                            <a:lnTo>
                              <a:pt x="51" y="237"/>
                            </a:lnTo>
                            <a:lnTo>
                              <a:pt x="40" y="214"/>
                            </a:lnTo>
                            <a:lnTo>
                              <a:pt x="36" y="204"/>
                            </a:lnTo>
                            <a:lnTo>
                              <a:pt x="33" y="194"/>
                            </a:lnTo>
                            <a:lnTo>
                              <a:pt x="34" y="183"/>
                            </a:lnTo>
                            <a:lnTo>
                              <a:pt x="36" y="173"/>
                            </a:lnTo>
                            <a:lnTo>
                              <a:pt x="37" y="165"/>
                            </a:lnTo>
                            <a:lnTo>
                              <a:pt x="44" y="154"/>
                            </a:lnTo>
                            <a:lnTo>
                              <a:pt x="56" y="145"/>
                            </a:lnTo>
                            <a:lnTo>
                              <a:pt x="60" y="148"/>
                            </a:lnTo>
                            <a:lnTo>
                              <a:pt x="54" y="156"/>
                            </a:lnTo>
                            <a:lnTo>
                              <a:pt x="50" y="164"/>
                            </a:lnTo>
                            <a:lnTo>
                              <a:pt x="49" y="172"/>
                            </a:lnTo>
                            <a:lnTo>
                              <a:pt x="50" y="182"/>
                            </a:lnTo>
                            <a:lnTo>
                              <a:pt x="52" y="192"/>
                            </a:lnTo>
                            <a:lnTo>
                              <a:pt x="57" y="203"/>
                            </a:lnTo>
                            <a:lnTo>
                              <a:pt x="64" y="215"/>
                            </a:lnTo>
                            <a:lnTo>
                              <a:pt x="75" y="232"/>
                            </a:lnTo>
                            <a:lnTo>
                              <a:pt x="86" y="246"/>
                            </a:lnTo>
                            <a:lnTo>
                              <a:pt x="69" y="218"/>
                            </a:lnTo>
                            <a:lnTo>
                              <a:pt x="63" y="204"/>
                            </a:lnTo>
                            <a:lnTo>
                              <a:pt x="60" y="193"/>
                            </a:lnTo>
                            <a:lnTo>
                              <a:pt x="62" y="183"/>
                            </a:lnTo>
                            <a:lnTo>
                              <a:pt x="63" y="169"/>
                            </a:lnTo>
                            <a:lnTo>
                              <a:pt x="68" y="156"/>
                            </a:lnTo>
                            <a:lnTo>
                              <a:pt x="71" y="159"/>
                            </a:lnTo>
                            <a:lnTo>
                              <a:pt x="70" y="167"/>
                            </a:lnTo>
                            <a:lnTo>
                              <a:pt x="70" y="181"/>
                            </a:lnTo>
                            <a:lnTo>
                              <a:pt x="71" y="191"/>
                            </a:lnTo>
                            <a:lnTo>
                              <a:pt x="75" y="203"/>
                            </a:lnTo>
                            <a:lnTo>
                              <a:pt x="79" y="214"/>
                            </a:lnTo>
                            <a:lnTo>
                              <a:pt x="87" y="225"/>
                            </a:lnTo>
                            <a:lnTo>
                              <a:pt x="97" y="237"/>
                            </a:lnTo>
                            <a:lnTo>
                              <a:pt x="85" y="215"/>
                            </a:lnTo>
                            <a:lnTo>
                              <a:pt x="80" y="203"/>
                            </a:lnTo>
                            <a:lnTo>
                              <a:pt x="77" y="190"/>
                            </a:lnTo>
                            <a:lnTo>
                              <a:pt x="77" y="172"/>
                            </a:lnTo>
                            <a:lnTo>
                              <a:pt x="80" y="162"/>
                            </a:lnTo>
                            <a:lnTo>
                              <a:pt x="86" y="167"/>
                            </a:lnTo>
                            <a:lnTo>
                              <a:pt x="87" y="183"/>
                            </a:lnTo>
                            <a:lnTo>
                              <a:pt x="89" y="198"/>
                            </a:lnTo>
                            <a:lnTo>
                              <a:pt x="94" y="211"/>
                            </a:lnTo>
                            <a:lnTo>
                              <a:pt x="99" y="223"/>
                            </a:lnTo>
                            <a:lnTo>
                              <a:pt x="106" y="237"/>
                            </a:lnTo>
                            <a:lnTo>
                              <a:pt x="100" y="218"/>
                            </a:lnTo>
                            <a:lnTo>
                              <a:pt x="97" y="207"/>
                            </a:lnTo>
                            <a:lnTo>
                              <a:pt x="94" y="198"/>
                            </a:lnTo>
                            <a:lnTo>
                              <a:pt x="93" y="187"/>
                            </a:lnTo>
                            <a:lnTo>
                              <a:pt x="99" y="207"/>
                            </a:lnTo>
                            <a:lnTo>
                              <a:pt x="104" y="218"/>
                            </a:lnTo>
                            <a:lnTo>
                              <a:pt x="111" y="228"/>
                            </a:lnTo>
                            <a:lnTo>
                              <a:pt x="119" y="240"/>
                            </a:lnTo>
                            <a:lnTo>
                              <a:pt x="129" y="253"/>
                            </a:lnTo>
                            <a:lnTo>
                              <a:pt x="140" y="261"/>
                            </a:lnTo>
                            <a:lnTo>
                              <a:pt x="148" y="267"/>
                            </a:lnTo>
                            <a:lnTo>
                              <a:pt x="134" y="253"/>
                            </a:lnTo>
                            <a:lnTo>
                              <a:pt x="124" y="240"/>
                            </a:lnTo>
                            <a:lnTo>
                              <a:pt x="116" y="227"/>
                            </a:lnTo>
                            <a:lnTo>
                              <a:pt x="108" y="211"/>
                            </a:lnTo>
                            <a:lnTo>
                              <a:pt x="104" y="197"/>
                            </a:lnTo>
                            <a:lnTo>
                              <a:pt x="101" y="185"/>
                            </a:lnTo>
                            <a:lnTo>
                              <a:pt x="104" y="173"/>
                            </a:lnTo>
                            <a:lnTo>
                              <a:pt x="111" y="173"/>
                            </a:lnTo>
                            <a:lnTo>
                              <a:pt x="111" y="187"/>
                            </a:lnTo>
                            <a:lnTo>
                              <a:pt x="112" y="198"/>
                            </a:lnTo>
                            <a:lnTo>
                              <a:pt x="117" y="212"/>
                            </a:lnTo>
                            <a:lnTo>
                              <a:pt x="122" y="224"/>
                            </a:lnTo>
                            <a:lnTo>
                              <a:pt x="132" y="239"/>
                            </a:lnTo>
                            <a:lnTo>
                              <a:pt x="126" y="224"/>
                            </a:lnTo>
                            <a:lnTo>
                              <a:pt x="120" y="211"/>
                            </a:lnTo>
                            <a:lnTo>
                              <a:pt x="118" y="201"/>
                            </a:lnTo>
                            <a:lnTo>
                              <a:pt x="117" y="188"/>
                            </a:lnTo>
                            <a:lnTo>
                              <a:pt x="119" y="176"/>
                            </a:lnTo>
                            <a:lnTo>
                              <a:pt x="137" y="175"/>
                            </a:lnTo>
                            <a:lnTo>
                              <a:pt x="143" y="188"/>
                            </a:lnTo>
                            <a:lnTo>
                              <a:pt x="149" y="199"/>
                            </a:lnTo>
                            <a:lnTo>
                              <a:pt x="154" y="209"/>
                            </a:lnTo>
                            <a:lnTo>
                              <a:pt x="178" y="244"/>
                            </a:lnTo>
                            <a:lnTo>
                              <a:pt x="162" y="212"/>
                            </a:lnTo>
                            <a:lnTo>
                              <a:pt x="157" y="202"/>
                            </a:lnTo>
                            <a:lnTo>
                              <a:pt x="153" y="187"/>
                            </a:lnTo>
                            <a:lnTo>
                              <a:pt x="149" y="172"/>
                            </a:lnTo>
                            <a:lnTo>
                              <a:pt x="154" y="175"/>
                            </a:lnTo>
                            <a:lnTo>
                              <a:pt x="162" y="196"/>
                            </a:lnTo>
                            <a:lnTo>
                              <a:pt x="167" y="207"/>
                            </a:lnTo>
                            <a:lnTo>
                              <a:pt x="175" y="220"/>
                            </a:lnTo>
                            <a:lnTo>
                              <a:pt x="189" y="232"/>
                            </a:lnTo>
                            <a:lnTo>
                              <a:pt x="206" y="239"/>
                            </a:lnTo>
                            <a:lnTo>
                              <a:pt x="190" y="224"/>
                            </a:lnTo>
                            <a:lnTo>
                              <a:pt x="181" y="213"/>
                            </a:lnTo>
                            <a:lnTo>
                              <a:pt x="175" y="203"/>
                            </a:lnTo>
                            <a:lnTo>
                              <a:pt x="172" y="191"/>
                            </a:lnTo>
                            <a:lnTo>
                              <a:pt x="171" y="176"/>
                            </a:lnTo>
                            <a:lnTo>
                              <a:pt x="180" y="172"/>
                            </a:lnTo>
                            <a:lnTo>
                              <a:pt x="180" y="186"/>
                            </a:lnTo>
                            <a:lnTo>
                              <a:pt x="185" y="201"/>
                            </a:lnTo>
                            <a:lnTo>
                              <a:pt x="190" y="211"/>
                            </a:lnTo>
                            <a:lnTo>
                              <a:pt x="208" y="228"/>
                            </a:lnTo>
                            <a:lnTo>
                              <a:pt x="199" y="218"/>
                            </a:lnTo>
                            <a:lnTo>
                              <a:pt x="193" y="206"/>
                            </a:lnTo>
                            <a:lnTo>
                              <a:pt x="192" y="194"/>
                            </a:lnTo>
                            <a:lnTo>
                              <a:pt x="191" y="181"/>
                            </a:lnTo>
                            <a:lnTo>
                              <a:pt x="193" y="170"/>
                            </a:lnTo>
                            <a:lnTo>
                              <a:pt x="198" y="166"/>
                            </a:lnTo>
                            <a:lnTo>
                              <a:pt x="211" y="164"/>
                            </a:lnTo>
                            <a:lnTo>
                              <a:pt x="224" y="159"/>
                            </a:lnTo>
                            <a:lnTo>
                              <a:pt x="241" y="144"/>
                            </a:lnTo>
                            <a:lnTo>
                              <a:pt x="223" y="176"/>
                            </a:lnTo>
                            <a:lnTo>
                              <a:pt x="226" y="193"/>
                            </a:lnTo>
                            <a:lnTo>
                              <a:pt x="233" y="211"/>
                            </a:lnTo>
                            <a:lnTo>
                              <a:pt x="242" y="224"/>
                            </a:lnTo>
                            <a:lnTo>
                              <a:pt x="259" y="241"/>
                            </a:lnTo>
                            <a:lnTo>
                              <a:pt x="283" y="258"/>
                            </a:lnTo>
                            <a:lnTo>
                              <a:pt x="314" y="282"/>
                            </a:lnTo>
                            <a:lnTo>
                              <a:pt x="346" y="322"/>
                            </a:lnTo>
                            <a:lnTo>
                              <a:pt x="346" y="343"/>
                            </a:lnTo>
                            <a:lnTo>
                              <a:pt x="347" y="355"/>
                            </a:lnTo>
                            <a:lnTo>
                              <a:pt x="356" y="363"/>
                            </a:lnTo>
                            <a:lnTo>
                              <a:pt x="367" y="365"/>
                            </a:lnTo>
                            <a:lnTo>
                              <a:pt x="371" y="358"/>
                            </a:lnTo>
                            <a:lnTo>
                              <a:pt x="376" y="345"/>
                            </a:lnTo>
                            <a:lnTo>
                              <a:pt x="375" y="332"/>
                            </a:lnTo>
                            <a:lnTo>
                              <a:pt x="375" y="319"/>
                            </a:lnTo>
                            <a:lnTo>
                              <a:pt x="376" y="303"/>
                            </a:lnTo>
                            <a:lnTo>
                              <a:pt x="381" y="293"/>
                            </a:lnTo>
                            <a:lnTo>
                              <a:pt x="389" y="288"/>
                            </a:lnTo>
                            <a:lnTo>
                              <a:pt x="399" y="288"/>
                            </a:lnTo>
                            <a:lnTo>
                              <a:pt x="412" y="296"/>
                            </a:lnTo>
                            <a:lnTo>
                              <a:pt x="422" y="311"/>
                            </a:lnTo>
                            <a:lnTo>
                              <a:pt x="425" y="326"/>
                            </a:lnTo>
                            <a:lnTo>
                              <a:pt x="426" y="345"/>
                            </a:lnTo>
                            <a:lnTo>
                              <a:pt x="425" y="364"/>
                            </a:lnTo>
                            <a:lnTo>
                              <a:pt x="423" y="387"/>
                            </a:lnTo>
                            <a:lnTo>
                              <a:pt x="411" y="429"/>
                            </a:lnTo>
                            <a:lnTo>
                              <a:pt x="356" y="492"/>
                            </a:lnTo>
                            <a:lnTo>
                              <a:pt x="353" y="516"/>
                            </a:lnTo>
                            <a:lnTo>
                              <a:pt x="357" y="569"/>
                            </a:lnTo>
                            <a:lnTo>
                              <a:pt x="358" y="600"/>
                            </a:lnTo>
                            <a:lnTo>
                              <a:pt x="350" y="616"/>
                            </a:lnTo>
                            <a:lnTo>
                              <a:pt x="343" y="632"/>
                            </a:lnTo>
                            <a:lnTo>
                              <a:pt x="339" y="644"/>
                            </a:lnTo>
                            <a:lnTo>
                              <a:pt x="337" y="664"/>
                            </a:lnTo>
                            <a:lnTo>
                              <a:pt x="342" y="679"/>
                            </a:lnTo>
                            <a:lnTo>
                              <a:pt x="353" y="695"/>
                            </a:lnTo>
                            <a:lnTo>
                              <a:pt x="371" y="705"/>
                            </a:lnTo>
                            <a:lnTo>
                              <a:pt x="393" y="706"/>
                            </a:lnTo>
                            <a:lnTo>
                              <a:pt x="407" y="710"/>
                            </a:lnTo>
                            <a:lnTo>
                              <a:pt x="428" y="714"/>
                            </a:lnTo>
                            <a:lnTo>
                              <a:pt x="447" y="711"/>
                            </a:lnTo>
                            <a:lnTo>
                              <a:pt x="462" y="708"/>
                            </a:lnTo>
                            <a:lnTo>
                              <a:pt x="480" y="700"/>
                            </a:lnTo>
                            <a:lnTo>
                              <a:pt x="493" y="690"/>
                            </a:lnTo>
                            <a:lnTo>
                              <a:pt x="503" y="675"/>
                            </a:lnTo>
                            <a:lnTo>
                              <a:pt x="511" y="662"/>
                            </a:lnTo>
                            <a:lnTo>
                              <a:pt x="517" y="644"/>
                            </a:lnTo>
                            <a:lnTo>
                              <a:pt x="518" y="605"/>
                            </a:lnTo>
                            <a:lnTo>
                              <a:pt x="526" y="598"/>
                            </a:lnTo>
                            <a:lnTo>
                              <a:pt x="534" y="585"/>
                            </a:lnTo>
                            <a:lnTo>
                              <a:pt x="536" y="572"/>
                            </a:lnTo>
                            <a:lnTo>
                              <a:pt x="540" y="549"/>
                            </a:lnTo>
                            <a:lnTo>
                              <a:pt x="536" y="527"/>
                            </a:lnTo>
                            <a:lnTo>
                              <a:pt x="532" y="511"/>
                            </a:lnTo>
                            <a:lnTo>
                              <a:pt x="524" y="501"/>
                            </a:lnTo>
                            <a:lnTo>
                              <a:pt x="510" y="476"/>
                            </a:lnTo>
                            <a:lnTo>
                              <a:pt x="496" y="455"/>
                            </a:lnTo>
                            <a:lnTo>
                              <a:pt x="484" y="424"/>
                            </a:lnTo>
                            <a:lnTo>
                              <a:pt x="485" y="347"/>
                            </a:lnTo>
                            <a:lnTo>
                              <a:pt x="490" y="316"/>
                            </a:lnTo>
                            <a:lnTo>
                              <a:pt x="494" y="281"/>
                            </a:lnTo>
                            <a:lnTo>
                              <a:pt x="494" y="259"/>
                            </a:lnTo>
                            <a:lnTo>
                              <a:pt x="493" y="232"/>
                            </a:lnTo>
                            <a:lnTo>
                              <a:pt x="488" y="207"/>
                            </a:lnTo>
                            <a:lnTo>
                              <a:pt x="486" y="186"/>
                            </a:lnTo>
                            <a:lnTo>
                              <a:pt x="480" y="162"/>
                            </a:lnTo>
                            <a:lnTo>
                              <a:pt x="465" y="117"/>
                            </a:lnTo>
                            <a:lnTo>
                              <a:pt x="451" y="89"/>
                            </a:lnTo>
                            <a:lnTo>
                              <a:pt x="418" y="54"/>
                            </a:lnTo>
                            <a:lnTo>
                              <a:pt x="399" y="46"/>
                            </a:lnTo>
                            <a:lnTo>
                              <a:pt x="399" y="36"/>
                            </a:lnTo>
                            <a:lnTo>
                              <a:pt x="393" y="28"/>
                            </a:lnTo>
                            <a:lnTo>
                              <a:pt x="386" y="20"/>
                            </a:lnTo>
                            <a:lnTo>
                              <a:pt x="374" y="14"/>
                            </a:lnTo>
                            <a:lnTo>
                              <a:pt x="359" y="9"/>
                            </a:lnTo>
                            <a:lnTo>
                              <a:pt x="343" y="5"/>
                            </a:lnTo>
                            <a:lnTo>
                              <a:pt x="328" y="3"/>
                            </a:lnTo>
                            <a:lnTo>
                              <a:pt x="300" y="0"/>
                            </a:lnTo>
                            <a:lnTo>
                              <a:pt x="279" y="0"/>
                            </a:lnTo>
                            <a:lnTo>
                              <a:pt x="250" y="3"/>
                            </a:lnTo>
                            <a:lnTo>
                              <a:pt x="233" y="8"/>
                            </a:lnTo>
                            <a:lnTo>
                              <a:pt x="218" y="14"/>
                            </a:lnTo>
                            <a:lnTo>
                              <a:pt x="204" y="23"/>
                            </a:lnTo>
                            <a:lnTo>
                              <a:pt x="192" y="30"/>
                            </a:lnTo>
                            <a:lnTo>
                              <a:pt x="178" y="42"/>
                            </a:lnTo>
                            <a:lnTo>
                              <a:pt x="166" y="54"/>
                            </a:lnTo>
                            <a:lnTo>
                              <a:pt x="156" y="58"/>
                            </a:lnTo>
                            <a:lnTo>
                              <a:pt x="146" y="61"/>
                            </a:lnTo>
                            <a:lnTo>
                              <a:pt x="138" y="61"/>
                            </a:lnTo>
                            <a:lnTo>
                              <a:pt x="131" y="57"/>
                            </a:lnTo>
                            <a:lnTo>
                              <a:pt x="126" y="47"/>
                            </a:lnTo>
                            <a:lnTo>
                              <a:pt x="125" y="57"/>
                            </a:lnTo>
                            <a:lnTo>
                              <a:pt x="125" y="66"/>
                            </a:lnTo>
                            <a:lnTo>
                              <a:pt x="118" y="65"/>
                            </a:lnTo>
                            <a:lnTo>
                              <a:pt x="111" y="61"/>
                            </a:lnTo>
                            <a:lnTo>
                              <a:pt x="116" y="70"/>
                            </a:lnTo>
                            <a:lnTo>
                              <a:pt x="108" y="76"/>
                            </a:lnTo>
                            <a:lnTo>
                              <a:pt x="101" y="73"/>
                            </a:lnTo>
                            <a:lnTo>
                              <a:pt x="98" y="70"/>
                            </a:lnTo>
                            <a:lnTo>
                              <a:pt x="95" y="63"/>
                            </a:lnTo>
                            <a:lnTo>
                              <a:pt x="98" y="55"/>
                            </a:lnTo>
                            <a:lnTo>
                              <a:pt x="106" y="49"/>
                            </a:lnTo>
                            <a:lnTo>
                              <a:pt x="94" y="51"/>
                            </a:lnTo>
                            <a:lnTo>
                              <a:pt x="83" y="55"/>
                            </a:lnTo>
                            <a:lnTo>
                              <a:pt x="76" y="62"/>
                            </a:lnTo>
                            <a:lnTo>
                              <a:pt x="71" y="71"/>
                            </a:lnTo>
                            <a:close/>
                          </a:path>
                        </a:pathLst>
                      </a:custGeom>
                      <a:solidFill>
                        <a:srgbClr val="7F3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sp>
                  <p:nvSpPr>
                    <p:cNvPr id="385" name="Freeform 281"/>
                    <p:cNvSpPr/>
                    <p:nvPr/>
                  </p:nvSpPr>
                  <p:spPr bwMode="auto">
                    <a:xfrm>
                      <a:off x="5241" y="2293"/>
                      <a:ext cx="41" cy="106"/>
                    </a:xfrm>
                    <a:custGeom>
                      <a:avLst/>
                      <a:gdLst>
                        <a:gd name="T0" fmla="*/ 26 w 245"/>
                        <a:gd name="T1" fmla="*/ 32 h 529"/>
                        <a:gd name="T2" fmla="*/ 0 w 245"/>
                        <a:gd name="T3" fmla="*/ 0 h 529"/>
                        <a:gd name="T4" fmla="*/ 10 w 245"/>
                        <a:gd name="T5" fmla="*/ 34 h 529"/>
                        <a:gd name="T6" fmla="*/ 36 w 245"/>
                        <a:gd name="T7" fmla="*/ 64 h 529"/>
                        <a:gd name="T8" fmla="*/ 92 w 245"/>
                        <a:gd name="T9" fmla="*/ 105 h 529"/>
                        <a:gd name="T10" fmla="*/ 124 w 245"/>
                        <a:gd name="T11" fmla="*/ 167 h 529"/>
                        <a:gd name="T12" fmla="*/ 134 w 245"/>
                        <a:gd name="T13" fmla="*/ 187 h 529"/>
                        <a:gd name="T14" fmla="*/ 149 w 245"/>
                        <a:gd name="T15" fmla="*/ 182 h 529"/>
                        <a:gd name="T16" fmla="*/ 153 w 245"/>
                        <a:gd name="T17" fmla="*/ 156 h 529"/>
                        <a:gd name="T18" fmla="*/ 154 w 245"/>
                        <a:gd name="T19" fmla="*/ 126 h 529"/>
                        <a:gd name="T20" fmla="*/ 167 w 245"/>
                        <a:gd name="T21" fmla="*/ 111 h 529"/>
                        <a:gd name="T22" fmla="*/ 190 w 245"/>
                        <a:gd name="T23" fmla="*/ 119 h 529"/>
                        <a:gd name="T24" fmla="*/ 203 w 245"/>
                        <a:gd name="T25" fmla="*/ 150 h 529"/>
                        <a:gd name="T26" fmla="*/ 203 w 245"/>
                        <a:gd name="T27" fmla="*/ 188 h 529"/>
                        <a:gd name="T28" fmla="*/ 189 w 245"/>
                        <a:gd name="T29" fmla="*/ 254 h 529"/>
                        <a:gd name="T30" fmla="*/ 131 w 245"/>
                        <a:gd name="T31" fmla="*/ 340 h 529"/>
                        <a:gd name="T32" fmla="*/ 136 w 245"/>
                        <a:gd name="T33" fmla="*/ 424 h 529"/>
                        <a:gd name="T34" fmla="*/ 121 w 245"/>
                        <a:gd name="T35" fmla="*/ 456 h 529"/>
                        <a:gd name="T36" fmla="*/ 115 w 245"/>
                        <a:gd name="T37" fmla="*/ 488 h 529"/>
                        <a:gd name="T38" fmla="*/ 131 w 245"/>
                        <a:gd name="T39" fmla="*/ 519 h 529"/>
                        <a:gd name="T40" fmla="*/ 167 w 245"/>
                        <a:gd name="T41" fmla="*/ 528 h 529"/>
                        <a:gd name="T42" fmla="*/ 177 w 245"/>
                        <a:gd name="T43" fmla="*/ 503 h 529"/>
                        <a:gd name="T44" fmla="*/ 159 w 245"/>
                        <a:gd name="T45" fmla="*/ 461 h 529"/>
                        <a:gd name="T46" fmla="*/ 196 w 245"/>
                        <a:gd name="T47" fmla="*/ 486 h 529"/>
                        <a:gd name="T48" fmla="*/ 243 w 245"/>
                        <a:gd name="T49" fmla="*/ 491 h 529"/>
                        <a:gd name="T50" fmla="*/ 200 w 245"/>
                        <a:gd name="T51" fmla="*/ 461 h 529"/>
                        <a:gd name="T52" fmla="*/ 166 w 245"/>
                        <a:gd name="T53" fmla="*/ 432 h 529"/>
                        <a:gd name="T54" fmla="*/ 169 w 245"/>
                        <a:gd name="T55" fmla="*/ 401 h 529"/>
                        <a:gd name="T56" fmla="*/ 206 w 245"/>
                        <a:gd name="T57" fmla="*/ 428 h 529"/>
                        <a:gd name="T58" fmla="*/ 173 w 245"/>
                        <a:gd name="T59" fmla="*/ 380 h 529"/>
                        <a:gd name="T60" fmla="*/ 212 w 245"/>
                        <a:gd name="T61" fmla="*/ 412 h 529"/>
                        <a:gd name="T62" fmla="*/ 222 w 245"/>
                        <a:gd name="T63" fmla="*/ 408 h 529"/>
                        <a:gd name="T64" fmla="*/ 197 w 245"/>
                        <a:gd name="T65" fmla="*/ 366 h 529"/>
                        <a:gd name="T66" fmla="*/ 192 w 245"/>
                        <a:gd name="T67" fmla="*/ 333 h 529"/>
                        <a:gd name="T68" fmla="*/ 200 w 245"/>
                        <a:gd name="T69" fmla="*/ 283 h 529"/>
                        <a:gd name="T70" fmla="*/ 234 w 245"/>
                        <a:gd name="T71" fmla="*/ 334 h 529"/>
                        <a:gd name="T72" fmla="*/ 209 w 245"/>
                        <a:gd name="T73" fmla="*/ 275 h 529"/>
                        <a:gd name="T74" fmla="*/ 245 w 245"/>
                        <a:gd name="T75" fmla="*/ 303 h 529"/>
                        <a:gd name="T76" fmla="*/ 225 w 245"/>
                        <a:gd name="T77" fmla="*/ 246 h 529"/>
                        <a:gd name="T78" fmla="*/ 212 w 245"/>
                        <a:gd name="T79" fmla="*/ 200 h 529"/>
                        <a:gd name="T80" fmla="*/ 209 w 245"/>
                        <a:gd name="T81" fmla="*/ 120 h 529"/>
                        <a:gd name="T82" fmla="*/ 186 w 245"/>
                        <a:gd name="T83" fmla="*/ 92 h 529"/>
                        <a:gd name="T84" fmla="*/ 141 w 245"/>
                        <a:gd name="T85" fmla="*/ 78 h 529"/>
                        <a:gd name="T86" fmla="*/ 130 w 245"/>
                        <a:gd name="T87" fmla="*/ 77 h 529"/>
                        <a:gd name="T88" fmla="*/ 104 w 245"/>
                        <a:gd name="T89" fmla="*/ 61 h 529"/>
                        <a:gd name="T90" fmla="*/ 94 w 245"/>
                        <a:gd name="T91" fmla="*/ 77 h 529"/>
                        <a:gd name="T92" fmla="*/ 88 w 245"/>
                        <a:gd name="T93" fmla="*/ 89 h 529"/>
                        <a:gd name="T94" fmla="*/ 55 w 245"/>
                        <a:gd name="T95" fmla="*/ 42 h 529"/>
                        <a:gd name="T96" fmla="*/ 43 w 245"/>
                        <a:gd name="T97" fmla="*/ 40 h 5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</a:cxnLst>
                      <a:rect l="0" t="0" r="r" b="b"/>
                      <a:pathLst>
                        <a:path w="245" h="529">
                          <a:moveTo>
                            <a:pt x="43" y="40"/>
                          </a:moveTo>
                          <a:lnTo>
                            <a:pt x="26" y="32"/>
                          </a:lnTo>
                          <a:lnTo>
                            <a:pt x="18" y="21"/>
                          </a:lnTo>
                          <a:lnTo>
                            <a:pt x="0" y="0"/>
                          </a:lnTo>
                          <a:lnTo>
                            <a:pt x="2" y="16"/>
                          </a:lnTo>
                          <a:lnTo>
                            <a:pt x="10" y="34"/>
                          </a:lnTo>
                          <a:lnTo>
                            <a:pt x="19" y="47"/>
                          </a:lnTo>
                          <a:lnTo>
                            <a:pt x="36" y="64"/>
                          </a:lnTo>
                          <a:lnTo>
                            <a:pt x="60" y="81"/>
                          </a:lnTo>
                          <a:lnTo>
                            <a:pt x="92" y="105"/>
                          </a:lnTo>
                          <a:lnTo>
                            <a:pt x="124" y="146"/>
                          </a:lnTo>
                          <a:lnTo>
                            <a:pt x="124" y="167"/>
                          </a:lnTo>
                          <a:lnTo>
                            <a:pt x="125" y="179"/>
                          </a:lnTo>
                          <a:lnTo>
                            <a:pt x="134" y="187"/>
                          </a:lnTo>
                          <a:lnTo>
                            <a:pt x="145" y="189"/>
                          </a:lnTo>
                          <a:lnTo>
                            <a:pt x="149" y="182"/>
                          </a:lnTo>
                          <a:lnTo>
                            <a:pt x="154" y="170"/>
                          </a:lnTo>
                          <a:lnTo>
                            <a:pt x="153" y="156"/>
                          </a:lnTo>
                          <a:lnTo>
                            <a:pt x="153" y="144"/>
                          </a:lnTo>
                          <a:lnTo>
                            <a:pt x="154" y="126"/>
                          </a:lnTo>
                          <a:lnTo>
                            <a:pt x="159" y="116"/>
                          </a:lnTo>
                          <a:lnTo>
                            <a:pt x="167" y="111"/>
                          </a:lnTo>
                          <a:lnTo>
                            <a:pt x="177" y="111"/>
                          </a:lnTo>
                          <a:lnTo>
                            <a:pt x="190" y="119"/>
                          </a:lnTo>
                          <a:lnTo>
                            <a:pt x="200" y="135"/>
                          </a:lnTo>
                          <a:lnTo>
                            <a:pt x="203" y="150"/>
                          </a:lnTo>
                          <a:lnTo>
                            <a:pt x="204" y="170"/>
                          </a:lnTo>
                          <a:lnTo>
                            <a:pt x="203" y="188"/>
                          </a:lnTo>
                          <a:lnTo>
                            <a:pt x="201" y="212"/>
                          </a:lnTo>
                          <a:lnTo>
                            <a:pt x="189" y="254"/>
                          </a:lnTo>
                          <a:lnTo>
                            <a:pt x="134" y="317"/>
                          </a:lnTo>
                          <a:lnTo>
                            <a:pt x="131" y="340"/>
                          </a:lnTo>
                          <a:lnTo>
                            <a:pt x="135" y="392"/>
                          </a:lnTo>
                          <a:lnTo>
                            <a:pt x="136" y="424"/>
                          </a:lnTo>
                          <a:lnTo>
                            <a:pt x="128" y="440"/>
                          </a:lnTo>
                          <a:lnTo>
                            <a:pt x="121" y="456"/>
                          </a:lnTo>
                          <a:lnTo>
                            <a:pt x="117" y="469"/>
                          </a:lnTo>
                          <a:lnTo>
                            <a:pt x="115" y="488"/>
                          </a:lnTo>
                          <a:lnTo>
                            <a:pt x="120" y="503"/>
                          </a:lnTo>
                          <a:lnTo>
                            <a:pt x="131" y="519"/>
                          </a:lnTo>
                          <a:lnTo>
                            <a:pt x="149" y="529"/>
                          </a:lnTo>
                          <a:lnTo>
                            <a:pt x="167" y="528"/>
                          </a:lnTo>
                          <a:lnTo>
                            <a:pt x="178" y="519"/>
                          </a:lnTo>
                          <a:lnTo>
                            <a:pt x="177" y="503"/>
                          </a:lnTo>
                          <a:lnTo>
                            <a:pt x="167" y="485"/>
                          </a:lnTo>
                          <a:lnTo>
                            <a:pt x="159" y="461"/>
                          </a:lnTo>
                          <a:lnTo>
                            <a:pt x="179" y="481"/>
                          </a:lnTo>
                          <a:lnTo>
                            <a:pt x="196" y="486"/>
                          </a:lnTo>
                          <a:lnTo>
                            <a:pt x="217" y="490"/>
                          </a:lnTo>
                          <a:lnTo>
                            <a:pt x="243" y="491"/>
                          </a:lnTo>
                          <a:lnTo>
                            <a:pt x="227" y="481"/>
                          </a:lnTo>
                          <a:lnTo>
                            <a:pt x="200" y="461"/>
                          </a:lnTo>
                          <a:lnTo>
                            <a:pt x="179" y="450"/>
                          </a:lnTo>
                          <a:lnTo>
                            <a:pt x="166" y="432"/>
                          </a:lnTo>
                          <a:lnTo>
                            <a:pt x="163" y="411"/>
                          </a:lnTo>
                          <a:lnTo>
                            <a:pt x="169" y="401"/>
                          </a:lnTo>
                          <a:lnTo>
                            <a:pt x="189" y="421"/>
                          </a:lnTo>
                          <a:lnTo>
                            <a:pt x="206" y="428"/>
                          </a:lnTo>
                          <a:lnTo>
                            <a:pt x="179" y="401"/>
                          </a:lnTo>
                          <a:lnTo>
                            <a:pt x="173" y="380"/>
                          </a:lnTo>
                          <a:lnTo>
                            <a:pt x="188" y="387"/>
                          </a:lnTo>
                          <a:lnTo>
                            <a:pt x="212" y="412"/>
                          </a:lnTo>
                          <a:lnTo>
                            <a:pt x="228" y="418"/>
                          </a:lnTo>
                          <a:lnTo>
                            <a:pt x="222" y="408"/>
                          </a:lnTo>
                          <a:lnTo>
                            <a:pt x="202" y="378"/>
                          </a:lnTo>
                          <a:lnTo>
                            <a:pt x="197" y="366"/>
                          </a:lnTo>
                          <a:lnTo>
                            <a:pt x="191" y="349"/>
                          </a:lnTo>
                          <a:lnTo>
                            <a:pt x="192" y="333"/>
                          </a:lnTo>
                          <a:lnTo>
                            <a:pt x="191" y="312"/>
                          </a:lnTo>
                          <a:lnTo>
                            <a:pt x="200" y="283"/>
                          </a:lnTo>
                          <a:lnTo>
                            <a:pt x="215" y="322"/>
                          </a:lnTo>
                          <a:lnTo>
                            <a:pt x="234" y="334"/>
                          </a:lnTo>
                          <a:lnTo>
                            <a:pt x="221" y="315"/>
                          </a:lnTo>
                          <a:lnTo>
                            <a:pt x="209" y="275"/>
                          </a:lnTo>
                          <a:lnTo>
                            <a:pt x="226" y="289"/>
                          </a:lnTo>
                          <a:lnTo>
                            <a:pt x="245" y="303"/>
                          </a:lnTo>
                          <a:lnTo>
                            <a:pt x="233" y="276"/>
                          </a:lnTo>
                          <a:lnTo>
                            <a:pt x="225" y="246"/>
                          </a:lnTo>
                          <a:lnTo>
                            <a:pt x="216" y="218"/>
                          </a:lnTo>
                          <a:lnTo>
                            <a:pt x="212" y="200"/>
                          </a:lnTo>
                          <a:lnTo>
                            <a:pt x="212" y="155"/>
                          </a:lnTo>
                          <a:lnTo>
                            <a:pt x="209" y="120"/>
                          </a:lnTo>
                          <a:lnTo>
                            <a:pt x="204" y="102"/>
                          </a:lnTo>
                          <a:lnTo>
                            <a:pt x="186" y="92"/>
                          </a:lnTo>
                          <a:lnTo>
                            <a:pt x="163" y="93"/>
                          </a:lnTo>
                          <a:lnTo>
                            <a:pt x="141" y="78"/>
                          </a:lnTo>
                          <a:lnTo>
                            <a:pt x="116" y="56"/>
                          </a:lnTo>
                          <a:lnTo>
                            <a:pt x="130" y="77"/>
                          </a:lnTo>
                          <a:lnTo>
                            <a:pt x="146" y="102"/>
                          </a:lnTo>
                          <a:lnTo>
                            <a:pt x="104" y="61"/>
                          </a:lnTo>
                          <a:lnTo>
                            <a:pt x="118" y="93"/>
                          </a:lnTo>
                          <a:lnTo>
                            <a:pt x="94" y="77"/>
                          </a:lnTo>
                          <a:lnTo>
                            <a:pt x="114" y="105"/>
                          </a:lnTo>
                          <a:lnTo>
                            <a:pt x="88" y="89"/>
                          </a:lnTo>
                          <a:lnTo>
                            <a:pt x="73" y="66"/>
                          </a:lnTo>
                          <a:lnTo>
                            <a:pt x="55" y="42"/>
                          </a:lnTo>
                          <a:lnTo>
                            <a:pt x="36" y="14"/>
                          </a:lnTo>
                          <a:lnTo>
                            <a:pt x="43" y="40"/>
                          </a:lnTo>
                          <a:close/>
                        </a:path>
                      </a:pathLst>
                    </a:custGeom>
                    <a:solidFill>
                      <a:srgbClr val="5F3F1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350" name="Group 282"/>
                  <p:cNvGrpSpPr/>
                  <p:nvPr/>
                </p:nvGrpSpPr>
                <p:grpSpPr bwMode="auto">
                  <a:xfrm>
                    <a:off x="5214" y="2316"/>
                    <a:ext cx="35" cy="53"/>
                    <a:chOff x="5214" y="2316"/>
                    <a:chExt cx="35" cy="53"/>
                  </a:xfrm>
                </p:grpSpPr>
                <p:grpSp>
                  <p:nvGrpSpPr>
                    <p:cNvPr id="354" name="Group 283"/>
                    <p:cNvGrpSpPr/>
                    <p:nvPr/>
                  </p:nvGrpSpPr>
                  <p:grpSpPr bwMode="auto">
                    <a:xfrm>
                      <a:off x="5217" y="2320"/>
                      <a:ext cx="21" cy="37"/>
                      <a:chOff x="5217" y="2320"/>
                      <a:chExt cx="21" cy="37"/>
                    </a:xfrm>
                  </p:grpSpPr>
                  <p:sp>
                    <p:nvSpPr>
                      <p:cNvPr id="381" name="Freeform 284"/>
                      <p:cNvSpPr/>
                      <p:nvPr/>
                    </p:nvSpPr>
                    <p:spPr bwMode="auto">
                      <a:xfrm>
                        <a:off x="5217" y="2321"/>
                        <a:ext cx="7" cy="20"/>
                      </a:xfrm>
                      <a:custGeom>
                        <a:avLst/>
                        <a:gdLst>
                          <a:gd name="T0" fmla="*/ 28 w 45"/>
                          <a:gd name="T1" fmla="*/ 0 h 103"/>
                          <a:gd name="T2" fmla="*/ 29 w 45"/>
                          <a:gd name="T3" fmla="*/ 10 h 103"/>
                          <a:gd name="T4" fmla="*/ 24 w 45"/>
                          <a:gd name="T5" fmla="*/ 19 h 103"/>
                          <a:gd name="T6" fmla="*/ 19 w 45"/>
                          <a:gd name="T7" fmla="*/ 23 h 103"/>
                          <a:gd name="T8" fmla="*/ 0 w 45"/>
                          <a:gd name="T9" fmla="*/ 25 h 103"/>
                          <a:gd name="T10" fmla="*/ 19 w 45"/>
                          <a:gd name="T11" fmla="*/ 28 h 103"/>
                          <a:gd name="T12" fmla="*/ 31 w 45"/>
                          <a:gd name="T13" fmla="*/ 30 h 103"/>
                          <a:gd name="T14" fmla="*/ 38 w 45"/>
                          <a:gd name="T15" fmla="*/ 37 h 103"/>
                          <a:gd name="T16" fmla="*/ 41 w 45"/>
                          <a:gd name="T17" fmla="*/ 47 h 103"/>
                          <a:gd name="T18" fmla="*/ 44 w 45"/>
                          <a:gd name="T19" fmla="*/ 65 h 103"/>
                          <a:gd name="T20" fmla="*/ 42 w 45"/>
                          <a:gd name="T21" fmla="*/ 103 h 103"/>
                          <a:gd name="T22" fmla="*/ 45 w 45"/>
                          <a:gd name="T23" fmla="*/ 57 h 103"/>
                          <a:gd name="T24" fmla="*/ 44 w 45"/>
                          <a:gd name="T25" fmla="*/ 37 h 103"/>
                          <a:gd name="T26" fmla="*/ 44 w 45"/>
                          <a:gd name="T27" fmla="*/ 18 h 103"/>
                          <a:gd name="T28" fmla="*/ 42 w 45"/>
                          <a:gd name="T29" fmla="*/ 7 h 103"/>
                          <a:gd name="T30" fmla="*/ 28 w 45"/>
                          <a:gd name="T31" fmla="*/ 0 h 10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</a:cxnLst>
                        <a:rect l="0" t="0" r="r" b="b"/>
                        <a:pathLst>
                          <a:path w="45" h="103">
                            <a:moveTo>
                              <a:pt x="28" y="0"/>
                            </a:moveTo>
                            <a:lnTo>
                              <a:pt x="29" y="10"/>
                            </a:lnTo>
                            <a:lnTo>
                              <a:pt x="24" y="19"/>
                            </a:lnTo>
                            <a:lnTo>
                              <a:pt x="19" y="23"/>
                            </a:lnTo>
                            <a:lnTo>
                              <a:pt x="0" y="25"/>
                            </a:lnTo>
                            <a:lnTo>
                              <a:pt x="19" y="28"/>
                            </a:lnTo>
                            <a:lnTo>
                              <a:pt x="31" y="30"/>
                            </a:lnTo>
                            <a:lnTo>
                              <a:pt x="38" y="37"/>
                            </a:lnTo>
                            <a:lnTo>
                              <a:pt x="41" y="47"/>
                            </a:lnTo>
                            <a:lnTo>
                              <a:pt x="44" y="65"/>
                            </a:lnTo>
                            <a:lnTo>
                              <a:pt x="42" y="103"/>
                            </a:lnTo>
                            <a:lnTo>
                              <a:pt x="45" y="57"/>
                            </a:lnTo>
                            <a:lnTo>
                              <a:pt x="44" y="37"/>
                            </a:lnTo>
                            <a:lnTo>
                              <a:pt x="44" y="18"/>
                            </a:lnTo>
                            <a:lnTo>
                              <a:pt x="42" y="7"/>
                            </a:lnTo>
                            <a:lnTo>
                              <a:pt x="28" y="0"/>
                            </a:lnTo>
                            <a:close/>
                          </a:path>
                        </a:pathLst>
                      </a:custGeom>
                      <a:solidFill>
                        <a:srgbClr val="FF7F7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382" name="Freeform 285"/>
                      <p:cNvSpPr/>
                      <p:nvPr/>
                    </p:nvSpPr>
                    <p:spPr bwMode="auto">
                      <a:xfrm>
                        <a:off x="5223" y="2349"/>
                        <a:ext cx="9" cy="8"/>
                      </a:xfrm>
                      <a:custGeom>
                        <a:avLst/>
                        <a:gdLst>
                          <a:gd name="T0" fmla="*/ 0 w 55"/>
                          <a:gd name="T1" fmla="*/ 0 h 41"/>
                          <a:gd name="T2" fmla="*/ 5 w 55"/>
                          <a:gd name="T3" fmla="*/ 4 h 41"/>
                          <a:gd name="T4" fmla="*/ 15 w 55"/>
                          <a:gd name="T5" fmla="*/ 7 h 41"/>
                          <a:gd name="T6" fmla="*/ 21 w 55"/>
                          <a:gd name="T7" fmla="*/ 7 h 41"/>
                          <a:gd name="T8" fmla="*/ 31 w 55"/>
                          <a:gd name="T9" fmla="*/ 5 h 41"/>
                          <a:gd name="T10" fmla="*/ 39 w 55"/>
                          <a:gd name="T11" fmla="*/ 3 h 41"/>
                          <a:gd name="T12" fmla="*/ 47 w 55"/>
                          <a:gd name="T13" fmla="*/ 4 h 41"/>
                          <a:gd name="T14" fmla="*/ 55 w 55"/>
                          <a:gd name="T15" fmla="*/ 11 h 41"/>
                          <a:gd name="T16" fmla="*/ 42 w 55"/>
                          <a:gd name="T17" fmla="*/ 13 h 41"/>
                          <a:gd name="T18" fmla="*/ 37 w 55"/>
                          <a:gd name="T19" fmla="*/ 14 h 41"/>
                          <a:gd name="T20" fmla="*/ 35 w 55"/>
                          <a:gd name="T21" fmla="*/ 23 h 41"/>
                          <a:gd name="T22" fmla="*/ 33 w 55"/>
                          <a:gd name="T23" fmla="*/ 41 h 41"/>
                          <a:gd name="T24" fmla="*/ 31 w 55"/>
                          <a:gd name="T25" fmla="*/ 23 h 41"/>
                          <a:gd name="T26" fmla="*/ 30 w 55"/>
                          <a:gd name="T27" fmla="*/ 13 h 41"/>
                          <a:gd name="T28" fmla="*/ 19 w 55"/>
                          <a:gd name="T29" fmla="*/ 15 h 41"/>
                          <a:gd name="T30" fmla="*/ 10 w 55"/>
                          <a:gd name="T31" fmla="*/ 14 h 41"/>
                          <a:gd name="T32" fmla="*/ 4 w 55"/>
                          <a:gd name="T33" fmla="*/ 7 h 41"/>
                          <a:gd name="T34" fmla="*/ 0 w 55"/>
                          <a:gd name="T35" fmla="*/ 0 h 41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</a:cxnLst>
                        <a:rect l="0" t="0" r="r" b="b"/>
                        <a:pathLst>
                          <a:path w="55" h="41">
                            <a:moveTo>
                              <a:pt x="0" y="0"/>
                            </a:moveTo>
                            <a:lnTo>
                              <a:pt x="5" y="4"/>
                            </a:lnTo>
                            <a:lnTo>
                              <a:pt x="15" y="7"/>
                            </a:lnTo>
                            <a:lnTo>
                              <a:pt x="21" y="7"/>
                            </a:lnTo>
                            <a:lnTo>
                              <a:pt x="31" y="5"/>
                            </a:lnTo>
                            <a:lnTo>
                              <a:pt x="39" y="3"/>
                            </a:lnTo>
                            <a:lnTo>
                              <a:pt x="47" y="4"/>
                            </a:lnTo>
                            <a:lnTo>
                              <a:pt x="55" y="11"/>
                            </a:lnTo>
                            <a:lnTo>
                              <a:pt x="42" y="13"/>
                            </a:lnTo>
                            <a:lnTo>
                              <a:pt x="37" y="14"/>
                            </a:lnTo>
                            <a:lnTo>
                              <a:pt x="35" y="23"/>
                            </a:lnTo>
                            <a:lnTo>
                              <a:pt x="33" y="41"/>
                            </a:lnTo>
                            <a:lnTo>
                              <a:pt x="31" y="23"/>
                            </a:lnTo>
                            <a:lnTo>
                              <a:pt x="30" y="13"/>
                            </a:lnTo>
                            <a:lnTo>
                              <a:pt x="19" y="15"/>
                            </a:lnTo>
                            <a:lnTo>
                              <a:pt x="10" y="14"/>
                            </a:lnTo>
                            <a:lnTo>
                              <a:pt x="4" y="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FF7F7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383" name="Freeform 286"/>
                      <p:cNvSpPr/>
                      <p:nvPr/>
                    </p:nvSpPr>
                    <p:spPr bwMode="auto">
                      <a:xfrm>
                        <a:off x="5234" y="2320"/>
                        <a:ext cx="4" cy="6"/>
                      </a:xfrm>
                      <a:custGeom>
                        <a:avLst/>
                        <a:gdLst>
                          <a:gd name="T0" fmla="*/ 14 w 27"/>
                          <a:gd name="T1" fmla="*/ 0 h 30"/>
                          <a:gd name="T2" fmla="*/ 12 w 27"/>
                          <a:gd name="T3" fmla="*/ 5 h 30"/>
                          <a:gd name="T4" fmla="*/ 12 w 27"/>
                          <a:gd name="T5" fmla="*/ 13 h 30"/>
                          <a:gd name="T6" fmla="*/ 14 w 27"/>
                          <a:gd name="T7" fmla="*/ 18 h 30"/>
                          <a:gd name="T8" fmla="*/ 27 w 27"/>
                          <a:gd name="T9" fmla="*/ 30 h 30"/>
                          <a:gd name="T10" fmla="*/ 12 w 27"/>
                          <a:gd name="T11" fmla="*/ 30 h 30"/>
                          <a:gd name="T12" fmla="*/ 4 w 27"/>
                          <a:gd name="T13" fmla="*/ 21 h 30"/>
                          <a:gd name="T14" fmla="*/ 1 w 27"/>
                          <a:gd name="T15" fmla="*/ 16 h 30"/>
                          <a:gd name="T16" fmla="*/ 0 w 27"/>
                          <a:gd name="T17" fmla="*/ 5 h 30"/>
                          <a:gd name="T18" fmla="*/ 14 w 27"/>
                          <a:gd name="T19" fmla="*/ 0 h 3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</a:cxnLst>
                        <a:rect l="0" t="0" r="r" b="b"/>
                        <a:pathLst>
                          <a:path w="27" h="30">
                            <a:moveTo>
                              <a:pt x="14" y="0"/>
                            </a:moveTo>
                            <a:lnTo>
                              <a:pt x="12" y="5"/>
                            </a:lnTo>
                            <a:lnTo>
                              <a:pt x="12" y="13"/>
                            </a:lnTo>
                            <a:lnTo>
                              <a:pt x="14" y="18"/>
                            </a:lnTo>
                            <a:lnTo>
                              <a:pt x="27" y="30"/>
                            </a:lnTo>
                            <a:lnTo>
                              <a:pt x="12" y="30"/>
                            </a:lnTo>
                            <a:lnTo>
                              <a:pt x="4" y="21"/>
                            </a:lnTo>
                            <a:lnTo>
                              <a:pt x="1" y="16"/>
                            </a:lnTo>
                            <a:lnTo>
                              <a:pt x="0" y="5"/>
                            </a:lnTo>
                            <a:lnTo>
                              <a:pt x="14" y="0"/>
                            </a:lnTo>
                            <a:close/>
                          </a:path>
                        </a:pathLst>
                      </a:custGeom>
                      <a:solidFill>
                        <a:srgbClr val="FF7F7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355" name="Group 287"/>
                    <p:cNvGrpSpPr/>
                    <p:nvPr/>
                  </p:nvGrpSpPr>
                  <p:grpSpPr bwMode="auto">
                    <a:xfrm>
                      <a:off x="5214" y="2316"/>
                      <a:ext cx="35" cy="17"/>
                      <a:chOff x="5214" y="2316"/>
                      <a:chExt cx="35" cy="17"/>
                    </a:xfrm>
                  </p:grpSpPr>
                  <p:grpSp>
                    <p:nvGrpSpPr>
                      <p:cNvPr id="366" name="Group 288"/>
                      <p:cNvGrpSpPr/>
                      <p:nvPr/>
                    </p:nvGrpSpPr>
                    <p:grpSpPr bwMode="auto">
                      <a:xfrm>
                        <a:off x="5215" y="2316"/>
                        <a:ext cx="33" cy="7"/>
                        <a:chOff x="5215" y="2316"/>
                        <a:chExt cx="33" cy="7"/>
                      </a:xfrm>
                    </p:grpSpPr>
                    <p:sp>
                      <p:nvSpPr>
                        <p:cNvPr id="379" name="Freeform 289"/>
                        <p:cNvSpPr/>
                        <p:nvPr/>
                      </p:nvSpPr>
                      <p:spPr bwMode="auto">
                        <a:xfrm>
                          <a:off x="5230" y="2317"/>
                          <a:ext cx="18" cy="6"/>
                        </a:xfrm>
                        <a:custGeom>
                          <a:avLst/>
                          <a:gdLst>
                            <a:gd name="T0" fmla="*/ 0 w 105"/>
                            <a:gd name="T1" fmla="*/ 18 h 28"/>
                            <a:gd name="T2" fmla="*/ 7 w 105"/>
                            <a:gd name="T3" fmla="*/ 11 h 28"/>
                            <a:gd name="T4" fmla="*/ 17 w 105"/>
                            <a:gd name="T5" fmla="*/ 5 h 28"/>
                            <a:gd name="T6" fmla="*/ 29 w 105"/>
                            <a:gd name="T7" fmla="*/ 1 h 28"/>
                            <a:gd name="T8" fmla="*/ 41 w 105"/>
                            <a:gd name="T9" fmla="*/ 0 h 28"/>
                            <a:gd name="T10" fmla="*/ 53 w 105"/>
                            <a:gd name="T11" fmla="*/ 0 h 28"/>
                            <a:gd name="T12" fmla="*/ 68 w 105"/>
                            <a:gd name="T13" fmla="*/ 2 h 28"/>
                            <a:gd name="T14" fmla="*/ 84 w 105"/>
                            <a:gd name="T15" fmla="*/ 8 h 28"/>
                            <a:gd name="T16" fmla="*/ 105 w 105"/>
                            <a:gd name="T17" fmla="*/ 14 h 28"/>
                            <a:gd name="T18" fmla="*/ 89 w 105"/>
                            <a:gd name="T19" fmla="*/ 14 h 28"/>
                            <a:gd name="T20" fmla="*/ 71 w 105"/>
                            <a:gd name="T21" fmla="*/ 13 h 28"/>
                            <a:gd name="T22" fmla="*/ 56 w 105"/>
                            <a:gd name="T23" fmla="*/ 12 h 28"/>
                            <a:gd name="T24" fmla="*/ 46 w 105"/>
                            <a:gd name="T25" fmla="*/ 14 h 28"/>
                            <a:gd name="T26" fmla="*/ 36 w 105"/>
                            <a:gd name="T27" fmla="*/ 18 h 28"/>
                            <a:gd name="T28" fmla="*/ 28 w 105"/>
                            <a:gd name="T29" fmla="*/ 24 h 28"/>
                            <a:gd name="T30" fmla="*/ 21 w 105"/>
                            <a:gd name="T31" fmla="*/ 28 h 28"/>
                            <a:gd name="T32" fmla="*/ 12 w 105"/>
                            <a:gd name="T33" fmla="*/ 28 h 28"/>
                            <a:gd name="T34" fmla="*/ 4 w 105"/>
                            <a:gd name="T35" fmla="*/ 26 h 28"/>
                            <a:gd name="T36" fmla="*/ 0 w 105"/>
                            <a:gd name="T37" fmla="*/ 18 h 2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  <a:cxn ang="0">
                              <a:pos x="T30" y="T31"/>
                            </a:cxn>
                            <a:cxn ang="0">
                              <a:pos x="T32" y="T33"/>
                            </a:cxn>
                            <a:cxn ang="0">
                              <a:pos x="T34" y="T35"/>
                            </a:cxn>
                            <a:cxn ang="0">
                              <a:pos x="T36" y="T37"/>
                            </a:cxn>
                          </a:cxnLst>
                          <a:rect l="0" t="0" r="r" b="b"/>
                          <a:pathLst>
                            <a:path w="105" h="28">
                              <a:moveTo>
                                <a:pt x="0" y="18"/>
                              </a:moveTo>
                              <a:lnTo>
                                <a:pt x="7" y="11"/>
                              </a:lnTo>
                              <a:lnTo>
                                <a:pt x="17" y="5"/>
                              </a:lnTo>
                              <a:lnTo>
                                <a:pt x="29" y="1"/>
                              </a:lnTo>
                              <a:lnTo>
                                <a:pt x="41" y="0"/>
                              </a:lnTo>
                              <a:lnTo>
                                <a:pt x="53" y="0"/>
                              </a:lnTo>
                              <a:lnTo>
                                <a:pt x="68" y="2"/>
                              </a:lnTo>
                              <a:lnTo>
                                <a:pt x="84" y="8"/>
                              </a:lnTo>
                              <a:lnTo>
                                <a:pt x="105" y="14"/>
                              </a:lnTo>
                              <a:lnTo>
                                <a:pt x="89" y="14"/>
                              </a:lnTo>
                              <a:lnTo>
                                <a:pt x="71" y="13"/>
                              </a:lnTo>
                              <a:lnTo>
                                <a:pt x="56" y="12"/>
                              </a:lnTo>
                              <a:lnTo>
                                <a:pt x="46" y="14"/>
                              </a:lnTo>
                              <a:lnTo>
                                <a:pt x="36" y="18"/>
                              </a:lnTo>
                              <a:lnTo>
                                <a:pt x="28" y="24"/>
                              </a:lnTo>
                              <a:lnTo>
                                <a:pt x="21" y="28"/>
                              </a:lnTo>
                              <a:lnTo>
                                <a:pt x="12" y="28"/>
                              </a:lnTo>
                              <a:lnTo>
                                <a:pt x="4" y="26"/>
                              </a:lnTo>
                              <a:lnTo>
                                <a:pt x="0" y="18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  <p:sp>
                      <p:nvSpPr>
                        <p:cNvPr id="380" name="Freeform 290"/>
                        <p:cNvSpPr/>
                        <p:nvPr/>
                      </p:nvSpPr>
                      <p:spPr bwMode="auto">
                        <a:xfrm>
                          <a:off x="5215" y="2316"/>
                          <a:ext cx="9" cy="7"/>
                        </a:xfrm>
                        <a:custGeom>
                          <a:avLst/>
                          <a:gdLst>
                            <a:gd name="T0" fmla="*/ 0 w 53"/>
                            <a:gd name="T1" fmla="*/ 0 h 35"/>
                            <a:gd name="T2" fmla="*/ 0 w 53"/>
                            <a:gd name="T3" fmla="*/ 5 h 35"/>
                            <a:gd name="T4" fmla="*/ 12 w 53"/>
                            <a:gd name="T5" fmla="*/ 7 h 35"/>
                            <a:gd name="T6" fmla="*/ 22 w 53"/>
                            <a:gd name="T7" fmla="*/ 16 h 35"/>
                            <a:gd name="T8" fmla="*/ 28 w 53"/>
                            <a:gd name="T9" fmla="*/ 23 h 35"/>
                            <a:gd name="T10" fmla="*/ 34 w 53"/>
                            <a:gd name="T11" fmla="*/ 31 h 35"/>
                            <a:gd name="T12" fmla="*/ 42 w 53"/>
                            <a:gd name="T13" fmla="*/ 35 h 35"/>
                            <a:gd name="T14" fmla="*/ 51 w 53"/>
                            <a:gd name="T15" fmla="*/ 33 h 35"/>
                            <a:gd name="T16" fmla="*/ 53 w 53"/>
                            <a:gd name="T17" fmla="*/ 25 h 35"/>
                            <a:gd name="T18" fmla="*/ 49 w 53"/>
                            <a:gd name="T19" fmla="*/ 18 h 35"/>
                            <a:gd name="T20" fmla="*/ 39 w 53"/>
                            <a:gd name="T21" fmla="*/ 12 h 35"/>
                            <a:gd name="T22" fmla="*/ 33 w 53"/>
                            <a:gd name="T23" fmla="*/ 7 h 35"/>
                            <a:gd name="T24" fmla="*/ 22 w 53"/>
                            <a:gd name="T25" fmla="*/ 4 h 35"/>
                            <a:gd name="T26" fmla="*/ 0 w 53"/>
                            <a:gd name="T27" fmla="*/ 0 h 35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</a:cxnLst>
                          <a:rect l="0" t="0" r="r" b="b"/>
                          <a:pathLst>
                            <a:path w="53" h="35">
                              <a:moveTo>
                                <a:pt x="0" y="0"/>
                              </a:moveTo>
                              <a:lnTo>
                                <a:pt x="0" y="5"/>
                              </a:lnTo>
                              <a:lnTo>
                                <a:pt x="12" y="7"/>
                              </a:lnTo>
                              <a:lnTo>
                                <a:pt x="22" y="16"/>
                              </a:lnTo>
                              <a:lnTo>
                                <a:pt x="28" y="23"/>
                              </a:lnTo>
                              <a:lnTo>
                                <a:pt x="34" y="31"/>
                              </a:lnTo>
                              <a:lnTo>
                                <a:pt x="42" y="35"/>
                              </a:lnTo>
                              <a:lnTo>
                                <a:pt x="51" y="33"/>
                              </a:lnTo>
                              <a:lnTo>
                                <a:pt x="53" y="25"/>
                              </a:lnTo>
                              <a:lnTo>
                                <a:pt x="49" y="18"/>
                              </a:lnTo>
                              <a:lnTo>
                                <a:pt x="39" y="12"/>
                              </a:lnTo>
                              <a:lnTo>
                                <a:pt x="33" y="7"/>
                              </a:lnTo>
                              <a:lnTo>
                                <a:pt x="22" y="4"/>
                              </a:lnTo>
                              <a:lnTo>
                                <a:pt x="0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</p:grpSp>
                  <p:sp>
                    <p:nvSpPr>
                      <p:cNvPr id="367" name="Freeform 291"/>
                      <p:cNvSpPr/>
                      <p:nvPr/>
                    </p:nvSpPr>
                    <p:spPr bwMode="auto">
                      <a:xfrm>
                        <a:off x="5234" y="2325"/>
                        <a:ext cx="12" cy="5"/>
                      </a:xfrm>
                      <a:custGeom>
                        <a:avLst/>
                        <a:gdLst>
                          <a:gd name="T0" fmla="*/ 0 w 75"/>
                          <a:gd name="T1" fmla="*/ 8 h 26"/>
                          <a:gd name="T2" fmla="*/ 3 w 75"/>
                          <a:gd name="T3" fmla="*/ 18 h 26"/>
                          <a:gd name="T4" fmla="*/ 5 w 75"/>
                          <a:gd name="T5" fmla="*/ 21 h 26"/>
                          <a:gd name="T6" fmla="*/ 8 w 75"/>
                          <a:gd name="T7" fmla="*/ 24 h 26"/>
                          <a:gd name="T8" fmla="*/ 20 w 75"/>
                          <a:gd name="T9" fmla="*/ 26 h 26"/>
                          <a:gd name="T10" fmla="*/ 34 w 75"/>
                          <a:gd name="T11" fmla="*/ 26 h 26"/>
                          <a:gd name="T12" fmla="*/ 45 w 75"/>
                          <a:gd name="T13" fmla="*/ 24 h 26"/>
                          <a:gd name="T14" fmla="*/ 57 w 75"/>
                          <a:gd name="T15" fmla="*/ 19 h 26"/>
                          <a:gd name="T16" fmla="*/ 75 w 75"/>
                          <a:gd name="T17" fmla="*/ 8 h 26"/>
                          <a:gd name="T18" fmla="*/ 48 w 75"/>
                          <a:gd name="T19" fmla="*/ 5 h 26"/>
                          <a:gd name="T20" fmla="*/ 25 w 75"/>
                          <a:gd name="T21" fmla="*/ 2 h 26"/>
                          <a:gd name="T22" fmla="*/ 12 w 75"/>
                          <a:gd name="T23" fmla="*/ 0 h 26"/>
                          <a:gd name="T24" fmla="*/ 0 w 75"/>
                          <a:gd name="T25" fmla="*/ 8 h 26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</a:cxnLst>
                        <a:rect l="0" t="0" r="r" b="b"/>
                        <a:pathLst>
                          <a:path w="75" h="26">
                            <a:moveTo>
                              <a:pt x="0" y="8"/>
                            </a:moveTo>
                            <a:lnTo>
                              <a:pt x="3" y="18"/>
                            </a:lnTo>
                            <a:lnTo>
                              <a:pt x="5" y="21"/>
                            </a:lnTo>
                            <a:lnTo>
                              <a:pt x="8" y="24"/>
                            </a:lnTo>
                            <a:lnTo>
                              <a:pt x="20" y="26"/>
                            </a:lnTo>
                            <a:lnTo>
                              <a:pt x="34" y="26"/>
                            </a:lnTo>
                            <a:lnTo>
                              <a:pt x="45" y="24"/>
                            </a:lnTo>
                            <a:lnTo>
                              <a:pt x="57" y="19"/>
                            </a:lnTo>
                            <a:lnTo>
                              <a:pt x="75" y="8"/>
                            </a:lnTo>
                            <a:lnTo>
                              <a:pt x="48" y="5"/>
                            </a:lnTo>
                            <a:lnTo>
                              <a:pt x="25" y="2"/>
                            </a:lnTo>
                            <a:lnTo>
                              <a:pt x="12" y="0"/>
                            </a:lnTo>
                            <a:lnTo>
                              <a:pt x="0" y="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368" name="Freeform 292"/>
                      <p:cNvSpPr/>
                      <p:nvPr/>
                    </p:nvSpPr>
                    <p:spPr bwMode="auto">
                      <a:xfrm>
                        <a:off x="5218" y="2326"/>
                        <a:ext cx="4" cy="5"/>
                      </a:xfrm>
                      <a:custGeom>
                        <a:avLst/>
                        <a:gdLst>
                          <a:gd name="T0" fmla="*/ 1 w 23"/>
                          <a:gd name="T1" fmla="*/ 0 h 25"/>
                          <a:gd name="T2" fmla="*/ 18 w 23"/>
                          <a:gd name="T3" fmla="*/ 3 h 25"/>
                          <a:gd name="T4" fmla="*/ 21 w 23"/>
                          <a:gd name="T5" fmla="*/ 13 h 25"/>
                          <a:gd name="T6" fmla="*/ 23 w 23"/>
                          <a:gd name="T7" fmla="*/ 25 h 25"/>
                          <a:gd name="T8" fmla="*/ 8 w 23"/>
                          <a:gd name="T9" fmla="*/ 23 h 25"/>
                          <a:gd name="T10" fmla="*/ 0 w 23"/>
                          <a:gd name="T11" fmla="*/ 21 h 25"/>
                          <a:gd name="T12" fmla="*/ 1 w 23"/>
                          <a:gd name="T13" fmla="*/ 0 h 25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23" h="25">
                            <a:moveTo>
                              <a:pt x="1" y="0"/>
                            </a:moveTo>
                            <a:lnTo>
                              <a:pt x="18" y="3"/>
                            </a:lnTo>
                            <a:lnTo>
                              <a:pt x="21" y="13"/>
                            </a:lnTo>
                            <a:lnTo>
                              <a:pt x="23" y="25"/>
                            </a:lnTo>
                            <a:lnTo>
                              <a:pt x="8" y="23"/>
                            </a:lnTo>
                            <a:lnTo>
                              <a:pt x="0" y="21"/>
                            </a:lnTo>
                            <a:lnTo>
                              <a:pt x="1" y="0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grpSp>
                    <p:nvGrpSpPr>
                      <p:cNvPr id="369" name="Group 293"/>
                      <p:cNvGrpSpPr/>
                      <p:nvPr/>
                    </p:nvGrpSpPr>
                    <p:grpSpPr bwMode="auto">
                      <a:xfrm>
                        <a:off x="5234" y="2325"/>
                        <a:ext cx="9" cy="7"/>
                        <a:chOff x="5234" y="2325"/>
                        <a:chExt cx="9" cy="7"/>
                      </a:xfrm>
                    </p:grpSpPr>
                    <p:sp>
                      <p:nvSpPr>
                        <p:cNvPr id="377" name="Oval 29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5234" y="2325"/>
                          <a:ext cx="9" cy="7"/>
                        </a:xfrm>
                        <a:prstGeom prst="ellipse">
                          <a:avLst/>
                        </a:prstGeom>
                        <a:solidFill>
                          <a:srgbClr val="7F3F0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  <p:sp>
                      <p:nvSpPr>
                        <p:cNvPr id="378" name="Oval 29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5236" y="2326"/>
                          <a:ext cx="4" cy="5"/>
                        </a:xfrm>
                        <a:prstGeom prst="ellipse">
                          <a:avLst/>
                        </a:prstGeom>
                        <a:solidFill>
                          <a:srgbClr val="00000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</p:grpSp>
                  <p:sp>
                    <p:nvSpPr>
                      <p:cNvPr id="370" name="Oval 29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235" y="2326"/>
                        <a:ext cx="3" cy="3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grpSp>
                    <p:nvGrpSpPr>
                      <p:cNvPr id="371" name="Group 297"/>
                      <p:cNvGrpSpPr/>
                      <p:nvPr/>
                    </p:nvGrpSpPr>
                    <p:grpSpPr bwMode="auto">
                      <a:xfrm>
                        <a:off x="5217" y="2326"/>
                        <a:ext cx="5" cy="7"/>
                        <a:chOff x="5217" y="2326"/>
                        <a:chExt cx="5" cy="7"/>
                      </a:xfrm>
                    </p:grpSpPr>
                    <p:sp>
                      <p:nvSpPr>
                        <p:cNvPr id="375" name="Oval 29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5217" y="2326"/>
                          <a:ext cx="5" cy="7"/>
                        </a:xfrm>
                        <a:prstGeom prst="ellipse">
                          <a:avLst/>
                        </a:prstGeom>
                        <a:solidFill>
                          <a:srgbClr val="7F3F0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  <p:sp>
                      <p:nvSpPr>
                        <p:cNvPr id="376" name="Oval 29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5217" y="2326"/>
                          <a:ext cx="4" cy="6"/>
                        </a:xfrm>
                        <a:prstGeom prst="ellipse">
                          <a:avLst/>
                        </a:prstGeom>
                        <a:solidFill>
                          <a:srgbClr val="00000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</p:grpSp>
                  <p:sp>
                    <p:nvSpPr>
                      <p:cNvPr id="372" name="Oval 30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217" y="2327"/>
                        <a:ext cx="2" cy="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373" name="Freeform 301"/>
                      <p:cNvSpPr/>
                      <p:nvPr/>
                    </p:nvSpPr>
                    <p:spPr bwMode="auto">
                      <a:xfrm>
                        <a:off x="5231" y="2324"/>
                        <a:ext cx="18" cy="5"/>
                      </a:xfrm>
                      <a:custGeom>
                        <a:avLst/>
                        <a:gdLst>
                          <a:gd name="T0" fmla="*/ 0 w 106"/>
                          <a:gd name="T1" fmla="*/ 1 h 24"/>
                          <a:gd name="T2" fmla="*/ 14 w 106"/>
                          <a:gd name="T3" fmla="*/ 8 h 24"/>
                          <a:gd name="T4" fmla="*/ 23 w 106"/>
                          <a:gd name="T5" fmla="*/ 3 h 24"/>
                          <a:gd name="T6" fmla="*/ 31 w 106"/>
                          <a:gd name="T7" fmla="*/ 0 h 24"/>
                          <a:gd name="T8" fmla="*/ 40 w 106"/>
                          <a:gd name="T9" fmla="*/ 0 h 24"/>
                          <a:gd name="T10" fmla="*/ 51 w 106"/>
                          <a:gd name="T11" fmla="*/ 3 h 24"/>
                          <a:gd name="T12" fmla="*/ 68 w 106"/>
                          <a:gd name="T13" fmla="*/ 8 h 24"/>
                          <a:gd name="T14" fmla="*/ 85 w 106"/>
                          <a:gd name="T15" fmla="*/ 8 h 24"/>
                          <a:gd name="T16" fmla="*/ 106 w 106"/>
                          <a:gd name="T17" fmla="*/ 5 h 24"/>
                          <a:gd name="T18" fmla="*/ 92 w 106"/>
                          <a:gd name="T19" fmla="*/ 16 h 24"/>
                          <a:gd name="T20" fmla="*/ 74 w 106"/>
                          <a:gd name="T21" fmla="*/ 24 h 24"/>
                          <a:gd name="T22" fmla="*/ 87 w 106"/>
                          <a:gd name="T23" fmla="*/ 15 h 24"/>
                          <a:gd name="T24" fmla="*/ 73 w 106"/>
                          <a:gd name="T25" fmla="*/ 13 h 24"/>
                          <a:gd name="T26" fmla="*/ 62 w 106"/>
                          <a:gd name="T27" fmla="*/ 12 h 24"/>
                          <a:gd name="T28" fmla="*/ 50 w 106"/>
                          <a:gd name="T29" fmla="*/ 10 h 24"/>
                          <a:gd name="T30" fmla="*/ 41 w 106"/>
                          <a:gd name="T31" fmla="*/ 10 h 24"/>
                          <a:gd name="T32" fmla="*/ 30 w 106"/>
                          <a:gd name="T33" fmla="*/ 8 h 24"/>
                          <a:gd name="T34" fmla="*/ 25 w 106"/>
                          <a:gd name="T35" fmla="*/ 8 h 24"/>
                          <a:gd name="T36" fmla="*/ 19 w 106"/>
                          <a:gd name="T37" fmla="*/ 12 h 24"/>
                          <a:gd name="T38" fmla="*/ 14 w 106"/>
                          <a:gd name="T39" fmla="*/ 13 h 24"/>
                          <a:gd name="T40" fmla="*/ 11 w 106"/>
                          <a:gd name="T41" fmla="*/ 13 h 24"/>
                          <a:gd name="T42" fmla="*/ 0 w 106"/>
                          <a:gd name="T43" fmla="*/ 1 h 2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</a:cxnLst>
                        <a:rect l="0" t="0" r="r" b="b"/>
                        <a:pathLst>
                          <a:path w="106" h="24">
                            <a:moveTo>
                              <a:pt x="0" y="1"/>
                            </a:moveTo>
                            <a:lnTo>
                              <a:pt x="14" y="8"/>
                            </a:lnTo>
                            <a:lnTo>
                              <a:pt x="23" y="3"/>
                            </a:lnTo>
                            <a:lnTo>
                              <a:pt x="31" y="0"/>
                            </a:lnTo>
                            <a:lnTo>
                              <a:pt x="40" y="0"/>
                            </a:lnTo>
                            <a:lnTo>
                              <a:pt x="51" y="3"/>
                            </a:lnTo>
                            <a:lnTo>
                              <a:pt x="68" y="8"/>
                            </a:lnTo>
                            <a:lnTo>
                              <a:pt x="85" y="8"/>
                            </a:lnTo>
                            <a:lnTo>
                              <a:pt x="106" y="5"/>
                            </a:lnTo>
                            <a:lnTo>
                              <a:pt x="92" y="16"/>
                            </a:lnTo>
                            <a:lnTo>
                              <a:pt x="74" y="24"/>
                            </a:lnTo>
                            <a:lnTo>
                              <a:pt x="87" y="15"/>
                            </a:lnTo>
                            <a:lnTo>
                              <a:pt x="73" y="13"/>
                            </a:lnTo>
                            <a:lnTo>
                              <a:pt x="62" y="12"/>
                            </a:lnTo>
                            <a:lnTo>
                              <a:pt x="50" y="10"/>
                            </a:lnTo>
                            <a:lnTo>
                              <a:pt x="41" y="10"/>
                            </a:lnTo>
                            <a:lnTo>
                              <a:pt x="30" y="8"/>
                            </a:lnTo>
                            <a:lnTo>
                              <a:pt x="25" y="8"/>
                            </a:lnTo>
                            <a:lnTo>
                              <a:pt x="19" y="12"/>
                            </a:lnTo>
                            <a:lnTo>
                              <a:pt x="14" y="13"/>
                            </a:lnTo>
                            <a:lnTo>
                              <a:pt x="11" y="13"/>
                            </a:lnTo>
                            <a:lnTo>
                              <a:pt x="0" y="1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374" name="Freeform 302"/>
                      <p:cNvSpPr/>
                      <p:nvPr/>
                    </p:nvSpPr>
                    <p:spPr bwMode="auto">
                      <a:xfrm>
                        <a:off x="5214" y="2325"/>
                        <a:ext cx="7" cy="4"/>
                      </a:xfrm>
                      <a:custGeom>
                        <a:avLst/>
                        <a:gdLst>
                          <a:gd name="T0" fmla="*/ 0 w 48"/>
                          <a:gd name="T1" fmla="*/ 0 h 21"/>
                          <a:gd name="T2" fmla="*/ 6 w 48"/>
                          <a:gd name="T3" fmla="*/ 8 h 21"/>
                          <a:gd name="T4" fmla="*/ 16 w 48"/>
                          <a:gd name="T5" fmla="*/ 6 h 21"/>
                          <a:gd name="T6" fmla="*/ 24 w 48"/>
                          <a:gd name="T7" fmla="*/ 6 h 21"/>
                          <a:gd name="T8" fmla="*/ 29 w 48"/>
                          <a:gd name="T9" fmla="*/ 6 h 21"/>
                          <a:gd name="T10" fmla="*/ 37 w 48"/>
                          <a:gd name="T11" fmla="*/ 6 h 21"/>
                          <a:gd name="T12" fmla="*/ 43 w 48"/>
                          <a:gd name="T13" fmla="*/ 10 h 21"/>
                          <a:gd name="T14" fmla="*/ 47 w 48"/>
                          <a:gd name="T15" fmla="*/ 13 h 21"/>
                          <a:gd name="T16" fmla="*/ 48 w 48"/>
                          <a:gd name="T17" fmla="*/ 21 h 21"/>
                          <a:gd name="T18" fmla="*/ 46 w 48"/>
                          <a:gd name="T19" fmla="*/ 14 h 21"/>
                          <a:gd name="T20" fmla="*/ 41 w 48"/>
                          <a:gd name="T21" fmla="*/ 11 h 21"/>
                          <a:gd name="T22" fmla="*/ 28 w 48"/>
                          <a:gd name="T23" fmla="*/ 10 h 21"/>
                          <a:gd name="T24" fmla="*/ 14 w 48"/>
                          <a:gd name="T25" fmla="*/ 10 h 21"/>
                          <a:gd name="T26" fmla="*/ 0 w 48"/>
                          <a:gd name="T27" fmla="*/ 0 h 21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</a:cxnLst>
                        <a:rect l="0" t="0" r="r" b="b"/>
                        <a:pathLst>
                          <a:path w="48" h="21">
                            <a:moveTo>
                              <a:pt x="0" y="0"/>
                            </a:moveTo>
                            <a:lnTo>
                              <a:pt x="6" y="8"/>
                            </a:lnTo>
                            <a:lnTo>
                              <a:pt x="16" y="6"/>
                            </a:lnTo>
                            <a:lnTo>
                              <a:pt x="24" y="6"/>
                            </a:lnTo>
                            <a:lnTo>
                              <a:pt x="29" y="6"/>
                            </a:lnTo>
                            <a:lnTo>
                              <a:pt x="37" y="6"/>
                            </a:lnTo>
                            <a:lnTo>
                              <a:pt x="43" y="10"/>
                            </a:lnTo>
                            <a:lnTo>
                              <a:pt x="47" y="13"/>
                            </a:lnTo>
                            <a:lnTo>
                              <a:pt x="48" y="21"/>
                            </a:lnTo>
                            <a:lnTo>
                              <a:pt x="46" y="14"/>
                            </a:lnTo>
                            <a:lnTo>
                              <a:pt x="41" y="11"/>
                            </a:lnTo>
                            <a:lnTo>
                              <a:pt x="28" y="10"/>
                            </a:lnTo>
                            <a:lnTo>
                              <a:pt x="14" y="1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356" name="Group 303"/>
                    <p:cNvGrpSpPr/>
                    <p:nvPr/>
                  </p:nvGrpSpPr>
                  <p:grpSpPr bwMode="auto">
                    <a:xfrm>
                      <a:off x="5223" y="2358"/>
                      <a:ext cx="18" cy="11"/>
                      <a:chOff x="5223" y="2358"/>
                      <a:chExt cx="18" cy="11"/>
                    </a:xfrm>
                  </p:grpSpPr>
                  <p:grpSp>
                    <p:nvGrpSpPr>
                      <p:cNvPr id="357" name="Group 304"/>
                      <p:cNvGrpSpPr/>
                      <p:nvPr/>
                    </p:nvGrpSpPr>
                    <p:grpSpPr bwMode="auto">
                      <a:xfrm>
                        <a:off x="5223" y="2358"/>
                        <a:ext cx="18" cy="11"/>
                        <a:chOff x="5223" y="2358"/>
                        <a:chExt cx="18" cy="11"/>
                      </a:xfrm>
                    </p:grpSpPr>
                    <p:sp>
                      <p:nvSpPr>
                        <p:cNvPr id="359" name="Freeform 305"/>
                        <p:cNvSpPr/>
                        <p:nvPr/>
                      </p:nvSpPr>
                      <p:spPr bwMode="auto">
                        <a:xfrm>
                          <a:off x="5223" y="2358"/>
                          <a:ext cx="18" cy="11"/>
                        </a:xfrm>
                        <a:custGeom>
                          <a:avLst/>
                          <a:gdLst>
                            <a:gd name="T0" fmla="*/ 11 w 107"/>
                            <a:gd name="T1" fmla="*/ 23 h 58"/>
                            <a:gd name="T2" fmla="*/ 5 w 107"/>
                            <a:gd name="T3" fmla="*/ 16 h 58"/>
                            <a:gd name="T4" fmla="*/ 1 w 107"/>
                            <a:gd name="T5" fmla="*/ 9 h 58"/>
                            <a:gd name="T6" fmla="*/ 0 w 107"/>
                            <a:gd name="T7" fmla="*/ 5 h 58"/>
                            <a:gd name="T8" fmla="*/ 5 w 107"/>
                            <a:gd name="T9" fmla="*/ 1 h 58"/>
                            <a:gd name="T10" fmla="*/ 13 w 107"/>
                            <a:gd name="T11" fmla="*/ 0 h 58"/>
                            <a:gd name="T12" fmla="*/ 25 w 107"/>
                            <a:gd name="T13" fmla="*/ 6 h 58"/>
                            <a:gd name="T14" fmla="*/ 36 w 107"/>
                            <a:gd name="T15" fmla="*/ 0 h 58"/>
                            <a:gd name="T16" fmla="*/ 48 w 107"/>
                            <a:gd name="T17" fmla="*/ 3 h 58"/>
                            <a:gd name="T18" fmla="*/ 61 w 107"/>
                            <a:gd name="T19" fmla="*/ 6 h 58"/>
                            <a:gd name="T20" fmla="*/ 75 w 107"/>
                            <a:gd name="T21" fmla="*/ 7 h 58"/>
                            <a:gd name="T22" fmla="*/ 107 w 107"/>
                            <a:gd name="T23" fmla="*/ 9 h 58"/>
                            <a:gd name="T24" fmla="*/ 88 w 107"/>
                            <a:gd name="T25" fmla="*/ 27 h 58"/>
                            <a:gd name="T26" fmla="*/ 78 w 107"/>
                            <a:gd name="T27" fmla="*/ 35 h 58"/>
                            <a:gd name="T28" fmla="*/ 68 w 107"/>
                            <a:gd name="T29" fmla="*/ 44 h 58"/>
                            <a:gd name="T30" fmla="*/ 58 w 107"/>
                            <a:gd name="T31" fmla="*/ 52 h 58"/>
                            <a:gd name="T32" fmla="*/ 43 w 107"/>
                            <a:gd name="T33" fmla="*/ 58 h 58"/>
                            <a:gd name="T34" fmla="*/ 30 w 107"/>
                            <a:gd name="T35" fmla="*/ 58 h 58"/>
                            <a:gd name="T36" fmla="*/ 18 w 107"/>
                            <a:gd name="T37" fmla="*/ 53 h 58"/>
                            <a:gd name="T38" fmla="*/ 13 w 107"/>
                            <a:gd name="T39" fmla="*/ 44 h 58"/>
                            <a:gd name="T40" fmla="*/ 11 w 107"/>
                            <a:gd name="T41" fmla="*/ 23 h 5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  <a:cxn ang="0">
                              <a:pos x="T30" y="T31"/>
                            </a:cxn>
                            <a:cxn ang="0">
                              <a:pos x="T32" y="T33"/>
                            </a:cxn>
                            <a:cxn ang="0">
                              <a:pos x="T34" y="T35"/>
                            </a:cxn>
                            <a:cxn ang="0">
                              <a:pos x="T36" y="T37"/>
                            </a:cxn>
                            <a:cxn ang="0">
                              <a:pos x="T38" y="T39"/>
                            </a:cxn>
                            <a:cxn ang="0">
                              <a:pos x="T40" y="T41"/>
                            </a:cxn>
                          </a:cxnLst>
                          <a:rect l="0" t="0" r="r" b="b"/>
                          <a:pathLst>
                            <a:path w="107" h="58">
                              <a:moveTo>
                                <a:pt x="11" y="23"/>
                              </a:moveTo>
                              <a:lnTo>
                                <a:pt x="5" y="16"/>
                              </a:lnTo>
                              <a:lnTo>
                                <a:pt x="1" y="9"/>
                              </a:lnTo>
                              <a:lnTo>
                                <a:pt x="0" y="5"/>
                              </a:lnTo>
                              <a:lnTo>
                                <a:pt x="5" y="1"/>
                              </a:lnTo>
                              <a:lnTo>
                                <a:pt x="13" y="0"/>
                              </a:lnTo>
                              <a:lnTo>
                                <a:pt x="25" y="6"/>
                              </a:lnTo>
                              <a:lnTo>
                                <a:pt x="36" y="0"/>
                              </a:lnTo>
                              <a:lnTo>
                                <a:pt x="48" y="3"/>
                              </a:lnTo>
                              <a:lnTo>
                                <a:pt x="61" y="6"/>
                              </a:lnTo>
                              <a:lnTo>
                                <a:pt x="75" y="7"/>
                              </a:lnTo>
                              <a:lnTo>
                                <a:pt x="107" y="9"/>
                              </a:lnTo>
                              <a:lnTo>
                                <a:pt x="88" y="27"/>
                              </a:lnTo>
                              <a:lnTo>
                                <a:pt x="78" y="35"/>
                              </a:lnTo>
                              <a:lnTo>
                                <a:pt x="68" y="44"/>
                              </a:lnTo>
                              <a:lnTo>
                                <a:pt x="58" y="52"/>
                              </a:lnTo>
                              <a:lnTo>
                                <a:pt x="43" y="58"/>
                              </a:lnTo>
                              <a:lnTo>
                                <a:pt x="30" y="58"/>
                              </a:lnTo>
                              <a:lnTo>
                                <a:pt x="18" y="53"/>
                              </a:lnTo>
                              <a:lnTo>
                                <a:pt x="13" y="44"/>
                              </a:lnTo>
                              <a:lnTo>
                                <a:pt x="11" y="2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7F000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  <p:grpSp>
                      <p:nvGrpSpPr>
                        <p:cNvPr id="360" name="Group 306"/>
                        <p:cNvGrpSpPr/>
                        <p:nvPr/>
                      </p:nvGrpSpPr>
                      <p:grpSpPr bwMode="auto">
                        <a:xfrm>
                          <a:off x="5223" y="2358"/>
                          <a:ext cx="18" cy="11"/>
                          <a:chOff x="5223" y="2358"/>
                          <a:chExt cx="18" cy="11"/>
                        </a:xfrm>
                      </p:grpSpPr>
                      <p:grpSp>
                        <p:nvGrpSpPr>
                          <p:cNvPr id="362" name="Group 307"/>
                          <p:cNvGrpSpPr/>
                          <p:nvPr/>
                        </p:nvGrpSpPr>
                        <p:grpSpPr bwMode="auto">
                          <a:xfrm>
                            <a:off x="5223" y="2358"/>
                            <a:ext cx="18" cy="5"/>
                            <a:chOff x="5223" y="2358"/>
                            <a:chExt cx="18" cy="5"/>
                          </a:xfrm>
                        </p:grpSpPr>
                        <p:sp>
                          <p:nvSpPr>
                            <p:cNvPr id="364" name="Freeform 308"/>
                            <p:cNvSpPr/>
                            <p:nvPr/>
                          </p:nvSpPr>
                          <p:spPr bwMode="auto">
                            <a:xfrm>
                              <a:off x="5225" y="2360"/>
                              <a:ext cx="12" cy="3"/>
                            </a:xfrm>
                            <a:custGeom>
                              <a:avLst/>
                              <a:gdLst>
                                <a:gd name="T0" fmla="*/ 0 w 77"/>
                                <a:gd name="T1" fmla="*/ 1 h 17"/>
                                <a:gd name="T2" fmla="*/ 7 w 77"/>
                                <a:gd name="T3" fmla="*/ 10 h 17"/>
                                <a:gd name="T4" fmla="*/ 14 w 77"/>
                                <a:gd name="T5" fmla="*/ 15 h 17"/>
                                <a:gd name="T6" fmla="*/ 25 w 77"/>
                                <a:gd name="T7" fmla="*/ 17 h 17"/>
                                <a:gd name="T8" fmla="*/ 36 w 77"/>
                                <a:gd name="T9" fmla="*/ 17 h 17"/>
                                <a:gd name="T10" fmla="*/ 44 w 77"/>
                                <a:gd name="T11" fmla="*/ 17 h 17"/>
                                <a:gd name="T12" fmla="*/ 63 w 77"/>
                                <a:gd name="T13" fmla="*/ 13 h 17"/>
                                <a:gd name="T14" fmla="*/ 77 w 77"/>
                                <a:gd name="T15" fmla="*/ 7 h 17"/>
                                <a:gd name="T16" fmla="*/ 45 w 77"/>
                                <a:gd name="T17" fmla="*/ 0 h 17"/>
                                <a:gd name="T18" fmla="*/ 0 w 77"/>
                                <a:gd name="T19" fmla="*/ 1 h 17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  <a:cxn ang="0">
                                  <a:pos x="T10" y="T11"/>
                                </a:cxn>
                                <a:cxn ang="0">
                                  <a:pos x="T12" y="T13"/>
                                </a:cxn>
                                <a:cxn ang="0">
                                  <a:pos x="T14" y="T15"/>
                                </a:cxn>
                                <a:cxn ang="0">
                                  <a:pos x="T16" y="T17"/>
                                </a:cxn>
                                <a:cxn ang="0">
                                  <a:pos x="T18" y="T19"/>
                                </a:cxn>
                              </a:cxnLst>
                              <a:rect l="0" t="0" r="r" b="b"/>
                              <a:pathLst>
                                <a:path w="77" h="17">
                                  <a:moveTo>
                                    <a:pt x="0" y="1"/>
                                  </a:moveTo>
                                  <a:lnTo>
                                    <a:pt x="7" y="10"/>
                                  </a:lnTo>
                                  <a:lnTo>
                                    <a:pt x="14" y="15"/>
                                  </a:lnTo>
                                  <a:lnTo>
                                    <a:pt x="25" y="17"/>
                                  </a:lnTo>
                                  <a:lnTo>
                                    <a:pt x="36" y="17"/>
                                  </a:lnTo>
                                  <a:lnTo>
                                    <a:pt x="44" y="17"/>
                                  </a:lnTo>
                                  <a:lnTo>
                                    <a:pt x="63" y="13"/>
                                  </a:lnTo>
                                  <a:lnTo>
                                    <a:pt x="77" y="7"/>
                                  </a:lnTo>
                                  <a:lnTo>
                                    <a:pt x="45" y="0"/>
                                  </a:lnTo>
                                  <a:lnTo>
                                    <a:pt x="0" y="1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 sz="3655"/>
                            </a:p>
                          </p:txBody>
                        </p:sp>
                        <p:sp>
                          <p:nvSpPr>
                            <p:cNvPr id="365" name="Freeform 309"/>
                            <p:cNvSpPr/>
                            <p:nvPr/>
                          </p:nvSpPr>
                          <p:spPr bwMode="auto">
                            <a:xfrm>
                              <a:off x="5223" y="2358"/>
                              <a:ext cx="18" cy="5"/>
                            </a:xfrm>
                            <a:custGeom>
                              <a:avLst/>
                              <a:gdLst>
                                <a:gd name="T0" fmla="*/ 10 w 107"/>
                                <a:gd name="T1" fmla="*/ 24 h 24"/>
                                <a:gd name="T2" fmla="*/ 4 w 107"/>
                                <a:gd name="T3" fmla="*/ 16 h 24"/>
                                <a:gd name="T4" fmla="*/ 1 w 107"/>
                                <a:gd name="T5" fmla="*/ 11 h 24"/>
                                <a:gd name="T6" fmla="*/ 0 w 107"/>
                                <a:gd name="T7" fmla="*/ 5 h 24"/>
                                <a:gd name="T8" fmla="*/ 4 w 107"/>
                                <a:gd name="T9" fmla="*/ 1 h 24"/>
                                <a:gd name="T10" fmla="*/ 13 w 107"/>
                                <a:gd name="T11" fmla="*/ 0 h 24"/>
                                <a:gd name="T12" fmla="*/ 25 w 107"/>
                                <a:gd name="T13" fmla="*/ 7 h 24"/>
                                <a:gd name="T14" fmla="*/ 36 w 107"/>
                                <a:gd name="T15" fmla="*/ 0 h 24"/>
                                <a:gd name="T16" fmla="*/ 47 w 107"/>
                                <a:gd name="T17" fmla="*/ 3 h 24"/>
                                <a:gd name="T18" fmla="*/ 61 w 107"/>
                                <a:gd name="T19" fmla="*/ 7 h 24"/>
                                <a:gd name="T20" fmla="*/ 75 w 107"/>
                                <a:gd name="T21" fmla="*/ 8 h 24"/>
                                <a:gd name="T22" fmla="*/ 107 w 107"/>
                                <a:gd name="T23" fmla="*/ 11 h 24"/>
                                <a:gd name="T24" fmla="*/ 98 w 107"/>
                                <a:gd name="T25" fmla="*/ 16 h 24"/>
                                <a:gd name="T26" fmla="*/ 88 w 107"/>
                                <a:gd name="T27" fmla="*/ 21 h 24"/>
                                <a:gd name="T28" fmla="*/ 77 w 107"/>
                                <a:gd name="T29" fmla="*/ 21 h 24"/>
                                <a:gd name="T30" fmla="*/ 68 w 107"/>
                                <a:gd name="T31" fmla="*/ 22 h 24"/>
                                <a:gd name="T32" fmla="*/ 55 w 107"/>
                                <a:gd name="T33" fmla="*/ 19 h 24"/>
                                <a:gd name="T34" fmla="*/ 41 w 107"/>
                                <a:gd name="T35" fmla="*/ 16 h 24"/>
                                <a:gd name="T36" fmla="*/ 33 w 107"/>
                                <a:gd name="T37" fmla="*/ 21 h 24"/>
                                <a:gd name="T38" fmla="*/ 22 w 107"/>
                                <a:gd name="T39" fmla="*/ 16 h 24"/>
                                <a:gd name="T40" fmla="*/ 12 w 107"/>
                                <a:gd name="T41" fmla="*/ 13 h 24"/>
                                <a:gd name="T42" fmla="*/ 10 w 107"/>
                                <a:gd name="T43" fmla="*/ 24 h 24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  <a:cxn ang="0">
                                  <a:pos x="T10" y="T11"/>
                                </a:cxn>
                                <a:cxn ang="0">
                                  <a:pos x="T12" y="T13"/>
                                </a:cxn>
                                <a:cxn ang="0">
                                  <a:pos x="T14" y="T15"/>
                                </a:cxn>
                                <a:cxn ang="0">
                                  <a:pos x="T16" y="T17"/>
                                </a:cxn>
                                <a:cxn ang="0">
                                  <a:pos x="T18" y="T19"/>
                                </a:cxn>
                                <a:cxn ang="0">
                                  <a:pos x="T20" y="T21"/>
                                </a:cxn>
                                <a:cxn ang="0">
                                  <a:pos x="T22" y="T23"/>
                                </a:cxn>
                                <a:cxn ang="0">
                                  <a:pos x="T24" y="T25"/>
                                </a:cxn>
                                <a:cxn ang="0">
                                  <a:pos x="T26" y="T27"/>
                                </a:cxn>
                                <a:cxn ang="0">
                                  <a:pos x="T28" y="T29"/>
                                </a:cxn>
                                <a:cxn ang="0">
                                  <a:pos x="T30" y="T31"/>
                                </a:cxn>
                                <a:cxn ang="0">
                                  <a:pos x="T32" y="T33"/>
                                </a:cxn>
                                <a:cxn ang="0">
                                  <a:pos x="T34" y="T35"/>
                                </a:cxn>
                                <a:cxn ang="0">
                                  <a:pos x="T36" y="T37"/>
                                </a:cxn>
                                <a:cxn ang="0">
                                  <a:pos x="T38" y="T39"/>
                                </a:cxn>
                                <a:cxn ang="0">
                                  <a:pos x="T40" y="T41"/>
                                </a:cxn>
                                <a:cxn ang="0">
                                  <a:pos x="T42" y="T43"/>
                                </a:cxn>
                              </a:cxnLst>
                              <a:rect l="0" t="0" r="r" b="b"/>
                              <a:pathLst>
                                <a:path w="107" h="24">
                                  <a:moveTo>
                                    <a:pt x="10" y="24"/>
                                  </a:moveTo>
                                  <a:lnTo>
                                    <a:pt x="4" y="16"/>
                                  </a:lnTo>
                                  <a:lnTo>
                                    <a:pt x="1" y="11"/>
                                  </a:lnTo>
                                  <a:lnTo>
                                    <a:pt x="0" y="5"/>
                                  </a:lnTo>
                                  <a:lnTo>
                                    <a:pt x="4" y="1"/>
                                  </a:lnTo>
                                  <a:lnTo>
                                    <a:pt x="13" y="0"/>
                                  </a:lnTo>
                                  <a:lnTo>
                                    <a:pt x="25" y="7"/>
                                  </a:lnTo>
                                  <a:lnTo>
                                    <a:pt x="36" y="0"/>
                                  </a:lnTo>
                                  <a:lnTo>
                                    <a:pt x="47" y="3"/>
                                  </a:lnTo>
                                  <a:lnTo>
                                    <a:pt x="61" y="7"/>
                                  </a:lnTo>
                                  <a:lnTo>
                                    <a:pt x="75" y="8"/>
                                  </a:lnTo>
                                  <a:lnTo>
                                    <a:pt x="107" y="11"/>
                                  </a:lnTo>
                                  <a:lnTo>
                                    <a:pt x="98" y="16"/>
                                  </a:lnTo>
                                  <a:lnTo>
                                    <a:pt x="88" y="21"/>
                                  </a:lnTo>
                                  <a:lnTo>
                                    <a:pt x="77" y="21"/>
                                  </a:lnTo>
                                  <a:lnTo>
                                    <a:pt x="68" y="22"/>
                                  </a:lnTo>
                                  <a:lnTo>
                                    <a:pt x="55" y="19"/>
                                  </a:lnTo>
                                  <a:lnTo>
                                    <a:pt x="41" y="16"/>
                                  </a:lnTo>
                                  <a:lnTo>
                                    <a:pt x="33" y="21"/>
                                  </a:lnTo>
                                  <a:lnTo>
                                    <a:pt x="22" y="16"/>
                                  </a:lnTo>
                                  <a:lnTo>
                                    <a:pt x="12" y="13"/>
                                  </a:lnTo>
                                  <a:lnTo>
                                    <a:pt x="10" y="24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001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 sz="3655"/>
                            </a:p>
                          </p:txBody>
                        </p:sp>
                      </p:grpSp>
                      <p:sp>
                        <p:nvSpPr>
                          <p:cNvPr id="363" name="Freeform 310"/>
                          <p:cNvSpPr/>
                          <p:nvPr/>
                        </p:nvSpPr>
                        <p:spPr bwMode="auto">
                          <a:xfrm>
                            <a:off x="5225" y="2360"/>
                            <a:ext cx="16" cy="9"/>
                          </a:xfrm>
                          <a:custGeom>
                            <a:avLst/>
                            <a:gdLst>
                              <a:gd name="T0" fmla="*/ 0 w 96"/>
                              <a:gd name="T1" fmla="*/ 14 h 49"/>
                              <a:gd name="T2" fmla="*/ 6 w 96"/>
                              <a:gd name="T3" fmla="*/ 18 h 49"/>
                              <a:gd name="T4" fmla="*/ 14 w 96"/>
                              <a:gd name="T5" fmla="*/ 22 h 49"/>
                              <a:gd name="T6" fmla="*/ 22 w 96"/>
                              <a:gd name="T7" fmla="*/ 23 h 49"/>
                              <a:gd name="T8" fmla="*/ 34 w 96"/>
                              <a:gd name="T9" fmla="*/ 23 h 49"/>
                              <a:gd name="T10" fmla="*/ 46 w 96"/>
                              <a:gd name="T11" fmla="*/ 22 h 49"/>
                              <a:gd name="T12" fmla="*/ 57 w 96"/>
                              <a:gd name="T13" fmla="*/ 19 h 49"/>
                              <a:gd name="T14" fmla="*/ 67 w 96"/>
                              <a:gd name="T15" fmla="*/ 17 h 49"/>
                              <a:gd name="T16" fmla="*/ 76 w 96"/>
                              <a:gd name="T17" fmla="*/ 14 h 49"/>
                              <a:gd name="T18" fmla="*/ 82 w 96"/>
                              <a:gd name="T19" fmla="*/ 8 h 49"/>
                              <a:gd name="T20" fmla="*/ 88 w 96"/>
                              <a:gd name="T21" fmla="*/ 5 h 49"/>
                              <a:gd name="T22" fmla="*/ 96 w 96"/>
                              <a:gd name="T23" fmla="*/ 0 h 49"/>
                              <a:gd name="T24" fmla="*/ 77 w 96"/>
                              <a:gd name="T25" fmla="*/ 18 h 49"/>
                              <a:gd name="T26" fmla="*/ 67 w 96"/>
                              <a:gd name="T27" fmla="*/ 26 h 49"/>
                              <a:gd name="T28" fmla="*/ 57 w 96"/>
                              <a:gd name="T29" fmla="*/ 34 h 49"/>
                              <a:gd name="T30" fmla="*/ 47 w 96"/>
                              <a:gd name="T31" fmla="*/ 43 h 49"/>
                              <a:gd name="T32" fmla="*/ 32 w 96"/>
                              <a:gd name="T33" fmla="*/ 49 h 49"/>
                              <a:gd name="T34" fmla="*/ 18 w 96"/>
                              <a:gd name="T35" fmla="*/ 49 h 49"/>
                              <a:gd name="T36" fmla="*/ 7 w 96"/>
                              <a:gd name="T37" fmla="*/ 44 h 49"/>
                              <a:gd name="T38" fmla="*/ 2 w 96"/>
                              <a:gd name="T39" fmla="*/ 34 h 49"/>
                              <a:gd name="T40" fmla="*/ 0 w 96"/>
                              <a:gd name="T41" fmla="*/ 14 h 49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  <a:cxn ang="0">
                                <a:pos x="T24" y="T25"/>
                              </a:cxn>
                              <a:cxn ang="0">
                                <a:pos x="T26" y="T27"/>
                              </a:cxn>
                              <a:cxn ang="0">
                                <a:pos x="T28" y="T29"/>
                              </a:cxn>
                              <a:cxn ang="0">
                                <a:pos x="T30" y="T31"/>
                              </a:cxn>
                              <a:cxn ang="0">
                                <a:pos x="T32" y="T33"/>
                              </a:cxn>
                              <a:cxn ang="0">
                                <a:pos x="T34" y="T35"/>
                              </a:cxn>
                              <a:cxn ang="0">
                                <a:pos x="T36" y="T37"/>
                              </a:cxn>
                              <a:cxn ang="0">
                                <a:pos x="T38" y="T39"/>
                              </a:cxn>
                              <a:cxn ang="0">
                                <a:pos x="T40" y="T41"/>
                              </a:cxn>
                            </a:cxnLst>
                            <a:rect l="0" t="0" r="r" b="b"/>
                            <a:pathLst>
                              <a:path w="96" h="49">
                                <a:moveTo>
                                  <a:pt x="0" y="14"/>
                                </a:moveTo>
                                <a:lnTo>
                                  <a:pt x="6" y="18"/>
                                </a:lnTo>
                                <a:lnTo>
                                  <a:pt x="14" y="22"/>
                                </a:lnTo>
                                <a:lnTo>
                                  <a:pt x="22" y="23"/>
                                </a:lnTo>
                                <a:lnTo>
                                  <a:pt x="34" y="23"/>
                                </a:lnTo>
                                <a:lnTo>
                                  <a:pt x="46" y="22"/>
                                </a:lnTo>
                                <a:lnTo>
                                  <a:pt x="57" y="19"/>
                                </a:lnTo>
                                <a:lnTo>
                                  <a:pt x="67" y="17"/>
                                </a:lnTo>
                                <a:lnTo>
                                  <a:pt x="76" y="14"/>
                                </a:lnTo>
                                <a:lnTo>
                                  <a:pt x="82" y="8"/>
                                </a:lnTo>
                                <a:lnTo>
                                  <a:pt x="88" y="5"/>
                                </a:lnTo>
                                <a:lnTo>
                                  <a:pt x="96" y="0"/>
                                </a:lnTo>
                                <a:lnTo>
                                  <a:pt x="77" y="18"/>
                                </a:lnTo>
                                <a:lnTo>
                                  <a:pt x="67" y="26"/>
                                </a:lnTo>
                                <a:lnTo>
                                  <a:pt x="57" y="34"/>
                                </a:lnTo>
                                <a:lnTo>
                                  <a:pt x="47" y="43"/>
                                </a:lnTo>
                                <a:lnTo>
                                  <a:pt x="32" y="49"/>
                                </a:lnTo>
                                <a:lnTo>
                                  <a:pt x="18" y="49"/>
                                </a:lnTo>
                                <a:lnTo>
                                  <a:pt x="7" y="44"/>
                                </a:lnTo>
                                <a:lnTo>
                                  <a:pt x="2" y="34"/>
                                </a:lnTo>
                                <a:lnTo>
                                  <a:pt x="0" y="14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FF001F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round/>
                              </a14:hiddenLine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3655"/>
                          </a:p>
                        </p:txBody>
                      </p:sp>
                    </p:grpSp>
                    <p:sp>
                      <p:nvSpPr>
                        <p:cNvPr id="361" name="Freeform 311"/>
                        <p:cNvSpPr/>
                        <p:nvPr/>
                      </p:nvSpPr>
                      <p:spPr bwMode="auto">
                        <a:xfrm>
                          <a:off x="5226" y="2363"/>
                          <a:ext cx="10" cy="5"/>
                        </a:xfrm>
                        <a:custGeom>
                          <a:avLst/>
                          <a:gdLst>
                            <a:gd name="T0" fmla="*/ 0 w 62"/>
                            <a:gd name="T1" fmla="*/ 0 h 23"/>
                            <a:gd name="T2" fmla="*/ 9 w 62"/>
                            <a:gd name="T3" fmla="*/ 7 h 23"/>
                            <a:gd name="T4" fmla="*/ 21 w 62"/>
                            <a:gd name="T5" fmla="*/ 8 h 23"/>
                            <a:gd name="T6" fmla="*/ 34 w 62"/>
                            <a:gd name="T7" fmla="*/ 8 h 23"/>
                            <a:gd name="T8" fmla="*/ 52 w 62"/>
                            <a:gd name="T9" fmla="*/ 5 h 23"/>
                            <a:gd name="T10" fmla="*/ 62 w 62"/>
                            <a:gd name="T11" fmla="*/ 0 h 23"/>
                            <a:gd name="T12" fmla="*/ 48 w 62"/>
                            <a:gd name="T13" fmla="*/ 13 h 23"/>
                            <a:gd name="T14" fmla="*/ 38 w 62"/>
                            <a:gd name="T15" fmla="*/ 21 h 23"/>
                            <a:gd name="T16" fmla="*/ 28 w 62"/>
                            <a:gd name="T17" fmla="*/ 23 h 23"/>
                            <a:gd name="T18" fmla="*/ 15 w 62"/>
                            <a:gd name="T19" fmla="*/ 23 h 23"/>
                            <a:gd name="T20" fmla="*/ 6 w 62"/>
                            <a:gd name="T21" fmla="*/ 20 h 23"/>
                            <a:gd name="T22" fmla="*/ 1 w 62"/>
                            <a:gd name="T23" fmla="*/ 13 h 23"/>
                            <a:gd name="T24" fmla="*/ 0 w 62"/>
                            <a:gd name="T25" fmla="*/ 0 h 23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</a:cxnLst>
                          <a:rect l="0" t="0" r="r" b="b"/>
                          <a:pathLst>
                            <a:path w="62" h="23">
                              <a:moveTo>
                                <a:pt x="0" y="0"/>
                              </a:moveTo>
                              <a:lnTo>
                                <a:pt x="9" y="7"/>
                              </a:lnTo>
                              <a:lnTo>
                                <a:pt x="21" y="8"/>
                              </a:lnTo>
                              <a:lnTo>
                                <a:pt x="34" y="8"/>
                              </a:lnTo>
                              <a:lnTo>
                                <a:pt x="52" y="5"/>
                              </a:lnTo>
                              <a:lnTo>
                                <a:pt x="62" y="0"/>
                              </a:lnTo>
                              <a:lnTo>
                                <a:pt x="48" y="13"/>
                              </a:lnTo>
                              <a:lnTo>
                                <a:pt x="38" y="21"/>
                              </a:lnTo>
                              <a:lnTo>
                                <a:pt x="28" y="23"/>
                              </a:lnTo>
                              <a:lnTo>
                                <a:pt x="15" y="23"/>
                              </a:lnTo>
                              <a:lnTo>
                                <a:pt x="6" y="20"/>
                              </a:lnTo>
                              <a:lnTo>
                                <a:pt x="1" y="13"/>
                              </a:lnTo>
                              <a:lnTo>
                                <a:pt x="0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1F3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</p:grpSp>
                  <p:sp>
                    <p:nvSpPr>
                      <p:cNvPr id="358" name="Oval 31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227" y="2365"/>
                        <a:ext cx="2" cy="1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</p:grpSp>
              <p:grpSp>
                <p:nvGrpSpPr>
                  <p:cNvPr id="351" name="Group 313"/>
                  <p:cNvGrpSpPr/>
                  <p:nvPr/>
                </p:nvGrpSpPr>
                <p:grpSpPr bwMode="auto">
                  <a:xfrm>
                    <a:off x="5261" y="2339"/>
                    <a:ext cx="12" cy="20"/>
                    <a:chOff x="5261" y="2339"/>
                    <a:chExt cx="12" cy="20"/>
                  </a:xfrm>
                </p:grpSpPr>
                <p:sp>
                  <p:nvSpPr>
                    <p:cNvPr id="352" name="Freeform 314"/>
                    <p:cNvSpPr/>
                    <p:nvPr/>
                  </p:nvSpPr>
                  <p:spPr bwMode="auto">
                    <a:xfrm>
                      <a:off x="5261" y="2339"/>
                      <a:ext cx="12" cy="20"/>
                    </a:xfrm>
                    <a:custGeom>
                      <a:avLst/>
                      <a:gdLst>
                        <a:gd name="T0" fmla="*/ 45 w 70"/>
                        <a:gd name="T1" fmla="*/ 0 h 98"/>
                        <a:gd name="T2" fmla="*/ 67 w 70"/>
                        <a:gd name="T3" fmla="*/ 8 h 98"/>
                        <a:gd name="T4" fmla="*/ 70 w 70"/>
                        <a:gd name="T5" fmla="*/ 11 h 98"/>
                        <a:gd name="T6" fmla="*/ 69 w 70"/>
                        <a:gd name="T7" fmla="*/ 50 h 98"/>
                        <a:gd name="T8" fmla="*/ 64 w 70"/>
                        <a:gd name="T9" fmla="*/ 71 h 98"/>
                        <a:gd name="T10" fmla="*/ 57 w 70"/>
                        <a:gd name="T11" fmla="*/ 88 h 98"/>
                        <a:gd name="T12" fmla="*/ 48 w 70"/>
                        <a:gd name="T13" fmla="*/ 95 h 98"/>
                        <a:gd name="T14" fmla="*/ 36 w 70"/>
                        <a:gd name="T15" fmla="*/ 98 h 98"/>
                        <a:gd name="T16" fmla="*/ 12 w 70"/>
                        <a:gd name="T17" fmla="*/ 90 h 98"/>
                        <a:gd name="T18" fmla="*/ 2 w 70"/>
                        <a:gd name="T19" fmla="*/ 80 h 98"/>
                        <a:gd name="T20" fmla="*/ 0 w 70"/>
                        <a:gd name="T21" fmla="*/ 72 h 98"/>
                        <a:gd name="T22" fmla="*/ 0 w 70"/>
                        <a:gd name="T23" fmla="*/ 67 h 98"/>
                        <a:gd name="T24" fmla="*/ 15 w 70"/>
                        <a:gd name="T25" fmla="*/ 37 h 98"/>
                        <a:gd name="T26" fmla="*/ 24 w 70"/>
                        <a:gd name="T27" fmla="*/ 11 h 98"/>
                        <a:gd name="T28" fmla="*/ 26 w 70"/>
                        <a:gd name="T29" fmla="*/ 4 h 98"/>
                        <a:gd name="T30" fmla="*/ 32 w 70"/>
                        <a:gd name="T31" fmla="*/ 0 h 98"/>
                        <a:gd name="T32" fmla="*/ 45 w 70"/>
                        <a:gd name="T33" fmla="*/ 0 h 9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</a:cxnLst>
                      <a:rect l="0" t="0" r="r" b="b"/>
                      <a:pathLst>
                        <a:path w="70" h="98">
                          <a:moveTo>
                            <a:pt x="45" y="0"/>
                          </a:moveTo>
                          <a:lnTo>
                            <a:pt x="67" y="8"/>
                          </a:lnTo>
                          <a:lnTo>
                            <a:pt x="70" y="11"/>
                          </a:lnTo>
                          <a:lnTo>
                            <a:pt x="69" y="50"/>
                          </a:lnTo>
                          <a:lnTo>
                            <a:pt x="64" y="71"/>
                          </a:lnTo>
                          <a:lnTo>
                            <a:pt x="57" y="88"/>
                          </a:lnTo>
                          <a:lnTo>
                            <a:pt x="48" y="95"/>
                          </a:lnTo>
                          <a:lnTo>
                            <a:pt x="36" y="98"/>
                          </a:lnTo>
                          <a:lnTo>
                            <a:pt x="12" y="90"/>
                          </a:lnTo>
                          <a:lnTo>
                            <a:pt x="2" y="80"/>
                          </a:lnTo>
                          <a:lnTo>
                            <a:pt x="0" y="72"/>
                          </a:lnTo>
                          <a:lnTo>
                            <a:pt x="0" y="67"/>
                          </a:lnTo>
                          <a:lnTo>
                            <a:pt x="15" y="37"/>
                          </a:lnTo>
                          <a:lnTo>
                            <a:pt x="24" y="11"/>
                          </a:lnTo>
                          <a:lnTo>
                            <a:pt x="26" y="4"/>
                          </a:lnTo>
                          <a:lnTo>
                            <a:pt x="32" y="0"/>
                          </a:lnTo>
                          <a:lnTo>
                            <a:pt x="45" y="0"/>
                          </a:lnTo>
                          <a:close/>
                        </a:path>
                      </a:pathLst>
                    </a:custGeom>
                    <a:solidFill>
                      <a:srgbClr val="FFBF1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53" name="Freeform 315"/>
                    <p:cNvSpPr/>
                    <p:nvPr/>
                  </p:nvSpPr>
                  <p:spPr bwMode="auto">
                    <a:xfrm>
                      <a:off x="5263" y="2339"/>
                      <a:ext cx="9" cy="19"/>
                    </a:xfrm>
                    <a:custGeom>
                      <a:avLst/>
                      <a:gdLst>
                        <a:gd name="T0" fmla="*/ 48 w 50"/>
                        <a:gd name="T1" fmla="*/ 5 h 94"/>
                        <a:gd name="T2" fmla="*/ 50 w 50"/>
                        <a:gd name="T3" fmla="*/ 12 h 94"/>
                        <a:gd name="T4" fmla="*/ 49 w 50"/>
                        <a:gd name="T5" fmla="*/ 35 h 94"/>
                        <a:gd name="T6" fmla="*/ 43 w 50"/>
                        <a:gd name="T7" fmla="*/ 57 h 94"/>
                        <a:gd name="T8" fmla="*/ 35 w 50"/>
                        <a:gd name="T9" fmla="*/ 74 h 94"/>
                        <a:gd name="T10" fmla="*/ 25 w 50"/>
                        <a:gd name="T11" fmla="*/ 87 h 94"/>
                        <a:gd name="T12" fmla="*/ 15 w 50"/>
                        <a:gd name="T13" fmla="*/ 94 h 94"/>
                        <a:gd name="T14" fmla="*/ 0 w 50"/>
                        <a:gd name="T15" fmla="*/ 90 h 94"/>
                        <a:gd name="T16" fmla="*/ 9 w 50"/>
                        <a:gd name="T17" fmla="*/ 77 h 94"/>
                        <a:gd name="T18" fmla="*/ 15 w 50"/>
                        <a:gd name="T19" fmla="*/ 66 h 94"/>
                        <a:gd name="T20" fmla="*/ 20 w 50"/>
                        <a:gd name="T21" fmla="*/ 52 h 94"/>
                        <a:gd name="T22" fmla="*/ 24 w 50"/>
                        <a:gd name="T23" fmla="*/ 38 h 94"/>
                        <a:gd name="T24" fmla="*/ 26 w 50"/>
                        <a:gd name="T25" fmla="*/ 29 h 94"/>
                        <a:gd name="T26" fmla="*/ 27 w 50"/>
                        <a:gd name="T27" fmla="*/ 17 h 94"/>
                        <a:gd name="T28" fmla="*/ 27 w 50"/>
                        <a:gd name="T29" fmla="*/ 0 h 94"/>
                        <a:gd name="T30" fmla="*/ 48 w 50"/>
                        <a:gd name="T31" fmla="*/ 5 h 9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</a:cxnLst>
                      <a:rect l="0" t="0" r="r" b="b"/>
                      <a:pathLst>
                        <a:path w="50" h="94">
                          <a:moveTo>
                            <a:pt x="48" y="5"/>
                          </a:moveTo>
                          <a:lnTo>
                            <a:pt x="50" y="12"/>
                          </a:lnTo>
                          <a:lnTo>
                            <a:pt x="49" y="35"/>
                          </a:lnTo>
                          <a:lnTo>
                            <a:pt x="43" y="57"/>
                          </a:lnTo>
                          <a:lnTo>
                            <a:pt x="35" y="74"/>
                          </a:lnTo>
                          <a:lnTo>
                            <a:pt x="25" y="87"/>
                          </a:lnTo>
                          <a:lnTo>
                            <a:pt x="15" y="94"/>
                          </a:lnTo>
                          <a:lnTo>
                            <a:pt x="0" y="90"/>
                          </a:lnTo>
                          <a:lnTo>
                            <a:pt x="9" y="77"/>
                          </a:lnTo>
                          <a:lnTo>
                            <a:pt x="15" y="66"/>
                          </a:lnTo>
                          <a:lnTo>
                            <a:pt x="20" y="52"/>
                          </a:lnTo>
                          <a:lnTo>
                            <a:pt x="24" y="38"/>
                          </a:lnTo>
                          <a:lnTo>
                            <a:pt x="26" y="29"/>
                          </a:lnTo>
                          <a:lnTo>
                            <a:pt x="27" y="17"/>
                          </a:lnTo>
                          <a:lnTo>
                            <a:pt x="27" y="0"/>
                          </a:lnTo>
                          <a:lnTo>
                            <a:pt x="48" y="5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  <p:sp>
              <p:nvSpPr>
                <p:cNvPr id="328" name="Freeform 316"/>
                <p:cNvSpPr/>
                <p:nvPr/>
              </p:nvSpPr>
              <p:spPr bwMode="auto">
                <a:xfrm>
                  <a:off x="5150" y="2439"/>
                  <a:ext cx="44" cy="55"/>
                </a:xfrm>
                <a:custGeom>
                  <a:avLst/>
                  <a:gdLst>
                    <a:gd name="T0" fmla="*/ 249 w 264"/>
                    <a:gd name="T1" fmla="*/ 97 h 272"/>
                    <a:gd name="T2" fmla="*/ 202 w 264"/>
                    <a:gd name="T3" fmla="*/ 21 h 272"/>
                    <a:gd name="T4" fmla="*/ 166 w 264"/>
                    <a:gd name="T5" fmla="*/ 0 h 272"/>
                    <a:gd name="T6" fmla="*/ 233 w 264"/>
                    <a:gd name="T7" fmla="*/ 113 h 272"/>
                    <a:gd name="T8" fmla="*/ 249 w 264"/>
                    <a:gd name="T9" fmla="*/ 171 h 272"/>
                    <a:gd name="T10" fmla="*/ 61 w 264"/>
                    <a:gd name="T11" fmla="*/ 196 h 272"/>
                    <a:gd name="T12" fmla="*/ 239 w 264"/>
                    <a:gd name="T13" fmla="*/ 191 h 272"/>
                    <a:gd name="T14" fmla="*/ 0 w 264"/>
                    <a:gd name="T15" fmla="*/ 272 h 272"/>
                    <a:gd name="T16" fmla="*/ 264 w 264"/>
                    <a:gd name="T17" fmla="*/ 208 h 272"/>
                    <a:gd name="T18" fmla="*/ 249 w 264"/>
                    <a:gd name="T19" fmla="*/ 97 h 2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64" h="272">
                      <a:moveTo>
                        <a:pt x="249" y="97"/>
                      </a:moveTo>
                      <a:lnTo>
                        <a:pt x="202" y="21"/>
                      </a:lnTo>
                      <a:lnTo>
                        <a:pt x="166" y="0"/>
                      </a:lnTo>
                      <a:lnTo>
                        <a:pt x="233" y="113"/>
                      </a:lnTo>
                      <a:lnTo>
                        <a:pt x="249" y="171"/>
                      </a:lnTo>
                      <a:lnTo>
                        <a:pt x="61" y="196"/>
                      </a:lnTo>
                      <a:lnTo>
                        <a:pt x="239" y="191"/>
                      </a:lnTo>
                      <a:lnTo>
                        <a:pt x="0" y="272"/>
                      </a:lnTo>
                      <a:lnTo>
                        <a:pt x="264" y="208"/>
                      </a:lnTo>
                      <a:lnTo>
                        <a:pt x="249" y="97"/>
                      </a:lnTo>
                      <a:close/>
                    </a:path>
                  </a:pathLst>
                </a:custGeom>
                <a:solidFill>
                  <a:srgbClr val="10ADD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3655"/>
                </a:p>
              </p:txBody>
            </p:sp>
            <p:grpSp>
              <p:nvGrpSpPr>
                <p:cNvPr id="329" name="Group 317"/>
                <p:cNvGrpSpPr/>
                <p:nvPr/>
              </p:nvGrpSpPr>
              <p:grpSpPr bwMode="auto">
                <a:xfrm>
                  <a:off x="5085" y="2483"/>
                  <a:ext cx="63" cy="66"/>
                  <a:chOff x="5085" y="2483"/>
                  <a:chExt cx="63" cy="66"/>
                </a:xfrm>
              </p:grpSpPr>
              <p:sp>
                <p:nvSpPr>
                  <p:cNvPr id="345" name="Freeform 318"/>
                  <p:cNvSpPr/>
                  <p:nvPr/>
                </p:nvSpPr>
                <p:spPr bwMode="auto">
                  <a:xfrm>
                    <a:off x="5142" y="2483"/>
                    <a:ext cx="6" cy="23"/>
                  </a:xfrm>
                  <a:custGeom>
                    <a:avLst/>
                    <a:gdLst>
                      <a:gd name="T0" fmla="*/ 17 w 35"/>
                      <a:gd name="T1" fmla="*/ 15 h 114"/>
                      <a:gd name="T2" fmla="*/ 35 w 35"/>
                      <a:gd name="T3" fmla="*/ 59 h 114"/>
                      <a:gd name="T4" fmla="*/ 29 w 35"/>
                      <a:gd name="T5" fmla="*/ 92 h 114"/>
                      <a:gd name="T6" fmla="*/ 17 w 35"/>
                      <a:gd name="T7" fmla="*/ 114 h 114"/>
                      <a:gd name="T8" fmla="*/ 12 w 35"/>
                      <a:gd name="T9" fmla="*/ 114 h 114"/>
                      <a:gd name="T10" fmla="*/ 12 w 35"/>
                      <a:gd name="T11" fmla="*/ 53 h 114"/>
                      <a:gd name="T12" fmla="*/ 0 w 35"/>
                      <a:gd name="T13" fmla="*/ 38 h 114"/>
                      <a:gd name="T14" fmla="*/ 6 w 35"/>
                      <a:gd name="T15" fmla="*/ 26 h 114"/>
                      <a:gd name="T16" fmla="*/ 17 w 35"/>
                      <a:gd name="T17" fmla="*/ 0 h 114"/>
                      <a:gd name="T18" fmla="*/ 17 w 35"/>
                      <a:gd name="T19" fmla="*/ 15 h 1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35" h="114">
                        <a:moveTo>
                          <a:pt x="17" y="15"/>
                        </a:moveTo>
                        <a:lnTo>
                          <a:pt x="35" y="59"/>
                        </a:lnTo>
                        <a:lnTo>
                          <a:pt x="29" y="92"/>
                        </a:lnTo>
                        <a:lnTo>
                          <a:pt x="17" y="114"/>
                        </a:lnTo>
                        <a:lnTo>
                          <a:pt x="12" y="114"/>
                        </a:lnTo>
                        <a:lnTo>
                          <a:pt x="12" y="53"/>
                        </a:lnTo>
                        <a:lnTo>
                          <a:pt x="0" y="38"/>
                        </a:lnTo>
                        <a:lnTo>
                          <a:pt x="6" y="26"/>
                        </a:lnTo>
                        <a:lnTo>
                          <a:pt x="17" y="0"/>
                        </a:lnTo>
                        <a:lnTo>
                          <a:pt x="17" y="15"/>
                        </a:lnTo>
                        <a:close/>
                      </a:path>
                    </a:pathLst>
                  </a:custGeom>
                  <a:solidFill>
                    <a:srgbClr val="10ADD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46" name="Freeform 319"/>
                  <p:cNvSpPr/>
                  <p:nvPr/>
                </p:nvSpPr>
                <p:spPr bwMode="auto">
                  <a:xfrm>
                    <a:off x="5085" y="2508"/>
                    <a:ext cx="25" cy="41"/>
                  </a:xfrm>
                  <a:custGeom>
                    <a:avLst/>
                    <a:gdLst>
                      <a:gd name="T0" fmla="*/ 36 w 147"/>
                      <a:gd name="T1" fmla="*/ 0 h 204"/>
                      <a:gd name="T2" fmla="*/ 89 w 147"/>
                      <a:gd name="T3" fmla="*/ 32 h 204"/>
                      <a:gd name="T4" fmla="*/ 121 w 147"/>
                      <a:gd name="T5" fmla="*/ 76 h 204"/>
                      <a:gd name="T6" fmla="*/ 137 w 147"/>
                      <a:gd name="T7" fmla="*/ 108 h 204"/>
                      <a:gd name="T8" fmla="*/ 141 w 147"/>
                      <a:gd name="T9" fmla="*/ 134 h 204"/>
                      <a:gd name="T10" fmla="*/ 147 w 147"/>
                      <a:gd name="T11" fmla="*/ 163 h 204"/>
                      <a:gd name="T12" fmla="*/ 147 w 147"/>
                      <a:gd name="T13" fmla="*/ 188 h 204"/>
                      <a:gd name="T14" fmla="*/ 94 w 147"/>
                      <a:gd name="T15" fmla="*/ 204 h 204"/>
                      <a:gd name="T16" fmla="*/ 84 w 147"/>
                      <a:gd name="T17" fmla="*/ 157 h 204"/>
                      <a:gd name="T18" fmla="*/ 79 w 147"/>
                      <a:gd name="T19" fmla="*/ 129 h 204"/>
                      <a:gd name="T20" fmla="*/ 53 w 147"/>
                      <a:gd name="T21" fmla="*/ 92 h 204"/>
                      <a:gd name="T22" fmla="*/ 36 w 147"/>
                      <a:gd name="T23" fmla="*/ 71 h 204"/>
                      <a:gd name="T24" fmla="*/ 21 w 147"/>
                      <a:gd name="T25" fmla="*/ 50 h 204"/>
                      <a:gd name="T26" fmla="*/ 0 w 147"/>
                      <a:gd name="T27" fmla="*/ 32 h 204"/>
                      <a:gd name="T28" fmla="*/ 36 w 147"/>
                      <a:gd name="T29" fmla="*/ 0 h 20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147" h="204">
                        <a:moveTo>
                          <a:pt x="36" y="0"/>
                        </a:moveTo>
                        <a:lnTo>
                          <a:pt x="89" y="32"/>
                        </a:lnTo>
                        <a:lnTo>
                          <a:pt x="121" y="76"/>
                        </a:lnTo>
                        <a:lnTo>
                          <a:pt x="137" y="108"/>
                        </a:lnTo>
                        <a:lnTo>
                          <a:pt x="141" y="134"/>
                        </a:lnTo>
                        <a:lnTo>
                          <a:pt x="147" y="163"/>
                        </a:lnTo>
                        <a:lnTo>
                          <a:pt x="147" y="188"/>
                        </a:lnTo>
                        <a:lnTo>
                          <a:pt x="94" y="204"/>
                        </a:lnTo>
                        <a:lnTo>
                          <a:pt x="84" y="157"/>
                        </a:lnTo>
                        <a:lnTo>
                          <a:pt x="79" y="129"/>
                        </a:lnTo>
                        <a:lnTo>
                          <a:pt x="53" y="92"/>
                        </a:lnTo>
                        <a:lnTo>
                          <a:pt x="36" y="71"/>
                        </a:lnTo>
                        <a:lnTo>
                          <a:pt x="21" y="50"/>
                        </a:lnTo>
                        <a:lnTo>
                          <a:pt x="0" y="32"/>
                        </a:lnTo>
                        <a:lnTo>
                          <a:pt x="36" y="0"/>
                        </a:lnTo>
                        <a:close/>
                      </a:path>
                    </a:pathLst>
                  </a:custGeom>
                  <a:solidFill>
                    <a:srgbClr val="007F9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  <p:grpSp>
              <p:nvGrpSpPr>
                <p:cNvPr id="330" name="Group 320"/>
                <p:cNvGrpSpPr/>
                <p:nvPr/>
              </p:nvGrpSpPr>
              <p:grpSpPr bwMode="auto">
                <a:xfrm>
                  <a:off x="5086" y="2396"/>
                  <a:ext cx="258" cy="317"/>
                  <a:chOff x="5086" y="2396"/>
                  <a:chExt cx="258" cy="317"/>
                </a:xfrm>
              </p:grpSpPr>
              <p:sp>
                <p:nvSpPr>
                  <p:cNvPr id="331" name="Freeform 321"/>
                  <p:cNvSpPr/>
                  <p:nvPr/>
                </p:nvSpPr>
                <p:spPr bwMode="auto">
                  <a:xfrm>
                    <a:off x="5256" y="2397"/>
                    <a:ext cx="88" cy="316"/>
                  </a:xfrm>
                  <a:custGeom>
                    <a:avLst/>
                    <a:gdLst>
                      <a:gd name="T0" fmla="*/ 78 w 527"/>
                      <a:gd name="T1" fmla="*/ 0 h 1580"/>
                      <a:gd name="T2" fmla="*/ 103 w 527"/>
                      <a:gd name="T3" fmla="*/ 16 h 1580"/>
                      <a:gd name="T4" fmla="*/ 132 w 527"/>
                      <a:gd name="T5" fmla="*/ 37 h 1580"/>
                      <a:gd name="T6" fmla="*/ 164 w 527"/>
                      <a:gd name="T7" fmla="*/ 58 h 1580"/>
                      <a:gd name="T8" fmla="*/ 211 w 527"/>
                      <a:gd name="T9" fmla="*/ 84 h 1580"/>
                      <a:gd name="T10" fmla="*/ 315 w 527"/>
                      <a:gd name="T11" fmla="*/ 151 h 1580"/>
                      <a:gd name="T12" fmla="*/ 360 w 527"/>
                      <a:gd name="T13" fmla="*/ 170 h 1580"/>
                      <a:gd name="T14" fmla="*/ 383 w 527"/>
                      <a:gd name="T15" fmla="*/ 180 h 1580"/>
                      <a:gd name="T16" fmla="*/ 406 w 527"/>
                      <a:gd name="T17" fmla="*/ 201 h 1580"/>
                      <a:gd name="T18" fmla="*/ 463 w 527"/>
                      <a:gd name="T19" fmla="*/ 463 h 1580"/>
                      <a:gd name="T20" fmla="*/ 471 w 527"/>
                      <a:gd name="T21" fmla="*/ 567 h 1580"/>
                      <a:gd name="T22" fmla="*/ 461 w 527"/>
                      <a:gd name="T23" fmla="*/ 596 h 1580"/>
                      <a:gd name="T24" fmla="*/ 486 w 527"/>
                      <a:gd name="T25" fmla="*/ 708 h 1580"/>
                      <a:gd name="T26" fmla="*/ 492 w 527"/>
                      <a:gd name="T27" fmla="*/ 892 h 1580"/>
                      <a:gd name="T28" fmla="*/ 504 w 527"/>
                      <a:gd name="T29" fmla="*/ 976 h 1580"/>
                      <a:gd name="T30" fmla="*/ 511 w 527"/>
                      <a:gd name="T31" fmla="*/ 1033 h 1580"/>
                      <a:gd name="T32" fmla="*/ 522 w 527"/>
                      <a:gd name="T33" fmla="*/ 1026 h 1580"/>
                      <a:gd name="T34" fmla="*/ 527 w 527"/>
                      <a:gd name="T35" fmla="*/ 1080 h 1580"/>
                      <a:gd name="T36" fmla="*/ 502 w 527"/>
                      <a:gd name="T37" fmla="*/ 1099 h 1580"/>
                      <a:gd name="T38" fmla="*/ 467 w 527"/>
                      <a:gd name="T39" fmla="*/ 1115 h 1580"/>
                      <a:gd name="T40" fmla="*/ 436 w 527"/>
                      <a:gd name="T41" fmla="*/ 1127 h 1580"/>
                      <a:gd name="T42" fmla="*/ 403 w 527"/>
                      <a:gd name="T43" fmla="*/ 1140 h 1580"/>
                      <a:gd name="T44" fmla="*/ 376 w 527"/>
                      <a:gd name="T45" fmla="*/ 1148 h 1580"/>
                      <a:gd name="T46" fmla="*/ 346 w 527"/>
                      <a:gd name="T47" fmla="*/ 1148 h 1580"/>
                      <a:gd name="T48" fmla="*/ 325 w 527"/>
                      <a:gd name="T49" fmla="*/ 1143 h 1580"/>
                      <a:gd name="T50" fmla="*/ 312 w 527"/>
                      <a:gd name="T51" fmla="*/ 1130 h 1580"/>
                      <a:gd name="T52" fmla="*/ 308 w 527"/>
                      <a:gd name="T53" fmla="*/ 1085 h 1580"/>
                      <a:gd name="T54" fmla="*/ 343 w 527"/>
                      <a:gd name="T55" fmla="*/ 1091 h 1580"/>
                      <a:gd name="T56" fmla="*/ 331 w 527"/>
                      <a:gd name="T57" fmla="*/ 1058 h 1580"/>
                      <a:gd name="T58" fmla="*/ 333 w 527"/>
                      <a:gd name="T59" fmla="*/ 995 h 1580"/>
                      <a:gd name="T60" fmla="*/ 325 w 527"/>
                      <a:gd name="T61" fmla="*/ 958 h 1580"/>
                      <a:gd name="T62" fmla="*/ 318 w 527"/>
                      <a:gd name="T63" fmla="*/ 915 h 1580"/>
                      <a:gd name="T64" fmla="*/ 307 w 527"/>
                      <a:gd name="T65" fmla="*/ 854 h 1580"/>
                      <a:gd name="T66" fmla="*/ 287 w 527"/>
                      <a:gd name="T67" fmla="*/ 788 h 1580"/>
                      <a:gd name="T68" fmla="*/ 270 w 527"/>
                      <a:gd name="T69" fmla="*/ 625 h 1580"/>
                      <a:gd name="T70" fmla="*/ 240 w 527"/>
                      <a:gd name="T71" fmla="*/ 860 h 1580"/>
                      <a:gd name="T72" fmla="*/ 252 w 527"/>
                      <a:gd name="T73" fmla="*/ 1004 h 1580"/>
                      <a:gd name="T74" fmla="*/ 294 w 527"/>
                      <a:gd name="T75" fmla="*/ 1154 h 1580"/>
                      <a:gd name="T76" fmla="*/ 386 w 527"/>
                      <a:gd name="T77" fmla="*/ 1436 h 1580"/>
                      <a:gd name="T78" fmla="*/ 313 w 527"/>
                      <a:gd name="T79" fmla="*/ 1491 h 1580"/>
                      <a:gd name="T80" fmla="*/ 264 w 527"/>
                      <a:gd name="T81" fmla="*/ 1520 h 1580"/>
                      <a:gd name="T82" fmla="*/ 227 w 527"/>
                      <a:gd name="T83" fmla="*/ 1539 h 1580"/>
                      <a:gd name="T84" fmla="*/ 203 w 527"/>
                      <a:gd name="T85" fmla="*/ 1545 h 1580"/>
                      <a:gd name="T86" fmla="*/ 173 w 527"/>
                      <a:gd name="T87" fmla="*/ 1555 h 1580"/>
                      <a:gd name="T88" fmla="*/ 142 w 527"/>
                      <a:gd name="T89" fmla="*/ 1566 h 1580"/>
                      <a:gd name="T90" fmla="*/ 103 w 527"/>
                      <a:gd name="T91" fmla="*/ 1580 h 1580"/>
                      <a:gd name="T92" fmla="*/ 56 w 527"/>
                      <a:gd name="T93" fmla="*/ 1283 h 1580"/>
                      <a:gd name="T94" fmla="*/ 26 w 527"/>
                      <a:gd name="T95" fmla="*/ 1080 h 1580"/>
                      <a:gd name="T96" fmla="*/ 9 w 527"/>
                      <a:gd name="T97" fmla="*/ 887 h 1580"/>
                      <a:gd name="T98" fmla="*/ 0 w 527"/>
                      <a:gd name="T99" fmla="*/ 625 h 1580"/>
                      <a:gd name="T100" fmla="*/ 1 w 527"/>
                      <a:gd name="T101" fmla="*/ 519 h 1580"/>
                      <a:gd name="T102" fmla="*/ 8 w 527"/>
                      <a:gd name="T103" fmla="*/ 414 h 1580"/>
                      <a:gd name="T104" fmla="*/ 29 w 527"/>
                      <a:gd name="T105" fmla="*/ 262 h 1580"/>
                      <a:gd name="T106" fmla="*/ 40 w 527"/>
                      <a:gd name="T107" fmla="*/ 226 h 1580"/>
                      <a:gd name="T108" fmla="*/ 56 w 527"/>
                      <a:gd name="T109" fmla="*/ 183 h 1580"/>
                      <a:gd name="T110" fmla="*/ 67 w 527"/>
                      <a:gd name="T111" fmla="*/ 138 h 1580"/>
                      <a:gd name="T112" fmla="*/ 73 w 527"/>
                      <a:gd name="T113" fmla="*/ 106 h 1580"/>
                      <a:gd name="T114" fmla="*/ 80 w 527"/>
                      <a:gd name="T115" fmla="*/ 62 h 1580"/>
                      <a:gd name="T116" fmla="*/ 78 w 527"/>
                      <a:gd name="T117" fmla="*/ 0 h 158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</a:cxnLst>
                    <a:rect l="0" t="0" r="r" b="b"/>
                    <a:pathLst>
                      <a:path w="527" h="1580">
                        <a:moveTo>
                          <a:pt x="78" y="0"/>
                        </a:moveTo>
                        <a:lnTo>
                          <a:pt x="103" y="16"/>
                        </a:lnTo>
                        <a:lnTo>
                          <a:pt x="132" y="37"/>
                        </a:lnTo>
                        <a:lnTo>
                          <a:pt x="164" y="58"/>
                        </a:lnTo>
                        <a:lnTo>
                          <a:pt x="211" y="84"/>
                        </a:lnTo>
                        <a:lnTo>
                          <a:pt x="315" y="151"/>
                        </a:lnTo>
                        <a:lnTo>
                          <a:pt x="360" y="170"/>
                        </a:lnTo>
                        <a:lnTo>
                          <a:pt x="383" y="180"/>
                        </a:lnTo>
                        <a:lnTo>
                          <a:pt x="406" y="201"/>
                        </a:lnTo>
                        <a:lnTo>
                          <a:pt x="463" y="463"/>
                        </a:lnTo>
                        <a:lnTo>
                          <a:pt x="471" y="567"/>
                        </a:lnTo>
                        <a:lnTo>
                          <a:pt x="461" y="596"/>
                        </a:lnTo>
                        <a:lnTo>
                          <a:pt x="486" y="708"/>
                        </a:lnTo>
                        <a:lnTo>
                          <a:pt x="492" y="892"/>
                        </a:lnTo>
                        <a:lnTo>
                          <a:pt x="504" y="976"/>
                        </a:lnTo>
                        <a:lnTo>
                          <a:pt x="511" y="1033"/>
                        </a:lnTo>
                        <a:lnTo>
                          <a:pt x="522" y="1026"/>
                        </a:lnTo>
                        <a:lnTo>
                          <a:pt x="527" y="1080"/>
                        </a:lnTo>
                        <a:lnTo>
                          <a:pt x="502" y="1099"/>
                        </a:lnTo>
                        <a:lnTo>
                          <a:pt x="467" y="1115"/>
                        </a:lnTo>
                        <a:lnTo>
                          <a:pt x="436" y="1127"/>
                        </a:lnTo>
                        <a:lnTo>
                          <a:pt x="403" y="1140"/>
                        </a:lnTo>
                        <a:lnTo>
                          <a:pt x="376" y="1148"/>
                        </a:lnTo>
                        <a:lnTo>
                          <a:pt x="346" y="1148"/>
                        </a:lnTo>
                        <a:lnTo>
                          <a:pt x="325" y="1143"/>
                        </a:lnTo>
                        <a:lnTo>
                          <a:pt x="312" y="1130"/>
                        </a:lnTo>
                        <a:lnTo>
                          <a:pt x="308" y="1085"/>
                        </a:lnTo>
                        <a:lnTo>
                          <a:pt x="343" y="1091"/>
                        </a:lnTo>
                        <a:lnTo>
                          <a:pt x="331" y="1058"/>
                        </a:lnTo>
                        <a:lnTo>
                          <a:pt x="333" y="995"/>
                        </a:lnTo>
                        <a:lnTo>
                          <a:pt x="325" y="958"/>
                        </a:lnTo>
                        <a:lnTo>
                          <a:pt x="318" y="915"/>
                        </a:lnTo>
                        <a:lnTo>
                          <a:pt x="307" y="854"/>
                        </a:lnTo>
                        <a:lnTo>
                          <a:pt x="287" y="788"/>
                        </a:lnTo>
                        <a:lnTo>
                          <a:pt x="270" y="625"/>
                        </a:lnTo>
                        <a:lnTo>
                          <a:pt x="240" y="860"/>
                        </a:lnTo>
                        <a:lnTo>
                          <a:pt x="252" y="1004"/>
                        </a:lnTo>
                        <a:lnTo>
                          <a:pt x="294" y="1154"/>
                        </a:lnTo>
                        <a:lnTo>
                          <a:pt x="386" y="1436"/>
                        </a:lnTo>
                        <a:lnTo>
                          <a:pt x="313" y="1491"/>
                        </a:lnTo>
                        <a:lnTo>
                          <a:pt x="264" y="1520"/>
                        </a:lnTo>
                        <a:lnTo>
                          <a:pt x="227" y="1539"/>
                        </a:lnTo>
                        <a:lnTo>
                          <a:pt x="203" y="1545"/>
                        </a:lnTo>
                        <a:lnTo>
                          <a:pt x="173" y="1555"/>
                        </a:lnTo>
                        <a:lnTo>
                          <a:pt x="142" y="1566"/>
                        </a:lnTo>
                        <a:lnTo>
                          <a:pt x="103" y="1580"/>
                        </a:lnTo>
                        <a:lnTo>
                          <a:pt x="56" y="1283"/>
                        </a:lnTo>
                        <a:lnTo>
                          <a:pt x="26" y="1080"/>
                        </a:lnTo>
                        <a:lnTo>
                          <a:pt x="9" y="887"/>
                        </a:lnTo>
                        <a:lnTo>
                          <a:pt x="0" y="625"/>
                        </a:lnTo>
                        <a:lnTo>
                          <a:pt x="1" y="519"/>
                        </a:lnTo>
                        <a:lnTo>
                          <a:pt x="8" y="414"/>
                        </a:lnTo>
                        <a:lnTo>
                          <a:pt x="29" y="262"/>
                        </a:lnTo>
                        <a:lnTo>
                          <a:pt x="40" y="226"/>
                        </a:lnTo>
                        <a:lnTo>
                          <a:pt x="56" y="183"/>
                        </a:lnTo>
                        <a:lnTo>
                          <a:pt x="67" y="138"/>
                        </a:lnTo>
                        <a:lnTo>
                          <a:pt x="73" y="106"/>
                        </a:lnTo>
                        <a:lnTo>
                          <a:pt x="80" y="62"/>
                        </a:lnTo>
                        <a:lnTo>
                          <a:pt x="78" y="0"/>
                        </a:lnTo>
                        <a:close/>
                      </a:path>
                    </a:pathLst>
                  </a:custGeom>
                  <a:solidFill>
                    <a:srgbClr val="00D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32" name="Freeform 322"/>
                  <p:cNvSpPr/>
                  <p:nvPr/>
                </p:nvSpPr>
                <p:spPr bwMode="auto">
                  <a:xfrm>
                    <a:off x="5085" y="2397"/>
                    <a:ext cx="149" cy="293"/>
                  </a:xfrm>
                  <a:custGeom>
                    <a:avLst/>
                    <a:gdLst>
                      <a:gd name="T0" fmla="*/ 875 w 896"/>
                      <a:gd name="T1" fmla="*/ 17 h 1465"/>
                      <a:gd name="T2" fmla="*/ 795 w 896"/>
                      <a:gd name="T3" fmla="*/ 19 h 1465"/>
                      <a:gd name="T4" fmla="*/ 716 w 896"/>
                      <a:gd name="T5" fmla="*/ 31 h 1465"/>
                      <a:gd name="T6" fmla="*/ 689 w 896"/>
                      <a:gd name="T7" fmla="*/ 29 h 1465"/>
                      <a:gd name="T8" fmla="*/ 661 w 896"/>
                      <a:gd name="T9" fmla="*/ 44 h 1465"/>
                      <a:gd name="T10" fmla="*/ 645 w 896"/>
                      <a:gd name="T11" fmla="*/ 62 h 1465"/>
                      <a:gd name="T12" fmla="*/ 623 w 896"/>
                      <a:gd name="T13" fmla="*/ 99 h 1465"/>
                      <a:gd name="T14" fmla="*/ 547 w 896"/>
                      <a:gd name="T15" fmla="*/ 188 h 1465"/>
                      <a:gd name="T16" fmla="*/ 513 w 896"/>
                      <a:gd name="T17" fmla="*/ 223 h 1465"/>
                      <a:gd name="T18" fmla="*/ 360 w 896"/>
                      <a:gd name="T19" fmla="*/ 414 h 1465"/>
                      <a:gd name="T20" fmla="*/ 349 w 896"/>
                      <a:gd name="T21" fmla="*/ 432 h 1465"/>
                      <a:gd name="T22" fmla="*/ 219 w 896"/>
                      <a:gd name="T23" fmla="*/ 481 h 1465"/>
                      <a:gd name="T24" fmla="*/ 56 w 896"/>
                      <a:gd name="T25" fmla="*/ 566 h 1465"/>
                      <a:gd name="T26" fmla="*/ 0 w 896"/>
                      <a:gd name="T27" fmla="*/ 589 h 1465"/>
                      <a:gd name="T28" fmla="*/ 48 w 896"/>
                      <a:gd name="T29" fmla="*/ 635 h 1465"/>
                      <a:gd name="T30" fmla="*/ 81 w 896"/>
                      <a:gd name="T31" fmla="*/ 688 h 1465"/>
                      <a:gd name="T32" fmla="*/ 98 w 896"/>
                      <a:gd name="T33" fmla="*/ 758 h 1465"/>
                      <a:gd name="T34" fmla="*/ 146 w 896"/>
                      <a:gd name="T35" fmla="*/ 715 h 1465"/>
                      <a:gd name="T36" fmla="*/ 373 w 896"/>
                      <a:gd name="T37" fmla="*/ 625 h 1465"/>
                      <a:gd name="T38" fmla="*/ 635 w 896"/>
                      <a:gd name="T39" fmla="*/ 426 h 1465"/>
                      <a:gd name="T40" fmla="*/ 667 w 896"/>
                      <a:gd name="T41" fmla="*/ 589 h 1465"/>
                      <a:gd name="T42" fmla="*/ 728 w 896"/>
                      <a:gd name="T43" fmla="*/ 772 h 1465"/>
                      <a:gd name="T44" fmla="*/ 679 w 896"/>
                      <a:gd name="T45" fmla="*/ 927 h 1465"/>
                      <a:gd name="T46" fmla="*/ 600 w 896"/>
                      <a:gd name="T47" fmla="*/ 1096 h 1465"/>
                      <a:gd name="T48" fmla="*/ 528 w 896"/>
                      <a:gd name="T49" fmla="*/ 1271 h 1465"/>
                      <a:gd name="T50" fmla="*/ 531 w 896"/>
                      <a:gd name="T51" fmla="*/ 1325 h 1465"/>
                      <a:gd name="T52" fmla="*/ 639 w 896"/>
                      <a:gd name="T53" fmla="*/ 1465 h 1465"/>
                      <a:gd name="T54" fmla="*/ 715 w 896"/>
                      <a:gd name="T55" fmla="*/ 1293 h 1465"/>
                      <a:gd name="T56" fmla="*/ 737 w 896"/>
                      <a:gd name="T57" fmla="*/ 1183 h 1465"/>
                      <a:gd name="T58" fmla="*/ 760 w 896"/>
                      <a:gd name="T59" fmla="*/ 968 h 1465"/>
                      <a:gd name="T60" fmla="*/ 780 w 896"/>
                      <a:gd name="T61" fmla="*/ 486 h 1465"/>
                      <a:gd name="T62" fmla="*/ 844 w 896"/>
                      <a:gd name="T63" fmla="*/ 142 h 1465"/>
                      <a:gd name="T64" fmla="*/ 860 w 896"/>
                      <a:gd name="T65" fmla="*/ 92 h 1465"/>
                      <a:gd name="T66" fmla="*/ 883 w 896"/>
                      <a:gd name="T67" fmla="*/ 37 h 1465"/>
                      <a:gd name="T68" fmla="*/ 896 w 896"/>
                      <a:gd name="T69" fmla="*/ 0 h 146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</a:cxnLst>
                    <a:rect l="0" t="0" r="r" b="b"/>
                    <a:pathLst>
                      <a:path w="896" h="1465">
                        <a:moveTo>
                          <a:pt x="896" y="0"/>
                        </a:moveTo>
                        <a:lnTo>
                          <a:pt x="875" y="17"/>
                        </a:lnTo>
                        <a:lnTo>
                          <a:pt x="829" y="17"/>
                        </a:lnTo>
                        <a:lnTo>
                          <a:pt x="795" y="19"/>
                        </a:lnTo>
                        <a:lnTo>
                          <a:pt x="760" y="23"/>
                        </a:lnTo>
                        <a:lnTo>
                          <a:pt x="716" y="31"/>
                        </a:lnTo>
                        <a:lnTo>
                          <a:pt x="703" y="28"/>
                        </a:lnTo>
                        <a:lnTo>
                          <a:pt x="689" y="29"/>
                        </a:lnTo>
                        <a:lnTo>
                          <a:pt x="676" y="34"/>
                        </a:lnTo>
                        <a:lnTo>
                          <a:pt x="661" y="44"/>
                        </a:lnTo>
                        <a:lnTo>
                          <a:pt x="655" y="54"/>
                        </a:lnTo>
                        <a:lnTo>
                          <a:pt x="645" y="62"/>
                        </a:lnTo>
                        <a:lnTo>
                          <a:pt x="632" y="76"/>
                        </a:lnTo>
                        <a:lnTo>
                          <a:pt x="623" y="99"/>
                        </a:lnTo>
                        <a:lnTo>
                          <a:pt x="612" y="115"/>
                        </a:lnTo>
                        <a:lnTo>
                          <a:pt x="547" y="188"/>
                        </a:lnTo>
                        <a:lnTo>
                          <a:pt x="532" y="191"/>
                        </a:lnTo>
                        <a:lnTo>
                          <a:pt x="513" y="223"/>
                        </a:lnTo>
                        <a:lnTo>
                          <a:pt x="357" y="405"/>
                        </a:lnTo>
                        <a:lnTo>
                          <a:pt x="360" y="414"/>
                        </a:lnTo>
                        <a:lnTo>
                          <a:pt x="343" y="421"/>
                        </a:lnTo>
                        <a:lnTo>
                          <a:pt x="349" y="432"/>
                        </a:lnTo>
                        <a:lnTo>
                          <a:pt x="292" y="455"/>
                        </a:lnTo>
                        <a:lnTo>
                          <a:pt x="219" y="481"/>
                        </a:lnTo>
                        <a:lnTo>
                          <a:pt x="179" y="505"/>
                        </a:lnTo>
                        <a:lnTo>
                          <a:pt x="56" y="566"/>
                        </a:lnTo>
                        <a:lnTo>
                          <a:pt x="37" y="561"/>
                        </a:lnTo>
                        <a:lnTo>
                          <a:pt x="0" y="589"/>
                        </a:lnTo>
                        <a:lnTo>
                          <a:pt x="23" y="607"/>
                        </a:lnTo>
                        <a:lnTo>
                          <a:pt x="48" y="635"/>
                        </a:lnTo>
                        <a:lnTo>
                          <a:pt x="66" y="661"/>
                        </a:lnTo>
                        <a:lnTo>
                          <a:pt x="81" y="688"/>
                        </a:lnTo>
                        <a:lnTo>
                          <a:pt x="93" y="733"/>
                        </a:lnTo>
                        <a:lnTo>
                          <a:pt x="98" y="758"/>
                        </a:lnTo>
                        <a:lnTo>
                          <a:pt x="146" y="745"/>
                        </a:lnTo>
                        <a:lnTo>
                          <a:pt x="146" y="715"/>
                        </a:lnTo>
                        <a:lnTo>
                          <a:pt x="299" y="664"/>
                        </a:lnTo>
                        <a:lnTo>
                          <a:pt x="373" y="625"/>
                        </a:lnTo>
                        <a:lnTo>
                          <a:pt x="468" y="575"/>
                        </a:lnTo>
                        <a:lnTo>
                          <a:pt x="635" y="426"/>
                        </a:lnTo>
                        <a:lnTo>
                          <a:pt x="657" y="531"/>
                        </a:lnTo>
                        <a:lnTo>
                          <a:pt x="667" y="589"/>
                        </a:lnTo>
                        <a:lnTo>
                          <a:pt x="683" y="647"/>
                        </a:lnTo>
                        <a:lnTo>
                          <a:pt x="728" y="772"/>
                        </a:lnTo>
                        <a:lnTo>
                          <a:pt x="706" y="848"/>
                        </a:lnTo>
                        <a:lnTo>
                          <a:pt x="679" y="927"/>
                        </a:lnTo>
                        <a:lnTo>
                          <a:pt x="638" y="1020"/>
                        </a:lnTo>
                        <a:lnTo>
                          <a:pt x="600" y="1096"/>
                        </a:lnTo>
                        <a:lnTo>
                          <a:pt x="532" y="1240"/>
                        </a:lnTo>
                        <a:lnTo>
                          <a:pt x="528" y="1271"/>
                        </a:lnTo>
                        <a:lnTo>
                          <a:pt x="529" y="1298"/>
                        </a:lnTo>
                        <a:lnTo>
                          <a:pt x="531" y="1325"/>
                        </a:lnTo>
                        <a:lnTo>
                          <a:pt x="601" y="1428"/>
                        </a:lnTo>
                        <a:lnTo>
                          <a:pt x="639" y="1465"/>
                        </a:lnTo>
                        <a:lnTo>
                          <a:pt x="700" y="1363"/>
                        </a:lnTo>
                        <a:lnTo>
                          <a:pt x="715" y="1293"/>
                        </a:lnTo>
                        <a:lnTo>
                          <a:pt x="730" y="1233"/>
                        </a:lnTo>
                        <a:lnTo>
                          <a:pt x="737" y="1183"/>
                        </a:lnTo>
                        <a:lnTo>
                          <a:pt x="750" y="1095"/>
                        </a:lnTo>
                        <a:lnTo>
                          <a:pt x="760" y="968"/>
                        </a:lnTo>
                        <a:lnTo>
                          <a:pt x="773" y="751"/>
                        </a:lnTo>
                        <a:lnTo>
                          <a:pt x="780" y="486"/>
                        </a:lnTo>
                        <a:lnTo>
                          <a:pt x="834" y="174"/>
                        </a:lnTo>
                        <a:lnTo>
                          <a:pt x="844" y="142"/>
                        </a:lnTo>
                        <a:lnTo>
                          <a:pt x="851" y="123"/>
                        </a:lnTo>
                        <a:lnTo>
                          <a:pt x="860" y="92"/>
                        </a:lnTo>
                        <a:lnTo>
                          <a:pt x="870" y="65"/>
                        </a:lnTo>
                        <a:lnTo>
                          <a:pt x="883" y="37"/>
                        </a:lnTo>
                        <a:lnTo>
                          <a:pt x="894" y="13"/>
                        </a:lnTo>
                        <a:lnTo>
                          <a:pt x="896" y="0"/>
                        </a:lnTo>
                        <a:close/>
                      </a:path>
                    </a:pathLst>
                  </a:custGeom>
                  <a:solidFill>
                    <a:srgbClr val="00D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grpSp>
                <p:nvGrpSpPr>
                  <p:cNvPr id="333" name="Group 323"/>
                  <p:cNvGrpSpPr/>
                  <p:nvPr/>
                </p:nvGrpSpPr>
                <p:grpSpPr bwMode="auto">
                  <a:xfrm>
                    <a:off x="5256" y="2397"/>
                    <a:ext cx="31" cy="259"/>
                    <a:chOff x="5256" y="2397"/>
                    <a:chExt cx="31" cy="259"/>
                  </a:xfrm>
                </p:grpSpPr>
                <p:sp>
                  <p:nvSpPr>
                    <p:cNvPr id="343" name="Freeform 324"/>
                    <p:cNvSpPr/>
                    <p:nvPr/>
                  </p:nvSpPr>
                  <p:spPr bwMode="auto">
                    <a:xfrm>
                      <a:off x="5257" y="2400"/>
                      <a:ext cx="30" cy="256"/>
                    </a:xfrm>
                    <a:custGeom>
                      <a:avLst/>
                      <a:gdLst>
                        <a:gd name="T0" fmla="*/ 79 w 179"/>
                        <a:gd name="T1" fmla="*/ 0 h 1283"/>
                        <a:gd name="T2" fmla="*/ 104 w 179"/>
                        <a:gd name="T3" fmla="*/ 16 h 1283"/>
                        <a:gd name="T4" fmla="*/ 133 w 179"/>
                        <a:gd name="T5" fmla="*/ 37 h 1283"/>
                        <a:gd name="T6" fmla="*/ 142 w 179"/>
                        <a:gd name="T7" fmla="*/ 48 h 1283"/>
                        <a:gd name="T8" fmla="*/ 155 w 179"/>
                        <a:gd name="T9" fmla="*/ 81 h 1283"/>
                        <a:gd name="T10" fmla="*/ 159 w 179"/>
                        <a:gd name="T11" fmla="*/ 112 h 1283"/>
                        <a:gd name="T12" fmla="*/ 163 w 179"/>
                        <a:gd name="T13" fmla="*/ 143 h 1283"/>
                        <a:gd name="T14" fmla="*/ 165 w 179"/>
                        <a:gd name="T15" fmla="*/ 174 h 1283"/>
                        <a:gd name="T16" fmla="*/ 170 w 179"/>
                        <a:gd name="T17" fmla="*/ 204 h 1283"/>
                        <a:gd name="T18" fmla="*/ 173 w 179"/>
                        <a:gd name="T19" fmla="*/ 230 h 1283"/>
                        <a:gd name="T20" fmla="*/ 176 w 179"/>
                        <a:gd name="T21" fmla="*/ 256 h 1283"/>
                        <a:gd name="T22" fmla="*/ 179 w 179"/>
                        <a:gd name="T23" fmla="*/ 273 h 1283"/>
                        <a:gd name="T24" fmla="*/ 178 w 179"/>
                        <a:gd name="T25" fmla="*/ 287 h 1283"/>
                        <a:gd name="T26" fmla="*/ 177 w 179"/>
                        <a:gd name="T27" fmla="*/ 298 h 1283"/>
                        <a:gd name="T28" fmla="*/ 173 w 179"/>
                        <a:gd name="T29" fmla="*/ 308 h 1283"/>
                        <a:gd name="T30" fmla="*/ 165 w 179"/>
                        <a:gd name="T31" fmla="*/ 316 h 1283"/>
                        <a:gd name="T32" fmla="*/ 143 w 179"/>
                        <a:gd name="T33" fmla="*/ 327 h 1283"/>
                        <a:gd name="T34" fmla="*/ 60 w 179"/>
                        <a:gd name="T35" fmla="*/ 368 h 1283"/>
                        <a:gd name="T36" fmla="*/ 130 w 179"/>
                        <a:gd name="T37" fmla="*/ 452 h 1283"/>
                        <a:gd name="T38" fmla="*/ 160 w 179"/>
                        <a:gd name="T39" fmla="*/ 486 h 1283"/>
                        <a:gd name="T40" fmla="*/ 171 w 179"/>
                        <a:gd name="T41" fmla="*/ 508 h 1283"/>
                        <a:gd name="T42" fmla="*/ 158 w 179"/>
                        <a:gd name="T43" fmla="*/ 540 h 1283"/>
                        <a:gd name="T44" fmla="*/ 122 w 179"/>
                        <a:gd name="T45" fmla="*/ 619 h 1283"/>
                        <a:gd name="T46" fmla="*/ 88 w 179"/>
                        <a:gd name="T47" fmla="*/ 677 h 1283"/>
                        <a:gd name="T48" fmla="*/ 61 w 179"/>
                        <a:gd name="T49" fmla="*/ 742 h 1283"/>
                        <a:gd name="T50" fmla="*/ 47 w 179"/>
                        <a:gd name="T51" fmla="*/ 790 h 1283"/>
                        <a:gd name="T52" fmla="*/ 27 w 179"/>
                        <a:gd name="T53" fmla="*/ 838 h 1283"/>
                        <a:gd name="T54" fmla="*/ 20 w 179"/>
                        <a:gd name="T55" fmla="*/ 875 h 1283"/>
                        <a:gd name="T56" fmla="*/ 20 w 179"/>
                        <a:gd name="T57" fmla="*/ 923 h 1283"/>
                        <a:gd name="T58" fmla="*/ 57 w 179"/>
                        <a:gd name="T59" fmla="*/ 1283 h 1283"/>
                        <a:gd name="T60" fmla="*/ 26 w 179"/>
                        <a:gd name="T61" fmla="*/ 1081 h 1283"/>
                        <a:gd name="T62" fmla="*/ 10 w 179"/>
                        <a:gd name="T63" fmla="*/ 887 h 1283"/>
                        <a:gd name="T64" fmla="*/ 0 w 179"/>
                        <a:gd name="T65" fmla="*/ 625 h 1283"/>
                        <a:gd name="T66" fmla="*/ 1 w 179"/>
                        <a:gd name="T67" fmla="*/ 519 h 1283"/>
                        <a:gd name="T68" fmla="*/ 8 w 179"/>
                        <a:gd name="T69" fmla="*/ 414 h 1283"/>
                        <a:gd name="T70" fmla="*/ 29 w 179"/>
                        <a:gd name="T71" fmla="*/ 262 h 1283"/>
                        <a:gd name="T72" fmla="*/ 41 w 179"/>
                        <a:gd name="T73" fmla="*/ 226 h 1283"/>
                        <a:gd name="T74" fmla="*/ 57 w 179"/>
                        <a:gd name="T75" fmla="*/ 183 h 1283"/>
                        <a:gd name="T76" fmla="*/ 68 w 179"/>
                        <a:gd name="T77" fmla="*/ 138 h 1283"/>
                        <a:gd name="T78" fmla="*/ 74 w 179"/>
                        <a:gd name="T79" fmla="*/ 106 h 1283"/>
                        <a:gd name="T80" fmla="*/ 81 w 179"/>
                        <a:gd name="T81" fmla="*/ 62 h 1283"/>
                        <a:gd name="T82" fmla="*/ 79 w 179"/>
                        <a:gd name="T83" fmla="*/ 0 h 128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</a:cxnLst>
                      <a:rect l="0" t="0" r="r" b="b"/>
                      <a:pathLst>
                        <a:path w="179" h="1283">
                          <a:moveTo>
                            <a:pt x="79" y="0"/>
                          </a:moveTo>
                          <a:lnTo>
                            <a:pt x="104" y="16"/>
                          </a:lnTo>
                          <a:lnTo>
                            <a:pt x="133" y="37"/>
                          </a:lnTo>
                          <a:lnTo>
                            <a:pt x="142" y="48"/>
                          </a:lnTo>
                          <a:lnTo>
                            <a:pt x="155" y="81"/>
                          </a:lnTo>
                          <a:lnTo>
                            <a:pt x="159" y="112"/>
                          </a:lnTo>
                          <a:lnTo>
                            <a:pt x="163" y="143"/>
                          </a:lnTo>
                          <a:lnTo>
                            <a:pt x="165" y="174"/>
                          </a:lnTo>
                          <a:lnTo>
                            <a:pt x="170" y="204"/>
                          </a:lnTo>
                          <a:lnTo>
                            <a:pt x="173" y="230"/>
                          </a:lnTo>
                          <a:lnTo>
                            <a:pt x="176" y="256"/>
                          </a:lnTo>
                          <a:lnTo>
                            <a:pt x="179" y="273"/>
                          </a:lnTo>
                          <a:lnTo>
                            <a:pt x="178" y="287"/>
                          </a:lnTo>
                          <a:lnTo>
                            <a:pt x="177" y="298"/>
                          </a:lnTo>
                          <a:lnTo>
                            <a:pt x="173" y="308"/>
                          </a:lnTo>
                          <a:lnTo>
                            <a:pt x="165" y="316"/>
                          </a:lnTo>
                          <a:lnTo>
                            <a:pt x="143" y="327"/>
                          </a:lnTo>
                          <a:lnTo>
                            <a:pt x="60" y="368"/>
                          </a:lnTo>
                          <a:lnTo>
                            <a:pt x="130" y="452"/>
                          </a:lnTo>
                          <a:lnTo>
                            <a:pt x="160" y="486"/>
                          </a:lnTo>
                          <a:lnTo>
                            <a:pt x="171" y="508"/>
                          </a:lnTo>
                          <a:lnTo>
                            <a:pt x="158" y="540"/>
                          </a:lnTo>
                          <a:lnTo>
                            <a:pt x="122" y="619"/>
                          </a:lnTo>
                          <a:lnTo>
                            <a:pt x="88" y="677"/>
                          </a:lnTo>
                          <a:lnTo>
                            <a:pt x="61" y="742"/>
                          </a:lnTo>
                          <a:lnTo>
                            <a:pt x="47" y="790"/>
                          </a:lnTo>
                          <a:lnTo>
                            <a:pt x="27" y="838"/>
                          </a:lnTo>
                          <a:lnTo>
                            <a:pt x="20" y="875"/>
                          </a:lnTo>
                          <a:lnTo>
                            <a:pt x="20" y="923"/>
                          </a:lnTo>
                          <a:lnTo>
                            <a:pt x="57" y="1283"/>
                          </a:lnTo>
                          <a:lnTo>
                            <a:pt x="26" y="1081"/>
                          </a:lnTo>
                          <a:lnTo>
                            <a:pt x="10" y="887"/>
                          </a:lnTo>
                          <a:lnTo>
                            <a:pt x="0" y="625"/>
                          </a:lnTo>
                          <a:lnTo>
                            <a:pt x="1" y="519"/>
                          </a:lnTo>
                          <a:lnTo>
                            <a:pt x="8" y="414"/>
                          </a:lnTo>
                          <a:lnTo>
                            <a:pt x="29" y="262"/>
                          </a:lnTo>
                          <a:lnTo>
                            <a:pt x="41" y="226"/>
                          </a:lnTo>
                          <a:lnTo>
                            <a:pt x="57" y="183"/>
                          </a:lnTo>
                          <a:lnTo>
                            <a:pt x="68" y="138"/>
                          </a:lnTo>
                          <a:lnTo>
                            <a:pt x="74" y="106"/>
                          </a:lnTo>
                          <a:lnTo>
                            <a:pt x="81" y="62"/>
                          </a:lnTo>
                          <a:lnTo>
                            <a:pt x="79" y="0"/>
                          </a:lnTo>
                          <a:close/>
                        </a:path>
                      </a:pathLst>
                    </a:custGeom>
                    <a:solidFill>
                      <a:srgbClr val="009FB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44" name="Freeform 325"/>
                    <p:cNvSpPr/>
                    <p:nvPr/>
                  </p:nvSpPr>
                  <p:spPr bwMode="auto">
                    <a:xfrm>
                      <a:off x="5256" y="2397"/>
                      <a:ext cx="30" cy="256"/>
                    </a:xfrm>
                    <a:custGeom>
                      <a:avLst/>
                      <a:gdLst>
                        <a:gd name="T0" fmla="*/ 79 w 179"/>
                        <a:gd name="T1" fmla="*/ 0 h 1283"/>
                        <a:gd name="T2" fmla="*/ 104 w 179"/>
                        <a:gd name="T3" fmla="*/ 16 h 1283"/>
                        <a:gd name="T4" fmla="*/ 132 w 179"/>
                        <a:gd name="T5" fmla="*/ 37 h 1283"/>
                        <a:gd name="T6" fmla="*/ 142 w 179"/>
                        <a:gd name="T7" fmla="*/ 48 h 1283"/>
                        <a:gd name="T8" fmla="*/ 155 w 179"/>
                        <a:gd name="T9" fmla="*/ 82 h 1283"/>
                        <a:gd name="T10" fmla="*/ 159 w 179"/>
                        <a:gd name="T11" fmla="*/ 112 h 1283"/>
                        <a:gd name="T12" fmla="*/ 162 w 179"/>
                        <a:gd name="T13" fmla="*/ 143 h 1283"/>
                        <a:gd name="T14" fmla="*/ 165 w 179"/>
                        <a:gd name="T15" fmla="*/ 174 h 1283"/>
                        <a:gd name="T16" fmla="*/ 170 w 179"/>
                        <a:gd name="T17" fmla="*/ 204 h 1283"/>
                        <a:gd name="T18" fmla="*/ 173 w 179"/>
                        <a:gd name="T19" fmla="*/ 230 h 1283"/>
                        <a:gd name="T20" fmla="*/ 175 w 179"/>
                        <a:gd name="T21" fmla="*/ 256 h 1283"/>
                        <a:gd name="T22" fmla="*/ 179 w 179"/>
                        <a:gd name="T23" fmla="*/ 273 h 1283"/>
                        <a:gd name="T24" fmla="*/ 178 w 179"/>
                        <a:gd name="T25" fmla="*/ 287 h 1283"/>
                        <a:gd name="T26" fmla="*/ 177 w 179"/>
                        <a:gd name="T27" fmla="*/ 298 h 1283"/>
                        <a:gd name="T28" fmla="*/ 173 w 179"/>
                        <a:gd name="T29" fmla="*/ 308 h 1283"/>
                        <a:gd name="T30" fmla="*/ 165 w 179"/>
                        <a:gd name="T31" fmla="*/ 316 h 1283"/>
                        <a:gd name="T32" fmla="*/ 143 w 179"/>
                        <a:gd name="T33" fmla="*/ 328 h 1283"/>
                        <a:gd name="T34" fmla="*/ 60 w 179"/>
                        <a:gd name="T35" fmla="*/ 368 h 1283"/>
                        <a:gd name="T36" fmla="*/ 130 w 179"/>
                        <a:gd name="T37" fmla="*/ 452 h 1283"/>
                        <a:gd name="T38" fmla="*/ 160 w 179"/>
                        <a:gd name="T39" fmla="*/ 486 h 1283"/>
                        <a:gd name="T40" fmla="*/ 171 w 179"/>
                        <a:gd name="T41" fmla="*/ 508 h 1283"/>
                        <a:gd name="T42" fmla="*/ 158 w 179"/>
                        <a:gd name="T43" fmla="*/ 540 h 1283"/>
                        <a:gd name="T44" fmla="*/ 122 w 179"/>
                        <a:gd name="T45" fmla="*/ 621 h 1283"/>
                        <a:gd name="T46" fmla="*/ 88 w 179"/>
                        <a:gd name="T47" fmla="*/ 677 h 1283"/>
                        <a:gd name="T48" fmla="*/ 61 w 179"/>
                        <a:gd name="T49" fmla="*/ 742 h 1283"/>
                        <a:gd name="T50" fmla="*/ 46 w 179"/>
                        <a:gd name="T51" fmla="*/ 790 h 1283"/>
                        <a:gd name="T52" fmla="*/ 27 w 179"/>
                        <a:gd name="T53" fmla="*/ 838 h 1283"/>
                        <a:gd name="T54" fmla="*/ 20 w 179"/>
                        <a:gd name="T55" fmla="*/ 875 h 1283"/>
                        <a:gd name="T56" fmla="*/ 20 w 179"/>
                        <a:gd name="T57" fmla="*/ 923 h 1283"/>
                        <a:gd name="T58" fmla="*/ 57 w 179"/>
                        <a:gd name="T59" fmla="*/ 1283 h 1283"/>
                        <a:gd name="T60" fmla="*/ 26 w 179"/>
                        <a:gd name="T61" fmla="*/ 1082 h 1283"/>
                        <a:gd name="T62" fmla="*/ 9 w 179"/>
                        <a:gd name="T63" fmla="*/ 888 h 1283"/>
                        <a:gd name="T64" fmla="*/ 0 w 179"/>
                        <a:gd name="T65" fmla="*/ 625 h 1283"/>
                        <a:gd name="T66" fmla="*/ 1 w 179"/>
                        <a:gd name="T67" fmla="*/ 519 h 1283"/>
                        <a:gd name="T68" fmla="*/ 8 w 179"/>
                        <a:gd name="T69" fmla="*/ 414 h 1283"/>
                        <a:gd name="T70" fmla="*/ 29 w 179"/>
                        <a:gd name="T71" fmla="*/ 262 h 1283"/>
                        <a:gd name="T72" fmla="*/ 40 w 179"/>
                        <a:gd name="T73" fmla="*/ 226 h 1283"/>
                        <a:gd name="T74" fmla="*/ 57 w 179"/>
                        <a:gd name="T75" fmla="*/ 183 h 1283"/>
                        <a:gd name="T76" fmla="*/ 68 w 179"/>
                        <a:gd name="T77" fmla="*/ 138 h 1283"/>
                        <a:gd name="T78" fmla="*/ 74 w 179"/>
                        <a:gd name="T79" fmla="*/ 106 h 1283"/>
                        <a:gd name="T80" fmla="*/ 81 w 179"/>
                        <a:gd name="T81" fmla="*/ 62 h 1283"/>
                        <a:gd name="T82" fmla="*/ 79 w 179"/>
                        <a:gd name="T83" fmla="*/ 0 h 128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</a:cxnLst>
                      <a:rect l="0" t="0" r="r" b="b"/>
                      <a:pathLst>
                        <a:path w="179" h="1283">
                          <a:moveTo>
                            <a:pt x="79" y="0"/>
                          </a:moveTo>
                          <a:lnTo>
                            <a:pt x="104" y="16"/>
                          </a:lnTo>
                          <a:lnTo>
                            <a:pt x="132" y="37"/>
                          </a:lnTo>
                          <a:lnTo>
                            <a:pt x="142" y="48"/>
                          </a:lnTo>
                          <a:lnTo>
                            <a:pt x="155" y="82"/>
                          </a:lnTo>
                          <a:lnTo>
                            <a:pt x="159" y="112"/>
                          </a:lnTo>
                          <a:lnTo>
                            <a:pt x="162" y="143"/>
                          </a:lnTo>
                          <a:lnTo>
                            <a:pt x="165" y="174"/>
                          </a:lnTo>
                          <a:lnTo>
                            <a:pt x="170" y="204"/>
                          </a:lnTo>
                          <a:lnTo>
                            <a:pt x="173" y="230"/>
                          </a:lnTo>
                          <a:lnTo>
                            <a:pt x="175" y="256"/>
                          </a:lnTo>
                          <a:lnTo>
                            <a:pt x="179" y="273"/>
                          </a:lnTo>
                          <a:lnTo>
                            <a:pt x="178" y="287"/>
                          </a:lnTo>
                          <a:lnTo>
                            <a:pt x="177" y="298"/>
                          </a:lnTo>
                          <a:lnTo>
                            <a:pt x="173" y="308"/>
                          </a:lnTo>
                          <a:lnTo>
                            <a:pt x="165" y="316"/>
                          </a:lnTo>
                          <a:lnTo>
                            <a:pt x="143" y="328"/>
                          </a:lnTo>
                          <a:lnTo>
                            <a:pt x="60" y="368"/>
                          </a:lnTo>
                          <a:lnTo>
                            <a:pt x="130" y="452"/>
                          </a:lnTo>
                          <a:lnTo>
                            <a:pt x="160" y="486"/>
                          </a:lnTo>
                          <a:lnTo>
                            <a:pt x="171" y="508"/>
                          </a:lnTo>
                          <a:lnTo>
                            <a:pt x="158" y="540"/>
                          </a:lnTo>
                          <a:lnTo>
                            <a:pt x="122" y="621"/>
                          </a:lnTo>
                          <a:lnTo>
                            <a:pt x="88" y="677"/>
                          </a:lnTo>
                          <a:lnTo>
                            <a:pt x="61" y="742"/>
                          </a:lnTo>
                          <a:lnTo>
                            <a:pt x="46" y="790"/>
                          </a:lnTo>
                          <a:lnTo>
                            <a:pt x="27" y="838"/>
                          </a:lnTo>
                          <a:lnTo>
                            <a:pt x="20" y="875"/>
                          </a:lnTo>
                          <a:lnTo>
                            <a:pt x="20" y="923"/>
                          </a:lnTo>
                          <a:lnTo>
                            <a:pt x="57" y="1283"/>
                          </a:lnTo>
                          <a:lnTo>
                            <a:pt x="26" y="1082"/>
                          </a:lnTo>
                          <a:lnTo>
                            <a:pt x="9" y="888"/>
                          </a:lnTo>
                          <a:lnTo>
                            <a:pt x="0" y="625"/>
                          </a:lnTo>
                          <a:lnTo>
                            <a:pt x="1" y="519"/>
                          </a:lnTo>
                          <a:lnTo>
                            <a:pt x="8" y="414"/>
                          </a:lnTo>
                          <a:lnTo>
                            <a:pt x="29" y="262"/>
                          </a:lnTo>
                          <a:lnTo>
                            <a:pt x="40" y="226"/>
                          </a:lnTo>
                          <a:lnTo>
                            <a:pt x="57" y="183"/>
                          </a:lnTo>
                          <a:lnTo>
                            <a:pt x="68" y="138"/>
                          </a:lnTo>
                          <a:lnTo>
                            <a:pt x="74" y="106"/>
                          </a:lnTo>
                          <a:lnTo>
                            <a:pt x="81" y="62"/>
                          </a:lnTo>
                          <a:lnTo>
                            <a:pt x="79" y="0"/>
                          </a:lnTo>
                          <a:close/>
                        </a:path>
                      </a:pathLst>
                    </a:custGeom>
                    <a:solidFill>
                      <a:srgbClr val="00BFD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334" name="Group 326"/>
                  <p:cNvGrpSpPr/>
                  <p:nvPr/>
                </p:nvGrpSpPr>
                <p:grpSpPr bwMode="auto">
                  <a:xfrm>
                    <a:off x="5194" y="2397"/>
                    <a:ext cx="40" cy="250"/>
                    <a:chOff x="5194" y="2397"/>
                    <a:chExt cx="40" cy="250"/>
                  </a:xfrm>
                </p:grpSpPr>
                <p:sp>
                  <p:nvSpPr>
                    <p:cNvPr id="341" name="Freeform 327"/>
                    <p:cNvSpPr/>
                    <p:nvPr/>
                  </p:nvSpPr>
                  <p:spPr bwMode="auto">
                    <a:xfrm>
                      <a:off x="5194" y="2400"/>
                      <a:ext cx="40" cy="247"/>
                    </a:xfrm>
                    <a:custGeom>
                      <a:avLst/>
                      <a:gdLst>
                        <a:gd name="T0" fmla="*/ 241 w 241"/>
                        <a:gd name="T1" fmla="*/ 0 h 1234"/>
                        <a:gd name="T2" fmla="*/ 220 w 241"/>
                        <a:gd name="T3" fmla="*/ 17 h 1234"/>
                        <a:gd name="T4" fmla="*/ 206 w 241"/>
                        <a:gd name="T5" fmla="*/ 30 h 1234"/>
                        <a:gd name="T6" fmla="*/ 191 w 241"/>
                        <a:gd name="T7" fmla="*/ 43 h 1234"/>
                        <a:gd name="T8" fmla="*/ 176 w 241"/>
                        <a:gd name="T9" fmla="*/ 56 h 1234"/>
                        <a:gd name="T10" fmla="*/ 163 w 241"/>
                        <a:gd name="T11" fmla="*/ 69 h 1234"/>
                        <a:gd name="T12" fmla="*/ 147 w 241"/>
                        <a:gd name="T13" fmla="*/ 79 h 1234"/>
                        <a:gd name="T14" fmla="*/ 133 w 241"/>
                        <a:gd name="T15" fmla="*/ 96 h 1234"/>
                        <a:gd name="T16" fmla="*/ 118 w 241"/>
                        <a:gd name="T17" fmla="*/ 116 h 1234"/>
                        <a:gd name="T18" fmla="*/ 108 w 241"/>
                        <a:gd name="T19" fmla="*/ 131 h 1234"/>
                        <a:gd name="T20" fmla="*/ 94 w 241"/>
                        <a:gd name="T21" fmla="*/ 150 h 1234"/>
                        <a:gd name="T22" fmla="*/ 86 w 241"/>
                        <a:gd name="T23" fmla="*/ 166 h 1234"/>
                        <a:gd name="T24" fmla="*/ 69 w 241"/>
                        <a:gd name="T25" fmla="*/ 199 h 1234"/>
                        <a:gd name="T26" fmla="*/ 56 w 241"/>
                        <a:gd name="T27" fmla="*/ 232 h 1234"/>
                        <a:gd name="T28" fmla="*/ 66 w 241"/>
                        <a:gd name="T29" fmla="*/ 251 h 1234"/>
                        <a:gd name="T30" fmla="*/ 86 w 241"/>
                        <a:gd name="T31" fmla="*/ 265 h 1234"/>
                        <a:gd name="T32" fmla="*/ 125 w 241"/>
                        <a:gd name="T33" fmla="*/ 318 h 1234"/>
                        <a:gd name="T34" fmla="*/ 32 w 241"/>
                        <a:gd name="T35" fmla="*/ 352 h 1234"/>
                        <a:gd name="T36" fmla="*/ 14 w 241"/>
                        <a:gd name="T37" fmla="*/ 357 h 1234"/>
                        <a:gd name="T38" fmla="*/ 5 w 241"/>
                        <a:gd name="T39" fmla="*/ 368 h 1234"/>
                        <a:gd name="T40" fmla="*/ 0 w 241"/>
                        <a:gd name="T41" fmla="*/ 393 h 1234"/>
                        <a:gd name="T42" fmla="*/ 12 w 241"/>
                        <a:gd name="T43" fmla="*/ 476 h 1234"/>
                        <a:gd name="T44" fmla="*/ 32 w 241"/>
                        <a:gd name="T45" fmla="*/ 575 h 1234"/>
                        <a:gd name="T46" fmla="*/ 48 w 241"/>
                        <a:gd name="T47" fmla="*/ 640 h 1234"/>
                        <a:gd name="T48" fmla="*/ 79 w 241"/>
                        <a:gd name="T49" fmla="*/ 780 h 1234"/>
                        <a:gd name="T50" fmla="*/ 85 w 241"/>
                        <a:gd name="T51" fmla="*/ 830 h 1234"/>
                        <a:gd name="T52" fmla="*/ 90 w 241"/>
                        <a:gd name="T53" fmla="*/ 872 h 1234"/>
                        <a:gd name="T54" fmla="*/ 93 w 241"/>
                        <a:gd name="T55" fmla="*/ 928 h 1234"/>
                        <a:gd name="T56" fmla="*/ 74 w 241"/>
                        <a:gd name="T57" fmla="*/ 1234 h 1234"/>
                        <a:gd name="T58" fmla="*/ 81 w 241"/>
                        <a:gd name="T59" fmla="*/ 1183 h 1234"/>
                        <a:gd name="T60" fmla="*/ 94 w 241"/>
                        <a:gd name="T61" fmla="*/ 1097 h 1234"/>
                        <a:gd name="T62" fmla="*/ 104 w 241"/>
                        <a:gd name="T63" fmla="*/ 969 h 1234"/>
                        <a:gd name="T64" fmla="*/ 117 w 241"/>
                        <a:gd name="T65" fmla="*/ 752 h 1234"/>
                        <a:gd name="T66" fmla="*/ 124 w 241"/>
                        <a:gd name="T67" fmla="*/ 486 h 1234"/>
                        <a:gd name="T68" fmla="*/ 178 w 241"/>
                        <a:gd name="T69" fmla="*/ 174 h 1234"/>
                        <a:gd name="T70" fmla="*/ 189 w 241"/>
                        <a:gd name="T71" fmla="*/ 142 h 1234"/>
                        <a:gd name="T72" fmla="*/ 196 w 241"/>
                        <a:gd name="T73" fmla="*/ 124 h 1234"/>
                        <a:gd name="T74" fmla="*/ 206 w 241"/>
                        <a:gd name="T75" fmla="*/ 93 h 1234"/>
                        <a:gd name="T76" fmla="*/ 215 w 241"/>
                        <a:gd name="T77" fmla="*/ 66 h 1234"/>
                        <a:gd name="T78" fmla="*/ 228 w 241"/>
                        <a:gd name="T79" fmla="*/ 37 h 1234"/>
                        <a:gd name="T80" fmla="*/ 239 w 241"/>
                        <a:gd name="T81" fmla="*/ 14 h 1234"/>
                        <a:gd name="T82" fmla="*/ 241 w 241"/>
                        <a:gd name="T83" fmla="*/ 0 h 12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</a:cxnLst>
                      <a:rect l="0" t="0" r="r" b="b"/>
                      <a:pathLst>
                        <a:path w="241" h="1234">
                          <a:moveTo>
                            <a:pt x="241" y="0"/>
                          </a:moveTo>
                          <a:lnTo>
                            <a:pt x="220" y="17"/>
                          </a:lnTo>
                          <a:lnTo>
                            <a:pt x="206" y="30"/>
                          </a:lnTo>
                          <a:lnTo>
                            <a:pt x="191" y="43"/>
                          </a:lnTo>
                          <a:lnTo>
                            <a:pt x="176" y="56"/>
                          </a:lnTo>
                          <a:lnTo>
                            <a:pt x="163" y="69"/>
                          </a:lnTo>
                          <a:lnTo>
                            <a:pt x="147" y="79"/>
                          </a:lnTo>
                          <a:lnTo>
                            <a:pt x="133" y="96"/>
                          </a:lnTo>
                          <a:lnTo>
                            <a:pt x="118" y="116"/>
                          </a:lnTo>
                          <a:lnTo>
                            <a:pt x="108" y="131"/>
                          </a:lnTo>
                          <a:lnTo>
                            <a:pt x="94" y="150"/>
                          </a:lnTo>
                          <a:lnTo>
                            <a:pt x="86" y="166"/>
                          </a:lnTo>
                          <a:lnTo>
                            <a:pt x="69" y="199"/>
                          </a:lnTo>
                          <a:lnTo>
                            <a:pt x="56" y="232"/>
                          </a:lnTo>
                          <a:lnTo>
                            <a:pt x="66" y="251"/>
                          </a:lnTo>
                          <a:lnTo>
                            <a:pt x="86" y="265"/>
                          </a:lnTo>
                          <a:lnTo>
                            <a:pt x="125" y="318"/>
                          </a:lnTo>
                          <a:lnTo>
                            <a:pt x="32" y="352"/>
                          </a:lnTo>
                          <a:lnTo>
                            <a:pt x="14" y="357"/>
                          </a:lnTo>
                          <a:lnTo>
                            <a:pt x="5" y="368"/>
                          </a:lnTo>
                          <a:lnTo>
                            <a:pt x="0" y="393"/>
                          </a:lnTo>
                          <a:lnTo>
                            <a:pt x="12" y="476"/>
                          </a:lnTo>
                          <a:lnTo>
                            <a:pt x="32" y="575"/>
                          </a:lnTo>
                          <a:lnTo>
                            <a:pt x="48" y="640"/>
                          </a:lnTo>
                          <a:lnTo>
                            <a:pt x="79" y="780"/>
                          </a:lnTo>
                          <a:lnTo>
                            <a:pt x="85" y="830"/>
                          </a:lnTo>
                          <a:lnTo>
                            <a:pt x="90" y="872"/>
                          </a:lnTo>
                          <a:lnTo>
                            <a:pt x="93" y="928"/>
                          </a:lnTo>
                          <a:lnTo>
                            <a:pt x="74" y="1234"/>
                          </a:lnTo>
                          <a:lnTo>
                            <a:pt x="81" y="1183"/>
                          </a:lnTo>
                          <a:lnTo>
                            <a:pt x="94" y="1097"/>
                          </a:lnTo>
                          <a:lnTo>
                            <a:pt x="104" y="969"/>
                          </a:lnTo>
                          <a:lnTo>
                            <a:pt x="117" y="752"/>
                          </a:lnTo>
                          <a:lnTo>
                            <a:pt x="124" y="486"/>
                          </a:lnTo>
                          <a:lnTo>
                            <a:pt x="178" y="174"/>
                          </a:lnTo>
                          <a:lnTo>
                            <a:pt x="189" y="142"/>
                          </a:lnTo>
                          <a:lnTo>
                            <a:pt x="196" y="124"/>
                          </a:lnTo>
                          <a:lnTo>
                            <a:pt x="206" y="93"/>
                          </a:lnTo>
                          <a:lnTo>
                            <a:pt x="215" y="66"/>
                          </a:lnTo>
                          <a:lnTo>
                            <a:pt x="228" y="37"/>
                          </a:lnTo>
                          <a:lnTo>
                            <a:pt x="239" y="14"/>
                          </a:lnTo>
                          <a:lnTo>
                            <a:pt x="241" y="0"/>
                          </a:lnTo>
                          <a:close/>
                        </a:path>
                      </a:pathLst>
                    </a:custGeom>
                    <a:solidFill>
                      <a:srgbClr val="009FB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42" name="Freeform 328"/>
                    <p:cNvSpPr/>
                    <p:nvPr/>
                  </p:nvSpPr>
                  <p:spPr bwMode="auto">
                    <a:xfrm>
                      <a:off x="5194" y="2397"/>
                      <a:ext cx="40" cy="246"/>
                    </a:xfrm>
                    <a:custGeom>
                      <a:avLst/>
                      <a:gdLst>
                        <a:gd name="T0" fmla="*/ 241 w 241"/>
                        <a:gd name="T1" fmla="*/ 0 h 1233"/>
                        <a:gd name="T2" fmla="*/ 220 w 241"/>
                        <a:gd name="T3" fmla="*/ 17 h 1233"/>
                        <a:gd name="T4" fmla="*/ 205 w 241"/>
                        <a:gd name="T5" fmla="*/ 29 h 1233"/>
                        <a:gd name="T6" fmla="*/ 191 w 241"/>
                        <a:gd name="T7" fmla="*/ 43 h 1233"/>
                        <a:gd name="T8" fmla="*/ 175 w 241"/>
                        <a:gd name="T9" fmla="*/ 55 h 1233"/>
                        <a:gd name="T10" fmla="*/ 162 w 241"/>
                        <a:gd name="T11" fmla="*/ 69 h 1233"/>
                        <a:gd name="T12" fmla="*/ 147 w 241"/>
                        <a:gd name="T13" fmla="*/ 79 h 1233"/>
                        <a:gd name="T14" fmla="*/ 132 w 241"/>
                        <a:gd name="T15" fmla="*/ 96 h 1233"/>
                        <a:gd name="T16" fmla="*/ 118 w 241"/>
                        <a:gd name="T17" fmla="*/ 116 h 1233"/>
                        <a:gd name="T18" fmla="*/ 107 w 241"/>
                        <a:gd name="T19" fmla="*/ 131 h 1233"/>
                        <a:gd name="T20" fmla="*/ 94 w 241"/>
                        <a:gd name="T21" fmla="*/ 149 h 1233"/>
                        <a:gd name="T22" fmla="*/ 86 w 241"/>
                        <a:gd name="T23" fmla="*/ 167 h 1233"/>
                        <a:gd name="T24" fmla="*/ 69 w 241"/>
                        <a:gd name="T25" fmla="*/ 199 h 1233"/>
                        <a:gd name="T26" fmla="*/ 56 w 241"/>
                        <a:gd name="T27" fmla="*/ 232 h 1233"/>
                        <a:gd name="T28" fmla="*/ 62 w 241"/>
                        <a:gd name="T29" fmla="*/ 251 h 1233"/>
                        <a:gd name="T30" fmla="*/ 86 w 241"/>
                        <a:gd name="T31" fmla="*/ 264 h 1233"/>
                        <a:gd name="T32" fmla="*/ 125 w 241"/>
                        <a:gd name="T33" fmla="*/ 317 h 1233"/>
                        <a:gd name="T34" fmla="*/ 32 w 241"/>
                        <a:gd name="T35" fmla="*/ 352 h 1233"/>
                        <a:gd name="T36" fmla="*/ 14 w 241"/>
                        <a:gd name="T37" fmla="*/ 357 h 1233"/>
                        <a:gd name="T38" fmla="*/ 5 w 241"/>
                        <a:gd name="T39" fmla="*/ 368 h 1233"/>
                        <a:gd name="T40" fmla="*/ 0 w 241"/>
                        <a:gd name="T41" fmla="*/ 384 h 1233"/>
                        <a:gd name="T42" fmla="*/ 12 w 241"/>
                        <a:gd name="T43" fmla="*/ 476 h 1233"/>
                        <a:gd name="T44" fmla="*/ 32 w 241"/>
                        <a:gd name="T45" fmla="*/ 575 h 1233"/>
                        <a:gd name="T46" fmla="*/ 48 w 241"/>
                        <a:gd name="T47" fmla="*/ 640 h 1233"/>
                        <a:gd name="T48" fmla="*/ 79 w 241"/>
                        <a:gd name="T49" fmla="*/ 780 h 1233"/>
                        <a:gd name="T50" fmla="*/ 85 w 241"/>
                        <a:gd name="T51" fmla="*/ 829 h 1233"/>
                        <a:gd name="T52" fmla="*/ 89 w 241"/>
                        <a:gd name="T53" fmla="*/ 871 h 1233"/>
                        <a:gd name="T54" fmla="*/ 93 w 241"/>
                        <a:gd name="T55" fmla="*/ 928 h 1233"/>
                        <a:gd name="T56" fmla="*/ 74 w 241"/>
                        <a:gd name="T57" fmla="*/ 1233 h 1233"/>
                        <a:gd name="T58" fmla="*/ 81 w 241"/>
                        <a:gd name="T59" fmla="*/ 1183 h 1233"/>
                        <a:gd name="T60" fmla="*/ 94 w 241"/>
                        <a:gd name="T61" fmla="*/ 1096 h 1233"/>
                        <a:gd name="T62" fmla="*/ 104 w 241"/>
                        <a:gd name="T63" fmla="*/ 969 h 1233"/>
                        <a:gd name="T64" fmla="*/ 117 w 241"/>
                        <a:gd name="T65" fmla="*/ 751 h 1233"/>
                        <a:gd name="T66" fmla="*/ 124 w 241"/>
                        <a:gd name="T67" fmla="*/ 486 h 1233"/>
                        <a:gd name="T68" fmla="*/ 178 w 241"/>
                        <a:gd name="T69" fmla="*/ 174 h 1233"/>
                        <a:gd name="T70" fmla="*/ 189 w 241"/>
                        <a:gd name="T71" fmla="*/ 142 h 1233"/>
                        <a:gd name="T72" fmla="*/ 196 w 241"/>
                        <a:gd name="T73" fmla="*/ 123 h 1233"/>
                        <a:gd name="T74" fmla="*/ 205 w 241"/>
                        <a:gd name="T75" fmla="*/ 92 h 1233"/>
                        <a:gd name="T76" fmla="*/ 215 w 241"/>
                        <a:gd name="T77" fmla="*/ 65 h 1233"/>
                        <a:gd name="T78" fmla="*/ 228 w 241"/>
                        <a:gd name="T79" fmla="*/ 37 h 1233"/>
                        <a:gd name="T80" fmla="*/ 239 w 241"/>
                        <a:gd name="T81" fmla="*/ 13 h 1233"/>
                        <a:gd name="T82" fmla="*/ 241 w 241"/>
                        <a:gd name="T83" fmla="*/ 0 h 123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</a:cxnLst>
                      <a:rect l="0" t="0" r="r" b="b"/>
                      <a:pathLst>
                        <a:path w="241" h="1233">
                          <a:moveTo>
                            <a:pt x="241" y="0"/>
                          </a:moveTo>
                          <a:lnTo>
                            <a:pt x="220" y="17"/>
                          </a:lnTo>
                          <a:lnTo>
                            <a:pt x="205" y="29"/>
                          </a:lnTo>
                          <a:lnTo>
                            <a:pt x="191" y="43"/>
                          </a:lnTo>
                          <a:lnTo>
                            <a:pt x="175" y="55"/>
                          </a:lnTo>
                          <a:lnTo>
                            <a:pt x="162" y="69"/>
                          </a:lnTo>
                          <a:lnTo>
                            <a:pt x="147" y="79"/>
                          </a:lnTo>
                          <a:lnTo>
                            <a:pt x="132" y="96"/>
                          </a:lnTo>
                          <a:lnTo>
                            <a:pt x="118" y="116"/>
                          </a:lnTo>
                          <a:lnTo>
                            <a:pt x="107" y="131"/>
                          </a:lnTo>
                          <a:lnTo>
                            <a:pt x="94" y="149"/>
                          </a:lnTo>
                          <a:lnTo>
                            <a:pt x="86" y="167"/>
                          </a:lnTo>
                          <a:lnTo>
                            <a:pt x="69" y="199"/>
                          </a:lnTo>
                          <a:lnTo>
                            <a:pt x="56" y="232"/>
                          </a:lnTo>
                          <a:lnTo>
                            <a:pt x="62" y="251"/>
                          </a:lnTo>
                          <a:lnTo>
                            <a:pt x="86" y="264"/>
                          </a:lnTo>
                          <a:lnTo>
                            <a:pt x="125" y="317"/>
                          </a:lnTo>
                          <a:lnTo>
                            <a:pt x="32" y="352"/>
                          </a:lnTo>
                          <a:lnTo>
                            <a:pt x="14" y="357"/>
                          </a:lnTo>
                          <a:lnTo>
                            <a:pt x="5" y="368"/>
                          </a:lnTo>
                          <a:lnTo>
                            <a:pt x="0" y="384"/>
                          </a:lnTo>
                          <a:lnTo>
                            <a:pt x="12" y="476"/>
                          </a:lnTo>
                          <a:lnTo>
                            <a:pt x="32" y="575"/>
                          </a:lnTo>
                          <a:lnTo>
                            <a:pt x="48" y="640"/>
                          </a:lnTo>
                          <a:lnTo>
                            <a:pt x="79" y="780"/>
                          </a:lnTo>
                          <a:lnTo>
                            <a:pt x="85" y="829"/>
                          </a:lnTo>
                          <a:lnTo>
                            <a:pt x="89" y="871"/>
                          </a:lnTo>
                          <a:lnTo>
                            <a:pt x="93" y="928"/>
                          </a:lnTo>
                          <a:lnTo>
                            <a:pt x="74" y="1233"/>
                          </a:lnTo>
                          <a:lnTo>
                            <a:pt x="81" y="1183"/>
                          </a:lnTo>
                          <a:lnTo>
                            <a:pt x="94" y="1096"/>
                          </a:lnTo>
                          <a:lnTo>
                            <a:pt x="104" y="969"/>
                          </a:lnTo>
                          <a:lnTo>
                            <a:pt x="117" y="751"/>
                          </a:lnTo>
                          <a:lnTo>
                            <a:pt x="124" y="486"/>
                          </a:lnTo>
                          <a:lnTo>
                            <a:pt x="178" y="174"/>
                          </a:lnTo>
                          <a:lnTo>
                            <a:pt x="189" y="142"/>
                          </a:lnTo>
                          <a:lnTo>
                            <a:pt x="196" y="123"/>
                          </a:lnTo>
                          <a:lnTo>
                            <a:pt x="205" y="92"/>
                          </a:lnTo>
                          <a:lnTo>
                            <a:pt x="215" y="65"/>
                          </a:lnTo>
                          <a:lnTo>
                            <a:pt x="228" y="37"/>
                          </a:lnTo>
                          <a:lnTo>
                            <a:pt x="239" y="13"/>
                          </a:lnTo>
                          <a:lnTo>
                            <a:pt x="241" y="0"/>
                          </a:lnTo>
                          <a:close/>
                        </a:path>
                      </a:pathLst>
                    </a:custGeom>
                    <a:solidFill>
                      <a:srgbClr val="00BFD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335" name="Group 329"/>
                  <p:cNvGrpSpPr/>
                  <p:nvPr/>
                </p:nvGrpSpPr>
                <p:grpSpPr bwMode="auto">
                  <a:xfrm>
                    <a:off x="5142" y="2441"/>
                    <a:ext cx="182" cy="78"/>
                    <a:chOff x="5142" y="2441"/>
                    <a:chExt cx="182" cy="78"/>
                  </a:xfrm>
                </p:grpSpPr>
                <p:sp>
                  <p:nvSpPr>
                    <p:cNvPr id="336" name="Freeform 330"/>
                    <p:cNvSpPr/>
                    <p:nvPr/>
                  </p:nvSpPr>
                  <p:spPr bwMode="auto">
                    <a:xfrm>
                      <a:off x="5151" y="2441"/>
                      <a:ext cx="44" cy="52"/>
                    </a:xfrm>
                    <a:custGeom>
                      <a:avLst/>
                      <a:gdLst>
                        <a:gd name="T0" fmla="*/ 235 w 263"/>
                        <a:gd name="T1" fmla="*/ 205 h 260"/>
                        <a:gd name="T2" fmla="*/ 0 w 263"/>
                        <a:gd name="T3" fmla="*/ 260 h 260"/>
                        <a:gd name="T4" fmla="*/ 232 w 263"/>
                        <a:gd name="T5" fmla="*/ 189 h 260"/>
                        <a:gd name="T6" fmla="*/ 79 w 263"/>
                        <a:gd name="T7" fmla="*/ 188 h 260"/>
                        <a:gd name="T8" fmla="*/ 235 w 263"/>
                        <a:gd name="T9" fmla="*/ 167 h 260"/>
                        <a:gd name="T10" fmla="*/ 235 w 263"/>
                        <a:gd name="T11" fmla="*/ 136 h 260"/>
                        <a:gd name="T12" fmla="*/ 227 w 263"/>
                        <a:gd name="T13" fmla="*/ 105 h 260"/>
                        <a:gd name="T14" fmla="*/ 209 w 263"/>
                        <a:gd name="T15" fmla="*/ 68 h 260"/>
                        <a:gd name="T16" fmla="*/ 181 w 263"/>
                        <a:gd name="T17" fmla="*/ 27 h 260"/>
                        <a:gd name="T18" fmla="*/ 165 w 263"/>
                        <a:gd name="T19" fmla="*/ 0 h 260"/>
                        <a:gd name="T20" fmla="*/ 187 w 263"/>
                        <a:gd name="T21" fmla="*/ 11 h 260"/>
                        <a:gd name="T22" fmla="*/ 209 w 263"/>
                        <a:gd name="T23" fmla="*/ 42 h 260"/>
                        <a:gd name="T24" fmla="*/ 227 w 263"/>
                        <a:gd name="T25" fmla="*/ 77 h 260"/>
                        <a:gd name="T26" fmla="*/ 238 w 263"/>
                        <a:gd name="T27" fmla="*/ 102 h 260"/>
                        <a:gd name="T28" fmla="*/ 239 w 263"/>
                        <a:gd name="T29" fmla="*/ 139 h 260"/>
                        <a:gd name="T30" fmla="*/ 263 w 263"/>
                        <a:gd name="T31" fmla="*/ 84 h 260"/>
                        <a:gd name="T32" fmla="*/ 239 w 263"/>
                        <a:gd name="T33" fmla="*/ 167 h 260"/>
                        <a:gd name="T34" fmla="*/ 235 w 263"/>
                        <a:gd name="T35" fmla="*/ 205 h 26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</a:cxnLst>
                      <a:rect l="0" t="0" r="r" b="b"/>
                      <a:pathLst>
                        <a:path w="263" h="260">
                          <a:moveTo>
                            <a:pt x="235" y="205"/>
                          </a:moveTo>
                          <a:lnTo>
                            <a:pt x="0" y="260"/>
                          </a:lnTo>
                          <a:lnTo>
                            <a:pt x="232" y="189"/>
                          </a:lnTo>
                          <a:lnTo>
                            <a:pt x="79" y="188"/>
                          </a:lnTo>
                          <a:lnTo>
                            <a:pt x="235" y="167"/>
                          </a:lnTo>
                          <a:lnTo>
                            <a:pt x="235" y="136"/>
                          </a:lnTo>
                          <a:lnTo>
                            <a:pt x="227" y="105"/>
                          </a:lnTo>
                          <a:lnTo>
                            <a:pt x="209" y="68"/>
                          </a:lnTo>
                          <a:lnTo>
                            <a:pt x="181" y="27"/>
                          </a:lnTo>
                          <a:lnTo>
                            <a:pt x="165" y="0"/>
                          </a:lnTo>
                          <a:lnTo>
                            <a:pt x="187" y="11"/>
                          </a:lnTo>
                          <a:lnTo>
                            <a:pt x="209" y="42"/>
                          </a:lnTo>
                          <a:lnTo>
                            <a:pt x="227" y="77"/>
                          </a:lnTo>
                          <a:lnTo>
                            <a:pt x="238" y="102"/>
                          </a:lnTo>
                          <a:lnTo>
                            <a:pt x="239" y="139"/>
                          </a:lnTo>
                          <a:lnTo>
                            <a:pt x="263" y="84"/>
                          </a:lnTo>
                          <a:lnTo>
                            <a:pt x="239" y="167"/>
                          </a:lnTo>
                          <a:lnTo>
                            <a:pt x="235" y="205"/>
                          </a:lnTo>
                          <a:close/>
                        </a:path>
                      </a:pathLst>
                    </a:custGeom>
                    <a:solidFill>
                      <a:srgbClr val="007F9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37" name="Freeform 331"/>
                    <p:cNvSpPr/>
                    <p:nvPr/>
                  </p:nvSpPr>
                  <p:spPr bwMode="auto">
                    <a:xfrm>
                      <a:off x="5142" y="2484"/>
                      <a:ext cx="6" cy="23"/>
                    </a:xfrm>
                    <a:custGeom>
                      <a:avLst/>
                      <a:gdLst>
                        <a:gd name="T0" fmla="*/ 16 w 33"/>
                        <a:gd name="T1" fmla="*/ 0 h 114"/>
                        <a:gd name="T2" fmla="*/ 19 w 33"/>
                        <a:gd name="T3" fmla="*/ 25 h 114"/>
                        <a:gd name="T4" fmla="*/ 33 w 33"/>
                        <a:gd name="T5" fmla="*/ 50 h 114"/>
                        <a:gd name="T6" fmla="*/ 33 w 33"/>
                        <a:gd name="T7" fmla="*/ 74 h 114"/>
                        <a:gd name="T8" fmla="*/ 28 w 33"/>
                        <a:gd name="T9" fmla="*/ 95 h 114"/>
                        <a:gd name="T10" fmla="*/ 10 w 33"/>
                        <a:gd name="T11" fmla="*/ 114 h 114"/>
                        <a:gd name="T12" fmla="*/ 7 w 33"/>
                        <a:gd name="T13" fmla="*/ 45 h 114"/>
                        <a:gd name="T14" fmla="*/ 0 w 33"/>
                        <a:gd name="T15" fmla="*/ 37 h 114"/>
                        <a:gd name="T16" fmla="*/ 2 w 33"/>
                        <a:gd name="T17" fmla="*/ 21 h 114"/>
                        <a:gd name="T18" fmla="*/ 16 w 33"/>
                        <a:gd name="T19" fmla="*/ 0 h 11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</a:cxnLst>
                      <a:rect l="0" t="0" r="r" b="b"/>
                      <a:pathLst>
                        <a:path w="33" h="114">
                          <a:moveTo>
                            <a:pt x="16" y="0"/>
                          </a:moveTo>
                          <a:lnTo>
                            <a:pt x="19" y="25"/>
                          </a:lnTo>
                          <a:lnTo>
                            <a:pt x="33" y="50"/>
                          </a:lnTo>
                          <a:lnTo>
                            <a:pt x="33" y="74"/>
                          </a:lnTo>
                          <a:lnTo>
                            <a:pt x="28" y="95"/>
                          </a:lnTo>
                          <a:lnTo>
                            <a:pt x="10" y="114"/>
                          </a:lnTo>
                          <a:lnTo>
                            <a:pt x="7" y="45"/>
                          </a:lnTo>
                          <a:lnTo>
                            <a:pt x="0" y="37"/>
                          </a:lnTo>
                          <a:lnTo>
                            <a:pt x="2" y="21"/>
                          </a:lnTo>
                          <a:lnTo>
                            <a:pt x="16" y="0"/>
                          </a:lnTo>
                          <a:close/>
                        </a:path>
                      </a:pathLst>
                    </a:custGeom>
                    <a:solidFill>
                      <a:srgbClr val="007F9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38" name="Freeform 332"/>
                    <p:cNvSpPr/>
                    <p:nvPr/>
                  </p:nvSpPr>
                  <p:spPr bwMode="auto">
                    <a:xfrm>
                      <a:off x="5300" y="2493"/>
                      <a:ext cx="23" cy="26"/>
                    </a:xfrm>
                    <a:custGeom>
                      <a:avLst/>
                      <a:gdLst>
                        <a:gd name="T0" fmla="*/ 0 w 139"/>
                        <a:gd name="T1" fmla="*/ 129 h 129"/>
                        <a:gd name="T2" fmla="*/ 51 w 139"/>
                        <a:gd name="T3" fmla="*/ 90 h 129"/>
                        <a:gd name="T4" fmla="*/ 98 w 139"/>
                        <a:gd name="T5" fmla="*/ 57 h 129"/>
                        <a:gd name="T6" fmla="*/ 124 w 139"/>
                        <a:gd name="T7" fmla="*/ 19 h 129"/>
                        <a:gd name="T8" fmla="*/ 139 w 139"/>
                        <a:gd name="T9" fmla="*/ 0 h 129"/>
                        <a:gd name="T10" fmla="*/ 98 w 139"/>
                        <a:gd name="T11" fmla="*/ 26 h 129"/>
                        <a:gd name="T12" fmla="*/ 73 w 139"/>
                        <a:gd name="T13" fmla="*/ 46 h 129"/>
                        <a:gd name="T14" fmla="*/ 51 w 139"/>
                        <a:gd name="T15" fmla="*/ 61 h 129"/>
                        <a:gd name="T16" fmla="*/ 32 w 139"/>
                        <a:gd name="T17" fmla="*/ 83 h 129"/>
                        <a:gd name="T18" fmla="*/ 0 w 139"/>
                        <a:gd name="T19" fmla="*/ 129 h 1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</a:cxnLst>
                      <a:rect l="0" t="0" r="r" b="b"/>
                      <a:pathLst>
                        <a:path w="139" h="129">
                          <a:moveTo>
                            <a:pt x="0" y="129"/>
                          </a:moveTo>
                          <a:lnTo>
                            <a:pt x="51" y="90"/>
                          </a:lnTo>
                          <a:lnTo>
                            <a:pt x="98" y="57"/>
                          </a:lnTo>
                          <a:lnTo>
                            <a:pt x="124" y="19"/>
                          </a:lnTo>
                          <a:lnTo>
                            <a:pt x="139" y="0"/>
                          </a:lnTo>
                          <a:lnTo>
                            <a:pt x="98" y="26"/>
                          </a:lnTo>
                          <a:lnTo>
                            <a:pt x="73" y="46"/>
                          </a:lnTo>
                          <a:lnTo>
                            <a:pt x="51" y="61"/>
                          </a:lnTo>
                          <a:lnTo>
                            <a:pt x="32" y="83"/>
                          </a:lnTo>
                          <a:lnTo>
                            <a:pt x="0" y="129"/>
                          </a:lnTo>
                          <a:close/>
                        </a:path>
                      </a:pathLst>
                    </a:custGeom>
                    <a:solidFill>
                      <a:srgbClr val="007F9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39" name="Freeform 333"/>
                    <p:cNvSpPr/>
                    <p:nvPr/>
                  </p:nvSpPr>
                  <p:spPr bwMode="auto">
                    <a:xfrm>
                      <a:off x="5312" y="2503"/>
                      <a:ext cx="12" cy="15"/>
                    </a:xfrm>
                    <a:custGeom>
                      <a:avLst/>
                      <a:gdLst>
                        <a:gd name="T0" fmla="*/ 0 w 74"/>
                        <a:gd name="T1" fmla="*/ 77 h 77"/>
                        <a:gd name="T2" fmla="*/ 74 w 74"/>
                        <a:gd name="T3" fmla="*/ 0 h 77"/>
                        <a:gd name="T4" fmla="*/ 52 w 74"/>
                        <a:gd name="T5" fmla="*/ 50 h 77"/>
                        <a:gd name="T6" fmla="*/ 0 w 74"/>
                        <a:gd name="T7" fmla="*/ 77 h 7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</a:cxnLst>
                      <a:rect l="0" t="0" r="r" b="b"/>
                      <a:pathLst>
                        <a:path w="74" h="77">
                          <a:moveTo>
                            <a:pt x="0" y="77"/>
                          </a:moveTo>
                          <a:lnTo>
                            <a:pt x="74" y="0"/>
                          </a:lnTo>
                          <a:lnTo>
                            <a:pt x="52" y="50"/>
                          </a:lnTo>
                          <a:lnTo>
                            <a:pt x="0" y="77"/>
                          </a:lnTo>
                          <a:close/>
                        </a:path>
                      </a:pathLst>
                    </a:custGeom>
                    <a:solidFill>
                      <a:srgbClr val="007F9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40" name="Freeform 334"/>
                    <p:cNvSpPr/>
                    <p:nvPr/>
                  </p:nvSpPr>
                  <p:spPr bwMode="auto">
                    <a:xfrm>
                      <a:off x="5302" y="2464"/>
                      <a:ext cx="11" cy="45"/>
                    </a:xfrm>
                    <a:custGeom>
                      <a:avLst/>
                      <a:gdLst>
                        <a:gd name="T0" fmla="*/ 0 w 67"/>
                        <a:gd name="T1" fmla="*/ 226 h 226"/>
                        <a:gd name="T2" fmla="*/ 3 w 67"/>
                        <a:gd name="T3" fmla="*/ 132 h 226"/>
                        <a:gd name="T4" fmla="*/ 23 w 67"/>
                        <a:gd name="T5" fmla="*/ 37 h 226"/>
                        <a:gd name="T6" fmla="*/ 37 w 67"/>
                        <a:gd name="T7" fmla="*/ 0 h 226"/>
                        <a:gd name="T8" fmla="*/ 14 w 67"/>
                        <a:gd name="T9" fmla="*/ 121 h 226"/>
                        <a:gd name="T10" fmla="*/ 11 w 67"/>
                        <a:gd name="T11" fmla="*/ 186 h 226"/>
                        <a:gd name="T12" fmla="*/ 67 w 67"/>
                        <a:gd name="T13" fmla="*/ 129 h 226"/>
                        <a:gd name="T14" fmla="*/ 0 w 67"/>
                        <a:gd name="T15" fmla="*/ 226 h 22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</a:cxnLst>
                      <a:rect l="0" t="0" r="r" b="b"/>
                      <a:pathLst>
                        <a:path w="67" h="226">
                          <a:moveTo>
                            <a:pt x="0" y="226"/>
                          </a:moveTo>
                          <a:lnTo>
                            <a:pt x="3" y="132"/>
                          </a:lnTo>
                          <a:lnTo>
                            <a:pt x="23" y="37"/>
                          </a:lnTo>
                          <a:lnTo>
                            <a:pt x="37" y="0"/>
                          </a:lnTo>
                          <a:lnTo>
                            <a:pt x="14" y="121"/>
                          </a:lnTo>
                          <a:lnTo>
                            <a:pt x="11" y="186"/>
                          </a:lnTo>
                          <a:lnTo>
                            <a:pt x="67" y="129"/>
                          </a:lnTo>
                          <a:lnTo>
                            <a:pt x="0" y="226"/>
                          </a:lnTo>
                          <a:close/>
                        </a:path>
                      </a:pathLst>
                    </a:custGeom>
                    <a:solidFill>
                      <a:srgbClr val="007F9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</p:grpSp>
          <p:grpSp>
            <p:nvGrpSpPr>
              <p:cNvPr id="257" name="Group 335"/>
              <p:cNvGrpSpPr/>
              <p:nvPr/>
            </p:nvGrpSpPr>
            <p:grpSpPr bwMode="auto">
              <a:xfrm>
                <a:off x="4779" y="2242"/>
                <a:ext cx="222" cy="504"/>
                <a:chOff x="4779" y="2242"/>
                <a:chExt cx="222" cy="504"/>
              </a:xfrm>
            </p:grpSpPr>
            <p:grpSp>
              <p:nvGrpSpPr>
                <p:cNvPr id="277" name="Group 336"/>
                <p:cNvGrpSpPr/>
                <p:nvPr/>
              </p:nvGrpSpPr>
              <p:grpSpPr bwMode="auto">
                <a:xfrm>
                  <a:off x="4779" y="2327"/>
                  <a:ext cx="222" cy="419"/>
                  <a:chOff x="4779" y="2327"/>
                  <a:chExt cx="222" cy="419"/>
                </a:xfrm>
              </p:grpSpPr>
              <p:sp>
                <p:nvSpPr>
                  <p:cNvPr id="310" name="Freeform 337"/>
                  <p:cNvSpPr/>
                  <p:nvPr/>
                </p:nvSpPr>
                <p:spPr bwMode="auto">
                  <a:xfrm>
                    <a:off x="4971" y="2544"/>
                    <a:ext cx="30" cy="44"/>
                  </a:xfrm>
                  <a:custGeom>
                    <a:avLst/>
                    <a:gdLst>
                      <a:gd name="T0" fmla="*/ 67 w 179"/>
                      <a:gd name="T1" fmla="*/ 0 h 220"/>
                      <a:gd name="T2" fmla="*/ 179 w 179"/>
                      <a:gd name="T3" fmla="*/ 7 h 220"/>
                      <a:gd name="T4" fmla="*/ 166 w 179"/>
                      <a:gd name="T5" fmla="*/ 173 h 220"/>
                      <a:gd name="T6" fmla="*/ 159 w 179"/>
                      <a:gd name="T7" fmla="*/ 220 h 220"/>
                      <a:gd name="T8" fmla="*/ 0 w 179"/>
                      <a:gd name="T9" fmla="*/ 206 h 220"/>
                      <a:gd name="T10" fmla="*/ 67 w 179"/>
                      <a:gd name="T11" fmla="*/ 0 h 2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179" h="220">
                        <a:moveTo>
                          <a:pt x="67" y="0"/>
                        </a:moveTo>
                        <a:lnTo>
                          <a:pt x="179" y="7"/>
                        </a:lnTo>
                        <a:lnTo>
                          <a:pt x="166" y="173"/>
                        </a:lnTo>
                        <a:lnTo>
                          <a:pt x="159" y="220"/>
                        </a:lnTo>
                        <a:lnTo>
                          <a:pt x="0" y="206"/>
                        </a:lnTo>
                        <a:lnTo>
                          <a:pt x="67" y="0"/>
                        </a:lnTo>
                        <a:close/>
                      </a:path>
                    </a:pathLst>
                  </a:custGeom>
                  <a:solidFill>
                    <a:srgbClr val="F9F9F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11" name="Freeform 338"/>
                  <p:cNvSpPr/>
                  <p:nvPr/>
                </p:nvSpPr>
                <p:spPr bwMode="auto">
                  <a:xfrm>
                    <a:off x="4844" y="2336"/>
                    <a:ext cx="51" cy="161"/>
                  </a:xfrm>
                  <a:custGeom>
                    <a:avLst/>
                    <a:gdLst>
                      <a:gd name="T0" fmla="*/ 0 w 311"/>
                      <a:gd name="T1" fmla="*/ 0 h 804"/>
                      <a:gd name="T2" fmla="*/ 109 w 311"/>
                      <a:gd name="T3" fmla="*/ 409 h 804"/>
                      <a:gd name="T4" fmla="*/ 188 w 311"/>
                      <a:gd name="T5" fmla="*/ 804 h 804"/>
                      <a:gd name="T6" fmla="*/ 311 w 311"/>
                      <a:gd name="T7" fmla="*/ 796 h 804"/>
                      <a:gd name="T8" fmla="*/ 296 w 311"/>
                      <a:gd name="T9" fmla="*/ 446 h 804"/>
                      <a:gd name="T10" fmla="*/ 246 w 311"/>
                      <a:gd name="T11" fmla="*/ 171 h 804"/>
                      <a:gd name="T12" fmla="*/ 0 w 311"/>
                      <a:gd name="T13" fmla="*/ 0 h 80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311" h="804">
                        <a:moveTo>
                          <a:pt x="0" y="0"/>
                        </a:moveTo>
                        <a:lnTo>
                          <a:pt x="109" y="409"/>
                        </a:lnTo>
                        <a:lnTo>
                          <a:pt x="188" y="804"/>
                        </a:lnTo>
                        <a:lnTo>
                          <a:pt x="311" y="796"/>
                        </a:lnTo>
                        <a:lnTo>
                          <a:pt x="296" y="446"/>
                        </a:lnTo>
                        <a:lnTo>
                          <a:pt x="246" y="17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grpSp>
                <p:nvGrpSpPr>
                  <p:cNvPr id="312" name="Group 339"/>
                  <p:cNvGrpSpPr/>
                  <p:nvPr/>
                </p:nvGrpSpPr>
                <p:grpSpPr bwMode="auto">
                  <a:xfrm>
                    <a:off x="4904" y="2700"/>
                    <a:ext cx="24" cy="44"/>
                    <a:chOff x="4904" y="2700"/>
                    <a:chExt cx="24" cy="44"/>
                  </a:xfrm>
                </p:grpSpPr>
                <p:sp>
                  <p:nvSpPr>
                    <p:cNvPr id="323" name="Freeform 340"/>
                    <p:cNvSpPr/>
                    <p:nvPr/>
                  </p:nvSpPr>
                  <p:spPr bwMode="auto">
                    <a:xfrm>
                      <a:off x="4907" y="2712"/>
                      <a:ext cx="16" cy="32"/>
                    </a:xfrm>
                    <a:custGeom>
                      <a:avLst/>
                      <a:gdLst>
                        <a:gd name="T0" fmla="*/ 0 w 97"/>
                        <a:gd name="T1" fmla="*/ 163 h 163"/>
                        <a:gd name="T2" fmla="*/ 97 w 97"/>
                        <a:gd name="T3" fmla="*/ 163 h 163"/>
                        <a:gd name="T4" fmla="*/ 80 w 97"/>
                        <a:gd name="T5" fmla="*/ 0 h 163"/>
                        <a:gd name="T6" fmla="*/ 3 w 97"/>
                        <a:gd name="T7" fmla="*/ 5 h 163"/>
                        <a:gd name="T8" fmla="*/ 0 w 97"/>
                        <a:gd name="T9" fmla="*/ 163 h 16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97" h="163">
                          <a:moveTo>
                            <a:pt x="0" y="163"/>
                          </a:moveTo>
                          <a:lnTo>
                            <a:pt x="97" y="163"/>
                          </a:lnTo>
                          <a:lnTo>
                            <a:pt x="80" y="0"/>
                          </a:lnTo>
                          <a:lnTo>
                            <a:pt x="3" y="5"/>
                          </a:lnTo>
                          <a:lnTo>
                            <a:pt x="0" y="163"/>
                          </a:lnTo>
                          <a:close/>
                        </a:path>
                      </a:pathLst>
                    </a:custGeom>
                    <a:solidFill>
                      <a:srgbClr val="FF9F9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24" name="Freeform 341"/>
                    <p:cNvSpPr/>
                    <p:nvPr/>
                  </p:nvSpPr>
                  <p:spPr bwMode="auto">
                    <a:xfrm>
                      <a:off x="4904" y="2700"/>
                      <a:ext cx="24" cy="18"/>
                    </a:xfrm>
                    <a:custGeom>
                      <a:avLst/>
                      <a:gdLst>
                        <a:gd name="T0" fmla="*/ 126 w 140"/>
                        <a:gd name="T1" fmla="*/ 0 h 90"/>
                        <a:gd name="T2" fmla="*/ 140 w 140"/>
                        <a:gd name="T3" fmla="*/ 76 h 90"/>
                        <a:gd name="T4" fmla="*/ 4 w 140"/>
                        <a:gd name="T5" fmla="*/ 90 h 90"/>
                        <a:gd name="T6" fmla="*/ 0 w 140"/>
                        <a:gd name="T7" fmla="*/ 12 h 90"/>
                        <a:gd name="T8" fmla="*/ 126 w 140"/>
                        <a:gd name="T9" fmla="*/ 0 h 9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40" h="90">
                          <a:moveTo>
                            <a:pt x="126" y="0"/>
                          </a:moveTo>
                          <a:lnTo>
                            <a:pt x="140" y="76"/>
                          </a:lnTo>
                          <a:lnTo>
                            <a:pt x="4" y="90"/>
                          </a:lnTo>
                          <a:lnTo>
                            <a:pt x="0" y="12"/>
                          </a:lnTo>
                          <a:lnTo>
                            <a:pt x="126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sp>
                <p:nvSpPr>
                  <p:cNvPr id="313" name="Freeform 342"/>
                  <p:cNvSpPr/>
                  <p:nvPr/>
                </p:nvSpPr>
                <p:spPr bwMode="auto">
                  <a:xfrm>
                    <a:off x="4779" y="2327"/>
                    <a:ext cx="150" cy="419"/>
                  </a:xfrm>
                  <a:custGeom>
                    <a:avLst/>
                    <a:gdLst>
                      <a:gd name="T0" fmla="*/ 361 w 899"/>
                      <a:gd name="T1" fmla="*/ 34 h 2097"/>
                      <a:gd name="T2" fmla="*/ 287 w 899"/>
                      <a:gd name="T3" fmla="*/ 126 h 2097"/>
                      <a:gd name="T4" fmla="*/ 183 w 899"/>
                      <a:gd name="T5" fmla="*/ 227 h 2097"/>
                      <a:gd name="T6" fmla="*/ 109 w 899"/>
                      <a:gd name="T7" fmla="*/ 367 h 2097"/>
                      <a:gd name="T8" fmla="*/ 58 w 899"/>
                      <a:gd name="T9" fmla="*/ 552 h 2097"/>
                      <a:gd name="T10" fmla="*/ 52 w 899"/>
                      <a:gd name="T11" fmla="*/ 646 h 2097"/>
                      <a:gd name="T12" fmla="*/ 30 w 899"/>
                      <a:gd name="T13" fmla="*/ 833 h 2097"/>
                      <a:gd name="T14" fmla="*/ 29 w 899"/>
                      <a:gd name="T15" fmla="*/ 986 h 2097"/>
                      <a:gd name="T16" fmla="*/ 53 w 899"/>
                      <a:gd name="T17" fmla="*/ 1116 h 2097"/>
                      <a:gd name="T18" fmla="*/ 47 w 899"/>
                      <a:gd name="T19" fmla="*/ 1439 h 2097"/>
                      <a:gd name="T20" fmla="*/ 0 w 899"/>
                      <a:gd name="T21" fmla="*/ 2097 h 2097"/>
                      <a:gd name="T22" fmla="*/ 773 w 899"/>
                      <a:gd name="T23" fmla="*/ 1889 h 2097"/>
                      <a:gd name="T24" fmla="*/ 829 w 899"/>
                      <a:gd name="T25" fmla="*/ 1273 h 2097"/>
                      <a:gd name="T26" fmla="*/ 892 w 899"/>
                      <a:gd name="T27" fmla="*/ 721 h 2097"/>
                      <a:gd name="T28" fmla="*/ 893 w 899"/>
                      <a:gd name="T29" fmla="*/ 582 h 2097"/>
                      <a:gd name="T30" fmla="*/ 883 w 899"/>
                      <a:gd name="T31" fmla="*/ 508 h 2097"/>
                      <a:gd name="T32" fmla="*/ 870 w 899"/>
                      <a:gd name="T33" fmla="*/ 466 h 2097"/>
                      <a:gd name="T34" fmla="*/ 844 w 899"/>
                      <a:gd name="T35" fmla="*/ 426 h 2097"/>
                      <a:gd name="T36" fmla="*/ 794 w 899"/>
                      <a:gd name="T37" fmla="*/ 372 h 2097"/>
                      <a:gd name="T38" fmla="*/ 665 w 899"/>
                      <a:gd name="T39" fmla="*/ 263 h 2097"/>
                      <a:gd name="T40" fmla="*/ 626 w 899"/>
                      <a:gd name="T41" fmla="*/ 255 h 2097"/>
                      <a:gd name="T42" fmla="*/ 625 w 899"/>
                      <a:gd name="T43" fmla="*/ 330 h 2097"/>
                      <a:gd name="T44" fmla="*/ 638 w 899"/>
                      <a:gd name="T45" fmla="*/ 486 h 2097"/>
                      <a:gd name="T46" fmla="*/ 645 w 899"/>
                      <a:gd name="T47" fmla="*/ 865 h 2097"/>
                      <a:gd name="T48" fmla="*/ 593 w 899"/>
                      <a:gd name="T49" fmla="*/ 739 h 2097"/>
                      <a:gd name="T50" fmla="*/ 577 w 899"/>
                      <a:gd name="T51" fmla="*/ 666 h 2097"/>
                      <a:gd name="T52" fmla="*/ 563 w 899"/>
                      <a:gd name="T53" fmla="*/ 567 h 2097"/>
                      <a:gd name="T54" fmla="*/ 543 w 899"/>
                      <a:gd name="T55" fmla="*/ 472 h 2097"/>
                      <a:gd name="T56" fmla="*/ 509 w 899"/>
                      <a:gd name="T57" fmla="*/ 382 h 2097"/>
                      <a:gd name="T58" fmla="*/ 447 w 899"/>
                      <a:gd name="T59" fmla="*/ 246 h 2097"/>
                      <a:gd name="T60" fmla="*/ 381 w 899"/>
                      <a:gd name="T61" fmla="*/ 93 h 2097"/>
                      <a:gd name="T62" fmla="*/ 379 w 899"/>
                      <a:gd name="T63" fmla="*/ 43 h 2097"/>
                      <a:gd name="T64" fmla="*/ 391 w 899"/>
                      <a:gd name="T65" fmla="*/ 0 h 209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</a:cxnLst>
                    <a:rect l="0" t="0" r="r" b="b"/>
                    <a:pathLst>
                      <a:path w="899" h="2097">
                        <a:moveTo>
                          <a:pt x="391" y="0"/>
                        </a:moveTo>
                        <a:lnTo>
                          <a:pt x="361" y="34"/>
                        </a:lnTo>
                        <a:lnTo>
                          <a:pt x="325" y="80"/>
                        </a:lnTo>
                        <a:lnTo>
                          <a:pt x="287" y="126"/>
                        </a:lnTo>
                        <a:lnTo>
                          <a:pt x="210" y="201"/>
                        </a:lnTo>
                        <a:lnTo>
                          <a:pt x="183" y="227"/>
                        </a:lnTo>
                        <a:lnTo>
                          <a:pt x="164" y="258"/>
                        </a:lnTo>
                        <a:lnTo>
                          <a:pt x="109" y="367"/>
                        </a:lnTo>
                        <a:lnTo>
                          <a:pt x="80" y="440"/>
                        </a:lnTo>
                        <a:lnTo>
                          <a:pt x="58" y="552"/>
                        </a:lnTo>
                        <a:lnTo>
                          <a:pt x="52" y="611"/>
                        </a:lnTo>
                        <a:lnTo>
                          <a:pt x="52" y="646"/>
                        </a:lnTo>
                        <a:lnTo>
                          <a:pt x="36" y="772"/>
                        </a:lnTo>
                        <a:lnTo>
                          <a:pt x="30" y="833"/>
                        </a:lnTo>
                        <a:lnTo>
                          <a:pt x="30" y="894"/>
                        </a:lnTo>
                        <a:lnTo>
                          <a:pt x="29" y="986"/>
                        </a:lnTo>
                        <a:lnTo>
                          <a:pt x="52" y="1087"/>
                        </a:lnTo>
                        <a:lnTo>
                          <a:pt x="53" y="1116"/>
                        </a:lnTo>
                        <a:lnTo>
                          <a:pt x="54" y="1205"/>
                        </a:lnTo>
                        <a:lnTo>
                          <a:pt x="47" y="1439"/>
                        </a:lnTo>
                        <a:lnTo>
                          <a:pt x="29" y="1748"/>
                        </a:lnTo>
                        <a:lnTo>
                          <a:pt x="0" y="2097"/>
                        </a:lnTo>
                        <a:lnTo>
                          <a:pt x="773" y="2089"/>
                        </a:lnTo>
                        <a:lnTo>
                          <a:pt x="773" y="1889"/>
                        </a:lnTo>
                        <a:lnTo>
                          <a:pt x="899" y="1873"/>
                        </a:lnTo>
                        <a:lnTo>
                          <a:pt x="829" y="1273"/>
                        </a:lnTo>
                        <a:lnTo>
                          <a:pt x="871" y="821"/>
                        </a:lnTo>
                        <a:lnTo>
                          <a:pt x="892" y="721"/>
                        </a:lnTo>
                        <a:lnTo>
                          <a:pt x="893" y="615"/>
                        </a:lnTo>
                        <a:lnTo>
                          <a:pt x="893" y="582"/>
                        </a:lnTo>
                        <a:lnTo>
                          <a:pt x="889" y="547"/>
                        </a:lnTo>
                        <a:lnTo>
                          <a:pt x="883" y="508"/>
                        </a:lnTo>
                        <a:lnTo>
                          <a:pt x="877" y="487"/>
                        </a:lnTo>
                        <a:lnTo>
                          <a:pt x="870" y="466"/>
                        </a:lnTo>
                        <a:lnTo>
                          <a:pt x="861" y="449"/>
                        </a:lnTo>
                        <a:lnTo>
                          <a:pt x="844" y="426"/>
                        </a:lnTo>
                        <a:lnTo>
                          <a:pt x="810" y="400"/>
                        </a:lnTo>
                        <a:lnTo>
                          <a:pt x="794" y="372"/>
                        </a:lnTo>
                        <a:lnTo>
                          <a:pt x="696" y="266"/>
                        </a:lnTo>
                        <a:lnTo>
                          <a:pt x="665" y="263"/>
                        </a:lnTo>
                        <a:lnTo>
                          <a:pt x="644" y="259"/>
                        </a:lnTo>
                        <a:lnTo>
                          <a:pt x="626" y="255"/>
                        </a:lnTo>
                        <a:lnTo>
                          <a:pt x="606" y="250"/>
                        </a:lnTo>
                        <a:lnTo>
                          <a:pt x="625" y="330"/>
                        </a:lnTo>
                        <a:lnTo>
                          <a:pt x="635" y="408"/>
                        </a:lnTo>
                        <a:lnTo>
                          <a:pt x="638" y="486"/>
                        </a:lnTo>
                        <a:lnTo>
                          <a:pt x="653" y="634"/>
                        </a:lnTo>
                        <a:lnTo>
                          <a:pt x="645" y="865"/>
                        </a:lnTo>
                        <a:lnTo>
                          <a:pt x="602" y="784"/>
                        </a:lnTo>
                        <a:lnTo>
                          <a:pt x="593" y="739"/>
                        </a:lnTo>
                        <a:lnTo>
                          <a:pt x="586" y="697"/>
                        </a:lnTo>
                        <a:lnTo>
                          <a:pt x="577" y="666"/>
                        </a:lnTo>
                        <a:lnTo>
                          <a:pt x="570" y="615"/>
                        </a:lnTo>
                        <a:lnTo>
                          <a:pt x="563" y="567"/>
                        </a:lnTo>
                        <a:lnTo>
                          <a:pt x="553" y="519"/>
                        </a:lnTo>
                        <a:lnTo>
                          <a:pt x="543" y="472"/>
                        </a:lnTo>
                        <a:lnTo>
                          <a:pt x="530" y="430"/>
                        </a:lnTo>
                        <a:lnTo>
                          <a:pt x="509" y="382"/>
                        </a:lnTo>
                        <a:lnTo>
                          <a:pt x="472" y="303"/>
                        </a:lnTo>
                        <a:lnTo>
                          <a:pt x="447" y="246"/>
                        </a:lnTo>
                        <a:lnTo>
                          <a:pt x="414" y="167"/>
                        </a:lnTo>
                        <a:lnTo>
                          <a:pt x="381" y="93"/>
                        </a:lnTo>
                        <a:lnTo>
                          <a:pt x="371" y="64"/>
                        </a:lnTo>
                        <a:lnTo>
                          <a:pt x="379" y="43"/>
                        </a:lnTo>
                        <a:lnTo>
                          <a:pt x="394" y="13"/>
                        </a:lnTo>
                        <a:lnTo>
                          <a:pt x="391" y="0"/>
                        </a:lnTo>
                        <a:close/>
                      </a:path>
                    </a:pathLst>
                  </a:custGeom>
                  <a:solidFill>
                    <a:srgbClr val="7F7F7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14" name="Freeform 343"/>
                  <p:cNvSpPr/>
                  <p:nvPr/>
                </p:nvSpPr>
                <p:spPr bwMode="auto">
                  <a:xfrm>
                    <a:off x="4908" y="2401"/>
                    <a:ext cx="21" cy="303"/>
                  </a:xfrm>
                  <a:custGeom>
                    <a:avLst/>
                    <a:gdLst>
                      <a:gd name="T0" fmla="*/ 64 w 128"/>
                      <a:gd name="T1" fmla="*/ 147 h 1517"/>
                      <a:gd name="T2" fmla="*/ 75 w 128"/>
                      <a:gd name="T3" fmla="*/ 313 h 1517"/>
                      <a:gd name="T4" fmla="*/ 46 w 128"/>
                      <a:gd name="T5" fmla="*/ 691 h 1517"/>
                      <a:gd name="T6" fmla="*/ 0 w 128"/>
                      <a:gd name="T7" fmla="*/ 1061 h 1517"/>
                      <a:gd name="T8" fmla="*/ 0 w 128"/>
                      <a:gd name="T9" fmla="*/ 1517 h 1517"/>
                      <a:gd name="T10" fmla="*/ 128 w 128"/>
                      <a:gd name="T11" fmla="*/ 1501 h 1517"/>
                      <a:gd name="T12" fmla="*/ 57 w 128"/>
                      <a:gd name="T13" fmla="*/ 901 h 1517"/>
                      <a:gd name="T14" fmla="*/ 100 w 128"/>
                      <a:gd name="T15" fmla="*/ 449 h 1517"/>
                      <a:gd name="T16" fmla="*/ 121 w 128"/>
                      <a:gd name="T17" fmla="*/ 347 h 1517"/>
                      <a:gd name="T18" fmla="*/ 122 w 128"/>
                      <a:gd name="T19" fmla="*/ 242 h 1517"/>
                      <a:gd name="T20" fmla="*/ 122 w 128"/>
                      <a:gd name="T21" fmla="*/ 209 h 1517"/>
                      <a:gd name="T22" fmla="*/ 118 w 128"/>
                      <a:gd name="T23" fmla="*/ 174 h 1517"/>
                      <a:gd name="T24" fmla="*/ 112 w 128"/>
                      <a:gd name="T25" fmla="*/ 136 h 1517"/>
                      <a:gd name="T26" fmla="*/ 106 w 128"/>
                      <a:gd name="T27" fmla="*/ 115 h 1517"/>
                      <a:gd name="T28" fmla="*/ 99 w 128"/>
                      <a:gd name="T29" fmla="*/ 94 h 1517"/>
                      <a:gd name="T30" fmla="*/ 88 w 128"/>
                      <a:gd name="T31" fmla="*/ 77 h 1517"/>
                      <a:gd name="T32" fmla="*/ 72 w 128"/>
                      <a:gd name="T33" fmla="*/ 54 h 1517"/>
                      <a:gd name="T34" fmla="*/ 38 w 128"/>
                      <a:gd name="T35" fmla="*/ 28 h 1517"/>
                      <a:gd name="T36" fmla="*/ 20 w 128"/>
                      <a:gd name="T37" fmla="*/ 0 h 1517"/>
                      <a:gd name="T38" fmla="*/ 64 w 128"/>
                      <a:gd name="T39" fmla="*/ 147 h 15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28" h="1517">
                        <a:moveTo>
                          <a:pt x="64" y="147"/>
                        </a:moveTo>
                        <a:lnTo>
                          <a:pt x="75" y="313"/>
                        </a:lnTo>
                        <a:lnTo>
                          <a:pt x="46" y="691"/>
                        </a:lnTo>
                        <a:lnTo>
                          <a:pt x="0" y="1061"/>
                        </a:lnTo>
                        <a:lnTo>
                          <a:pt x="0" y="1517"/>
                        </a:lnTo>
                        <a:lnTo>
                          <a:pt x="128" y="1501"/>
                        </a:lnTo>
                        <a:lnTo>
                          <a:pt x="57" y="901"/>
                        </a:lnTo>
                        <a:lnTo>
                          <a:pt x="100" y="449"/>
                        </a:lnTo>
                        <a:lnTo>
                          <a:pt x="121" y="347"/>
                        </a:lnTo>
                        <a:lnTo>
                          <a:pt x="122" y="242"/>
                        </a:lnTo>
                        <a:lnTo>
                          <a:pt x="122" y="209"/>
                        </a:lnTo>
                        <a:lnTo>
                          <a:pt x="118" y="174"/>
                        </a:lnTo>
                        <a:lnTo>
                          <a:pt x="112" y="136"/>
                        </a:lnTo>
                        <a:lnTo>
                          <a:pt x="106" y="115"/>
                        </a:lnTo>
                        <a:lnTo>
                          <a:pt x="99" y="94"/>
                        </a:lnTo>
                        <a:lnTo>
                          <a:pt x="88" y="77"/>
                        </a:lnTo>
                        <a:lnTo>
                          <a:pt x="72" y="54"/>
                        </a:lnTo>
                        <a:lnTo>
                          <a:pt x="38" y="28"/>
                        </a:lnTo>
                        <a:lnTo>
                          <a:pt x="20" y="0"/>
                        </a:lnTo>
                        <a:lnTo>
                          <a:pt x="64" y="147"/>
                        </a:lnTo>
                        <a:close/>
                      </a:path>
                    </a:pathLst>
                  </a:custGeom>
                  <a:solidFill>
                    <a:srgbClr val="7F7F7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15" name="Freeform 344"/>
                  <p:cNvSpPr/>
                  <p:nvPr/>
                </p:nvSpPr>
                <p:spPr bwMode="auto">
                  <a:xfrm>
                    <a:off x="4810" y="2473"/>
                    <a:ext cx="87" cy="210"/>
                  </a:xfrm>
                  <a:custGeom>
                    <a:avLst/>
                    <a:gdLst>
                      <a:gd name="T0" fmla="*/ 0 w 525"/>
                      <a:gd name="T1" fmla="*/ 0 h 1048"/>
                      <a:gd name="T2" fmla="*/ 47 w 525"/>
                      <a:gd name="T3" fmla="*/ 135 h 1048"/>
                      <a:gd name="T4" fmla="*/ 100 w 525"/>
                      <a:gd name="T5" fmla="*/ 245 h 1048"/>
                      <a:gd name="T6" fmla="*/ 121 w 525"/>
                      <a:gd name="T7" fmla="*/ 298 h 1048"/>
                      <a:gd name="T8" fmla="*/ 128 w 525"/>
                      <a:gd name="T9" fmla="*/ 354 h 1048"/>
                      <a:gd name="T10" fmla="*/ 151 w 525"/>
                      <a:gd name="T11" fmla="*/ 376 h 1048"/>
                      <a:gd name="T12" fmla="*/ 233 w 525"/>
                      <a:gd name="T13" fmla="*/ 557 h 1048"/>
                      <a:gd name="T14" fmla="*/ 269 w 525"/>
                      <a:gd name="T15" fmla="*/ 621 h 1048"/>
                      <a:gd name="T16" fmla="*/ 330 w 525"/>
                      <a:gd name="T17" fmla="*/ 750 h 1048"/>
                      <a:gd name="T18" fmla="*/ 366 w 525"/>
                      <a:gd name="T19" fmla="*/ 822 h 1048"/>
                      <a:gd name="T20" fmla="*/ 399 w 525"/>
                      <a:gd name="T21" fmla="*/ 911 h 1048"/>
                      <a:gd name="T22" fmla="*/ 406 w 525"/>
                      <a:gd name="T23" fmla="*/ 952 h 1048"/>
                      <a:gd name="T24" fmla="*/ 489 w 525"/>
                      <a:gd name="T25" fmla="*/ 1048 h 1048"/>
                      <a:gd name="T26" fmla="*/ 517 w 525"/>
                      <a:gd name="T27" fmla="*/ 826 h 1048"/>
                      <a:gd name="T28" fmla="*/ 525 w 525"/>
                      <a:gd name="T29" fmla="*/ 710 h 1048"/>
                      <a:gd name="T30" fmla="*/ 514 w 525"/>
                      <a:gd name="T31" fmla="*/ 569 h 1048"/>
                      <a:gd name="T32" fmla="*/ 492 w 525"/>
                      <a:gd name="T33" fmla="*/ 409 h 1048"/>
                      <a:gd name="T34" fmla="*/ 464 w 525"/>
                      <a:gd name="T35" fmla="*/ 394 h 1048"/>
                      <a:gd name="T36" fmla="*/ 464 w 525"/>
                      <a:gd name="T37" fmla="*/ 491 h 1048"/>
                      <a:gd name="T38" fmla="*/ 478 w 525"/>
                      <a:gd name="T39" fmla="*/ 576 h 1048"/>
                      <a:gd name="T40" fmla="*/ 489 w 525"/>
                      <a:gd name="T41" fmla="*/ 669 h 1048"/>
                      <a:gd name="T42" fmla="*/ 485 w 525"/>
                      <a:gd name="T43" fmla="*/ 717 h 1048"/>
                      <a:gd name="T44" fmla="*/ 453 w 525"/>
                      <a:gd name="T45" fmla="*/ 565 h 1048"/>
                      <a:gd name="T46" fmla="*/ 428 w 525"/>
                      <a:gd name="T47" fmla="*/ 454 h 1048"/>
                      <a:gd name="T48" fmla="*/ 384 w 525"/>
                      <a:gd name="T49" fmla="*/ 383 h 1048"/>
                      <a:gd name="T50" fmla="*/ 110 w 525"/>
                      <a:gd name="T51" fmla="*/ 83 h 1048"/>
                      <a:gd name="T52" fmla="*/ 0 w 525"/>
                      <a:gd name="T53" fmla="*/ 0 h 104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</a:cxnLst>
                    <a:rect l="0" t="0" r="r" b="b"/>
                    <a:pathLst>
                      <a:path w="525" h="1048">
                        <a:moveTo>
                          <a:pt x="0" y="0"/>
                        </a:moveTo>
                        <a:lnTo>
                          <a:pt x="47" y="135"/>
                        </a:lnTo>
                        <a:lnTo>
                          <a:pt x="100" y="245"/>
                        </a:lnTo>
                        <a:lnTo>
                          <a:pt x="121" y="298"/>
                        </a:lnTo>
                        <a:lnTo>
                          <a:pt x="128" y="354"/>
                        </a:lnTo>
                        <a:lnTo>
                          <a:pt x="151" y="376"/>
                        </a:lnTo>
                        <a:lnTo>
                          <a:pt x="233" y="557"/>
                        </a:lnTo>
                        <a:lnTo>
                          <a:pt x="269" y="621"/>
                        </a:lnTo>
                        <a:lnTo>
                          <a:pt x="330" y="750"/>
                        </a:lnTo>
                        <a:lnTo>
                          <a:pt x="366" y="822"/>
                        </a:lnTo>
                        <a:lnTo>
                          <a:pt x="399" y="911"/>
                        </a:lnTo>
                        <a:lnTo>
                          <a:pt x="406" y="952"/>
                        </a:lnTo>
                        <a:lnTo>
                          <a:pt x="489" y="1048"/>
                        </a:lnTo>
                        <a:lnTo>
                          <a:pt x="517" y="826"/>
                        </a:lnTo>
                        <a:lnTo>
                          <a:pt x="525" y="710"/>
                        </a:lnTo>
                        <a:lnTo>
                          <a:pt x="514" y="569"/>
                        </a:lnTo>
                        <a:lnTo>
                          <a:pt x="492" y="409"/>
                        </a:lnTo>
                        <a:lnTo>
                          <a:pt x="464" y="394"/>
                        </a:lnTo>
                        <a:lnTo>
                          <a:pt x="464" y="491"/>
                        </a:lnTo>
                        <a:lnTo>
                          <a:pt x="478" y="576"/>
                        </a:lnTo>
                        <a:lnTo>
                          <a:pt x="489" y="669"/>
                        </a:lnTo>
                        <a:lnTo>
                          <a:pt x="485" y="717"/>
                        </a:lnTo>
                        <a:lnTo>
                          <a:pt x="453" y="565"/>
                        </a:lnTo>
                        <a:lnTo>
                          <a:pt x="428" y="454"/>
                        </a:lnTo>
                        <a:lnTo>
                          <a:pt x="384" y="383"/>
                        </a:lnTo>
                        <a:lnTo>
                          <a:pt x="110" y="8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3F3F3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16" name="Freeform 345"/>
                  <p:cNvSpPr/>
                  <p:nvPr/>
                </p:nvSpPr>
                <p:spPr bwMode="auto">
                  <a:xfrm>
                    <a:off x="4791" y="2375"/>
                    <a:ext cx="199" cy="223"/>
                  </a:xfrm>
                  <a:custGeom>
                    <a:avLst/>
                    <a:gdLst>
                      <a:gd name="T0" fmla="*/ 355 w 1198"/>
                      <a:gd name="T1" fmla="*/ 85 h 1114"/>
                      <a:gd name="T2" fmla="*/ 305 w 1198"/>
                      <a:gd name="T3" fmla="*/ 41 h 1114"/>
                      <a:gd name="T4" fmla="*/ 261 w 1198"/>
                      <a:gd name="T5" fmla="*/ 18 h 1114"/>
                      <a:gd name="T6" fmla="*/ 208 w 1198"/>
                      <a:gd name="T7" fmla="*/ 4 h 1114"/>
                      <a:gd name="T8" fmla="*/ 165 w 1198"/>
                      <a:gd name="T9" fmla="*/ 0 h 1114"/>
                      <a:gd name="T10" fmla="*/ 147 w 1198"/>
                      <a:gd name="T11" fmla="*/ 7 h 1114"/>
                      <a:gd name="T12" fmla="*/ 108 w 1198"/>
                      <a:gd name="T13" fmla="*/ 44 h 1114"/>
                      <a:gd name="T14" fmla="*/ 68 w 1198"/>
                      <a:gd name="T15" fmla="*/ 93 h 1114"/>
                      <a:gd name="T16" fmla="*/ 50 w 1198"/>
                      <a:gd name="T17" fmla="*/ 119 h 1114"/>
                      <a:gd name="T18" fmla="*/ 43 w 1198"/>
                      <a:gd name="T19" fmla="*/ 167 h 1114"/>
                      <a:gd name="T20" fmla="*/ 50 w 1198"/>
                      <a:gd name="T21" fmla="*/ 234 h 1114"/>
                      <a:gd name="T22" fmla="*/ 65 w 1198"/>
                      <a:gd name="T23" fmla="*/ 304 h 1114"/>
                      <a:gd name="T24" fmla="*/ 97 w 1198"/>
                      <a:gd name="T25" fmla="*/ 363 h 1114"/>
                      <a:gd name="T26" fmla="*/ 115 w 1198"/>
                      <a:gd name="T27" fmla="*/ 419 h 1114"/>
                      <a:gd name="T28" fmla="*/ 0 w 1198"/>
                      <a:gd name="T29" fmla="*/ 438 h 1114"/>
                      <a:gd name="T30" fmla="*/ 97 w 1198"/>
                      <a:gd name="T31" fmla="*/ 438 h 1114"/>
                      <a:gd name="T32" fmla="*/ 15 w 1198"/>
                      <a:gd name="T33" fmla="*/ 572 h 1114"/>
                      <a:gd name="T34" fmla="*/ 104 w 1198"/>
                      <a:gd name="T35" fmla="*/ 464 h 1114"/>
                      <a:gd name="T36" fmla="*/ 108 w 1198"/>
                      <a:gd name="T37" fmla="*/ 498 h 1114"/>
                      <a:gd name="T38" fmla="*/ 43 w 1198"/>
                      <a:gd name="T39" fmla="*/ 756 h 1114"/>
                      <a:gd name="T40" fmla="*/ 126 w 1198"/>
                      <a:gd name="T41" fmla="*/ 520 h 1114"/>
                      <a:gd name="T42" fmla="*/ 176 w 1198"/>
                      <a:gd name="T43" fmla="*/ 561 h 1114"/>
                      <a:gd name="T44" fmla="*/ 243 w 1198"/>
                      <a:gd name="T45" fmla="*/ 665 h 1114"/>
                      <a:gd name="T46" fmla="*/ 301 w 1198"/>
                      <a:gd name="T47" fmla="*/ 728 h 1114"/>
                      <a:gd name="T48" fmla="*/ 326 w 1198"/>
                      <a:gd name="T49" fmla="*/ 756 h 1114"/>
                      <a:gd name="T50" fmla="*/ 359 w 1198"/>
                      <a:gd name="T51" fmla="*/ 790 h 1114"/>
                      <a:gd name="T52" fmla="*/ 373 w 1198"/>
                      <a:gd name="T53" fmla="*/ 801 h 1114"/>
                      <a:gd name="T54" fmla="*/ 377 w 1198"/>
                      <a:gd name="T55" fmla="*/ 827 h 1114"/>
                      <a:gd name="T56" fmla="*/ 395 w 1198"/>
                      <a:gd name="T57" fmla="*/ 843 h 1114"/>
                      <a:gd name="T58" fmla="*/ 427 w 1198"/>
                      <a:gd name="T59" fmla="*/ 850 h 1114"/>
                      <a:gd name="T60" fmla="*/ 459 w 1198"/>
                      <a:gd name="T61" fmla="*/ 854 h 1114"/>
                      <a:gd name="T62" fmla="*/ 495 w 1198"/>
                      <a:gd name="T63" fmla="*/ 873 h 1114"/>
                      <a:gd name="T64" fmla="*/ 552 w 1198"/>
                      <a:gd name="T65" fmla="*/ 914 h 1114"/>
                      <a:gd name="T66" fmla="*/ 617 w 1198"/>
                      <a:gd name="T67" fmla="*/ 954 h 1114"/>
                      <a:gd name="T68" fmla="*/ 717 w 1198"/>
                      <a:gd name="T69" fmla="*/ 999 h 1114"/>
                      <a:gd name="T70" fmla="*/ 813 w 1198"/>
                      <a:gd name="T71" fmla="*/ 1032 h 1114"/>
                      <a:gd name="T72" fmla="*/ 900 w 1198"/>
                      <a:gd name="T73" fmla="*/ 1054 h 1114"/>
                      <a:gd name="T74" fmla="*/ 1018 w 1198"/>
                      <a:gd name="T75" fmla="*/ 1088 h 1114"/>
                      <a:gd name="T76" fmla="*/ 1137 w 1198"/>
                      <a:gd name="T77" fmla="*/ 1114 h 1114"/>
                      <a:gd name="T78" fmla="*/ 1158 w 1198"/>
                      <a:gd name="T79" fmla="*/ 1114 h 1114"/>
                      <a:gd name="T80" fmla="*/ 1155 w 1198"/>
                      <a:gd name="T81" fmla="*/ 1025 h 1114"/>
                      <a:gd name="T82" fmla="*/ 1165 w 1198"/>
                      <a:gd name="T83" fmla="*/ 984 h 1114"/>
                      <a:gd name="T84" fmla="*/ 1172 w 1198"/>
                      <a:gd name="T85" fmla="*/ 925 h 1114"/>
                      <a:gd name="T86" fmla="*/ 1190 w 1198"/>
                      <a:gd name="T87" fmla="*/ 850 h 1114"/>
                      <a:gd name="T88" fmla="*/ 1198 w 1198"/>
                      <a:gd name="T89" fmla="*/ 834 h 1114"/>
                      <a:gd name="T90" fmla="*/ 1097 w 1198"/>
                      <a:gd name="T91" fmla="*/ 812 h 1114"/>
                      <a:gd name="T92" fmla="*/ 1011 w 1198"/>
                      <a:gd name="T93" fmla="*/ 775 h 1114"/>
                      <a:gd name="T94" fmla="*/ 922 w 1198"/>
                      <a:gd name="T95" fmla="*/ 738 h 1114"/>
                      <a:gd name="T96" fmla="*/ 900 w 1198"/>
                      <a:gd name="T97" fmla="*/ 713 h 1114"/>
                      <a:gd name="T98" fmla="*/ 859 w 1198"/>
                      <a:gd name="T99" fmla="*/ 702 h 1114"/>
                      <a:gd name="T100" fmla="*/ 809 w 1198"/>
                      <a:gd name="T101" fmla="*/ 698 h 1114"/>
                      <a:gd name="T102" fmla="*/ 721 w 1198"/>
                      <a:gd name="T103" fmla="*/ 672 h 1114"/>
                      <a:gd name="T104" fmla="*/ 667 w 1198"/>
                      <a:gd name="T105" fmla="*/ 624 h 1114"/>
                      <a:gd name="T106" fmla="*/ 581 w 1198"/>
                      <a:gd name="T107" fmla="*/ 535 h 1114"/>
                      <a:gd name="T108" fmla="*/ 524 w 1198"/>
                      <a:gd name="T109" fmla="*/ 438 h 1114"/>
                      <a:gd name="T110" fmla="*/ 491 w 1198"/>
                      <a:gd name="T111" fmla="*/ 408 h 1114"/>
                      <a:gd name="T112" fmla="*/ 430 w 1198"/>
                      <a:gd name="T113" fmla="*/ 304 h 1114"/>
                      <a:gd name="T114" fmla="*/ 423 w 1198"/>
                      <a:gd name="T115" fmla="*/ 260 h 1114"/>
                      <a:gd name="T116" fmla="*/ 413 w 1198"/>
                      <a:gd name="T117" fmla="*/ 219 h 1114"/>
                      <a:gd name="T118" fmla="*/ 398 w 1198"/>
                      <a:gd name="T119" fmla="*/ 189 h 1114"/>
                      <a:gd name="T120" fmla="*/ 380 w 1198"/>
                      <a:gd name="T121" fmla="*/ 137 h 1114"/>
                      <a:gd name="T122" fmla="*/ 355 w 1198"/>
                      <a:gd name="T123" fmla="*/ 85 h 11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  <a:cxn ang="0">
                        <a:pos x="T120" y="T121"/>
                      </a:cxn>
                      <a:cxn ang="0">
                        <a:pos x="T122" y="T123"/>
                      </a:cxn>
                    </a:cxnLst>
                    <a:rect l="0" t="0" r="r" b="b"/>
                    <a:pathLst>
                      <a:path w="1198" h="1114">
                        <a:moveTo>
                          <a:pt x="355" y="85"/>
                        </a:moveTo>
                        <a:lnTo>
                          <a:pt x="305" y="41"/>
                        </a:lnTo>
                        <a:lnTo>
                          <a:pt x="261" y="18"/>
                        </a:lnTo>
                        <a:lnTo>
                          <a:pt x="208" y="4"/>
                        </a:lnTo>
                        <a:lnTo>
                          <a:pt x="165" y="0"/>
                        </a:lnTo>
                        <a:lnTo>
                          <a:pt x="147" y="7"/>
                        </a:lnTo>
                        <a:lnTo>
                          <a:pt x="108" y="44"/>
                        </a:lnTo>
                        <a:lnTo>
                          <a:pt x="68" y="93"/>
                        </a:lnTo>
                        <a:lnTo>
                          <a:pt x="50" y="119"/>
                        </a:lnTo>
                        <a:lnTo>
                          <a:pt x="43" y="167"/>
                        </a:lnTo>
                        <a:lnTo>
                          <a:pt x="50" y="234"/>
                        </a:lnTo>
                        <a:lnTo>
                          <a:pt x="65" y="304"/>
                        </a:lnTo>
                        <a:lnTo>
                          <a:pt x="97" y="363"/>
                        </a:lnTo>
                        <a:lnTo>
                          <a:pt x="115" y="419"/>
                        </a:lnTo>
                        <a:lnTo>
                          <a:pt x="0" y="438"/>
                        </a:lnTo>
                        <a:lnTo>
                          <a:pt x="97" y="438"/>
                        </a:lnTo>
                        <a:lnTo>
                          <a:pt x="15" y="572"/>
                        </a:lnTo>
                        <a:lnTo>
                          <a:pt x="104" y="464"/>
                        </a:lnTo>
                        <a:lnTo>
                          <a:pt x="108" y="498"/>
                        </a:lnTo>
                        <a:lnTo>
                          <a:pt x="43" y="756"/>
                        </a:lnTo>
                        <a:lnTo>
                          <a:pt x="126" y="520"/>
                        </a:lnTo>
                        <a:lnTo>
                          <a:pt x="176" y="561"/>
                        </a:lnTo>
                        <a:lnTo>
                          <a:pt x="243" y="665"/>
                        </a:lnTo>
                        <a:lnTo>
                          <a:pt x="301" y="728"/>
                        </a:lnTo>
                        <a:lnTo>
                          <a:pt x="326" y="756"/>
                        </a:lnTo>
                        <a:lnTo>
                          <a:pt x="359" y="790"/>
                        </a:lnTo>
                        <a:lnTo>
                          <a:pt x="373" y="801"/>
                        </a:lnTo>
                        <a:lnTo>
                          <a:pt x="377" y="827"/>
                        </a:lnTo>
                        <a:lnTo>
                          <a:pt x="395" y="843"/>
                        </a:lnTo>
                        <a:lnTo>
                          <a:pt x="427" y="850"/>
                        </a:lnTo>
                        <a:lnTo>
                          <a:pt x="459" y="854"/>
                        </a:lnTo>
                        <a:lnTo>
                          <a:pt x="495" y="873"/>
                        </a:lnTo>
                        <a:lnTo>
                          <a:pt x="552" y="914"/>
                        </a:lnTo>
                        <a:lnTo>
                          <a:pt x="617" y="954"/>
                        </a:lnTo>
                        <a:lnTo>
                          <a:pt x="717" y="999"/>
                        </a:lnTo>
                        <a:lnTo>
                          <a:pt x="813" y="1032"/>
                        </a:lnTo>
                        <a:lnTo>
                          <a:pt x="900" y="1054"/>
                        </a:lnTo>
                        <a:lnTo>
                          <a:pt x="1018" y="1088"/>
                        </a:lnTo>
                        <a:lnTo>
                          <a:pt x="1137" y="1114"/>
                        </a:lnTo>
                        <a:lnTo>
                          <a:pt x="1158" y="1114"/>
                        </a:lnTo>
                        <a:lnTo>
                          <a:pt x="1155" y="1025"/>
                        </a:lnTo>
                        <a:lnTo>
                          <a:pt x="1165" y="984"/>
                        </a:lnTo>
                        <a:lnTo>
                          <a:pt x="1172" y="925"/>
                        </a:lnTo>
                        <a:lnTo>
                          <a:pt x="1190" y="850"/>
                        </a:lnTo>
                        <a:lnTo>
                          <a:pt x="1198" y="834"/>
                        </a:lnTo>
                        <a:lnTo>
                          <a:pt x="1097" y="812"/>
                        </a:lnTo>
                        <a:lnTo>
                          <a:pt x="1011" y="775"/>
                        </a:lnTo>
                        <a:lnTo>
                          <a:pt x="922" y="738"/>
                        </a:lnTo>
                        <a:lnTo>
                          <a:pt x="900" y="713"/>
                        </a:lnTo>
                        <a:lnTo>
                          <a:pt x="859" y="702"/>
                        </a:lnTo>
                        <a:lnTo>
                          <a:pt x="809" y="698"/>
                        </a:lnTo>
                        <a:lnTo>
                          <a:pt x="721" y="672"/>
                        </a:lnTo>
                        <a:lnTo>
                          <a:pt x="667" y="624"/>
                        </a:lnTo>
                        <a:lnTo>
                          <a:pt x="581" y="535"/>
                        </a:lnTo>
                        <a:lnTo>
                          <a:pt x="524" y="438"/>
                        </a:lnTo>
                        <a:lnTo>
                          <a:pt x="491" y="408"/>
                        </a:lnTo>
                        <a:lnTo>
                          <a:pt x="430" y="304"/>
                        </a:lnTo>
                        <a:lnTo>
                          <a:pt x="423" y="260"/>
                        </a:lnTo>
                        <a:lnTo>
                          <a:pt x="413" y="219"/>
                        </a:lnTo>
                        <a:lnTo>
                          <a:pt x="398" y="189"/>
                        </a:lnTo>
                        <a:lnTo>
                          <a:pt x="380" y="137"/>
                        </a:lnTo>
                        <a:lnTo>
                          <a:pt x="355" y="85"/>
                        </a:lnTo>
                        <a:close/>
                      </a:path>
                    </a:pathLst>
                  </a:custGeom>
                  <a:solidFill>
                    <a:srgbClr val="7F7F7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17" name="Freeform 346"/>
                  <p:cNvSpPr/>
                  <p:nvPr/>
                </p:nvSpPr>
                <p:spPr bwMode="auto">
                  <a:xfrm>
                    <a:off x="4810" y="2406"/>
                    <a:ext cx="49" cy="50"/>
                  </a:xfrm>
                  <a:custGeom>
                    <a:avLst/>
                    <a:gdLst>
                      <a:gd name="T0" fmla="*/ 84 w 292"/>
                      <a:gd name="T1" fmla="*/ 167 h 251"/>
                      <a:gd name="T2" fmla="*/ 238 w 292"/>
                      <a:gd name="T3" fmla="*/ 3 h 251"/>
                      <a:gd name="T4" fmla="*/ 214 w 292"/>
                      <a:gd name="T5" fmla="*/ 5 h 251"/>
                      <a:gd name="T6" fmla="*/ 175 w 292"/>
                      <a:gd name="T7" fmla="*/ 15 h 251"/>
                      <a:gd name="T8" fmla="*/ 143 w 292"/>
                      <a:gd name="T9" fmla="*/ 34 h 251"/>
                      <a:gd name="T10" fmla="*/ 107 w 292"/>
                      <a:gd name="T11" fmla="*/ 71 h 251"/>
                      <a:gd name="T12" fmla="*/ 72 w 292"/>
                      <a:gd name="T13" fmla="*/ 106 h 251"/>
                      <a:gd name="T14" fmla="*/ 51 w 292"/>
                      <a:gd name="T15" fmla="*/ 141 h 251"/>
                      <a:gd name="T16" fmla="*/ 36 w 292"/>
                      <a:gd name="T17" fmla="*/ 174 h 251"/>
                      <a:gd name="T18" fmla="*/ 14 w 292"/>
                      <a:gd name="T19" fmla="*/ 210 h 251"/>
                      <a:gd name="T20" fmla="*/ 60 w 292"/>
                      <a:gd name="T21" fmla="*/ 214 h 251"/>
                      <a:gd name="T22" fmla="*/ 98 w 292"/>
                      <a:gd name="T23" fmla="*/ 209 h 251"/>
                      <a:gd name="T24" fmla="*/ 133 w 292"/>
                      <a:gd name="T25" fmla="*/ 195 h 251"/>
                      <a:gd name="T26" fmla="*/ 176 w 292"/>
                      <a:gd name="T27" fmla="*/ 168 h 251"/>
                      <a:gd name="T28" fmla="*/ 211 w 292"/>
                      <a:gd name="T29" fmla="*/ 134 h 251"/>
                      <a:gd name="T30" fmla="*/ 233 w 292"/>
                      <a:gd name="T31" fmla="*/ 120 h 251"/>
                      <a:gd name="T32" fmla="*/ 258 w 292"/>
                      <a:gd name="T33" fmla="*/ 102 h 251"/>
                      <a:gd name="T34" fmla="*/ 278 w 292"/>
                      <a:gd name="T35" fmla="*/ 97 h 251"/>
                      <a:gd name="T36" fmla="*/ 292 w 292"/>
                      <a:gd name="T37" fmla="*/ 106 h 251"/>
                      <a:gd name="T38" fmla="*/ 291 w 292"/>
                      <a:gd name="T39" fmla="*/ 129 h 251"/>
                      <a:gd name="T40" fmla="*/ 278 w 292"/>
                      <a:gd name="T41" fmla="*/ 163 h 251"/>
                      <a:gd name="T42" fmla="*/ 258 w 292"/>
                      <a:gd name="T43" fmla="*/ 183 h 251"/>
                      <a:gd name="T44" fmla="*/ 237 w 292"/>
                      <a:gd name="T45" fmla="*/ 199 h 251"/>
                      <a:gd name="T46" fmla="*/ 212 w 292"/>
                      <a:gd name="T47" fmla="*/ 214 h 251"/>
                      <a:gd name="T48" fmla="*/ 172 w 292"/>
                      <a:gd name="T49" fmla="*/ 232 h 251"/>
                      <a:gd name="T50" fmla="*/ 129 w 292"/>
                      <a:gd name="T51" fmla="*/ 247 h 251"/>
                      <a:gd name="T52" fmla="*/ 104 w 292"/>
                      <a:gd name="T53" fmla="*/ 251 h 251"/>
                      <a:gd name="T54" fmla="*/ 77 w 292"/>
                      <a:gd name="T55" fmla="*/ 246 h 251"/>
                      <a:gd name="T56" fmla="*/ 36 w 292"/>
                      <a:gd name="T57" fmla="*/ 232 h 251"/>
                      <a:gd name="T58" fmla="*/ 14 w 292"/>
                      <a:gd name="T59" fmla="*/ 221 h 251"/>
                      <a:gd name="T60" fmla="*/ 0 w 292"/>
                      <a:gd name="T61" fmla="*/ 209 h 251"/>
                      <a:gd name="T62" fmla="*/ 4 w 292"/>
                      <a:gd name="T63" fmla="*/ 168 h 251"/>
                      <a:gd name="T64" fmla="*/ 21 w 292"/>
                      <a:gd name="T65" fmla="*/ 133 h 251"/>
                      <a:gd name="T66" fmla="*/ 40 w 292"/>
                      <a:gd name="T67" fmla="*/ 102 h 251"/>
                      <a:gd name="T68" fmla="*/ 65 w 292"/>
                      <a:gd name="T69" fmla="*/ 75 h 251"/>
                      <a:gd name="T70" fmla="*/ 97 w 292"/>
                      <a:gd name="T71" fmla="*/ 49 h 251"/>
                      <a:gd name="T72" fmla="*/ 129 w 292"/>
                      <a:gd name="T73" fmla="*/ 29 h 251"/>
                      <a:gd name="T74" fmla="*/ 165 w 292"/>
                      <a:gd name="T75" fmla="*/ 15 h 251"/>
                      <a:gd name="T76" fmla="*/ 223 w 292"/>
                      <a:gd name="T77" fmla="*/ 0 h 251"/>
                      <a:gd name="T78" fmla="*/ 270 w 292"/>
                      <a:gd name="T79" fmla="*/ 1 h 251"/>
                      <a:gd name="T80" fmla="*/ 84 w 292"/>
                      <a:gd name="T81" fmla="*/ 167 h 25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</a:cxnLst>
                    <a:rect l="0" t="0" r="r" b="b"/>
                    <a:pathLst>
                      <a:path w="292" h="251">
                        <a:moveTo>
                          <a:pt x="84" y="167"/>
                        </a:moveTo>
                        <a:lnTo>
                          <a:pt x="238" y="3"/>
                        </a:lnTo>
                        <a:lnTo>
                          <a:pt x="214" y="5"/>
                        </a:lnTo>
                        <a:lnTo>
                          <a:pt x="175" y="15"/>
                        </a:lnTo>
                        <a:lnTo>
                          <a:pt x="143" y="34"/>
                        </a:lnTo>
                        <a:lnTo>
                          <a:pt x="107" y="71"/>
                        </a:lnTo>
                        <a:lnTo>
                          <a:pt x="72" y="106"/>
                        </a:lnTo>
                        <a:lnTo>
                          <a:pt x="51" y="141"/>
                        </a:lnTo>
                        <a:lnTo>
                          <a:pt x="36" y="174"/>
                        </a:lnTo>
                        <a:lnTo>
                          <a:pt x="14" y="210"/>
                        </a:lnTo>
                        <a:lnTo>
                          <a:pt x="60" y="214"/>
                        </a:lnTo>
                        <a:lnTo>
                          <a:pt x="98" y="209"/>
                        </a:lnTo>
                        <a:lnTo>
                          <a:pt x="133" y="195"/>
                        </a:lnTo>
                        <a:lnTo>
                          <a:pt x="176" y="168"/>
                        </a:lnTo>
                        <a:lnTo>
                          <a:pt x="211" y="134"/>
                        </a:lnTo>
                        <a:lnTo>
                          <a:pt x="233" y="120"/>
                        </a:lnTo>
                        <a:lnTo>
                          <a:pt x="258" y="102"/>
                        </a:lnTo>
                        <a:lnTo>
                          <a:pt x="278" y="97"/>
                        </a:lnTo>
                        <a:lnTo>
                          <a:pt x="292" y="106"/>
                        </a:lnTo>
                        <a:lnTo>
                          <a:pt x="291" y="129"/>
                        </a:lnTo>
                        <a:lnTo>
                          <a:pt x="278" y="163"/>
                        </a:lnTo>
                        <a:lnTo>
                          <a:pt x="258" y="183"/>
                        </a:lnTo>
                        <a:lnTo>
                          <a:pt x="237" y="199"/>
                        </a:lnTo>
                        <a:lnTo>
                          <a:pt x="212" y="214"/>
                        </a:lnTo>
                        <a:lnTo>
                          <a:pt x="172" y="232"/>
                        </a:lnTo>
                        <a:lnTo>
                          <a:pt x="129" y="247"/>
                        </a:lnTo>
                        <a:lnTo>
                          <a:pt x="104" y="251"/>
                        </a:lnTo>
                        <a:lnTo>
                          <a:pt x="77" y="246"/>
                        </a:lnTo>
                        <a:lnTo>
                          <a:pt x="36" y="232"/>
                        </a:lnTo>
                        <a:lnTo>
                          <a:pt x="14" y="221"/>
                        </a:lnTo>
                        <a:lnTo>
                          <a:pt x="0" y="209"/>
                        </a:lnTo>
                        <a:lnTo>
                          <a:pt x="4" y="168"/>
                        </a:lnTo>
                        <a:lnTo>
                          <a:pt x="21" y="133"/>
                        </a:lnTo>
                        <a:lnTo>
                          <a:pt x="40" y="102"/>
                        </a:lnTo>
                        <a:lnTo>
                          <a:pt x="65" y="75"/>
                        </a:lnTo>
                        <a:lnTo>
                          <a:pt x="97" y="49"/>
                        </a:lnTo>
                        <a:lnTo>
                          <a:pt x="129" y="29"/>
                        </a:lnTo>
                        <a:lnTo>
                          <a:pt x="165" y="15"/>
                        </a:lnTo>
                        <a:lnTo>
                          <a:pt x="223" y="0"/>
                        </a:lnTo>
                        <a:lnTo>
                          <a:pt x="270" y="1"/>
                        </a:lnTo>
                        <a:lnTo>
                          <a:pt x="84" y="167"/>
                        </a:lnTo>
                        <a:close/>
                      </a:path>
                    </a:pathLst>
                  </a:custGeom>
                  <a:solidFill>
                    <a:srgbClr val="5F5F5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18" name="Freeform 347"/>
                  <p:cNvSpPr/>
                  <p:nvPr/>
                </p:nvSpPr>
                <p:spPr bwMode="auto">
                  <a:xfrm>
                    <a:off x="4791" y="2409"/>
                    <a:ext cx="193" cy="189"/>
                  </a:xfrm>
                  <a:custGeom>
                    <a:avLst/>
                    <a:gdLst>
                      <a:gd name="T0" fmla="*/ 50 w 1158"/>
                      <a:gd name="T1" fmla="*/ 66 h 946"/>
                      <a:gd name="T2" fmla="*/ 97 w 1158"/>
                      <a:gd name="T3" fmla="*/ 195 h 946"/>
                      <a:gd name="T4" fmla="*/ 0 w 1158"/>
                      <a:gd name="T5" fmla="*/ 270 h 946"/>
                      <a:gd name="T6" fmla="*/ 15 w 1158"/>
                      <a:gd name="T7" fmla="*/ 405 h 946"/>
                      <a:gd name="T8" fmla="*/ 108 w 1158"/>
                      <a:gd name="T9" fmla="*/ 338 h 946"/>
                      <a:gd name="T10" fmla="*/ 126 w 1158"/>
                      <a:gd name="T11" fmla="*/ 353 h 946"/>
                      <a:gd name="T12" fmla="*/ 243 w 1158"/>
                      <a:gd name="T13" fmla="*/ 498 h 946"/>
                      <a:gd name="T14" fmla="*/ 326 w 1158"/>
                      <a:gd name="T15" fmla="*/ 589 h 946"/>
                      <a:gd name="T16" fmla="*/ 373 w 1158"/>
                      <a:gd name="T17" fmla="*/ 634 h 946"/>
                      <a:gd name="T18" fmla="*/ 395 w 1158"/>
                      <a:gd name="T19" fmla="*/ 675 h 946"/>
                      <a:gd name="T20" fmla="*/ 459 w 1158"/>
                      <a:gd name="T21" fmla="*/ 686 h 946"/>
                      <a:gd name="T22" fmla="*/ 552 w 1158"/>
                      <a:gd name="T23" fmla="*/ 746 h 946"/>
                      <a:gd name="T24" fmla="*/ 717 w 1158"/>
                      <a:gd name="T25" fmla="*/ 832 h 946"/>
                      <a:gd name="T26" fmla="*/ 900 w 1158"/>
                      <a:gd name="T27" fmla="*/ 887 h 946"/>
                      <a:gd name="T28" fmla="*/ 1137 w 1158"/>
                      <a:gd name="T29" fmla="*/ 946 h 946"/>
                      <a:gd name="T30" fmla="*/ 1112 w 1158"/>
                      <a:gd name="T31" fmla="*/ 921 h 946"/>
                      <a:gd name="T32" fmla="*/ 1033 w 1158"/>
                      <a:gd name="T33" fmla="*/ 880 h 946"/>
                      <a:gd name="T34" fmla="*/ 904 w 1158"/>
                      <a:gd name="T35" fmla="*/ 846 h 946"/>
                      <a:gd name="T36" fmla="*/ 838 w 1158"/>
                      <a:gd name="T37" fmla="*/ 806 h 946"/>
                      <a:gd name="T38" fmla="*/ 795 w 1158"/>
                      <a:gd name="T39" fmla="*/ 776 h 946"/>
                      <a:gd name="T40" fmla="*/ 717 w 1158"/>
                      <a:gd name="T41" fmla="*/ 761 h 946"/>
                      <a:gd name="T42" fmla="*/ 692 w 1158"/>
                      <a:gd name="T43" fmla="*/ 728 h 946"/>
                      <a:gd name="T44" fmla="*/ 620 w 1158"/>
                      <a:gd name="T45" fmla="*/ 713 h 946"/>
                      <a:gd name="T46" fmla="*/ 588 w 1158"/>
                      <a:gd name="T47" fmla="*/ 671 h 946"/>
                      <a:gd name="T48" fmla="*/ 552 w 1158"/>
                      <a:gd name="T49" fmla="*/ 652 h 946"/>
                      <a:gd name="T50" fmla="*/ 527 w 1158"/>
                      <a:gd name="T51" fmla="*/ 623 h 946"/>
                      <a:gd name="T52" fmla="*/ 473 w 1158"/>
                      <a:gd name="T53" fmla="*/ 611 h 946"/>
                      <a:gd name="T54" fmla="*/ 466 w 1158"/>
                      <a:gd name="T55" fmla="*/ 557 h 946"/>
                      <a:gd name="T56" fmla="*/ 398 w 1158"/>
                      <a:gd name="T57" fmla="*/ 557 h 946"/>
                      <a:gd name="T58" fmla="*/ 366 w 1158"/>
                      <a:gd name="T59" fmla="*/ 501 h 946"/>
                      <a:gd name="T60" fmla="*/ 309 w 1158"/>
                      <a:gd name="T61" fmla="*/ 479 h 946"/>
                      <a:gd name="T62" fmla="*/ 250 w 1158"/>
                      <a:gd name="T63" fmla="*/ 427 h 946"/>
                      <a:gd name="T64" fmla="*/ 225 w 1158"/>
                      <a:gd name="T65" fmla="*/ 372 h 946"/>
                      <a:gd name="T66" fmla="*/ 190 w 1158"/>
                      <a:gd name="T67" fmla="*/ 322 h 946"/>
                      <a:gd name="T68" fmla="*/ 133 w 1158"/>
                      <a:gd name="T69" fmla="*/ 267 h 946"/>
                      <a:gd name="T70" fmla="*/ 115 w 1158"/>
                      <a:gd name="T71" fmla="*/ 195 h 946"/>
                      <a:gd name="T72" fmla="*/ 79 w 1158"/>
                      <a:gd name="T73" fmla="*/ 110 h 946"/>
                      <a:gd name="T74" fmla="*/ 43 w 1158"/>
                      <a:gd name="T75" fmla="*/ 0 h 94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</a:cxnLst>
                    <a:rect l="0" t="0" r="r" b="b"/>
                    <a:pathLst>
                      <a:path w="1158" h="946">
                        <a:moveTo>
                          <a:pt x="43" y="0"/>
                        </a:moveTo>
                        <a:lnTo>
                          <a:pt x="50" y="66"/>
                        </a:lnTo>
                        <a:lnTo>
                          <a:pt x="65" y="135"/>
                        </a:lnTo>
                        <a:lnTo>
                          <a:pt x="97" y="195"/>
                        </a:lnTo>
                        <a:lnTo>
                          <a:pt x="115" y="252"/>
                        </a:lnTo>
                        <a:lnTo>
                          <a:pt x="0" y="270"/>
                        </a:lnTo>
                        <a:lnTo>
                          <a:pt x="97" y="270"/>
                        </a:lnTo>
                        <a:lnTo>
                          <a:pt x="15" y="405"/>
                        </a:lnTo>
                        <a:lnTo>
                          <a:pt x="104" y="296"/>
                        </a:lnTo>
                        <a:lnTo>
                          <a:pt x="108" y="338"/>
                        </a:lnTo>
                        <a:lnTo>
                          <a:pt x="43" y="589"/>
                        </a:lnTo>
                        <a:lnTo>
                          <a:pt x="126" y="353"/>
                        </a:lnTo>
                        <a:lnTo>
                          <a:pt x="176" y="394"/>
                        </a:lnTo>
                        <a:lnTo>
                          <a:pt x="243" y="498"/>
                        </a:lnTo>
                        <a:lnTo>
                          <a:pt x="301" y="560"/>
                        </a:lnTo>
                        <a:lnTo>
                          <a:pt x="326" y="589"/>
                        </a:lnTo>
                        <a:lnTo>
                          <a:pt x="359" y="623"/>
                        </a:lnTo>
                        <a:lnTo>
                          <a:pt x="373" y="634"/>
                        </a:lnTo>
                        <a:lnTo>
                          <a:pt x="377" y="660"/>
                        </a:lnTo>
                        <a:lnTo>
                          <a:pt x="395" y="675"/>
                        </a:lnTo>
                        <a:lnTo>
                          <a:pt x="427" y="682"/>
                        </a:lnTo>
                        <a:lnTo>
                          <a:pt x="459" y="686"/>
                        </a:lnTo>
                        <a:lnTo>
                          <a:pt x="495" y="704"/>
                        </a:lnTo>
                        <a:lnTo>
                          <a:pt x="552" y="746"/>
                        </a:lnTo>
                        <a:lnTo>
                          <a:pt x="617" y="787"/>
                        </a:lnTo>
                        <a:lnTo>
                          <a:pt x="717" y="832"/>
                        </a:lnTo>
                        <a:lnTo>
                          <a:pt x="813" y="865"/>
                        </a:lnTo>
                        <a:lnTo>
                          <a:pt x="900" y="887"/>
                        </a:lnTo>
                        <a:lnTo>
                          <a:pt x="1018" y="921"/>
                        </a:lnTo>
                        <a:lnTo>
                          <a:pt x="1137" y="946"/>
                        </a:lnTo>
                        <a:lnTo>
                          <a:pt x="1158" y="946"/>
                        </a:lnTo>
                        <a:lnTo>
                          <a:pt x="1112" y="921"/>
                        </a:lnTo>
                        <a:lnTo>
                          <a:pt x="1072" y="898"/>
                        </a:lnTo>
                        <a:lnTo>
                          <a:pt x="1033" y="880"/>
                        </a:lnTo>
                        <a:lnTo>
                          <a:pt x="990" y="846"/>
                        </a:lnTo>
                        <a:lnTo>
                          <a:pt x="904" y="846"/>
                        </a:lnTo>
                        <a:lnTo>
                          <a:pt x="859" y="824"/>
                        </a:lnTo>
                        <a:lnTo>
                          <a:pt x="838" y="806"/>
                        </a:lnTo>
                        <a:lnTo>
                          <a:pt x="834" y="776"/>
                        </a:lnTo>
                        <a:lnTo>
                          <a:pt x="795" y="776"/>
                        </a:lnTo>
                        <a:lnTo>
                          <a:pt x="767" y="772"/>
                        </a:lnTo>
                        <a:lnTo>
                          <a:pt x="717" y="761"/>
                        </a:lnTo>
                        <a:lnTo>
                          <a:pt x="703" y="754"/>
                        </a:lnTo>
                        <a:lnTo>
                          <a:pt x="692" y="728"/>
                        </a:lnTo>
                        <a:lnTo>
                          <a:pt x="656" y="724"/>
                        </a:lnTo>
                        <a:lnTo>
                          <a:pt x="620" y="713"/>
                        </a:lnTo>
                        <a:lnTo>
                          <a:pt x="599" y="697"/>
                        </a:lnTo>
                        <a:lnTo>
                          <a:pt x="588" y="671"/>
                        </a:lnTo>
                        <a:lnTo>
                          <a:pt x="534" y="682"/>
                        </a:lnTo>
                        <a:lnTo>
                          <a:pt x="552" y="652"/>
                        </a:lnTo>
                        <a:lnTo>
                          <a:pt x="542" y="634"/>
                        </a:lnTo>
                        <a:lnTo>
                          <a:pt x="527" y="623"/>
                        </a:lnTo>
                        <a:lnTo>
                          <a:pt x="499" y="619"/>
                        </a:lnTo>
                        <a:lnTo>
                          <a:pt x="473" y="611"/>
                        </a:lnTo>
                        <a:lnTo>
                          <a:pt x="477" y="571"/>
                        </a:lnTo>
                        <a:lnTo>
                          <a:pt x="466" y="557"/>
                        </a:lnTo>
                        <a:lnTo>
                          <a:pt x="423" y="557"/>
                        </a:lnTo>
                        <a:lnTo>
                          <a:pt x="398" y="557"/>
                        </a:lnTo>
                        <a:lnTo>
                          <a:pt x="384" y="524"/>
                        </a:lnTo>
                        <a:lnTo>
                          <a:pt x="366" y="501"/>
                        </a:lnTo>
                        <a:lnTo>
                          <a:pt x="337" y="494"/>
                        </a:lnTo>
                        <a:lnTo>
                          <a:pt x="309" y="479"/>
                        </a:lnTo>
                        <a:lnTo>
                          <a:pt x="279" y="457"/>
                        </a:lnTo>
                        <a:lnTo>
                          <a:pt x="250" y="427"/>
                        </a:lnTo>
                        <a:lnTo>
                          <a:pt x="236" y="398"/>
                        </a:lnTo>
                        <a:lnTo>
                          <a:pt x="225" y="372"/>
                        </a:lnTo>
                        <a:lnTo>
                          <a:pt x="205" y="353"/>
                        </a:lnTo>
                        <a:lnTo>
                          <a:pt x="190" y="322"/>
                        </a:lnTo>
                        <a:lnTo>
                          <a:pt x="158" y="296"/>
                        </a:lnTo>
                        <a:lnTo>
                          <a:pt x="133" y="267"/>
                        </a:lnTo>
                        <a:lnTo>
                          <a:pt x="126" y="228"/>
                        </a:lnTo>
                        <a:lnTo>
                          <a:pt x="115" y="195"/>
                        </a:lnTo>
                        <a:lnTo>
                          <a:pt x="93" y="158"/>
                        </a:lnTo>
                        <a:lnTo>
                          <a:pt x="79" y="110"/>
                        </a:lnTo>
                        <a:lnTo>
                          <a:pt x="68" y="66"/>
                        </a:lnTo>
                        <a:lnTo>
                          <a:pt x="43" y="0"/>
                        </a:lnTo>
                        <a:close/>
                      </a:path>
                    </a:pathLst>
                  </a:custGeom>
                  <a:solidFill>
                    <a:srgbClr val="5F5F5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19" name="Freeform 348"/>
                  <p:cNvSpPr/>
                  <p:nvPr/>
                </p:nvSpPr>
                <p:spPr bwMode="auto">
                  <a:xfrm>
                    <a:off x="4871" y="2497"/>
                    <a:ext cx="33" cy="46"/>
                  </a:xfrm>
                  <a:custGeom>
                    <a:avLst/>
                    <a:gdLst>
                      <a:gd name="T0" fmla="*/ 186 w 199"/>
                      <a:gd name="T1" fmla="*/ 69 h 231"/>
                      <a:gd name="T2" fmla="*/ 126 w 199"/>
                      <a:gd name="T3" fmla="*/ 169 h 231"/>
                      <a:gd name="T4" fmla="*/ 107 w 199"/>
                      <a:gd name="T5" fmla="*/ 217 h 231"/>
                      <a:gd name="T6" fmla="*/ 100 w 199"/>
                      <a:gd name="T7" fmla="*/ 231 h 231"/>
                      <a:gd name="T8" fmla="*/ 94 w 199"/>
                      <a:gd name="T9" fmla="*/ 231 h 231"/>
                      <a:gd name="T10" fmla="*/ 94 w 199"/>
                      <a:gd name="T11" fmla="*/ 183 h 231"/>
                      <a:gd name="T12" fmla="*/ 107 w 199"/>
                      <a:gd name="T13" fmla="*/ 116 h 231"/>
                      <a:gd name="T14" fmla="*/ 133 w 199"/>
                      <a:gd name="T15" fmla="*/ 75 h 231"/>
                      <a:gd name="T16" fmla="*/ 159 w 199"/>
                      <a:gd name="T17" fmla="*/ 40 h 231"/>
                      <a:gd name="T18" fmla="*/ 186 w 199"/>
                      <a:gd name="T19" fmla="*/ 33 h 231"/>
                      <a:gd name="T20" fmla="*/ 193 w 199"/>
                      <a:gd name="T21" fmla="*/ 27 h 231"/>
                      <a:gd name="T22" fmla="*/ 139 w 199"/>
                      <a:gd name="T23" fmla="*/ 27 h 231"/>
                      <a:gd name="T24" fmla="*/ 107 w 199"/>
                      <a:gd name="T25" fmla="*/ 53 h 231"/>
                      <a:gd name="T26" fmla="*/ 54 w 199"/>
                      <a:gd name="T27" fmla="*/ 89 h 231"/>
                      <a:gd name="T28" fmla="*/ 27 w 199"/>
                      <a:gd name="T29" fmla="*/ 128 h 231"/>
                      <a:gd name="T30" fmla="*/ 8 w 199"/>
                      <a:gd name="T31" fmla="*/ 162 h 231"/>
                      <a:gd name="T32" fmla="*/ 0 w 199"/>
                      <a:gd name="T33" fmla="*/ 178 h 231"/>
                      <a:gd name="T34" fmla="*/ 27 w 199"/>
                      <a:gd name="T35" fmla="*/ 121 h 231"/>
                      <a:gd name="T36" fmla="*/ 60 w 199"/>
                      <a:gd name="T37" fmla="*/ 61 h 231"/>
                      <a:gd name="T38" fmla="*/ 107 w 199"/>
                      <a:gd name="T39" fmla="*/ 19 h 231"/>
                      <a:gd name="T40" fmla="*/ 126 w 199"/>
                      <a:gd name="T41" fmla="*/ 6 h 231"/>
                      <a:gd name="T42" fmla="*/ 159 w 199"/>
                      <a:gd name="T43" fmla="*/ 0 h 231"/>
                      <a:gd name="T44" fmla="*/ 180 w 199"/>
                      <a:gd name="T45" fmla="*/ 6 h 231"/>
                      <a:gd name="T46" fmla="*/ 199 w 199"/>
                      <a:gd name="T47" fmla="*/ 19 h 231"/>
                      <a:gd name="T48" fmla="*/ 186 w 199"/>
                      <a:gd name="T49" fmla="*/ 69 h 2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</a:cxnLst>
                    <a:rect l="0" t="0" r="r" b="b"/>
                    <a:pathLst>
                      <a:path w="199" h="231">
                        <a:moveTo>
                          <a:pt x="186" y="69"/>
                        </a:moveTo>
                        <a:lnTo>
                          <a:pt x="126" y="169"/>
                        </a:lnTo>
                        <a:lnTo>
                          <a:pt x="107" y="217"/>
                        </a:lnTo>
                        <a:lnTo>
                          <a:pt x="100" y="231"/>
                        </a:lnTo>
                        <a:lnTo>
                          <a:pt x="94" y="231"/>
                        </a:lnTo>
                        <a:lnTo>
                          <a:pt x="94" y="183"/>
                        </a:lnTo>
                        <a:lnTo>
                          <a:pt x="107" y="116"/>
                        </a:lnTo>
                        <a:lnTo>
                          <a:pt x="133" y="75"/>
                        </a:lnTo>
                        <a:lnTo>
                          <a:pt x="159" y="40"/>
                        </a:lnTo>
                        <a:lnTo>
                          <a:pt x="186" y="33"/>
                        </a:lnTo>
                        <a:lnTo>
                          <a:pt x="193" y="27"/>
                        </a:lnTo>
                        <a:lnTo>
                          <a:pt x="139" y="27"/>
                        </a:lnTo>
                        <a:lnTo>
                          <a:pt x="107" y="53"/>
                        </a:lnTo>
                        <a:lnTo>
                          <a:pt x="54" y="89"/>
                        </a:lnTo>
                        <a:lnTo>
                          <a:pt x="27" y="128"/>
                        </a:lnTo>
                        <a:lnTo>
                          <a:pt x="8" y="162"/>
                        </a:lnTo>
                        <a:lnTo>
                          <a:pt x="0" y="178"/>
                        </a:lnTo>
                        <a:lnTo>
                          <a:pt x="27" y="121"/>
                        </a:lnTo>
                        <a:lnTo>
                          <a:pt x="60" y="61"/>
                        </a:lnTo>
                        <a:lnTo>
                          <a:pt x="107" y="19"/>
                        </a:lnTo>
                        <a:lnTo>
                          <a:pt x="126" y="6"/>
                        </a:lnTo>
                        <a:lnTo>
                          <a:pt x="159" y="0"/>
                        </a:lnTo>
                        <a:lnTo>
                          <a:pt x="180" y="6"/>
                        </a:lnTo>
                        <a:lnTo>
                          <a:pt x="199" y="19"/>
                        </a:lnTo>
                        <a:lnTo>
                          <a:pt x="186" y="69"/>
                        </a:lnTo>
                        <a:close/>
                      </a:path>
                    </a:pathLst>
                  </a:custGeom>
                  <a:solidFill>
                    <a:srgbClr val="5F5F5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grpSp>
                <p:nvGrpSpPr>
                  <p:cNvPr id="320" name="Group 349"/>
                  <p:cNvGrpSpPr/>
                  <p:nvPr/>
                </p:nvGrpSpPr>
                <p:grpSpPr bwMode="auto">
                  <a:xfrm>
                    <a:off x="4842" y="2328"/>
                    <a:ext cx="46" cy="158"/>
                    <a:chOff x="4842" y="2328"/>
                    <a:chExt cx="46" cy="158"/>
                  </a:xfrm>
                </p:grpSpPr>
                <p:sp>
                  <p:nvSpPr>
                    <p:cNvPr id="321" name="Freeform 350"/>
                    <p:cNvSpPr/>
                    <p:nvPr/>
                  </p:nvSpPr>
                  <p:spPr bwMode="auto">
                    <a:xfrm>
                      <a:off x="4863" y="2379"/>
                      <a:ext cx="25" cy="107"/>
                    </a:xfrm>
                    <a:custGeom>
                      <a:avLst/>
                      <a:gdLst>
                        <a:gd name="T0" fmla="*/ 0 w 153"/>
                        <a:gd name="T1" fmla="*/ 111 h 534"/>
                        <a:gd name="T2" fmla="*/ 46 w 153"/>
                        <a:gd name="T3" fmla="*/ 63 h 534"/>
                        <a:gd name="T4" fmla="*/ 61 w 153"/>
                        <a:gd name="T5" fmla="*/ 93 h 534"/>
                        <a:gd name="T6" fmla="*/ 75 w 153"/>
                        <a:gd name="T7" fmla="*/ 130 h 534"/>
                        <a:gd name="T8" fmla="*/ 101 w 153"/>
                        <a:gd name="T9" fmla="*/ 402 h 534"/>
                        <a:gd name="T10" fmla="*/ 94 w 153"/>
                        <a:gd name="T11" fmla="*/ 454 h 534"/>
                        <a:gd name="T12" fmla="*/ 145 w 153"/>
                        <a:gd name="T13" fmla="*/ 534 h 534"/>
                        <a:gd name="T14" fmla="*/ 153 w 153"/>
                        <a:gd name="T15" fmla="*/ 365 h 534"/>
                        <a:gd name="T16" fmla="*/ 138 w 153"/>
                        <a:gd name="T17" fmla="*/ 302 h 534"/>
                        <a:gd name="T18" fmla="*/ 112 w 153"/>
                        <a:gd name="T19" fmla="*/ 192 h 534"/>
                        <a:gd name="T20" fmla="*/ 94 w 153"/>
                        <a:gd name="T21" fmla="*/ 105 h 534"/>
                        <a:gd name="T22" fmla="*/ 101 w 153"/>
                        <a:gd name="T23" fmla="*/ 42 h 534"/>
                        <a:gd name="T24" fmla="*/ 76 w 153"/>
                        <a:gd name="T25" fmla="*/ 0 h 534"/>
                        <a:gd name="T26" fmla="*/ 2 w 153"/>
                        <a:gd name="T27" fmla="*/ 90 h 534"/>
                        <a:gd name="T28" fmla="*/ 0 w 153"/>
                        <a:gd name="T29" fmla="*/ 111 h 5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</a:cxnLst>
                      <a:rect l="0" t="0" r="r" b="b"/>
                      <a:pathLst>
                        <a:path w="153" h="534">
                          <a:moveTo>
                            <a:pt x="0" y="111"/>
                          </a:moveTo>
                          <a:lnTo>
                            <a:pt x="46" y="63"/>
                          </a:lnTo>
                          <a:lnTo>
                            <a:pt x="61" y="93"/>
                          </a:lnTo>
                          <a:lnTo>
                            <a:pt x="75" y="130"/>
                          </a:lnTo>
                          <a:lnTo>
                            <a:pt x="101" y="402"/>
                          </a:lnTo>
                          <a:lnTo>
                            <a:pt x="94" y="454"/>
                          </a:lnTo>
                          <a:lnTo>
                            <a:pt x="145" y="534"/>
                          </a:lnTo>
                          <a:lnTo>
                            <a:pt x="153" y="365"/>
                          </a:lnTo>
                          <a:lnTo>
                            <a:pt x="138" y="302"/>
                          </a:lnTo>
                          <a:lnTo>
                            <a:pt x="112" y="192"/>
                          </a:lnTo>
                          <a:lnTo>
                            <a:pt x="94" y="105"/>
                          </a:lnTo>
                          <a:lnTo>
                            <a:pt x="101" y="42"/>
                          </a:lnTo>
                          <a:lnTo>
                            <a:pt x="76" y="0"/>
                          </a:lnTo>
                          <a:lnTo>
                            <a:pt x="2" y="90"/>
                          </a:lnTo>
                          <a:lnTo>
                            <a:pt x="0" y="111"/>
                          </a:lnTo>
                          <a:close/>
                        </a:path>
                      </a:pathLst>
                    </a:custGeom>
                    <a:solidFill>
                      <a:srgbClr val="00007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22" name="Freeform 351"/>
                    <p:cNvSpPr/>
                    <p:nvPr/>
                  </p:nvSpPr>
                  <p:spPr bwMode="auto">
                    <a:xfrm>
                      <a:off x="4842" y="2328"/>
                      <a:ext cx="42" cy="72"/>
                    </a:xfrm>
                    <a:custGeom>
                      <a:avLst/>
                      <a:gdLst>
                        <a:gd name="T0" fmla="*/ 15 w 254"/>
                        <a:gd name="T1" fmla="*/ 0 h 359"/>
                        <a:gd name="T2" fmla="*/ 34 w 254"/>
                        <a:gd name="T3" fmla="*/ 56 h 359"/>
                        <a:gd name="T4" fmla="*/ 51 w 254"/>
                        <a:gd name="T5" fmla="*/ 91 h 359"/>
                        <a:gd name="T6" fmla="*/ 70 w 254"/>
                        <a:gd name="T7" fmla="*/ 120 h 359"/>
                        <a:gd name="T8" fmla="*/ 94 w 254"/>
                        <a:gd name="T9" fmla="*/ 158 h 359"/>
                        <a:gd name="T10" fmla="*/ 123 w 254"/>
                        <a:gd name="T11" fmla="*/ 202 h 359"/>
                        <a:gd name="T12" fmla="*/ 152 w 254"/>
                        <a:gd name="T13" fmla="*/ 227 h 359"/>
                        <a:gd name="T14" fmla="*/ 181 w 254"/>
                        <a:gd name="T15" fmla="*/ 247 h 359"/>
                        <a:gd name="T16" fmla="*/ 230 w 254"/>
                        <a:gd name="T17" fmla="*/ 245 h 359"/>
                        <a:gd name="T18" fmla="*/ 254 w 254"/>
                        <a:gd name="T19" fmla="*/ 336 h 359"/>
                        <a:gd name="T20" fmla="*/ 202 w 254"/>
                        <a:gd name="T21" fmla="*/ 258 h 359"/>
                        <a:gd name="T22" fmla="*/ 127 w 254"/>
                        <a:gd name="T23" fmla="*/ 359 h 359"/>
                        <a:gd name="T24" fmla="*/ 100 w 254"/>
                        <a:gd name="T25" fmla="*/ 304 h 359"/>
                        <a:gd name="T26" fmla="*/ 73 w 254"/>
                        <a:gd name="T27" fmla="*/ 256 h 359"/>
                        <a:gd name="T28" fmla="*/ 59 w 254"/>
                        <a:gd name="T29" fmla="*/ 229 h 359"/>
                        <a:gd name="T30" fmla="*/ 47 w 254"/>
                        <a:gd name="T31" fmla="*/ 194 h 359"/>
                        <a:gd name="T32" fmla="*/ 37 w 254"/>
                        <a:gd name="T33" fmla="*/ 162 h 359"/>
                        <a:gd name="T34" fmla="*/ 29 w 254"/>
                        <a:gd name="T35" fmla="*/ 135 h 359"/>
                        <a:gd name="T36" fmla="*/ 8 w 254"/>
                        <a:gd name="T37" fmla="*/ 94 h 359"/>
                        <a:gd name="T38" fmla="*/ 2 w 254"/>
                        <a:gd name="T39" fmla="*/ 67 h 359"/>
                        <a:gd name="T40" fmla="*/ 0 w 254"/>
                        <a:gd name="T41" fmla="*/ 45 h 359"/>
                        <a:gd name="T42" fmla="*/ 15 w 254"/>
                        <a:gd name="T43" fmla="*/ 0 h 35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</a:cxnLst>
                      <a:rect l="0" t="0" r="r" b="b"/>
                      <a:pathLst>
                        <a:path w="254" h="359">
                          <a:moveTo>
                            <a:pt x="15" y="0"/>
                          </a:moveTo>
                          <a:lnTo>
                            <a:pt x="34" y="56"/>
                          </a:lnTo>
                          <a:lnTo>
                            <a:pt x="51" y="91"/>
                          </a:lnTo>
                          <a:lnTo>
                            <a:pt x="70" y="120"/>
                          </a:lnTo>
                          <a:lnTo>
                            <a:pt x="94" y="158"/>
                          </a:lnTo>
                          <a:lnTo>
                            <a:pt x="123" y="202"/>
                          </a:lnTo>
                          <a:lnTo>
                            <a:pt x="152" y="227"/>
                          </a:lnTo>
                          <a:lnTo>
                            <a:pt x="181" y="247"/>
                          </a:lnTo>
                          <a:lnTo>
                            <a:pt x="230" y="245"/>
                          </a:lnTo>
                          <a:lnTo>
                            <a:pt x="254" y="336"/>
                          </a:lnTo>
                          <a:lnTo>
                            <a:pt x="202" y="258"/>
                          </a:lnTo>
                          <a:lnTo>
                            <a:pt x="127" y="359"/>
                          </a:lnTo>
                          <a:lnTo>
                            <a:pt x="100" y="304"/>
                          </a:lnTo>
                          <a:lnTo>
                            <a:pt x="73" y="256"/>
                          </a:lnTo>
                          <a:lnTo>
                            <a:pt x="59" y="229"/>
                          </a:lnTo>
                          <a:lnTo>
                            <a:pt x="47" y="194"/>
                          </a:lnTo>
                          <a:lnTo>
                            <a:pt x="37" y="162"/>
                          </a:lnTo>
                          <a:lnTo>
                            <a:pt x="29" y="135"/>
                          </a:lnTo>
                          <a:lnTo>
                            <a:pt x="8" y="94"/>
                          </a:lnTo>
                          <a:lnTo>
                            <a:pt x="2" y="67"/>
                          </a:lnTo>
                          <a:lnTo>
                            <a:pt x="0" y="45"/>
                          </a:lnTo>
                          <a:lnTo>
                            <a:pt x="15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  <p:grpSp>
              <p:nvGrpSpPr>
                <p:cNvPr id="278" name="Group 352"/>
                <p:cNvGrpSpPr/>
                <p:nvPr/>
              </p:nvGrpSpPr>
              <p:grpSpPr bwMode="auto">
                <a:xfrm>
                  <a:off x="4840" y="2242"/>
                  <a:ext cx="86" cy="141"/>
                  <a:chOff x="4840" y="2242"/>
                  <a:chExt cx="86" cy="141"/>
                </a:xfrm>
              </p:grpSpPr>
              <p:sp>
                <p:nvSpPr>
                  <p:cNvPr id="279" name="Freeform 353"/>
                  <p:cNvSpPr/>
                  <p:nvPr/>
                </p:nvSpPr>
                <p:spPr bwMode="auto">
                  <a:xfrm>
                    <a:off x="4842" y="2244"/>
                    <a:ext cx="83" cy="139"/>
                  </a:xfrm>
                  <a:custGeom>
                    <a:avLst/>
                    <a:gdLst>
                      <a:gd name="T0" fmla="*/ 201 w 502"/>
                      <a:gd name="T1" fmla="*/ 682 h 693"/>
                      <a:gd name="T2" fmla="*/ 224 w 502"/>
                      <a:gd name="T3" fmla="*/ 673 h 693"/>
                      <a:gd name="T4" fmla="*/ 269 w 502"/>
                      <a:gd name="T5" fmla="*/ 684 h 693"/>
                      <a:gd name="T6" fmla="*/ 302 w 502"/>
                      <a:gd name="T7" fmla="*/ 691 h 693"/>
                      <a:gd name="T8" fmla="*/ 317 w 502"/>
                      <a:gd name="T9" fmla="*/ 691 h 693"/>
                      <a:gd name="T10" fmla="*/ 336 w 502"/>
                      <a:gd name="T11" fmla="*/ 693 h 693"/>
                      <a:gd name="T12" fmla="*/ 355 w 502"/>
                      <a:gd name="T13" fmla="*/ 693 h 693"/>
                      <a:gd name="T14" fmla="*/ 371 w 502"/>
                      <a:gd name="T15" fmla="*/ 688 h 693"/>
                      <a:gd name="T16" fmla="*/ 381 w 502"/>
                      <a:gd name="T17" fmla="*/ 674 h 693"/>
                      <a:gd name="T18" fmla="*/ 390 w 502"/>
                      <a:gd name="T19" fmla="*/ 659 h 693"/>
                      <a:gd name="T20" fmla="*/ 396 w 502"/>
                      <a:gd name="T21" fmla="*/ 643 h 693"/>
                      <a:gd name="T22" fmla="*/ 403 w 502"/>
                      <a:gd name="T23" fmla="*/ 617 h 693"/>
                      <a:gd name="T24" fmla="*/ 406 w 502"/>
                      <a:gd name="T25" fmla="*/ 606 h 693"/>
                      <a:gd name="T26" fmla="*/ 422 w 502"/>
                      <a:gd name="T27" fmla="*/ 569 h 693"/>
                      <a:gd name="T28" fmla="*/ 433 w 502"/>
                      <a:gd name="T29" fmla="*/ 537 h 693"/>
                      <a:gd name="T30" fmla="*/ 445 w 502"/>
                      <a:gd name="T31" fmla="*/ 505 h 693"/>
                      <a:gd name="T32" fmla="*/ 448 w 502"/>
                      <a:gd name="T33" fmla="*/ 484 h 693"/>
                      <a:gd name="T34" fmla="*/ 461 w 502"/>
                      <a:gd name="T35" fmla="*/ 453 h 693"/>
                      <a:gd name="T36" fmla="*/ 472 w 502"/>
                      <a:gd name="T37" fmla="*/ 424 h 693"/>
                      <a:gd name="T38" fmla="*/ 475 w 502"/>
                      <a:gd name="T39" fmla="*/ 390 h 693"/>
                      <a:gd name="T40" fmla="*/ 475 w 502"/>
                      <a:gd name="T41" fmla="*/ 368 h 693"/>
                      <a:gd name="T42" fmla="*/ 500 w 502"/>
                      <a:gd name="T43" fmla="*/ 347 h 693"/>
                      <a:gd name="T44" fmla="*/ 498 w 502"/>
                      <a:gd name="T45" fmla="*/ 297 h 693"/>
                      <a:gd name="T46" fmla="*/ 502 w 502"/>
                      <a:gd name="T47" fmla="*/ 219 h 693"/>
                      <a:gd name="T48" fmla="*/ 498 w 502"/>
                      <a:gd name="T49" fmla="*/ 180 h 693"/>
                      <a:gd name="T50" fmla="*/ 488 w 502"/>
                      <a:gd name="T51" fmla="*/ 134 h 693"/>
                      <a:gd name="T52" fmla="*/ 472 w 502"/>
                      <a:gd name="T53" fmla="*/ 110 h 693"/>
                      <a:gd name="T54" fmla="*/ 451 w 502"/>
                      <a:gd name="T55" fmla="*/ 81 h 693"/>
                      <a:gd name="T56" fmla="*/ 406 w 502"/>
                      <a:gd name="T57" fmla="*/ 47 h 693"/>
                      <a:gd name="T58" fmla="*/ 348 w 502"/>
                      <a:gd name="T59" fmla="*/ 20 h 693"/>
                      <a:gd name="T60" fmla="*/ 298 w 502"/>
                      <a:gd name="T61" fmla="*/ 8 h 693"/>
                      <a:gd name="T62" fmla="*/ 245 w 502"/>
                      <a:gd name="T63" fmla="*/ 0 h 693"/>
                      <a:gd name="T64" fmla="*/ 191 w 502"/>
                      <a:gd name="T65" fmla="*/ 0 h 693"/>
                      <a:gd name="T66" fmla="*/ 152 w 502"/>
                      <a:gd name="T67" fmla="*/ 4 h 693"/>
                      <a:gd name="T68" fmla="*/ 117 w 502"/>
                      <a:gd name="T69" fmla="*/ 15 h 693"/>
                      <a:gd name="T70" fmla="*/ 81 w 502"/>
                      <a:gd name="T71" fmla="*/ 34 h 693"/>
                      <a:gd name="T72" fmla="*/ 60 w 502"/>
                      <a:gd name="T73" fmla="*/ 56 h 693"/>
                      <a:gd name="T74" fmla="*/ 36 w 502"/>
                      <a:gd name="T75" fmla="*/ 81 h 693"/>
                      <a:gd name="T76" fmla="*/ 24 w 502"/>
                      <a:gd name="T77" fmla="*/ 115 h 693"/>
                      <a:gd name="T78" fmla="*/ 11 w 502"/>
                      <a:gd name="T79" fmla="*/ 156 h 693"/>
                      <a:gd name="T80" fmla="*/ 3 w 502"/>
                      <a:gd name="T81" fmla="*/ 209 h 693"/>
                      <a:gd name="T82" fmla="*/ 0 w 502"/>
                      <a:gd name="T83" fmla="*/ 260 h 693"/>
                      <a:gd name="T84" fmla="*/ 4 w 502"/>
                      <a:gd name="T85" fmla="*/ 328 h 693"/>
                      <a:gd name="T86" fmla="*/ 7 w 502"/>
                      <a:gd name="T87" fmla="*/ 380 h 693"/>
                      <a:gd name="T88" fmla="*/ 18 w 502"/>
                      <a:gd name="T89" fmla="*/ 407 h 693"/>
                      <a:gd name="T90" fmla="*/ 28 w 502"/>
                      <a:gd name="T91" fmla="*/ 432 h 693"/>
                      <a:gd name="T92" fmla="*/ 40 w 502"/>
                      <a:gd name="T93" fmla="*/ 471 h 693"/>
                      <a:gd name="T94" fmla="*/ 62 w 502"/>
                      <a:gd name="T95" fmla="*/ 517 h 693"/>
                      <a:gd name="T96" fmla="*/ 89 w 502"/>
                      <a:gd name="T97" fmla="*/ 564 h 693"/>
                      <a:gd name="T98" fmla="*/ 107 w 502"/>
                      <a:gd name="T99" fmla="*/ 596 h 693"/>
                      <a:gd name="T100" fmla="*/ 129 w 502"/>
                      <a:gd name="T101" fmla="*/ 627 h 693"/>
                      <a:gd name="T102" fmla="*/ 146 w 502"/>
                      <a:gd name="T103" fmla="*/ 644 h 693"/>
                      <a:gd name="T104" fmla="*/ 163 w 502"/>
                      <a:gd name="T105" fmla="*/ 662 h 693"/>
                      <a:gd name="T106" fmla="*/ 181 w 502"/>
                      <a:gd name="T107" fmla="*/ 674 h 693"/>
                      <a:gd name="T108" fmla="*/ 201 w 502"/>
                      <a:gd name="T109" fmla="*/ 682 h 69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</a:cxnLst>
                    <a:rect l="0" t="0" r="r" b="b"/>
                    <a:pathLst>
                      <a:path w="502" h="693">
                        <a:moveTo>
                          <a:pt x="201" y="682"/>
                        </a:moveTo>
                        <a:lnTo>
                          <a:pt x="224" y="673"/>
                        </a:lnTo>
                        <a:lnTo>
                          <a:pt x="269" y="684"/>
                        </a:lnTo>
                        <a:lnTo>
                          <a:pt x="302" y="691"/>
                        </a:lnTo>
                        <a:lnTo>
                          <a:pt x="317" y="691"/>
                        </a:lnTo>
                        <a:lnTo>
                          <a:pt x="336" y="693"/>
                        </a:lnTo>
                        <a:lnTo>
                          <a:pt x="355" y="693"/>
                        </a:lnTo>
                        <a:lnTo>
                          <a:pt x="371" y="688"/>
                        </a:lnTo>
                        <a:lnTo>
                          <a:pt x="381" y="674"/>
                        </a:lnTo>
                        <a:lnTo>
                          <a:pt x="390" y="659"/>
                        </a:lnTo>
                        <a:lnTo>
                          <a:pt x="396" y="643"/>
                        </a:lnTo>
                        <a:lnTo>
                          <a:pt x="403" y="617"/>
                        </a:lnTo>
                        <a:lnTo>
                          <a:pt x="406" y="606"/>
                        </a:lnTo>
                        <a:lnTo>
                          <a:pt x="422" y="569"/>
                        </a:lnTo>
                        <a:lnTo>
                          <a:pt x="433" y="537"/>
                        </a:lnTo>
                        <a:lnTo>
                          <a:pt x="445" y="505"/>
                        </a:lnTo>
                        <a:lnTo>
                          <a:pt x="448" y="484"/>
                        </a:lnTo>
                        <a:lnTo>
                          <a:pt x="461" y="453"/>
                        </a:lnTo>
                        <a:lnTo>
                          <a:pt x="472" y="424"/>
                        </a:lnTo>
                        <a:lnTo>
                          <a:pt x="475" y="390"/>
                        </a:lnTo>
                        <a:lnTo>
                          <a:pt x="475" y="368"/>
                        </a:lnTo>
                        <a:lnTo>
                          <a:pt x="500" y="347"/>
                        </a:lnTo>
                        <a:lnTo>
                          <a:pt x="498" y="297"/>
                        </a:lnTo>
                        <a:lnTo>
                          <a:pt x="502" y="219"/>
                        </a:lnTo>
                        <a:lnTo>
                          <a:pt x="498" y="180"/>
                        </a:lnTo>
                        <a:lnTo>
                          <a:pt x="488" y="134"/>
                        </a:lnTo>
                        <a:lnTo>
                          <a:pt x="472" y="110"/>
                        </a:lnTo>
                        <a:lnTo>
                          <a:pt x="451" y="81"/>
                        </a:lnTo>
                        <a:lnTo>
                          <a:pt x="406" y="47"/>
                        </a:lnTo>
                        <a:lnTo>
                          <a:pt x="348" y="20"/>
                        </a:lnTo>
                        <a:lnTo>
                          <a:pt x="298" y="8"/>
                        </a:lnTo>
                        <a:lnTo>
                          <a:pt x="245" y="0"/>
                        </a:lnTo>
                        <a:lnTo>
                          <a:pt x="191" y="0"/>
                        </a:lnTo>
                        <a:lnTo>
                          <a:pt x="152" y="4"/>
                        </a:lnTo>
                        <a:lnTo>
                          <a:pt x="117" y="15"/>
                        </a:lnTo>
                        <a:lnTo>
                          <a:pt x="81" y="34"/>
                        </a:lnTo>
                        <a:lnTo>
                          <a:pt x="60" y="56"/>
                        </a:lnTo>
                        <a:lnTo>
                          <a:pt x="36" y="81"/>
                        </a:lnTo>
                        <a:lnTo>
                          <a:pt x="24" y="115"/>
                        </a:lnTo>
                        <a:lnTo>
                          <a:pt x="11" y="156"/>
                        </a:lnTo>
                        <a:lnTo>
                          <a:pt x="3" y="209"/>
                        </a:lnTo>
                        <a:lnTo>
                          <a:pt x="0" y="260"/>
                        </a:lnTo>
                        <a:lnTo>
                          <a:pt x="4" y="328"/>
                        </a:lnTo>
                        <a:lnTo>
                          <a:pt x="7" y="380"/>
                        </a:lnTo>
                        <a:lnTo>
                          <a:pt x="18" y="407"/>
                        </a:lnTo>
                        <a:lnTo>
                          <a:pt x="28" y="432"/>
                        </a:lnTo>
                        <a:lnTo>
                          <a:pt x="40" y="471"/>
                        </a:lnTo>
                        <a:lnTo>
                          <a:pt x="62" y="517"/>
                        </a:lnTo>
                        <a:lnTo>
                          <a:pt x="89" y="564"/>
                        </a:lnTo>
                        <a:lnTo>
                          <a:pt x="107" y="596"/>
                        </a:lnTo>
                        <a:lnTo>
                          <a:pt x="129" y="627"/>
                        </a:lnTo>
                        <a:lnTo>
                          <a:pt x="146" y="644"/>
                        </a:lnTo>
                        <a:lnTo>
                          <a:pt x="163" y="662"/>
                        </a:lnTo>
                        <a:lnTo>
                          <a:pt x="181" y="674"/>
                        </a:lnTo>
                        <a:lnTo>
                          <a:pt x="201" y="682"/>
                        </a:lnTo>
                        <a:close/>
                      </a:path>
                    </a:pathLst>
                  </a:custGeom>
                  <a:solidFill>
                    <a:srgbClr val="FF9F9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grpSp>
                <p:nvGrpSpPr>
                  <p:cNvPr id="280" name="Group 354"/>
                  <p:cNvGrpSpPr/>
                  <p:nvPr/>
                </p:nvGrpSpPr>
                <p:grpSpPr bwMode="auto">
                  <a:xfrm>
                    <a:off x="4842" y="2244"/>
                    <a:ext cx="76" cy="139"/>
                    <a:chOff x="4842" y="2244"/>
                    <a:chExt cx="76" cy="139"/>
                  </a:xfrm>
                </p:grpSpPr>
                <p:sp>
                  <p:nvSpPr>
                    <p:cNvPr id="304" name="Freeform 355"/>
                    <p:cNvSpPr/>
                    <p:nvPr/>
                  </p:nvSpPr>
                  <p:spPr bwMode="auto">
                    <a:xfrm>
                      <a:off x="4842" y="2244"/>
                      <a:ext cx="61" cy="139"/>
                    </a:xfrm>
                    <a:custGeom>
                      <a:avLst/>
                      <a:gdLst>
                        <a:gd name="T0" fmla="*/ 224 w 368"/>
                        <a:gd name="T1" fmla="*/ 673 h 693"/>
                        <a:gd name="T2" fmla="*/ 304 w 368"/>
                        <a:gd name="T3" fmla="*/ 691 h 693"/>
                        <a:gd name="T4" fmla="*/ 329 w 368"/>
                        <a:gd name="T5" fmla="*/ 691 h 693"/>
                        <a:gd name="T6" fmla="*/ 356 w 368"/>
                        <a:gd name="T7" fmla="*/ 691 h 693"/>
                        <a:gd name="T8" fmla="*/ 356 w 368"/>
                        <a:gd name="T9" fmla="*/ 683 h 693"/>
                        <a:gd name="T10" fmla="*/ 340 w 368"/>
                        <a:gd name="T11" fmla="*/ 683 h 693"/>
                        <a:gd name="T12" fmla="*/ 313 w 368"/>
                        <a:gd name="T13" fmla="*/ 679 h 693"/>
                        <a:gd name="T14" fmla="*/ 291 w 368"/>
                        <a:gd name="T15" fmla="*/ 668 h 693"/>
                        <a:gd name="T16" fmla="*/ 267 w 368"/>
                        <a:gd name="T17" fmla="*/ 646 h 693"/>
                        <a:gd name="T18" fmla="*/ 251 w 368"/>
                        <a:gd name="T19" fmla="*/ 623 h 693"/>
                        <a:gd name="T20" fmla="*/ 264 w 368"/>
                        <a:gd name="T21" fmla="*/ 607 h 693"/>
                        <a:gd name="T22" fmla="*/ 258 w 368"/>
                        <a:gd name="T23" fmla="*/ 595 h 693"/>
                        <a:gd name="T24" fmla="*/ 263 w 368"/>
                        <a:gd name="T25" fmla="*/ 552 h 693"/>
                        <a:gd name="T26" fmla="*/ 246 w 368"/>
                        <a:gd name="T27" fmla="*/ 512 h 693"/>
                        <a:gd name="T28" fmla="*/ 222 w 368"/>
                        <a:gd name="T29" fmla="*/ 468 h 693"/>
                        <a:gd name="T30" fmla="*/ 232 w 368"/>
                        <a:gd name="T31" fmla="*/ 445 h 693"/>
                        <a:gd name="T32" fmla="*/ 249 w 368"/>
                        <a:gd name="T33" fmla="*/ 428 h 693"/>
                        <a:gd name="T34" fmla="*/ 236 w 368"/>
                        <a:gd name="T35" fmla="*/ 415 h 693"/>
                        <a:gd name="T36" fmla="*/ 219 w 368"/>
                        <a:gd name="T37" fmla="*/ 397 h 693"/>
                        <a:gd name="T38" fmla="*/ 201 w 368"/>
                        <a:gd name="T39" fmla="*/ 376 h 693"/>
                        <a:gd name="T40" fmla="*/ 189 w 368"/>
                        <a:gd name="T41" fmla="*/ 338 h 693"/>
                        <a:gd name="T42" fmla="*/ 202 w 368"/>
                        <a:gd name="T43" fmla="*/ 309 h 693"/>
                        <a:gd name="T44" fmla="*/ 219 w 368"/>
                        <a:gd name="T45" fmla="*/ 298 h 693"/>
                        <a:gd name="T46" fmla="*/ 240 w 368"/>
                        <a:gd name="T47" fmla="*/ 317 h 693"/>
                        <a:gd name="T48" fmla="*/ 255 w 368"/>
                        <a:gd name="T49" fmla="*/ 337 h 693"/>
                        <a:gd name="T50" fmla="*/ 267 w 368"/>
                        <a:gd name="T51" fmla="*/ 316 h 693"/>
                        <a:gd name="T52" fmla="*/ 262 w 368"/>
                        <a:gd name="T53" fmla="*/ 288 h 693"/>
                        <a:gd name="T54" fmla="*/ 267 w 368"/>
                        <a:gd name="T55" fmla="*/ 235 h 693"/>
                        <a:gd name="T56" fmla="*/ 281 w 368"/>
                        <a:gd name="T57" fmla="*/ 175 h 693"/>
                        <a:gd name="T58" fmla="*/ 273 w 368"/>
                        <a:gd name="T59" fmla="*/ 112 h 693"/>
                        <a:gd name="T60" fmla="*/ 286 w 368"/>
                        <a:gd name="T61" fmla="*/ 58 h 693"/>
                        <a:gd name="T62" fmla="*/ 349 w 368"/>
                        <a:gd name="T63" fmla="*/ 20 h 693"/>
                        <a:gd name="T64" fmla="*/ 245 w 368"/>
                        <a:gd name="T65" fmla="*/ 0 h 693"/>
                        <a:gd name="T66" fmla="*/ 152 w 368"/>
                        <a:gd name="T67" fmla="*/ 4 h 693"/>
                        <a:gd name="T68" fmla="*/ 81 w 368"/>
                        <a:gd name="T69" fmla="*/ 34 h 693"/>
                        <a:gd name="T70" fmla="*/ 36 w 368"/>
                        <a:gd name="T71" fmla="*/ 81 h 693"/>
                        <a:gd name="T72" fmla="*/ 11 w 368"/>
                        <a:gd name="T73" fmla="*/ 156 h 693"/>
                        <a:gd name="T74" fmla="*/ 0 w 368"/>
                        <a:gd name="T75" fmla="*/ 260 h 693"/>
                        <a:gd name="T76" fmla="*/ 7 w 368"/>
                        <a:gd name="T77" fmla="*/ 380 h 693"/>
                        <a:gd name="T78" fmla="*/ 28 w 368"/>
                        <a:gd name="T79" fmla="*/ 432 h 693"/>
                        <a:gd name="T80" fmla="*/ 62 w 368"/>
                        <a:gd name="T81" fmla="*/ 517 h 693"/>
                        <a:gd name="T82" fmla="*/ 108 w 368"/>
                        <a:gd name="T83" fmla="*/ 596 h 693"/>
                        <a:gd name="T84" fmla="*/ 146 w 368"/>
                        <a:gd name="T85" fmla="*/ 644 h 693"/>
                        <a:gd name="T86" fmla="*/ 181 w 368"/>
                        <a:gd name="T87" fmla="*/ 674 h 69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</a:cxnLst>
                      <a:rect l="0" t="0" r="r" b="b"/>
                      <a:pathLst>
                        <a:path w="368" h="693">
                          <a:moveTo>
                            <a:pt x="201" y="682"/>
                          </a:moveTo>
                          <a:lnTo>
                            <a:pt x="224" y="673"/>
                          </a:lnTo>
                          <a:lnTo>
                            <a:pt x="269" y="684"/>
                          </a:lnTo>
                          <a:lnTo>
                            <a:pt x="304" y="691"/>
                          </a:lnTo>
                          <a:lnTo>
                            <a:pt x="318" y="691"/>
                          </a:lnTo>
                          <a:lnTo>
                            <a:pt x="329" y="691"/>
                          </a:lnTo>
                          <a:lnTo>
                            <a:pt x="345" y="693"/>
                          </a:lnTo>
                          <a:lnTo>
                            <a:pt x="356" y="691"/>
                          </a:lnTo>
                          <a:lnTo>
                            <a:pt x="368" y="683"/>
                          </a:lnTo>
                          <a:lnTo>
                            <a:pt x="356" y="683"/>
                          </a:lnTo>
                          <a:lnTo>
                            <a:pt x="348" y="679"/>
                          </a:lnTo>
                          <a:lnTo>
                            <a:pt x="340" y="683"/>
                          </a:lnTo>
                          <a:lnTo>
                            <a:pt x="325" y="682"/>
                          </a:lnTo>
                          <a:lnTo>
                            <a:pt x="313" y="679"/>
                          </a:lnTo>
                          <a:lnTo>
                            <a:pt x="299" y="673"/>
                          </a:lnTo>
                          <a:lnTo>
                            <a:pt x="291" y="668"/>
                          </a:lnTo>
                          <a:lnTo>
                            <a:pt x="277" y="656"/>
                          </a:lnTo>
                          <a:lnTo>
                            <a:pt x="267" y="646"/>
                          </a:lnTo>
                          <a:lnTo>
                            <a:pt x="257" y="633"/>
                          </a:lnTo>
                          <a:lnTo>
                            <a:pt x="251" y="623"/>
                          </a:lnTo>
                          <a:lnTo>
                            <a:pt x="259" y="615"/>
                          </a:lnTo>
                          <a:lnTo>
                            <a:pt x="264" y="607"/>
                          </a:lnTo>
                          <a:lnTo>
                            <a:pt x="261" y="601"/>
                          </a:lnTo>
                          <a:lnTo>
                            <a:pt x="258" y="595"/>
                          </a:lnTo>
                          <a:lnTo>
                            <a:pt x="270" y="569"/>
                          </a:lnTo>
                          <a:lnTo>
                            <a:pt x="263" y="552"/>
                          </a:lnTo>
                          <a:lnTo>
                            <a:pt x="253" y="528"/>
                          </a:lnTo>
                          <a:lnTo>
                            <a:pt x="246" y="512"/>
                          </a:lnTo>
                          <a:lnTo>
                            <a:pt x="228" y="486"/>
                          </a:lnTo>
                          <a:lnTo>
                            <a:pt x="222" y="468"/>
                          </a:lnTo>
                          <a:lnTo>
                            <a:pt x="226" y="457"/>
                          </a:lnTo>
                          <a:lnTo>
                            <a:pt x="232" y="445"/>
                          </a:lnTo>
                          <a:lnTo>
                            <a:pt x="242" y="437"/>
                          </a:lnTo>
                          <a:lnTo>
                            <a:pt x="249" y="428"/>
                          </a:lnTo>
                          <a:lnTo>
                            <a:pt x="244" y="419"/>
                          </a:lnTo>
                          <a:lnTo>
                            <a:pt x="236" y="415"/>
                          </a:lnTo>
                          <a:lnTo>
                            <a:pt x="226" y="405"/>
                          </a:lnTo>
                          <a:lnTo>
                            <a:pt x="219" y="397"/>
                          </a:lnTo>
                          <a:lnTo>
                            <a:pt x="208" y="389"/>
                          </a:lnTo>
                          <a:lnTo>
                            <a:pt x="201" y="376"/>
                          </a:lnTo>
                          <a:lnTo>
                            <a:pt x="196" y="364"/>
                          </a:lnTo>
                          <a:lnTo>
                            <a:pt x="189" y="338"/>
                          </a:lnTo>
                          <a:lnTo>
                            <a:pt x="196" y="317"/>
                          </a:lnTo>
                          <a:lnTo>
                            <a:pt x="202" y="309"/>
                          </a:lnTo>
                          <a:lnTo>
                            <a:pt x="210" y="301"/>
                          </a:lnTo>
                          <a:lnTo>
                            <a:pt x="219" y="298"/>
                          </a:lnTo>
                          <a:lnTo>
                            <a:pt x="228" y="306"/>
                          </a:lnTo>
                          <a:lnTo>
                            <a:pt x="240" y="317"/>
                          </a:lnTo>
                          <a:lnTo>
                            <a:pt x="245" y="327"/>
                          </a:lnTo>
                          <a:lnTo>
                            <a:pt x="255" y="337"/>
                          </a:lnTo>
                          <a:lnTo>
                            <a:pt x="264" y="328"/>
                          </a:lnTo>
                          <a:lnTo>
                            <a:pt x="267" y="316"/>
                          </a:lnTo>
                          <a:lnTo>
                            <a:pt x="268" y="302"/>
                          </a:lnTo>
                          <a:lnTo>
                            <a:pt x="262" y="288"/>
                          </a:lnTo>
                          <a:lnTo>
                            <a:pt x="258" y="271"/>
                          </a:lnTo>
                          <a:lnTo>
                            <a:pt x="267" y="235"/>
                          </a:lnTo>
                          <a:lnTo>
                            <a:pt x="273" y="201"/>
                          </a:lnTo>
                          <a:lnTo>
                            <a:pt x="281" y="175"/>
                          </a:lnTo>
                          <a:lnTo>
                            <a:pt x="273" y="141"/>
                          </a:lnTo>
                          <a:lnTo>
                            <a:pt x="273" y="112"/>
                          </a:lnTo>
                          <a:lnTo>
                            <a:pt x="270" y="81"/>
                          </a:lnTo>
                          <a:lnTo>
                            <a:pt x="286" y="58"/>
                          </a:lnTo>
                          <a:lnTo>
                            <a:pt x="317" y="36"/>
                          </a:lnTo>
                          <a:lnTo>
                            <a:pt x="349" y="20"/>
                          </a:lnTo>
                          <a:lnTo>
                            <a:pt x="299" y="8"/>
                          </a:lnTo>
                          <a:lnTo>
                            <a:pt x="245" y="0"/>
                          </a:lnTo>
                          <a:lnTo>
                            <a:pt x="191" y="0"/>
                          </a:lnTo>
                          <a:lnTo>
                            <a:pt x="152" y="4"/>
                          </a:lnTo>
                          <a:lnTo>
                            <a:pt x="118" y="15"/>
                          </a:lnTo>
                          <a:lnTo>
                            <a:pt x="81" y="34"/>
                          </a:lnTo>
                          <a:lnTo>
                            <a:pt x="60" y="56"/>
                          </a:lnTo>
                          <a:lnTo>
                            <a:pt x="36" y="81"/>
                          </a:lnTo>
                          <a:lnTo>
                            <a:pt x="24" y="115"/>
                          </a:lnTo>
                          <a:lnTo>
                            <a:pt x="11" y="156"/>
                          </a:lnTo>
                          <a:lnTo>
                            <a:pt x="3" y="209"/>
                          </a:lnTo>
                          <a:lnTo>
                            <a:pt x="0" y="260"/>
                          </a:lnTo>
                          <a:lnTo>
                            <a:pt x="4" y="328"/>
                          </a:lnTo>
                          <a:lnTo>
                            <a:pt x="7" y="380"/>
                          </a:lnTo>
                          <a:lnTo>
                            <a:pt x="18" y="407"/>
                          </a:lnTo>
                          <a:lnTo>
                            <a:pt x="28" y="432"/>
                          </a:lnTo>
                          <a:lnTo>
                            <a:pt x="40" y="471"/>
                          </a:lnTo>
                          <a:lnTo>
                            <a:pt x="62" y="517"/>
                          </a:lnTo>
                          <a:lnTo>
                            <a:pt x="89" y="564"/>
                          </a:lnTo>
                          <a:lnTo>
                            <a:pt x="108" y="596"/>
                          </a:lnTo>
                          <a:lnTo>
                            <a:pt x="129" y="627"/>
                          </a:lnTo>
                          <a:lnTo>
                            <a:pt x="146" y="644"/>
                          </a:lnTo>
                          <a:lnTo>
                            <a:pt x="163" y="662"/>
                          </a:lnTo>
                          <a:lnTo>
                            <a:pt x="181" y="674"/>
                          </a:lnTo>
                          <a:lnTo>
                            <a:pt x="201" y="682"/>
                          </a:lnTo>
                          <a:close/>
                        </a:path>
                      </a:pathLst>
                    </a:custGeom>
                    <a:solidFill>
                      <a:srgbClr val="FF7F7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grpSp>
                  <p:nvGrpSpPr>
                    <p:cNvPr id="305" name="Group 356"/>
                    <p:cNvGrpSpPr/>
                    <p:nvPr/>
                  </p:nvGrpSpPr>
                  <p:grpSpPr bwMode="auto">
                    <a:xfrm>
                      <a:off x="4882" y="2310"/>
                      <a:ext cx="17" cy="16"/>
                      <a:chOff x="4882" y="2310"/>
                      <a:chExt cx="17" cy="16"/>
                    </a:xfrm>
                  </p:grpSpPr>
                  <p:sp>
                    <p:nvSpPr>
                      <p:cNvPr id="308" name="Freeform 357"/>
                      <p:cNvSpPr/>
                      <p:nvPr/>
                    </p:nvSpPr>
                    <p:spPr bwMode="auto">
                      <a:xfrm>
                        <a:off x="4882" y="2310"/>
                        <a:ext cx="15" cy="15"/>
                      </a:xfrm>
                      <a:custGeom>
                        <a:avLst/>
                        <a:gdLst>
                          <a:gd name="T0" fmla="*/ 86 w 86"/>
                          <a:gd name="T1" fmla="*/ 6 h 78"/>
                          <a:gd name="T2" fmla="*/ 76 w 86"/>
                          <a:gd name="T3" fmla="*/ 12 h 78"/>
                          <a:gd name="T4" fmla="*/ 61 w 86"/>
                          <a:gd name="T5" fmla="*/ 18 h 78"/>
                          <a:gd name="T6" fmla="*/ 45 w 86"/>
                          <a:gd name="T7" fmla="*/ 24 h 78"/>
                          <a:gd name="T8" fmla="*/ 31 w 86"/>
                          <a:gd name="T9" fmla="*/ 28 h 78"/>
                          <a:gd name="T10" fmla="*/ 24 w 86"/>
                          <a:gd name="T11" fmla="*/ 32 h 78"/>
                          <a:gd name="T12" fmla="*/ 27 w 86"/>
                          <a:gd name="T13" fmla="*/ 38 h 78"/>
                          <a:gd name="T14" fmla="*/ 24 w 86"/>
                          <a:gd name="T15" fmla="*/ 42 h 78"/>
                          <a:gd name="T16" fmla="*/ 31 w 86"/>
                          <a:gd name="T17" fmla="*/ 55 h 78"/>
                          <a:gd name="T18" fmla="*/ 38 w 86"/>
                          <a:gd name="T19" fmla="*/ 64 h 78"/>
                          <a:gd name="T20" fmla="*/ 47 w 86"/>
                          <a:gd name="T21" fmla="*/ 70 h 78"/>
                          <a:gd name="T22" fmla="*/ 60 w 86"/>
                          <a:gd name="T23" fmla="*/ 78 h 78"/>
                          <a:gd name="T24" fmla="*/ 31 w 86"/>
                          <a:gd name="T25" fmla="*/ 67 h 78"/>
                          <a:gd name="T26" fmla="*/ 20 w 86"/>
                          <a:gd name="T27" fmla="*/ 59 h 78"/>
                          <a:gd name="T28" fmla="*/ 11 w 86"/>
                          <a:gd name="T29" fmla="*/ 47 h 78"/>
                          <a:gd name="T30" fmla="*/ 8 w 86"/>
                          <a:gd name="T31" fmla="*/ 39 h 78"/>
                          <a:gd name="T32" fmla="*/ 5 w 86"/>
                          <a:gd name="T33" fmla="*/ 32 h 78"/>
                          <a:gd name="T34" fmla="*/ 0 w 86"/>
                          <a:gd name="T35" fmla="*/ 26 h 78"/>
                          <a:gd name="T36" fmla="*/ 15 w 86"/>
                          <a:gd name="T37" fmla="*/ 16 h 78"/>
                          <a:gd name="T38" fmla="*/ 38 w 86"/>
                          <a:gd name="T39" fmla="*/ 1 h 78"/>
                          <a:gd name="T40" fmla="*/ 51 w 86"/>
                          <a:gd name="T41" fmla="*/ 0 h 78"/>
                          <a:gd name="T42" fmla="*/ 66 w 86"/>
                          <a:gd name="T43" fmla="*/ 1 h 78"/>
                          <a:gd name="T44" fmla="*/ 86 w 86"/>
                          <a:gd name="T45" fmla="*/ 6 h 78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</a:cxnLst>
                        <a:rect l="0" t="0" r="r" b="b"/>
                        <a:pathLst>
                          <a:path w="86" h="78">
                            <a:moveTo>
                              <a:pt x="86" y="6"/>
                            </a:moveTo>
                            <a:lnTo>
                              <a:pt x="76" y="12"/>
                            </a:lnTo>
                            <a:lnTo>
                              <a:pt x="61" y="18"/>
                            </a:lnTo>
                            <a:lnTo>
                              <a:pt x="45" y="24"/>
                            </a:lnTo>
                            <a:lnTo>
                              <a:pt x="31" y="28"/>
                            </a:lnTo>
                            <a:lnTo>
                              <a:pt x="24" y="32"/>
                            </a:lnTo>
                            <a:lnTo>
                              <a:pt x="27" y="38"/>
                            </a:lnTo>
                            <a:lnTo>
                              <a:pt x="24" y="42"/>
                            </a:lnTo>
                            <a:lnTo>
                              <a:pt x="31" y="55"/>
                            </a:lnTo>
                            <a:lnTo>
                              <a:pt x="38" y="64"/>
                            </a:lnTo>
                            <a:lnTo>
                              <a:pt x="47" y="70"/>
                            </a:lnTo>
                            <a:lnTo>
                              <a:pt x="60" y="78"/>
                            </a:lnTo>
                            <a:lnTo>
                              <a:pt x="31" y="67"/>
                            </a:lnTo>
                            <a:lnTo>
                              <a:pt x="20" y="59"/>
                            </a:lnTo>
                            <a:lnTo>
                              <a:pt x="11" y="47"/>
                            </a:lnTo>
                            <a:lnTo>
                              <a:pt x="8" y="39"/>
                            </a:lnTo>
                            <a:lnTo>
                              <a:pt x="5" y="32"/>
                            </a:lnTo>
                            <a:lnTo>
                              <a:pt x="0" y="26"/>
                            </a:lnTo>
                            <a:lnTo>
                              <a:pt x="15" y="16"/>
                            </a:lnTo>
                            <a:lnTo>
                              <a:pt x="38" y="1"/>
                            </a:lnTo>
                            <a:lnTo>
                              <a:pt x="51" y="0"/>
                            </a:lnTo>
                            <a:lnTo>
                              <a:pt x="66" y="1"/>
                            </a:lnTo>
                            <a:lnTo>
                              <a:pt x="86" y="6"/>
                            </a:lnTo>
                            <a:close/>
                          </a:path>
                        </a:pathLst>
                      </a:custGeom>
                      <a:solidFill>
                        <a:srgbClr val="FF7F7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309" name="Freeform 358"/>
                      <p:cNvSpPr/>
                      <p:nvPr/>
                    </p:nvSpPr>
                    <p:spPr bwMode="auto">
                      <a:xfrm>
                        <a:off x="4888" y="2316"/>
                        <a:ext cx="11" cy="10"/>
                      </a:xfrm>
                      <a:custGeom>
                        <a:avLst/>
                        <a:gdLst>
                          <a:gd name="T0" fmla="*/ 10 w 65"/>
                          <a:gd name="T1" fmla="*/ 2 h 51"/>
                          <a:gd name="T2" fmla="*/ 26 w 65"/>
                          <a:gd name="T3" fmla="*/ 14 h 51"/>
                          <a:gd name="T4" fmla="*/ 37 w 65"/>
                          <a:gd name="T5" fmla="*/ 19 h 51"/>
                          <a:gd name="T6" fmla="*/ 46 w 65"/>
                          <a:gd name="T7" fmla="*/ 19 h 51"/>
                          <a:gd name="T8" fmla="*/ 53 w 65"/>
                          <a:gd name="T9" fmla="*/ 18 h 51"/>
                          <a:gd name="T10" fmla="*/ 65 w 65"/>
                          <a:gd name="T11" fmla="*/ 18 h 51"/>
                          <a:gd name="T12" fmla="*/ 64 w 65"/>
                          <a:gd name="T13" fmla="*/ 23 h 51"/>
                          <a:gd name="T14" fmla="*/ 65 w 65"/>
                          <a:gd name="T15" fmla="*/ 29 h 51"/>
                          <a:gd name="T16" fmla="*/ 61 w 65"/>
                          <a:gd name="T17" fmla="*/ 38 h 51"/>
                          <a:gd name="T18" fmla="*/ 52 w 65"/>
                          <a:gd name="T19" fmla="*/ 46 h 51"/>
                          <a:gd name="T20" fmla="*/ 43 w 65"/>
                          <a:gd name="T21" fmla="*/ 49 h 51"/>
                          <a:gd name="T22" fmla="*/ 33 w 65"/>
                          <a:gd name="T23" fmla="*/ 51 h 51"/>
                          <a:gd name="T24" fmla="*/ 50 w 65"/>
                          <a:gd name="T25" fmla="*/ 40 h 51"/>
                          <a:gd name="T26" fmla="*/ 57 w 65"/>
                          <a:gd name="T27" fmla="*/ 31 h 51"/>
                          <a:gd name="T28" fmla="*/ 39 w 65"/>
                          <a:gd name="T29" fmla="*/ 33 h 51"/>
                          <a:gd name="T30" fmla="*/ 32 w 65"/>
                          <a:gd name="T31" fmla="*/ 35 h 51"/>
                          <a:gd name="T32" fmla="*/ 20 w 65"/>
                          <a:gd name="T33" fmla="*/ 29 h 51"/>
                          <a:gd name="T34" fmla="*/ 8 w 65"/>
                          <a:gd name="T35" fmla="*/ 19 h 51"/>
                          <a:gd name="T36" fmla="*/ 2 w 65"/>
                          <a:gd name="T37" fmla="*/ 12 h 51"/>
                          <a:gd name="T38" fmla="*/ 0 w 65"/>
                          <a:gd name="T39" fmla="*/ 3 h 51"/>
                          <a:gd name="T40" fmla="*/ 3 w 65"/>
                          <a:gd name="T41" fmla="*/ 0 h 51"/>
                          <a:gd name="T42" fmla="*/ 10 w 65"/>
                          <a:gd name="T43" fmla="*/ 2 h 51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</a:cxnLst>
                        <a:rect l="0" t="0" r="r" b="b"/>
                        <a:pathLst>
                          <a:path w="65" h="51">
                            <a:moveTo>
                              <a:pt x="10" y="2"/>
                            </a:moveTo>
                            <a:lnTo>
                              <a:pt x="26" y="14"/>
                            </a:lnTo>
                            <a:lnTo>
                              <a:pt x="37" y="19"/>
                            </a:lnTo>
                            <a:lnTo>
                              <a:pt x="46" y="19"/>
                            </a:lnTo>
                            <a:lnTo>
                              <a:pt x="53" y="18"/>
                            </a:lnTo>
                            <a:lnTo>
                              <a:pt x="65" y="18"/>
                            </a:lnTo>
                            <a:lnTo>
                              <a:pt x="64" y="23"/>
                            </a:lnTo>
                            <a:lnTo>
                              <a:pt x="65" y="29"/>
                            </a:lnTo>
                            <a:lnTo>
                              <a:pt x="61" y="38"/>
                            </a:lnTo>
                            <a:lnTo>
                              <a:pt x="52" y="46"/>
                            </a:lnTo>
                            <a:lnTo>
                              <a:pt x="43" y="49"/>
                            </a:lnTo>
                            <a:lnTo>
                              <a:pt x="33" y="51"/>
                            </a:lnTo>
                            <a:lnTo>
                              <a:pt x="50" y="40"/>
                            </a:lnTo>
                            <a:lnTo>
                              <a:pt x="57" y="31"/>
                            </a:lnTo>
                            <a:lnTo>
                              <a:pt x="39" y="33"/>
                            </a:lnTo>
                            <a:lnTo>
                              <a:pt x="32" y="35"/>
                            </a:lnTo>
                            <a:lnTo>
                              <a:pt x="20" y="29"/>
                            </a:lnTo>
                            <a:lnTo>
                              <a:pt x="8" y="19"/>
                            </a:lnTo>
                            <a:lnTo>
                              <a:pt x="2" y="12"/>
                            </a:lnTo>
                            <a:lnTo>
                              <a:pt x="0" y="3"/>
                            </a:lnTo>
                            <a:lnTo>
                              <a:pt x="3" y="0"/>
                            </a:lnTo>
                            <a:lnTo>
                              <a:pt x="10" y="2"/>
                            </a:lnTo>
                            <a:close/>
                          </a:path>
                        </a:pathLst>
                      </a:custGeom>
                      <a:solidFill>
                        <a:srgbClr val="FF7F7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sp>
                  <p:nvSpPr>
                    <p:cNvPr id="306" name="Freeform 359"/>
                    <p:cNvSpPr/>
                    <p:nvPr/>
                  </p:nvSpPr>
                  <p:spPr bwMode="auto">
                    <a:xfrm>
                      <a:off x="4911" y="2319"/>
                      <a:ext cx="7" cy="11"/>
                    </a:xfrm>
                    <a:custGeom>
                      <a:avLst/>
                      <a:gdLst>
                        <a:gd name="T0" fmla="*/ 0 w 42"/>
                        <a:gd name="T1" fmla="*/ 0 h 52"/>
                        <a:gd name="T2" fmla="*/ 12 w 42"/>
                        <a:gd name="T3" fmla="*/ 14 h 52"/>
                        <a:gd name="T4" fmla="*/ 22 w 42"/>
                        <a:gd name="T5" fmla="*/ 15 h 52"/>
                        <a:gd name="T6" fmla="*/ 35 w 42"/>
                        <a:gd name="T7" fmla="*/ 14 h 52"/>
                        <a:gd name="T8" fmla="*/ 42 w 42"/>
                        <a:gd name="T9" fmla="*/ 14 h 52"/>
                        <a:gd name="T10" fmla="*/ 35 w 42"/>
                        <a:gd name="T11" fmla="*/ 25 h 52"/>
                        <a:gd name="T12" fmla="*/ 30 w 42"/>
                        <a:gd name="T13" fmla="*/ 28 h 52"/>
                        <a:gd name="T14" fmla="*/ 21 w 42"/>
                        <a:gd name="T15" fmla="*/ 28 h 52"/>
                        <a:gd name="T16" fmla="*/ 13 w 42"/>
                        <a:gd name="T17" fmla="*/ 33 h 52"/>
                        <a:gd name="T18" fmla="*/ 19 w 42"/>
                        <a:gd name="T19" fmla="*/ 37 h 52"/>
                        <a:gd name="T20" fmla="*/ 28 w 42"/>
                        <a:gd name="T21" fmla="*/ 40 h 52"/>
                        <a:gd name="T22" fmla="*/ 25 w 42"/>
                        <a:gd name="T23" fmla="*/ 47 h 52"/>
                        <a:gd name="T24" fmla="*/ 16 w 42"/>
                        <a:gd name="T25" fmla="*/ 52 h 52"/>
                        <a:gd name="T26" fmla="*/ 10 w 42"/>
                        <a:gd name="T27" fmla="*/ 52 h 52"/>
                        <a:gd name="T28" fmla="*/ 4 w 42"/>
                        <a:gd name="T29" fmla="*/ 40 h 52"/>
                        <a:gd name="T30" fmla="*/ 1 w 42"/>
                        <a:gd name="T31" fmla="*/ 21 h 52"/>
                        <a:gd name="T32" fmla="*/ 0 w 42"/>
                        <a:gd name="T33" fmla="*/ 0 h 5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</a:cxnLst>
                      <a:rect l="0" t="0" r="r" b="b"/>
                      <a:pathLst>
                        <a:path w="42" h="52">
                          <a:moveTo>
                            <a:pt x="0" y="0"/>
                          </a:moveTo>
                          <a:lnTo>
                            <a:pt x="12" y="14"/>
                          </a:lnTo>
                          <a:lnTo>
                            <a:pt x="22" y="15"/>
                          </a:lnTo>
                          <a:lnTo>
                            <a:pt x="35" y="14"/>
                          </a:lnTo>
                          <a:lnTo>
                            <a:pt x="42" y="14"/>
                          </a:lnTo>
                          <a:lnTo>
                            <a:pt x="35" y="25"/>
                          </a:lnTo>
                          <a:lnTo>
                            <a:pt x="30" y="28"/>
                          </a:lnTo>
                          <a:lnTo>
                            <a:pt x="21" y="28"/>
                          </a:lnTo>
                          <a:lnTo>
                            <a:pt x="13" y="33"/>
                          </a:lnTo>
                          <a:lnTo>
                            <a:pt x="19" y="37"/>
                          </a:lnTo>
                          <a:lnTo>
                            <a:pt x="28" y="40"/>
                          </a:lnTo>
                          <a:lnTo>
                            <a:pt x="25" y="47"/>
                          </a:lnTo>
                          <a:lnTo>
                            <a:pt x="16" y="52"/>
                          </a:lnTo>
                          <a:lnTo>
                            <a:pt x="10" y="52"/>
                          </a:lnTo>
                          <a:lnTo>
                            <a:pt x="4" y="40"/>
                          </a:lnTo>
                          <a:lnTo>
                            <a:pt x="1" y="2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7F7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07" name="Freeform 360"/>
                    <p:cNvSpPr/>
                    <p:nvPr/>
                  </p:nvSpPr>
                  <p:spPr bwMode="auto">
                    <a:xfrm>
                      <a:off x="4890" y="2361"/>
                      <a:ext cx="16" cy="13"/>
                    </a:xfrm>
                    <a:custGeom>
                      <a:avLst/>
                      <a:gdLst>
                        <a:gd name="T0" fmla="*/ 6 w 94"/>
                        <a:gd name="T1" fmla="*/ 2 h 63"/>
                        <a:gd name="T2" fmla="*/ 21 w 94"/>
                        <a:gd name="T3" fmla="*/ 7 h 63"/>
                        <a:gd name="T4" fmla="*/ 38 w 94"/>
                        <a:gd name="T5" fmla="*/ 12 h 63"/>
                        <a:gd name="T6" fmla="*/ 49 w 94"/>
                        <a:gd name="T7" fmla="*/ 15 h 63"/>
                        <a:gd name="T8" fmla="*/ 59 w 94"/>
                        <a:gd name="T9" fmla="*/ 15 h 63"/>
                        <a:gd name="T10" fmla="*/ 75 w 94"/>
                        <a:gd name="T11" fmla="*/ 11 h 63"/>
                        <a:gd name="T12" fmla="*/ 86 w 94"/>
                        <a:gd name="T13" fmla="*/ 5 h 63"/>
                        <a:gd name="T14" fmla="*/ 94 w 94"/>
                        <a:gd name="T15" fmla="*/ 0 h 63"/>
                        <a:gd name="T16" fmla="*/ 80 w 94"/>
                        <a:gd name="T17" fmla="*/ 23 h 63"/>
                        <a:gd name="T18" fmla="*/ 86 w 94"/>
                        <a:gd name="T19" fmla="*/ 33 h 63"/>
                        <a:gd name="T20" fmla="*/ 86 w 94"/>
                        <a:gd name="T21" fmla="*/ 42 h 63"/>
                        <a:gd name="T22" fmla="*/ 78 w 94"/>
                        <a:gd name="T23" fmla="*/ 37 h 63"/>
                        <a:gd name="T24" fmla="*/ 74 w 94"/>
                        <a:gd name="T25" fmla="*/ 40 h 63"/>
                        <a:gd name="T26" fmla="*/ 66 w 94"/>
                        <a:gd name="T27" fmla="*/ 55 h 63"/>
                        <a:gd name="T28" fmla="*/ 63 w 94"/>
                        <a:gd name="T29" fmla="*/ 63 h 63"/>
                        <a:gd name="T30" fmla="*/ 63 w 94"/>
                        <a:gd name="T31" fmla="*/ 49 h 63"/>
                        <a:gd name="T32" fmla="*/ 57 w 94"/>
                        <a:gd name="T33" fmla="*/ 38 h 63"/>
                        <a:gd name="T34" fmla="*/ 49 w 94"/>
                        <a:gd name="T35" fmla="*/ 32 h 63"/>
                        <a:gd name="T36" fmla="*/ 37 w 94"/>
                        <a:gd name="T37" fmla="*/ 29 h 63"/>
                        <a:gd name="T38" fmla="*/ 16 w 94"/>
                        <a:gd name="T39" fmla="*/ 31 h 63"/>
                        <a:gd name="T40" fmla="*/ 0 w 94"/>
                        <a:gd name="T41" fmla="*/ 36 h 63"/>
                        <a:gd name="T42" fmla="*/ 19 w 94"/>
                        <a:gd name="T43" fmla="*/ 21 h 63"/>
                        <a:gd name="T44" fmla="*/ 6 w 94"/>
                        <a:gd name="T45" fmla="*/ 2 h 6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</a:cxnLst>
                      <a:rect l="0" t="0" r="r" b="b"/>
                      <a:pathLst>
                        <a:path w="94" h="63">
                          <a:moveTo>
                            <a:pt x="6" y="2"/>
                          </a:moveTo>
                          <a:lnTo>
                            <a:pt x="21" y="7"/>
                          </a:lnTo>
                          <a:lnTo>
                            <a:pt x="38" y="12"/>
                          </a:lnTo>
                          <a:lnTo>
                            <a:pt x="49" y="15"/>
                          </a:lnTo>
                          <a:lnTo>
                            <a:pt x="59" y="15"/>
                          </a:lnTo>
                          <a:lnTo>
                            <a:pt x="75" y="11"/>
                          </a:lnTo>
                          <a:lnTo>
                            <a:pt x="86" y="5"/>
                          </a:lnTo>
                          <a:lnTo>
                            <a:pt x="94" y="0"/>
                          </a:lnTo>
                          <a:lnTo>
                            <a:pt x="80" y="23"/>
                          </a:lnTo>
                          <a:lnTo>
                            <a:pt x="86" y="33"/>
                          </a:lnTo>
                          <a:lnTo>
                            <a:pt x="86" y="42"/>
                          </a:lnTo>
                          <a:lnTo>
                            <a:pt x="78" y="37"/>
                          </a:lnTo>
                          <a:lnTo>
                            <a:pt x="74" y="40"/>
                          </a:lnTo>
                          <a:lnTo>
                            <a:pt x="66" y="55"/>
                          </a:lnTo>
                          <a:lnTo>
                            <a:pt x="63" y="63"/>
                          </a:lnTo>
                          <a:lnTo>
                            <a:pt x="63" y="49"/>
                          </a:lnTo>
                          <a:lnTo>
                            <a:pt x="57" y="38"/>
                          </a:lnTo>
                          <a:lnTo>
                            <a:pt x="49" y="32"/>
                          </a:lnTo>
                          <a:lnTo>
                            <a:pt x="37" y="29"/>
                          </a:lnTo>
                          <a:lnTo>
                            <a:pt x="16" y="31"/>
                          </a:lnTo>
                          <a:lnTo>
                            <a:pt x="0" y="36"/>
                          </a:lnTo>
                          <a:lnTo>
                            <a:pt x="19" y="21"/>
                          </a:lnTo>
                          <a:lnTo>
                            <a:pt x="6" y="2"/>
                          </a:lnTo>
                          <a:close/>
                        </a:path>
                      </a:pathLst>
                    </a:custGeom>
                    <a:solidFill>
                      <a:srgbClr val="FF7F7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sp>
                <p:nvSpPr>
                  <p:cNvPr id="281" name="Freeform 361"/>
                  <p:cNvSpPr/>
                  <p:nvPr/>
                </p:nvSpPr>
                <p:spPr bwMode="auto">
                  <a:xfrm>
                    <a:off x="4886" y="2349"/>
                    <a:ext cx="23" cy="11"/>
                  </a:xfrm>
                  <a:custGeom>
                    <a:avLst/>
                    <a:gdLst>
                      <a:gd name="T0" fmla="*/ 23 w 138"/>
                      <a:gd name="T1" fmla="*/ 0 h 56"/>
                      <a:gd name="T2" fmla="*/ 5 w 138"/>
                      <a:gd name="T3" fmla="*/ 15 h 56"/>
                      <a:gd name="T4" fmla="*/ 0 w 138"/>
                      <a:gd name="T5" fmla="*/ 24 h 56"/>
                      <a:gd name="T6" fmla="*/ 0 w 138"/>
                      <a:gd name="T7" fmla="*/ 35 h 56"/>
                      <a:gd name="T8" fmla="*/ 5 w 138"/>
                      <a:gd name="T9" fmla="*/ 45 h 56"/>
                      <a:gd name="T10" fmla="*/ 5 w 138"/>
                      <a:gd name="T11" fmla="*/ 32 h 56"/>
                      <a:gd name="T12" fmla="*/ 13 w 138"/>
                      <a:gd name="T13" fmla="*/ 26 h 56"/>
                      <a:gd name="T14" fmla="*/ 28 w 138"/>
                      <a:gd name="T15" fmla="*/ 26 h 56"/>
                      <a:gd name="T16" fmla="*/ 47 w 138"/>
                      <a:gd name="T17" fmla="*/ 34 h 56"/>
                      <a:gd name="T18" fmla="*/ 65 w 138"/>
                      <a:gd name="T19" fmla="*/ 41 h 56"/>
                      <a:gd name="T20" fmla="*/ 81 w 138"/>
                      <a:gd name="T21" fmla="*/ 46 h 56"/>
                      <a:gd name="T22" fmla="*/ 95 w 138"/>
                      <a:gd name="T23" fmla="*/ 47 h 56"/>
                      <a:gd name="T24" fmla="*/ 99 w 138"/>
                      <a:gd name="T25" fmla="*/ 50 h 56"/>
                      <a:gd name="T26" fmla="*/ 101 w 138"/>
                      <a:gd name="T27" fmla="*/ 56 h 56"/>
                      <a:gd name="T28" fmla="*/ 108 w 138"/>
                      <a:gd name="T29" fmla="*/ 50 h 56"/>
                      <a:gd name="T30" fmla="*/ 120 w 138"/>
                      <a:gd name="T31" fmla="*/ 45 h 56"/>
                      <a:gd name="T32" fmla="*/ 123 w 138"/>
                      <a:gd name="T33" fmla="*/ 44 h 56"/>
                      <a:gd name="T34" fmla="*/ 127 w 138"/>
                      <a:gd name="T35" fmla="*/ 41 h 56"/>
                      <a:gd name="T36" fmla="*/ 138 w 138"/>
                      <a:gd name="T37" fmla="*/ 32 h 56"/>
                      <a:gd name="T38" fmla="*/ 128 w 138"/>
                      <a:gd name="T39" fmla="*/ 23 h 56"/>
                      <a:gd name="T40" fmla="*/ 120 w 138"/>
                      <a:gd name="T41" fmla="*/ 23 h 56"/>
                      <a:gd name="T42" fmla="*/ 107 w 138"/>
                      <a:gd name="T43" fmla="*/ 25 h 56"/>
                      <a:gd name="T44" fmla="*/ 93 w 138"/>
                      <a:gd name="T45" fmla="*/ 26 h 56"/>
                      <a:gd name="T46" fmla="*/ 86 w 138"/>
                      <a:gd name="T47" fmla="*/ 25 h 56"/>
                      <a:gd name="T48" fmla="*/ 79 w 138"/>
                      <a:gd name="T49" fmla="*/ 21 h 56"/>
                      <a:gd name="T50" fmla="*/ 67 w 138"/>
                      <a:gd name="T51" fmla="*/ 21 h 56"/>
                      <a:gd name="T52" fmla="*/ 50 w 138"/>
                      <a:gd name="T53" fmla="*/ 23 h 56"/>
                      <a:gd name="T54" fmla="*/ 38 w 138"/>
                      <a:gd name="T55" fmla="*/ 20 h 56"/>
                      <a:gd name="T56" fmla="*/ 28 w 138"/>
                      <a:gd name="T57" fmla="*/ 18 h 56"/>
                      <a:gd name="T58" fmla="*/ 19 w 138"/>
                      <a:gd name="T59" fmla="*/ 11 h 56"/>
                      <a:gd name="T60" fmla="*/ 23 w 138"/>
                      <a:gd name="T61" fmla="*/ 0 h 5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</a:cxnLst>
                    <a:rect l="0" t="0" r="r" b="b"/>
                    <a:pathLst>
                      <a:path w="138" h="56">
                        <a:moveTo>
                          <a:pt x="23" y="0"/>
                        </a:moveTo>
                        <a:lnTo>
                          <a:pt x="5" y="15"/>
                        </a:lnTo>
                        <a:lnTo>
                          <a:pt x="0" y="24"/>
                        </a:lnTo>
                        <a:lnTo>
                          <a:pt x="0" y="35"/>
                        </a:lnTo>
                        <a:lnTo>
                          <a:pt x="5" y="45"/>
                        </a:lnTo>
                        <a:lnTo>
                          <a:pt x="5" y="32"/>
                        </a:lnTo>
                        <a:lnTo>
                          <a:pt x="13" y="26"/>
                        </a:lnTo>
                        <a:lnTo>
                          <a:pt x="28" y="26"/>
                        </a:lnTo>
                        <a:lnTo>
                          <a:pt x="47" y="34"/>
                        </a:lnTo>
                        <a:lnTo>
                          <a:pt x="65" y="41"/>
                        </a:lnTo>
                        <a:lnTo>
                          <a:pt x="81" y="46"/>
                        </a:lnTo>
                        <a:lnTo>
                          <a:pt x="95" y="47"/>
                        </a:lnTo>
                        <a:lnTo>
                          <a:pt x="99" y="50"/>
                        </a:lnTo>
                        <a:lnTo>
                          <a:pt x="101" y="56"/>
                        </a:lnTo>
                        <a:lnTo>
                          <a:pt x="108" y="50"/>
                        </a:lnTo>
                        <a:lnTo>
                          <a:pt x="120" y="45"/>
                        </a:lnTo>
                        <a:lnTo>
                          <a:pt x="123" y="44"/>
                        </a:lnTo>
                        <a:lnTo>
                          <a:pt x="127" y="41"/>
                        </a:lnTo>
                        <a:lnTo>
                          <a:pt x="138" y="32"/>
                        </a:lnTo>
                        <a:lnTo>
                          <a:pt x="128" y="23"/>
                        </a:lnTo>
                        <a:lnTo>
                          <a:pt x="120" y="23"/>
                        </a:lnTo>
                        <a:lnTo>
                          <a:pt x="107" y="25"/>
                        </a:lnTo>
                        <a:lnTo>
                          <a:pt x="93" y="26"/>
                        </a:lnTo>
                        <a:lnTo>
                          <a:pt x="86" y="25"/>
                        </a:lnTo>
                        <a:lnTo>
                          <a:pt x="79" y="21"/>
                        </a:lnTo>
                        <a:lnTo>
                          <a:pt x="67" y="21"/>
                        </a:lnTo>
                        <a:lnTo>
                          <a:pt x="50" y="23"/>
                        </a:lnTo>
                        <a:lnTo>
                          <a:pt x="38" y="20"/>
                        </a:lnTo>
                        <a:lnTo>
                          <a:pt x="28" y="18"/>
                        </a:lnTo>
                        <a:lnTo>
                          <a:pt x="19" y="11"/>
                        </a:lnTo>
                        <a:lnTo>
                          <a:pt x="23" y="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282" name="Freeform 362"/>
                  <p:cNvSpPr/>
                  <p:nvPr/>
                </p:nvSpPr>
                <p:spPr bwMode="auto">
                  <a:xfrm>
                    <a:off x="4893" y="2334"/>
                    <a:ext cx="20" cy="16"/>
                  </a:xfrm>
                  <a:custGeom>
                    <a:avLst/>
                    <a:gdLst>
                      <a:gd name="T0" fmla="*/ 32 w 120"/>
                      <a:gd name="T1" fmla="*/ 0 h 81"/>
                      <a:gd name="T2" fmla="*/ 13 w 120"/>
                      <a:gd name="T3" fmla="*/ 31 h 81"/>
                      <a:gd name="T4" fmla="*/ 0 w 120"/>
                      <a:gd name="T5" fmla="*/ 37 h 81"/>
                      <a:gd name="T6" fmla="*/ 18 w 120"/>
                      <a:gd name="T7" fmla="*/ 39 h 81"/>
                      <a:gd name="T8" fmla="*/ 32 w 120"/>
                      <a:gd name="T9" fmla="*/ 43 h 81"/>
                      <a:gd name="T10" fmla="*/ 44 w 120"/>
                      <a:gd name="T11" fmla="*/ 53 h 81"/>
                      <a:gd name="T12" fmla="*/ 55 w 120"/>
                      <a:gd name="T13" fmla="*/ 81 h 81"/>
                      <a:gd name="T14" fmla="*/ 51 w 120"/>
                      <a:gd name="T15" fmla="*/ 61 h 81"/>
                      <a:gd name="T16" fmla="*/ 55 w 120"/>
                      <a:gd name="T17" fmla="*/ 54 h 81"/>
                      <a:gd name="T18" fmla="*/ 62 w 120"/>
                      <a:gd name="T19" fmla="*/ 58 h 81"/>
                      <a:gd name="T20" fmla="*/ 78 w 120"/>
                      <a:gd name="T21" fmla="*/ 59 h 81"/>
                      <a:gd name="T22" fmla="*/ 87 w 120"/>
                      <a:gd name="T23" fmla="*/ 49 h 81"/>
                      <a:gd name="T24" fmla="*/ 103 w 120"/>
                      <a:gd name="T25" fmla="*/ 47 h 81"/>
                      <a:gd name="T26" fmla="*/ 120 w 120"/>
                      <a:gd name="T27" fmla="*/ 38 h 81"/>
                      <a:gd name="T28" fmla="*/ 103 w 120"/>
                      <a:gd name="T29" fmla="*/ 38 h 81"/>
                      <a:gd name="T30" fmla="*/ 92 w 120"/>
                      <a:gd name="T31" fmla="*/ 38 h 81"/>
                      <a:gd name="T32" fmla="*/ 80 w 120"/>
                      <a:gd name="T33" fmla="*/ 32 h 81"/>
                      <a:gd name="T34" fmla="*/ 55 w 120"/>
                      <a:gd name="T35" fmla="*/ 31 h 81"/>
                      <a:gd name="T36" fmla="*/ 41 w 120"/>
                      <a:gd name="T37" fmla="*/ 34 h 81"/>
                      <a:gd name="T38" fmla="*/ 34 w 120"/>
                      <a:gd name="T39" fmla="*/ 32 h 81"/>
                      <a:gd name="T40" fmla="*/ 26 w 120"/>
                      <a:gd name="T41" fmla="*/ 26 h 81"/>
                      <a:gd name="T42" fmla="*/ 25 w 120"/>
                      <a:gd name="T43" fmla="*/ 18 h 81"/>
                      <a:gd name="T44" fmla="*/ 32 w 120"/>
                      <a:gd name="T45" fmla="*/ 0 h 8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</a:cxnLst>
                    <a:rect l="0" t="0" r="r" b="b"/>
                    <a:pathLst>
                      <a:path w="120" h="81">
                        <a:moveTo>
                          <a:pt x="32" y="0"/>
                        </a:moveTo>
                        <a:lnTo>
                          <a:pt x="13" y="31"/>
                        </a:lnTo>
                        <a:lnTo>
                          <a:pt x="0" y="37"/>
                        </a:lnTo>
                        <a:lnTo>
                          <a:pt x="18" y="39"/>
                        </a:lnTo>
                        <a:lnTo>
                          <a:pt x="32" y="43"/>
                        </a:lnTo>
                        <a:lnTo>
                          <a:pt x="44" y="53"/>
                        </a:lnTo>
                        <a:lnTo>
                          <a:pt x="55" y="81"/>
                        </a:lnTo>
                        <a:lnTo>
                          <a:pt x="51" y="61"/>
                        </a:lnTo>
                        <a:lnTo>
                          <a:pt x="55" y="54"/>
                        </a:lnTo>
                        <a:lnTo>
                          <a:pt x="62" y="58"/>
                        </a:lnTo>
                        <a:lnTo>
                          <a:pt x="78" y="59"/>
                        </a:lnTo>
                        <a:lnTo>
                          <a:pt x="87" y="49"/>
                        </a:lnTo>
                        <a:lnTo>
                          <a:pt x="103" y="47"/>
                        </a:lnTo>
                        <a:lnTo>
                          <a:pt x="120" y="38"/>
                        </a:lnTo>
                        <a:lnTo>
                          <a:pt x="103" y="38"/>
                        </a:lnTo>
                        <a:lnTo>
                          <a:pt x="92" y="38"/>
                        </a:lnTo>
                        <a:lnTo>
                          <a:pt x="80" y="32"/>
                        </a:lnTo>
                        <a:lnTo>
                          <a:pt x="55" y="31"/>
                        </a:lnTo>
                        <a:lnTo>
                          <a:pt x="41" y="34"/>
                        </a:lnTo>
                        <a:lnTo>
                          <a:pt x="34" y="32"/>
                        </a:lnTo>
                        <a:lnTo>
                          <a:pt x="26" y="26"/>
                        </a:lnTo>
                        <a:lnTo>
                          <a:pt x="25" y="18"/>
                        </a:lnTo>
                        <a:lnTo>
                          <a:pt x="32" y="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283" name="Freeform 363"/>
                  <p:cNvSpPr/>
                  <p:nvPr/>
                </p:nvSpPr>
                <p:spPr bwMode="auto">
                  <a:xfrm>
                    <a:off x="4889" y="2354"/>
                    <a:ext cx="18" cy="9"/>
                  </a:xfrm>
                  <a:custGeom>
                    <a:avLst/>
                    <a:gdLst>
                      <a:gd name="T0" fmla="*/ 0 w 110"/>
                      <a:gd name="T1" fmla="*/ 1 h 47"/>
                      <a:gd name="T2" fmla="*/ 13 w 110"/>
                      <a:gd name="T3" fmla="*/ 0 h 47"/>
                      <a:gd name="T4" fmla="*/ 25 w 110"/>
                      <a:gd name="T5" fmla="*/ 5 h 47"/>
                      <a:gd name="T6" fmla="*/ 42 w 110"/>
                      <a:gd name="T7" fmla="*/ 10 h 47"/>
                      <a:gd name="T8" fmla="*/ 52 w 110"/>
                      <a:gd name="T9" fmla="*/ 15 h 47"/>
                      <a:gd name="T10" fmla="*/ 63 w 110"/>
                      <a:gd name="T11" fmla="*/ 19 h 47"/>
                      <a:gd name="T12" fmla="*/ 74 w 110"/>
                      <a:gd name="T13" fmla="*/ 20 h 47"/>
                      <a:gd name="T14" fmla="*/ 84 w 110"/>
                      <a:gd name="T15" fmla="*/ 21 h 47"/>
                      <a:gd name="T16" fmla="*/ 98 w 110"/>
                      <a:gd name="T17" fmla="*/ 19 h 47"/>
                      <a:gd name="T18" fmla="*/ 107 w 110"/>
                      <a:gd name="T19" fmla="*/ 14 h 47"/>
                      <a:gd name="T20" fmla="*/ 110 w 110"/>
                      <a:gd name="T21" fmla="*/ 10 h 47"/>
                      <a:gd name="T22" fmla="*/ 107 w 110"/>
                      <a:gd name="T23" fmla="*/ 26 h 47"/>
                      <a:gd name="T24" fmla="*/ 99 w 110"/>
                      <a:gd name="T25" fmla="*/ 38 h 47"/>
                      <a:gd name="T26" fmla="*/ 89 w 110"/>
                      <a:gd name="T27" fmla="*/ 45 h 47"/>
                      <a:gd name="T28" fmla="*/ 75 w 110"/>
                      <a:gd name="T29" fmla="*/ 47 h 47"/>
                      <a:gd name="T30" fmla="*/ 59 w 110"/>
                      <a:gd name="T31" fmla="*/ 46 h 47"/>
                      <a:gd name="T32" fmla="*/ 48 w 110"/>
                      <a:gd name="T33" fmla="*/ 42 h 47"/>
                      <a:gd name="T34" fmla="*/ 36 w 110"/>
                      <a:gd name="T35" fmla="*/ 33 h 47"/>
                      <a:gd name="T36" fmla="*/ 29 w 110"/>
                      <a:gd name="T37" fmla="*/ 27 h 47"/>
                      <a:gd name="T38" fmla="*/ 16 w 110"/>
                      <a:gd name="T39" fmla="*/ 17 h 47"/>
                      <a:gd name="T40" fmla="*/ 0 w 110"/>
                      <a:gd name="T41" fmla="*/ 1 h 4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</a:cxnLst>
                    <a:rect l="0" t="0" r="r" b="b"/>
                    <a:pathLst>
                      <a:path w="110" h="47">
                        <a:moveTo>
                          <a:pt x="0" y="1"/>
                        </a:moveTo>
                        <a:lnTo>
                          <a:pt x="13" y="0"/>
                        </a:lnTo>
                        <a:lnTo>
                          <a:pt x="25" y="5"/>
                        </a:lnTo>
                        <a:lnTo>
                          <a:pt x="42" y="10"/>
                        </a:lnTo>
                        <a:lnTo>
                          <a:pt x="52" y="15"/>
                        </a:lnTo>
                        <a:lnTo>
                          <a:pt x="63" y="19"/>
                        </a:lnTo>
                        <a:lnTo>
                          <a:pt x="74" y="20"/>
                        </a:lnTo>
                        <a:lnTo>
                          <a:pt x="84" y="21"/>
                        </a:lnTo>
                        <a:lnTo>
                          <a:pt x="98" y="19"/>
                        </a:lnTo>
                        <a:lnTo>
                          <a:pt x="107" y="14"/>
                        </a:lnTo>
                        <a:lnTo>
                          <a:pt x="110" y="10"/>
                        </a:lnTo>
                        <a:lnTo>
                          <a:pt x="107" y="26"/>
                        </a:lnTo>
                        <a:lnTo>
                          <a:pt x="99" y="38"/>
                        </a:lnTo>
                        <a:lnTo>
                          <a:pt x="89" y="45"/>
                        </a:lnTo>
                        <a:lnTo>
                          <a:pt x="75" y="47"/>
                        </a:lnTo>
                        <a:lnTo>
                          <a:pt x="59" y="46"/>
                        </a:lnTo>
                        <a:lnTo>
                          <a:pt x="48" y="42"/>
                        </a:lnTo>
                        <a:lnTo>
                          <a:pt x="36" y="33"/>
                        </a:lnTo>
                        <a:lnTo>
                          <a:pt x="29" y="27"/>
                        </a:lnTo>
                        <a:lnTo>
                          <a:pt x="16" y="17"/>
                        </a:lnTo>
                        <a:lnTo>
                          <a:pt x="0" y="1"/>
                        </a:lnTo>
                        <a:close/>
                      </a:path>
                    </a:pathLst>
                  </a:custGeom>
                  <a:solidFill>
                    <a:srgbClr val="BF7F3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284" name="Freeform 364"/>
                  <p:cNvSpPr/>
                  <p:nvPr/>
                </p:nvSpPr>
                <p:spPr bwMode="auto">
                  <a:xfrm>
                    <a:off x="4890" y="2354"/>
                    <a:ext cx="16" cy="4"/>
                  </a:xfrm>
                  <a:custGeom>
                    <a:avLst/>
                    <a:gdLst>
                      <a:gd name="T0" fmla="*/ 0 w 94"/>
                      <a:gd name="T1" fmla="*/ 0 h 21"/>
                      <a:gd name="T2" fmla="*/ 13 w 94"/>
                      <a:gd name="T3" fmla="*/ 1 h 21"/>
                      <a:gd name="T4" fmla="*/ 32 w 94"/>
                      <a:gd name="T5" fmla="*/ 2 h 21"/>
                      <a:gd name="T6" fmla="*/ 45 w 94"/>
                      <a:gd name="T7" fmla="*/ 4 h 21"/>
                      <a:gd name="T8" fmla="*/ 57 w 94"/>
                      <a:gd name="T9" fmla="*/ 10 h 21"/>
                      <a:gd name="T10" fmla="*/ 64 w 94"/>
                      <a:gd name="T11" fmla="*/ 12 h 21"/>
                      <a:gd name="T12" fmla="*/ 80 w 94"/>
                      <a:gd name="T13" fmla="*/ 8 h 21"/>
                      <a:gd name="T14" fmla="*/ 92 w 94"/>
                      <a:gd name="T15" fmla="*/ 8 h 21"/>
                      <a:gd name="T16" fmla="*/ 94 w 94"/>
                      <a:gd name="T17" fmla="*/ 20 h 21"/>
                      <a:gd name="T18" fmla="*/ 82 w 94"/>
                      <a:gd name="T19" fmla="*/ 18 h 21"/>
                      <a:gd name="T20" fmla="*/ 72 w 94"/>
                      <a:gd name="T21" fmla="*/ 20 h 21"/>
                      <a:gd name="T22" fmla="*/ 61 w 94"/>
                      <a:gd name="T23" fmla="*/ 21 h 21"/>
                      <a:gd name="T24" fmla="*/ 54 w 94"/>
                      <a:gd name="T25" fmla="*/ 21 h 21"/>
                      <a:gd name="T26" fmla="*/ 45 w 94"/>
                      <a:gd name="T27" fmla="*/ 13 h 21"/>
                      <a:gd name="T28" fmla="*/ 38 w 94"/>
                      <a:gd name="T29" fmla="*/ 7 h 21"/>
                      <a:gd name="T30" fmla="*/ 27 w 94"/>
                      <a:gd name="T31" fmla="*/ 6 h 21"/>
                      <a:gd name="T32" fmla="*/ 12 w 94"/>
                      <a:gd name="T33" fmla="*/ 4 h 21"/>
                      <a:gd name="T34" fmla="*/ 0 w 94"/>
                      <a:gd name="T35" fmla="*/ 0 h 2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</a:cxnLst>
                    <a:rect l="0" t="0" r="r" b="b"/>
                    <a:pathLst>
                      <a:path w="94" h="21">
                        <a:moveTo>
                          <a:pt x="0" y="0"/>
                        </a:moveTo>
                        <a:lnTo>
                          <a:pt x="13" y="1"/>
                        </a:lnTo>
                        <a:lnTo>
                          <a:pt x="32" y="2"/>
                        </a:lnTo>
                        <a:lnTo>
                          <a:pt x="45" y="4"/>
                        </a:lnTo>
                        <a:lnTo>
                          <a:pt x="57" y="10"/>
                        </a:lnTo>
                        <a:lnTo>
                          <a:pt x="64" y="12"/>
                        </a:lnTo>
                        <a:lnTo>
                          <a:pt x="80" y="8"/>
                        </a:lnTo>
                        <a:lnTo>
                          <a:pt x="92" y="8"/>
                        </a:lnTo>
                        <a:lnTo>
                          <a:pt x="94" y="20"/>
                        </a:lnTo>
                        <a:lnTo>
                          <a:pt x="82" y="18"/>
                        </a:lnTo>
                        <a:lnTo>
                          <a:pt x="72" y="20"/>
                        </a:lnTo>
                        <a:lnTo>
                          <a:pt x="61" y="21"/>
                        </a:lnTo>
                        <a:lnTo>
                          <a:pt x="54" y="21"/>
                        </a:lnTo>
                        <a:lnTo>
                          <a:pt x="45" y="13"/>
                        </a:lnTo>
                        <a:lnTo>
                          <a:pt x="38" y="7"/>
                        </a:lnTo>
                        <a:lnTo>
                          <a:pt x="27" y="6"/>
                        </a:lnTo>
                        <a:lnTo>
                          <a:pt x="12" y="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grpSp>
                <p:nvGrpSpPr>
                  <p:cNvPr id="285" name="Group 365"/>
                  <p:cNvGrpSpPr/>
                  <p:nvPr/>
                </p:nvGrpSpPr>
                <p:grpSpPr bwMode="auto">
                  <a:xfrm>
                    <a:off x="4840" y="2242"/>
                    <a:ext cx="86" cy="92"/>
                    <a:chOff x="4840" y="2242"/>
                    <a:chExt cx="86" cy="92"/>
                  </a:xfrm>
                </p:grpSpPr>
                <p:sp>
                  <p:nvSpPr>
                    <p:cNvPr id="302" name="Freeform 366"/>
                    <p:cNvSpPr/>
                    <p:nvPr/>
                  </p:nvSpPr>
                  <p:spPr bwMode="auto">
                    <a:xfrm>
                      <a:off x="4840" y="2242"/>
                      <a:ext cx="86" cy="92"/>
                    </a:xfrm>
                    <a:custGeom>
                      <a:avLst/>
                      <a:gdLst>
                        <a:gd name="T0" fmla="*/ 21 w 518"/>
                        <a:gd name="T1" fmla="*/ 463 h 463"/>
                        <a:gd name="T2" fmla="*/ 6 w 518"/>
                        <a:gd name="T3" fmla="*/ 326 h 463"/>
                        <a:gd name="T4" fmla="*/ 0 w 518"/>
                        <a:gd name="T5" fmla="*/ 248 h 463"/>
                        <a:gd name="T6" fmla="*/ 5 w 518"/>
                        <a:gd name="T7" fmla="*/ 164 h 463"/>
                        <a:gd name="T8" fmla="*/ 21 w 518"/>
                        <a:gd name="T9" fmla="*/ 90 h 463"/>
                        <a:gd name="T10" fmla="*/ 57 w 518"/>
                        <a:gd name="T11" fmla="*/ 54 h 463"/>
                        <a:gd name="T12" fmla="*/ 118 w 518"/>
                        <a:gd name="T13" fmla="*/ 18 h 463"/>
                        <a:gd name="T14" fmla="*/ 159 w 518"/>
                        <a:gd name="T15" fmla="*/ 6 h 463"/>
                        <a:gd name="T16" fmla="*/ 188 w 518"/>
                        <a:gd name="T17" fmla="*/ 4 h 463"/>
                        <a:gd name="T18" fmla="*/ 270 w 518"/>
                        <a:gd name="T19" fmla="*/ 1 h 463"/>
                        <a:gd name="T20" fmla="*/ 323 w 518"/>
                        <a:gd name="T21" fmla="*/ 10 h 463"/>
                        <a:gd name="T22" fmla="*/ 374 w 518"/>
                        <a:gd name="T23" fmla="*/ 25 h 463"/>
                        <a:gd name="T24" fmla="*/ 421 w 518"/>
                        <a:gd name="T25" fmla="*/ 41 h 463"/>
                        <a:gd name="T26" fmla="*/ 472 w 518"/>
                        <a:gd name="T27" fmla="*/ 68 h 463"/>
                        <a:gd name="T28" fmla="*/ 508 w 518"/>
                        <a:gd name="T29" fmla="*/ 96 h 463"/>
                        <a:gd name="T30" fmla="*/ 518 w 518"/>
                        <a:gd name="T31" fmla="*/ 148 h 463"/>
                        <a:gd name="T32" fmla="*/ 509 w 518"/>
                        <a:gd name="T33" fmla="*/ 210 h 463"/>
                        <a:gd name="T34" fmla="*/ 469 w 518"/>
                        <a:gd name="T35" fmla="*/ 167 h 463"/>
                        <a:gd name="T36" fmla="*/ 411 w 518"/>
                        <a:gd name="T37" fmla="*/ 151 h 463"/>
                        <a:gd name="T38" fmla="*/ 385 w 518"/>
                        <a:gd name="T39" fmla="*/ 138 h 463"/>
                        <a:gd name="T40" fmla="*/ 356 w 518"/>
                        <a:gd name="T41" fmla="*/ 135 h 463"/>
                        <a:gd name="T42" fmla="*/ 328 w 518"/>
                        <a:gd name="T43" fmla="*/ 117 h 463"/>
                        <a:gd name="T44" fmla="*/ 299 w 518"/>
                        <a:gd name="T45" fmla="*/ 94 h 463"/>
                        <a:gd name="T46" fmla="*/ 242 w 518"/>
                        <a:gd name="T47" fmla="*/ 60 h 463"/>
                        <a:gd name="T48" fmla="*/ 261 w 518"/>
                        <a:gd name="T49" fmla="*/ 90 h 463"/>
                        <a:gd name="T50" fmla="*/ 262 w 518"/>
                        <a:gd name="T51" fmla="*/ 139 h 463"/>
                        <a:gd name="T52" fmla="*/ 255 w 518"/>
                        <a:gd name="T53" fmla="*/ 189 h 463"/>
                        <a:gd name="T54" fmla="*/ 235 w 518"/>
                        <a:gd name="T55" fmla="*/ 229 h 463"/>
                        <a:gd name="T56" fmla="*/ 208 w 518"/>
                        <a:gd name="T57" fmla="*/ 257 h 463"/>
                        <a:gd name="T58" fmla="*/ 183 w 518"/>
                        <a:gd name="T59" fmla="*/ 295 h 463"/>
                        <a:gd name="T60" fmla="*/ 174 w 518"/>
                        <a:gd name="T61" fmla="*/ 322 h 463"/>
                        <a:gd name="T62" fmla="*/ 161 w 518"/>
                        <a:gd name="T63" fmla="*/ 356 h 463"/>
                        <a:gd name="T64" fmla="*/ 161 w 518"/>
                        <a:gd name="T65" fmla="*/ 392 h 463"/>
                        <a:gd name="T66" fmla="*/ 123 w 518"/>
                        <a:gd name="T67" fmla="*/ 407 h 463"/>
                        <a:gd name="T68" fmla="*/ 114 w 518"/>
                        <a:gd name="T69" fmla="*/ 372 h 463"/>
                        <a:gd name="T70" fmla="*/ 110 w 518"/>
                        <a:gd name="T71" fmla="*/ 337 h 463"/>
                        <a:gd name="T72" fmla="*/ 101 w 518"/>
                        <a:gd name="T73" fmla="*/ 288 h 463"/>
                        <a:gd name="T74" fmla="*/ 85 w 518"/>
                        <a:gd name="T75" fmla="*/ 262 h 463"/>
                        <a:gd name="T76" fmla="*/ 59 w 518"/>
                        <a:gd name="T77" fmla="*/ 253 h 463"/>
                        <a:gd name="T78" fmla="*/ 35 w 518"/>
                        <a:gd name="T79" fmla="*/ 274 h 463"/>
                        <a:gd name="T80" fmla="*/ 24 w 518"/>
                        <a:gd name="T81" fmla="*/ 311 h 463"/>
                        <a:gd name="T82" fmla="*/ 21 w 518"/>
                        <a:gd name="T83" fmla="*/ 348 h 463"/>
                        <a:gd name="T84" fmla="*/ 29 w 518"/>
                        <a:gd name="T85" fmla="*/ 408 h 463"/>
                        <a:gd name="T86" fmla="*/ 46 w 518"/>
                        <a:gd name="T87" fmla="*/ 439 h 46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</a:cxnLst>
                      <a:rect l="0" t="0" r="r" b="b"/>
                      <a:pathLst>
                        <a:path w="518" h="463">
                          <a:moveTo>
                            <a:pt x="46" y="439"/>
                          </a:moveTo>
                          <a:lnTo>
                            <a:pt x="21" y="463"/>
                          </a:lnTo>
                          <a:lnTo>
                            <a:pt x="6" y="426"/>
                          </a:lnTo>
                          <a:lnTo>
                            <a:pt x="6" y="326"/>
                          </a:lnTo>
                          <a:lnTo>
                            <a:pt x="3" y="284"/>
                          </a:lnTo>
                          <a:lnTo>
                            <a:pt x="0" y="248"/>
                          </a:lnTo>
                          <a:lnTo>
                            <a:pt x="3" y="204"/>
                          </a:lnTo>
                          <a:lnTo>
                            <a:pt x="5" y="164"/>
                          </a:lnTo>
                          <a:lnTo>
                            <a:pt x="12" y="109"/>
                          </a:lnTo>
                          <a:lnTo>
                            <a:pt x="21" y="90"/>
                          </a:lnTo>
                          <a:lnTo>
                            <a:pt x="37" y="73"/>
                          </a:lnTo>
                          <a:lnTo>
                            <a:pt x="57" y="54"/>
                          </a:lnTo>
                          <a:lnTo>
                            <a:pt x="82" y="36"/>
                          </a:lnTo>
                          <a:lnTo>
                            <a:pt x="118" y="18"/>
                          </a:lnTo>
                          <a:lnTo>
                            <a:pt x="141" y="10"/>
                          </a:lnTo>
                          <a:lnTo>
                            <a:pt x="159" y="6"/>
                          </a:lnTo>
                          <a:lnTo>
                            <a:pt x="174" y="5"/>
                          </a:lnTo>
                          <a:lnTo>
                            <a:pt x="188" y="4"/>
                          </a:lnTo>
                          <a:lnTo>
                            <a:pt x="235" y="0"/>
                          </a:lnTo>
                          <a:lnTo>
                            <a:pt x="270" y="1"/>
                          </a:lnTo>
                          <a:lnTo>
                            <a:pt x="302" y="6"/>
                          </a:lnTo>
                          <a:lnTo>
                            <a:pt x="323" y="10"/>
                          </a:lnTo>
                          <a:lnTo>
                            <a:pt x="349" y="16"/>
                          </a:lnTo>
                          <a:lnTo>
                            <a:pt x="374" y="25"/>
                          </a:lnTo>
                          <a:lnTo>
                            <a:pt x="398" y="32"/>
                          </a:lnTo>
                          <a:lnTo>
                            <a:pt x="421" y="41"/>
                          </a:lnTo>
                          <a:lnTo>
                            <a:pt x="444" y="49"/>
                          </a:lnTo>
                          <a:lnTo>
                            <a:pt x="472" y="68"/>
                          </a:lnTo>
                          <a:lnTo>
                            <a:pt x="496" y="84"/>
                          </a:lnTo>
                          <a:lnTo>
                            <a:pt x="508" y="96"/>
                          </a:lnTo>
                          <a:lnTo>
                            <a:pt x="515" y="121"/>
                          </a:lnTo>
                          <a:lnTo>
                            <a:pt x="518" y="148"/>
                          </a:lnTo>
                          <a:lnTo>
                            <a:pt x="514" y="191"/>
                          </a:lnTo>
                          <a:lnTo>
                            <a:pt x="509" y="210"/>
                          </a:lnTo>
                          <a:lnTo>
                            <a:pt x="499" y="185"/>
                          </a:lnTo>
                          <a:lnTo>
                            <a:pt x="469" y="167"/>
                          </a:lnTo>
                          <a:lnTo>
                            <a:pt x="433" y="158"/>
                          </a:lnTo>
                          <a:lnTo>
                            <a:pt x="411" y="151"/>
                          </a:lnTo>
                          <a:lnTo>
                            <a:pt x="397" y="143"/>
                          </a:lnTo>
                          <a:lnTo>
                            <a:pt x="385" y="138"/>
                          </a:lnTo>
                          <a:lnTo>
                            <a:pt x="372" y="138"/>
                          </a:lnTo>
                          <a:lnTo>
                            <a:pt x="356" y="135"/>
                          </a:lnTo>
                          <a:lnTo>
                            <a:pt x="345" y="128"/>
                          </a:lnTo>
                          <a:lnTo>
                            <a:pt x="328" y="117"/>
                          </a:lnTo>
                          <a:lnTo>
                            <a:pt x="317" y="107"/>
                          </a:lnTo>
                          <a:lnTo>
                            <a:pt x="299" y="94"/>
                          </a:lnTo>
                          <a:lnTo>
                            <a:pt x="278" y="79"/>
                          </a:lnTo>
                          <a:lnTo>
                            <a:pt x="242" y="60"/>
                          </a:lnTo>
                          <a:lnTo>
                            <a:pt x="255" y="75"/>
                          </a:lnTo>
                          <a:lnTo>
                            <a:pt x="261" y="90"/>
                          </a:lnTo>
                          <a:lnTo>
                            <a:pt x="263" y="110"/>
                          </a:lnTo>
                          <a:lnTo>
                            <a:pt x="262" y="139"/>
                          </a:lnTo>
                          <a:lnTo>
                            <a:pt x="259" y="162"/>
                          </a:lnTo>
                          <a:lnTo>
                            <a:pt x="255" y="189"/>
                          </a:lnTo>
                          <a:lnTo>
                            <a:pt x="244" y="215"/>
                          </a:lnTo>
                          <a:lnTo>
                            <a:pt x="235" y="229"/>
                          </a:lnTo>
                          <a:lnTo>
                            <a:pt x="223" y="243"/>
                          </a:lnTo>
                          <a:lnTo>
                            <a:pt x="208" y="257"/>
                          </a:lnTo>
                          <a:lnTo>
                            <a:pt x="199" y="269"/>
                          </a:lnTo>
                          <a:lnTo>
                            <a:pt x="183" y="295"/>
                          </a:lnTo>
                          <a:lnTo>
                            <a:pt x="177" y="310"/>
                          </a:lnTo>
                          <a:lnTo>
                            <a:pt x="174" y="322"/>
                          </a:lnTo>
                          <a:lnTo>
                            <a:pt x="167" y="340"/>
                          </a:lnTo>
                          <a:lnTo>
                            <a:pt x="161" y="356"/>
                          </a:lnTo>
                          <a:lnTo>
                            <a:pt x="163" y="374"/>
                          </a:lnTo>
                          <a:lnTo>
                            <a:pt x="161" y="392"/>
                          </a:lnTo>
                          <a:lnTo>
                            <a:pt x="152" y="408"/>
                          </a:lnTo>
                          <a:lnTo>
                            <a:pt x="123" y="407"/>
                          </a:lnTo>
                          <a:lnTo>
                            <a:pt x="118" y="387"/>
                          </a:lnTo>
                          <a:lnTo>
                            <a:pt x="114" y="372"/>
                          </a:lnTo>
                          <a:lnTo>
                            <a:pt x="110" y="356"/>
                          </a:lnTo>
                          <a:lnTo>
                            <a:pt x="110" y="337"/>
                          </a:lnTo>
                          <a:lnTo>
                            <a:pt x="108" y="319"/>
                          </a:lnTo>
                          <a:lnTo>
                            <a:pt x="101" y="288"/>
                          </a:lnTo>
                          <a:lnTo>
                            <a:pt x="95" y="272"/>
                          </a:lnTo>
                          <a:lnTo>
                            <a:pt x="85" y="262"/>
                          </a:lnTo>
                          <a:lnTo>
                            <a:pt x="69" y="252"/>
                          </a:lnTo>
                          <a:lnTo>
                            <a:pt x="59" y="253"/>
                          </a:lnTo>
                          <a:lnTo>
                            <a:pt x="43" y="261"/>
                          </a:lnTo>
                          <a:lnTo>
                            <a:pt x="35" y="274"/>
                          </a:lnTo>
                          <a:lnTo>
                            <a:pt x="28" y="292"/>
                          </a:lnTo>
                          <a:lnTo>
                            <a:pt x="24" y="311"/>
                          </a:lnTo>
                          <a:lnTo>
                            <a:pt x="22" y="326"/>
                          </a:lnTo>
                          <a:lnTo>
                            <a:pt x="21" y="348"/>
                          </a:lnTo>
                          <a:lnTo>
                            <a:pt x="24" y="386"/>
                          </a:lnTo>
                          <a:lnTo>
                            <a:pt x="29" y="408"/>
                          </a:lnTo>
                          <a:lnTo>
                            <a:pt x="39" y="426"/>
                          </a:lnTo>
                          <a:lnTo>
                            <a:pt x="46" y="439"/>
                          </a:lnTo>
                          <a:close/>
                        </a:path>
                      </a:pathLst>
                    </a:custGeom>
                    <a:solidFill>
                      <a:srgbClr val="3F1F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03" name="Freeform 367"/>
                    <p:cNvSpPr/>
                    <p:nvPr/>
                  </p:nvSpPr>
                  <p:spPr bwMode="auto">
                    <a:xfrm>
                      <a:off x="4860" y="2245"/>
                      <a:ext cx="65" cy="67"/>
                    </a:xfrm>
                    <a:custGeom>
                      <a:avLst/>
                      <a:gdLst>
                        <a:gd name="T0" fmla="*/ 40 w 388"/>
                        <a:gd name="T1" fmla="*/ 309 h 335"/>
                        <a:gd name="T2" fmla="*/ 16 w 388"/>
                        <a:gd name="T3" fmla="*/ 335 h 335"/>
                        <a:gd name="T4" fmla="*/ 17 w 388"/>
                        <a:gd name="T5" fmla="*/ 298 h 335"/>
                        <a:gd name="T6" fmla="*/ 14 w 388"/>
                        <a:gd name="T7" fmla="*/ 278 h 335"/>
                        <a:gd name="T8" fmla="*/ 22 w 388"/>
                        <a:gd name="T9" fmla="*/ 214 h 335"/>
                        <a:gd name="T10" fmla="*/ 23 w 388"/>
                        <a:gd name="T11" fmla="*/ 184 h 335"/>
                        <a:gd name="T12" fmla="*/ 32 w 388"/>
                        <a:gd name="T13" fmla="*/ 188 h 335"/>
                        <a:gd name="T14" fmla="*/ 36 w 388"/>
                        <a:gd name="T15" fmla="*/ 210 h 335"/>
                        <a:gd name="T16" fmla="*/ 26 w 388"/>
                        <a:gd name="T17" fmla="*/ 241 h 335"/>
                        <a:gd name="T18" fmla="*/ 36 w 388"/>
                        <a:gd name="T19" fmla="*/ 255 h 335"/>
                        <a:gd name="T20" fmla="*/ 63 w 388"/>
                        <a:gd name="T21" fmla="*/ 257 h 335"/>
                        <a:gd name="T22" fmla="*/ 99 w 388"/>
                        <a:gd name="T23" fmla="*/ 194 h 335"/>
                        <a:gd name="T24" fmla="*/ 75 w 388"/>
                        <a:gd name="T25" fmla="*/ 193 h 335"/>
                        <a:gd name="T26" fmla="*/ 78 w 388"/>
                        <a:gd name="T27" fmla="*/ 179 h 335"/>
                        <a:gd name="T28" fmla="*/ 83 w 388"/>
                        <a:gd name="T29" fmla="*/ 190 h 335"/>
                        <a:gd name="T30" fmla="*/ 104 w 388"/>
                        <a:gd name="T31" fmla="*/ 158 h 335"/>
                        <a:gd name="T32" fmla="*/ 116 w 388"/>
                        <a:gd name="T33" fmla="*/ 126 h 335"/>
                        <a:gd name="T34" fmla="*/ 124 w 388"/>
                        <a:gd name="T35" fmla="*/ 121 h 335"/>
                        <a:gd name="T36" fmla="*/ 129 w 388"/>
                        <a:gd name="T37" fmla="*/ 80 h 335"/>
                        <a:gd name="T38" fmla="*/ 127 w 388"/>
                        <a:gd name="T39" fmla="*/ 55 h 335"/>
                        <a:gd name="T40" fmla="*/ 109 w 388"/>
                        <a:gd name="T41" fmla="*/ 41 h 335"/>
                        <a:gd name="T42" fmla="*/ 75 w 388"/>
                        <a:gd name="T43" fmla="*/ 26 h 335"/>
                        <a:gd name="T44" fmla="*/ 41 w 388"/>
                        <a:gd name="T45" fmla="*/ 9 h 335"/>
                        <a:gd name="T46" fmla="*/ 49 w 388"/>
                        <a:gd name="T47" fmla="*/ 0 h 335"/>
                        <a:gd name="T48" fmla="*/ 92 w 388"/>
                        <a:gd name="T49" fmla="*/ 5 h 335"/>
                        <a:gd name="T50" fmla="*/ 123 w 388"/>
                        <a:gd name="T51" fmla="*/ 11 h 335"/>
                        <a:gd name="T52" fmla="*/ 109 w 388"/>
                        <a:gd name="T53" fmla="*/ 16 h 335"/>
                        <a:gd name="T54" fmla="*/ 143 w 388"/>
                        <a:gd name="T55" fmla="*/ 16 h 335"/>
                        <a:gd name="T56" fmla="*/ 173 w 388"/>
                        <a:gd name="T57" fmla="*/ 21 h 335"/>
                        <a:gd name="T58" fmla="*/ 147 w 388"/>
                        <a:gd name="T59" fmla="*/ 28 h 335"/>
                        <a:gd name="T60" fmla="*/ 176 w 388"/>
                        <a:gd name="T61" fmla="*/ 30 h 335"/>
                        <a:gd name="T62" fmla="*/ 133 w 388"/>
                        <a:gd name="T63" fmla="*/ 36 h 335"/>
                        <a:gd name="T64" fmla="*/ 165 w 388"/>
                        <a:gd name="T65" fmla="*/ 47 h 335"/>
                        <a:gd name="T66" fmla="*/ 218 w 388"/>
                        <a:gd name="T67" fmla="*/ 59 h 335"/>
                        <a:gd name="T68" fmla="*/ 204 w 388"/>
                        <a:gd name="T69" fmla="*/ 41 h 335"/>
                        <a:gd name="T70" fmla="*/ 246 w 388"/>
                        <a:gd name="T71" fmla="*/ 52 h 335"/>
                        <a:gd name="T72" fmla="*/ 276 w 388"/>
                        <a:gd name="T73" fmla="*/ 67 h 335"/>
                        <a:gd name="T74" fmla="*/ 312 w 388"/>
                        <a:gd name="T75" fmla="*/ 93 h 335"/>
                        <a:gd name="T76" fmla="*/ 314 w 388"/>
                        <a:gd name="T77" fmla="*/ 100 h 335"/>
                        <a:gd name="T78" fmla="*/ 350 w 388"/>
                        <a:gd name="T79" fmla="*/ 122 h 335"/>
                        <a:gd name="T80" fmla="*/ 375 w 388"/>
                        <a:gd name="T81" fmla="*/ 149 h 335"/>
                        <a:gd name="T82" fmla="*/ 388 w 388"/>
                        <a:gd name="T83" fmla="*/ 194 h 335"/>
                        <a:gd name="T84" fmla="*/ 348 w 388"/>
                        <a:gd name="T85" fmla="*/ 151 h 335"/>
                        <a:gd name="T86" fmla="*/ 289 w 388"/>
                        <a:gd name="T87" fmla="*/ 135 h 335"/>
                        <a:gd name="T88" fmla="*/ 264 w 388"/>
                        <a:gd name="T89" fmla="*/ 122 h 335"/>
                        <a:gd name="T90" fmla="*/ 235 w 388"/>
                        <a:gd name="T91" fmla="*/ 119 h 335"/>
                        <a:gd name="T92" fmla="*/ 207 w 388"/>
                        <a:gd name="T93" fmla="*/ 101 h 335"/>
                        <a:gd name="T94" fmla="*/ 178 w 388"/>
                        <a:gd name="T95" fmla="*/ 78 h 335"/>
                        <a:gd name="T96" fmla="*/ 121 w 388"/>
                        <a:gd name="T97" fmla="*/ 44 h 335"/>
                        <a:gd name="T98" fmla="*/ 140 w 388"/>
                        <a:gd name="T99" fmla="*/ 74 h 335"/>
                        <a:gd name="T100" fmla="*/ 141 w 388"/>
                        <a:gd name="T101" fmla="*/ 123 h 335"/>
                        <a:gd name="T102" fmla="*/ 134 w 388"/>
                        <a:gd name="T103" fmla="*/ 173 h 335"/>
                        <a:gd name="T104" fmla="*/ 114 w 388"/>
                        <a:gd name="T105" fmla="*/ 213 h 335"/>
                        <a:gd name="T106" fmla="*/ 86 w 388"/>
                        <a:gd name="T107" fmla="*/ 241 h 335"/>
                        <a:gd name="T108" fmla="*/ 61 w 388"/>
                        <a:gd name="T109" fmla="*/ 280 h 335"/>
                        <a:gd name="T110" fmla="*/ 51 w 388"/>
                        <a:gd name="T111" fmla="*/ 308 h 33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</a:cxnLst>
                      <a:rect l="0" t="0" r="r" b="b"/>
                      <a:pathLst>
                        <a:path w="388" h="335">
                          <a:moveTo>
                            <a:pt x="50" y="297"/>
                          </a:moveTo>
                          <a:lnTo>
                            <a:pt x="40" y="309"/>
                          </a:lnTo>
                          <a:lnTo>
                            <a:pt x="46" y="285"/>
                          </a:lnTo>
                          <a:lnTo>
                            <a:pt x="16" y="335"/>
                          </a:lnTo>
                          <a:lnTo>
                            <a:pt x="38" y="277"/>
                          </a:lnTo>
                          <a:lnTo>
                            <a:pt x="17" y="298"/>
                          </a:lnTo>
                          <a:lnTo>
                            <a:pt x="25" y="257"/>
                          </a:lnTo>
                          <a:lnTo>
                            <a:pt x="14" y="278"/>
                          </a:lnTo>
                          <a:lnTo>
                            <a:pt x="17" y="241"/>
                          </a:lnTo>
                          <a:lnTo>
                            <a:pt x="22" y="214"/>
                          </a:lnTo>
                          <a:lnTo>
                            <a:pt x="0" y="247"/>
                          </a:lnTo>
                          <a:lnTo>
                            <a:pt x="23" y="184"/>
                          </a:lnTo>
                          <a:lnTo>
                            <a:pt x="54" y="152"/>
                          </a:lnTo>
                          <a:lnTo>
                            <a:pt x="32" y="188"/>
                          </a:lnTo>
                          <a:lnTo>
                            <a:pt x="71" y="148"/>
                          </a:lnTo>
                          <a:lnTo>
                            <a:pt x="36" y="210"/>
                          </a:lnTo>
                          <a:lnTo>
                            <a:pt x="63" y="187"/>
                          </a:lnTo>
                          <a:lnTo>
                            <a:pt x="26" y="241"/>
                          </a:lnTo>
                          <a:lnTo>
                            <a:pt x="62" y="211"/>
                          </a:lnTo>
                          <a:lnTo>
                            <a:pt x="36" y="255"/>
                          </a:lnTo>
                          <a:lnTo>
                            <a:pt x="71" y="221"/>
                          </a:lnTo>
                          <a:lnTo>
                            <a:pt x="63" y="257"/>
                          </a:lnTo>
                          <a:lnTo>
                            <a:pt x="84" y="220"/>
                          </a:lnTo>
                          <a:lnTo>
                            <a:pt x="99" y="194"/>
                          </a:lnTo>
                          <a:lnTo>
                            <a:pt x="75" y="211"/>
                          </a:lnTo>
                          <a:lnTo>
                            <a:pt x="75" y="193"/>
                          </a:lnTo>
                          <a:lnTo>
                            <a:pt x="56" y="208"/>
                          </a:lnTo>
                          <a:lnTo>
                            <a:pt x="78" y="179"/>
                          </a:lnTo>
                          <a:lnTo>
                            <a:pt x="87" y="170"/>
                          </a:lnTo>
                          <a:lnTo>
                            <a:pt x="83" y="190"/>
                          </a:lnTo>
                          <a:lnTo>
                            <a:pt x="94" y="172"/>
                          </a:lnTo>
                          <a:lnTo>
                            <a:pt x="104" y="158"/>
                          </a:lnTo>
                          <a:lnTo>
                            <a:pt x="111" y="138"/>
                          </a:lnTo>
                          <a:lnTo>
                            <a:pt x="116" y="126"/>
                          </a:lnTo>
                          <a:lnTo>
                            <a:pt x="122" y="105"/>
                          </a:lnTo>
                          <a:lnTo>
                            <a:pt x="124" y="121"/>
                          </a:lnTo>
                          <a:lnTo>
                            <a:pt x="129" y="96"/>
                          </a:lnTo>
                          <a:lnTo>
                            <a:pt x="129" y="80"/>
                          </a:lnTo>
                          <a:lnTo>
                            <a:pt x="128" y="68"/>
                          </a:lnTo>
                          <a:lnTo>
                            <a:pt x="127" y="55"/>
                          </a:lnTo>
                          <a:lnTo>
                            <a:pt x="118" y="48"/>
                          </a:lnTo>
                          <a:lnTo>
                            <a:pt x="109" y="41"/>
                          </a:lnTo>
                          <a:lnTo>
                            <a:pt x="92" y="32"/>
                          </a:lnTo>
                          <a:lnTo>
                            <a:pt x="75" y="26"/>
                          </a:lnTo>
                          <a:lnTo>
                            <a:pt x="60" y="20"/>
                          </a:lnTo>
                          <a:lnTo>
                            <a:pt x="41" y="9"/>
                          </a:lnTo>
                          <a:lnTo>
                            <a:pt x="63" y="16"/>
                          </a:lnTo>
                          <a:lnTo>
                            <a:pt x="49" y="0"/>
                          </a:lnTo>
                          <a:lnTo>
                            <a:pt x="65" y="2"/>
                          </a:lnTo>
                          <a:lnTo>
                            <a:pt x="92" y="5"/>
                          </a:lnTo>
                          <a:lnTo>
                            <a:pt x="106" y="6"/>
                          </a:lnTo>
                          <a:lnTo>
                            <a:pt x="123" y="11"/>
                          </a:lnTo>
                          <a:lnTo>
                            <a:pt x="100" y="15"/>
                          </a:lnTo>
                          <a:lnTo>
                            <a:pt x="109" y="16"/>
                          </a:lnTo>
                          <a:lnTo>
                            <a:pt x="122" y="16"/>
                          </a:lnTo>
                          <a:lnTo>
                            <a:pt x="143" y="16"/>
                          </a:lnTo>
                          <a:lnTo>
                            <a:pt x="160" y="16"/>
                          </a:lnTo>
                          <a:lnTo>
                            <a:pt x="173" y="21"/>
                          </a:lnTo>
                          <a:lnTo>
                            <a:pt x="133" y="25"/>
                          </a:lnTo>
                          <a:lnTo>
                            <a:pt x="147" y="28"/>
                          </a:lnTo>
                          <a:lnTo>
                            <a:pt x="161" y="30"/>
                          </a:lnTo>
                          <a:lnTo>
                            <a:pt x="176" y="30"/>
                          </a:lnTo>
                          <a:lnTo>
                            <a:pt x="147" y="34"/>
                          </a:lnTo>
                          <a:lnTo>
                            <a:pt x="133" y="36"/>
                          </a:lnTo>
                          <a:lnTo>
                            <a:pt x="152" y="43"/>
                          </a:lnTo>
                          <a:lnTo>
                            <a:pt x="165" y="47"/>
                          </a:lnTo>
                          <a:lnTo>
                            <a:pt x="179" y="51"/>
                          </a:lnTo>
                          <a:lnTo>
                            <a:pt x="218" y="59"/>
                          </a:lnTo>
                          <a:lnTo>
                            <a:pt x="177" y="39"/>
                          </a:lnTo>
                          <a:lnTo>
                            <a:pt x="204" y="41"/>
                          </a:lnTo>
                          <a:lnTo>
                            <a:pt x="226" y="46"/>
                          </a:lnTo>
                          <a:lnTo>
                            <a:pt x="246" y="52"/>
                          </a:lnTo>
                          <a:lnTo>
                            <a:pt x="264" y="60"/>
                          </a:lnTo>
                          <a:lnTo>
                            <a:pt x="276" y="67"/>
                          </a:lnTo>
                          <a:lnTo>
                            <a:pt x="294" y="78"/>
                          </a:lnTo>
                          <a:lnTo>
                            <a:pt x="312" y="93"/>
                          </a:lnTo>
                          <a:lnTo>
                            <a:pt x="269" y="81"/>
                          </a:lnTo>
                          <a:lnTo>
                            <a:pt x="314" y="100"/>
                          </a:lnTo>
                          <a:lnTo>
                            <a:pt x="336" y="111"/>
                          </a:lnTo>
                          <a:lnTo>
                            <a:pt x="350" y="122"/>
                          </a:lnTo>
                          <a:lnTo>
                            <a:pt x="363" y="135"/>
                          </a:lnTo>
                          <a:lnTo>
                            <a:pt x="375" y="149"/>
                          </a:lnTo>
                          <a:lnTo>
                            <a:pt x="382" y="166"/>
                          </a:lnTo>
                          <a:lnTo>
                            <a:pt x="388" y="194"/>
                          </a:lnTo>
                          <a:lnTo>
                            <a:pt x="378" y="169"/>
                          </a:lnTo>
                          <a:lnTo>
                            <a:pt x="348" y="151"/>
                          </a:lnTo>
                          <a:lnTo>
                            <a:pt x="312" y="142"/>
                          </a:lnTo>
                          <a:lnTo>
                            <a:pt x="289" y="135"/>
                          </a:lnTo>
                          <a:lnTo>
                            <a:pt x="275" y="127"/>
                          </a:lnTo>
                          <a:lnTo>
                            <a:pt x="264" y="122"/>
                          </a:lnTo>
                          <a:lnTo>
                            <a:pt x="251" y="122"/>
                          </a:lnTo>
                          <a:lnTo>
                            <a:pt x="235" y="119"/>
                          </a:lnTo>
                          <a:lnTo>
                            <a:pt x="224" y="112"/>
                          </a:lnTo>
                          <a:lnTo>
                            <a:pt x="207" y="101"/>
                          </a:lnTo>
                          <a:lnTo>
                            <a:pt x="196" y="93"/>
                          </a:lnTo>
                          <a:lnTo>
                            <a:pt x="178" y="78"/>
                          </a:lnTo>
                          <a:lnTo>
                            <a:pt x="157" y="63"/>
                          </a:lnTo>
                          <a:lnTo>
                            <a:pt x="121" y="44"/>
                          </a:lnTo>
                          <a:lnTo>
                            <a:pt x="134" y="59"/>
                          </a:lnTo>
                          <a:lnTo>
                            <a:pt x="140" y="74"/>
                          </a:lnTo>
                          <a:lnTo>
                            <a:pt x="142" y="95"/>
                          </a:lnTo>
                          <a:lnTo>
                            <a:pt x="141" y="123"/>
                          </a:lnTo>
                          <a:lnTo>
                            <a:pt x="138" y="146"/>
                          </a:lnTo>
                          <a:lnTo>
                            <a:pt x="134" y="173"/>
                          </a:lnTo>
                          <a:lnTo>
                            <a:pt x="123" y="199"/>
                          </a:lnTo>
                          <a:lnTo>
                            <a:pt x="114" y="213"/>
                          </a:lnTo>
                          <a:lnTo>
                            <a:pt x="102" y="227"/>
                          </a:lnTo>
                          <a:lnTo>
                            <a:pt x="86" y="241"/>
                          </a:lnTo>
                          <a:lnTo>
                            <a:pt x="77" y="255"/>
                          </a:lnTo>
                          <a:lnTo>
                            <a:pt x="61" y="280"/>
                          </a:lnTo>
                          <a:lnTo>
                            <a:pt x="55" y="295"/>
                          </a:lnTo>
                          <a:lnTo>
                            <a:pt x="51" y="308"/>
                          </a:lnTo>
                          <a:lnTo>
                            <a:pt x="50" y="297"/>
                          </a:lnTo>
                          <a:close/>
                        </a:path>
                      </a:pathLst>
                    </a:custGeom>
                    <a:solidFill>
                      <a:srgbClr val="7F3F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286" name="Group 368"/>
                  <p:cNvGrpSpPr/>
                  <p:nvPr/>
                </p:nvGrpSpPr>
                <p:grpSpPr bwMode="auto">
                  <a:xfrm>
                    <a:off x="4845" y="2298"/>
                    <a:ext cx="35" cy="77"/>
                    <a:chOff x="4845" y="2298"/>
                    <a:chExt cx="35" cy="77"/>
                  </a:xfrm>
                </p:grpSpPr>
                <p:sp>
                  <p:nvSpPr>
                    <p:cNvPr id="300" name="Freeform 369"/>
                    <p:cNvSpPr/>
                    <p:nvPr/>
                  </p:nvSpPr>
                  <p:spPr bwMode="auto">
                    <a:xfrm>
                      <a:off x="4848" y="2330"/>
                      <a:ext cx="32" cy="45"/>
                    </a:xfrm>
                    <a:custGeom>
                      <a:avLst/>
                      <a:gdLst>
                        <a:gd name="T0" fmla="*/ 0 w 194"/>
                        <a:gd name="T1" fmla="*/ 0 h 223"/>
                        <a:gd name="T2" fmla="*/ 11 w 194"/>
                        <a:gd name="T3" fmla="*/ 13 h 223"/>
                        <a:gd name="T4" fmla="*/ 20 w 194"/>
                        <a:gd name="T5" fmla="*/ 18 h 223"/>
                        <a:gd name="T6" fmla="*/ 31 w 194"/>
                        <a:gd name="T7" fmla="*/ 19 h 223"/>
                        <a:gd name="T8" fmla="*/ 41 w 194"/>
                        <a:gd name="T9" fmla="*/ 12 h 223"/>
                        <a:gd name="T10" fmla="*/ 42 w 194"/>
                        <a:gd name="T11" fmla="*/ 0 h 223"/>
                        <a:gd name="T12" fmla="*/ 43 w 194"/>
                        <a:gd name="T13" fmla="*/ 24 h 223"/>
                        <a:gd name="T14" fmla="*/ 51 w 194"/>
                        <a:gd name="T15" fmla="*/ 37 h 223"/>
                        <a:gd name="T16" fmla="*/ 58 w 194"/>
                        <a:gd name="T17" fmla="*/ 50 h 223"/>
                        <a:gd name="T18" fmla="*/ 69 w 194"/>
                        <a:gd name="T19" fmla="*/ 70 h 223"/>
                        <a:gd name="T20" fmla="*/ 76 w 194"/>
                        <a:gd name="T21" fmla="*/ 84 h 223"/>
                        <a:gd name="T22" fmla="*/ 82 w 194"/>
                        <a:gd name="T23" fmla="*/ 96 h 223"/>
                        <a:gd name="T24" fmla="*/ 91 w 194"/>
                        <a:gd name="T25" fmla="*/ 108 h 223"/>
                        <a:gd name="T26" fmla="*/ 108 w 194"/>
                        <a:gd name="T27" fmla="*/ 124 h 223"/>
                        <a:gd name="T28" fmla="*/ 119 w 194"/>
                        <a:gd name="T29" fmla="*/ 136 h 223"/>
                        <a:gd name="T30" fmla="*/ 128 w 194"/>
                        <a:gd name="T31" fmla="*/ 145 h 223"/>
                        <a:gd name="T32" fmla="*/ 133 w 194"/>
                        <a:gd name="T33" fmla="*/ 151 h 223"/>
                        <a:gd name="T34" fmla="*/ 139 w 194"/>
                        <a:gd name="T35" fmla="*/ 166 h 223"/>
                        <a:gd name="T36" fmla="*/ 146 w 194"/>
                        <a:gd name="T37" fmla="*/ 178 h 223"/>
                        <a:gd name="T38" fmla="*/ 156 w 194"/>
                        <a:gd name="T39" fmla="*/ 191 h 223"/>
                        <a:gd name="T40" fmla="*/ 163 w 194"/>
                        <a:gd name="T41" fmla="*/ 203 h 223"/>
                        <a:gd name="T42" fmla="*/ 172 w 194"/>
                        <a:gd name="T43" fmla="*/ 212 h 223"/>
                        <a:gd name="T44" fmla="*/ 182 w 194"/>
                        <a:gd name="T45" fmla="*/ 218 h 223"/>
                        <a:gd name="T46" fmla="*/ 194 w 194"/>
                        <a:gd name="T47" fmla="*/ 223 h 223"/>
                        <a:gd name="T48" fmla="*/ 176 w 194"/>
                        <a:gd name="T49" fmla="*/ 222 h 223"/>
                        <a:gd name="T50" fmla="*/ 159 w 194"/>
                        <a:gd name="T51" fmla="*/ 219 h 223"/>
                        <a:gd name="T52" fmla="*/ 149 w 194"/>
                        <a:gd name="T53" fmla="*/ 214 h 223"/>
                        <a:gd name="T54" fmla="*/ 137 w 194"/>
                        <a:gd name="T55" fmla="*/ 204 h 223"/>
                        <a:gd name="T56" fmla="*/ 129 w 194"/>
                        <a:gd name="T57" fmla="*/ 196 h 223"/>
                        <a:gd name="T58" fmla="*/ 123 w 194"/>
                        <a:gd name="T59" fmla="*/ 188 h 223"/>
                        <a:gd name="T60" fmla="*/ 116 w 194"/>
                        <a:gd name="T61" fmla="*/ 181 h 223"/>
                        <a:gd name="T62" fmla="*/ 113 w 194"/>
                        <a:gd name="T63" fmla="*/ 181 h 223"/>
                        <a:gd name="T64" fmla="*/ 106 w 194"/>
                        <a:gd name="T65" fmla="*/ 178 h 223"/>
                        <a:gd name="T66" fmla="*/ 94 w 194"/>
                        <a:gd name="T67" fmla="*/ 171 h 223"/>
                        <a:gd name="T68" fmla="*/ 83 w 194"/>
                        <a:gd name="T69" fmla="*/ 160 h 223"/>
                        <a:gd name="T70" fmla="*/ 69 w 194"/>
                        <a:gd name="T71" fmla="*/ 145 h 223"/>
                        <a:gd name="T72" fmla="*/ 54 w 194"/>
                        <a:gd name="T73" fmla="*/ 125 h 223"/>
                        <a:gd name="T74" fmla="*/ 42 w 194"/>
                        <a:gd name="T75" fmla="*/ 109 h 223"/>
                        <a:gd name="T76" fmla="*/ 31 w 194"/>
                        <a:gd name="T77" fmla="*/ 92 h 223"/>
                        <a:gd name="T78" fmla="*/ 22 w 194"/>
                        <a:gd name="T79" fmla="*/ 76 h 223"/>
                        <a:gd name="T80" fmla="*/ 17 w 194"/>
                        <a:gd name="T81" fmla="*/ 62 h 223"/>
                        <a:gd name="T82" fmla="*/ 14 w 194"/>
                        <a:gd name="T83" fmla="*/ 46 h 223"/>
                        <a:gd name="T84" fmla="*/ 9 w 194"/>
                        <a:gd name="T85" fmla="*/ 28 h 223"/>
                        <a:gd name="T86" fmla="*/ 0 w 194"/>
                        <a:gd name="T87" fmla="*/ 0 h 22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</a:cxnLst>
                      <a:rect l="0" t="0" r="r" b="b"/>
                      <a:pathLst>
                        <a:path w="194" h="223">
                          <a:moveTo>
                            <a:pt x="0" y="0"/>
                          </a:moveTo>
                          <a:lnTo>
                            <a:pt x="11" y="13"/>
                          </a:lnTo>
                          <a:lnTo>
                            <a:pt x="20" y="18"/>
                          </a:lnTo>
                          <a:lnTo>
                            <a:pt x="31" y="19"/>
                          </a:lnTo>
                          <a:lnTo>
                            <a:pt x="41" y="12"/>
                          </a:lnTo>
                          <a:lnTo>
                            <a:pt x="42" y="0"/>
                          </a:lnTo>
                          <a:lnTo>
                            <a:pt x="43" y="24"/>
                          </a:lnTo>
                          <a:lnTo>
                            <a:pt x="51" y="37"/>
                          </a:lnTo>
                          <a:lnTo>
                            <a:pt x="58" y="50"/>
                          </a:lnTo>
                          <a:lnTo>
                            <a:pt x="69" y="70"/>
                          </a:lnTo>
                          <a:lnTo>
                            <a:pt x="76" y="84"/>
                          </a:lnTo>
                          <a:lnTo>
                            <a:pt x="82" y="96"/>
                          </a:lnTo>
                          <a:lnTo>
                            <a:pt x="91" y="108"/>
                          </a:lnTo>
                          <a:lnTo>
                            <a:pt x="108" y="124"/>
                          </a:lnTo>
                          <a:lnTo>
                            <a:pt x="119" y="136"/>
                          </a:lnTo>
                          <a:lnTo>
                            <a:pt x="128" y="145"/>
                          </a:lnTo>
                          <a:lnTo>
                            <a:pt x="133" y="151"/>
                          </a:lnTo>
                          <a:lnTo>
                            <a:pt x="139" y="166"/>
                          </a:lnTo>
                          <a:lnTo>
                            <a:pt x="146" y="178"/>
                          </a:lnTo>
                          <a:lnTo>
                            <a:pt x="156" y="191"/>
                          </a:lnTo>
                          <a:lnTo>
                            <a:pt x="163" y="203"/>
                          </a:lnTo>
                          <a:lnTo>
                            <a:pt x="172" y="212"/>
                          </a:lnTo>
                          <a:lnTo>
                            <a:pt x="182" y="218"/>
                          </a:lnTo>
                          <a:lnTo>
                            <a:pt x="194" y="223"/>
                          </a:lnTo>
                          <a:lnTo>
                            <a:pt x="176" y="222"/>
                          </a:lnTo>
                          <a:lnTo>
                            <a:pt x="159" y="219"/>
                          </a:lnTo>
                          <a:lnTo>
                            <a:pt x="149" y="214"/>
                          </a:lnTo>
                          <a:lnTo>
                            <a:pt x="137" y="204"/>
                          </a:lnTo>
                          <a:lnTo>
                            <a:pt x="129" y="196"/>
                          </a:lnTo>
                          <a:lnTo>
                            <a:pt x="123" y="188"/>
                          </a:lnTo>
                          <a:lnTo>
                            <a:pt x="116" y="181"/>
                          </a:lnTo>
                          <a:lnTo>
                            <a:pt x="113" y="181"/>
                          </a:lnTo>
                          <a:lnTo>
                            <a:pt x="106" y="178"/>
                          </a:lnTo>
                          <a:lnTo>
                            <a:pt x="94" y="171"/>
                          </a:lnTo>
                          <a:lnTo>
                            <a:pt x="83" y="160"/>
                          </a:lnTo>
                          <a:lnTo>
                            <a:pt x="69" y="145"/>
                          </a:lnTo>
                          <a:lnTo>
                            <a:pt x="54" y="125"/>
                          </a:lnTo>
                          <a:lnTo>
                            <a:pt x="42" y="109"/>
                          </a:lnTo>
                          <a:lnTo>
                            <a:pt x="31" y="92"/>
                          </a:lnTo>
                          <a:lnTo>
                            <a:pt x="22" y="76"/>
                          </a:lnTo>
                          <a:lnTo>
                            <a:pt x="17" y="62"/>
                          </a:lnTo>
                          <a:lnTo>
                            <a:pt x="14" y="46"/>
                          </a:lnTo>
                          <a:lnTo>
                            <a:pt x="9" y="2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5F3F1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01" name="Freeform 370"/>
                    <p:cNvSpPr/>
                    <p:nvPr/>
                  </p:nvSpPr>
                  <p:spPr bwMode="auto">
                    <a:xfrm>
                      <a:off x="4845" y="2298"/>
                      <a:ext cx="9" cy="28"/>
                    </a:xfrm>
                    <a:custGeom>
                      <a:avLst/>
                      <a:gdLst>
                        <a:gd name="T0" fmla="*/ 22 w 59"/>
                        <a:gd name="T1" fmla="*/ 130 h 140"/>
                        <a:gd name="T2" fmla="*/ 13 w 59"/>
                        <a:gd name="T3" fmla="*/ 119 h 140"/>
                        <a:gd name="T4" fmla="*/ 11 w 59"/>
                        <a:gd name="T5" fmla="*/ 109 h 140"/>
                        <a:gd name="T6" fmla="*/ 8 w 59"/>
                        <a:gd name="T7" fmla="*/ 101 h 140"/>
                        <a:gd name="T8" fmla="*/ 8 w 59"/>
                        <a:gd name="T9" fmla="*/ 91 h 140"/>
                        <a:gd name="T10" fmla="*/ 12 w 59"/>
                        <a:gd name="T11" fmla="*/ 84 h 140"/>
                        <a:gd name="T12" fmla="*/ 12 w 59"/>
                        <a:gd name="T13" fmla="*/ 78 h 140"/>
                        <a:gd name="T14" fmla="*/ 8 w 59"/>
                        <a:gd name="T15" fmla="*/ 73 h 140"/>
                        <a:gd name="T16" fmla="*/ 11 w 59"/>
                        <a:gd name="T17" fmla="*/ 67 h 140"/>
                        <a:gd name="T18" fmla="*/ 13 w 59"/>
                        <a:gd name="T19" fmla="*/ 63 h 140"/>
                        <a:gd name="T20" fmla="*/ 13 w 59"/>
                        <a:gd name="T21" fmla="*/ 56 h 140"/>
                        <a:gd name="T22" fmla="*/ 13 w 59"/>
                        <a:gd name="T23" fmla="*/ 45 h 140"/>
                        <a:gd name="T24" fmla="*/ 18 w 59"/>
                        <a:gd name="T25" fmla="*/ 38 h 140"/>
                        <a:gd name="T26" fmla="*/ 22 w 59"/>
                        <a:gd name="T27" fmla="*/ 29 h 140"/>
                        <a:gd name="T28" fmla="*/ 24 w 59"/>
                        <a:gd name="T29" fmla="*/ 21 h 140"/>
                        <a:gd name="T30" fmla="*/ 26 w 59"/>
                        <a:gd name="T31" fmla="*/ 16 h 140"/>
                        <a:gd name="T32" fmla="*/ 31 w 59"/>
                        <a:gd name="T33" fmla="*/ 12 h 140"/>
                        <a:gd name="T34" fmla="*/ 37 w 59"/>
                        <a:gd name="T35" fmla="*/ 10 h 140"/>
                        <a:gd name="T36" fmla="*/ 45 w 59"/>
                        <a:gd name="T37" fmla="*/ 15 h 140"/>
                        <a:gd name="T38" fmla="*/ 50 w 59"/>
                        <a:gd name="T39" fmla="*/ 23 h 140"/>
                        <a:gd name="T40" fmla="*/ 54 w 59"/>
                        <a:gd name="T41" fmla="*/ 34 h 140"/>
                        <a:gd name="T42" fmla="*/ 55 w 59"/>
                        <a:gd name="T43" fmla="*/ 47 h 140"/>
                        <a:gd name="T44" fmla="*/ 54 w 59"/>
                        <a:gd name="T45" fmla="*/ 60 h 140"/>
                        <a:gd name="T46" fmla="*/ 47 w 59"/>
                        <a:gd name="T47" fmla="*/ 65 h 140"/>
                        <a:gd name="T48" fmla="*/ 38 w 59"/>
                        <a:gd name="T49" fmla="*/ 68 h 140"/>
                        <a:gd name="T50" fmla="*/ 34 w 59"/>
                        <a:gd name="T51" fmla="*/ 71 h 140"/>
                        <a:gd name="T52" fmla="*/ 28 w 59"/>
                        <a:gd name="T53" fmla="*/ 78 h 140"/>
                        <a:gd name="T54" fmla="*/ 25 w 59"/>
                        <a:gd name="T55" fmla="*/ 84 h 140"/>
                        <a:gd name="T56" fmla="*/ 22 w 59"/>
                        <a:gd name="T57" fmla="*/ 96 h 140"/>
                        <a:gd name="T58" fmla="*/ 23 w 59"/>
                        <a:gd name="T59" fmla="*/ 110 h 140"/>
                        <a:gd name="T60" fmla="*/ 24 w 59"/>
                        <a:gd name="T61" fmla="*/ 118 h 140"/>
                        <a:gd name="T62" fmla="*/ 30 w 59"/>
                        <a:gd name="T63" fmla="*/ 125 h 140"/>
                        <a:gd name="T64" fmla="*/ 38 w 59"/>
                        <a:gd name="T65" fmla="*/ 123 h 140"/>
                        <a:gd name="T66" fmla="*/ 38 w 59"/>
                        <a:gd name="T67" fmla="*/ 94 h 140"/>
                        <a:gd name="T68" fmla="*/ 42 w 59"/>
                        <a:gd name="T69" fmla="*/ 86 h 140"/>
                        <a:gd name="T70" fmla="*/ 51 w 59"/>
                        <a:gd name="T71" fmla="*/ 82 h 140"/>
                        <a:gd name="T72" fmla="*/ 57 w 59"/>
                        <a:gd name="T73" fmla="*/ 73 h 140"/>
                        <a:gd name="T74" fmla="*/ 59 w 59"/>
                        <a:gd name="T75" fmla="*/ 63 h 140"/>
                        <a:gd name="T76" fmla="*/ 59 w 59"/>
                        <a:gd name="T77" fmla="*/ 50 h 140"/>
                        <a:gd name="T78" fmla="*/ 56 w 59"/>
                        <a:gd name="T79" fmla="*/ 29 h 140"/>
                        <a:gd name="T80" fmla="*/ 49 w 59"/>
                        <a:gd name="T81" fmla="*/ 15 h 140"/>
                        <a:gd name="T82" fmla="*/ 38 w 59"/>
                        <a:gd name="T83" fmla="*/ 7 h 140"/>
                        <a:gd name="T84" fmla="*/ 31 w 59"/>
                        <a:gd name="T85" fmla="*/ 2 h 140"/>
                        <a:gd name="T86" fmla="*/ 24 w 59"/>
                        <a:gd name="T87" fmla="*/ 0 h 140"/>
                        <a:gd name="T88" fmla="*/ 19 w 59"/>
                        <a:gd name="T89" fmla="*/ 9 h 140"/>
                        <a:gd name="T90" fmla="*/ 12 w 59"/>
                        <a:gd name="T91" fmla="*/ 19 h 140"/>
                        <a:gd name="T92" fmla="*/ 8 w 59"/>
                        <a:gd name="T93" fmla="*/ 33 h 140"/>
                        <a:gd name="T94" fmla="*/ 4 w 59"/>
                        <a:gd name="T95" fmla="*/ 45 h 140"/>
                        <a:gd name="T96" fmla="*/ 1 w 59"/>
                        <a:gd name="T97" fmla="*/ 59 h 140"/>
                        <a:gd name="T98" fmla="*/ 0 w 59"/>
                        <a:gd name="T99" fmla="*/ 70 h 140"/>
                        <a:gd name="T100" fmla="*/ 1 w 59"/>
                        <a:gd name="T101" fmla="*/ 84 h 140"/>
                        <a:gd name="T102" fmla="*/ 2 w 59"/>
                        <a:gd name="T103" fmla="*/ 97 h 140"/>
                        <a:gd name="T104" fmla="*/ 8 w 59"/>
                        <a:gd name="T105" fmla="*/ 117 h 140"/>
                        <a:gd name="T106" fmla="*/ 12 w 59"/>
                        <a:gd name="T107" fmla="*/ 128 h 140"/>
                        <a:gd name="T108" fmla="*/ 22 w 59"/>
                        <a:gd name="T109" fmla="*/ 140 h 140"/>
                        <a:gd name="T110" fmla="*/ 22 w 59"/>
                        <a:gd name="T111" fmla="*/ 130 h 14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</a:cxnLst>
                      <a:rect l="0" t="0" r="r" b="b"/>
                      <a:pathLst>
                        <a:path w="59" h="140">
                          <a:moveTo>
                            <a:pt x="22" y="130"/>
                          </a:moveTo>
                          <a:lnTo>
                            <a:pt x="13" y="119"/>
                          </a:lnTo>
                          <a:lnTo>
                            <a:pt x="11" y="109"/>
                          </a:lnTo>
                          <a:lnTo>
                            <a:pt x="8" y="101"/>
                          </a:lnTo>
                          <a:lnTo>
                            <a:pt x="8" y="91"/>
                          </a:lnTo>
                          <a:lnTo>
                            <a:pt x="12" y="84"/>
                          </a:lnTo>
                          <a:lnTo>
                            <a:pt x="12" y="78"/>
                          </a:lnTo>
                          <a:lnTo>
                            <a:pt x="8" y="73"/>
                          </a:lnTo>
                          <a:lnTo>
                            <a:pt x="11" y="67"/>
                          </a:lnTo>
                          <a:lnTo>
                            <a:pt x="13" y="63"/>
                          </a:lnTo>
                          <a:lnTo>
                            <a:pt x="13" y="56"/>
                          </a:lnTo>
                          <a:lnTo>
                            <a:pt x="13" y="45"/>
                          </a:lnTo>
                          <a:lnTo>
                            <a:pt x="18" y="38"/>
                          </a:lnTo>
                          <a:lnTo>
                            <a:pt x="22" y="29"/>
                          </a:lnTo>
                          <a:lnTo>
                            <a:pt x="24" y="21"/>
                          </a:lnTo>
                          <a:lnTo>
                            <a:pt x="26" y="16"/>
                          </a:lnTo>
                          <a:lnTo>
                            <a:pt x="31" y="12"/>
                          </a:lnTo>
                          <a:lnTo>
                            <a:pt x="37" y="10"/>
                          </a:lnTo>
                          <a:lnTo>
                            <a:pt x="45" y="15"/>
                          </a:lnTo>
                          <a:lnTo>
                            <a:pt x="50" y="23"/>
                          </a:lnTo>
                          <a:lnTo>
                            <a:pt x="54" y="34"/>
                          </a:lnTo>
                          <a:lnTo>
                            <a:pt x="55" y="47"/>
                          </a:lnTo>
                          <a:lnTo>
                            <a:pt x="54" y="60"/>
                          </a:lnTo>
                          <a:lnTo>
                            <a:pt x="47" y="65"/>
                          </a:lnTo>
                          <a:lnTo>
                            <a:pt x="38" y="68"/>
                          </a:lnTo>
                          <a:lnTo>
                            <a:pt x="34" y="71"/>
                          </a:lnTo>
                          <a:lnTo>
                            <a:pt x="28" y="78"/>
                          </a:lnTo>
                          <a:lnTo>
                            <a:pt x="25" y="84"/>
                          </a:lnTo>
                          <a:lnTo>
                            <a:pt x="22" y="96"/>
                          </a:lnTo>
                          <a:lnTo>
                            <a:pt x="23" y="110"/>
                          </a:lnTo>
                          <a:lnTo>
                            <a:pt x="24" y="118"/>
                          </a:lnTo>
                          <a:lnTo>
                            <a:pt x="30" y="125"/>
                          </a:lnTo>
                          <a:lnTo>
                            <a:pt x="38" y="123"/>
                          </a:lnTo>
                          <a:lnTo>
                            <a:pt x="38" y="94"/>
                          </a:lnTo>
                          <a:lnTo>
                            <a:pt x="42" y="86"/>
                          </a:lnTo>
                          <a:lnTo>
                            <a:pt x="51" y="82"/>
                          </a:lnTo>
                          <a:lnTo>
                            <a:pt x="57" y="73"/>
                          </a:lnTo>
                          <a:lnTo>
                            <a:pt x="59" y="63"/>
                          </a:lnTo>
                          <a:lnTo>
                            <a:pt x="59" y="50"/>
                          </a:lnTo>
                          <a:lnTo>
                            <a:pt x="56" y="29"/>
                          </a:lnTo>
                          <a:lnTo>
                            <a:pt x="49" y="15"/>
                          </a:lnTo>
                          <a:lnTo>
                            <a:pt x="38" y="7"/>
                          </a:lnTo>
                          <a:lnTo>
                            <a:pt x="31" y="2"/>
                          </a:lnTo>
                          <a:lnTo>
                            <a:pt x="24" y="0"/>
                          </a:lnTo>
                          <a:lnTo>
                            <a:pt x="19" y="9"/>
                          </a:lnTo>
                          <a:lnTo>
                            <a:pt x="12" y="19"/>
                          </a:lnTo>
                          <a:lnTo>
                            <a:pt x="8" y="33"/>
                          </a:lnTo>
                          <a:lnTo>
                            <a:pt x="4" y="45"/>
                          </a:lnTo>
                          <a:lnTo>
                            <a:pt x="1" y="59"/>
                          </a:lnTo>
                          <a:lnTo>
                            <a:pt x="0" y="70"/>
                          </a:lnTo>
                          <a:lnTo>
                            <a:pt x="1" y="84"/>
                          </a:lnTo>
                          <a:lnTo>
                            <a:pt x="2" y="97"/>
                          </a:lnTo>
                          <a:lnTo>
                            <a:pt x="8" y="117"/>
                          </a:lnTo>
                          <a:lnTo>
                            <a:pt x="12" y="128"/>
                          </a:lnTo>
                          <a:lnTo>
                            <a:pt x="22" y="140"/>
                          </a:lnTo>
                          <a:lnTo>
                            <a:pt x="22" y="130"/>
                          </a:lnTo>
                          <a:close/>
                        </a:path>
                      </a:pathLst>
                    </a:custGeom>
                    <a:solidFill>
                      <a:srgbClr val="5F3F1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287" name="Group 371"/>
                  <p:cNvGrpSpPr/>
                  <p:nvPr/>
                </p:nvGrpSpPr>
                <p:grpSpPr bwMode="auto">
                  <a:xfrm>
                    <a:off x="4887" y="2308"/>
                    <a:ext cx="39" cy="8"/>
                    <a:chOff x="4887" y="2308"/>
                    <a:chExt cx="39" cy="8"/>
                  </a:xfrm>
                </p:grpSpPr>
                <p:sp>
                  <p:nvSpPr>
                    <p:cNvPr id="298" name="Freeform 372"/>
                    <p:cNvSpPr/>
                    <p:nvPr/>
                  </p:nvSpPr>
                  <p:spPr bwMode="auto">
                    <a:xfrm>
                      <a:off x="4913" y="2311"/>
                      <a:ext cx="13" cy="5"/>
                    </a:xfrm>
                    <a:custGeom>
                      <a:avLst/>
                      <a:gdLst>
                        <a:gd name="T0" fmla="*/ 0 w 77"/>
                        <a:gd name="T1" fmla="*/ 14 h 21"/>
                        <a:gd name="T2" fmla="*/ 14 w 77"/>
                        <a:gd name="T3" fmla="*/ 2 h 21"/>
                        <a:gd name="T4" fmla="*/ 26 w 77"/>
                        <a:gd name="T5" fmla="*/ 2 h 21"/>
                        <a:gd name="T6" fmla="*/ 34 w 77"/>
                        <a:gd name="T7" fmla="*/ 2 h 21"/>
                        <a:gd name="T8" fmla="*/ 45 w 77"/>
                        <a:gd name="T9" fmla="*/ 0 h 21"/>
                        <a:gd name="T10" fmla="*/ 43 w 77"/>
                        <a:gd name="T11" fmla="*/ 9 h 21"/>
                        <a:gd name="T12" fmla="*/ 55 w 77"/>
                        <a:gd name="T13" fmla="*/ 4 h 21"/>
                        <a:gd name="T14" fmla="*/ 63 w 77"/>
                        <a:gd name="T15" fmla="*/ 2 h 21"/>
                        <a:gd name="T16" fmla="*/ 55 w 77"/>
                        <a:gd name="T17" fmla="*/ 9 h 21"/>
                        <a:gd name="T18" fmla="*/ 71 w 77"/>
                        <a:gd name="T19" fmla="*/ 2 h 21"/>
                        <a:gd name="T20" fmla="*/ 69 w 77"/>
                        <a:gd name="T21" fmla="*/ 8 h 21"/>
                        <a:gd name="T22" fmla="*/ 77 w 77"/>
                        <a:gd name="T23" fmla="*/ 3 h 21"/>
                        <a:gd name="T24" fmla="*/ 75 w 77"/>
                        <a:gd name="T25" fmla="*/ 13 h 21"/>
                        <a:gd name="T26" fmla="*/ 70 w 77"/>
                        <a:gd name="T27" fmla="*/ 19 h 21"/>
                        <a:gd name="T28" fmla="*/ 61 w 77"/>
                        <a:gd name="T29" fmla="*/ 21 h 21"/>
                        <a:gd name="T30" fmla="*/ 48 w 77"/>
                        <a:gd name="T31" fmla="*/ 21 h 21"/>
                        <a:gd name="T32" fmla="*/ 42 w 77"/>
                        <a:gd name="T33" fmla="*/ 19 h 21"/>
                        <a:gd name="T34" fmla="*/ 36 w 77"/>
                        <a:gd name="T35" fmla="*/ 18 h 21"/>
                        <a:gd name="T36" fmla="*/ 30 w 77"/>
                        <a:gd name="T37" fmla="*/ 15 h 21"/>
                        <a:gd name="T38" fmla="*/ 21 w 77"/>
                        <a:gd name="T39" fmla="*/ 13 h 21"/>
                        <a:gd name="T40" fmla="*/ 11 w 77"/>
                        <a:gd name="T41" fmla="*/ 9 h 21"/>
                        <a:gd name="T42" fmla="*/ 0 w 77"/>
                        <a:gd name="T43" fmla="*/ 14 h 2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</a:cxnLst>
                      <a:rect l="0" t="0" r="r" b="b"/>
                      <a:pathLst>
                        <a:path w="77" h="21">
                          <a:moveTo>
                            <a:pt x="0" y="14"/>
                          </a:moveTo>
                          <a:lnTo>
                            <a:pt x="14" y="2"/>
                          </a:lnTo>
                          <a:lnTo>
                            <a:pt x="26" y="2"/>
                          </a:lnTo>
                          <a:lnTo>
                            <a:pt x="34" y="2"/>
                          </a:lnTo>
                          <a:lnTo>
                            <a:pt x="45" y="0"/>
                          </a:lnTo>
                          <a:lnTo>
                            <a:pt x="43" y="9"/>
                          </a:lnTo>
                          <a:lnTo>
                            <a:pt x="55" y="4"/>
                          </a:lnTo>
                          <a:lnTo>
                            <a:pt x="63" y="2"/>
                          </a:lnTo>
                          <a:lnTo>
                            <a:pt x="55" y="9"/>
                          </a:lnTo>
                          <a:lnTo>
                            <a:pt x="71" y="2"/>
                          </a:lnTo>
                          <a:lnTo>
                            <a:pt x="69" y="8"/>
                          </a:lnTo>
                          <a:lnTo>
                            <a:pt x="77" y="3"/>
                          </a:lnTo>
                          <a:lnTo>
                            <a:pt x="75" y="13"/>
                          </a:lnTo>
                          <a:lnTo>
                            <a:pt x="70" y="19"/>
                          </a:lnTo>
                          <a:lnTo>
                            <a:pt x="61" y="21"/>
                          </a:lnTo>
                          <a:lnTo>
                            <a:pt x="48" y="21"/>
                          </a:lnTo>
                          <a:lnTo>
                            <a:pt x="42" y="19"/>
                          </a:lnTo>
                          <a:lnTo>
                            <a:pt x="36" y="18"/>
                          </a:lnTo>
                          <a:lnTo>
                            <a:pt x="30" y="15"/>
                          </a:lnTo>
                          <a:lnTo>
                            <a:pt x="21" y="13"/>
                          </a:lnTo>
                          <a:lnTo>
                            <a:pt x="11" y="9"/>
                          </a:lnTo>
                          <a:lnTo>
                            <a:pt x="0" y="14"/>
                          </a:lnTo>
                          <a:close/>
                        </a:path>
                      </a:pathLst>
                    </a:custGeom>
                    <a:solidFill>
                      <a:srgbClr val="3F1F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99" name="Freeform 373"/>
                    <p:cNvSpPr/>
                    <p:nvPr/>
                  </p:nvSpPr>
                  <p:spPr bwMode="auto">
                    <a:xfrm>
                      <a:off x="4887" y="2308"/>
                      <a:ext cx="18" cy="5"/>
                    </a:xfrm>
                    <a:custGeom>
                      <a:avLst/>
                      <a:gdLst>
                        <a:gd name="T0" fmla="*/ 0 w 110"/>
                        <a:gd name="T1" fmla="*/ 20 h 24"/>
                        <a:gd name="T2" fmla="*/ 8 w 110"/>
                        <a:gd name="T3" fmla="*/ 11 h 24"/>
                        <a:gd name="T4" fmla="*/ 21 w 110"/>
                        <a:gd name="T5" fmla="*/ 8 h 24"/>
                        <a:gd name="T6" fmla="*/ 34 w 110"/>
                        <a:gd name="T7" fmla="*/ 4 h 24"/>
                        <a:gd name="T8" fmla="*/ 49 w 110"/>
                        <a:gd name="T9" fmla="*/ 4 h 24"/>
                        <a:gd name="T10" fmla="*/ 63 w 110"/>
                        <a:gd name="T11" fmla="*/ 5 h 24"/>
                        <a:gd name="T12" fmla="*/ 71 w 110"/>
                        <a:gd name="T13" fmla="*/ 0 h 24"/>
                        <a:gd name="T14" fmla="*/ 73 w 110"/>
                        <a:gd name="T15" fmla="*/ 8 h 24"/>
                        <a:gd name="T16" fmla="*/ 89 w 110"/>
                        <a:gd name="T17" fmla="*/ 3 h 24"/>
                        <a:gd name="T18" fmla="*/ 84 w 110"/>
                        <a:gd name="T19" fmla="*/ 12 h 24"/>
                        <a:gd name="T20" fmla="*/ 96 w 110"/>
                        <a:gd name="T21" fmla="*/ 10 h 24"/>
                        <a:gd name="T22" fmla="*/ 107 w 110"/>
                        <a:gd name="T23" fmla="*/ 4 h 24"/>
                        <a:gd name="T24" fmla="*/ 98 w 110"/>
                        <a:gd name="T25" fmla="*/ 20 h 24"/>
                        <a:gd name="T26" fmla="*/ 109 w 110"/>
                        <a:gd name="T27" fmla="*/ 14 h 24"/>
                        <a:gd name="T28" fmla="*/ 110 w 110"/>
                        <a:gd name="T29" fmla="*/ 21 h 24"/>
                        <a:gd name="T30" fmla="*/ 94 w 110"/>
                        <a:gd name="T31" fmla="*/ 24 h 24"/>
                        <a:gd name="T32" fmla="*/ 82 w 110"/>
                        <a:gd name="T33" fmla="*/ 21 h 24"/>
                        <a:gd name="T34" fmla="*/ 72 w 110"/>
                        <a:gd name="T35" fmla="*/ 16 h 24"/>
                        <a:gd name="T36" fmla="*/ 59 w 110"/>
                        <a:gd name="T37" fmla="*/ 15 h 24"/>
                        <a:gd name="T38" fmla="*/ 47 w 110"/>
                        <a:gd name="T39" fmla="*/ 15 h 24"/>
                        <a:gd name="T40" fmla="*/ 34 w 110"/>
                        <a:gd name="T41" fmla="*/ 15 h 24"/>
                        <a:gd name="T42" fmla="*/ 24 w 110"/>
                        <a:gd name="T43" fmla="*/ 11 h 24"/>
                        <a:gd name="T44" fmla="*/ 16 w 110"/>
                        <a:gd name="T45" fmla="*/ 11 h 24"/>
                        <a:gd name="T46" fmla="*/ 0 w 110"/>
                        <a:gd name="T47" fmla="*/ 20 h 2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</a:cxnLst>
                      <a:rect l="0" t="0" r="r" b="b"/>
                      <a:pathLst>
                        <a:path w="110" h="24">
                          <a:moveTo>
                            <a:pt x="0" y="20"/>
                          </a:moveTo>
                          <a:lnTo>
                            <a:pt x="8" y="11"/>
                          </a:lnTo>
                          <a:lnTo>
                            <a:pt x="21" y="8"/>
                          </a:lnTo>
                          <a:lnTo>
                            <a:pt x="34" y="4"/>
                          </a:lnTo>
                          <a:lnTo>
                            <a:pt x="49" y="4"/>
                          </a:lnTo>
                          <a:lnTo>
                            <a:pt x="63" y="5"/>
                          </a:lnTo>
                          <a:lnTo>
                            <a:pt x="71" y="0"/>
                          </a:lnTo>
                          <a:lnTo>
                            <a:pt x="73" y="8"/>
                          </a:lnTo>
                          <a:lnTo>
                            <a:pt x="89" y="3"/>
                          </a:lnTo>
                          <a:lnTo>
                            <a:pt x="84" y="12"/>
                          </a:lnTo>
                          <a:lnTo>
                            <a:pt x="96" y="10"/>
                          </a:lnTo>
                          <a:lnTo>
                            <a:pt x="107" y="4"/>
                          </a:lnTo>
                          <a:lnTo>
                            <a:pt x="98" y="20"/>
                          </a:lnTo>
                          <a:lnTo>
                            <a:pt x="109" y="14"/>
                          </a:lnTo>
                          <a:lnTo>
                            <a:pt x="110" y="21"/>
                          </a:lnTo>
                          <a:lnTo>
                            <a:pt x="94" y="24"/>
                          </a:lnTo>
                          <a:lnTo>
                            <a:pt x="82" y="21"/>
                          </a:lnTo>
                          <a:lnTo>
                            <a:pt x="72" y="16"/>
                          </a:lnTo>
                          <a:lnTo>
                            <a:pt x="59" y="15"/>
                          </a:lnTo>
                          <a:lnTo>
                            <a:pt x="47" y="15"/>
                          </a:lnTo>
                          <a:lnTo>
                            <a:pt x="34" y="15"/>
                          </a:lnTo>
                          <a:lnTo>
                            <a:pt x="24" y="11"/>
                          </a:lnTo>
                          <a:lnTo>
                            <a:pt x="16" y="11"/>
                          </a:lnTo>
                          <a:lnTo>
                            <a:pt x="0" y="20"/>
                          </a:lnTo>
                          <a:close/>
                        </a:path>
                      </a:pathLst>
                    </a:custGeom>
                    <a:solidFill>
                      <a:srgbClr val="3F1F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288" name="Group 374"/>
                  <p:cNvGrpSpPr/>
                  <p:nvPr/>
                </p:nvGrpSpPr>
                <p:grpSpPr bwMode="auto">
                  <a:xfrm>
                    <a:off x="4889" y="2310"/>
                    <a:ext cx="17" cy="11"/>
                    <a:chOff x="4889" y="2310"/>
                    <a:chExt cx="17" cy="11"/>
                  </a:xfrm>
                </p:grpSpPr>
                <p:sp>
                  <p:nvSpPr>
                    <p:cNvPr id="294" name="Freeform 375"/>
                    <p:cNvSpPr/>
                    <p:nvPr/>
                  </p:nvSpPr>
                  <p:spPr bwMode="auto">
                    <a:xfrm>
                      <a:off x="4889" y="2315"/>
                      <a:ext cx="11" cy="5"/>
                    </a:xfrm>
                    <a:custGeom>
                      <a:avLst/>
                      <a:gdLst>
                        <a:gd name="T0" fmla="*/ 0 w 64"/>
                        <a:gd name="T1" fmla="*/ 0 h 22"/>
                        <a:gd name="T2" fmla="*/ 12 w 64"/>
                        <a:gd name="T3" fmla="*/ 10 h 22"/>
                        <a:gd name="T4" fmla="*/ 26 w 64"/>
                        <a:gd name="T5" fmla="*/ 21 h 22"/>
                        <a:gd name="T6" fmla="*/ 45 w 64"/>
                        <a:gd name="T7" fmla="*/ 22 h 22"/>
                        <a:gd name="T8" fmla="*/ 58 w 64"/>
                        <a:gd name="T9" fmla="*/ 9 h 22"/>
                        <a:gd name="T10" fmla="*/ 64 w 64"/>
                        <a:gd name="T11" fmla="*/ 7 h 22"/>
                        <a:gd name="T12" fmla="*/ 61 w 64"/>
                        <a:gd name="T13" fmla="*/ 0 h 22"/>
                        <a:gd name="T14" fmla="*/ 0 w 64"/>
                        <a:gd name="T15" fmla="*/ 0 h 2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</a:cxnLst>
                      <a:rect l="0" t="0" r="r" b="b"/>
                      <a:pathLst>
                        <a:path w="64" h="22">
                          <a:moveTo>
                            <a:pt x="0" y="0"/>
                          </a:moveTo>
                          <a:lnTo>
                            <a:pt x="12" y="10"/>
                          </a:lnTo>
                          <a:lnTo>
                            <a:pt x="26" y="21"/>
                          </a:lnTo>
                          <a:lnTo>
                            <a:pt x="45" y="22"/>
                          </a:lnTo>
                          <a:lnTo>
                            <a:pt x="58" y="9"/>
                          </a:lnTo>
                          <a:lnTo>
                            <a:pt x="64" y="7"/>
                          </a:lnTo>
                          <a:lnTo>
                            <a:pt x="61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95" name="Freeform 376"/>
                    <p:cNvSpPr/>
                    <p:nvPr/>
                  </p:nvSpPr>
                  <p:spPr bwMode="auto">
                    <a:xfrm>
                      <a:off x="4889" y="2310"/>
                      <a:ext cx="17" cy="11"/>
                    </a:xfrm>
                    <a:custGeom>
                      <a:avLst/>
                      <a:gdLst>
                        <a:gd name="T0" fmla="*/ 25 w 98"/>
                        <a:gd name="T1" fmla="*/ 0 h 56"/>
                        <a:gd name="T2" fmla="*/ 43 w 98"/>
                        <a:gd name="T3" fmla="*/ 4 h 56"/>
                        <a:gd name="T4" fmla="*/ 55 w 98"/>
                        <a:gd name="T5" fmla="*/ 6 h 56"/>
                        <a:gd name="T6" fmla="*/ 68 w 98"/>
                        <a:gd name="T7" fmla="*/ 11 h 56"/>
                        <a:gd name="T8" fmla="*/ 75 w 98"/>
                        <a:gd name="T9" fmla="*/ 15 h 56"/>
                        <a:gd name="T10" fmla="*/ 81 w 98"/>
                        <a:gd name="T11" fmla="*/ 16 h 56"/>
                        <a:gd name="T12" fmla="*/ 92 w 98"/>
                        <a:gd name="T13" fmla="*/ 17 h 56"/>
                        <a:gd name="T14" fmla="*/ 98 w 98"/>
                        <a:gd name="T15" fmla="*/ 20 h 56"/>
                        <a:gd name="T16" fmla="*/ 98 w 98"/>
                        <a:gd name="T17" fmla="*/ 33 h 56"/>
                        <a:gd name="T18" fmla="*/ 93 w 98"/>
                        <a:gd name="T19" fmla="*/ 41 h 56"/>
                        <a:gd name="T20" fmla="*/ 89 w 98"/>
                        <a:gd name="T21" fmla="*/ 47 h 56"/>
                        <a:gd name="T22" fmla="*/ 86 w 98"/>
                        <a:gd name="T23" fmla="*/ 52 h 56"/>
                        <a:gd name="T24" fmla="*/ 77 w 98"/>
                        <a:gd name="T25" fmla="*/ 56 h 56"/>
                        <a:gd name="T26" fmla="*/ 69 w 98"/>
                        <a:gd name="T27" fmla="*/ 56 h 56"/>
                        <a:gd name="T28" fmla="*/ 63 w 98"/>
                        <a:gd name="T29" fmla="*/ 53 h 56"/>
                        <a:gd name="T30" fmla="*/ 64 w 98"/>
                        <a:gd name="T31" fmla="*/ 47 h 56"/>
                        <a:gd name="T32" fmla="*/ 63 w 98"/>
                        <a:gd name="T33" fmla="*/ 38 h 56"/>
                        <a:gd name="T34" fmla="*/ 57 w 98"/>
                        <a:gd name="T35" fmla="*/ 38 h 56"/>
                        <a:gd name="T36" fmla="*/ 49 w 98"/>
                        <a:gd name="T37" fmla="*/ 30 h 56"/>
                        <a:gd name="T38" fmla="*/ 50 w 98"/>
                        <a:gd name="T39" fmla="*/ 37 h 56"/>
                        <a:gd name="T40" fmla="*/ 45 w 98"/>
                        <a:gd name="T41" fmla="*/ 47 h 56"/>
                        <a:gd name="T42" fmla="*/ 34 w 98"/>
                        <a:gd name="T43" fmla="*/ 49 h 56"/>
                        <a:gd name="T44" fmla="*/ 22 w 98"/>
                        <a:gd name="T45" fmla="*/ 47 h 56"/>
                        <a:gd name="T46" fmla="*/ 19 w 98"/>
                        <a:gd name="T47" fmla="*/ 40 h 56"/>
                        <a:gd name="T48" fmla="*/ 16 w 98"/>
                        <a:gd name="T49" fmla="*/ 32 h 56"/>
                        <a:gd name="T50" fmla="*/ 16 w 98"/>
                        <a:gd name="T51" fmla="*/ 27 h 56"/>
                        <a:gd name="T52" fmla="*/ 0 w 98"/>
                        <a:gd name="T53" fmla="*/ 27 h 56"/>
                        <a:gd name="T54" fmla="*/ 6 w 98"/>
                        <a:gd name="T55" fmla="*/ 23 h 56"/>
                        <a:gd name="T56" fmla="*/ 55 w 98"/>
                        <a:gd name="T57" fmla="*/ 23 h 56"/>
                        <a:gd name="T58" fmla="*/ 56 w 98"/>
                        <a:gd name="T59" fmla="*/ 11 h 56"/>
                        <a:gd name="T60" fmla="*/ 45 w 98"/>
                        <a:gd name="T61" fmla="*/ 10 h 56"/>
                        <a:gd name="T62" fmla="*/ 25 w 98"/>
                        <a:gd name="T63" fmla="*/ 0 h 5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</a:cxnLst>
                      <a:rect l="0" t="0" r="r" b="b"/>
                      <a:pathLst>
                        <a:path w="98" h="56">
                          <a:moveTo>
                            <a:pt x="25" y="0"/>
                          </a:moveTo>
                          <a:lnTo>
                            <a:pt x="43" y="4"/>
                          </a:lnTo>
                          <a:lnTo>
                            <a:pt x="55" y="6"/>
                          </a:lnTo>
                          <a:lnTo>
                            <a:pt x="68" y="11"/>
                          </a:lnTo>
                          <a:lnTo>
                            <a:pt x="75" y="15"/>
                          </a:lnTo>
                          <a:lnTo>
                            <a:pt x="81" y="16"/>
                          </a:lnTo>
                          <a:lnTo>
                            <a:pt x="92" y="17"/>
                          </a:lnTo>
                          <a:lnTo>
                            <a:pt x="98" y="20"/>
                          </a:lnTo>
                          <a:lnTo>
                            <a:pt x="98" y="33"/>
                          </a:lnTo>
                          <a:lnTo>
                            <a:pt x="93" y="41"/>
                          </a:lnTo>
                          <a:lnTo>
                            <a:pt x="89" y="47"/>
                          </a:lnTo>
                          <a:lnTo>
                            <a:pt x="86" y="52"/>
                          </a:lnTo>
                          <a:lnTo>
                            <a:pt x="77" y="56"/>
                          </a:lnTo>
                          <a:lnTo>
                            <a:pt x="69" y="56"/>
                          </a:lnTo>
                          <a:lnTo>
                            <a:pt x="63" y="53"/>
                          </a:lnTo>
                          <a:lnTo>
                            <a:pt x="64" y="47"/>
                          </a:lnTo>
                          <a:lnTo>
                            <a:pt x="63" y="38"/>
                          </a:lnTo>
                          <a:lnTo>
                            <a:pt x="57" y="38"/>
                          </a:lnTo>
                          <a:lnTo>
                            <a:pt x="49" y="30"/>
                          </a:lnTo>
                          <a:lnTo>
                            <a:pt x="50" y="37"/>
                          </a:lnTo>
                          <a:lnTo>
                            <a:pt x="45" y="47"/>
                          </a:lnTo>
                          <a:lnTo>
                            <a:pt x="34" y="49"/>
                          </a:lnTo>
                          <a:lnTo>
                            <a:pt x="22" y="47"/>
                          </a:lnTo>
                          <a:lnTo>
                            <a:pt x="19" y="40"/>
                          </a:lnTo>
                          <a:lnTo>
                            <a:pt x="16" y="32"/>
                          </a:lnTo>
                          <a:lnTo>
                            <a:pt x="16" y="27"/>
                          </a:lnTo>
                          <a:lnTo>
                            <a:pt x="0" y="27"/>
                          </a:lnTo>
                          <a:lnTo>
                            <a:pt x="6" y="23"/>
                          </a:lnTo>
                          <a:lnTo>
                            <a:pt x="55" y="23"/>
                          </a:lnTo>
                          <a:lnTo>
                            <a:pt x="56" y="11"/>
                          </a:lnTo>
                          <a:lnTo>
                            <a:pt x="45" y="10"/>
                          </a:lnTo>
                          <a:lnTo>
                            <a:pt x="25" y="0"/>
                          </a:lnTo>
                          <a:close/>
                        </a:path>
                      </a:pathLst>
                    </a:custGeom>
                    <a:solidFill>
                      <a:srgbClr val="5F3F1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96" name="Oval 37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894" y="2315"/>
                      <a:ext cx="3" cy="5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97" name="Oval 37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896" y="2315"/>
                      <a:ext cx="2" cy="3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289" name="Group 379"/>
                  <p:cNvGrpSpPr/>
                  <p:nvPr/>
                </p:nvGrpSpPr>
                <p:grpSpPr bwMode="auto">
                  <a:xfrm>
                    <a:off x="4910" y="2314"/>
                    <a:ext cx="12" cy="8"/>
                    <a:chOff x="4910" y="2314"/>
                    <a:chExt cx="12" cy="8"/>
                  </a:xfrm>
                </p:grpSpPr>
                <p:sp>
                  <p:nvSpPr>
                    <p:cNvPr id="290" name="Freeform 380"/>
                    <p:cNvSpPr/>
                    <p:nvPr/>
                  </p:nvSpPr>
                  <p:spPr bwMode="auto">
                    <a:xfrm>
                      <a:off x="4912" y="2317"/>
                      <a:ext cx="8" cy="5"/>
                    </a:xfrm>
                    <a:custGeom>
                      <a:avLst/>
                      <a:gdLst>
                        <a:gd name="T0" fmla="*/ 50 w 50"/>
                        <a:gd name="T1" fmla="*/ 0 h 22"/>
                        <a:gd name="T2" fmla="*/ 48 w 50"/>
                        <a:gd name="T3" fmla="*/ 11 h 22"/>
                        <a:gd name="T4" fmla="*/ 39 w 50"/>
                        <a:gd name="T5" fmla="*/ 21 h 22"/>
                        <a:gd name="T6" fmla="*/ 19 w 50"/>
                        <a:gd name="T7" fmla="*/ 22 h 22"/>
                        <a:gd name="T8" fmla="*/ 6 w 50"/>
                        <a:gd name="T9" fmla="*/ 7 h 22"/>
                        <a:gd name="T10" fmla="*/ 0 w 50"/>
                        <a:gd name="T11" fmla="*/ 7 h 22"/>
                        <a:gd name="T12" fmla="*/ 4 w 50"/>
                        <a:gd name="T13" fmla="*/ 0 h 22"/>
                        <a:gd name="T14" fmla="*/ 50 w 50"/>
                        <a:gd name="T15" fmla="*/ 0 h 2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</a:cxnLst>
                      <a:rect l="0" t="0" r="r" b="b"/>
                      <a:pathLst>
                        <a:path w="50" h="22">
                          <a:moveTo>
                            <a:pt x="50" y="0"/>
                          </a:moveTo>
                          <a:lnTo>
                            <a:pt x="48" y="11"/>
                          </a:lnTo>
                          <a:lnTo>
                            <a:pt x="39" y="21"/>
                          </a:lnTo>
                          <a:lnTo>
                            <a:pt x="19" y="22"/>
                          </a:lnTo>
                          <a:lnTo>
                            <a:pt x="6" y="7"/>
                          </a:lnTo>
                          <a:lnTo>
                            <a:pt x="0" y="7"/>
                          </a:lnTo>
                          <a:lnTo>
                            <a:pt x="4" y="0"/>
                          </a:lnTo>
                          <a:lnTo>
                            <a:pt x="50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91" name="Freeform 381"/>
                    <p:cNvSpPr/>
                    <p:nvPr/>
                  </p:nvSpPr>
                  <p:spPr bwMode="auto">
                    <a:xfrm>
                      <a:off x="4910" y="2314"/>
                      <a:ext cx="12" cy="8"/>
                    </a:xfrm>
                    <a:custGeom>
                      <a:avLst/>
                      <a:gdLst>
                        <a:gd name="T0" fmla="*/ 47 w 70"/>
                        <a:gd name="T1" fmla="*/ 0 h 40"/>
                        <a:gd name="T2" fmla="*/ 28 w 70"/>
                        <a:gd name="T3" fmla="*/ 1 h 40"/>
                        <a:gd name="T4" fmla="*/ 18 w 70"/>
                        <a:gd name="T5" fmla="*/ 3 h 40"/>
                        <a:gd name="T6" fmla="*/ 7 w 70"/>
                        <a:gd name="T7" fmla="*/ 7 h 40"/>
                        <a:gd name="T8" fmla="*/ 0 w 70"/>
                        <a:gd name="T9" fmla="*/ 17 h 40"/>
                        <a:gd name="T10" fmla="*/ 4 w 70"/>
                        <a:gd name="T11" fmla="*/ 35 h 40"/>
                        <a:gd name="T12" fmla="*/ 15 w 70"/>
                        <a:gd name="T13" fmla="*/ 34 h 40"/>
                        <a:gd name="T14" fmla="*/ 22 w 70"/>
                        <a:gd name="T15" fmla="*/ 23 h 40"/>
                        <a:gd name="T16" fmla="*/ 29 w 70"/>
                        <a:gd name="T17" fmla="*/ 22 h 40"/>
                        <a:gd name="T18" fmla="*/ 25 w 70"/>
                        <a:gd name="T19" fmla="*/ 29 h 40"/>
                        <a:gd name="T20" fmla="*/ 29 w 70"/>
                        <a:gd name="T21" fmla="*/ 39 h 40"/>
                        <a:gd name="T22" fmla="*/ 37 w 70"/>
                        <a:gd name="T23" fmla="*/ 40 h 40"/>
                        <a:gd name="T24" fmla="*/ 46 w 70"/>
                        <a:gd name="T25" fmla="*/ 40 h 40"/>
                        <a:gd name="T26" fmla="*/ 53 w 70"/>
                        <a:gd name="T27" fmla="*/ 34 h 40"/>
                        <a:gd name="T28" fmla="*/ 54 w 70"/>
                        <a:gd name="T29" fmla="*/ 27 h 40"/>
                        <a:gd name="T30" fmla="*/ 59 w 70"/>
                        <a:gd name="T31" fmla="*/ 26 h 40"/>
                        <a:gd name="T32" fmla="*/ 70 w 70"/>
                        <a:gd name="T33" fmla="*/ 21 h 40"/>
                        <a:gd name="T34" fmla="*/ 61 w 70"/>
                        <a:gd name="T35" fmla="*/ 18 h 40"/>
                        <a:gd name="T36" fmla="*/ 55 w 70"/>
                        <a:gd name="T37" fmla="*/ 16 h 40"/>
                        <a:gd name="T38" fmla="*/ 41 w 70"/>
                        <a:gd name="T39" fmla="*/ 16 h 40"/>
                        <a:gd name="T40" fmla="*/ 36 w 70"/>
                        <a:gd name="T41" fmla="*/ 17 h 40"/>
                        <a:gd name="T42" fmla="*/ 47 w 70"/>
                        <a:gd name="T43" fmla="*/ 0 h 4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</a:cxnLst>
                      <a:rect l="0" t="0" r="r" b="b"/>
                      <a:pathLst>
                        <a:path w="70" h="40">
                          <a:moveTo>
                            <a:pt x="47" y="0"/>
                          </a:moveTo>
                          <a:lnTo>
                            <a:pt x="28" y="1"/>
                          </a:lnTo>
                          <a:lnTo>
                            <a:pt x="18" y="3"/>
                          </a:lnTo>
                          <a:lnTo>
                            <a:pt x="7" y="7"/>
                          </a:lnTo>
                          <a:lnTo>
                            <a:pt x="0" y="17"/>
                          </a:lnTo>
                          <a:lnTo>
                            <a:pt x="4" y="35"/>
                          </a:lnTo>
                          <a:lnTo>
                            <a:pt x="15" y="34"/>
                          </a:lnTo>
                          <a:lnTo>
                            <a:pt x="22" y="23"/>
                          </a:lnTo>
                          <a:lnTo>
                            <a:pt x="29" y="22"/>
                          </a:lnTo>
                          <a:lnTo>
                            <a:pt x="25" y="29"/>
                          </a:lnTo>
                          <a:lnTo>
                            <a:pt x="29" y="39"/>
                          </a:lnTo>
                          <a:lnTo>
                            <a:pt x="37" y="40"/>
                          </a:lnTo>
                          <a:lnTo>
                            <a:pt x="46" y="40"/>
                          </a:lnTo>
                          <a:lnTo>
                            <a:pt x="53" y="34"/>
                          </a:lnTo>
                          <a:lnTo>
                            <a:pt x="54" y="27"/>
                          </a:lnTo>
                          <a:lnTo>
                            <a:pt x="59" y="26"/>
                          </a:lnTo>
                          <a:lnTo>
                            <a:pt x="70" y="21"/>
                          </a:lnTo>
                          <a:lnTo>
                            <a:pt x="61" y="18"/>
                          </a:lnTo>
                          <a:lnTo>
                            <a:pt x="55" y="16"/>
                          </a:lnTo>
                          <a:lnTo>
                            <a:pt x="41" y="16"/>
                          </a:lnTo>
                          <a:lnTo>
                            <a:pt x="36" y="17"/>
                          </a:lnTo>
                          <a:lnTo>
                            <a:pt x="47" y="0"/>
                          </a:lnTo>
                          <a:close/>
                        </a:path>
                      </a:pathLst>
                    </a:custGeom>
                    <a:solidFill>
                      <a:srgbClr val="5F3F1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92" name="Oval 38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916" y="2317"/>
                      <a:ext cx="3" cy="5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93" name="Oval 38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918" y="2318"/>
                      <a:ext cx="2" cy="2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</p:grpSp>
          <p:grpSp>
            <p:nvGrpSpPr>
              <p:cNvPr id="258" name="Group 384"/>
              <p:cNvGrpSpPr/>
              <p:nvPr/>
            </p:nvGrpSpPr>
            <p:grpSpPr bwMode="auto">
              <a:xfrm>
                <a:off x="4981" y="2517"/>
                <a:ext cx="120" cy="72"/>
                <a:chOff x="4981" y="2517"/>
                <a:chExt cx="120" cy="72"/>
              </a:xfrm>
            </p:grpSpPr>
            <p:sp>
              <p:nvSpPr>
                <p:cNvPr id="259" name="Freeform 385"/>
                <p:cNvSpPr/>
                <p:nvPr/>
              </p:nvSpPr>
              <p:spPr bwMode="auto">
                <a:xfrm>
                  <a:off x="5031" y="2517"/>
                  <a:ext cx="70" cy="60"/>
                </a:xfrm>
                <a:custGeom>
                  <a:avLst/>
                  <a:gdLst>
                    <a:gd name="T0" fmla="*/ 355 w 420"/>
                    <a:gd name="T1" fmla="*/ 0 h 299"/>
                    <a:gd name="T2" fmla="*/ 148 w 420"/>
                    <a:gd name="T3" fmla="*/ 100 h 299"/>
                    <a:gd name="T4" fmla="*/ 112 w 420"/>
                    <a:gd name="T5" fmla="*/ 116 h 299"/>
                    <a:gd name="T6" fmla="*/ 52 w 420"/>
                    <a:gd name="T7" fmla="*/ 127 h 299"/>
                    <a:gd name="T8" fmla="*/ 25 w 420"/>
                    <a:gd name="T9" fmla="*/ 129 h 299"/>
                    <a:gd name="T10" fmla="*/ 0 w 420"/>
                    <a:gd name="T11" fmla="*/ 155 h 299"/>
                    <a:gd name="T12" fmla="*/ 0 w 420"/>
                    <a:gd name="T13" fmla="*/ 299 h 299"/>
                    <a:gd name="T14" fmla="*/ 34 w 420"/>
                    <a:gd name="T15" fmla="*/ 291 h 299"/>
                    <a:gd name="T16" fmla="*/ 55 w 420"/>
                    <a:gd name="T17" fmla="*/ 291 h 299"/>
                    <a:gd name="T18" fmla="*/ 114 w 420"/>
                    <a:gd name="T19" fmla="*/ 247 h 299"/>
                    <a:gd name="T20" fmla="*/ 153 w 420"/>
                    <a:gd name="T21" fmla="*/ 185 h 299"/>
                    <a:gd name="T22" fmla="*/ 236 w 420"/>
                    <a:gd name="T23" fmla="*/ 171 h 299"/>
                    <a:gd name="T24" fmla="*/ 420 w 420"/>
                    <a:gd name="T25" fmla="*/ 127 h 299"/>
                    <a:gd name="T26" fmla="*/ 411 w 420"/>
                    <a:gd name="T27" fmla="*/ 65 h 299"/>
                    <a:gd name="T28" fmla="*/ 383 w 420"/>
                    <a:gd name="T29" fmla="*/ 18 h 299"/>
                    <a:gd name="T30" fmla="*/ 355 w 420"/>
                    <a:gd name="T31" fmla="*/ 0 h 2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420" h="299">
                      <a:moveTo>
                        <a:pt x="355" y="0"/>
                      </a:moveTo>
                      <a:lnTo>
                        <a:pt x="148" y="100"/>
                      </a:lnTo>
                      <a:lnTo>
                        <a:pt x="112" y="116"/>
                      </a:lnTo>
                      <a:lnTo>
                        <a:pt x="52" y="127"/>
                      </a:lnTo>
                      <a:lnTo>
                        <a:pt x="25" y="129"/>
                      </a:lnTo>
                      <a:lnTo>
                        <a:pt x="0" y="155"/>
                      </a:lnTo>
                      <a:lnTo>
                        <a:pt x="0" y="299"/>
                      </a:lnTo>
                      <a:lnTo>
                        <a:pt x="34" y="291"/>
                      </a:lnTo>
                      <a:lnTo>
                        <a:pt x="55" y="291"/>
                      </a:lnTo>
                      <a:lnTo>
                        <a:pt x="114" y="247"/>
                      </a:lnTo>
                      <a:lnTo>
                        <a:pt x="153" y="185"/>
                      </a:lnTo>
                      <a:lnTo>
                        <a:pt x="236" y="171"/>
                      </a:lnTo>
                      <a:lnTo>
                        <a:pt x="420" y="127"/>
                      </a:lnTo>
                      <a:lnTo>
                        <a:pt x="411" y="65"/>
                      </a:lnTo>
                      <a:lnTo>
                        <a:pt x="383" y="18"/>
                      </a:lnTo>
                      <a:lnTo>
                        <a:pt x="355" y="0"/>
                      </a:lnTo>
                      <a:close/>
                    </a:path>
                  </a:pathLst>
                </a:custGeom>
                <a:solidFill>
                  <a:srgbClr val="FF9F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3655"/>
                </a:p>
              </p:txBody>
            </p:sp>
            <p:grpSp>
              <p:nvGrpSpPr>
                <p:cNvPr id="260" name="Group 386"/>
                <p:cNvGrpSpPr/>
                <p:nvPr/>
              </p:nvGrpSpPr>
              <p:grpSpPr bwMode="auto">
                <a:xfrm>
                  <a:off x="4981" y="2534"/>
                  <a:ext cx="81" cy="55"/>
                  <a:chOff x="4981" y="2534"/>
                  <a:chExt cx="81" cy="55"/>
                </a:xfrm>
              </p:grpSpPr>
              <p:grpSp>
                <p:nvGrpSpPr>
                  <p:cNvPr id="268" name="Group 387"/>
                  <p:cNvGrpSpPr/>
                  <p:nvPr/>
                </p:nvGrpSpPr>
                <p:grpSpPr bwMode="auto">
                  <a:xfrm>
                    <a:off x="4981" y="2534"/>
                    <a:ext cx="81" cy="55"/>
                    <a:chOff x="4981" y="2534"/>
                    <a:chExt cx="81" cy="55"/>
                  </a:xfrm>
                </p:grpSpPr>
                <p:sp>
                  <p:nvSpPr>
                    <p:cNvPr id="273" name="Freeform 388"/>
                    <p:cNvSpPr/>
                    <p:nvPr/>
                  </p:nvSpPr>
                  <p:spPr bwMode="auto">
                    <a:xfrm>
                      <a:off x="4995" y="2534"/>
                      <a:ext cx="67" cy="55"/>
                    </a:xfrm>
                    <a:custGeom>
                      <a:avLst/>
                      <a:gdLst>
                        <a:gd name="T0" fmla="*/ 25 w 403"/>
                        <a:gd name="T1" fmla="*/ 63 h 277"/>
                        <a:gd name="T2" fmla="*/ 96 w 403"/>
                        <a:gd name="T3" fmla="*/ 63 h 277"/>
                        <a:gd name="T4" fmla="*/ 221 w 403"/>
                        <a:gd name="T5" fmla="*/ 0 h 277"/>
                        <a:gd name="T6" fmla="*/ 250 w 403"/>
                        <a:gd name="T7" fmla="*/ 7 h 277"/>
                        <a:gd name="T8" fmla="*/ 297 w 403"/>
                        <a:gd name="T9" fmla="*/ 39 h 277"/>
                        <a:gd name="T10" fmla="*/ 341 w 403"/>
                        <a:gd name="T11" fmla="*/ 82 h 277"/>
                        <a:gd name="T12" fmla="*/ 385 w 403"/>
                        <a:gd name="T13" fmla="*/ 129 h 277"/>
                        <a:gd name="T14" fmla="*/ 403 w 403"/>
                        <a:gd name="T15" fmla="*/ 166 h 277"/>
                        <a:gd name="T16" fmla="*/ 399 w 403"/>
                        <a:gd name="T17" fmla="*/ 181 h 277"/>
                        <a:gd name="T18" fmla="*/ 387 w 403"/>
                        <a:gd name="T19" fmla="*/ 190 h 277"/>
                        <a:gd name="T20" fmla="*/ 371 w 403"/>
                        <a:gd name="T21" fmla="*/ 186 h 277"/>
                        <a:gd name="T22" fmla="*/ 353 w 403"/>
                        <a:gd name="T23" fmla="*/ 175 h 277"/>
                        <a:gd name="T24" fmla="*/ 378 w 403"/>
                        <a:gd name="T25" fmla="*/ 205 h 277"/>
                        <a:gd name="T26" fmla="*/ 374 w 403"/>
                        <a:gd name="T27" fmla="*/ 228 h 277"/>
                        <a:gd name="T28" fmla="*/ 356 w 403"/>
                        <a:gd name="T29" fmla="*/ 238 h 277"/>
                        <a:gd name="T30" fmla="*/ 330 w 403"/>
                        <a:gd name="T31" fmla="*/ 232 h 277"/>
                        <a:gd name="T32" fmla="*/ 309 w 403"/>
                        <a:gd name="T33" fmla="*/ 220 h 277"/>
                        <a:gd name="T34" fmla="*/ 291 w 403"/>
                        <a:gd name="T35" fmla="*/ 210 h 277"/>
                        <a:gd name="T36" fmla="*/ 309 w 403"/>
                        <a:gd name="T37" fmla="*/ 234 h 277"/>
                        <a:gd name="T38" fmla="*/ 310 w 403"/>
                        <a:gd name="T39" fmla="*/ 254 h 277"/>
                        <a:gd name="T40" fmla="*/ 298 w 403"/>
                        <a:gd name="T41" fmla="*/ 265 h 277"/>
                        <a:gd name="T42" fmla="*/ 282 w 403"/>
                        <a:gd name="T43" fmla="*/ 268 h 277"/>
                        <a:gd name="T44" fmla="*/ 269 w 403"/>
                        <a:gd name="T45" fmla="*/ 262 h 277"/>
                        <a:gd name="T46" fmla="*/ 257 w 403"/>
                        <a:gd name="T47" fmla="*/ 253 h 277"/>
                        <a:gd name="T48" fmla="*/ 254 w 403"/>
                        <a:gd name="T49" fmla="*/ 268 h 277"/>
                        <a:gd name="T50" fmla="*/ 240 w 403"/>
                        <a:gd name="T51" fmla="*/ 277 h 277"/>
                        <a:gd name="T52" fmla="*/ 221 w 403"/>
                        <a:gd name="T53" fmla="*/ 275 h 277"/>
                        <a:gd name="T54" fmla="*/ 203 w 403"/>
                        <a:gd name="T55" fmla="*/ 264 h 277"/>
                        <a:gd name="T56" fmla="*/ 190 w 403"/>
                        <a:gd name="T57" fmla="*/ 258 h 277"/>
                        <a:gd name="T58" fmla="*/ 168 w 403"/>
                        <a:gd name="T59" fmla="*/ 258 h 277"/>
                        <a:gd name="T60" fmla="*/ 146 w 403"/>
                        <a:gd name="T61" fmla="*/ 253 h 277"/>
                        <a:gd name="T62" fmla="*/ 113 w 403"/>
                        <a:gd name="T63" fmla="*/ 246 h 277"/>
                        <a:gd name="T64" fmla="*/ 79 w 403"/>
                        <a:gd name="T65" fmla="*/ 236 h 277"/>
                        <a:gd name="T66" fmla="*/ 60 w 403"/>
                        <a:gd name="T67" fmla="*/ 232 h 277"/>
                        <a:gd name="T68" fmla="*/ 29 w 403"/>
                        <a:gd name="T69" fmla="*/ 228 h 277"/>
                        <a:gd name="T70" fmla="*/ 0 w 403"/>
                        <a:gd name="T71" fmla="*/ 225 h 277"/>
                        <a:gd name="T72" fmla="*/ 25 w 403"/>
                        <a:gd name="T73" fmla="*/ 63 h 27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</a:cxnLst>
                      <a:rect l="0" t="0" r="r" b="b"/>
                      <a:pathLst>
                        <a:path w="403" h="277">
                          <a:moveTo>
                            <a:pt x="25" y="63"/>
                          </a:moveTo>
                          <a:lnTo>
                            <a:pt x="96" y="63"/>
                          </a:lnTo>
                          <a:lnTo>
                            <a:pt x="221" y="0"/>
                          </a:lnTo>
                          <a:lnTo>
                            <a:pt x="250" y="7"/>
                          </a:lnTo>
                          <a:lnTo>
                            <a:pt x="297" y="39"/>
                          </a:lnTo>
                          <a:lnTo>
                            <a:pt x="341" y="82"/>
                          </a:lnTo>
                          <a:lnTo>
                            <a:pt x="385" y="129"/>
                          </a:lnTo>
                          <a:lnTo>
                            <a:pt x="403" y="166"/>
                          </a:lnTo>
                          <a:lnTo>
                            <a:pt x="399" y="181"/>
                          </a:lnTo>
                          <a:lnTo>
                            <a:pt x="387" y="190"/>
                          </a:lnTo>
                          <a:lnTo>
                            <a:pt x="371" y="186"/>
                          </a:lnTo>
                          <a:lnTo>
                            <a:pt x="353" y="175"/>
                          </a:lnTo>
                          <a:lnTo>
                            <a:pt x="378" y="205"/>
                          </a:lnTo>
                          <a:lnTo>
                            <a:pt x="374" y="228"/>
                          </a:lnTo>
                          <a:lnTo>
                            <a:pt x="356" y="238"/>
                          </a:lnTo>
                          <a:lnTo>
                            <a:pt x="330" y="232"/>
                          </a:lnTo>
                          <a:lnTo>
                            <a:pt x="309" y="220"/>
                          </a:lnTo>
                          <a:lnTo>
                            <a:pt x="291" y="210"/>
                          </a:lnTo>
                          <a:lnTo>
                            <a:pt x="309" y="234"/>
                          </a:lnTo>
                          <a:lnTo>
                            <a:pt x="310" y="254"/>
                          </a:lnTo>
                          <a:lnTo>
                            <a:pt x="298" y="265"/>
                          </a:lnTo>
                          <a:lnTo>
                            <a:pt x="282" y="268"/>
                          </a:lnTo>
                          <a:lnTo>
                            <a:pt x="269" y="262"/>
                          </a:lnTo>
                          <a:lnTo>
                            <a:pt x="257" y="253"/>
                          </a:lnTo>
                          <a:lnTo>
                            <a:pt x="254" y="268"/>
                          </a:lnTo>
                          <a:lnTo>
                            <a:pt x="240" y="277"/>
                          </a:lnTo>
                          <a:lnTo>
                            <a:pt x="221" y="275"/>
                          </a:lnTo>
                          <a:lnTo>
                            <a:pt x="203" y="264"/>
                          </a:lnTo>
                          <a:lnTo>
                            <a:pt x="190" y="258"/>
                          </a:lnTo>
                          <a:lnTo>
                            <a:pt x="168" y="258"/>
                          </a:lnTo>
                          <a:lnTo>
                            <a:pt x="146" y="253"/>
                          </a:lnTo>
                          <a:lnTo>
                            <a:pt x="113" y="246"/>
                          </a:lnTo>
                          <a:lnTo>
                            <a:pt x="79" y="236"/>
                          </a:lnTo>
                          <a:lnTo>
                            <a:pt x="60" y="232"/>
                          </a:lnTo>
                          <a:lnTo>
                            <a:pt x="29" y="228"/>
                          </a:lnTo>
                          <a:lnTo>
                            <a:pt x="0" y="225"/>
                          </a:lnTo>
                          <a:lnTo>
                            <a:pt x="25" y="63"/>
                          </a:lnTo>
                          <a:close/>
                        </a:path>
                      </a:pathLst>
                    </a:custGeom>
                    <a:solidFill>
                      <a:srgbClr val="FF9F9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grpSp>
                  <p:nvGrpSpPr>
                    <p:cNvPr id="274" name="Group 389"/>
                    <p:cNvGrpSpPr/>
                    <p:nvPr/>
                  </p:nvGrpSpPr>
                  <p:grpSpPr bwMode="auto">
                    <a:xfrm>
                      <a:off x="4981" y="2544"/>
                      <a:ext cx="21" cy="44"/>
                      <a:chOff x="4981" y="2544"/>
                      <a:chExt cx="21" cy="44"/>
                    </a:xfrm>
                  </p:grpSpPr>
                  <p:sp>
                    <p:nvSpPr>
                      <p:cNvPr id="275" name="Freeform 390"/>
                      <p:cNvSpPr/>
                      <p:nvPr/>
                    </p:nvSpPr>
                    <p:spPr bwMode="auto">
                      <a:xfrm>
                        <a:off x="4983" y="2545"/>
                        <a:ext cx="19" cy="40"/>
                      </a:xfrm>
                      <a:custGeom>
                        <a:avLst/>
                        <a:gdLst>
                          <a:gd name="T0" fmla="*/ 33 w 113"/>
                          <a:gd name="T1" fmla="*/ 0 h 203"/>
                          <a:gd name="T2" fmla="*/ 113 w 113"/>
                          <a:gd name="T3" fmla="*/ 10 h 203"/>
                          <a:gd name="T4" fmla="*/ 98 w 113"/>
                          <a:gd name="T5" fmla="*/ 176 h 203"/>
                          <a:gd name="T6" fmla="*/ 0 w 113"/>
                          <a:gd name="T7" fmla="*/ 203 h 203"/>
                          <a:gd name="T8" fmla="*/ 33 w 113"/>
                          <a:gd name="T9" fmla="*/ 0 h 20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113" h="203">
                            <a:moveTo>
                              <a:pt x="33" y="0"/>
                            </a:moveTo>
                            <a:lnTo>
                              <a:pt x="113" y="10"/>
                            </a:lnTo>
                            <a:lnTo>
                              <a:pt x="98" y="176"/>
                            </a:lnTo>
                            <a:lnTo>
                              <a:pt x="0" y="203"/>
                            </a:lnTo>
                            <a:lnTo>
                              <a:pt x="33" y="0"/>
                            </a:lnTo>
                            <a:close/>
                          </a:path>
                        </a:pathLst>
                      </a:custGeom>
                      <a:solidFill>
                        <a:srgbClr val="7F7F7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276" name="Freeform 391"/>
                      <p:cNvSpPr/>
                      <p:nvPr/>
                    </p:nvSpPr>
                    <p:spPr bwMode="auto">
                      <a:xfrm>
                        <a:off x="4981" y="2544"/>
                        <a:ext cx="20" cy="44"/>
                      </a:xfrm>
                      <a:custGeom>
                        <a:avLst/>
                        <a:gdLst>
                          <a:gd name="T0" fmla="*/ 43 w 123"/>
                          <a:gd name="T1" fmla="*/ 0 h 221"/>
                          <a:gd name="T2" fmla="*/ 123 w 123"/>
                          <a:gd name="T3" fmla="*/ 9 h 221"/>
                          <a:gd name="T4" fmla="*/ 103 w 123"/>
                          <a:gd name="T5" fmla="*/ 221 h 221"/>
                          <a:gd name="T6" fmla="*/ 0 w 123"/>
                          <a:gd name="T7" fmla="*/ 212 h 221"/>
                          <a:gd name="T8" fmla="*/ 43 w 123"/>
                          <a:gd name="T9" fmla="*/ 0 h 221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123" h="221">
                            <a:moveTo>
                              <a:pt x="43" y="0"/>
                            </a:moveTo>
                            <a:lnTo>
                              <a:pt x="123" y="9"/>
                            </a:lnTo>
                            <a:lnTo>
                              <a:pt x="103" y="221"/>
                            </a:lnTo>
                            <a:lnTo>
                              <a:pt x="0" y="212"/>
                            </a:lnTo>
                            <a:lnTo>
                              <a:pt x="43" y="0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</p:grpSp>
              <p:grpSp>
                <p:nvGrpSpPr>
                  <p:cNvPr id="269" name="Group 392"/>
                  <p:cNvGrpSpPr/>
                  <p:nvPr/>
                </p:nvGrpSpPr>
                <p:grpSpPr bwMode="auto">
                  <a:xfrm>
                    <a:off x="5029" y="2558"/>
                    <a:ext cx="25" cy="26"/>
                    <a:chOff x="5029" y="2558"/>
                    <a:chExt cx="25" cy="26"/>
                  </a:xfrm>
                </p:grpSpPr>
                <p:sp>
                  <p:nvSpPr>
                    <p:cNvPr id="270" name="Freeform 393"/>
                    <p:cNvSpPr/>
                    <p:nvPr/>
                  </p:nvSpPr>
                  <p:spPr bwMode="auto">
                    <a:xfrm>
                      <a:off x="5045" y="2558"/>
                      <a:ext cx="9" cy="10"/>
                    </a:xfrm>
                    <a:custGeom>
                      <a:avLst/>
                      <a:gdLst>
                        <a:gd name="T0" fmla="*/ 52 w 52"/>
                        <a:gd name="T1" fmla="*/ 54 h 54"/>
                        <a:gd name="T2" fmla="*/ 0 w 52"/>
                        <a:gd name="T3" fmla="*/ 0 h 54"/>
                        <a:gd name="T4" fmla="*/ 41 w 52"/>
                        <a:gd name="T5" fmla="*/ 54 h 54"/>
                        <a:gd name="T6" fmla="*/ 52 w 52"/>
                        <a:gd name="T7" fmla="*/ 54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</a:cxnLst>
                      <a:rect l="0" t="0" r="r" b="b"/>
                      <a:pathLst>
                        <a:path w="52" h="54">
                          <a:moveTo>
                            <a:pt x="52" y="54"/>
                          </a:moveTo>
                          <a:lnTo>
                            <a:pt x="0" y="0"/>
                          </a:lnTo>
                          <a:lnTo>
                            <a:pt x="41" y="54"/>
                          </a:lnTo>
                          <a:lnTo>
                            <a:pt x="52" y="54"/>
                          </a:lnTo>
                          <a:close/>
                        </a:path>
                      </a:pathLst>
                    </a:custGeom>
                    <a:solidFill>
                      <a:srgbClr val="BF7F3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71" name="Freeform 394"/>
                    <p:cNvSpPr/>
                    <p:nvPr/>
                  </p:nvSpPr>
                  <p:spPr bwMode="auto">
                    <a:xfrm>
                      <a:off x="5034" y="2565"/>
                      <a:ext cx="12" cy="12"/>
                    </a:xfrm>
                    <a:custGeom>
                      <a:avLst/>
                      <a:gdLst>
                        <a:gd name="T0" fmla="*/ 0 w 69"/>
                        <a:gd name="T1" fmla="*/ 0 h 58"/>
                        <a:gd name="T2" fmla="*/ 39 w 69"/>
                        <a:gd name="T3" fmla="*/ 32 h 58"/>
                        <a:gd name="T4" fmla="*/ 69 w 69"/>
                        <a:gd name="T5" fmla="*/ 54 h 58"/>
                        <a:gd name="T6" fmla="*/ 58 w 69"/>
                        <a:gd name="T7" fmla="*/ 58 h 58"/>
                        <a:gd name="T8" fmla="*/ 30 w 69"/>
                        <a:gd name="T9" fmla="*/ 34 h 58"/>
                        <a:gd name="T10" fmla="*/ 0 w 69"/>
                        <a:gd name="T11" fmla="*/ 0 h 5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69" h="58">
                          <a:moveTo>
                            <a:pt x="0" y="0"/>
                          </a:moveTo>
                          <a:lnTo>
                            <a:pt x="39" y="32"/>
                          </a:lnTo>
                          <a:lnTo>
                            <a:pt x="69" y="54"/>
                          </a:lnTo>
                          <a:lnTo>
                            <a:pt x="58" y="58"/>
                          </a:lnTo>
                          <a:lnTo>
                            <a:pt x="30" y="34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F7F3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72" name="Freeform 395"/>
                    <p:cNvSpPr/>
                    <p:nvPr/>
                  </p:nvSpPr>
                  <p:spPr bwMode="auto">
                    <a:xfrm>
                      <a:off x="5029" y="2578"/>
                      <a:ext cx="8" cy="6"/>
                    </a:xfrm>
                    <a:custGeom>
                      <a:avLst/>
                      <a:gdLst>
                        <a:gd name="T0" fmla="*/ 48 w 48"/>
                        <a:gd name="T1" fmla="*/ 29 h 29"/>
                        <a:gd name="T2" fmla="*/ 0 w 48"/>
                        <a:gd name="T3" fmla="*/ 2 h 29"/>
                        <a:gd name="T4" fmla="*/ 11 w 48"/>
                        <a:gd name="T5" fmla="*/ 0 h 29"/>
                        <a:gd name="T6" fmla="*/ 48 w 48"/>
                        <a:gd name="T7" fmla="*/ 29 h 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</a:cxnLst>
                      <a:rect l="0" t="0" r="r" b="b"/>
                      <a:pathLst>
                        <a:path w="48" h="29">
                          <a:moveTo>
                            <a:pt x="48" y="29"/>
                          </a:moveTo>
                          <a:lnTo>
                            <a:pt x="0" y="2"/>
                          </a:lnTo>
                          <a:lnTo>
                            <a:pt x="11" y="0"/>
                          </a:lnTo>
                          <a:lnTo>
                            <a:pt x="48" y="29"/>
                          </a:lnTo>
                          <a:close/>
                        </a:path>
                      </a:pathLst>
                    </a:custGeom>
                    <a:solidFill>
                      <a:srgbClr val="BF7F3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  <p:grpSp>
              <p:nvGrpSpPr>
                <p:cNvPr id="261" name="Group 396"/>
                <p:cNvGrpSpPr/>
                <p:nvPr/>
              </p:nvGrpSpPr>
              <p:grpSpPr bwMode="auto">
                <a:xfrm>
                  <a:off x="5016" y="2519"/>
                  <a:ext cx="48" cy="49"/>
                  <a:chOff x="5016" y="2519"/>
                  <a:chExt cx="48" cy="49"/>
                </a:xfrm>
              </p:grpSpPr>
              <p:grpSp>
                <p:nvGrpSpPr>
                  <p:cNvPr id="262" name="Group 397"/>
                  <p:cNvGrpSpPr/>
                  <p:nvPr/>
                </p:nvGrpSpPr>
                <p:grpSpPr bwMode="auto">
                  <a:xfrm>
                    <a:off x="5016" y="2519"/>
                    <a:ext cx="48" cy="49"/>
                    <a:chOff x="5016" y="2519"/>
                    <a:chExt cx="48" cy="49"/>
                  </a:xfrm>
                </p:grpSpPr>
                <p:sp>
                  <p:nvSpPr>
                    <p:cNvPr id="266" name="Freeform 398"/>
                    <p:cNvSpPr/>
                    <p:nvPr/>
                  </p:nvSpPr>
                  <p:spPr bwMode="auto">
                    <a:xfrm>
                      <a:off x="5016" y="2519"/>
                      <a:ext cx="44" cy="49"/>
                    </a:xfrm>
                    <a:custGeom>
                      <a:avLst/>
                      <a:gdLst>
                        <a:gd name="T0" fmla="*/ 104 w 262"/>
                        <a:gd name="T1" fmla="*/ 15 h 244"/>
                        <a:gd name="T2" fmla="*/ 118 w 262"/>
                        <a:gd name="T3" fmla="*/ 11 h 244"/>
                        <a:gd name="T4" fmla="*/ 137 w 262"/>
                        <a:gd name="T5" fmla="*/ 17 h 244"/>
                        <a:gd name="T6" fmla="*/ 165 w 262"/>
                        <a:gd name="T7" fmla="*/ 0 h 244"/>
                        <a:gd name="T8" fmla="*/ 179 w 262"/>
                        <a:gd name="T9" fmla="*/ 5 h 244"/>
                        <a:gd name="T10" fmla="*/ 192 w 262"/>
                        <a:gd name="T11" fmla="*/ 24 h 244"/>
                        <a:gd name="T12" fmla="*/ 210 w 262"/>
                        <a:gd name="T13" fmla="*/ 30 h 244"/>
                        <a:gd name="T14" fmla="*/ 229 w 262"/>
                        <a:gd name="T15" fmla="*/ 36 h 244"/>
                        <a:gd name="T16" fmla="*/ 246 w 262"/>
                        <a:gd name="T17" fmla="*/ 83 h 244"/>
                        <a:gd name="T18" fmla="*/ 258 w 262"/>
                        <a:gd name="T19" fmla="*/ 157 h 244"/>
                        <a:gd name="T20" fmla="*/ 245 w 262"/>
                        <a:gd name="T21" fmla="*/ 176 h 244"/>
                        <a:gd name="T22" fmla="*/ 227 w 262"/>
                        <a:gd name="T23" fmla="*/ 161 h 244"/>
                        <a:gd name="T24" fmla="*/ 221 w 262"/>
                        <a:gd name="T25" fmla="*/ 141 h 244"/>
                        <a:gd name="T26" fmla="*/ 204 w 262"/>
                        <a:gd name="T27" fmla="*/ 100 h 244"/>
                        <a:gd name="T28" fmla="*/ 195 w 262"/>
                        <a:gd name="T29" fmla="*/ 73 h 244"/>
                        <a:gd name="T30" fmla="*/ 188 w 262"/>
                        <a:gd name="T31" fmla="*/ 153 h 244"/>
                        <a:gd name="T32" fmla="*/ 189 w 262"/>
                        <a:gd name="T33" fmla="*/ 228 h 244"/>
                        <a:gd name="T34" fmla="*/ 170 w 262"/>
                        <a:gd name="T35" fmla="*/ 244 h 244"/>
                        <a:gd name="T36" fmla="*/ 152 w 262"/>
                        <a:gd name="T37" fmla="*/ 236 h 244"/>
                        <a:gd name="T38" fmla="*/ 141 w 262"/>
                        <a:gd name="T39" fmla="*/ 205 h 244"/>
                        <a:gd name="T40" fmla="*/ 137 w 262"/>
                        <a:gd name="T41" fmla="*/ 105 h 244"/>
                        <a:gd name="T42" fmla="*/ 128 w 262"/>
                        <a:gd name="T43" fmla="*/ 90 h 244"/>
                        <a:gd name="T44" fmla="*/ 113 w 262"/>
                        <a:gd name="T45" fmla="*/ 123 h 244"/>
                        <a:gd name="T46" fmla="*/ 117 w 262"/>
                        <a:gd name="T47" fmla="*/ 167 h 244"/>
                        <a:gd name="T48" fmla="*/ 121 w 262"/>
                        <a:gd name="T49" fmla="*/ 212 h 244"/>
                        <a:gd name="T50" fmla="*/ 109 w 262"/>
                        <a:gd name="T51" fmla="*/ 229 h 244"/>
                        <a:gd name="T52" fmla="*/ 87 w 262"/>
                        <a:gd name="T53" fmla="*/ 231 h 244"/>
                        <a:gd name="T54" fmla="*/ 74 w 262"/>
                        <a:gd name="T55" fmla="*/ 199 h 244"/>
                        <a:gd name="T56" fmla="*/ 74 w 262"/>
                        <a:gd name="T57" fmla="*/ 98 h 244"/>
                        <a:gd name="T58" fmla="*/ 57 w 262"/>
                        <a:gd name="T59" fmla="*/ 115 h 244"/>
                        <a:gd name="T60" fmla="*/ 48 w 262"/>
                        <a:gd name="T61" fmla="*/ 145 h 244"/>
                        <a:gd name="T62" fmla="*/ 41 w 262"/>
                        <a:gd name="T63" fmla="*/ 188 h 244"/>
                        <a:gd name="T64" fmla="*/ 29 w 262"/>
                        <a:gd name="T65" fmla="*/ 202 h 244"/>
                        <a:gd name="T66" fmla="*/ 6 w 262"/>
                        <a:gd name="T67" fmla="*/ 199 h 244"/>
                        <a:gd name="T68" fmla="*/ 1 w 262"/>
                        <a:gd name="T69" fmla="*/ 160 h 244"/>
                        <a:gd name="T70" fmla="*/ 14 w 262"/>
                        <a:gd name="T71" fmla="*/ 103 h 244"/>
                        <a:gd name="T72" fmla="*/ 55 w 262"/>
                        <a:gd name="T73" fmla="*/ 25 h 244"/>
                        <a:gd name="T74" fmla="*/ 70 w 262"/>
                        <a:gd name="T75" fmla="*/ 24 h 244"/>
                        <a:gd name="T76" fmla="*/ 91 w 262"/>
                        <a:gd name="T77" fmla="*/ 33 h 24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</a:cxnLst>
                      <a:rect l="0" t="0" r="r" b="b"/>
                      <a:pathLst>
                        <a:path w="262" h="244">
                          <a:moveTo>
                            <a:pt x="91" y="33"/>
                          </a:moveTo>
                          <a:lnTo>
                            <a:pt x="104" y="15"/>
                          </a:lnTo>
                          <a:lnTo>
                            <a:pt x="110" y="10"/>
                          </a:lnTo>
                          <a:lnTo>
                            <a:pt x="118" y="11"/>
                          </a:lnTo>
                          <a:lnTo>
                            <a:pt x="127" y="15"/>
                          </a:lnTo>
                          <a:lnTo>
                            <a:pt x="137" y="17"/>
                          </a:lnTo>
                          <a:lnTo>
                            <a:pt x="159" y="3"/>
                          </a:lnTo>
                          <a:lnTo>
                            <a:pt x="165" y="0"/>
                          </a:lnTo>
                          <a:lnTo>
                            <a:pt x="174" y="1"/>
                          </a:lnTo>
                          <a:lnTo>
                            <a:pt x="179" y="5"/>
                          </a:lnTo>
                          <a:lnTo>
                            <a:pt x="186" y="12"/>
                          </a:lnTo>
                          <a:lnTo>
                            <a:pt x="192" y="24"/>
                          </a:lnTo>
                          <a:lnTo>
                            <a:pt x="201" y="27"/>
                          </a:lnTo>
                          <a:lnTo>
                            <a:pt x="210" y="30"/>
                          </a:lnTo>
                          <a:lnTo>
                            <a:pt x="222" y="32"/>
                          </a:lnTo>
                          <a:lnTo>
                            <a:pt x="229" y="36"/>
                          </a:lnTo>
                          <a:lnTo>
                            <a:pt x="237" y="59"/>
                          </a:lnTo>
                          <a:lnTo>
                            <a:pt x="246" y="83"/>
                          </a:lnTo>
                          <a:lnTo>
                            <a:pt x="262" y="113"/>
                          </a:lnTo>
                          <a:lnTo>
                            <a:pt x="258" y="157"/>
                          </a:lnTo>
                          <a:lnTo>
                            <a:pt x="258" y="173"/>
                          </a:lnTo>
                          <a:lnTo>
                            <a:pt x="245" y="176"/>
                          </a:lnTo>
                          <a:lnTo>
                            <a:pt x="235" y="171"/>
                          </a:lnTo>
                          <a:lnTo>
                            <a:pt x="227" y="161"/>
                          </a:lnTo>
                          <a:lnTo>
                            <a:pt x="223" y="151"/>
                          </a:lnTo>
                          <a:lnTo>
                            <a:pt x="221" y="141"/>
                          </a:lnTo>
                          <a:lnTo>
                            <a:pt x="219" y="126"/>
                          </a:lnTo>
                          <a:lnTo>
                            <a:pt x="204" y="100"/>
                          </a:lnTo>
                          <a:lnTo>
                            <a:pt x="201" y="92"/>
                          </a:lnTo>
                          <a:lnTo>
                            <a:pt x="195" y="73"/>
                          </a:lnTo>
                          <a:lnTo>
                            <a:pt x="186" y="113"/>
                          </a:lnTo>
                          <a:lnTo>
                            <a:pt x="188" y="153"/>
                          </a:lnTo>
                          <a:lnTo>
                            <a:pt x="188" y="213"/>
                          </a:lnTo>
                          <a:lnTo>
                            <a:pt x="189" y="228"/>
                          </a:lnTo>
                          <a:lnTo>
                            <a:pt x="182" y="240"/>
                          </a:lnTo>
                          <a:lnTo>
                            <a:pt x="170" y="244"/>
                          </a:lnTo>
                          <a:lnTo>
                            <a:pt x="159" y="242"/>
                          </a:lnTo>
                          <a:lnTo>
                            <a:pt x="152" y="236"/>
                          </a:lnTo>
                          <a:lnTo>
                            <a:pt x="146" y="224"/>
                          </a:lnTo>
                          <a:lnTo>
                            <a:pt x="141" y="205"/>
                          </a:lnTo>
                          <a:lnTo>
                            <a:pt x="141" y="145"/>
                          </a:lnTo>
                          <a:lnTo>
                            <a:pt x="137" y="105"/>
                          </a:lnTo>
                          <a:lnTo>
                            <a:pt x="139" y="68"/>
                          </a:lnTo>
                          <a:lnTo>
                            <a:pt x="128" y="90"/>
                          </a:lnTo>
                          <a:lnTo>
                            <a:pt x="118" y="108"/>
                          </a:lnTo>
                          <a:lnTo>
                            <a:pt x="113" y="123"/>
                          </a:lnTo>
                          <a:lnTo>
                            <a:pt x="115" y="141"/>
                          </a:lnTo>
                          <a:lnTo>
                            <a:pt x="117" y="167"/>
                          </a:lnTo>
                          <a:lnTo>
                            <a:pt x="121" y="202"/>
                          </a:lnTo>
                          <a:lnTo>
                            <a:pt x="121" y="212"/>
                          </a:lnTo>
                          <a:lnTo>
                            <a:pt x="117" y="220"/>
                          </a:lnTo>
                          <a:lnTo>
                            <a:pt x="109" y="229"/>
                          </a:lnTo>
                          <a:lnTo>
                            <a:pt x="98" y="234"/>
                          </a:lnTo>
                          <a:lnTo>
                            <a:pt x="87" y="231"/>
                          </a:lnTo>
                          <a:lnTo>
                            <a:pt x="81" y="220"/>
                          </a:lnTo>
                          <a:lnTo>
                            <a:pt x="74" y="199"/>
                          </a:lnTo>
                          <a:lnTo>
                            <a:pt x="69" y="126"/>
                          </a:lnTo>
                          <a:lnTo>
                            <a:pt x="74" y="98"/>
                          </a:lnTo>
                          <a:lnTo>
                            <a:pt x="63" y="106"/>
                          </a:lnTo>
                          <a:lnTo>
                            <a:pt x="57" y="115"/>
                          </a:lnTo>
                          <a:lnTo>
                            <a:pt x="51" y="131"/>
                          </a:lnTo>
                          <a:lnTo>
                            <a:pt x="48" y="145"/>
                          </a:lnTo>
                          <a:lnTo>
                            <a:pt x="44" y="163"/>
                          </a:lnTo>
                          <a:lnTo>
                            <a:pt x="41" y="188"/>
                          </a:lnTo>
                          <a:lnTo>
                            <a:pt x="37" y="197"/>
                          </a:lnTo>
                          <a:lnTo>
                            <a:pt x="29" y="202"/>
                          </a:lnTo>
                          <a:lnTo>
                            <a:pt x="17" y="203"/>
                          </a:lnTo>
                          <a:lnTo>
                            <a:pt x="6" y="199"/>
                          </a:lnTo>
                          <a:lnTo>
                            <a:pt x="0" y="192"/>
                          </a:lnTo>
                          <a:lnTo>
                            <a:pt x="1" y="160"/>
                          </a:lnTo>
                          <a:lnTo>
                            <a:pt x="8" y="127"/>
                          </a:lnTo>
                          <a:lnTo>
                            <a:pt x="14" y="103"/>
                          </a:lnTo>
                          <a:lnTo>
                            <a:pt x="30" y="67"/>
                          </a:lnTo>
                          <a:lnTo>
                            <a:pt x="55" y="25"/>
                          </a:lnTo>
                          <a:lnTo>
                            <a:pt x="62" y="24"/>
                          </a:lnTo>
                          <a:lnTo>
                            <a:pt x="70" y="24"/>
                          </a:lnTo>
                          <a:lnTo>
                            <a:pt x="80" y="27"/>
                          </a:lnTo>
                          <a:lnTo>
                            <a:pt x="91" y="33"/>
                          </a:lnTo>
                          <a:close/>
                        </a:path>
                      </a:pathLst>
                    </a:custGeom>
                    <a:solidFill>
                      <a:srgbClr val="FF9F7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67" name="Freeform 399"/>
                    <p:cNvSpPr/>
                    <p:nvPr/>
                  </p:nvSpPr>
                  <p:spPr bwMode="auto">
                    <a:xfrm>
                      <a:off x="5054" y="2525"/>
                      <a:ext cx="10" cy="14"/>
                    </a:xfrm>
                    <a:custGeom>
                      <a:avLst/>
                      <a:gdLst>
                        <a:gd name="T0" fmla="*/ 0 w 61"/>
                        <a:gd name="T1" fmla="*/ 29 h 73"/>
                        <a:gd name="T2" fmla="*/ 5 w 61"/>
                        <a:gd name="T3" fmla="*/ 20 h 73"/>
                        <a:gd name="T4" fmla="*/ 15 w 61"/>
                        <a:gd name="T5" fmla="*/ 5 h 73"/>
                        <a:gd name="T6" fmla="*/ 25 w 61"/>
                        <a:gd name="T7" fmla="*/ 0 h 73"/>
                        <a:gd name="T8" fmla="*/ 38 w 61"/>
                        <a:gd name="T9" fmla="*/ 2 h 73"/>
                        <a:gd name="T10" fmla="*/ 47 w 61"/>
                        <a:gd name="T11" fmla="*/ 6 h 73"/>
                        <a:gd name="T12" fmla="*/ 59 w 61"/>
                        <a:gd name="T13" fmla="*/ 15 h 73"/>
                        <a:gd name="T14" fmla="*/ 61 w 61"/>
                        <a:gd name="T15" fmla="*/ 24 h 73"/>
                        <a:gd name="T16" fmla="*/ 61 w 61"/>
                        <a:gd name="T17" fmla="*/ 37 h 73"/>
                        <a:gd name="T18" fmla="*/ 59 w 61"/>
                        <a:gd name="T19" fmla="*/ 46 h 73"/>
                        <a:gd name="T20" fmla="*/ 55 w 61"/>
                        <a:gd name="T21" fmla="*/ 56 h 73"/>
                        <a:gd name="T22" fmla="*/ 42 w 61"/>
                        <a:gd name="T23" fmla="*/ 62 h 73"/>
                        <a:gd name="T24" fmla="*/ 18 w 61"/>
                        <a:gd name="T25" fmla="*/ 73 h 73"/>
                        <a:gd name="T26" fmla="*/ 0 w 61"/>
                        <a:gd name="T27" fmla="*/ 29 h 7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</a:cxnLst>
                      <a:rect l="0" t="0" r="r" b="b"/>
                      <a:pathLst>
                        <a:path w="61" h="73">
                          <a:moveTo>
                            <a:pt x="0" y="29"/>
                          </a:moveTo>
                          <a:lnTo>
                            <a:pt x="5" y="20"/>
                          </a:lnTo>
                          <a:lnTo>
                            <a:pt x="15" y="5"/>
                          </a:lnTo>
                          <a:lnTo>
                            <a:pt x="25" y="0"/>
                          </a:lnTo>
                          <a:lnTo>
                            <a:pt x="38" y="2"/>
                          </a:lnTo>
                          <a:lnTo>
                            <a:pt x="47" y="6"/>
                          </a:lnTo>
                          <a:lnTo>
                            <a:pt x="59" y="15"/>
                          </a:lnTo>
                          <a:lnTo>
                            <a:pt x="61" y="24"/>
                          </a:lnTo>
                          <a:lnTo>
                            <a:pt x="61" y="37"/>
                          </a:lnTo>
                          <a:lnTo>
                            <a:pt x="59" y="46"/>
                          </a:lnTo>
                          <a:lnTo>
                            <a:pt x="55" y="56"/>
                          </a:lnTo>
                          <a:lnTo>
                            <a:pt x="42" y="62"/>
                          </a:lnTo>
                          <a:lnTo>
                            <a:pt x="18" y="73"/>
                          </a:lnTo>
                          <a:lnTo>
                            <a:pt x="0" y="29"/>
                          </a:lnTo>
                          <a:close/>
                        </a:path>
                      </a:pathLst>
                    </a:custGeom>
                    <a:solidFill>
                      <a:srgbClr val="FF9F7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263" name="Group 400"/>
                  <p:cNvGrpSpPr/>
                  <p:nvPr/>
                </p:nvGrpSpPr>
                <p:grpSpPr bwMode="auto">
                  <a:xfrm>
                    <a:off x="5016" y="2519"/>
                    <a:ext cx="48" cy="48"/>
                    <a:chOff x="5016" y="2519"/>
                    <a:chExt cx="48" cy="48"/>
                  </a:xfrm>
                </p:grpSpPr>
                <p:sp>
                  <p:nvSpPr>
                    <p:cNvPr id="264" name="Freeform 401"/>
                    <p:cNvSpPr/>
                    <p:nvPr/>
                  </p:nvSpPr>
                  <p:spPr bwMode="auto">
                    <a:xfrm>
                      <a:off x="5016" y="2519"/>
                      <a:ext cx="43" cy="48"/>
                    </a:xfrm>
                    <a:custGeom>
                      <a:avLst/>
                      <a:gdLst>
                        <a:gd name="T0" fmla="*/ 103 w 261"/>
                        <a:gd name="T1" fmla="*/ 15 h 244"/>
                        <a:gd name="T2" fmla="*/ 118 w 261"/>
                        <a:gd name="T3" fmla="*/ 12 h 244"/>
                        <a:gd name="T4" fmla="*/ 137 w 261"/>
                        <a:gd name="T5" fmla="*/ 18 h 244"/>
                        <a:gd name="T6" fmla="*/ 164 w 261"/>
                        <a:gd name="T7" fmla="*/ 0 h 244"/>
                        <a:gd name="T8" fmla="*/ 179 w 261"/>
                        <a:gd name="T9" fmla="*/ 5 h 244"/>
                        <a:gd name="T10" fmla="*/ 192 w 261"/>
                        <a:gd name="T11" fmla="*/ 24 h 244"/>
                        <a:gd name="T12" fmla="*/ 210 w 261"/>
                        <a:gd name="T13" fmla="*/ 30 h 244"/>
                        <a:gd name="T14" fmla="*/ 229 w 261"/>
                        <a:gd name="T15" fmla="*/ 36 h 244"/>
                        <a:gd name="T16" fmla="*/ 246 w 261"/>
                        <a:gd name="T17" fmla="*/ 83 h 244"/>
                        <a:gd name="T18" fmla="*/ 258 w 261"/>
                        <a:gd name="T19" fmla="*/ 157 h 244"/>
                        <a:gd name="T20" fmla="*/ 245 w 261"/>
                        <a:gd name="T21" fmla="*/ 176 h 244"/>
                        <a:gd name="T22" fmla="*/ 227 w 261"/>
                        <a:gd name="T23" fmla="*/ 161 h 244"/>
                        <a:gd name="T24" fmla="*/ 221 w 261"/>
                        <a:gd name="T25" fmla="*/ 141 h 244"/>
                        <a:gd name="T26" fmla="*/ 204 w 261"/>
                        <a:gd name="T27" fmla="*/ 101 h 244"/>
                        <a:gd name="T28" fmla="*/ 194 w 261"/>
                        <a:gd name="T29" fmla="*/ 73 h 244"/>
                        <a:gd name="T30" fmla="*/ 187 w 261"/>
                        <a:gd name="T31" fmla="*/ 154 h 244"/>
                        <a:gd name="T32" fmla="*/ 188 w 261"/>
                        <a:gd name="T33" fmla="*/ 228 h 244"/>
                        <a:gd name="T34" fmla="*/ 169 w 261"/>
                        <a:gd name="T35" fmla="*/ 244 h 244"/>
                        <a:gd name="T36" fmla="*/ 151 w 261"/>
                        <a:gd name="T37" fmla="*/ 237 h 244"/>
                        <a:gd name="T38" fmla="*/ 141 w 261"/>
                        <a:gd name="T39" fmla="*/ 206 h 244"/>
                        <a:gd name="T40" fmla="*/ 137 w 261"/>
                        <a:gd name="T41" fmla="*/ 105 h 244"/>
                        <a:gd name="T42" fmla="*/ 127 w 261"/>
                        <a:gd name="T43" fmla="*/ 91 h 244"/>
                        <a:gd name="T44" fmla="*/ 113 w 261"/>
                        <a:gd name="T45" fmla="*/ 123 h 244"/>
                        <a:gd name="T46" fmla="*/ 117 w 261"/>
                        <a:gd name="T47" fmla="*/ 167 h 244"/>
                        <a:gd name="T48" fmla="*/ 120 w 261"/>
                        <a:gd name="T49" fmla="*/ 212 h 244"/>
                        <a:gd name="T50" fmla="*/ 108 w 261"/>
                        <a:gd name="T51" fmla="*/ 229 h 244"/>
                        <a:gd name="T52" fmla="*/ 87 w 261"/>
                        <a:gd name="T53" fmla="*/ 232 h 244"/>
                        <a:gd name="T54" fmla="*/ 74 w 261"/>
                        <a:gd name="T55" fmla="*/ 199 h 244"/>
                        <a:gd name="T56" fmla="*/ 74 w 261"/>
                        <a:gd name="T57" fmla="*/ 98 h 244"/>
                        <a:gd name="T58" fmla="*/ 57 w 261"/>
                        <a:gd name="T59" fmla="*/ 115 h 244"/>
                        <a:gd name="T60" fmla="*/ 47 w 261"/>
                        <a:gd name="T61" fmla="*/ 145 h 244"/>
                        <a:gd name="T62" fmla="*/ 40 w 261"/>
                        <a:gd name="T63" fmla="*/ 188 h 244"/>
                        <a:gd name="T64" fmla="*/ 28 w 261"/>
                        <a:gd name="T65" fmla="*/ 202 h 244"/>
                        <a:gd name="T66" fmla="*/ 6 w 261"/>
                        <a:gd name="T67" fmla="*/ 199 h 244"/>
                        <a:gd name="T68" fmla="*/ 1 w 261"/>
                        <a:gd name="T69" fmla="*/ 160 h 244"/>
                        <a:gd name="T70" fmla="*/ 14 w 261"/>
                        <a:gd name="T71" fmla="*/ 103 h 244"/>
                        <a:gd name="T72" fmla="*/ 55 w 261"/>
                        <a:gd name="T73" fmla="*/ 25 h 244"/>
                        <a:gd name="T74" fmla="*/ 70 w 261"/>
                        <a:gd name="T75" fmla="*/ 24 h 244"/>
                        <a:gd name="T76" fmla="*/ 90 w 261"/>
                        <a:gd name="T77" fmla="*/ 34 h 24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</a:cxnLst>
                      <a:rect l="0" t="0" r="r" b="b"/>
                      <a:pathLst>
                        <a:path w="261" h="244">
                          <a:moveTo>
                            <a:pt x="90" y="34"/>
                          </a:moveTo>
                          <a:lnTo>
                            <a:pt x="103" y="15"/>
                          </a:lnTo>
                          <a:lnTo>
                            <a:pt x="109" y="10"/>
                          </a:lnTo>
                          <a:lnTo>
                            <a:pt x="118" y="12"/>
                          </a:lnTo>
                          <a:lnTo>
                            <a:pt x="126" y="15"/>
                          </a:lnTo>
                          <a:lnTo>
                            <a:pt x="137" y="18"/>
                          </a:lnTo>
                          <a:lnTo>
                            <a:pt x="158" y="3"/>
                          </a:lnTo>
                          <a:lnTo>
                            <a:pt x="164" y="0"/>
                          </a:lnTo>
                          <a:lnTo>
                            <a:pt x="174" y="2"/>
                          </a:lnTo>
                          <a:lnTo>
                            <a:pt x="179" y="5"/>
                          </a:lnTo>
                          <a:lnTo>
                            <a:pt x="186" y="13"/>
                          </a:lnTo>
                          <a:lnTo>
                            <a:pt x="192" y="24"/>
                          </a:lnTo>
                          <a:lnTo>
                            <a:pt x="200" y="28"/>
                          </a:lnTo>
                          <a:lnTo>
                            <a:pt x="210" y="30"/>
                          </a:lnTo>
                          <a:lnTo>
                            <a:pt x="222" y="33"/>
                          </a:lnTo>
                          <a:lnTo>
                            <a:pt x="229" y="36"/>
                          </a:lnTo>
                          <a:lnTo>
                            <a:pt x="236" y="60"/>
                          </a:lnTo>
                          <a:lnTo>
                            <a:pt x="246" y="83"/>
                          </a:lnTo>
                          <a:lnTo>
                            <a:pt x="261" y="113"/>
                          </a:lnTo>
                          <a:lnTo>
                            <a:pt x="258" y="157"/>
                          </a:lnTo>
                          <a:lnTo>
                            <a:pt x="258" y="173"/>
                          </a:lnTo>
                          <a:lnTo>
                            <a:pt x="245" y="176"/>
                          </a:lnTo>
                          <a:lnTo>
                            <a:pt x="235" y="171"/>
                          </a:lnTo>
                          <a:lnTo>
                            <a:pt x="227" y="161"/>
                          </a:lnTo>
                          <a:lnTo>
                            <a:pt x="223" y="151"/>
                          </a:lnTo>
                          <a:lnTo>
                            <a:pt x="221" y="141"/>
                          </a:lnTo>
                          <a:lnTo>
                            <a:pt x="218" y="127"/>
                          </a:lnTo>
                          <a:lnTo>
                            <a:pt x="204" y="101"/>
                          </a:lnTo>
                          <a:lnTo>
                            <a:pt x="200" y="92"/>
                          </a:lnTo>
                          <a:lnTo>
                            <a:pt x="194" y="73"/>
                          </a:lnTo>
                          <a:lnTo>
                            <a:pt x="186" y="113"/>
                          </a:lnTo>
                          <a:lnTo>
                            <a:pt x="187" y="154"/>
                          </a:lnTo>
                          <a:lnTo>
                            <a:pt x="187" y="213"/>
                          </a:lnTo>
                          <a:lnTo>
                            <a:pt x="188" y="228"/>
                          </a:lnTo>
                          <a:lnTo>
                            <a:pt x="181" y="240"/>
                          </a:lnTo>
                          <a:lnTo>
                            <a:pt x="169" y="244"/>
                          </a:lnTo>
                          <a:lnTo>
                            <a:pt x="158" y="243"/>
                          </a:lnTo>
                          <a:lnTo>
                            <a:pt x="151" y="237"/>
                          </a:lnTo>
                          <a:lnTo>
                            <a:pt x="145" y="224"/>
                          </a:lnTo>
                          <a:lnTo>
                            <a:pt x="141" y="206"/>
                          </a:lnTo>
                          <a:lnTo>
                            <a:pt x="141" y="145"/>
                          </a:lnTo>
                          <a:lnTo>
                            <a:pt x="137" y="105"/>
                          </a:lnTo>
                          <a:lnTo>
                            <a:pt x="138" y="68"/>
                          </a:lnTo>
                          <a:lnTo>
                            <a:pt x="127" y="91"/>
                          </a:lnTo>
                          <a:lnTo>
                            <a:pt x="118" y="108"/>
                          </a:lnTo>
                          <a:lnTo>
                            <a:pt x="113" y="123"/>
                          </a:lnTo>
                          <a:lnTo>
                            <a:pt x="114" y="141"/>
                          </a:lnTo>
                          <a:lnTo>
                            <a:pt x="117" y="167"/>
                          </a:lnTo>
                          <a:lnTo>
                            <a:pt x="120" y="202"/>
                          </a:lnTo>
                          <a:lnTo>
                            <a:pt x="120" y="212"/>
                          </a:lnTo>
                          <a:lnTo>
                            <a:pt x="117" y="220"/>
                          </a:lnTo>
                          <a:lnTo>
                            <a:pt x="108" y="229"/>
                          </a:lnTo>
                          <a:lnTo>
                            <a:pt x="98" y="234"/>
                          </a:lnTo>
                          <a:lnTo>
                            <a:pt x="87" y="232"/>
                          </a:lnTo>
                          <a:lnTo>
                            <a:pt x="81" y="220"/>
                          </a:lnTo>
                          <a:lnTo>
                            <a:pt x="74" y="199"/>
                          </a:lnTo>
                          <a:lnTo>
                            <a:pt x="69" y="127"/>
                          </a:lnTo>
                          <a:lnTo>
                            <a:pt x="74" y="98"/>
                          </a:lnTo>
                          <a:lnTo>
                            <a:pt x="63" y="107"/>
                          </a:lnTo>
                          <a:lnTo>
                            <a:pt x="57" y="115"/>
                          </a:lnTo>
                          <a:lnTo>
                            <a:pt x="51" y="131"/>
                          </a:lnTo>
                          <a:lnTo>
                            <a:pt x="47" y="145"/>
                          </a:lnTo>
                          <a:lnTo>
                            <a:pt x="44" y="164"/>
                          </a:lnTo>
                          <a:lnTo>
                            <a:pt x="40" y="188"/>
                          </a:lnTo>
                          <a:lnTo>
                            <a:pt x="37" y="197"/>
                          </a:lnTo>
                          <a:lnTo>
                            <a:pt x="28" y="202"/>
                          </a:lnTo>
                          <a:lnTo>
                            <a:pt x="16" y="203"/>
                          </a:lnTo>
                          <a:lnTo>
                            <a:pt x="6" y="199"/>
                          </a:lnTo>
                          <a:lnTo>
                            <a:pt x="0" y="192"/>
                          </a:lnTo>
                          <a:lnTo>
                            <a:pt x="1" y="160"/>
                          </a:lnTo>
                          <a:lnTo>
                            <a:pt x="8" y="128"/>
                          </a:lnTo>
                          <a:lnTo>
                            <a:pt x="14" y="103"/>
                          </a:lnTo>
                          <a:lnTo>
                            <a:pt x="29" y="67"/>
                          </a:lnTo>
                          <a:lnTo>
                            <a:pt x="55" y="25"/>
                          </a:lnTo>
                          <a:lnTo>
                            <a:pt x="62" y="24"/>
                          </a:lnTo>
                          <a:lnTo>
                            <a:pt x="70" y="24"/>
                          </a:lnTo>
                          <a:lnTo>
                            <a:pt x="80" y="28"/>
                          </a:lnTo>
                          <a:lnTo>
                            <a:pt x="90" y="34"/>
                          </a:lnTo>
                          <a:close/>
                        </a:path>
                      </a:pathLst>
                    </a:custGeom>
                    <a:solidFill>
                      <a:srgbClr val="FF9F7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65" name="Freeform 402"/>
                    <p:cNvSpPr/>
                    <p:nvPr/>
                  </p:nvSpPr>
                  <p:spPr bwMode="auto">
                    <a:xfrm>
                      <a:off x="5054" y="2524"/>
                      <a:ext cx="10" cy="15"/>
                    </a:xfrm>
                    <a:custGeom>
                      <a:avLst/>
                      <a:gdLst>
                        <a:gd name="T0" fmla="*/ 0 w 61"/>
                        <a:gd name="T1" fmla="*/ 28 h 73"/>
                        <a:gd name="T2" fmla="*/ 5 w 61"/>
                        <a:gd name="T3" fmla="*/ 19 h 73"/>
                        <a:gd name="T4" fmla="*/ 14 w 61"/>
                        <a:gd name="T5" fmla="*/ 5 h 73"/>
                        <a:gd name="T6" fmla="*/ 25 w 61"/>
                        <a:gd name="T7" fmla="*/ 0 h 73"/>
                        <a:gd name="T8" fmla="*/ 38 w 61"/>
                        <a:gd name="T9" fmla="*/ 1 h 73"/>
                        <a:gd name="T10" fmla="*/ 46 w 61"/>
                        <a:gd name="T11" fmla="*/ 6 h 73"/>
                        <a:gd name="T12" fmla="*/ 58 w 61"/>
                        <a:gd name="T13" fmla="*/ 14 h 73"/>
                        <a:gd name="T14" fmla="*/ 61 w 61"/>
                        <a:gd name="T15" fmla="*/ 23 h 73"/>
                        <a:gd name="T16" fmla="*/ 61 w 61"/>
                        <a:gd name="T17" fmla="*/ 37 h 73"/>
                        <a:gd name="T18" fmla="*/ 58 w 61"/>
                        <a:gd name="T19" fmla="*/ 45 h 73"/>
                        <a:gd name="T20" fmla="*/ 55 w 61"/>
                        <a:gd name="T21" fmla="*/ 55 h 73"/>
                        <a:gd name="T22" fmla="*/ 42 w 61"/>
                        <a:gd name="T23" fmla="*/ 61 h 73"/>
                        <a:gd name="T24" fmla="*/ 18 w 61"/>
                        <a:gd name="T25" fmla="*/ 73 h 73"/>
                        <a:gd name="T26" fmla="*/ 0 w 61"/>
                        <a:gd name="T27" fmla="*/ 28 h 7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</a:cxnLst>
                      <a:rect l="0" t="0" r="r" b="b"/>
                      <a:pathLst>
                        <a:path w="61" h="73">
                          <a:moveTo>
                            <a:pt x="0" y="28"/>
                          </a:moveTo>
                          <a:lnTo>
                            <a:pt x="5" y="19"/>
                          </a:lnTo>
                          <a:lnTo>
                            <a:pt x="14" y="5"/>
                          </a:lnTo>
                          <a:lnTo>
                            <a:pt x="25" y="0"/>
                          </a:lnTo>
                          <a:lnTo>
                            <a:pt x="38" y="1"/>
                          </a:lnTo>
                          <a:lnTo>
                            <a:pt x="46" y="6"/>
                          </a:lnTo>
                          <a:lnTo>
                            <a:pt x="58" y="14"/>
                          </a:lnTo>
                          <a:lnTo>
                            <a:pt x="61" y="23"/>
                          </a:lnTo>
                          <a:lnTo>
                            <a:pt x="61" y="37"/>
                          </a:lnTo>
                          <a:lnTo>
                            <a:pt x="58" y="45"/>
                          </a:lnTo>
                          <a:lnTo>
                            <a:pt x="55" y="55"/>
                          </a:lnTo>
                          <a:lnTo>
                            <a:pt x="42" y="61"/>
                          </a:lnTo>
                          <a:lnTo>
                            <a:pt x="18" y="73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9F7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</p:grpSp>
        </p:grpSp>
        <p:grpSp>
          <p:nvGrpSpPr>
            <p:cNvPr id="10" name="Group 403"/>
            <p:cNvGrpSpPr/>
            <p:nvPr/>
          </p:nvGrpSpPr>
          <p:grpSpPr bwMode="auto">
            <a:xfrm>
              <a:off x="9980052" y="8687683"/>
              <a:ext cx="4198409" cy="1385737"/>
              <a:chOff x="546" y="2289"/>
              <a:chExt cx="708" cy="452"/>
            </a:xfrm>
          </p:grpSpPr>
          <p:grpSp>
            <p:nvGrpSpPr>
              <p:cNvPr id="153" name="Group 404"/>
              <p:cNvGrpSpPr/>
              <p:nvPr/>
            </p:nvGrpSpPr>
            <p:grpSpPr bwMode="auto">
              <a:xfrm>
                <a:off x="1071" y="2289"/>
                <a:ext cx="76" cy="358"/>
                <a:chOff x="1071" y="2289"/>
                <a:chExt cx="76" cy="358"/>
              </a:xfrm>
            </p:grpSpPr>
            <p:sp>
              <p:nvSpPr>
                <p:cNvPr id="253" name="Freeform 405"/>
                <p:cNvSpPr/>
                <p:nvPr/>
              </p:nvSpPr>
              <p:spPr bwMode="auto">
                <a:xfrm>
                  <a:off x="1071" y="2289"/>
                  <a:ext cx="27" cy="358"/>
                </a:xfrm>
                <a:custGeom>
                  <a:avLst/>
                  <a:gdLst>
                    <a:gd name="T0" fmla="*/ 42 w 161"/>
                    <a:gd name="T1" fmla="*/ 0 h 1791"/>
                    <a:gd name="T2" fmla="*/ 42 w 161"/>
                    <a:gd name="T3" fmla="*/ 284 h 1791"/>
                    <a:gd name="T4" fmla="*/ 29 w 161"/>
                    <a:gd name="T5" fmla="*/ 284 h 1791"/>
                    <a:gd name="T6" fmla="*/ 29 w 161"/>
                    <a:gd name="T7" fmla="*/ 569 h 1791"/>
                    <a:gd name="T8" fmla="*/ 17 w 161"/>
                    <a:gd name="T9" fmla="*/ 569 h 1791"/>
                    <a:gd name="T10" fmla="*/ 17 w 161"/>
                    <a:gd name="T11" fmla="*/ 836 h 1791"/>
                    <a:gd name="T12" fmla="*/ 8 w 161"/>
                    <a:gd name="T13" fmla="*/ 836 h 1791"/>
                    <a:gd name="T14" fmla="*/ 8 w 161"/>
                    <a:gd name="T15" fmla="*/ 1195 h 1791"/>
                    <a:gd name="T16" fmla="*/ 0 w 161"/>
                    <a:gd name="T17" fmla="*/ 1195 h 1791"/>
                    <a:gd name="T18" fmla="*/ 0 w 161"/>
                    <a:gd name="T19" fmla="*/ 1791 h 1791"/>
                    <a:gd name="T20" fmla="*/ 88 w 161"/>
                    <a:gd name="T21" fmla="*/ 1791 h 1791"/>
                    <a:gd name="T22" fmla="*/ 161 w 161"/>
                    <a:gd name="T23" fmla="*/ 1190 h 1791"/>
                    <a:gd name="T24" fmla="*/ 161 w 161"/>
                    <a:gd name="T25" fmla="*/ 835 h 1791"/>
                    <a:gd name="T26" fmla="*/ 153 w 161"/>
                    <a:gd name="T27" fmla="*/ 835 h 1791"/>
                    <a:gd name="T28" fmla="*/ 153 w 161"/>
                    <a:gd name="T29" fmla="*/ 569 h 1791"/>
                    <a:gd name="T30" fmla="*/ 143 w 161"/>
                    <a:gd name="T31" fmla="*/ 569 h 1791"/>
                    <a:gd name="T32" fmla="*/ 143 w 161"/>
                    <a:gd name="T33" fmla="*/ 284 h 1791"/>
                    <a:gd name="T34" fmla="*/ 130 w 161"/>
                    <a:gd name="T35" fmla="*/ 284 h 1791"/>
                    <a:gd name="T36" fmla="*/ 130 w 161"/>
                    <a:gd name="T37" fmla="*/ 0 h 1791"/>
                    <a:gd name="T38" fmla="*/ 42 w 161"/>
                    <a:gd name="T39" fmla="*/ 0 h 17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61" h="1791">
                      <a:moveTo>
                        <a:pt x="42" y="0"/>
                      </a:moveTo>
                      <a:lnTo>
                        <a:pt x="42" y="284"/>
                      </a:lnTo>
                      <a:lnTo>
                        <a:pt x="29" y="284"/>
                      </a:lnTo>
                      <a:lnTo>
                        <a:pt x="29" y="569"/>
                      </a:lnTo>
                      <a:lnTo>
                        <a:pt x="17" y="569"/>
                      </a:lnTo>
                      <a:lnTo>
                        <a:pt x="17" y="836"/>
                      </a:lnTo>
                      <a:lnTo>
                        <a:pt x="8" y="836"/>
                      </a:lnTo>
                      <a:lnTo>
                        <a:pt x="8" y="1195"/>
                      </a:lnTo>
                      <a:lnTo>
                        <a:pt x="0" y="1195"/>
                      </a:lnTo>
                      <a:lnTo>
                        <a:pt x="0" y="1791"/>
                      </a:lnTo>
                      <a:lnTo>
                        <a:pt x="88" y="1791"/>
                      </a:lnTo>
                      <a:lnTo>
                        <a:pt x="161" y="1190"/>
                      </a:lnTo>
                      <a:lnTo>
                        <a:pt x="161" y="835"/>
                      </a:lnTo>
                      <a:lnTo>
                        <a:pt x="153" y="835"/>
                      </a:lnTo>
                      <a:lnTo>
                        <a:pt x="153" y="569"/>
                      </a:lnTo>
                      <a:lnTo>
                        <a:pt x="143" y="569"/>
                      </a:lnTo>
                      <a:lnTo>
                        <a:pt x="143" y="284"/>
                      </a:lnTo>
                      <a:lnTo>
                        <a:pt x="130" y="284"/>
                      </a:lnTo>
                      <a:lnTo>
                        <a:pt x="130" y="0"/>
                      </a:lnTo>
                      <a:lnTo>
                        <a:pt x="4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w="3175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 sz="3655"/>
                </a:p>
              </p:txBody>
            </p:sp>
            <p:sp>
              <p:nvSpPr>
                <p:cNvPr id="254" name="Freeform 406"/>
                <p:cNvSpPr/>
                <p:nvPr/>
              </p:nvSpPr>
              <p:spPr bwMode="auto">
                <a:xfrm>
                  <a:off x="1119" y="2289"/>
                  <a:ext cx="28" cy="358"/>
                </a:xfrm>
                <a:custGeom>
                  <a:avLst/>
                  <a:gdLst>
                    <a:gd name="T0" fmla="*/ 41 w 169"/>
                    <a:gd name="T1" fmla="*/ 0 h 1791"/>
                    <a:gd name="T2" fmla="*/ 41 w 169"/>
                    <a:gd name="T3" fmla="*/ 284 h 1791"/>
                    <a:gd name="T4" fmla="*/ 28 w 169"/>
                    <a:gd name="T5" fmla="*/ 284 h 1791"/>
                    <a:gd name="T6" fmla="*/ 28 w 169"/>
                    <a:gd name="T7" fmla="*/ 569 h 1791"/>
                    <a:gd name="T8" fmla="*/ 16 w 169"/>
                    <a:gd name="T9" fmla="*/ 569 h 1791"/>
                    <a:gd name="T10" fmla="*/ 16 w 169"/>
                    <a:gd name="T11" fmla="*/ 836 h 1791"/>
                    <a:gd name="T12" fmla="*/ 8 w 169"/>
                    <a:gd name="T13" fmla="*/ 836 h 1791"/>
                    <a:gd name="T14" fmla="*/ 8 w 169"/>
                    <a:gd name="T15" fmla="*/ 1195 h 1791"/>
                    <a:gd name="T16" fmla="*/ 0 w 169"/>
                    <a:gd name="T17" fmla="*/ 1195 h 1791"/>
                    <a:gd name="T18" fmla="*/ 0 w 169"/>
                    <a:gd name="T19" fmla="*/ 1791 h 1791"/>
                    <a:gd name="T20" fmla="*/ 169 w 169"/>
                    <a:gd name="T21" fmla="*/ 1791 h 1791"/>
                    <a:gd name="T22" fmla="*/ 169 w 169"/>
                    <a:gd name="T23" fmla="*/ 1193 h 1791"/>
                    <a:gd name="T24" fmla="*/ 161 w 169"/>
                    <a:gd name="T25" fmla="*/ 1193 h 1791"/>
                    <a:gd name="T26" fmla="*/ 160 w 169"/>
                    <a:gd name="T27" fmla="*/ 835 h 1791"/>
                    <a:gd name="T28" fmla="*/ 151 w 169"/>
                    <a:gd name="T29" fmla="*/ 835 h 1791"/>
                    <a:gd name="T30" fmla="*/ 151 w 169"/>
                    <a:gd name="T31" fmla="*/ 569 h 1791"/>
                    <a:gd name="T32" fmla="*/ 140 w 169"/>
                    <a:gd name="T33" fmla="*/ 569 h 1791"/>
                    <a:gd name="T34" fmla="*/ 140 w 169"/>
                    <a:gd name="T35" fmla="*/ 284 h 1791"/>
                    <a:gd name="T36" fmla="*/ 128 w 169"/>
                    <a:gd name="T37" fmla="*/ 284 h 1791"/>
                    <a:gd name="T38" fmla="*/ 128 w 169"/>
                    <a:gd name="T39" fmla="*/ 0 h 1791"/>
                    <a:gd name="T40" fmla="*/ 41 w 169"/>
                    <a:gd name="T41" fmla="*/ 0 h 17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69" h="1791">
                      <a:moveTo>
                        <a:pt x="41" y="0"/>
                      </a:moveTo>
                      <a:lnTo>
                        <a:pt x="41" y="284"/>
                      </a:lnTo>
                      <a:lnTo>
                        <a:pt x="28" y="284"/>
                      </a:lnTo>
                      <a:lnTo>
                        <a:pt x="28" y="569"/>
                      </a:lnTo>
                      <a:lnTo>
                        <a:pt x="16" y="569"/>
                      </a:lnTo>
                      <a:lnTo>
                        <a:pt x="16" y="836"/>
                      </a:lnTo>
                      <a:lnTo>
                        <a:pt x="8" y="836"/>
                      </a:lnTo>
                      <a:lnTo>
                        <a:pt x="8" y="1195"/>
                      </a:lnTo>
                      <a:lnTo>
                        <a:pt x="0" y="1195"/>
                      </a:lnTo>
                      <a:lnTo>
                        <a:pt x="0" y="1791"/>
                      </a:lnTo>
                      <a:lnTo>
                        <a:pt x="169" y="1791"/>
                      </a:lnTo>
                      <a:lnTo>
                        <a:pt x="169" y="1193"/>
                      </a:lnTo>
                      <a:lnTo>
                        <a:pt x="161" y="1193"/>
                      </a:lnTo>
                      <a:lnTo>
                        <a:pt x="160" y="835"/>
                      </a:lnTo>
                      <a:lnTo>
                        <a:pt x="151" y="835"/>
                      </a:lnTo>
                      <a:lnTo>
                        <a:pt x="151" y="569"/>
                      </a:lnTo>
                      <a:lnTo>
                        <a:pt x="140" y="569"/>
                      </a:lnTo>
                      <a:lnTo>
                        <a:pt x="140" y="284"/>
                      </a:lnTo>
                      <a:lnTo>
                        <a:pt x="128" y="284"/>
                      </a:lnTo>
                      <a:lnTo>
                        <a:pt x="128" y="0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w="3175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 sz="3655"/>
                </a:p>
              </p:txBody>
            </p:sp>
          </p:grpSp>
          <p:grpSp>
            <p:nvGrpSpPr>
              <p:cNvPr id="154" name="Group 407"/>
              <p:cNvGrpSpPr/>
              <p:nvPr/>
            </p:nvGrpSpPr>
            <p:grpSpPr bwMode="auto">
              <a:xfrm>
                <a:off x="1130" y="2574"/>
                <a:ext cx="124" cy="153"/>
                <a:chOff x="1130" y="2574"/>
                <a:chExt cx="124" cy="153"/>
              </a:xfrm>
            </p:grpSpPr>
            <p:grpSp>
              <p:nvGrpSpPr>
                <p:cNvPr id="242" name="Group 408"/>
                <p:cNvGrpSpPr/>
                <p:nvPr/>
              </p:nvGrpSpPr>
              <p:grpSpPr bwMode="auto">
                <a:xfrm>
                  <a:off x="1130" y="2574"/>
                  <a:ext cx="124" cy="153"/>
                  <a:chOff x="1130" y="2574"/>
                  <a:chExt cx="124" cy="153"/>
                </a:xfrm>
              </p:grpSpPr>
              <p:grpSp>
                <p:nvGrpSpPr>
                  <p:cNvPr id="247" name="Group 409"/>
                  <p:cNvGrpSpPr/>
                  <p:nvPr/>
                </p:nvGrpSpPr>
                <p:grpSpPr bwMode="auto">
                  <a:xfrm>
                    <a:off x="1161" y="2574"/>
                    <a:ext cx="35" cy="74"/>
                    <a:chOff x="1161" y="2574"/>
                    <a:chExt cx="35" cy="74"/>
                  </a:xfrm>
                </p:grpSpPr>
                <p:sp>
                  <p:nvSpPr>
                    <p:cNvPr id="251" name="Rectangle 41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68" y="2574"/>
                      <a:ext cx="21" cy="16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52" name="Rectangle 41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61" y="2586"/>
                      <a:ext cx="35" cy="62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248" name="Group 412"/>
                  <p:cNvGrpSpPr/>
                  <p:nvPr/>
                </p:nvGrpSpPr>
                <p:grpSpPr bwMode="auto">
                  <a:xfrm>
                    <a:off x="1130" y="2644"/>
                    <a:ext cx="124" cy="83"/>
                    <a:chOff x="1130" y="2644"/>
                    <a:chExt cx="124" cy="83"/>
                  </a:xfrm>
                </p:grpSpPr>
                <p:sp>
                  <p:nvSpPr>
                    <p:cNvPr id="249" name="Rectangle 4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34" y="2653"/>
                      <a:ext cx="116" cy="74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50" name="Rectangle 41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30" y="2644"/>
                      <a:ext cx="124" cy="12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  <p:grpSp>
              <p:nvGrpSpPr>
                <p:cNvPr id="243" name="Group 415"/>
                <p:cNvGrpSpPr/>
                <p:nvPr/>
              </p:nvGrpSpPr>
              <p:grpSpPr bwMode="auto">
                <a:xfrm>
                  <a:off x="1143" y="2664"/>
                  <a:ext cx="94" cy="50"/>
                  <a:chOff x="1143" y="2664"/>
                  <a:chExt cx="94" cy="50"/>
                </a:xfrm>
              </p:grpSpPr>
              <p:sp>
                <p:nvSpPr>
                  <p:cNvPr id="244" name="Rectangle 416"/>
                  <p:cNvSpPr>
                    <a:spLocks noChangeArrowheads="1"/>
                  </p:cNvSpPr>
                  <p:nvPr/>
                </p:nvSpPr>
                <p:spPr bwMode="auto">
                  <a:xfrm>
                    <a:off x="1143" y="2664"/>
                    <a:ext cx="23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245" name="Rectangle 417"/>
                  <p:cNvSpPr>
                    <a:spLocks noChangeArrowheads="1"/>
                  </p:cNvSpPr>
                  <p:nvPr/>
                </p:nvSpPr>
                <p:spPr bwMode="auto">
                  <a:xfrm>
                    <a:off x="1214" y="2664"/>
                    <a:ext cx="23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246" name="Rectangle 418"/>
                  <p:cNvSpPr>
                    <a:spLocks noChangeArrowheads="1"/>
                  </p:cNvSpPr>
                  <p:nvPr/>
                </p:nvSpPr>
                <p:spPr bwMode="auto">
                  <a:xfrm>
                    <a:off x="1179" y="2664"/>
                    <a:ext cx="23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</p:grpSp>
          <p:grpSp>
            <p:nvGrpSpPr>
              <p:cNvPr id="155" name="Group 419"/>
              <p:cNvGrpSpPr/>
              <p:nvPr/>
            </p:nvGrpSpPr>
            <p:grpSpPr bwMode="auto">
              <a:xfrm>
                <a:off x="546" y="2618"/>
                <a:ext cx="124" cy="109"/>
                <a:chOff x="546" y="2618"/>
                <a:chExt cx="124" cy="109"/>
              </a:xfrm>
            </p:grpSpPr>
            <p:grpSp>
              <p:nvGrpSpPr>
                <p:cNvPr id="233" name="Group 420"/>
                <p:cNvGrpSpPr/>
                <p:nvPr/>
              </p:nvGrpSpPr>
              <p:grpSpPr bwMode="auto">
                <a:xfrm>
                  <a:off x="546" y="2618"/>
                  <a:ext cx="124" cy="109"/>
                  <a:chOff x="546" y="2618"/>
                  <a:chExt cx="124" cy="109"/>
                </a:xfrm>
              </p:grpSpPr>
              <p:sp>
                <p:nvSpPr>
                  <p:cNvPr id="238" name="Rectangle 421"/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618"/>
                    <a:ext cx="38" cy="30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grpSp>
                <p:nvGrpSpPr>
                  <p:cNvPr id="239" name="Group 422"/>
                  <p:cNvGrpSpPr/>
                  <p:nvPr/>
                </p:nvGrpSpPr>
                <p:grpSpPr bwMode="auto">
                  <a:xfrm>
                    <a:off x="546" y="2644"/>
                    <a:ext cx="124" cy="83"/>
                    <a:chOff x="546" y="2644"/>
                    <a:chExt cx="124" cy="83"/>
                  </a:xfrm>
                </p:grpSpPr>
                <p:sp>
                  <p:nvSpPr>
                    <p:cNvPr id="240" name="Rectangle 4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50" y="2653"/>
                      <a:ext cx="116" cy="74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41" name="Rectangle 42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6" y="2644"/>
                      <a:ext cx="124" cy="12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  <p:grpSp>
              <p:nvGrpSpPr>
                <p:cNvPr id="234" name="Group 425"/>
                <p:cNvGrpSpPr/>
                <p:nvPr/>
              </p:nvGrpSpPr>
              <p:grpSpPr bwMode="auto">
                <a:xfrm>
                  <a:off x="558" y="2664"/>
                  <a:ext cx="98" cy="50"/>
                  <a:chOff x="558" y="2664"/>
                  <a:chExt cx="98" cy="50"/>
                </a:xfrm>
              </p:grpSpPr>
              <p:sp>
                <p:nvSpPr>
                  <p:cNvPr id="235" name="Rectangle 426"/>
                  <p:cNvSpPr>
                    <a:spLocks noChangeArrowheads="1"/>
                  </p:cNvSpPr>
                  <p:nvPr/>
                </p:nvSpPr>
                <p:spPr bwMode="auto">
                  <a:xfrm>
                    <a:off x="629" y="2664"/>
                    <a:ext cx="27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236" name="Rectangle 427"/>
                  <p:cNvSpPr>
                    <a:spLocks noChangeArrowheads="1"/>
                  </p:cNvSpPr>
                  <p:nvPr/>
                </p:nvSpPr>
                <p:spPr bwMode="auto">
                  <a:xfrm>
                    <a:off x="558" y="2664"/>
                    <a:ext cx="27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237" name="Rectangle 428"/>
                  <p:cNvSpPr>
                    <a:spLocks noChangeArrowheads="1"/>
                  </p:cNvSpPr>
                  <p:nvPr/>
                </p:nvSpPr>
                <p:spPr bwMode="auto">
                  <a:xfrm>
                    <a:off x="594" y="2664"/>
                    <a:ext cx="27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</p:grpSp>
          <p:grpSp>
            <p:nvGrpSpPr>
              <p:cNvPr id="156" name="Group 429"/>
              <p:cNvGrpSpPr/>
              <p:nvPr/>
            </p:nvGrpSpPr>
            <p:grpSpPr bwMode="auto">
              <a:xfrm>
                <a:off x="654" y="2479"/>
                <a:ext cx="488" cy="262"/>
                <a:chOff x="654" y="2479"/>
                <a:chExt cx="488" cy="262"/>
              </a:xfrm>
            </p:grpSpPr>
            <p:grpSp>
              <p:nvGrpSpPr>
                <p:cNvPr id="157" name="Group 430"/>
                <p:cNvGrpSpPr/>
                <p:nvPr/>
              </p:nvGrpSpPr>
              <p:grpSpPr bwMode="auto">
                <a:xfrm>
                  <a:off x="654" y="2479"/>
                  <a:ext cx="488" cy="262"/>
                  <a:chOff x="654" y="2479"/>
                  <a:chExt cx="488" cy="262"/>
                </a:xfrm>
              </p:grpSpPr>
              <p:sp>
                <p:nvSpPr>
                  <p:cNvPr id="228" name="Rectangle 431"/>
                  <p:cNvSpPr>
                    <a:spLocks noChangeArrowheads="1"/>
                  </p:cNvSpPr>
                  <p:nvPr/>
                </p:nvSpPr>
                <p:spPr bwMode="auto">
                  <a:xfrm>
                    <a:off x="662" y="2522"/>
                    <a:ext cx="471" cy="219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229" name="Rectangle 432"/>
                  <p:cNvSpPr>
                    <a:spLocks noChangeArrowheads="1"/>
                  </p:cNvSpPr>
                  <p:nvPr/>
                </p:nvSpPr>
                <p:spPr bwMode="auto">
                  <a:xfrm>
                    <a:off x="780" y="2486"/>
                    <a:ext cx="34" cy="26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230" name="Rectangle 433"/>
                  <p:cNvSpPr>
                    <a:spLocks noChangeArrowheads="1"/>
                  </p:cNvSpPr>
                  <p:nvPr/>
                </p:nvSpPr>
                <p:spPr bwMode="auto">
                  <a:xfrm>
                    <a:off x="866" y="2479"/>
                    <a:ext cx="46" cy="36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231" name="Rectangle 434"/>
                  <p:cNvSpPr>
                    <a:spLocks noChangeArrowheads="1"/>
                  </p:cNvSpPr>
                  <p:nvPr/>
                </p:nvSpPr>
                <p:spPr bwMode="auto">
                  <a:xfrm>
                    <a:off x="654" y="2510"/>
                    <a:ext cx="488" cy="17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232" name="Rectangle 435"/>
                  <p:cNvSpPr>
                    <a:spLocks noChangeArrowheads="1"/>
                  </p:cNvSpPr>
                  <p:nvPr/>
                </p:nvSpPr>
                <p:spPr bwMode="auto">
                  <a:xfrm>
                    <a:off x="662" y="2629"/>
                    <a:ext cx="471" cy="8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  <p:grpSp>
              <p:nvGrpSpPr>
                <p:cNvPr id="158" name="Group 436"/>
                <p:cNvGrpSpPr/>
                <p:nvPr/>
              </p:nvGrpSpPr>
              <p:grpSpPr bwMode="auto">
                <a:xfrm>
                  <a:off x="670" y="2542"/>
                  <a:ext cx="449" cy="178"/>
                  <a:chOff x="670" y="2542"/>
                  <a:chExt cx="449" cy="178"/>
                </a:xfrm>
              </p:grpSpPr>
              <p:grpSp>
                <p:nvGrpSpPr>
                  <p:cNvPr id="163" name="Group 437"/>
                  <p:cNvGrpSpPr/>
                  <p:nvPr/>
                </p:nvGrpSpPr>
                <p:grpSpPr bwMode="auto">
                  <a:xfrm>
                    <a:off x="736" y="2649"/>
                    <a:ext cx="57" cy="71"/>
                    <a:chOff x="736" y="2649"/>
                    <a:chExt cx="57" cy="71"/>
                  </a:xfrm>
                </p:grpSpPr>
                <p:sp>
                  <p:nvSpPr>
                    <p:cNvPr id="224" name="Rectangle 43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39" y="2649"/>
                      <a:ext cx="51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25" name="Rectangle 43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36" y="2715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26" name="Line 44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64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27" name="Line 44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38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164" name="Group 442"/>
                  <p:cNvGrpSpPr/>
                  <p:nvPr/>
                </p:nvGrpSpPr>
                <p:grpSpPr bwMode="auto">
                  <a:xfrm>
                    <a:off x="801" y="2649"/>
                    <a:ext cx="57" cy="71"/>
                    <a:chOff x="801" y="2649"/>
                    <a:chExt cx="57" cy="71"/>
                  </a:xfrm>
                </p:grpSpPr>
                <p:sp>
                  <p:nvSpPr>
                    <p:cNvPr id="220" name="Rectangle 44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04" y="2649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21" name="Rectangle 44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01" y="2715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22" name="Line 44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29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23" name="Line 44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04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165" name="Group 447"/>
                  <p:cNvGrpSpPr/>
                  <p:nvPr/>
                </p:nvGrpSpPr>
                <p:grpSpPr bwMode="auto">
                  <a:xfrm>
                    <a:off x="1061" y="2649"/>
                    <a:ext cx="57" cy="71"/>
                    <a:chOff x="1061" y="2649"/>
                    <a:chExt cx="57" cy="71"/>
                  </a:xfrm>
                </p:grpSpPr>
                <p:sp>
                  <p:nvSpPr>
                    <p:cNvPr id="216" name="Rectangle 44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63" y="2649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17" name="Rectangle 44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61" y="2715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18" name="Line 45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89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19" name="Line 45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63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166" name="Group 452"/>
                  <p:cNvGrpSpPr/>
                  <p:nvPr/>
                </p:nvGrpSpPr>
                <p:grpSpPr bwMode="auto">
                  <a:xfrm>
                    <a:off x="670" y="2649"/>
                    <a:ext cx="58" cy="71"/>
                    <a:chOff x="670" y="2649"/>
                    <a:chExt cx="58" cy="71"/>
                  </a:xfrm>
                </p:grpSpPr>
                <p:sp>
                  <p:nvSpPr>
                    <p:cNvPr id="212" name="Rectangle 45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3" y="2649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13" name="Rectangle 45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0" y="2715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14" name="Line 45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99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15" name="Line 45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3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167" name="Group 457"/>
                  <p:cNvGrpSpPr/>
                  <p:nvPr/>
                </p:nvGrpSpPr>
                <p:grpSpPr bwMode="auto">
                  <a:xfrm>
                    <a:off x="867" y="2542"/>
                    <a:ext cx="58" cy="71"/>
                    <a:chOff x="867" y="2542"/>
                    <a:chExt cx="58" cy="71"/>
                  </a:xfrm>
                </p:grpSpPr>
                <p:sp>
                  <p:nvSpPr>
                    <p:cNvPr id="208" name="Rectangle 45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70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09" name="Rectangle 45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67" y="2608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10" name="Line 46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96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11" name="Line 46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70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168" name="Group 462"/>
                  <p:cNvGrpSpPr/>
                  <p:nvPr/>
                </p:nvGrpSpPr>
                <p:grpSpPr bwMode="auto">
                  <a:xfrm>
                    <a:off x="931" y="2649"/>
                    <a:ext cx="57" cy="71"/>
                    <a:chOff x="931" y="2649"/>
                    <a:chExt cx="57" cy="71"/>
                  </a:xfrm>
                </p:grpSpPr>
                <p:sp>
                  <p:nvSpPr>
                    <p:cNvPr id="204" name="Rectangle 46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4" y="2649"/>
                      <a:ext cx="51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05" name="Rectangle 46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1" y="2715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06" name="Line 46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59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07" name="Line 46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33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169" name="Group 467"/>
                  <p:cNvGrpSpPr/>
                  <p:nvPr/>
                </p:nvGrpSpPr>
                <p:grpSpPr bwMode="auto">
                  <a:xfrm>
                    <a:off x="996" y="2649"/>
                    <a:ext cx="57" cy="71"/>
                    <a:chOff x="996" y="2649"/>
                    <a:chExt cx="57" cy="71"/>
                  </a:xfrm>
                </p:grpSpPr>
                <p:sp>
                  <p:nvSpPr>
                    <p:cNvPr id="200" name="Rectangle 46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98" y="2649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01" name="Rectangle 46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96" y="2715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02" name="Line 47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24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03" name="Line 47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98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170" name="Group 472"/>
                  <p:cNvGrpSpPr/>
                  <p:nvPr/>
                </p:nvGrpSpPr>
                <p:grpSpPr bwMode="auto">
                  <a:xfrm>
                    <a:off x="736" y="2542"/>
                    <a:ext cx="58" cy="71"/>
                    <a:chOff x="736" y="2542"/>
                    <a:chExt cx="58" cy="71"/>
                  </a:xfrm>
                </p:grpSpPr>
                <p:sp>
                  <p:nvSpPr>
                    <p:cNvPr id="196" name="Rectangle 47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39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97" name="Rectangle 47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36" y="2608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98" name="Line 47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65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99" name="Line 47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39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171" name="Group 477"/>
                  <p:cNvGrpSpPr/>
                  <p:nvPr/>
                </p:nvGrpSpPr>
                <p:grpSpPr bwMode="auto">
                  <a:xfrm>
                    <a:off x="802" y="2542"/>
                    <a:ext cx="57" cy="71"/>
                    <a:chOff x="802" y="2542"/>
                    <a:chExt cx="57" cy="71"/>
                  </a:xfrm>
                </p:grpSpPr>
                <p:sp>
                  <p:nvSpPr>
                    <p:cNvPr id="192" name="Rectangle 47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05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93" name="Rectangle 47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02" y="2608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94" name="Line 48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30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95" name="Line 48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04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172" name="Group 482"/>
                  <p:cNvGrpSpPr/>
                  <p:nvPr/>
                </p:nvGrpSpPr>
                <p:grpSpPr bwMode="auto">
                  <a:xfrm>
                    <a:off x="1061" y="2542"/>
                    <a:ext cx="58" cy="71"/>
                    <a:chOff x="1061" y="2542"/>
                    <a:chExt cx="58" cy="71"/>
                  </a:xfrm>
                </p:grpSpPr>
                <p:sp>
                  <p:nvSpPr>
                    <p:cNvPr id="188" name="Rectangle 48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64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89" name="Rectangle 48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61" y="2608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90" name="Line 48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90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91" name="Line 48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64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173" name="Group 487"/>
                  <p:cNvGrpSpPr/>
                  <p:nvPr/>
                </p:nvGrpSpPr>
                <p:grpSpPr bwMode="auto">
                  <a:xfrm>
                    <a:off x="671" y="2542"/>
                    <a:ext cx="58" cy="71"/>
                    <a:chOff x="671" y="2542"/>
                    <a:chExt cx="58" cy="71"/>
                  </a:xfrm>
                </p:grpSpPr>
                <p:sp>
                  <p:nvSpPr>
                    <p:cNvPr id="184" name="Rectangle 4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4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85" name="Rectangle 4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1" y="2608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86" name="Line 49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99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87" name="Line 49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4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174" name="Group 492"/>
                  <p:cNvGrpSpPr/>
                  <p:nvPr/>
                </p:nvGrpSpPr>
                <p:grpSpPr bwMode="auto">
                  <a:xfrm>
                    <a:off x="931" y="2542"/>
                    <a:ext cx="58" cy="71"/>
                    <a:chOff x="931" y="2542"/>
                    <a:chExt cx="58" cy="71"/>
                  </a:xfrm>
                </p:grpSpPr>
                <p:sp>
                  <p:nvSpPr>
                    <p:cNvPr id="180" name="Rectangle 49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4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81" name="Rectangle 49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1" y="2608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82" name="Line 49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60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83" name="Line 49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34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175" name="Group 497"/>
                  <p:cNvGrpSpPr/>
                  <p:nvPr/>
                </p:nvGrpSpPr>
                <p:grpSpPr bwMode="auto">
                  <a:xfrm>
                    <a:off x="997" y="2542"/>
                    <a:ext cx="57" cy="71"/>
                    <a:chOff x="997" y="2542"/>
                    <a:chExt cx="57" cy="71"/>
                  </a:xfrm>
                </p:grpSpPr>
                <p:sp>
                  <p:nvSpPr>
                    <p:cNvPr id="176" name="Rectangle 49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99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77" name="Rectangle 49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97" y="2608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78" name="Line 50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25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79" name="Line 50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99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  <p:grpSp>
              <p:nvGrpSpPr>
                <p:cNvPr id="159" name="Group 502"/>
                <p:cNvGrpSpPr/>
                <p:nvPr/>
              </p:nvGrpSpPr>
              <p:grpSpPr bwMode="auto">
                <a:xfrm>
                  <a:off x="868" y="2643"/>
                  <a:ext cx="54" cy="97"/>
                  <a:chOff x="868" y="2643"/>
                  <a:chExt cx="54" cy="97"/>
                </a:xfrm>
              </p:grpSpPr>
              <p:sp>
                <p:nvSpPr>
                  <p:cNvPr id="160" name="Rectangle 503"/>
                  <p:cNvSpPr>
                    <a:spLocks noChangeArrowheads="1"/>
                  </p:cNvSpPr>
                  <p:nvPr/>
                </p:nvSpPr>
                <p:spPr bwMode="auto">
                  <a:xfrm>
                    <a:off x="868" y="2643"/>
                    <a:ext cx="54" cy="97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161" name="Rectangle 504"/>
                  <p:cNvSpPr>
                    <a:spLocks noChangeArrowheads="1"/>
                  </p:cNvSpPr>
                  <p:nvPr/>
                </p:nvSpPr>
                <p:spPr bwMode="auto">
                  <a:xfrm>
                    <a:off x="874" y="2653"/>
                    <a:ext cx="41" cy="81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162" name="Oval 505"/>
                  <p:cNvSpPr>
                    <a:spLocks noChangeArrowheads="1"/>
                  </p:cNvSpPr>
                  <p:nvPr/>
                </p:nvSpPr>
                <p:spPr bwMode="auto">
                  <a:xfrm>
                    <a:off x="908" y="2693"/>
                    <a:ext cx="2" cy="3"/>
                  </a:xfrm>
                  <a:prstGeom prst="ellipse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</p:grpSp>
        </p:grpSp>
        <p:grpSp>
          <p:nvGrpSpPr>
            <p:cNvPr id="11" name="Group 506"/>
            <p:cNvGrpSpPr/>
            <p:nvPr/>
          </p:nvGrpSpPr>
          <p:grpSpPr bwMode="auto">
            <a:xfrm>
              <a:off x="16697507" y="8687683"/>
              <a:ext cx="3893071" cy="1385737"/>
              <a:chOff x="546" y="2289"/>
              <a:chExt cx="708" cy="452"/>
            </a:xfrm>
          </p:grpSpPr>
          <p:grpSp>
            <p:nvGrpSpPr>
              <p:cNvPr id="51" name="Group 507"/>
              <p:cNvGrpSpPr/>
              <p:nvPr/>
            </p:nvGrpSpPr>
            <p:grpSpPr bwMode="auto">
              <a:xfrm>
                <a:off x="1071" y="2289"/>
                <a:ext cx="76" cy="358"/>
                <a:chOff x="1071" y="2289"/>
                <a:chExt cx="76" cy="358"/>
              </a:xfrm>
            </p:grpSpPr>
            <p:sp>
              <p:nvSpPr>
                <p:cNvPr id="151" name="Freeform 508"/>
                <p:cNvSpPr/>
                <p:nvPr/>
              </p:nvSpPr>
              <p:spPr bwMode="auto">
                <a:xfrm>
                  <a:off x="1071" y="2289"/>
                  <a:ext cx="27" cy="358"/>
                </a:xfrm>
                <a:custGeom>
                  <a:avLst/>
                  <a:gdLst>
                    <a:gd name="T0" fmla="*/ 42 w 161"/>
                    <a:gd name="T1" fmla="*/ 0 h 1791"/>
                    <a:gd name="T2" fmla="*/ 42 w 161"/>
                    <a:gd name="T3" fmla="*/ 284 h 1791"/>
                    <a:gd name="T4" fmla="*/ 29 w 161"/>
                    <a:gd name="T5" fmla="*/ 284 h 1791"/>
                    <a:gd name="T6" fmla="*/ 29 w 161"/>
                    <a:gd name="T7" fmla="*/ 569 h 1791"/>
                    <a:gd name="T8" fmla="*/ 17 w 161"/>
                    <a:gd name="T9" fmla="*/ 569 h 1791"/>
                    <a:gd name="T10" fmla="*/ 17 w 161"/>
                    <a:gd name="T11" fmla="*/ 836 h 1791"/>
                    <a:gd name="T12" fmla="*/ 8 w 161"/>
                    <a:gd name="T13" fmla="*/ 836 h 1791"/>
                    <a:gd name="T14" fmla="*/ 8 w 161"/>
                    <a:gd name="T15" fmla="*/ 1195 h 1791"/>
                    <a:gd name="T16" fmla="*/ 0 w 161"/>
                    <a:gd name="T17" fmla="*/ 1195 h 1791"/>
                    <a:gd name="T18" fmla="*/ 0 w 161"/>
                    <a:gd name="T19" fmla="*/ 1791 h 1791"/>
                    <a:gd name="T20" fmla="*/ 88 w 161"/>
                    <a:gd name="T21" fmla="*/ 1791 h 1791"/>
                    <a:gd name="T22" fmla="*/ 161 w 161"/>
                    <a:gd name="T23" fmla="*/ 1190 h 1791"/>
                    <a:gd name="T24" fmla="*/ 161 w 161"/>
                    <a:gd name="T25" fmla="*/ 835 h 1791"/>
                    <a:gd name="T26" fmla="*/ 153 w 161"/>
                    <a:gd name="T27" fmla="*/ 835 h 1791"/>
                    <a:gd name="T28" fmla="*/ 153 w 161"/>
                    <a:gd name="T29" fmla="*/ 569 h 1791"/>
                    <a:gd name="T30" fmla="*/ 143 w 161"/>
                    <a:gd name="T31" fmla="*/ 569 h 1791"/>
                    <a:gd name="T32" fmla="*/ 143 w 161"/>
                    <a:gd name="T33" fmla="*/ 284 h 1791"/>
                    <a:gd name="T34" fmla="*/ 130 w 161"/>
                    <a:gd name="T35" fmla="*/ 284 h 1791"/>
                    <a:gd name="T36" fmla="*/ 130 w 161"/>
                    <a:gd name="T37" fmla="*/ 0 h 1791"/>
                    <a:gd name="T38" fmla="*/ 42 w 161"/>
                    <a:gd name="T39" fmla="*/ 0 h 17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61" h="1791">
                      <a:moveTo>
                        <a:pt x="42" y="0"/>
                      </a:moveTo>
                      <a:lnTo>
                        <a:pt x="42" y="284"/>
                      </a:lnTo>
                      <a:lnTo>
                        <a:pt x="29" y="284"/>
                      </a:lnTo>
                      <a:lnTo>
                        <a:pt x="29" y="569"/>
                      </a:lnTo>
                      <a:lnTo>
                        <a:pt x="17" y="569"/>
                      </a:lnTo>
                      <a:lnTo>
                        <a:pt x="17" y="836"/>
                      </a:lnTo>
                      <a:lnTo>
                        <a:pt x="8" y="836"/>
                      </a:lnTo>
                      <a:lnTo>
                        <a:pt x="8" y="1195"/>
                      </a:lnTo>
                      <a:lnTo>
                        <a:pt x="0" y="1195"/>
                      </a:lnTo>
                      <a:lnTo>
                        <a:pt x="0" y="1791"/>
                      </a:lnTo>
                      <a:lnTo>
                        <a:pt x="88" y="1791"/>
                      </a:lnTo>
                      <a:lnTo>
                        <a:pt x="161" y="1190"/>
                      </a:lnTo>
                      <a:lnTo>
                        <a:pt x="161" y="835"/>
                      </a:lnTo>
                      <a:lnTo>
                        <a:pt x="153" y="835"/>
                      </a:lnTo>
                      <a:lnTo>
                        <a:pt x="153" y="569"/>
                      </a:lnTo>
                      <a:lnTo>
                        <a:pt x="143" y="569"/>
                      </a:lnTo>
                      <a:lnTo>
                        <a:pt x="143" y="284"/>
                      </a:lnTo>
                      <a:lnTo>
                        <a:pt x="130" y="284"/>
                      </a:lnTo>
                      <a:lnTo>
                        <a:pt x="130" y="0"/>
                      </a:lnTo>
                      <a:lnTo>
                        <a:pt x="4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w="3175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 sz="3655"/>
                </a:p>
              </p:txBody>
            </p:sp>
            <p:sp>
              <p:nvSpPr>
                <p:cNvPr id="152" name="Freeform 509"/>
                <p:cNvSpPr/>
                <p:nvPr/>
              </p:nvSpPr>
              <p:spPr bwMode="auto">
                <a:xfrm>
                  <a:off x="1119" y="2289"/>
                  <a:ext cx="28" cy="358"/>
                </a:xfrm>
                <a:custGeom>
                  <a:avLst/>
                  <a:gdLst>
                    <a:gd name="T0" fmla="*/ 41 w 169"/>
                    <a:gd name="T1" fmla="*/ 0 h 1791"/>
                    <a:gd name="T2" fmla="*/ 41 w 169"/>
                    <a:gd name="T3" fmla="*/ 284 h 1791"/>
                    <a:gd name="T4" fmla="*/ 28 w 169"/>
                    <a:gd name="T5" fmla="*/ 284 h 1791"/>
                    <a:gd name="T6" fmla="*/ 28 w 169"/>
                    <a:gd name="T7" fmla="*/ 569 h 1791"/>
                    <a:gd name="T8" fmla="*/ 16 w 169"/>
                    <a:gd name="T9" fmla="*/ 569 h 1791"/>
                    <a:gd name="T10" fmla="*/ 16 w 169"/>
                    <a:gd name="T11" fmla="*/ 836 h 1791"/>
                    <a:gd name="T12" fmla="*/ 8 w 169"/>
                    <a:gd name="T13" fmla="*/ 836 h 1791"/>
                    <a:gd name="T14" fmla="*/ 8 w 169"/>
                    <a:gd name="T15" fmla="*/ 1195 h 1791"/>
                    <a:gd name="T16" fmla="*/ 0 w 169"/>
                    <a:gd name="T17" fmla="*/ 1195 h 1791"/>
                    <a:gd name="T18" fmla="*/ 0 w 169"/>
                    <a:gd name="T19" fmla="*/ 1791 h 1791"/>
                    <a:gd name="T20" fmla="*/ 169 w 169"/>
                    <a:gd name="T21" fmla="*/ 1791 h 1791"/>
                    <a:gd name="T22" fmla="*/ 169 w 169"/>
                    <a:gd name="T23" fmla="*/ 1193 h 1791"/>
                    <a:gd name="T24" fmla="*/ 161 w 169"/>
                    <a:gd name="T25" fmla="*/ 1193 h 1791"/>
                    <a:gd name="T26" fmla="*/ 160 w 169"/>
                    <a:gd name="T27" fmla="*/ 835 h 1791"/>
                    <a:gd name="T28" fmla="*/ 151 w 169"/>
                    <a:gd name="T29" fmla="*/ 835 h 1791"/>
                    <a:gd name="T30" fmla="*/ 151 w 169"/>
                    <a:gd name="T31" fmla="*/ 569 h 1791"/>
                    <a:gd name="T32" fmla="*/ 140 w 169"/>
                    <a:gd name="T33" fmla="*/ 569 h 1791"/>
                    <a:gd name="T34" fmla="*/ 140 w 169"/>
                    <a:gd name="T35" fmla="*/ 284 h 1791"/>
                    <a:gd name="T36" fmla="*/ 128 w 169"/>
                    <a:gd name="T37" fmla="*/ 284 h 1791"/>
                    <a:gd name="T38" fmla="*/ 128 w 169"/>
                    <a:gd name="T39" fmla="*/ 0 h 1791"/>
                    <a:gd name="T40" fmla="*/ 41 w 169"/>
                    <a:gd name="T41" fmla="*/ 0 h 17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69" h="1791">
                      <a:moveTo>
                        <a:pt x="41" y="0"/>
                      </a:moveTo>
                      <a:lnTo>
                        <a:pt x="41" y="284"/>
                      </a:lnTo>
                      <a:lnTo>
                        <a:pt x="28" y="284"/>
                      </a:lnTo>
                      <a:lnTo>
                        <a:pt x="28" y="569"/>
                      </a:lnTo>
                      <a:lnTo>
                        <a:pt x="16" y="569"/>
                      </a:lnTo>
                      <a:lnTo>
                        <a:pt x="16" y="836"/>
                      </a:lnTo>
                      <a:lnTo>
                        <a:pt x="8" y="836"/>
                      </a:lnTo>
                      <a:lnTo>
                        <a:pt x="8" y="1195"/>
                      </a:lnTo>
                      <a:lnTo>
                        <a:pt x="0" y="1195"/>
                      </a:lnTo>
                      <a:lnTo>
                        <a:pt x="0" y="1791"/>
                      </a:lnTo>
                      <a:lnTo>
                        <a:pt x="169" y="1791"/>
                      </a:lnTo>
                      <a:lnTo>
                        <a:pt x="169" y="1193"/>
                      </a:lnTo>
                      <a:lnTo>
                        <a:pt x="161" y="1193"/>
                      </a:lnTo>
                      <a:lnTo>
                        <a:pt x="160" y="835"/>
                      </a:lnTo>
                      <a:lnTo>
                        <a:pt x="151" y="835"/>
                      </a:lnTo>
                      <a:lnTo>
                        <a:pt x="151" y="569"/>
                      </a:lnTo>
                      <a:lnTo>
                        <a:pt x="140" y="569"/>
                      </a:lnTo>
                      <a:lnTo>
                        <a:pt x="140" y="284"/>
                      </a:lnTo>
                      <a:lnTo>
                        <a:pt x="128" y="284"/>
                      </a:lnTo>
                      <a:lnTo>
                        <a:pt x="128" y="0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w="3175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 sz="3655"/>
                </a:p>
              </p:txBody>
            </p:sp>
          </p:grpSp>
          <p:grpSp>
            <p:nvGrpSpPr>
              <p:cNvPr id="52" name="Group 510"/>
              <p:cNvGrpSpPr/>
              <p:nvPr/>
            </p:nvGrpSpPr>
            <p:grpSpPr bwMode="auto">
              <a:xfrm>
                <a:off x="1130" y="2574"/>
                <a:ext cx="124" cy="153"/>
                <a:chOff x="1130" y="2574"/>
                <a:chExt cx="124" cy="153"/>
              </a:xfrm>
            </p:grpSpPr>
            <p:grpSp>
              <p:nvGrpSpPr>
                <p:cNvPr id="140" name="Group 511"/>
                <p:cNvGrpSpPr/>
                <p:nvPr/>
              </p:nvGrpSpPr>
              <p:grpSpPr bwMode="auto">
                <a:xfrm>
                  <a:off x="1130" y="2574"/>
                  <a:ext cx="124" cy="153"/>
                  <a:chOff x="1130" y="2574"/>
                  <a:chExt cx="124" cy="153"/>
                </a:xfrm>
              </p:grpSpPr>
              <p:grpSp>
                <p:nvGrpSpPr>
                  <p:cNvPr id="145" name="Group 512"/>
                  <p:cNvGrpSpPr/>
                  <p:nvPr/>
                </p:nvGrpSpPr>
                <p:grpSpPr bwMode="auto">
                  <a:xfrm>
                    <a:off x="1161" y="2574"/>
                    <a:ext cx="35" cy="74"/>
                    <a:chOff x="1161" y="2574"/>
                    <a:chExt cx="35" cy="74"/>
                  </a:xfrm>
                </p:grpSpPr>
                <p:sp>
                  <p:nvSpPr>
                    <p:cNvPr id="149" name="Rectangle 5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68" y="2574"/>
                      <a:ext cx="21" cy="16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50" name="Rectangle 51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61" y="2586"/>
                      <a:ext cx="35" cy="62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146" name="Group 515"/>
                  <p:cNvGrpSpPr/>
                  <p:nvPr/>
                </p:nvGrpSpPr>
                <p:grpSpPr bwMode="auto">
                  <a:xfrm>
                    <a:off x="1130" y="2644"/>
                    <a:ext cx="124" cy="83"/>
                    <a:chOff x="1130" y="2644"/>
                    <a:chExt cx="124" cy="83"/>
                  </a:xfrm>
                </p:grpSpPr>
                <p:sp>
                  <p:nvSpPr>
                    <p:cNvPr id="147" name="Rectangle 51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34" y="2653"/>
                      <a:ext cx="116" cy="74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48" name="Rectangle 51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30" y="2644"/>
                      <a:ext cx="124" cy="12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  <p:grpSp>
              <p:nvGrpSpPr>
                <p:cNvPr id="141" name="Group 518"/>
                <p:cNvGrpSpPr/>
                <p:nvPr/>
              </p:nvGrpSpPr>
              <p:grpSpPr bwMode="auto">
                <a:xfrm>
                  <a:off x="1143" y="2664"/>
                  <a:ext cx="94" cy="50"/>
                  <a:chOff x="1143" y="2664"/>
                  <a:chExt cx="94" cy="50"/>
                </a:xfrm>
              </p:grpSpPr>
              <p:sp>
                <p:nvSpPr>
                  <p:cNvPr id="142" name="Rectangle 519"/>
                  <p:cNvSpPr>
                    <a:spLocks noChangeArrowheads="1"/>
                  </p:cNvSpPr>
                  <p:nvPr/>
                </p:nvSpPr>
                <p:spPr bwMode="auto">
                  <a:xfrm>
                    <a:off x="1143" y="2664"/>
                    <a:ext cx="23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143" name="Rectangle 520"/>
                  <p:cNvSpPr>
                    <a:spLocks noChangeArrowheads="1"/>
                  </p:cNvSpPr>
                  <p:nvPr/>
                </p:nvSpPr>
                <p:spPr bwMode="auto">
                  <a:xfrm>
                    <a:off x="1214" y="2664"/>
                    <a:ext cx="23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144" name="Rectangle 521"/>
                  <p:cNvSpPr>
                    <a:spLocks noChangeArrowheads="1"/>
                  </p:cNvSpPr>
                  <p:nvPr/>
                </p:nvSpPr>
                <p:spPr bwMode="auto">
                  <a:xfrm>
                    <a:off x="1179" y="2664"/>
                    <a:ext cx="23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</p:grpSp>
          <p:grpSp>
            <p:nvGrpSpPr>
              <p:cNvPr id="53" name="Group 522"/>
              <p:cNvGrpSpPr/>
              <p:nvPr/>
            </p:nvGrpSpPr>
            <p:grpSpPr bwMode="auto">
              <a:xfrm>
                <a:off x="546" y="2618"/>
                <a:ext cx="124" cy="109"/>
                <a:chOff x="546" y="2618"/>
                <a:chExt cx="124" cy="109"/>
              </a:xfrm>
            </p:grpSpPr>
            <p:grpSp>
              <p:nvGrpSpPr>
                <p:cNvPr id="131" name="Group 523"/>
                <p:cNvGrpSpPr/>
                <p:nvPr/>
              </p:nvGrpSpPr>
              <p:grpSpPr bwMode="auto">
                <a:xfrm>
                  <a:off x="546" y="2618"/>
                  <a:ext cx="124" cy="109"/>
                  <a:chOff x="546" y="2618"/>
                  <a:chExt cx="124" cy="109"/>
                </a:xfrm>
              </p:grpSpPr>
              <p:sp>
                <p:nvSpPr>
                  <p:cNvPr id="136" name="Rectangle 524"/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618"/>
                    <a:ext cx="38" cy="30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grpSp>
                <p:nvGrpSpPr>
                  <p:cNvPr id="137" name="Group 525"/>
                  <p:cNvGrpSpPr/>
                  <p:nvPr/>
                </p:nvGrpSpPr>
                <p:grpSpPr bwMode="auto">
                  <a:xfrm>
                    <a:off x="546" y="2644"/>
                    <a:ext cx="124" cy="83"/>
                    <a:chOff x="546" y="2644"/>
                    <a:chExt cx="124" cy="83"/>
                  </a:xfrm>
                </p:grpSpPr>
                <p:sp>
                  <p:nvSpPr>
                    <p:cNvPr id="138" name="Rectangle 52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50" y="2653"/>
                      <a:ext cx="116" cy="74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39" name="Rectangle 52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6" y="2644"/>
                      <a:ext cx="124" cy="12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  <p:grpSp>
              <p:nvGrpSpPr>
                <p:cNvPr id="132" name="Group 528"/>
                <p:cNvGrpSpPr/>
                <p:nvPr/>
              </p:nvGrpSpPr>
              <p:grpSpPr bwMode="auto">
                <a:xfrm>
                  <a:off x="558" y="2664"/>
                  <a:ext cx="98" cy="50"/>
                  <a:chOff x="558" y="2664"/>
                  <a:chExt cx="98" cy="50"/>
                </a:xfrm>
              </p:grpSpPr>
              <p:sp>
                <p:nvSpPr>
                  <p:cNvPr id="133" name="Rectangle 529"/>
                  <p:cNvSpPr>
                    <a:spLocks noChangeArrowheads="1"/>
                  </p:cNvSpPr>
                  <p:nvPr/>
                </p:nvSpPr>
                <p:spPr bwMode="auto">
                  <a:xfrm>
                    <a:off x="629" y="2664"/>
                    <a:ext cx="27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134" name="Rectangle 530"/>
                  <p:cNvSpPr>
                    <a:spLocks noChangeArrowheads="1"/>
                  </p:cNvSpPr>
                  <p:nvPr/>
                </p:nvSpPr>
                <p:spPr bwMode="auto">
                  <a:xfrm>
                    <a:off x="558" y="2664"/>
                    <a:ext cx="27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135" name="Rectangle 531"/>
                  <p:cNvSpPr>
                    <a:spLocks noChangeArrowheads="1"/>
                  </p:cNvSpPr>
                  <p:nvPr/>
                </p:nvSpPr>
                <p:spPr bwMode="auto">
                  <a:xfrm>
                    <a:off x="594" y="2664"/>
                    <a:ext cx="27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</p:grpSp>
          <p:grpSp>
            <p:nvGrpSpPr>
              <p:cNvPr id="54" name="Group 532"/>
              <p:cNvGrpSpPr/>
              <p:nvPr/>
            </p:nvGrpSpPr>
            <p:grpSpPr bwMode="auto">
              <a:xfrm>
                <a:off x="654" y="2479"/>
                <a:ext cx="488" cy="262"/>
                <a:chOff x="654" y="2479"/>
                <a:chExt cx="488" cy="262"/>
              </a:xfrm>
            </p:grpSpPr>
            <p:grpSp>
              <p:nvGrpSpPr>
                <p:cNvPr id="55" name="Group 533"/>
                <p:cNvGrpSpPr/>
                <p:nvPr/>
              </p:nvGrpSpPr>
              <p:grpSpPr bwMode="auto">
                <a:xfrm>
                  <a:off x="654" y="2479"/>
                  <a:ext cx="488" cy="262"/>
                  <a:chOff x="654" y="2479"/>
                  <a:chExt cx="488" cy="262"/>
                </a:xfrm>
              </p:grpSpPr>
              <p:sp>
                <p:nvSpPr>
                  <p:cNvPr id="126" name="Rectangle 534"/>
                  <p:cNvSpPr>
                    <a:spLocks noChangeArrowheads="1"/>
                  </p:cNvSpPr>
                  <p:nvPr/>
                </p:nvSpPr>
                <p:spPr bwMode="auto">
                  <a:xfrm>
                    <a:off x="662" y="2522"/>
                    <a:ext cx="471" cy="219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127" name="Rectangle 535"/>
                  <p:cNvSpPr>
                    <a:spLocks noChangeArrowheads="1"/>
                  </p:cNvSpPr>
                  <p:nvPr/>
                </p:nvSpPr>
                <p:spPr bwMode="auto">
                  <a:xfrm>
                    <a:off x="780" y="2486"/>
                    <a:ext cx="34" cy="26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128" name="Rectangle 536"/>
                  <p:cNvSpPr>
                    <a:spLocks noChangeArrowheads="1"/>
                  </p:cNvSpPr>
                  <p:nvPr/>
                </p:nvSpPr>
                <p:spPr bwMode="auto">
                  <a:xfrm>
                    <a:off x="866" y="2479"/>
                    <a:ext cx="46" cy="36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129" name="Rectangle 537"/>
                  <p:cNvSpPr>
                    <a:spLocks noChangeArrowheads="1"/>
                  </p:cNvSpPr>
                  <p:nvPr/>
                </p:nvSpPr>
                <p:spPr bwMode="auto">
                  <a:xfrm>
                    <a:off x="654" y="2510"/>
                    <a:ext cx="488" cy="17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130" name="Rectangle 538"/>
                  <p:cNvSpPr>
                    <a:spLocks noChangeArrowheads="1"/>
                  </p:cNvSpPr>
                  <p:nvPr/>
                </p:nvSpPr>
                <p:spPr bwMode="auto">
                  <a:xfrm>
                    <a:off x="662" y="2629"/>
                    <a:ext cx="471" cy="8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  <p:grpSp>
              <p:nvGrpSpPr>
                <p:cNvPr id="56" name="Group 539"/>
                <p:cNvGrpSpPr/>
                <p:nvPr/>
              </p:nvGrpSpPr>
              <p:grpSpPr bwMode="auto">
                <a:xfrm>
                  <a:off x="670" y="2542"/>
                  <a:ext cx="449" cy="178"/>
                  <a:chOff x="670" y="2542"/>
                  <a:chExt cx="449" cy="178"/>
                </a:xfrm>
              </p:grpSpPr>
              <p:grpSp>
                <p:nvGrpSpPr>
                  <p:cNvPr id="61" name="Group 540"/>
                  <p:cNvGrpSpPr/>
                  <p:nvPr/>
                </p:nvGrpSpPr>
                <p:grpSpPr bwMode="auto">
                  <a:xfrm>
                    <a:off x="736" y="2649"/>
                    <a:ext cx="57" cy="71"/>
                    <a:chOff x="736" y="2649"/>
                    <a:chExt cx="57" cy="71"/>
                  </a:xfrm>
                </p:grpSpPr>
                <p:sp>
                  <p:nvSpPr>
                    <p:cNvPr id="122" name="Rectangle 54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39" y="2649"/>
                      <a:ext cx="51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23" name="Rectangle 54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36" y="2715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24" name="Line 54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64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25" name="Line 54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38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62" name="Group 545"/>
                  <p:cNvGrpSpPr/>
                  <p:nvPr/>
                </p:nvGrpSpPr>
                <p:grpSpPr bwMode="auto">
                  <a:xfrm>
                    <a:off x="801" y="2649"/>
                    <a:ext cx="57" cy="71"/>
                    <a:chOff x="801" y="2649"/>
                    <a:chExt cx="57" cy="71"/>
                  </a:xfrm>
                </p:grpSpPr>
                <p:sp>
                  <p:nvSpPr>
                    <p:cNvPr id="118" name="Rectangle 54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04" y="2649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19" name="Rectangle 54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01" y="2715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20" name="Line 54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29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21" name="Line 54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04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63" name="Group 550"/>
                  <p:cNvGrpSpPr/>
                  <p:nvPr/>
                </p:nvGrpSpPr>
                <p:grpSpPr bwMode="auto">
                  <a:xfrm>
                    <a:off x="1061" y="2649"/>
                    <a:ext cx="57" cy="71"/>
                    <a:chOff x="1061" y="2649"/>
                    <a:chExt cx="57" cy="71"/>
                  </a:xfrm>
                </p:grpSpPr>
                <p:sp>
                  <p:nvSpPr>
                    <p:cNvPr id="114" name="Rectangle 55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63" y="2649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15" name="Rectangle 55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61" y="2715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16" name="Line 55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89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17" name="Line 55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63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64" name="Group 555"/>
                  <p:cNvGrpSpPr/>
                  <p:nvPr/>
                </p:nvGrpSpPr>
                <p:grpSpPr bwMode="auto">
                  <a:xfrm>
                    <a:off x="670" y="2649"/>
                    <a:ext cx="58" cy="71"/>
                    <a:chOff x="670" y="2649"/>
                    <a:chExt cx="58" cy="71"/>
                  </a:xfrm>
                </p:grpSpPr>
                <p:sp>
                  <p:nvSpPr>
                    <p:cNvPr id="110" name="Rectangle 55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3" y="2649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11" name="Rectangle 55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0" y="2715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12" name="Line 55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99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13" name="Line 55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3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65" name="Group 560"/>
                  <p:cNvGrpSpPr/>
                  <p:nvPr/>
                </p:nvGrpSpPr>
                <p:grpSpPr bwMode="auto">
                  <a:xfrm>
                    <a:off x="867" y="2542"/>
                    <a:ext cx="58" cy="71"/>
                    <a:chOff x="867" y="2542"/>
                    <a:chExt cx="58" cy="71"/>
                  </a:xfrm>
                </p:grpSpPr>
                <p:sp>
                  <p:nvSpPr>
                    <p:cNvPr id="106" name="Rectangle 56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70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07" name="Rectangle 56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67" y="2608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08" name="Line 56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96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09" name="Line 56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70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66" name="Group 565"/>
                  <p:cNvGrpSpPr/>
                  <p:nvPr/>
                </p:nvGrpSpPr>
                <p:grpSpPr bwMode="auto">
                  <a:xfrm>
                    <a:off x="931" y="2649"/>
                    <a:ext cx="57" cy="71"/>
                    <a:chOff x="931" y="2649"/>
                    <a:chExt cx="57" cy="71"/>
                  </a:xfrm>
                </p:grpSpPr>
                <p:sp>
                  <p:nvSpPr>
                    <p:cNvPr id="102" name="Rectangle 56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4" y="2649"/>
                      <a:ext cx="51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03" name="Rectangle 56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1" y="2715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04" name="Line 56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59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05" name="Line 56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33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67" name="Group 570"/>
                  <p:cNvGrpSpPr/>
                  <p:nvPr/>
                </p:nvGrpSpPr>
                <p:grpSpPr bwMode="auto">
                  <a:xfrm>
                    <a:off x="996" y="2649"/>
                    <a:ext cx="57" cy="71"/>
                    <a:chOff x="996" y="2649"/>
                    <a:chExt cx="57" cy="71"/>
                  </a:xfrm>
                </p:grpSpPr>
                <p:sp>
                  <p:nvSpPr>
                    <p:cNvPr id="98" name="Rectangle 57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98" y="2649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99" name="Rectangle 57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96" y="2715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00" name="Line 57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24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01" name="Line 57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98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68" name="Group 575"/>
                  <p:cNvGrpSpPr/>
                  <p:nvPr/>
                </p:nvGrpSpPr>
                <p:grpSpPr bwMode="auto">
                  <a:xfrm>
                    <a:off x="736" y="2542"/>
                    <a:ext cx="58" cy="71"/>
                    <a:chOff x="736" y="2542"/>
                    <a:chExt cx="58" cy="71"/>
                  </a:xfrm>
                </p:grpSpPr>
                <p:sp>
                  <p:nvSpPr>
                    <p:cNvPr id="94" name="Rectangle 57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39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95" name="Rectangle 57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36" y="2608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96" name="Line 57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65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97" name="Line 57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39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69" name="Group 580"/>
                  <p:cNvGrpSpPr/>
                  <p:nvPr/>
                </p:nvGrpSpPr>
                <p:grpSpPr bwMode="auto">
                  <a:xfrm>
                    <a:off x="802" y="2542"/>
                    <a:ext cx="57" cy="71"/>
                    <a:chOff x="802" y="2542"/>
                    <a:chExt cx="57" cy="71"/>
                  </a:xfrm>
                </p:grpSpPr>
                <p:sp>
                  <p:nvSpPr>
                    <p:cNvPr id="90" name="Rectangle 58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05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91" name="Rectangle 58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02" y="2608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92" name="Line 58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30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93" name="Line 58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04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70" name="Group 585"/>
                  <p:cNvGrpSpPr/>
                  <p:nvPr/>
                </p:nvGrpSpPr>
                <p:grpSpPr bwMode="auto">
                  <a:xfrm>
                    <a:off x="1061" y="2542"/>
                    <a:ext cx="58" cy="71"/>
                    <a:chOff x="1061" y="2542"/>
                    <a:chExt cx="58" cy="71"/>
                  </a:xfrm>
                </p:grpSpPr>
                <p:sp>
                  <p:nvSpPr>
                    <p:cNvPr id="86" name="Rectangle 58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64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87" name="Rectangle 58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61" y="2608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88" name="Line 58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90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89" name="Line 58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64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71" name="Group 590"/>
                  <p:cNvGrpSpPr/>
                  <p:nvPr/>
                </p:nvGrpSpPr>
                <p:grpSpPr bwMode="auto">
                  <a:xfrm>
                    <a:off x="671" y="2542"/>
                    <a:ext cx="58" cy="71"/>
                    <a:chOff x="671" y="2542"/>
                    <a:chExt cx="58" cy="71"/>
                  </a:xfrm>
                </p:grpSpPr>
                <p:sp>
                  <p:nvSpPr>
                    <p:cNvPr id="82" name="Rectangle 59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4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83" name="Rectangle 59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1" y="2608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84" name="Line 59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99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85" name="Line 59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4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72" name="Group 595"/>
                  <p:cNvGrpSpPr/>
                  <p:nvPr/>
                </p:nvGrpSpPr>
                <p:grpSpPr bwMode="auto">
                  <a:xfrm>
                    <a:off x="931" y="2542"/>
                    <a:ext cx="58" cy="71"/>
                    <a:chOff x="931" y="2542"/>
                    <a:chExt cx="58" cy="71"/>
                  </a:xfrm>
                </p:grpSpPr>
                <p:sp>
                  <p:nvSpPr>
                    <p:cNvPr id="78" name="Rectangle 59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4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79" name="Rectangle 59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1" y="2608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80" name="Line 59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60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81" name="Line 59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34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73" name="Group 600"/>
                  <p:cNvGrpSpPr/>
                  <p:nvPr/>
                </p:nvGrpSpPr>
                <p:grpSpPr bwMode="auto">
                  <a:xfrm>
                    <a:off x="997" y="2542"/>
                    <a:ext cx="57" cy="71"/>
                    <a:chOff x="997" y="2542"/>
                    <a:chExt cx="57" cy="71"/>
                  </a:xfrm>
                </p:grpSpPr>
                <p:sp>
                  <p:nvSpPr>
                    <p:cNvPr id="74" name="Rectangle 60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99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75" name="Rectangle 60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97" y="2608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76" name="Line 60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25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77" name="Line 60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99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  <p:grpSp>
              <p:nvGrpSpPr>
                <p:cNvPr id="57" name="Group 605"/>
                <p:cNvGrpSpPr/>
                <p:nvPr/>
              </p:nvGrpSpPr>
              <p:grpSpPr bwMode="auto">
                <a:xfrm>
                  <a:off x="868" y="2643"/>
                  <a:ext cx="54" cy="97"/>
                  <a:chOff x="868" y="2643"/>
                  <a:chExt cx="54" cy="97"/>
                </a:xfrm>
              </p:grpSpPr>
              <p:sp>
                <p:nvSpPr>
                  <p:cNvPr id="58" name="Rectangle 606"/>
                  <p:cNvSpPr>
                    <a:spLocks noChangeArrowheads="1"/>
                  </p:cNvSpPr>
                  <p:nvPr/>
                </p:nvSpPr>
                <p:spPr bwMode="auto">
                  <a:xfrm>
                    <a:off x="868" y="2643"/>
                    <a:ext cx="54" cy="97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59" name="Rectangle 607"/>
                  <p:cNvSpPr>
                    <a:spLocks noChangeArrowheads="1"/>
                  </p:cNvSpPr>
                  <p:nvPr/>
                </p:nvSpPr>
                <p:spPr bwMode="auto">
                  <a:xfrm>
                    <a:off x="874" y="2653"/>
                    <a:ext cx="41" cy="81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60" name="Oval 608"/>
                  <p:cNvSpPr>
                    <a:spLocks noChangeArrowheads="1"/>
                  </p:cNvSpPr>
                  <p:nvPr/>
                </p:nvSpPr>
                <p:spPr bwMode="auto">
                  <a:xfrm>
                    <a:off x="908" y="2693"/>
                    <a:ext cx="2" cy="3"/>
                  </a:xfrm>
                  <a:prstGeom prst="ellipse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</p:grpSp>
        </p:grpSp>
        <p:sp>
          <p:nvSpPr>
            <p:cNvPr id="12" name="Line 609"/>
            <p:cNvSpPr>
              <a:spLocks noChangeShapeType="1"/>
            </p:cNvSpPr>
            <p:nvPr/>
          </p:nvSpPr>
          <p:spPr bwMode="auto">
            <a:xfrm>
              <a:off x="7232002" y="9808727"/>
              <a:ext cx="1832033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13" name="Line 610"/>
            <p:cNvSpPr>
              <a:spLocks noChangeShapeType="1"/>
            </p:cNvSpPr>
            <p:nvPr/>
          </p:nvSpPr>
          <p:spPr bwMode="auto">
            <a:xfrm>
              <a:off x="14560135" y="9808727"/>
              <a:ext cx="1832033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14" name="Line 611"/>
            <p:cNvSpPr>
              <a:spLocks noChangeShapeType="1"/>
            </p:cNvSpPr>
            <p:nvPr/>
          </p:nvSpPr>
          <p:spPr bwMode="auto">
            <a:xfrm>
              <a:off x="20972252" y="9621886"/>
              <a:ext cx="1832033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15" name="Line 612"/>
            <p:cNvSpPr>
              <a:spLocks noChangeShapeType="1"/>
            </p:cNvSpPr>
            <p:nvPr/>
          </p:nvSpPr>
          <p:spPr bwMode="auto">
            <a:xfrm>
              <a:off x="27995045" y="9621886"/>
              <a:ext cx="1832033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16" name="Line 613"/>
            <p:cNvSpPr>
              <a:spLocks noChangeShapeType="1"/>
            </p:cNvSpPr>
            <p:nvPr/>
          </p:nvSpPr>
          <p:spPr bwMode="auto">
            <a:xfrm flipH="1">
              <a:off x="27384368" y="9061364"/>
              <a:ext cx="2748050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prstDash val="dash"/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17" name="Text Box 614"/>
            <p:cNvSpPr txBox="1">
              <a:spLocks noChangeArrowheads="1"/>
            </p:cNvSpPr>
            <p:nvPr/>
          </p:nvSpPr>
          <p:spPr bwMode="auto">
            <a:xfrm>
              <a:off x="27079027" y="8127159"/>
              <a:ext cx="2056973" cy="6549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3655"/>
                <a:t>用户需求</a:t>
              </a:r>
              <a:endParaRPr lang="zh-CN" altLang="en-US" sz="3655"/>
            </a:p>
          </p:txBody>
        </p:sp>
        <p:sp>
          <p:nvSpPr>
            <p:cNvPr id="18" name="Text Box 615"/>
            <p:cNvSpPr txBox="1">
              <a:spLocks noChangeArrowheads="1"/>
            </p:cNvSpPr>
            <p:nvPr/>
          </p:nvSpPr>
          <p:spPr bwMode="auto">
            <a:xfrm>
              <a:off x="19750895" y="6258749"/>
              <a:ext cx="3461204" cy="6549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3655"/>
                <a:t>总体的用户需求</a:t>
              </a:r>
              <a:endParaRPr lang="zh-CN" altLang="en-US" sz="3655"/>
            </a:p>
          </p:txBody>
        </p:sp>
        <p:sp>
          <p:nvSpPr>
            <p:cNvPr id="19" name="Text Box 616"/>
            <p:cNvSpPr txBox="1">
              <a:spLocks noChangeArrowheads="1"/>
            </p:cNvSpPr>
            <p:nvPr/>
          </p:nvSpPr>
          <p:spPr bwMode="auto">
            <a:xfrm>
              <a:off x="13281527" y="6776453"/>
              <a:ext cx="2728966" cy="12175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3655" dirty="0"/>
                <a:t>全球物料</a:t>
              </a:r>
              <a:endParaRPr lang="zh-CN" altLang="en-US" sz="3655" dirty="0"/>
            </a:p>
            <a:p>
              <a:pPr algn="ctr"/>
              <a:r>
                <a:rPr lang="zh-CN" altLang="en-US" sz="3655" dirty="0"/>
                <a:t>计划系统</a:t>
              </a:r>
              <a:endParaRPr lang="zh-CN" altLang="en-US" sz="3655" dirty="0"/>
            </a:p>
          </p:txBody>
        </p:sp>
        <p:sp>
          <p:nvSpPr>
            <p:cNvPr id="20" name="Text Box 617"/>
            <p:cNvSpPr txBox="1">
              <a:spLocks noChangeArrowheads="1"/>
            </p:cNvSpPr>
            <p:nvPr/>
          </p:nvSpPr>
          <p:spPr bwMode="auto">
            <a:xfrm>
              <a:off x="5705305" y="6445591"/>
              <a:ext cx="2525050" cy="6549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3655"/>
                <a:t>推动式计划</a:t>
              </a:r>
              <a:endParaRPr lang="zh-CN" altLang="en-US" sz="3655"/>
            </a:p>
          </p:txBody>
        </p:sp>
        <p:sp>
          <p:nvSpPr>
            <p:cNvPr id="21" name="Text Box 618"/>
            <p:cNvSpPr txBox="1">
              <a:spLocks noChangeArrowheads="1"/>
            </p:cNvSpPr>
            <p:nvPr/>
          </p:nvSpPr>
          <p:spPr bwMode="auto">
            <a:xfrm>
              <a:off x="27689705" y="9621888"/>
              <a:ext cx="1120820" cy="6549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3655"/>
                <a:t>拉动</a:t>
              </a:r>
              <a:endParaRPr lang="zh-CN" altLang="en-US" sz="3655"/>
            </a:p>
          </p:txBody>
        </p:sp>
        <p:sp>
          <p:nvSpPr>
            <p:cNvPr id="22" name="Text Box 619"/>
            <p:cNvSpPr txBox="1">
              <a:spLocks noChangeArrowheads="1"/>
            </p:cNvSpPr>
            <p:nvPr/>
          </p:nvSpPr>
          <p:spPr bwMode="auto">
            <a:xfrm>
              <a:off x="14254795" y="9061365"/>
              <a:ext cx="1120820" cy="6549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3655" dirty="0"/>
                <a:t>拉动</a:t>
              </a:r>
              <a:endParaRPr lang="zh-CN" altLang="en-US" sz="3655" dirty="0"/>
            </a:p>
          </p:txBody>
        </p:sp>
        <p:sp>
          <p:nvSpPr>
            <p:cNvPr id="23" name="Text Box 620"/>
            <p:cNvSpPr txBox="1">
              <a:spLocks noChangeArrowheads="1"/>
            </p:cNvSpPr>
            <p:nvPr/>
          </p:nvSpPr>
          <p:spPr bwMode="auto">
            <a:xfrm>
              <a:off x="20666911" y="8874524"/>
              <a:ext cx="1120820" cy="6549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3655"/>
                <a:t>拉动</a:t>
              </a:r>
              <a:endParaRPr lang="zh-CN" altLang="en-US" sz="3655"/>
            </a:p>
          </p:txBody>
        </p:sp>
        <p:sp>
          <p:nvSpPr>
            <p:cNvPr id="24" name="Text Box 621"/>
            <p:cNvSpPr txBox="1">
              <a:spLocks noChangeArrowheads="1"/>
            </p:cNvSpPr>
            <p:nvPr/>
          </p:nvSpPr>
          <p:spPr bwMode="auto">
            <a:xfrm>
              <a:off x="7276529" y="9041902"/>
              <a:ext cx="1120820" cy="6549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3655" dirty="0"/>
                <a:t>推动</a:t>
              </a:r>
              <a:endParaRPr lang="zh-CN" altLang="en-US" sz="3655" dirty="0"/>
            </a:p>
          </p:txBody>
        </p:sp>
        <p:sp>
          <p:nvSpPr>
            <p:cNvPr id="25" name="Text Box 622"/>
            <p:cNvSpPr txBox="1">
              <a:spLocks noChangeArrowheads="1"/>
            </p:cNvSpPr>
            <p:nvPr/>
          </p:nvSpPr>
          <p:spPr bwMode="auto">
            <a:xfrm>
              <a:off x="27022963" y="12839604"/>
              <a:ext cx="2056973" cy="6549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3655"/>
                <a:t>一个星期</a:t>
              </a:r>
              <a:endParaRPr lang="zh-CN" altLang="en-US" sz="3655"/>
            </a:p>
          </p:txBody>
        </p:sp>
        <p:sp>
          <p:nvSpPr>
            <p:cNvPr id="26" name="Text Box 623"/>
            <p:cNvSpPr txBox="1">
              <a:spLocks noChangeArrowheads="1"/>
            </p:cNvSpPr>
            <p:nvPr/>
          </p:nvSpPr>
          <p:spPr bwMode="auto">
            <a:xfrm>
              <a:off x="20610848" y="12839604"/>
              <a:ext cx="2056973" cy="6549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3655"/>
                <a:t>一个星期</a:t>
              </a:r>
              <a:endParaRPr lang="zh-CN" altLang="en-US" sz="3655"/>
            </a:p>
          </p:txBody>
        </p:sp>
        <p:sp>
          <p:nvSpPr>
            <p:cNvPr id="27" name="Text Box 624"/>
            <p:cNvSpPr txBox="1">
              <a:spLocks noChangeArrowheads="1"/>
            </p:cNvSpPr>
            <p:nvPr/>
          </p:nvSpPr>
          <p:spPr bwMode="auto">
            <a:xfrm>
              <a:off x="13893391" y="12839604"/>
              <a:ext cx="1850186" cy="6549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655"/>
                <a:t>2</a:t>
              </a:r>
              <a:r>
                <a:rPr lang="zh-CN" altLang="en-US" sz="3655"/>
                <a:t>个星期</a:t>
              </a:r>
              <a:endParaRPr lang="zh-CN" altLang="en-US" sz="3655"/>
            </a:p>
          </p:txBody>
        </p:sp>
        <p:sp>
          <p:nvSpPr>
            <p:cNvPr id="28" name="Text Box 625"/>
            <p:cNvSpPr txBox="1">
              <a:spLocks noChangeArrowheads="1"/>
            </p:cNvSpPr>
            <p:nvPr/>
          </p:nvSpPr>
          <p:spPr bwMode="auto">
            <a:xfrm>
              <a:off x="7175938" y="12839604"/>
              <a:ext cx="1588897" cy="6549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3655"/>
                <a:t>几个月</a:t>
              </a:r>
              <a:endParaRPr lang="zh-CN" altLang="en-US" sz="3655"/>
            </a:p>
          </p:txBody>
        </p:sp>
        <p:sp>
          <p:nvSpPr>
            <p:cNvPr id="29" name="Line 626"/>
            <p:cNvSpPr>
              <a:spLocks noChangeShapeType="1"/>
            </p:cNvSpPr>
            <p:nvPr/>
          </p:nvSpPr>
          <p:spPr bwMode="auto">
            <a:xfrm>
              <a:off x="5038566" y="13586968"/>
              <a:ext cx="64121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30" name="Line 627"/>
            <p:cNvSpPr>
              <a:spLocks noChangeShapeType="1"/>
            </p:cNvSpPr>
            <p:nvPr/>
          </p:nvSpPr>
          <p:spPr bwMode="auto">
            <a:xfrm>
              <a:off x="5038564" y="13213288"/>
              <a:ext cx="0" cy="9342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31" name="Line 628"/>
            <p:cNvSpPr>
              <a:spLocks noChangeShapeType="1"/>
            </p:cNvSpPr>
            <p:nvPr/>
          </p:nvSpPr>
          <p:spPr bwMode="auto">
            <a:xfrm>
              <a:off x="11450680" y="13213288"/>
              <a:ext cx="0" cy="9342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32" name="Line 629"/>
            <p:cNvSpPr>
              <a:spLocks noChangeShapeType="1"/>
            </p:cNvSpPr>
            <p:nvPr/>
          </p:nvSpPr>
          <p:spPr bwMode="auto">
            <a:xfrm>
              <a:off x="11450682" y="13586968"/>
              <a:ext cx="64121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33" name="Line 630"/>
            <p:cNvSpPr>
              <a:spLocks noChangeShapeType="1"/>
            </p:cNvSpPr>
            <p:nvPr/>
          </p:nvSpPr>
          <p:spPr bwMode="auto">
            <a:xfrm>
              <a:off x="11450680" y="13213288"/>
              <a:ext cx="0" cy="9342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34" name="Line 631"/>
            <p:cNvSpPr>
              <a:spLocks noChangeShapeType="1"/>
            </p:cNvSpPr>
            <p:nvPr/>
          </p:nvSpPr>
          <p:spPr bwMode="auto">
            <a:xfrm>
              <a:off x="17862797" y="13213288"/>
              <a:ext cx="0" cy="9342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35" name="Line 632"/>
            <p:cNvSpPr>
              <a:spLocks noChangeShapeType="1"/>
            </p:cNvSpPr>
            <p:nvPr/>
          </p:nvSpPr>
          <p:spPr bwMode="auto">
            <a:xfrm>
              <a:off x="17862798" y="13586968"/>
              <a:ext cx="73281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36" name="Line 633"/>
            <p:cNvSpPr>
              <a:spLocks noChangeShapeType="1"/>
            </p:cNvSpPr>
            <p:nvPr/>
          </p:nvSpPr>
          <p:spPr bwMode="auto">
            <a:xfrm>
              <a:off x="17862797" y="13213288"/>
              <a:ext cx="0" cy="9342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37" name="Line 634"/>
            <p:cNvSpPr>
              <a:spLocks noChangeShapeType="1"/>
            </p:cNvSpPr>
            <p:nvPr/>
          </p:nvSpPr>
          <p:spPr bwMode="auto">
            <a:xfrm>
              <a:off x="25190930" y="13586968"/>
              <a:ext cx="64121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38" name="Line 635"/>
            <p:cNvSpPr>
              <a:spLocks noChangeShapeType="1"/>
            </p:cNvSpPr>
            <p:nvPr/>
          </p:nvSpPr>
          <p:spPr bwMode="auto">
            <a:xfrm>
              <a:off x="25190930" y="13213288"/>
              <a:ext cx="0" cy="9342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39" name="Line 636"/>
            <p:cNvSpPr>
              <a:spLocks noChangeShapeType="1"/>
            </p:cNvSpPr>
            <p:nvPr/>
          </p:nvSpPr>
          <p:spPr bwMode="auto">
            <a:xfrm>
              <a:off x="31603046" y="13213288"/>
              <a:ext cx="0" cy="9342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40" name="Freeform 637"/>
            <p:cNvSpPr/>
            <p:nvPr/>
          </p:nvSpPr>
          <p:spPr bwMode="auto">
            <a:xfrm>
              <a:off x="16697506" y="7192954"/>
              <a:ext cx="8244149" cy="1681569"/>
            </a:xfrm>
            <a:custGeom>
              <a:avLst/>
              <a:gdLst>
                <a:gd name="T0" fmla="*/ 1056 w 1056"/>
                <a:gd name="T1" fmla="*/ 336 h 336"/>
                <a:gd name="T2" fmla="*/ 1056 w 1056"/>
                <a:gd name="T3" fmla="*/ 0 h 336"/>
                <a:gd name="T4" fmla="*/ 0 w 1056"/>
                <a:gd name="T5" fmla="*/ 0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56" h="336">
                  <a:moveTo>
                    <a:pt x="1056" y="336"/>
                  </a:moveTo>
                  <a:lnTo>
                    <a:pt x="1056" y="0"/>
                  </a:lnTo>
                  <a:lnTo>
                    <a:pt x="0" y="0"/>
                  </a:lnTo>
                </a:path>
              </a:pathLst>
            </a:custGeom>
            <a:noFill/>
            <a:ln w="76200" cap="flat">
              <a:solidFill>
                <a:schemeClr val="tx1"/>
              </a:solidFill>
              <a:prstDash val="dash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41" name="Freeform 638"/>
            <p:cNvSpPr/>
            <p:nvPr/>
          </p:nvSpPr>
          <p:spPr bwMode="auto">
            <a:xfrm>
              <a:off x="16697505" y="7753477"/>
              <a:ext cx="2442711" cy="1494728"/>
            </a:xfrm>
            <a:custGeom>
              <a:avLst/>
              <a:gdLst>
                <a:gd name="T0" fmla="*/ 384 w 384"/>
                <a:gd name="T1" fmla="*/ 384 h 384"/>
                <a:gd name="T2" fmla="*/ 384 w 384"/>
                <a:gd name="T3" fmla="*/ 0 h 384"/>
                <a:gd name="T4" fmla="*/ 0 w 384"/>
                <a:gd name="T5" fmla="*/ 0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4" h="384">
                  <a:moveTo>
                    <a:pt x="384" y="384"/>
                  </a:moveTo>
                  <a:lnTo>
                    <a:pt x="384" y="0"/>
                  </a:lnTo>
                  <a:lnTo>
                    <a:pt x="0" y="0"/>
                  </a:lnTo>
                </a:path>
              </a:pathLst>
            </a:custGeom>
            <a:noFill/>
            <a:ln w="76200" cap="flat">
              <a:solidFill>
                <a:schemeClr val="tx1"/>
              </a:solidFill>
              <a:prstDash val="dash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42" name="Freeform 639"/>
            <p:cNvSpPr/>
            <p:nvPr/>
          </p:nvSpPr>
          <p:spPr bwMode="auto">
            <a:xfrm>
              <a:off x="4178614" y="7192953"/>
              <a:ext cx="8854827" cy="2242092"/>
            </a:xfrm>
            <a:custGeom>
              <a:avLst/>
              <a:gdLst>
                <a:gd name="T0" fmla="*/ 1392 w 1392"/>
                <a:gd name="T1" fmla="*/ 0 h 576"/>
                <a:gd name="T2" fmla="*/ 0 w 1392"/>
                <a:gd name="T3" fmla="*/ 0 h 576"/>
                <a:gd name="T4" fmla="*/ 0 w 1392"/>
                <a:gd name="T5" fmla="*/ 576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92" h="576">
                  <a:moveTo>
                    <a:pt x="1392" y="0"/>
                  </a:moveTo>
                  <a:lnTo>
                    <a:pt x="0" y="0"/>
                  </a:lnTo>
                  <a:lnTo>
                    <a:pt x="0" y="576"/>
                  </a:lnTo>
                </a:path>
              </a:pathLst>
            </a:custGeom>
            <a:noFill/>
            <a:ln w="76200" cap="flat">
              <a:solidFill>
                <a:schemeClr val="tx1"/>
              </a:solidFill>
              <a:prstDash val="dash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43" name="Freeform 640"/>
            <p:cNvSpPr/>
            <p:nvPr/>
          </p:nvSpPr>
          <p:spPr bwMode="auto">
            <a:xfrm>
              <a:off x="5399969" y="7940319"/>
              <a:ext cx="7328133" cy="1307887"/>
            </a:xfrm>
            <a:custGeom>
              <a:avLst/>
              <a:gdLst>
                <a:gd name="T0" fmla="*/ 0 w 1152"/>
                <a:gd name="T1" fmla="*/ 336 h 336"/>
                <a:gd name="T2" fmla="*/ 0 w 1152"/>
                <a:gd name="T3" fmla="*/ 0 h 336"/>
                <a:gd name="T4" fmla="*/ 1152 w 1152"/>
                <a:gd name="T5" fmla="*/ 0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52" h="336">
                  <a:moveTo>
                    <a:pt x="0" y="336"/>
                  </a:moveTo>
                  <a:lnTo>
                    <a:pt x="0" y="0"/>
                  </a:lnTo>
                  <a:lnTo>
                    <a:pt x="1152" y="0"/>
                  </a:lnTo>
                </a:path>
              </a:pathLst>
            </a:custGeom>
            <a:noFill/>
            <a:ln w="76200" cap="flat">
              <a:solidFill>
                <a:schemeClr val="tx1"/>
              </a:solidFill>
              <a:prstDash val="dash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44" name="Text Box 641"/>
            <p:cNvSpPr txBox="1">
              <a:spLocks noChangeArrowheads="1"/>
            </p:cNvSpPr>
            <p:nvPr/>
          </p:nvSpPr>
          <p:spPr bwMode="auto">
            <a:xfrm>
              <a:off x="6315984" y="7192954"/>
              <a:ext cx="2056973" cy="6549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3655"/>
                <a:t>库存信息</a:t>
              </a:r>
              <a:endParaRPr lang="zh-CN" altLang="en-US" sz="3655"/>
            </a:p>
          </p:txBody>
        </p:sp>
        <p:sp>
          <p:nvSpPr>
            <p:cNvPr id="45" name="Text Box 642"/>
            <p:cNvSpPr txBox="1">
              <a:spLocks noChangeArrowheads="1"/>
            </p:cNvSpPr>
            <p:nvPr/>
          </p:nvSpPr>
          <p:spPr bwMode="auto">
            <a:xfrm>
              <a:off x="19693643" y="7566637"/>
              <a:ext cx="2056973" cy="6549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3655" dirty="0"/>
                <a:t>库存信息</a:t>
              </a:r>
              <a:endParaRPr lang="zh-CN" altLang="en-US" sz="3655" dirty="0"/>
            </a:p>
          </p:txBody>
        </p:sp>
        <p:sp>
          <p:nvSpPr>
            <p:cNvPr id="46" name="Line 643"/>
            <p:cNvSpPr>
              <a:spLocks noChangeShapeType="1"/>
            </p:cNvSpPr>
            <p:nvPr/>
          </p:nvSpPr>
          <p:spPr bwMode="auto">
            <a:xfrm flipV="1">
              <a:off x="12422763" y="8127158"/>
              <a:ext cx="1221355" cy="11210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47" name="Text Box 644"/>
            <p:cNvSpPr txBox="1">
              <a:spLocks noChangeArrowheads="1"/>
            </p:cNvSpPr>
            <p:nvPr/>
          </p:nvSpPr>
          <p:spPr bwMode="auto">
            <a:xfrm>
              <a:off x="9369373" y="8500840"/>
              <a:ext cx="2056973" cy="6549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3655"/>
                <a:t>库存信息</a:t>
              </a:r>
              <a:endParaRPr lang="zh-CN" altLang="en-US" sz="3655"/>
            </a:p>
          </p:txBody>
        </p:sp>
        <p:sp>
          <p:nvSpPr>
            <p:cNvPr id="48" name="AutoShape 645"/>
            <p:cNvSpPr>
              <a:spLocks noChangeArrowheads="1"/>
            </p:cNvSpPr>
            <p:nvPr/>
          </p:nvSpPr>
          <p:spPr bwMode="auto">
            <a:xfrm rot="10742710">
              <a:off x="8968616" y="9427261"/>
              <a:ext cx="985990" cy="875818"/>
            </a:xfrm>
            <a:prstGeom prst="triangle">
              <a:avLst>
                <a:gd name="adj" fmla="val 50000"/>
              </a:avLst>
            </a:prstGeom>
            <a:noFill/>
            <a:ln w="127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3655"/>
            </a:p>
          </p:txBody>
        </p:sp>
        <p:sp>
          <p:nvSpPr>
            <p:cNvPr id="49" name="Line 646"/>
            <p:cNvSpPr>
              <a:spLocks noChangeShapeType="1"/>
            </p:cNvSpPr>
            <p:nvPr/>
          </p:nvSpPr>
          <p:spPr bwMode="auto">
            <a:xfrm flipV="1">
              <a:off x="9369373" y="8018169"/>
              <a:ext cx="3530481" cy="1416877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prstDash val="dash"/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50" name="Freeform 647"/>
            <p:cNvSpPr/>
            <p:nvPr/>
          </p:nvSpPr>
          <p:spPr bwMode="auto">
            <a:xfrm>
              <a:off x="13644117" y="8314000"/>
              <a:ext cx="9770844" cy="934205"/>
            </a:xfrm>
            <a:custGeom>
              <a:avLst/>
              <a:gdLst>
                <a:gd name="T0" fmla="*/ 0 w 1536"/>
                <a:gd name="T1" fmla="*/ 240 h 240"/>
                <a:gd name="T2" fmla="*/ 672 w 1536"/>
                <a:gd name="T3" fmla="*/ 0 h 240"/>
                <a:gd name="T4" fmla="*/ 1536 w 1536"/>
                <a:gd name="T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6" h="240">
                  <a:moveTo>
                    <a:pt x="0" y="240"/>
                  </a:moveTo>
                  <a:lnTo>
                    <a:pt x="672" y="0"/>
                  </a:lnTo>
                  <a:lnTo>
                    <a:pt x="1536" y="240"/>
                  </a:lnTo>
                </a:path>
              </a:pathLst>
            </a:custGeom>
            <a:noFill/>
            <a:ln w="76200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650" name="Text Box 622"/>
            <p:cNvSpPr txBox="1">
              <a:spLocks noChangeArrowheads="1"/>
            </p:cNvSpPr>
            <p:nvPr/>
          </p:nvSpPr>
          <p:spPr bwMode="auto">
            <a:xfrm>
              <a:off x="3323032" y="10712454"/>
              <a:ext cx="2993127" cy="6549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3655" dirty="0"/>
                <a:t>原材料供应商</a:t>
              </a:r>
              <a:endParaRPr lang="zh-CN" altLang="en-US" sz="3655" dirty="0"/>
            </a:p>
          </p:txBody>
        </p:sp>
        <p:sp>
          <p:nvSpPr>
            <p:cNvPr id="651" name="Text Box 622"/>
            <p:cNvSpPr txBox="1">
              <a:spLocks noChangeArrowheads="1"/>
            </p:cNvSpPr>
            <p:nvPr/>
          </p:nvSpPr>
          <p:spPr bwMode="auto">
            <a:xfrm>
              <a:off x="11167430" y="10712454"/>
              <a:ext cx="1588897" cy="6549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3655" dirty="0"/>
                <a:t>生产商</a:t>
              </a:r>
              <a:endParaRPr lang="zh-CN" altLang="en-US" sz="3655" dirty="0"/>
            </a:p>
          </p:txBody>
        </p:sp>
        <p:sp>
          <p:nvSpPr>
            <p:cNvPr id="652" name="Text Box 622"/>
            <p:cNvSpPr txBox="1">
              <a:spLocks noChangeArrowheads="1"/>
            </p:cNvSpPr>
            <p:nvPr/>
          </p:nvSpPr>
          <p:spPr bwMode="auto">
            <a:xfrm>
              <a:off x="17718716" y="10752513"/>
              <a:ext cx="1588897" cy="6549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3655" dirty="0"/>
                <a:t>分销商</a:t>
              </a:r>
              <a:endParaRPr lang="zh-CN" altLang="en-US" sz="3655" dirty="0"/>
            </a:p>
          </p:txBody>
        </p:sp>
        <p:sp>
          <p:nvSpPr>
            <p:cNvPr id="653" name="Text Box 622"/>
            <p:cNvSpPr txBox="1">
              <a:spLocks noChangeArrowheads="1"/>
            </p:cNvSpPr>
            <p:nvPr/>
          </p:nvSpPr>
          <p:spPr bwMode="auto">
            <a:xfrm>
              <a:off x="24439757" y="10872691"/>
              <a:ext cx="1588897" cy="6549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3655" dirty="0"/>
                <a:t>零售商</a:t>
              </a:r>
              <a:endParaRPr lang="zh-CN" altLang="en-US" sz="3655" dirty="0"/>
            </a:p>
          </p:txBody>
        </p:sp>
        <p:sp>
          <p:nvSpPr>
            <p:cNvPr id="654" name="Text Box 622"/>
            <p:cNvSpPr txBox="1">
              <a:spLocks noChangeArrowheads="1"/>
            </p:cNvSpPr>
            <p:nvPr/>
          </p:nvSpPr>
          <p:spPr bwMode="auto">
            <a:xfrm>
              <a:off x="30942155" y="10881593"/>
              <a:ext cx="1120821" cy="6549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3655" dirty="0"/>
                <a:t>用户</a:t>
              </a:r>
              <a:endParaRPr lang="zh-CN" altLang="en-US" sz="3655" dirty="0"/>
            </a:p>
          </p:txBody>
        </p:sp>
        <p:sp>
          <p:nvSpPr>
            <p:cNvPr id="655" name="文本框 654"/>
            <p:cNvSpPr txBox="1"/>
            <p:nvPr/>
          </p:nvSpPr>
          <p:spPr>
            <a:xfrm>
              <a:off x="11809492" y="14813861"/>
              <a:ext cx="10577392" cy="9596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5635" dirty="0"/>
                <a:t>“推拉结合式”供应链</a:t>
              </a:r>
              <a:endParaRPr lang="zh-CN" altLang="en-US" sz="5635" dirty="0"/>
            </a:p>
          </p:txBody>
        </p:sp>
      </p:grpSp>
      <p:sp>
        <p:nvSpPr>
          <p:cNvPr id="656" name="文本框 655"/>
          <p:cNvSpPr txBox="1"/>
          <p:nvPr/>
        </p:nvSpPr>
        <p:spPr>
          <a:xfrm>
            <a:off x="2724992" y="15504443"/>
            <a:ext cx="3029259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以下哪类产品属于推拉结合式供应链？</a:t>
            </a:r>
            <a:endParaRPr lang="en-US" altLang="zh-CN" sz="6000" dirty="0">
              <a:solidFill>
                <a:schemeClr val="accent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sz="6000" dirty="0">
              <a:solidFill>
                <a:schemeClr val="accent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6000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 </a:t>
            </a:r>
            <a:r>
              <a:rPr lang="zh-CN" altLang="en-US" sz="6000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汽车     </a:t>
            </a:r>
            <a:r>
              <a:rPr lang="en-US" altLang="zh-CN" sz="6000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6000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电视机     </a:t>
            </a:r>
            <a:r>
              <a:rPr lang="en-US" altLang="zh-CN" sz="6000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 </a:t>
            </a:r>
            <a:r>
              <a:rPr lang="zh-CN" altLang="en-US" sz="6000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板卡     </a:t>
            </a:r>
            <a:r>
              <a:rPr lang="en-US" altLang="zh-CN" sz="6000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 </a:t>
            </a:r>
            <a:r>
              <a:rPr lang="zh-CN" altLang="en-US" sz="6000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矿泉水</a:t>
            </a:r>
            <a:r>
              <a:rPr lang="en-US" altLang="zh-CN" sz="6000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sz="6000" dirty="0">
              <a:solidFill>
                <a:schemeClr val="accent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7310" dirty="0">
                <a:solidFill>
                  <a:srgbClr val="595959"/>
                </a:solidFill>
                <a:ea typeface="方正兰亭黑_GBK" panose="02000000000000000000" pitchFamily="2" charset="-122"/>
              </a:rPr>
              <a:t>用户化的敏捷供应链</a:t>
            </a:r>
            <a:endParaRPr lang="zh-CN" altLang="en-US" sz="7310" dirty="0">
              <a:solidFill>
                <a:srgbClr val="595959"/>
              </a:solidFill>
              <a:ea typeface="方正兰亭黑_GBK" panose="02000000000000000000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214944" y="5053817"/>
            <a:ext cx="22732463" cy="8991522"/>
            <a:chOff x="3109152" y="5161940"/>
            <a:chExt cx="28664848" cy="10611543"/>
          </a:xfrm>
        </p:grpSpPr>
        <p:grpSp>
          <p:nvGrpSpPr>
            <p:cNvPr id="6" name="Group 5"/>
            <p:cNvGrpSpPr/>
            <p:nvPr/>
          </p:nvGrpSpPr>
          <p:grpSpPr bwMode="auto">
            <a:xfrm>
              <a:off x="3109152" y="8487279"/>
              <a:ext cx="4319360" cy="1924936"/>
              <a:chOff x="546" y="2289"/>
              <a:chExt cx="708" cy="452"/>
            </a:xfrm>
          </p:grpSpPr>
          <p:grpSp>
            <p:nvGrpSpPr>
              <p:cNvPr id="439" name="Group 6"/>
              <p:cNvGrpSpPr/>
              <p:nvPr/>
            </p:nvGrpSpPr>
            <p:grpSpPr bwMode="auto">
              <a:xfrm>
                <a:off x="1071" y="2289"/>
                <a:ext cx="76" cy="358"/>
                <a:chOff x="1071" y="2289"/>
                <a:chExt cx="76" cy="358"/>
              </a:xfrm>
            </p:grpSpPr>
            <p:sp>
              <p:nvSpPr>
                <p:cNvPr id="539" name="Freeform 7"/>
                <p:cNvSpPr/>
                <p:nvPr/>
              </p:nvSpPr>
              <p:spPr bwMode="auto">
                <a:xfrm>
                  <a:off x="1071" y="2289"/>
                  <a:ext cx="27" cy="358"/>
                </a:xfrm>
                <a:custGeom>
                  <a:avLst/>
                  <a:gdLst>
                    <a:gd name="T0" fmla="*/ 42 w 161"/>
                    <a:gd name="T1" fmla="*/ 0 h 1791"/>
                    <a:gd name="T2" fmla="*/ 42 w 161"/>
                    <a:gd name="T3" fmla="*/ 284 h 1791"/>
                    <a:gd name="T4" fmla="*/ 29 w 161"/>
                    <a:gd name="T5" fmla="*/ 284 h 1791"/>
                    <a:gd name="T6" fmla="*/ 29 w 161"/>
                    <a:gd name="T7" fmla="*/ 569 h 1791"/>
                    <a:gd name="T8" fmla="*/ 17 w 161"/>
                    <a:gd name="T9" fmla="*/ 569 h 1791"/>
                    <a:gd name="T10" fmla="*/ 17 w 161"/>
                    <a:gd name="T11" fmla="*/ 836 h 1791"/>
                    <a:gd name="T12" fmla="*/ 8 w 161"/>
                    <a:gd name="T13" fmla="*/ 836 h 1791"/>
                    <a:gd name="T14" fmla="*/ 8 w 161"/>
                    <a:gd name="T15" fmla="*/ 1195 h 1791"/>
                    <a:gd name="T16" fmla="*/ 0 w 161"/>
                    <a:gd name="T17" fmla="*/ 1195 h 1791"/>
                    <a:gd name="T18" fmla="*/ 0 w 161"/>
                    <a:gd name="T19" fmla="*/ 1791 h 1791"/>
                    <a:gd name="T20" fmla="*/ 88 w 161"/>
                    <a:gd name="T21" fmla="*/ 1791 h 1791"/>
                    <a:gd name="T22" fmla="*/ 161 w 161"/>
                    <a:gd name="T23" fmla="*/ 1190 h 1791"/>
                    <a:gd name="T24" fmla="*/ 161 w 161"/>
                    <a:gd name="T25" fmla="*/ 835 h 1791"/>
                    <a:gd name="T26" fmla="*/ 153 w 161"/>
                    <a:gd name="T27" fmla="*/ 835 h 1791"/>
                    <a:gd name="T28" fmla="*/ 153 w 161"/>
                    <a:gd name="T29" fmla="*/ 569 h 1791"/>
                    <a:gd name="T30" fmla="*/ 143 w 161"/>
                    <a:gd name="T31" fmla="*/ 569 h 1791"/>
                    <a:gd name="T32" fmla="*/ 143 w 161"/>
                    <a:gd name="T33" fmla="*/ 284 h 1791"/>
                    <a:gd name="T34" fmla="*/ 130 w 161"/>
                    <a:gd name="T35" fmla="*/ 284 h 1791"/>
                    <a:gd name="T36" fmla="*/ 130 w 161"/>
                    <a:gd name="T37" fmla="*/ 0 h 1791"/>
                    <a:gd name="T38" fmla="*/ 42 w 161"/>
                    <a:gd name="T39" fmla="*/ 0 h 17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61" h="1791">
                      <a:moveTo>
                        <a:pt x="42" y="0"/>
                      </a:moveTo>
                      <a:lnTo>
                        <a:pt x="42" y="284"/>
                      </a:lnTo>
                      <a:lnTo>
                        <a:pt x="29" y="284"/>
                      </a:lnTo>
                      <a:lnTo>
                        <a:pt x="29" y="569"/>
                      </a:lnTo>
                      <a:lnTo>
                        <a:pt x="17" y="569"/>
                      </a:lnTo>
                      <a:lnTo>
                        <a:pt x="17" y="836"/>
                      </a:lnTo>
                      <a:lnTo>
                        <a:pt x="8" y="836"/>
                      </a:lnTo>
                      <a:lnTo>
                        <a:pt x="8" y="1195"/>
                      </a:lnTo>
                      <a:lnTo>
                        <a:pt x="0" y="1195"/>
                      </a:lnTo>
                      <a:lnTo>
                        <a:pt x="0" y="1791"/>
                      </a:lnTo>
                      <a:lnTo>
                        <a:pt x="88" y="1791"/>
                      </a:lnTo>
                      <a:lnTo>
                        <a:pt x="161" y="1190"/>
                      </a:lnTo>
                      <a:lnTo>
                        <a:pt x="161" y="835"/>
                      </a:lnTo>
                      <a:lnTo>
                        <a:pt x="153" y="835"/>
                      </a:lnTo>
                      <a:lnTo>
                        <a:pt x="153" y="569"/>
                      </a:lnTo>
                      <a:lnTo>
                        <a:pt x="143" y="569"/>
                      </a:lnTo>
                      <a:lnTo>
                        <a:pt x="143" y="284"/>
                      </a:lnTo>
                      <a:lnTo>
                        <a:pt x="130" y="284"/>
                      </a:lnTo>
                      <a:lnTo>
                        <a:pt x="130" y="0"/>
                      </a:lnTo>
                      <a:lnTo>
                        <a:pt x="4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w="3175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 sz="3655"/>
                </a:p>
              </p:txBody>
            </p:sp>
            <p:sp>
              <p:nvSpPr>
                <p:cNvPr id="540" name="Freeform 8"/>
                <p:cNvSpPr/>
                <p:nvPr/>
              </p:nvSpPr>
              <p:spPr bwMode="auto">
                <a:xfrm>
                  <a:off x="1119" y="2289"/>
                  <a:ext cx="28" cy="358"/>
                </a:xfrm>
                <a:custGeom>
                  <a:avLst/>
                  <a:gdLst>
                    <a:gd name="T0" fmla="*/ 41 w 169"/>
                    <a:gd name="T1" fmla="*/ 0 h 1791"/>
                    <a:gd name="T2" fmla="*/ 41 w 169"/>
                    <a:gd name="T3" fmla="*/ 284 h 1791"/>
                    <a:gd name="T4" fmla="*/ 28 w 169"/>
                    <a:gd name="T5" fmla="*/ 284 h 1791"/>
                    <a:gd name="T6" fmla="*/ 28 w 169"/>
                    <a:gd name="T7" fmla="*/ 569 h 1791"/>
                    <a:gd name="T8" fmla="*/ 16 w 169"/>
                    <a:gd name="T9" fmla="*/ 569 h 1791"/>
                    <a:gd name="T10" fmla="*/ 16 w 169"/>
                    <a:gd name="T11" fmla="*/ 836 h 1791"/>
                    <a:gd name="T12" fmla="*/ 8 w 169"/>
                    <a:gd name="T13" fmla="*/ 836 h 1791"/>
                    <a:gd name="T14" fmla="*/ 8 w 169"/>
                    <a:gd name="T15" fmla="*/ 1195 h 1791"/>
                    <a:gd name="T16" fmla="*/ 0 w 169"/>
                    <a:gd name="T17" fmla="*/ 1195 h 1791"/>
                    <a:gd name="T18" fmla="*/ 0 w 169"/>
                    <a:gd name="T19" fmla="*/ 1791 h 1791"/>
                    <a:gd name="T20" fmla="*/ 169 w 169"/>
                    <a:gd name="T21" fmla="*/ 1791 h 1791"/>
                    <a:gd name="T22" fmla="*/ 169 w 169"/>
                    <a:gd name="T23" fmla="*/ 1193 h 1791"/>
                    <a:gd name="T24" fmla="*/ 161 w 169"/>
                    <a:gd name="T25" fmla="*/ 1193 h 1791"/>
                    <a:gd name="T26" fmla="*/ 160 w 169"/>
                    <a:gd name="T27" fmla="*/ 835 h 1791"/>
                    <a:gd name="T28" fmla="*/ 151 w 169"/>
                    <a:gd name="T29" fmla="*/ 835 h 1791"/>
                    <a:gd name="T30" fmla="*/ 151 w 169"/>
                    <a:gd name="T31" fmla="*/ 569 h 1791"/>
                    <a:gd name="T32" fmla="*/ 140 w 169"/>
                    <a:gd name="T33" fmla="*/ 569 h 1791"/>
                    <a:gd name="T34" fmla="*/ 140 w 169"/>
                    <a:gd name="T35" fmla="*/ 284 h 1791"/>
                    <a:gd name="T36" fmla="*/ 128 w 169"/>
                    <a:gd name="T37" fmla="*/ 284 h 1791"/>
                    <a:gd name="T38" fmla="*/ 128 w 169"/>
                    <a:gd name="T39" fmla="*/ 0 h 1791"/>
                    <a:gd name="T40" fmla="*/ 41 w 169"/>
                    <a:gd name="T41" fmla="*/ 0 h 17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69" h="1791">
                      <a:moveTo>
                        <a:pt x="41" y="0"/>
                      </a:moveTo>
                      <a:lnTo>
                        <a:pt x="41" y="284"/>
                      </a:lnTo>
                      <a:lnTo>
                        <a:pt x="28" y="284"/>
                      </a:lnTo>
                      <a:lnTo>
                        <a:pt x="28" y="569"/>
                      </a:lnTo>
                      <a:lnTo>
                        <a:pt x="16" y="569"/>
                      </a:lnTo>
                      <a:lnTo>
                        <a:pt x="16" y="836"/>
                      </a:lnTo>
                      <a:lnTo>
                        <a:pt x="8" y="836"/>
                      </a:lnTo>
                      <a:lnTo>
                        <a:pt x="8" y="1195"/>
                      </a:lnTo>
                      <a:lnTo>
                        <a:pt x="0" y="1195"/>
                      </a:lnTo>
                      <a:lnTo>
                        <a:pt x="0" y="1791"/>
                      </a:lnTo>
                      <a:lnTo>
                        <a:pt x="169" y="1791"/>
                      </a:lnTo>
                      <a:lnTo>
                        <a:pt x="169" y="1193"/>
                      </a:lnTo>
                      <a:lnTo>
                        <a:pt x="161" y="1193"/>
                      </a:lnTo>
                      <a:lnTo>
                        <a:pt x="160" y="835"/>
                      </a:lnTo>
                      <a:lnTo>
                        <a:pt x="151" y="835"/>
                      </a:lnTo>
                      <a:lnTo>
                        <a:pt x="151" y="569"/>
                      </a:lnTo>
                      <a:lnTo>
                        <a:pt x="140" y="569"/>
                      </a:lnTo>
                      <a:lnTo>
                        <a:pt x="140" y="284"/>
                      </a:lnTo>
                      <a:lnTo>
                        <a:pt x="128" y="284"/>
                      </a:lnTo>
                      <a:lnTo>
                        <a:pt x="128" y="0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w="3175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 sz="3655"/>
                </a:p>
              </p:txBody>
            </p:sp>
          </p:grpSp>
          <p:grpSp>
            <p:nvGrpSpPr>
              <p:cNvPr id="440" name="Group 9"/>
              <p:cNvGrpSpPr/>
              <p:nvPr/>
            </p:nvGrpSpPr>
            <p:grpSpPr bwMode="auto">
              <a:xfrm>
                <a:off x="1130" y="2574"/>
                <a:ext cx="124" cy="153"/>
                <a:chOff x="1130" y="2574"/>
                <a:chExt cx="124" cy="153"/>
              </a:xfrm>
            </p:grpSpPr>
            <p:grpSp>
              <p:nvGrpSpPr>
                <p:cNvPr id="528" name="Group 10"/>
                <p:cNvGrpSpPr/>
                <p:nvPr/>
              </p:nvGrpSpPr>
              <p:grpSpPr bwMode="auto">
                <a:xfrm>
                  <a:off x="1130" y="2574"/>
                  <a:ext cx="124" cy="153"/>
                  <a:chOff x="1130" y="2574"/>
                  <a:chExt cx="124" cy="153"/>
                </a:xfrm>
              </p:grpSpPr>
              <p:grpSp>
                <p:nvGrpSpPr>
                  <p:cNvPr id="533" name="Group 11"/>
                  <p:cNvGrpSpPr/>
                  <p:nvPr/>
                </p:nvGrpSpPr>
                <p:grpSpPr bwMode="auto">
                  <a:xfrm>
                    <a:off x="1161" y="2574"/>
                    <a:ext cx="35" cy="74"/>
                    <a:chOff x="1161" y="2574"/>
                    <a:chExt cx="35" cy="74"/>
                  </a:xfrm>
                </p:grpSpPr>
                <p:sp>
                  <p:nvSpPr>
                    <p:cNvPr id="537" name="Rectangle 1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68" y="2574"/>
                      <a:ext cx="21" cy="16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38" name="Rectangle 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61" y="2586"/>
                      <a:ext cx="35" cy="62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534" name="Group 14"/>
                  <p:cNvGrpSpPr/>
                  <p:nvPr/>
                </p:nvGrpSpPr>
                <p:grpSpPr bwMode="auto">
                  <a:xfrm>
                    <a:off x="1130" y="2644"/>
                    <a:ext cx="124" cy="83"/>
                    <a:chOff x="1130" y="2644"/>
                    <a:chExt cx="124" cy="83"/>
                  </a:xfrm>
                </p:grpSpPr>
                <p:sp>
                  <p:nvSpPr>
                    <p:cNvPr id="535" name="Rectangle 1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34" y="2653"/>
                      <a:ext cx="116" cy="74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36" name="Rectangle 1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30" y="2644"/>
                      <a:ext cx="124" cy="12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  <p:grpSp>
              <p:nvGrpSpPr>
                <p:cNvPr id="529" name="Group 17"/>
                <p:cNvGrpSpPr/>
                <p:nvPr/>
              </p:nvGrpSpPr>
              <p:grpSpPr bwMode="auto">
                <a:xfrm>
                  <a:off x="1143" y="2664"/>
                  <a:ext cx="94" cy="50"/>
                  <a:chOff x="1143" y="2664"/>
                  <a:chExt cx="94" cy="50"/>
                </a:xfrm>
              </p:grpSpPr>
              <p:sp>
                <p:nvSpPr>
                  <p:cNvPr id="530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1143" y="2664"/>
                    <a:ext cx="23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531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1214" y="2664"/>
                    <a:ext cx="23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532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1179" y="2664"/>
                    <a:ext cx="23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</p:grpSp>
          <p:grpSp>
            <p:nvGrpSpPr>
              <p:cNvPr id="441" name="Group 21"/>
              <p:cNvGrpSpPr/>
              <p:nvPr/>
            </p:nvGrpSpPr>
            <p:grpSpPr bwMode="auto">
              <a:xfrm>
                <a:off x="546" y="2618"/>
                <a:ext cx="124" cy="109"/>
                <a:chOff x="546" y="2618"/>
                <a:chExt cx="124" cy="109"/>
              </a:xfrm>
            </p:grpSpPr>
            <p:grpSp>
              <p:nvGrpSpPr>
                <p:cNvPr id="519" name="Group 22"/>
                <p:cNvGrpSpPr/>
                <p:nvPr/>
              </p:nvGrpSpPr>
              <p:grpSpPr bwMode="auto">
                <a:xfrm>
                  <a:off x="546" y="2618"/>
                  <a:ext cx="124" cy="109"/>
                  <a:chOff x="546" y="2618"/>
                  <a:chExt cx="124" cy="109"/>
                </a:xfrm>
              </p:grpSpPr>
              <p:sp>
                <p:nvSpPr>
                  <p:cNvPr id="524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618"/>
                    <a:ext cx="38" cy="30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grpSp>
                <p:nvGrpSpPr>
                  <p:cNvPr id="525" name="Group 24"/>
                  <p:cNvGrpSpPr/>
                  <p:nvPr/>
                </p:nvGrpSpPr>
                <p:grpSpPr bwMode="auto">
                  <a:xfrm>
                    <a:off x="546" y="2644"/>
                    <a:ext cx="124" cy="83"/>
                    <a:chOff x="546" y="2644"/>
                    <a:chExt cx="124" cy="83"/>
                  </a:xfrm>
                </p:grpSpPr>
                <p:sp>
                  <p:nvSpPr>
                    <p:cNvPr id="526" name="Rectangle 2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50" y="2653"/>
                      <a:ext cx="116" cy="74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27" name="Rectangle 2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6" y="2644"/>
                      <a:ext cx="124" cy="12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  <p:grpSp>
              <p:nvGrpSpPr>
                <p:cNvPr id="520" name="Group 27"/>
                <p:cNvGrpSpPr/>
                <p:nvPr/>
              </p:nvGrpSpPr>
              <p:grpSpPr bwMode="auto">
                <a:xfrm>
                  <a:off x="558" y="2664"/>
                  <a:ext cx="98" cy="50"/>
                  <a:chOff x="558" y="2664"/>
                  <a:chExt cx="98" cy="50"/>
                </a:xfrm>
              </p:grpSpPr>
              <p:sp>
                <p:nvSpPr>
                  <p:cNvPr id="521" name="Rectangle 28"/>
                  <p:cNvSpPr>
                    <a:spLocks noChangeArrowheads="1"/>
                  </p:cNvSpPr>
                  <p:nvPr/>
                </p:nvSpPr>
                <p:spPr bwMode="auto">
                  <a:xfrm>
                    <a:off x="629" y="2664"/>
                    <a:ext cx="27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522" name="Rectangle 29"/>
                  <p:cNvSpPr>
                    <a:spLocks noChangeArrowheads="1"/>
                  </p:cNvSpPr>
                  <p:nvPr/>
                </p:nvSpPr>
                <p:spPr bwMode="auto">
                  <a:xfrm>
                    <a:off x="558" y="2664"/>
                    <a:ext cx="27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523" name="Rectangle 30"/>
                  <p:cNvSpPr>
                    <a:spLocks noChangeArrowheads="1"/>
                  </p:cNvSpPr>
                  <p:nvPr/>
                </p:nvSpPr>
                <p:spPr bwMode="auto">
                  <a:xfrm>
                    <a:off x="594" y="2664"/>
                    <a:ext cx="27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</p:grpSp>
          <p:grpSp>
            <p:nvGrpSpPr>
              <p:cNvPr id="442" name="Group 31"/>
              <p:cNvGrpSpPr/>
              <p:nvPr/>
            </p:nvGrpSpPr>
            <p:grpSpPr bwMode="auto">
              <a:xfrm>
                <a:off x="654" y="2479"/>
                <a:ext cx="488" cy="262"/>
                <a:chOff x="654" y="2479"/>
                <a:chExt cx="488" cy="262"/>
              </a:xfrm>
            </p:grpSpPr>
            <p:grpSp>
              <p:nvGrpSpPr>
                <p:cNvPr id="443" name="Group 32"/>
                <p:cNvGrpSpPr/>
                <p:nvPr/>
              </p:nvGrpSpPr>
              <p:grpSpPr bwMode="auto">
                <a:xfrm>
                  <a:off x="654" y="2479"/>
                  <a:ext cx="488" cy="262"/>
                  <a:chOff x="654" y="2479"/>
                  <a:chExt cx="488" cy="262"/>
                </a:xfrm>
              </p:grpSpPr>
              <p:sp>
                <p:nvSpPr>
                  <p:cNvPr id="514" name="Rectangle 33"/>
                  <p:cNvSpPr>
                    <a:spLocks noChangeArrowheads="1"/>
                  </p:cNvSpPr>
                  <p:nvPr/>
                </p:nvSpPr>
                <p:spPr bwMode="auto">
                  <a:xfrm>
                    <a:off x="662" y="2522"/>
                    <a:ext cx="471" cy="219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515" name="Rectangle 34"/>
                  <p:cNvSpPr>
                    <a:spLocks noChangeArrowheads="1"/>
                  </p:cNvSpPr>
                  <p:nvPr/>
                </p:nvSpPr>
                <p:spPr bwMode="auto">
                  <a:xfrm>
                    <a:off x="780" y="2486"/>
                    <a:ext cx="34" cy="26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516" name="Rectangle 35"/>
                  <p:cNvSpPr>
                    <a:spLocks noChangeArrowheads="1"/>
                  </p:cNvSpPr>
                  <p:nvPr/>
                </p:nvSpPr>
                <p:spPr bwMode="auto">
                  <a:xfrm>
                    <a:off x="866" y="2479"/>
                    <a:ext cx="46" cy="36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517" name="Rectangle 36"/>
                  <p:cNvSpPr>
                    <a:spLocks noChangeArrowheads="1"/>
                  </p:cNvSpPr>
                  <p:nvPr/>
                </p:nvSpPr>
                <p:spPr bwMode="auto">
                  <a:xfrm>
                    <a:off x="654" y="2510"/>
                    <a:ext cx="488" cy="17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518" name="Rectangle 37"/>
                  <p:cNvSpPr>
                    <a:spLocks noChangeArrowheads="1"/>
                  </p:cNvSpPr>
                  <p:nvPr/>
                </p:nvSpPr>
                <p:spPr bwMode="auto">
                  <a:xfrm>
                    <a:off x="662" y="2629"/>
                    <a:ext cx="471" cy="8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  <p:grpSp>
              <p:nvGrpSpPr>
                <p:cNvPr id="444" name="Group 38"/>
                <p:cNvGrpSpPr/>
                <p:nvPr/>
              </p:nvGrpSpPr>
              <p:grpSpPr bwMode="auto">
                <a:xfrm>
                  <a:off x="670" y="2542"/>
                  <a:ext cx="449" cy="178"/>
                  <a:chOff x="670" y="2542"/>
                  <a:chExt cx="449" cy="178"/>
                </a:xfrm>
              </p:grpSpPr>
              <p:grpSp>
                <p:nvGrpSpPr>
                  <p:cNvPr id="449" name="Group 39"/>
                  <p:cNvGrpSpPr/>
                  <p:nvPr/>
                </p:nvGrpSpPr>
                <p:grpSpPr bwMode="auto">
                  <a:xfrm>
                    <a:off x="736" y="2649"/>
                    <a:ext cx="57" cy="71"/>
                    <a:chOff x="736" y="2649"/>
                    <a:chExt cx="57" cy="71"/>
                  </a:xfrm>
                </p:grpSpPr>
                <p:sp>
                  <p:nvSpPr>
                    <p:cNvPr id="510" name="Rectangle 4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39" y="2649"/>
                      <a:ext cx="51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11" name="Rectangle 4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36" y="2715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12" name="Line 4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64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13" name="Line 4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38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450" name="Group 44"/>
                  <p:cNvGrpSpPr/>
                  <p:nvPr/>
                </p:nvGrpSpPr>
                <p:grpSpPr bwMode="auto">
                  <a:xfrm>
                    <a:off x="801" y="2649"/>
                    <a:ext cx="57" cy="71"/>
                    <a:chOff x="801" y="2649"/>
                    <a:chExt cx="57" cy="71"/>
                  </a:xfrm>
                </p:grpSpPr>
                <p:sp>
                  <p:nvSpPr>
                    <p:cNvPr id="506" name="Rectangle 4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04" y="2649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07" name="Rectangle 4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01" y="2715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08" name="Line 4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29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09" name="Line 4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04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451" name="Group 49"/>
                  <p:cNvGrpSpPr/>
                  <p:nvPr/>
                </p:nvGrpSpPr>
                <p:grpSpPr bwMode="auto">
                  <a:xfrm>
                    <a:off x="1061" y="2649"/>
                    <a:ext cx="57" cy="71"/>
                    <a:chOff x="1061" y="2649"/>
                    <a:chExt cx="57" cy="71"/>
                  </a:xfrm>
                </p:grpSpPr>
                <p:sp>
                  <p:nvSpPr>
                    <p:cNvPr id="502" name="Rectangle 5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63" y="2649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03" name="Rectangle 5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61" y="2715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04" name="Line 5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89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05" name="Line 5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63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452" name="Group 54"/>
                  <p:cNvGrpSpPr/>
                  <p:nvPr/>
                </p:nvGrpSpPr>
                <p:grpSpPr bwMode="auto">
                  <a:xfrm>
                    <a:off x="670" y="2649"/>
                    <a:ext cx="58" cy="71"/>
                    <a:chOff x="670" y="2649"/>
                    <a:chExt cx="58" cy="71"/>
                  </a:xfrm>
                </p:grpSpPr>
                <p:sp>
                  <p:nvSpPr>
                    <p:cNvPr id="498" name="Rectangle 5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3" y="2649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99" name="Rectangle 5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0" y="2715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00" name="Line 5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99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501" name="Line 5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3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453" name="Group 59"/>
                  <p:cNvGrpSpPr/>
                  <p:nvPr/>
                </p:nvGrpSpPr>
                <p:grpSpPr bwMode="auto">
                  <a:xfrm>
                    <a:off x="867" y="2542"/>
                    <a:ext cx="58" cy="71"/>
                    <a:chOff x="867" y="2542"/>
                    <a:chExt cx="58" cy="71"/>
                  </a:xfrm>
                </p:grpSpPr>
                <p:sp>
                  <p:nvSpPr>
                    <p:cNvPr id="494" name="Rectangle 6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70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95" name="Rectangle 6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67" y="2608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96" name="Line 6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96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97" name="Line 6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70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454" name="Group 64"/>
                  <p:cNvGrpSpPr/>
                  <p:nvPr/>
                </p:nvGrpSpPr>
                <p:grpSpPr bwMode="auto">
                  <a:xfrm>
                    <a:off x="931" y="2649"/>
                    <a:ext cx="57" cy="71"/>
                    <a:chOff x="931" y="2649"/>
                    <a:chExt cx="57" cy="71"/>
                  </a:xfrm>
                </p:grpSpPr>
                <p:sp>
                  <p:nvSpPr>
                    <p:cNvPr id="490" name="Rectangle 6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4" y="2649"/>
                      <a:ext cx="51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91" name="Rectangle 6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1" y="2715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92" name="Line 6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59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93" name="Line 6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33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455" name="Group 69"/>
                  <p:cNvGrpSpPr/>
                  <p:nvPr/>
                </p:nvGrpSpPr>
                <p:grpSpPr bwMode="auto">
                  <a:xfrm>
                    <a:off x="996" y="2649"/>
                    <a:ext cx="57" cy="71"/>
                    <a:chOff x="996" y="2649"/>
                    <a:chExt cx="57" cy="71"/>
                  </a:xfrm>
                </p:grpSpPr>
                <p:sp>
                  <p:nvSpPr>
                    <p:cNvPr id="486" name="Rectangle 7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98" y="2649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87" name="Rectangle 7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96" y="2715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88" name="Line 7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24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89" name="Line 7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98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456" name="Group 74"/>
                  <p:cNvGrpSpPr/>
                  <p:nvPr/>
                </p:nvGrpSpPr>
                <p:grpSpPr bwMode="auto">
                  <a:xfrm>
                    <a:off x="736" y="2542"/>
                    <a:ext cx="58" cy="71"/>
                    <a:chOff x="736" y="2542"/>
                    <a:chExt cx="58" cy="71"/>
                  </a:xfrm>
                </p:grpSpPr>
                <p:sp>
                  <p:nvSpPr>
                    <p:cNvPr id="482" name="Rectangle 7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39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83" name="Rectangle 7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36" y="2608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84" name="Line 7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65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85" name="Line 7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39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457" name="Group 79"/>
                  <p:cNvGrpSpPr/>
                  <p:nvPr/>
                </p:nvGrpSpPr>
                <p:grpSpPr bwMode="auto">
                  <a:xfrm>
                    <a:off x="802" y="2542"/>
                    <a:ext cx="57" cy="71"/>
                    <a:chOff x="802" y="2542"/>
                    <a:chExt cx="57" cy="71"/>
                  </a:xfrm>
                </p:grpSpPr>
                <p:sp>
                  <p:nvSpPr>
                    <p:cNvPr id="478" name="Rectangle 8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05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79" name="Rectangle 8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02" y="2608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80" name="Line 8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30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81" name="Line 8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04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458" name="Group 84"/>
                  <p:cNvGrpSpPr/>
                  <p:nvPr/>
                </p:nvGrpSpPr>
                <p:grpSpPr bwMode="auto">
                  <a:xfrm>
                    <a:off x="1061" y="2542"/>
                    <a:ext cx="58" cy="71"/>
                    <a:chOff x="1061" y="2542"/>
                    <a:chExt cx="58" cy="71"/>
                  </a:xfrm>
                </p:grpSpPr>
                <p:sp>
                  <p:nvSpPr>
                    <p:cNvPr id="474" name="Rectangle 8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64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75" name="Rectangle 8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61" y="2608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76" name="Line 8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90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77" name="Line 8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64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459" name="Group 89"/>
                  <p:cNvGrpSpPr/>
                  <p:nvPr/>
                </p:nvGrpSpPr>
                <p:grpSpPr bwMode="auto">
                  <a:xfrm>
                    <a:off x="671" y="2542"/>
                    <a:ext cx="58" cy="71"/>
                    <a:chOff x="671" y="2542"/>
                    <a:chExt cx="58" cy="71"/>
                  </a:xfrm>
                </p:grpSpPr>
                <p:sp>
                  <p:nvSpPr>
                    <p:cNvPr id="470" name="Rectangle 9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4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71" name="Rectangle 9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1" y="2608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72" name="Line 9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99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73" name="Line 9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4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460" name="Group 94"/>
                  <p:cNvGrpSpPr/>
                  <p:nvPr/>
                </p:nvGrpSpPr>
                <p:grpSpPr bwMode="auto">
                  <a:xfrm>
                    <a:off x="931" y="2542"/>
                    <a:ext cx="58" cy="71"/>
                    <a:chOff x="931" y="2542"/>
                    <a:chExt cx="58" cy="71"/>
                  </a:xfrm>
                </p:grpSpPr>
                <p:sp>
                  <p:nvSpPr>
                    <p:cNvPr id="466" name="Rectangle 9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4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67" name="Rectangle 9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1" y="2608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68" name="Line 9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60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69" name="Line 9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34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461" name="Group 99"/>
                  <p:cNvGrpSpPr/>
                  <p:nvPr/>
                </p:nvGrpSpPr>
                <p:grpSpPr bwMode="auto">
                  <a:xfrm>
                    <a:off x="997" y="2542"/>
                    <a:ext cx="57" cy="71"/>
                    <a:chOff x="997" y="2542"/>
                    <a:chExt cx="57" cy="71"/>
                  </a:xfrm>
                </p:grpSpPr>
                <p:sp>
                  <p:nvSpPr>
                    <p:cNvPr id="462" name="Rectangle 10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99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63" name="Rectangle 10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97" y="2608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64" name="Line 10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25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65" name="Line 10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99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  <p:grpSp>
              <p:nvGrpSpPr>
                <p:cNvPr id="445" name="Group 104"/>
                <p:cNvGrpSpPr/>
                <p:nvPr/>
              </p:nvGrpSpPr>
              <p:grpSpPr bwMode="auto">
                <a:xfrm>
                  <a:off x="868" y="2643"/>
                  <a:ext cx="54" cy="97"/>
                  <a:chOff x="868" y="2643"/>
                  <a:chExt cx="54" cy="97"/>
                </a:xfrm>
              </p:grpSpPr>
              <p:sp>
                <p:nvSpPr>
                  <p:cNvPr id="446" name="Rectangle 105"/>
                  <p:cNvSpPr>
                    <a:spLocks noChangeArrowheads="1"/>
                  </p:cNvSpPr>
                  <p:nvPr/>
                </p:nvSpPr>
                <p:spPr bwMode="auto">
                  <a:xfrm>
                    <a:off x="868" y="2643"/>
                    <a:ext cx="54" cy="97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447" name="Rectangle 106"/>
                  <p:cNvSpPr>
                    <a:spLocks noChangeArrowheads="1"/>
                  </p:cNvSpPr>
                  <p:nvPr/>
                </p:nvSpPr>
                <p:spPr bwMode="auto">
                  <a:xfrm>
                    <a:off x="874" y="2653"/>
                    <a:ext cx="41" cy="81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448" name="Oval 107"/>
                  <p:cNvSpPr>
                    <a:spLocks noChangeArrowheads="1"/>
                  </p:cNvSpPr>
                  <p:nvPr/>
                </p:nvSpPr>
                <p:spPr bwMode="auto">
                  <a:xfrm>
                    <a:off x="908" y="2693"/>
                    <a:ext cx="2" cy="3"/>
                  </a:xfrm>
                  <a:prstGeom prst="ellipse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</p:grpSp>
        </p:grpSp>
        <p:grpSp>
          <p:nvGrpSpPr>
            <p:cNvPr id="7" name="Group 108"/>
            <p:cNvGrpSpPr/>
            <p:nvPr/>
          </p:nvGrpSpPr>
          <p:grpSpPr bwMode="auto">
            <a:xfrm>
              <a:off x="29096710" y="8012230"/>
              <a:ext cx="2677290" cy="2187202"/>
              <a:chOff x="4779" y="2206"/>
              <a:chExt cx="567" cy="540"/>
            </a:xfrm>
          </p:grpSpPr>
          <p:grpSp>
            <p:nvGrpSpPr>
              <p:cNvPr id="241" name="Group 109"/>
              <p:cNvGrpSpPr/>
              <p:nvPr/>
            </p:nvGrpSpPr>
            <p:grpSpPr bwMode="auto">
              <a:xfrm>
                <a:off x="4986" y="2206"/>
                <a:ext cx="218" cy="537"/>
                <a:chOff x="4986" y="2206"/>
                <a:chExt cx="218" cy="537"/>
              </a:xfrm>
            </p:grpSpPr>
            <p:grpSp>
              <p:nvGrpSpPr>
                <p:cNvPr id="381" name="Group 110"/>
                <p:cNvGrpSpPr/>
                <p:nvPr/>
              </p:nvGrpSpPr>
              <p:grpSpPr bwMode="auto">
                <a:xfrm>
                  <a:off x="4986" y="2302"/>
                  <a:ext cx="218" cy="441"/>
                  <a:chOff x="4986" y="2302"/>
                  <a:chExt cx="218" cy="441"/>
                </a:xfrm>
              </p:grpSpPr>
              <p:grpSp>
                <p:nvGrpSpPr>
                  <p:cNvPr id="421" name="Group 111"/>
                  <p:cNvGrpSpPr/>
                  <p:nvPr/>
                </p:nvGrpSpPr>
                <p:grpSpPr bwMode="auto">
                  <a:xfrm>
                    <a:off x="5060" y="2303"/>
                    <a:ext cx="86" cy="275"/>
                    <a:chOff x="5060" y="2303"/>
                    <a:chExt cx="86" cy="275"/>
                  </a:xfrm>
                </p:grpSpPr>
                <p:sp>
                  <p:nvSpPr>
                    <p:cNvPr id="434" name="Freeform 112"/>
                    <p:cNvSpPr/>
                    <p:nvPr/>
                  </p:nvSpPr>
                  <p:spPr bwMode="auto">
                    <a:xfrm>
                      <a:off x="5060" y="2315"/>
                      <a:ext cx="86" cy="248"/>
                    </a:xfrm>
                    <a:custGeom>
                      <a:avLst/>
                      <a:gdLst>
                        <a:gd name="T0" fmla="*/ 0 w 514"/>
                        <a:gd name="T1" fmla="*/ 0 h 1240"/>
                        <a:gd name="T2" fmla="*/ 54 w 514"/>
                        <a:gd name="T3" fmla="*/ 580 h 1240"/>
                        <a:gd name="T4" fmla="*/ 90 w 514"/>
                        <a:gd name="T5" fmla="*/ 1240 h 1240"/>
                        <a:gd name="T6" fmla="*/ 514 w 514"/>
                        <a:gd name="T7" fmla="*/ 1240 h 1240"/>
                        <a:gd name="T8" fmla="*/ 456 w 514"/>
                        <a:gd name="T9" fmla="*/ 230 h 1240"/>
                        <a:gd name="T10" fmla="*/ 399 w 514"/>
                        <a:gd name="T11" fmla="*/ 0 h 1240"/>
                        <a:gd name="T12" fmla="*/ 0 w 514"/>
                        <a:gd name="T13" fmla="*/ 0 h 124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14" h="1240">
                          <a:moveTo>
                            <a:pt x="0" y="0"/>
                          </a:moveTo>
                          <a:lnTo>
                            <a:pt x="54" y="580"/>
                          </a:lnTo>
                          <a:lnTo>
                            <a:pt x="90" y="1240"/>
                          </a:lnTo>
                          <a:lnTo>
                            <a:pt x="514" y="1240"/>
                          </a:lnTo>
                          <a:lnTo>
                            <a:pt x="456" y="230"/>
                          </a:lnTo>
                          <a:lnTo>
                            <a:pt x="399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FD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35" name="Freeform 113"/>
                    <p:cNvSpPr/>
                    <p:nvPr/>
                  </p:nvSpPr>
                  <p:spPr bwMode="auto">
                    <a:xfrm>
                      <a:off x="5119" y="2316"/>
                      <a:ext cx="20" cy="217"/>
                    </a:xfrm>
                    <a:custGeom>
                      <a:avLst/>
                      <a:gdLst>
                        <a:gd name="T0" fmla="*/ 0 w 121"/>
                        <a:gd name="T1" fmla="*/ 200 h 1084"/>
                        <a:gd name="T2" fmla="*/ 41 w 121"/>
                        <a:gd name="T3" fmla="*/ 335 h 1084"/>
                        <a:gd name="T4" fmla="*/ 52 w 121"/>
                        <a:gd name="T5" fmla="*/ 390 h 1084"/>
                        <a:gd name="T6" fmla="*/ 55 w 121"/>
                        <a:gd name="T7" fmla="*/ 472 h 1084"/>
                        <a:gd name="T8" fmla="*/ 59 w 121"/>
                        <a:gd name="T9" fmla="*/ 575 h 1084"/>
                        <a:gd name="T10" fmla="*/ 66 w 121"/>
                        <a:gd name="T11" fmla="*/ 615 h 1084"/>
                        <a:gd name="T12" fmla="*/ 77 w 121"/>
                        <a:gd name="T13" fmla="*/ 652 h 1084"/>
                        <a:gd name="T14" fmla="*/ 80 w 121"/>
                        <a:gd name="T15" fmla="*/ 708 h 1084"/>
                        <a:gd name="T16" fmla="*/ 84 w 121"/>
                        <a:gd name="T17" fmla="*/ 833 h 1084"/>
                        <a:gd name="T18" fmla="*/ 87 w 121"/>
                        <a:gd name="T19" fmla="*/ 870 h 1084"/>
                        <a:gd name="T20" fmla="*/ 96 w 121"/>
                        <a:gd name="T21" fmla="*/ 922 h 1084"/>
                        <a:gd name="T22" fmla="*/ 106 w 121"/>
                        <a:gd name="T23" fmla="*/ 989 h 1084"/>
                        <a:gd name="T24" fmla="*/ 121 w 121"/>
                        <a:gd name="T25" fmla="*/ 1084 h 1084"/>
                        <a:gd name="T26" fmla="*/ 106 w 121"/>
                        <a:gd name="T27" fmla="*/ 502 h 1084"/>
                        <a:gd name="T28" fmla="*/ 80 w 121"/>
                        <a:gd name="T29" fmla="*/ 196 h 1084"/>
                        <a:gd name="T30" fmla="*/ 69 w 121"/>
                        <a:gd name="T31" fmla="*/ 74 h 1084"/>
                        <a:gd name="T32" fmla="*/ 44 w 121"/>
                        <a:gd name="T33" fmla="*/ 0 h 1084"/>
                        <a:gd name="T34" fmla="*/ 0 w 121"/>
                        <a:gd name="T35" fmla="*/ 200 h 108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</a:cxnLst>
                      <a:rect l="0" t="0" r="r" b="b"/>
                      <a:pathLst>
                        <a:path w="121" h="1084">
                          <a:moveTo>
                            <a:pt x="0" y="200"/>
                          </a:moveTo>
                          <a:lnTo>
                            <a:pt x="41" y="335"/>
                          </a:lnTo>
                          <a:lnTo>
                            <a:pt x="52" y="390"/>
                          </a:lnTo>
                          <a:lnTo>
                            <a:pt x="55" y="472"/>
                          </a:lnTo>
                          <a:lnTo>
                            <a:pt x="59" y="575"/>
                          </a:lnTo>
                          <a:lnTo>
                            <a:pt x="66" y="615"/>
                          </a:lnTo>
                          <a:lnTo>
                            <a:pt x="77" y="652"/>
                          </a:lnTo>
                          <a:lnTo>
                            <a:pt x="80" y="708"/>
                          </a:lnTo>
                          <a:lnTo>
                            <a:pt x="84" y="833"/>
                          </a:lnTo>
                          <a:lnTo>
                            <a:pt x="87" y="870"/>
                          </a:lnTo>
                          <a:lnTo>
                            <a:pt x="96" y="922"/>
                          </a:lnTo>
                          <a:lnTo>
                            <a:pt x="106" y="989"/>
                          </a:lnTo>
                          <a:lnTo>
                            <a:pt x="121" y="1084"/>
                          </a:lnTo>
                          <a:lnTo>
                            <a:pt x="106" y="502"/>
                          </a:lnTo>
                          <a:lnTo>
                            <a:pt x="80" y="196"/>
                          </a:lnTo>
                          <a:lnTo>
                            <a:pt x="69" y="74"/>
                          </a:lnTo>
                          <a:lnTo>
                            <a:pt x="44" y="0"/>
                          </a:lnTo>
                          <a:lnTo>
                            <a:pt x="0" y="200"/>
                          </a:lnTo>
                          <a:close/>
                        </a:path>
                      </a:pathLst>
                    </a:custGeom>
                    <a:solidFill>
                      <a:srgbClr val="BFBFB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36" name="Freeform 114"/>
                    <p:cNvSpPr/>
                    <p:nvPr/>
                  </p:nvSpPr>
                  <p:spPr bwMode="auto">
                    <a:xfrm>
                      <a:off x="5092" y="2344"/>
                      <a:ext cx="38" cy="234"/>
                    </a:xfrm>
                    <a:custGeom>
                      <a:avLst/>
                      <a:gdLst>
                        <a:gd name="T0" fmla="*/ 0 w 227"/>
                        <a:gd name="T1" fmla="*/ 52 h 1166"/>
                        <a:gd name="T2" fmla="*/ 50 w 227"/>
                        <a:gd name="T3" fmla="*/ 137 h 1166"/>
                        <a:gd name="T4" fmla="*/ 36 w 227"/>
                        <a:gd name="T5" fmla="*/ 717 h 1166"/>
                        <a:gd name="T6" fmla="*/ 32 w 227"/>
                        <a:gd name="T7" fmla="*/ 976 h 1166"/>
                        <a:gd name="T8" fmla="*/ 43 w 227"/>
                        <a:gd name="T9" fmla="*/ 1069 h 1166"/>
                        <a:gd name="T10" fmla="*/ 151 w 227"/>
                        <a:gd name="T11" fmla="*/ 1166 h 1166"/>
                        <a:gd name="T12" fmla="*/ 227 w 227"/>
                        <a:gd name="T13" fmla="*/ 1036 h 1166"/>
                        <a:gd name="T14" fmla="*/ 177 w 227"/>
                        <a:gd name="T15" fmla="*/ 661 h 1166"/>
                        <a:gd name="T16" fmla="*/ 147 w 227"/>
                        <a:gd name="T17" fmla="*/ 441 h 1166"/>
                        <a:gd name="T18" fmla="*/ 109 w 227"/>
                        <a:gd name="T19" fmla="*/ 185 h 1166"/>
                        <a:gd name="T20" fmla="*/ 98 w 227"/>
                        <a:gd name="T21" fmla="*/ 119 h 1166"/>
                        <a:gd name="T22" fmla="*/ 147 w 227"/>
                        <a:gd name="T23" fmla="*/ 41 h 1166"/>
                        <a:gd name="T24" fmla="*/ 129 w 227"/>
                        <a:gd name="T25" fmla="*/ 4 h 1166"/>
                        <a:gd name="T26" fmla="*/ 66 w 227"/>
                        <a:gd name="T27" fmla="*/ 0 h 1166"/>
                        <a:gd name="T28" fmla="*/ 0 w 227"/>
                        <a:gd name="T29" fmla="*/ 52 h 116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</a:cxnLst>
                      <a:rect l="0" t="0" r="r" b="b"/>
                      <a:pathLst>
                        <a:path w="227" h="1166">
                          <a:moveTo>
                            <a:pt x="0" y="52"/>
                          </a:moveTo>
                          <a:lnTo>
                            <a:pt x="50" y="137"/>
                          </a:lnTo>
                          <a:lnTo>
                            <a:pt x="36" y="717"/>
                          </a:lnTo>
                          <a:lnTo>
                            <a:pt x="32" y="976"/>
                          </a:lnTo>
                          <a:lnTo>
                            <a:pt x="43" y="1069"/>
                          </a:lnTo>
                          <a:lnTo>
                            <a:pt x="151" y="1166"/>
                          </a:lnTo>
                          <a:lnTo>
                            <a:pt x="227" y="1036"/>
                          </a:lnTo>
                          <a:lnTo>
                            <a:pt x="177" y="661"/>
                          </a:lnTo>
                          <a:lnTo>
                            <a:pt x="147" y="441"/>
                          </a:lnTo>
                          <a:lnTo>
                            <a:pt x="109" y="185"/>
                          </a:lnTo>
                          <a:lnTo>
                            <a:pt x="98" y="119"/>
                          </a:lnTo>
                          <a:lnTo>
                            <a:pt x="147" y="41"/>
                          </a:lnTo>
                          <a:lnTo>
                            <a:pt x="129" y="4"/>
                          </a:lnTo>
                          <a:lnTo>
                            <a:pt x="66" y="0"/>
                          </a:lnTo>
                          <a:lnTo>
                            <a:pt x="0" y="52"/>
                          </a:lnTo>
                          <a:close/>
                        </a:path>
                      </a:pathLst>
                    </a:custGeom>
                    <a:solidFill>
                      <a:srgbClr val="3F3F3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37" name="Freeform 115"/>
                    <p:cNvSpPr/>
                    <p:nvPr/>
                  </p:nvSpPr>
                  <p:spPr bwMode="auto">
                    <a:xfrm>
                      <a:off x="5064" y="2305"/>
                      <a:ext cx="59" cy="74"/>
                    </a:xfrm>
                    <a:custGeom>
                      <a:avLst/>
                      <a:gdLst>
                        <a:gd name="T0" fmla="*/ 3 w 355"/>
                        <a:gd name="T1" fmla="*/ 0 h 372"/>
                        <a:gd name="T2" fmla="*/ 14 w 355"/>
                        <a:gd name="T3" fmla="*/ 34 h 372"/>
                        <a:gd name="T4" fmla="*/ 21 w 355"/>
                        <a:gd name="T5" fmla="*/ 47 h 372"/>
                        <a:gd name="T6" fmla="*/ 36 w 355"/>
                        <a:gd name="T7" fmla="*/ 72 h 372"/>
                        <a:gd name="T8" fmla="*/ 49 w 355"/>
                        <a:gd name="T9" fmla="*/ 92 h 372"/>
                        <a:gd name="T10" fmla="*/ 64 w 355"/>
                        <a:gd name="T11" fmla="*/ 108 h 372"/>
                        <a:gd name="T12" fmla="*/ 86 w 355"/>
                        <a:gd name="T13" fmla="*/ 131 h 372"/>
                        <a:gd name="T14" fmla="*/ 114 w 355"/>
                        <a:gd name="T15" fmla="*/ 152 h 372"/>
                        <a:gd name="T16" fmla="*/ 142 w 355"/>
                        <a:gd name="T17" fmla="*/ 173 h 372"/>
                        <a:gd name="T18" fmla="*/ 168 w 355"/>
                        <a:gd name="T19" fmla="*/ 187 h 372"/>
                        <a:gd name="T20" fmla="*/ 199 w 355"/>
                        <a:gd name="T21" fmla="*/ 199 h 372"/>
                        <a:gd name="T22" fmla="*/ 228 w 355"/>
                        <a:gd name="T23" fmla="*/ 202 h 372"/>
                        <a:gd name="T24" fmla="*/ 259 w 355"/>
                        <a:gd name="T25" fmla="*/ 202 h 372"/>
                        <a:gd name="T26" fmla="*/ 278 w 355"/>
                        <a:gd name="T27" fmla="*/ 189 h 372"/>
                        <a:gd name="T28" fmla="*/ 296 w 355"/>
                        <a:gd name="T29" fmla="*/ 176 h 372"/>
                        <a:gd name="T30" fmla="*/ 313 w 355"/>
                        <a:gd name="T31" fmla="*/ 150 h 372"/>
                        <a:gd name="T32" fmla="*/ 330 w 355"/>
                        <a:gd name="T33" fmla="*/ 124 h 372"/>
                        <a:gd name="T34" fmla="*/ 340 w 355"/>
                        <a:gd name="T35" fmla="*/ 102 h 372"/>
                        <a:gd name="T36" fmla="*/ 346 w 355"/>
                        <a:gd name="T37" fmla="*/ 60 h 372"/>
                        <a:gd name="T38" fmla="*/ 353 w 355"/>
                        <a:gd name="T39" fmla="*/ 48 h 372"/>
                        <a:gd name="T40" fmla="*/ 355 w 355"/>
                        <a:gd name="T41" fmla="*/ 116 h 372"/>
                        <a:gd name="T42" fmla="*/ 341 w 355"/>
                        <a:gd name="T43" fmla="*/ 346 h 372"/>
                        <a:gd name="T44" fmla="*/ 241 w 355"/>
                        <a:gd name="T45" fmla="*/ 214 h 372"/>
                        <a:gd name="T46" fmla="*/ 230 w 355"/>
                        <a:gd name="T47" fmla="*/ 214 h 372"/>
                        <a:gd name="T48" fmla="*/ 130 w 355"/>
                        <a:gd name="T49" fmla="*/ 314 h 372"/>
                        <a:gd name="T50" fmla="*/ 73 w 355"/>
                        <a:gd name="T51" fmla="*/ 372 h 372"/>
                        <a:gd name="T52" fmla="*/ 18 w 355"/>
                        <a:gd name="T53" fmla="*/ 186 h 372"/>
                        <a:gd name="T54" fmla="*/ 0 w 355"/>
                        <a:gd name="T55" fmla="*/ 113 h 372"/>
                        <a:gd name="T56" fmla="*/ 3 w 355"/>
                        <a:gd name="T57" fmla="*/ 0 h 37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</a:cxnLst>
                      <a:rect l="0" t="0" r="r" b="b"/>
                      <a:pathLst>
                        <a:path w="355" h="372">
                          <a:moveTo>
                            <a:pt x="3" y="0"/>
                          </a:moveTo>
                          <a:lnTo>
                            <a:pt x="14" y="34"/>
                          </a:lnTo>
                          <a:lnTo>
                            <a:pt x="21" y="47"/>
                          </a:lnTo>
                          <a:lnTo>
                            <a:pt x="36" y="72"/>
                          </a:lnTo>
                          <a:lnTo>
                            <a:pt x="49" y="92"/>
                          </a:lnTo>
                          <a:lnTo>
                            <a:pt x="64" y="108"/>
                          </a:lnTo>
                          <a:lnTo>
                            <a:pt x="86" y="131"/>
                          </a:lnTo>
                          <a:lnTo>
                            <a:pt x="114" y="152"/>
                          </a:lnTo>
                          <a:lnTo>
                            <a:pt x="142" y="173"/>
                          </a:lnTo>
                          <a:lnTo>
                            <a:pt x="168" y="187"/>
                          </a:lnTo>
                          <a:lnTo>
                            <a:pt x="199" y="199"/>
                          </a:lnTo>
                          <a:lnTo>
                            <a:pt x="228" y="202"/>
                          </a:lnTo>
                          <a:lnTo>
                            <a:pt x="259" y="202"/>
                          </a:lnTo>
                          <a:lnTo>
                            <a:pt x="278" y="189"/>
                          </a:lnTo>
                          <a:lnTo>
                            <a:pt x="296" y="176"/>
                          </a:lnTo>
                          <a:lnTo>
                            <a:pt x="313" y="150"/>
                          </a:lnTo>
                          <a:lnTo>
                            <a:pt x="330" y="124"/>
                          </a:lnTo>
                          <a:lnTo>
                            <a:pt x="340" y="102"/>
                          </a:lnTo>
                          <a:lnTo>
                            <a:pt x="346" y="60"/>
                          </a:lnTo>
                          <a:lnTo>
                            <a:pt x="353" y="48"/>
                          </a:lnTo>
                          <a:lnTo>
                            <a:pt x="355" y="116"/>
                          </a:lnTo>
                          <a:lnTo>
                            <a:pt x="341" y="346"/>
                          </a:lnTo>
                          <a:lnTo>
                            <a:pt x="241" y="214"/>
                          </a:lnTo>
                          <a:lnTo>
                            <a:pt x="230" y="214"/>
                          </a:lnTo>
                          <a:lnTo>
                            <a:pt x="130" y="314"/>
                          </a:lnTo>
                          <a:lnTo>
                            <a:pt x="73" y="372"/>
                          </a:lnTo>
                          <a:lnTo>
                            <a:pt x="18" y="186"/>
                          </a:lnTo>
                          <a:lnTo>
                            <a:pt x="0" y="113"/>
                          </a:lnTo>
                          <a:lnTo>
                            <a:pt x="3" y="0"/>
                          </a:lnTo>
                          <a:close/>
                        </a:path>
                      </a:pathLst>
                    </a:custGeom>
                    <a:solidFill>
                      <a:srgbClr val="3F3F3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38" name="Freeform 116"/>
                    <p:cNvSpPr/>
                    <p:nvPr/>
                  </p:nvSpPr>
                  <p:spPr bwMode="auto">
                    <a:xfrm>
                      <a:off x="5066" y="2303"/>
                      <a:ext cx="59" cy="75"/>
                    </a:xfrm>
                    <a:custGeom>
                      <a:avLst/>
                      <a:gdLst>
                        <a:gd name="T0" fmla="*/ 4 w 355"/>
                        <a:gd name="T1" fmla="*/ 0 h 373"/>
                        <a:gd name="T2" fmla="*/ 15 w 355"/>
                        <a:gd name="T3" fmla="*/ 34 h 373"/>
                        <a:gd name="T4" fmla="*/ 22 w 355"/>
                        <a:gd name="T5" fmla="*/ 47 h 373"/>
                        <a:gd name="T6" fmla="*/ 36 w 355"/>
                        <a:gd name="T7" fmla="*/ 72 h 373"/>
                        <a:gd name="T8" fmla="*/ 49 w 355"/>
                        <a:gd name="T9" fmla="*/ 92 h 373"/>
                        <a:gd name="T10" fmla="*/ 65 w 355"/>
                        <a:gd name="T11" fmla="*/ 108 h 373"/>
                        <a:gd name="T12" fmla="*/ 86 w 355"/>
                        <a:gd name="T13" fmla="*/ 131 h 373"/>
                        <a:gd name="T14" fmla="*/ 115 w 355"/>
                        <a:gd name="T15" fmla="*/ 152 h 373"/>
                        <a:gd name="T16" fmla="*/ 142 w 355"/>
                        <a:gd name="T17" fmla="*/ 173 h 373"/>
                        <a:gd name="T18" fmla="*/ 169 w 355"/>
                        <a:gd name="T19" fmla="*/ 187 h 373"/>
                        <a:gd name="T20" fmla="*/ 200 w 355"/>
                        <a:gd name="T21" fmla="*/ 199 h 373"/>
                        <a:gd name="T22" fmla="*/ 229 w 355"/>
                        <a:gd name="T23" fmla="*/ 202 h 373"/>
                        <a:gd name="T24" fmla="*/ 260 w 355"/>
                        <a:gd name="T25" fmla="*/ 202 h 373"/>
                        <a:gd name="T26" fmla="*/ 279 w 355"/>
                        <a:gd name="T27" fmla="*/ 191 h 373"/>
                        <a:gd name="T28" fmla="*/ 297 w 355"/>
                        <a:gd name="T29" fmla="*/ 176 h 373"/>
                        <a:gd name="T30" fmla="*/ 313 w 355"/>
                        <a:gd name="T31" fmla="*/ 150 h 373"/>
                        <a:gd name="T32" fmla="*/ 330 w 355"/>
                        <a:gd name="T33" fmla="*/ 124 h 373"/>
                        <a:gd name="T34" fmla="*/ 341 w 355"/>
                        <a:gd name="T35" fmla="*/ 102 h 373"/>
                        <a:gd name="T36" fmla="*/ 347 w 355"/>
                        <a:gd name="T37" fmla="*/ 60 h 373"/>
                        <a:gd name="T38" fmla="*/ 354 w 355"/>
                        <a:gd name="T39" fmla="*/ 49 h 373"/>
                        <a:gd name="T40" fmla="*/ 355 w 355"/>
                        <a:gd name="T41" fmla="*/ 117 h 373"/>
                        <a:gd name="T42" fmla="*/ 342 w 355"/>
                        <a:gd name="T43" fmla="*/ 347 h 373"/>
                        <a:gd name="T44" fmla="*/ 242 w 355"/>
                        <a:gd name="T45" fmla="*/ 214 h 373"/>
                        <a:gd name="T46" fmla="*/ 231 w 355"/>
                        <a:gd name="T47" fmla="*/ 214 h 373"/>
                        <a:gd name="T48" fmla="*/ 131 w 355"/>
                        <a:gd name="T49" fmla="*/ 314 h 373"/>
                        <a:gd name="T50" fmla="*/ 73 w 355"/>
                        <a:gd name="T51" fmla="*/ 373 h 373"/>
                        <a:gd name="T52" fmla="*/ 18 w 355"/>
                        <a:gd name="T53" fmla="*/ 186 h 373"/>
                        <a:gd name="T54" fmla="*/ 0 w 355"/>
                        <a:gd name="T55" fmla="*/ 113 h 373"/>
                        <a:gd name="T56" fmla="*/ 4 w 355"/>
                        <a:gd name="T57" fmla="*/ 0 h 37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</a:cxnLst>
                      <a:rect l="0" t="0" r="r" b="b"/>
                      <a:pathLst>
                        <a:path w="355" h="373">
                          <a:moveTo>
                            <a:pt x="4" y="0"/>
                          </a:moveTo>
                          <a:lnTo>
                            <a:pt x="15" y="34"/>
                          </a:lnTo>
                          <a:lnTo>
                            <a:pt x="22" y="47"/>
                          </a:lnTo>
                          <a:lnTo>
                            <a:pt x="36" y="72"/>
                          </a:lnTo>
                          <a:lnTo>
                            <a:pt x="49" y="92"/>
                          </a:lnTo>
                          <a:lnTo>
                            <a:pt x="65" y="108"/>
                          </a:lnTo>
                          <a:lnTo>
                            <a:pt x="86" y="131"/>
                          </a:lnTo>
                          <a:lnTo>
                            <a:pt x="115" y="152"/>
                          </a:lnTo>
                          <a:lnTo>
                            <a:pt x="142" y="173"/>
                          </a:lnTo>
                          <a:lnTo>
                            <a:pt x="169" y="187"/>
                          </a:lnTo>
                          <a:lnTo>
                            <a:pt x="200" y="199"/>
                          </a:lnTo>
                          <a:lnTo>
                            <a:pt x="229" y="202"/>
                          </a:lnTo>
                          <a:lnTo>
                            <a:pt x="260" y="202"/>
                          </a:lnTo>
                          <a:lnTo>
                            <a:pt x="279" y="191"/>
                          </a:lnTo>
                          <a:lnTo>
                            <a:pt x="297" y="176"/>
                          </a:lnTo>
                          <a:lnTo>
                            <a:pt x="313" y="150"/>
                          </a:lnTo>
                          <a:lnTo>
                            <a:pt x="330" y="124"/>
                          </a:lnTo>
                          <a:lnTo>
                            <a:pt x="341" y="102"/>
                          </a:lnTo>
                          <a:lnTo>
                            <a:pt x="347" y="60"/>
                          </a:lnTo>
                          <a:lnTo>
                            <a:pt x="354" y="49"/>
                          </a:lnTo>
                          <a:lnTo>
                            <a:pt x="355" y="117"/>
                          </a:lnTo>
                          <a:lnTo>
                            <a:pt x="342" y="347"/>
                          </a:lnTo>
                          <a:lnTo>
                            <a:pt x="242" y="214"/>
                          </a:lnTo>
                          <a:lnTo>
                            <a:pt x="231" y="214"/>
                          </a:lnTo>
                          <a:lnTo>
                            <a:pt x="131" y="314"/>
                          </a:lnTo>
                          <a:lnTo>
                            <a:pt x="73" y="373"/>
                          </a:lnTo>
                          <a:lnTo>
                            <a:pt x="18" y="186"/>
                          </a:lnTo>
                          <a:lnTo>
                            <a:pt x="0" y="113"/>
                          </a:lnTo>
                          <a:lnTo>
                            <a:pt x="4" y="0"/>
                          </a:lnTo>
                          <a:close/>
                        </a:path>
                      </a:pathLst>
                    </a:custGeom>
                    <a:solidFill>
                      <a:srgbClr val="BFD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422" name="Group 117"/>
                  <p:cNvGrpSpPr/>
                  <p:nvPr/>
                </p:nvGrpSpPr>
                <p:grpSpPr bwMode="auto">
                  <a:xfrm>
                    <a:off x="4986" y="2302"/>
                    <a:ext cx="218" cy="441"/>
                    <a:chOff x="4986" y="2302"/>
                    <a:chExt cx="218" cy="441"/>
                  </a:xfrm>
                </p:grpSpPr>
                <p:sp>
                  <p:nvSpPr>
                    <p:cNvPr id="423" name="Freeform 118"/>
                    <p:cNvSpPr/>
                    <p:nvPr/>
                  </p:nvSpPr>
                  <p:spPr bwMode="auto">
                    <a:xfrm>
                      <a:off x="5024" y="2558"/>
                      <a:ext cx="156" cy="185"/>
                    </a:xfrm>
                    <a:custGeom>
                      <a:avLst/>
                      <a:gdLst>
                        <a:gd name="T0" fmla="*/ 51 w 937"/>
                        <a:gd name="T1" fmla="*/ 0 h 925"/>
                        <a:gd name="T2" fmla="*/ 356 w 937"/>
                        <a:gd name="T3" fmla="*/ 23 h 925"/>
                        <a:gd name="T4" fmla="*/ 542 w 937"/>
                        <a:gd name="T5" fmla="*/ 30 h 925"/>
                        <a:gd name="T6" fmla="*/ 815 w 937"/>
                        <a:gd name="T7" fmla="*/ 15 h 925"/>
                        <a:gd name="T8" fmla="*/ 908 w 937"/>
                        <a:gd name="T9" fmla="*/ 8 h 925"/>
                        <a:gd name="T10" fmla="*/ 937 w 937"/>
                        <a:gd name="T11" fmla="*/ 662 h 925"/>
                        <a:gd name="T12" fmla="*/ 937 w 937"/>
                        <a:gd name="T13" fmla="*/ 925 h 925"/>
                        <a:gd name="T14" fmla="*/ 599 w 937"/>
                        <a:gd name="T15" fmla="*/ 925 h 925"/>
                        <a:gd name="T16" fmla="*/ 507 w 937"/>
                        <a:gd name="T17" fmla="*/ 573 h 925"/>
                        <a:gd name="T18" fmla="*/ 471 w 937"/>
                        <a:gd name="T19" fmla="*/ 925 h 925"/>
                        <a:gd name="T20" fmla="*/ 43 w 937"/>
                        <a:gd name="T21" fmla="*/ 925 h 925"/>
                        <a:gd name="T22" fmla="*/ 0 w 937"/>
                        <a:gd name="T23" fmla="*/ 373 h 925"/>
                        <a:gd name="T24" fmla="*/ 51 w 937"/>
                        <a:gd name="T25" fmla="*/ 0 h 92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</a:cxnLst>
                      <a:rect l="0" t="0" r="r" b="b"/>
                      <a:pathLst>
                        <a:path w="937" h="925">
                          <a:moveTo>
                            <a:pt x="51" y="0"/>
                          </a:moveTo>
                          <a:lnTo>
                            <a:pt x="356" y="23"/>
                          </a:lnTo>
                          <a:lnTo>
                            <a:pt x="542" y="30"/>
                          </a:lnTo>
                          <a:lnTo>
                            <a:pt x="815" y="15"/>
                          </a:lnTo>
                          <a:lnTo>
                            <a:pt x="908" y="8"/>
                          </a:lnTo>
                          <a:lnTo>
                            <a:pt x="937" y="662"/>
                          </a:lnTo>
                          <a:lnTo>
                            <a:pt x="937" y="925"/>
                          </a:lnTo>
                          <a:lnTo>
                            <a:pt x="599" y="925"/>
                          </a:lnTo>
                          <a:lnTo>
                            <a:pt x="507" y="573"/>
                          </a:lnTo>
                          <a:lnTo>
                            <a:pt x="471" y="925"/>
                          </a:lnTo>
                          <a:lnTo>
                            <a:pt x="43" y="925"/>
                          </a:lnTo>
                          <a:lnTo>
                            <a:pt x="0" y="373"/>
                          </a:lnTo>
                          <a:lnTo>
                            <a:pt x="51" y="0"/>
                          </a:lnTo>
                          <a:close/>
                        </a:path>
                      </a:pathLst>
                    </a:custGeom>
                    <a:solidFill>
                      <a:srgbClr val="3F3F3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grpSp>
                  <p:nvGrpSpPr>
                    <p:cNvPr id="424" name="Group 119"/>
                    <p:cNvGrpSpPr/>
                    <p:nvPr/>
                  </p:nvGrpSpPr>
                  <p:grpSpPr bwMode="auto">
                    <a:xfrm>
                      <a:off x="4986" y="2302"/>
                      <a:ext cx="218" cy="379"/>
                      <a:chOff x="4986" y="2302"/>
                      <a:chExt cx="218" cy="379"/>
                    </a:xfrm>
                  </p:grpSpPr>
                  <p:grpSp>
                    <p:nvGrpSpPr>
                      <p:cNvPr id="425" name="Group 120"/>
                      <p:cNvGrpSpPr/>
                      <p:nvPr/>
                    </p:nvGrpSpPr>
                    <p:grpSpPr bwMode="auto">
                      <a:xfrm>
                        <a:off x="4986" y="2302"/>
                        <a:ext cx="218" cy="379"/>
                        <a:chOff x="4986" y="2302"/>
                        <a:chExt cx="218" cy="379"/>
                      </a:xfrm>
                    </p:grpSpPr>
                    <p:sp>
                      <p:nvSpPr>
                        <p:cNvPr id="432" name="Freeform 121"/>
                        <p:cNvSpPr/>
                        <p:nvPr/>
                      </p:nvSpPr>
                      <p:spPr bwMode="auto">
                        <a:xfrm>
                          <a:off x="5124" y="2311"/>
                          <a:ext cx="80" cy="369"/>
                        </a:xfrm>
                        <a:custGeom>
                          <a:avLst/>
                          <a:gdLst>
                            <a:gd name="T0" fmla="*/ 12 w 484"/>
                            <a:gd name="T1" fmla="*/ 0 h 1845"/>
                            <a:gd name="T2" fmla="*/ 24 w 484"/>
                            <a:gd name="T3" fmla="*/ 12 h 1845"/>
                            <a:gd name="T4" fmla="*/ 48 w 484"/>
                            <a:gd name="T5" fmla="*/ 53 h 1845"/>
                            <a:gd name="T6" fmla="*/ 330 w 484"/>
                            <a:gd name="T7" fmla="*/ 160 h 1845"/>
                            <a:gd name="T8" fmla="*/ 357 w 484"/>
                            <a:gd name="T9" fmla="*/ 170 h 1845"/>
                            <a:gd name="T10" fmla="*/ 381 w 484"/>
                            <a:gd name="T11" fmla="*/ 185 h 1845"/>
                            <a:gd name="T12" fmla="*/ 396 w 484"/>
                            <a:gd name="T13" fmla="*/ 198 h 1845"/>
                            <a:gd name="T14" fmla="*/ 409 w 484"/>
                            <a:gd name="T15" fmla="*/ 217 h 1845"/>
                            <a:gd name="T16" fmla="*/ 418 w 484"/>
                            <a:gd name="T17" fmla="*/ 243 h 1845"/>
                            <a:gd name="T18" fmla="*/ 427 w 484"/>
                            <a:gd name="T19" fmla="*/ 301 h 1845"/>
                            <a:gd name="T20" fmla="*/ 434 w 484"/>
                            <a:gd name="T21" fmla="*/ 420 h 1845"/>
                            <a:gd name="T22" fmla="*/ 448 w 484"/>
                            <a:gd name="T23" fmla="*/ 1102 h 1845"/>
                            <a:gd name="T24" fmla="*/ 484 w 484"/>
                            <a:gd name="T25" fmla="*/ 1630 h 1845"/>
                            <a:gd name="T26" fmla="*/ 377 w 484"/>
                            <a:gd name="T27" fmla="*/ 1667 h 1845"/>
                            <a:gd name="T28" fmla="*/ 384 w 484"/>
                            <a:gd name="T29" fmla="*/ 1734 h 1845"/>
                            <a:gd name="T30" fmla="*/ 297 w 484"/>
                            <a:gd name="T31" fmla="*/ 1786 h 1845"/>
                            <a:gd name="T32" fmla="*/ 196 w 484"/>
                            <a:gd name="T33" fmla="*/ 1823 h 1845"/>
                            <a:gd name="T34" fmla="*/ 87 w 484"/>
                            <a:gd name="T35" fmla="*/ 1845 h 1845"/>
                            <a:gd name="T36" fmla="*/ 30 w 484"/>
                            <a:gd name="T37" fmla="*/ 1845 h 1845"/>
                            <a:gd name="T38" fmla="*/ 59 w 484"/>
                            <a:gd name="T39" fmla="*/ 1221 h 1845"/>
                            <a:gd name="T40" fmla="*/ 73 w 484"/>
                            <a:gd name="T41" fmla="*/ 889 h 1845"/>
                            <a:gd name="T42" fmla="*/ 73 w 484"/>
                            <a:gd name="T43" fmla="*/ 628 h 1845"/>
                            <a:gd name="T44" fmla="*/ 41 w 484"/>
                            <a:gd name="T45" fmla="*/ 303 h 1845"/>
                            <a:gd name="T46" fmla="*/ 17 w 484"/>
                            <a:gd name="T47" fmla="*/ 109 h 1845"/>
                            <a:gd name="T48" fmla="*/ 0 w 484"/>
                            <a:gd name="T49" fmla="*/ 17 h 1845"/>
                            <a:gd name="T50" fmla="*/ 12 w 484"/>
                            <a:gd name="T51" fmla="*/ 0 h 1845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  <a:cxn ang="0">
                              <a:pos x="T30" y="T31"/>
                            </a:cxn>
                            <a:cxn ang="0">
                              <a:pos x="T32" y="T33"/>
                            </a:cxn>
                            <a:cxn ang="0">
                              <a:pos x="T34" y="T35"/>
                            </a:cxn>
                            <a:cxn ang="0">
                              <a:pos x="T36" y="T37"/>
                            </a:cxn>
                            <a:cxn ang="0">
                              <a:pos x="T38" y="T39"/>
                            </a:cxn>
                            <a:cxn ang="0">
                              <a:pos x="T40" y="T41"/>
                            </a:cxn>
                            <a:cxn ang="0">
                              <a:pos x="T42" y="T43"/>
                            </a:cxn>
                            <a:cxn ang="0">
                              <a:pos x="T44" y="T45"/>
                            </a:cxn>
                            <a:cxn ang="0">
                              <a:pos x="T46" y="T47"/>
                            </a:cxn>
                            <a:cxn ang="0">
                              <a:pos x="T48" y="T49"/>
                            </a:cxn>
                            <a:cxn ang="0">
                              <a:pos x="T50" y="T51"/>
                            </a:cxn>
                          </a:cxnLst>
                          <a:rect l="0" t="0" r="r" b="b"/>
                          <a:pathLst>
                            <a:path w="484" h="1845">
                              <a:moveTo>
                                <a:pt x="12" y="0"/>
                              </a:moveTo>
                              <a:lnTo>
                                <a:pt x="24" y="12"/>
                              </a:lnTo>
                              <a:lnTo>
                                <a:pt x="48" y="53"/>
                              </a:lnTo>
                              <a:lnTo>
                                <a:pt x="330" y="160"/>
                              </a:lnTo>
                              <a:lnTo>
                                <a:pt x="357" y="170"/>
                              </a:lnTo>
                              <a:lnTo>
                                <a:pt x="381" y="185"/>
                              </a:lnTo>
                              <a:lnTo>
                                <a:pt x="396" y="198"/>
                              </a:lnTo>
                              <a:lnTo>
                                <a:pt x="409" y="217"/>
                              </a:lnTo>
                              <a:lnTo>
                                <a:pt x="418" y="243"/>
                              </a:lnTo>
                              <a:lnTo>
                                <a:pt x="427" y="301"/>
                              </a:lnTo>
                              <a:lnTo>
                                <a:pt x="434" y="420"/>
                              </a:lnTo>
                              <a:lnTo>
                                <a:pt x="448" y="1102"/>
                              </a:lnTo>
                              <a:lnTo>
                                <a:pt x="484" y="1630"/>
                              </a:lnTo>
                              <a:lnTo>
                                <a:pt x="377" y="1667"/>
                              </a:lnTo>
                              <a:lnTo>
                                <a:pt x="384" y="1734"/>
                              </a:lnTo>
                              <a:lnTo>
                                <a:pt x="297" y="1786"/>
                              </a:lnTo>
                              <a:lnTo>
                                <a:pt x="196" y="1823"/>
                              </a:lnTo>
                              <a:lnTo>
                                <a:pt x="87" y="1845"/>
                              </a:lnTo>
                              <a:lnTo>
                                <a:pt x="30" y="1845"/>
                              </a:lnTo>
                              <a:lnTo>
                                <a:pt x="59" y="1221"/>
                              </a:lnTo>
                              <a:lnTo>
                                <a:pt x="73" y="889"/>
                              </a:lnTo>
                              <a:lnTo>
                                <a:pt x="73" y="628"/>
                              </a:lnTo>
                              <a:lnTo>
                                <a:pt x="41" y="303"/>
                              </a:lnTo>
                              <a:lnTo>
                                <a:pt x="17" y="109"/>
                              </a:lnTo>
                              <a:lnTo>
                                <a:pt x="0" y="17"/>
                              </a:lnTo>
                              <a:lnTo>
                                <a:pt x="12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7F7F7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  <p:sp>
                      <p:nvSpPr>
                        <p:cNvPr id="433" name="Freeform 122"/>
                        <p:cNvSpPr/>
                        <p:nvPr/>
                      </p:nvSpPr>
                      <p:spPr bwMode="auto">
                        <a:xfrm>
                          <a:off x="4986" y="2302"/>
                          <a:ext cx="101" cy="379"/>
                        </a:xfrm>
                        <a:custGeom>
                          <a:avLst/>
                          <a:gdLst>
                            <a:gd name="T0" fmla="*/ 485 w 607"/>
                            <a:gd name="T1" fmla="*/ 0 h 1899"/>
                            <a:gd name="T2" fmla="*/ 429 w 607"/>
                            <a:gd name="T3" fmla="*/ 51 h 1899"/>
                            <a:gd name="T4" fmla="*/ 401 w 607"/>
                            <a:gd name="T5" fmla="*/ 73 h 1899"/>
                            <a:gd name="T6" fmla="*/ 353 w 607"/>
                            <a:gd name="T7" fmla="*/ 95 h 1899"/>
                            <a:gd name="T8" fmla="*/ 251 w 607"/>
                            <a:gd name="T9" fmla="*/ 147 h 1899"/>
                            <a:gd name="T10" fmla="*/ 98 w 607"/>
                            <a:gd name="T11" fmla="*/ 231 h 1899"/>
                            <a:gd name="T12" fmla="*/ 62 w 607"/>
                            <a:gd name="T13" fmla="*/ 247 h 1899"/>
                            <a:gd name="T14" fmla="*/ 55 w 607"/>
                            <a:gd name="T15" fmla="*/ 272 h 1899"/>
                            <a:gd name="T16" fmla="*/ 50 w 607"/>
                            <a:gd name="T17" fmla="*/ 333 h 1899"/>
                            <a:gd name="T18" fmla="*/ 43 w 607"/>
                            <a:gd name="T19" fmla="*/ 504 h 1899"/>
                            <a:gd name="T20" fmla="*/ 14 w 607"/>
                            <a:gd name="T21" fmla="*/ 696 h 1899"/>
                            <a:gd name="T22" fmla="*/ 0 w 607"/>
                            <a:gd name="T23" fmla="*/ 852 h 1899"/>
                            <a:gd name="T24" fmla="*/ 14 w 607"/>
                            <a:gd name="T25" fmla="*/ 972 h 1899"/>
                            <a:gd name="T26" fmla="*/ 50 w 607"/>
                            <a:gd name="T27" fmla="*/ 1068 h 1899"/>
                            <a:gd name="T28" fmla="*/ 179 w 607"/>
                            <a:gd name="T29" fmla="*/ 1215 h 1899"/>
                            <a:gd name="T30" fmla="*/ 193 w 607"/>
                            <a:gd name="T31" fmla="*/ 1706 h 1899"/>
                            <a:gd name="T32" fmla="*/ 265 w 607"/>
                            <a:gd name="T33" fmla="*/ 1802 h 1899"/>
                            <a:gd name="T34" fmla="*/ 365 w 607"/>
                            <a:gd name="T35" fmla="*/ 1869 h 1899"/>
                            <a:gd name="T36" fmla="*/ 470 w 607"/>
                            <a:gd name="T37" fmla="*/ 1899 h 1899"/>
                            <a:gd name="T38" fmla="*/ 607 w 607"/>
                            <a:gd name="T39" fmla="*/ 1899 h 1899"/>
                            <a:gd name="T40" fmla="*/ 607 w 607"/>
                            <a:gd name="T41" fmla="*/ 1334 h 1899"/>
                            <a:gd name="T42" fmla="*/ 589 w 607"/>
                            <a:gd name="T43" fmla="*/ 1090 h 1899"/>
                            <a:gd name="T44" fmla="*/ 542 w 607"/>
                            <a:gd name="T45" fmla="*/ 586 h 1899"/>
                            <a:gd name="T46" fmla="*/ 523 w 607"/>
                            <a:gd name="T47" fmla="*/ 355 h 1899"/>
                            <a:gd name="T48" fmla="*/ 516 w 607"/>
                            <a:gd name="T49" fmla="*/ 300 h 1899"/>
                            <a:gd name="T50" fmla="*/ 506 w 607"/>
                            <a:gd name="T51" fmla="*/ 247 h 1899"/>
                            <a:gd name="T52" fmla="*/ 487 w 607"/>
                            <a:gd name="T53" fmla="*/ 146 h 1899"/>
                            <a:gd name="T54" fmla="*/ 479 w 607"/>
                            <a:gd name="T55" fmla="*/ 101 h 1899"/>
                            <a:gd name="T56" fmla="*/ 478 w 607"/>
                            <a:gd name="T57" fmla="*/ 75 h 1899"/>
                            <a:gd name="T58" fmla="*/ 478 w 607"/>
                            <a:gd name="T59" fmla="*/ 43 h 1899"/>
                            <a:gd name="T60" fmla="*/ 485 w 607"/>
                            <a:gd name="T61" fmla="*/ 0 h 1899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  <a:cxn ang="0">
                              <a:pos x="T30" y="T31"/>
                            </a:cxn>
                            <a:cxn ang="0">
                              <a:pos x="T32" y="T33"/>
                            </a:cxn>
                            <a:cxn ang="0">
                              <a:pos x="T34" y="T35"/>
                            </a:cxn>
                            <a:cxn ang="0">
                              <a:pos x="T36" y="T37"/>
                            </a:cxn>
                            <a:cxn ang="0">
                              <a:pos x="T38" y="T39"/>
                            </a:cxn>
                            <a:cxn ang="0">
                              <a:pos x="T40" y="T41"/>
                            </a:cxn>
                            <a:cxn ang="0">
                              <a:pos x="T42" y="T43"/>
                            </a:cxn>
                            <a:cxn ang="0">
                              <a:pos x="T44" y="T45"/>
                            </a:cxn>
                            <a:cxn ang="0">
                              <a:pos x="T46" y="T47"/>
                            </a:cxn>
                            <a:cxn ang="0">
                              <a:pos x="T48" y="T49"/>
                            </a:cxn>
                            <a:cxn ang="0">
                              <a:pos x="T50" y="T51"/>
                            </a:cxn>
                            <a:cxn ang="0">
                              <a:pos x="T52" y="T53"/>
                            </a:cxn>
                            <a:cxn ang="0">
                              <a:pos x="T54" y="T55"/>
                            </a:cxn>
                            <a:cxn ang="0">
                              <a:pos x="T56" y="T57"/>
                            </a:cxn>
                            <a:cxn ang="0">
                              <a:pos x="T58" y="T59"/>
                            </a:cxn>
                            <a:cxn ang="0">
                              <a:pos x="T60" y="T61"/>
                            </a:cxn>
                          </a:cxnLst>
                          <a:rect l="0" t="0" r="r" b="b"/>
                          <a:pathLst>
                            <a:path w="607" h="1899">
                              <a:moveTo>
                                <a:pt x="485" y="0"/>
                              </a:moveTo>
                              <a:lnTo>
                                <a:pt x="429" y="51"/>
                              </a:lnTo>
                              <a:lnTo>
                                <a:pt x="401" y="73"/>
                              </a:lnTo>
                              <a:lnTo>
                                <a:pt x="353" y="95"/>
                              </a:lnTo>
                              <a:lnTo>
                                <a:pt x="251" y="147"/>
                              </a:lnTo>
                              <a:lnTo>
                                <a:pt x="98" y="231"/>
                              </a:lnTo>
                              <a:lnTo>
                                <a:pt x="62" y="247"/>
                              </a:lnTo>
                              <a:lnTo>
                                <a:pt x="55" y="272"/>
                              </a:lnTo>
                              <a:lnTo>
                                <a:pt x="50" y="333"/>
                              </a:lnTo>
                              <a:lnTo>
                                <a:pt x="43" y="504"/>
                              </a:lnTo>
                              <a:lnTo>
                                <a:pt x="14" y="696"/>
                              </a:lnTo>
                              <a:lnTo>
                                <a:pt x="0" y="852"/>
                              </a:lnTo>
                              <a:lnTo>
                                <a:pt x="14" y="972"/>
                              </a:lnTo>
                              <a:lnTo>
                                <a:pt x="50" y="1068"/>
                              </a:lnTo>
                              <a:lnTo>
                                <a:pt x="179" y="1215"/>
                              </a:lnTo>
                              <a:lnTo>
                                <a:pt x="193" y="1706"/>
                              </a:lnTo>
                              <a:lnTo>
                                <a:pt x="265" y="1802"/>
                              </a:lnTo>
                              <a:lnTo>
                                <a:pt x="365" y="1869"/>
                              </a:lnTo>
                              <a:lnTo>
                                <a:pt x="470" y="1899"/>
                              </a:lnTo>
                              <a:lnTo>
                                <a:pt x="607" y="1899"/>
                              </a:lnTo>
                              <a:lnTo>
                                <a:pt x="607" y="1334"/>
                              </a:lnTo>
                              <a:lnTo>
                                <a:pt x="589" y="1090"/>
                              </a:lnTo>
                              <a:lnTo>
                                <a:pt x="542" y="586"/>
                              </a:lnTo>
                              <a:lnTo>
                                <a:pt x="523" y="355"/>
                              </a:lnTo>
                              <a:lnTo>
                                <a:pt x="516" y="300"/>
                              </a:lnTo>
                              <a:lnTo>
                                <a:pt x="506" y="247"/>
                              </a:lnTo>
                              <a:lnTo>
                                <a:pt x="487" y="146"/>
                              </a:lnTo>
                              <a:lnTo>
                                <a:pt x="479" y="101"/>
                              </a:lnTo>
                              <a:lnTo>
                                <a:pt x="478" y="75"/>
                              </a:lnTo>
                              <a:lnTo>
                                <a:pt x="478" y="43"/>
                              </a:lnTo>
                              <a:lnTo>
                                <a:pt x="485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7F7F7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</p:grpSp>
                  <p:grpSp>
                    <p:nvGrpSpPr>
                      <p:cNvPr id="426" name="Group 123"/>
                      <p:cNvGrpSpPr/>
                      <p:nvPr/>
                    </p:nvGrpSpPr>
                    <p:grpSpPr bwMode="auto">
                      <a:xfrm>
                        <a:off x="5042" y="2323"/>
                        <a:ext cx="115" cy="261"/>
                        <a:chOff x="5042" y="2323"/>
                        <a:chExt cx="115" cy="261"/>
                      </a:xfrm>
                    </p:grpSpPr>
                    <p:sp>
                      <p:nvSpPr>
                        <p:cNvPr id="430" name="Freeform 124"/>
                        <p:cNvSpPr/>
                        <p:nvPr/>
                      </p:nvSpPr>
                      <p:spPr bwMode="auto">
                        <a:xfrm>
                          <a:off x="5042" y="2332"/>
                          <a:ext cx="32" cy="202"/>
                        </a:xfrm>
                        <a:custGeom>
                          <a:avLst/>
                          <a:gdLst>
                            <a:gd name="T0" fmla="*/ 84 w 196"/>
                            <a:gd name="T1" fmla="*/ 0 h 1010"/>
                            <a:gd name="T2" fmla="*/ 36 w 196"/>
                            <a:gd name="T3" fmla="*/ 200 h 1010"/>
                            <a:gd name="T4" fmla="*/ 137 w 196"/>
                            <a:gd name="T5" fmla="*/ 260 h 1010"/>
                            <a:gd name="T6" fmla="*/ 25 w 196"/>
                            <a:gd name="T7" fmla="*/ 331 h 1010"/>
                            <a:gd name="T8" fmla="*/ 196 w 196"/>
                            <a:gd name="T9" fmla="*/ 1010 h 1010"/>
                            <a:gd name="T10" fmla="*/ 0 w 196"/>
                            <a:gd name="T11" fmla="*/ 327 h 1010"/>
                            <a:gd name="T12" fmla="*/ 127 w 196"/>
                            <a:gd name="T13" fmla="*/ 260 h 1010"/>
                            <a:gd name="T14" fmla="*/ 21 w 196"/>
                            <a:gd name="T15" fmla="*/ 218 h 1010"/>
                            <a:gd name="T16" fmla="*/ 84 w 196"/>
                            <a:gd name="T17" fmla="*/ 0 h 1010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</a:cxnLst>
                          <a:rect l="0" t="0" r="r" b="b"/>
                          <a:pathLst>
                            <a:path w="196" h="1010">
                              <a:moveTo>
                                <a:pt x="84" y="0"/>
                              </a:moveTo>
                              <a:lnTo>
                                <a:pt x="36" y="200"/>
                              </a:lnTo>
                              <a:lnTo>
                                <a:pt x="137" y="260"/>
                              </a:lnTo>
                              <a:lnTo>
                                <a:pt x="25" y="331"/>
                              </a:lnTo>
                              <a:lnTo>
                                <a:pt x="196" y="1010"/>
                              </a:lnTo>
                              <a:lnTo>
                                <a:pt x="0" y="327"/>
                              </a:lnTo>
                              <a:lnTo>
                                <a:pt x="127" y="260"/>
                              </a:lnTo>
                              <a:lnTo>
                                <a:pt x="21" y="218"/>
                              </a:lnTo>
                              <a:lnTo>
                                <a:pt x="84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F3F3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  <p:sp>
                      <p:nvSpPr>
                        <p:cNvPr id="431" name="Freeform 125"/>
                        <p:cNvSpPr/>
                        <p:nvPr/>
                      </p:nvSpPr>
                      <p:spPr bwMode="auto">
                        <a:xfrm>
                          <a:off x="5133" y="2323"/>
                          <a:ext cx="24" cy="261"/>
                        </a:xfrm>
                        <a:custGeom>
                          <a:avLst/>
                          <a:gdLst>
                            <a:gd name="T0" fmla="*/ 0 w 142"/>
                            <a:gd name="T1" fmla="*/ 0 h 1303"/>
                            <a:gd name="T2" fmla="*/ 128 w 142"/>
                            <a:gd name="T3" fmla="*/ 211 h 1303"/>
                            <a:gd name="T4" fmla="*/ 55 w 142"/>
                            <a:gd name="T5" fmla="*/ 252 h 1303"/>
                            <a:gd name="T6" fmla="*/ 142 w 142"/>
                            <a:gd name="T7" fmla="*/ 304 h 1303"/>
                            <a:gd name="T8" fmla="*/ 80 w 142"/>
                            <a:gd name="T9" fmla="*/ 1303 h 1303"/>
                            <a:gd name="T10" fmla="*/ 124 w 142"/>
                            <a:gd name="T11" fmla="*/ 296 h 1303"/>
                            <a:gd name="T12" fmla="*/ 44 w 142"/>
                            <a:gd name="T13" fmla="*/ 248 h 1303"/>
                            <a:gd name="T14" fmla="*/ 105 w 142"/>
                            <a:gd name="T15" fmla="*/ 200 h 1303"/>
                            <a:gd name="T16" fmla="*/ 0 w 142"/>
                            <a:gd name="T17" fmla="*/ 0 h 1303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</a:cxnLst>
                          <a:rect l="0" t="0" r="r" b="b"/>
                          <a:pathLst>
                            <a:path w="142" h="1303">
                              <a:moveTo>
                                <a:pt x="0" y="0"/>
                              </a:moveTo>
                              <a:lnTo>
                                <a:pt x="128" y="211"/>
                              </a:lnTo>
                              <a:lnTo>
                                <a:pt x="55" y="252"/>
                              </a:lnTo>
                              <a:lnTo>
                                <a:pt x="142" y="304"/>
                              </a:lnTo>
                              <a:lnTo>
                                <a:pt x="80" y="1303"/>
                              </a:lnTo>
                              <a:lnTo>
                                <a:pt x="124" y="296"/>
                              </a:lnTo>
                              <a:lnTo>
                                <a:pt x="44" y="248"/>
                              </a:lnTo>
                              <a:lnTo>
                                <a:pt x="105" y="200"/>
                              </a:lnTo>
                              <a:lnTo>
                                <a:pt x="0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3F3F3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</p:grpSp>
                  <p:sp>
                    <p:nvSpPr>
                      <p:cNvPr id="427" name="Freeform 126"/>
                      <p:cNvSpPr/>
                      <p:nvPr/>
                    </p:nvSpPr>
                    <p:spPr bwMode="auto">
                      <a:xfrm>
                        <a:off x="4986" y="2349"/>
                        <a:ext cx="80" cy="197"/>
                      </a:xfrm>
                      <a:custGeom>
                        <a:avLst/>
                        <a:gdLst>
                          <a:gd name="T0" fmla="*/ 181 w 480"/>
                          <a:gd name="T1" fmla="*/ 42 h 985"/>
                          <a:gd name="T2" fmla="*/ 123 w 480"/>
                          <a:gd name="T3" fmla="*/ 19 h 985"/>
                          <a:gd name="T4" fmla="*/ 98 w 480"/>
                          <a:gd name="T5" fmla="*/ 0 h 985"/>
                          <a:gd name="T6" fmla="*/ 62 w 480"/>
                          <a:gd name="T7" fmla="*/ 16 h 985"/>
                          <a:gd name="T8" fmla="*/ 55 w 480"/>
                          <a:gd name="T9" fmla="*/ 40 h 985"/>
                          <a:gd name="T10" fmla="*/ 50 w 480"/>
                          <a:gd name="T11" fmla="*/ 101 h 985"/>
                          <a:gd name="T12" fmla="*/ 43 w 480"/>
                          <a:gd name="T13" fmla="*/ 273 h 985"/>
                          <a:gd name="T14" fmla="*/ 14 w 480"/>
                          <a:gd name="T15" fmla="*/ 464 h 985"/>
                          <a:gd name="T16" fmla="*/ 0 w 480"/>
                          <a:gd name="T17" fmla="*/ 620 h 985"/>
                          <a:gd name="T18" fmla="*/ 14 w 480"/>
                          <a:gd name="T19" fmla="*/ 741 h 985"/>
                          <a:gd name="T20" fmla="*/ 50 w 480"/>
                          <a:gd name="T21" fmla="*/ 838 h 985"/>
                          <a:gd name="T22" fmla="*/ 179 w 480"/>
                          <a:gd name="T23" fmla="*/ 985 h 985"/>
                          <a:gd name="T24" fmla="*/ 358 w 480"/>
                          <a:gd name="T25" fmla="*/ 948 h 985"/>
                          <a:gd name="T26" fmla="*/ 469 w 480"/>
                          <a:gd name="T27" fmla="*/ 919 h 985"/>
                          <a:gd name="T28" fmla="*/ 480 w 480"/>
                          <a:gd name="T29" fmla="*/ 886 h 985"/>
                          <a:gd name="T30" fmla="*/ 466 w 480"/>
                          <a:gd name="T31" fmla="*/ 861 h 985"/>
                          <a:gd name="T32" fmla="*/ 438 w 480"/>
                          <a:gd name="T33" fmla="*/ 830 h 985"/>
                          <a:gd name="T34" fmla="*/ 407 w 480"/>
                          <a:gd name="T35" fmla="*/ 793 h 985"/>
                          <a:gd name="T36" fmla="*/ 380 w 480"/>
                          <a:gd name="T37" fmla="*/ 764 h 985"/>
                          <a:gd name="T38" fmla="*/ 341 w 480"/>
                          <a:gd name="T39" fmla="*/ 724 h 985"/>
                          <a:gd name="T40" fmla="*/ 316 w 480"/>
                          <a:gd name="T41" fmla="*/ 688 h 985"/>
                          <a:gd name="T42" fmla="*/ 298 w 480"/>
                          <a:gd name="T43" fmla="*/ 656 h 985"/>
                          <a:gd name="T44" fmla="*/ 279 w 480"/>
                          <a:gd name="T45" fmla="*/ 608 h 985"/>
                          <a:gd name="T46" fmla="*/ 273 w 480"/>
                          <a:gd name="T47" fmla="*/ 584 h 985"/>
                          <a:gd name="T48" fmla="*/ 270 w 480"/>
                          <a:gd name="T49" fmla="*/ 560 h 985"/>
                          <a:gd name="T50" fmla="*/ 266 w 480"/>
                          <a:gd name="T51" fmla="*/ 535 h 985"/>
                          <a:gd name="T52" fmla="*/ 267 w 480"/>
                          <a:gd name="T53" fmla="*/ 455 h 985"/>
                          <a:gd name="T54" fmla="*/ 258 w 480"/>
                          <a:gd name="T55" fmla="*/ 306 h 985"/>
                          <a:gd name="T56" fmla="*/ 253 w 480"/>
                          <a:gd name="T57" fmla="*/ 159 h 985"/>
                          <a:gd name="T58" fmla="*/ 223 w 480"/>
                          <a:gd name="T59" fmla="*/ 63 h 985"/>
                          <a:gd name="T60" fmla="*/ 181 w 480"/>
                          <a:gd name="T61" fmla="*/ 42 h 985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</a:cxnLst>
                        <a:rect l="0" t="0" r="r" b="b"/>
                        <a:pathLst>
                          <a:path w="480" h="985">
                            <a:moveTo>
                              <a:pt x="181" y="42"/>
                            </a:moveTo>
                            <a:lnTo>
                              <a:pt x="123" y="19"/>
                            </a:lnTo>
                            <a:lnTo>
                              <a:pt x="98" y="0"/>
                            </a:lnTo>
                            <a:lnTo>
                              <a:pt x="62" y="16"/>
                            </a:lnTo>
                            <a:lnTo>
                              <a:pt x="55" y="40"/>
                            </a:lnTo>
                            <a:lnTo>
                              <a:pt x="50" y="101"/>
                            </a:lnTo>
                            <a:lnTo>
                              <a:pt x="43" y="273"/>
                            </a:lnTo>
                            <a:lnTo>
                              <a:pt x="14" y="464"/>
                            </a:lnTo>
                            <a:lnTo>
                              <a:pt x="0" y="620"/>
                            </a:lnTo>
                            <a:lnTo>
                              <a:pt x="14" y="741"/>
                            </a:lnTo>
                            <a:lnTo>
                              <a:pt x="50" y="838"/>
                            </a:lnTo>
                            <a:lnTo>
                              <a:pt x="179" y="985"/>
                            </a:lnTo>
                            <a:lnTo>
                              <a:pt x="358" y="948"/>
                            </a:lnTo>
                            <a:lnTo>
                              <a:pt x="469" y="919"/>
                            </a:lnTo>
                            <a:lnTo>
                              <a:pt x="480" y="886"/>
                            </a:lnTo>
                            <a:lnTo>
                              <a:pt x="466" y="861"/>
                            </a:lnTo>
                            <a:lnTo>
                              <a:pt x="438" y="830"/>
                            </a:lnTo>
                            <a:lnTo>
                              <a:pt x="407" y="793"/>
                            </a:lnTo>
                            <a:lnTo>
                              <a:pt x="380" y="764"/>
                            </a:lnTo>
                            <a:lnTo>
                              <a:pt x="341" y="724"/>
                            </a:lnTo>
                            <a:lnTo>
                              <a:pt x="316" y="688"/>
                            </a:lnTo>
                            <a:lnTo>
                              <a:pt x="298" y="656"/>
                            </a:lnTo>
                            <a:lnTo>
                              <a:pt x="279" y="608"/>
                            </a:lnTo>
                            <a:lnTo>
                              <a:pt x="273" y="584"/>
                            </a:lnTo>
                            <a:lnTo>
                              <a:pt x="270" y="560"/>
                            </a:lnTo>
                            <a:lnTo>
                              <a:pt x="266" y="535"/>
                            </a:lnTo>
                            <a:lnTo>
                              <a:pt x="267" y="455"/>
                            </a:lnTo>
                            <a:lnTo>
                              <a:pt x="258" y="306"/>
                            </a:lnTo>
                            <a:lnTo>
                              <a:pt x="253" y="159"/>
                            </a:lnTo>
                            <a:lnTo>
                              <a:pt x="223" y="63"/>
                            </a:lnTo>
                            <a:lnTo>
                              <a:pt x="181" y="42"/>
                            </a:lnTo>
                            <a:close/>
                          </a:path>
                        </a:pathLst>
                      </a:custGeom>
                      <a:solidFill>
                        <a:srgbClr val="5F5F5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428" name="Freeform 127"/>
                      <p:cNvSpPr/>
                      <p:nvPr/>
                    </p:nvSpPr>
                    <p:spPr bwMode="auto">
                      <a:xfrm>
                        <a:off x="4994" y="2392"/>
                        <a:ext cx="47" cy="101"/>
                      </a:xfrm>
                      <a:custGeom>
                        <a:avLst/>
                        <a:gdLst>
                          <a:gd name="T0" fmla="*/ 2 w 281"/>
                          <a:gd name="T1" fmla="*/ 508 h 508"/>
                          <a:gd name="T2" fmla="*/ 0 w 281"/>
                          <a:gd name="T3" fmla="*/ 458 h 508"/>
                          <a:gd name="T4" fmla="*/ 5 w 281"/>
                          <a:gd name="T5" fmla="*/ 428 h 508"/>
                          <a:gd name="T6" fmla="*/ 11 w 281"/>
                          <a:gd name="T7" fmla="*/ 393 h 508"/>
                          <a:gd name="T8" fmla="*/ 20 w 281"/>
                          <a:gd name="T9" fmla="*/ 371 h 508"/>
                          <a:gd name="T10" fmla="*/ 35 w 281"/>
                          <a:gd name="T11" fmla="*/ 348 h 508"/>
                          <a:gd name="T12" fmla="*/ 54 w 281"/>
                          <a:gd name="T13" fmla="*/ 332 h 508"/>
                          <a:gd name="T14" fmla="*/ 89 w 281"/>
                          <a:gd name="T15" fmla="*/ 315 h 508"/>
                          <a:gd name="T16" fmla="*/ 113 w 281"/>
                          <a:gd name="T17" fmla="*/ 312 h 508"/>
                          <a:gd name="T18" fmla="*/ 137 w 281"/>
                          <a:gd name="T19" fmla="*/ 308 h 508"/>
                          <a:gd name="T20" fmla="*/ 163 w 281"/>
                          <a:gd name="T21" fmla="*/ 312 h 508"/>
                          <a:gd name="T22" fmla="*/ 201 w 281"/>
                          <a:gd name="T23" fmla="*/ 322 h 508"/>
                          <a:gd name="T24" fmla="*/ 202 w 281"/>
                          <a:gd name="T25" fmla="*/ 0 h 508"/>
                          <a:gd name="T26" fmla="*/ 220 w 281"/>
                          <a:gd name="T27" fmla="*/ 286 h 508"/>
                          <a:gd name="T28" fmla="*/ 220 w 281"/>
                          <a:gd name="T29" fmla="*/ 330 h 508"/>
                          <a:gd name="T30" fmla="*/ 224 w 281"/>
                          <a:gd name="T31" fmla="*/ 366 h 508"/>
                          <a:gd name="T32" fmla="*/ 232 w 281"/>
                          <a:gd name="T33" fmla="*/ 395 h 508"/>
                          <a:gd name="T34" fmla="*/ 247 w 281"/>
                          <a:gd name="T35" fmla="*/ 435 h 508"/>
                          <a:gd name="T36" fmla="*/ 271 w 281"/>
                          <a:gd name="T37" fmla="*/ 481 h 508"/>
                          <a:gd name="T38" fmla="*/ 281 w 281"/>
                          <a:gd name="T39" fmla="*/ 502 h 508"/>
                          <a:gd name="T40" fmla="*/ 245 w 281"/>
                          <a:gd name="T41" fmla="*/ 458 h 508"/>
                          <a:gd name="T42" fmla="*/ 224 w 281"/>
                          <a:gd name="T43" fmla="*/ 428 h 508"/>
                          <a:gd name="T44" fmla="*/ 199 w 281"/>
                          <a:gd name="T45" fmla="*/ 393 h 508"/>
                          <a:gd name="T46" fmla="*/ 173 w 281"/>
                          <a:gd name="T47" fmla="*/ 375 h 508"/>
                          <a:gd name="T48" fmla="*/ 149 w 281"/>
                          <a:gd name="T49" fmla="*/ 369 h 508"/>
                          <a:gd name="T50" fmla="*/ 124 w 281"/>
                          <a:gd name="T51" fmla="*/ 366 h 508"/>
                          <a:gd name="T52" fmla="*/ 92 w 281"/>
                          <a:gd name="T53" fmla="*/ 375 h 508"/>
                          <a:gd name="T54" fmla="*/ 66 w 281"/>
                          <a:gd name="T55" fmla="*/ 393 h 508"/>
                          <a:gd name="T56" fmla="*/ 48 w 281"/>
                          <a:gd name="T57" fmla="*/ 419 h 508"/>
                          <a:gd name="T58" fmla="*/ 34 w 281"/>
                          <a:gd name="T59" fmla="*/ 448 h 508"/>
                          <a:gd name="T60" fmla="*/ 18 w 281"/>
                          <a:gd name="T61" fmla="*/ 472 h 508"/>
                          <a:gd name="T62" fmla="*/ 2 w 281"/>
                          <a:gd name="T63" fmla="*/ 508 h 508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</a:cxnLst>
                        <a:rect l="0" t="0" r="r" b="b"/>
                        <a:pathLst>
                          <a:path w="281" h="508">
                            <a:moveTo>
                              <a:pt x="2" y="508"/>
                            </a:moveTo>
                            <a:lnTo>
                              <a:pt x="0" y="458"/>
                            </a:lnTo>
                            <a:lnTo>
                              <a:pt x="5" y="428"/>
                            </a:lnTo>
                            <a:lnTo>
                              <a:pt x="11" y="393"/>
                            </a:lnTo>
                            <a:lnTo>
                              <a:pt x="20" y="371"/>
                            </a:lnTo>
                            <a:lnTo>
                              <a:pt x="35" y="348"/>
                            </a:lnTo>
                            <a:lnTo>
                              <a:pt x="54" y="332"/>
                            </a:lnTo>
                            <a:lnTo>
                              <a:pt x="89" y="315"/>
                            </a:lnTo>
                            <a:lnTo>
                              <a:pt x="113" y="312"/>
                            </a:lnTo>
                            <a:lnTo>
                              <a:pt x="137" y="308"/>
                            </a:lnTo>
                            <a:lnTo>
                              <a:pt x="163" y="312"/>
                            </a:lnTo>
                            <a:lnTo>
                              <a:pt x="201" y="322"/>
                            </a:lnTo>
                            <a:lnTo>
                              <a:pt x="202" y="0"/>
                            </a:lnTo>
                            <a:lnTo>
                              <a:pt x="220" y="286"/>
                            </a:lnTo>
                            <a:lnTo>
                              <a:pt x="220" y="330"/>
                            </a:lnTo>
                            <a:lnTo>
                              <a:pt x="224" y="366"/>
                            </a:lnTo>
                            <a:lnTo>
                              <a:pt x="232" y="395"/>
                            </a:lnTo>
                            <a:lnTo>
                              <a:pt x="247" y="435"/>
                            </a:lnTo>
                            <a:lnTo>
                              <a:pt x="271" y="481"/>
                            </a:lnTo>
                            <a:lnTo>
                              <a:pt x="281" y="502"/>
                            </a:lnTo>
                            <a:lnTo>
                              <a:pt x="245" y="458"/>
                            </a:lnTo>
                            <a:lnTo>
                              <a:pt x="224" y="428"/>
                            </a:lnTo>
                            <a:lnTo>
                              <a:pt x="199" y="393"/>
                            </a:lnTo>
                            <a:lnTo>
                              <a:pt x="173" y="375"/>
                            </a:lnTo>
                            <a:lnTo>
                              <a:pt x="149" y="369"/>
                            </a:lnTo>
                            <a:lnTo>
                              <a:pt x="124" y="366"/>
                            </a:lnTo>
                            <a:lnTo>
                              <a:pt x="92" y="375"/>
                            </a:lnTo>
                            <a:lnTo>
                              <a:pt x="66" y="393"/>
                            </a:lnTo>
                            <a:lnTo>
                              <a:pt x="48" y="419"/>
                            </a:lnTo>
                            <a:lnTo>
                              <a:pt x="34" y="448"/>
                            </a:lnTo>
                            <a:lnTo>
                              <a:pt x="18" y="472"/>
                            </a:lnTo>
                            <a:lnTo>
                              <a:pt x="2" y="508"/>
                            </a:lnTo>
                            <a:close/>
                          </a:path>
                        </a:pathLst>
                      </a:custGeom>
                      <a:solidFill>
                        <a:srgbClr val="3F3F3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429" name="Freeform 128"/>
                      <p:cNvSpPr/>
                      <p:nvPr/>
                    </p:nvSpPr>
                    <p:spPr bwMode="auto">
                      <a:xfrm>
                        <a:off x="5174" y="2348"/>
                        <a:ext cx="29" cy="296"/>
                      </a:xfrm>
                      <a:custGeom>
                        <a:avLst/>
                        <a:gdLst>
                          <a:gd name="T0" fmla="*/ 4 w 174"/>
                          <a:gd name="T1" fmla="*/ 57 h 1482"/>
                          <a:gd name="T2" fmla="*/ 32 w 174"/>
                          <a:gd name="T3" fmla="*/ 15 h 1482"/>
                          <a:gd name="T4" fmla="*/ 70 w 174"/>
                          <a:gd name="T5" fmla="*/ 0 h 1482"/>
                          <a:gd name="T6" fmla="*/ 84 w 174"/>
                          <a:gd name="T7" fmla="*/ 13 h 1482"/>
                          <a:gd name="T8" fmla="*/ 98 w 174"/>
                          <a:gd name="T9" fmla="*/ 32 h 1482"/>
                          <a:gd name="T10" fmla="*/ 107 w 174"/>
                          <a:gd name="T11" fmla="*/ 58 h 1482"/>
                          <a:gd name="T12" fmla="*/ 115 w 174"/>
                          <a:gd name="T13" fmla="*/ 116 h 1482"/>
                          <a:gd name="T14" fmla="*/ 123 w 174"/>
                          <a:gd name="T15" fmla="*/ 235 h 1482"/>
                          <a:gd name="T16" fmla="*/ 138 w 174"/>
                          <a:gd name="T17" fmla="*/ 917 h 1482"/>
                          <a:gd name="T18" fmla="*/ 174 w 174"/>
                          <a:gd name="T19" fmla="*/ 1445 h 1482"/>
                          <a:gd name="T20" fmla="*/ 65 w 174"/>
                          <a:gd name="T21" fmla="*/ 1482 h 1482"/>
                          <a:gd name="T22" fmla="*/ 44 w 174"/>
                          <a:gd name="T23" fmla="*/ 1371 h 1482"/>
                          <a:gd name="T24" fmla="*/ 14 w 174"/>
                          <a:gd name="T25" fmla="*/ 906 h 1482"/>
                          <a:gd name="T26" fmla="*/ 7 w 174"/>
                          <a:gd name="T27" fmla="*/ 283 h 1482"/>
                          <a:gd name="T28" fmla="*/ 0 w 174"/>
                          <a:gd name="T29" fmla="*/ 127 h 1482"/>
                          <a:gd name="T30" fmla="*/ 4 w 174"/>
                          <a:gd name="T31" fmla="*/ 57 h 1482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</a:cxnLst>
                        <a:rect l="0" t="0" r="r" b="b"/>
                        <a:pathLst>
                          <a:path w="174" h="1482">
                            <a:moveTo>
                              <a:pt x="4" y="57"/>
                            </a:moveTo>
                            <a:lnTo>
                              <a:pt x="32" y="15"/>
                            </a:lnTo>
                            <a:lnTo>
                              <a:pt x="70" y="0"/>
                            </a:lnTo>
                            <a:lnTo>
                              <a:pt x="84" y="13"/>
                            </a:lnTo>
                            <a:lnTo>
                              <a:pt x="98" y="32"/>
                            </a:lnTo>
                            <a:lnTo>
                              <a:pt x="107" y="58"/>
                            </a:lnTo>
                            <a:lnTo>
                              <a:pt x="115" y="116"/>
                            </a:lnTo>
                            <a:lnTo>
                              <a:pt x="123" y="235"/>
                            </a:lnTo>
                            <a:lnTo>
                              <a:pt x="138" y="917"/>
                            </a:lnTo>
                            <a:lnTo>
                              <a:pt x="174" y="1445"/>
                            </a:lnTo>
                            <a:lnTo>
                              <a:pt x="65" y="1482"/>
                            </a:lnTo>
                            <a:lnTo>
                              <a:pt x="44" y="1371"/>
                            </a:lnTo>
                            <a:lnTo>
                              <a:pt x="14" y="906"/>
                            </a:lnTo>
                            <a:lnTo>
                              <a:pt x="7" y="283"/>
                            </a:lnTo>
                            <a:lnTo>
                              <a:pt x="0" y="127"/>
                            </a:lnTo>
                            <a:lnTo>
                              <a:pt x="4" y="57"/>
                            </a:lnTo>
                            <a:close/>
                          </a:path>
                        </a:pathLst>
                      </a:custGeom>
                      <a:solidFill>
                        <a:srgbClr val="5F5F5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</p:grpSp>
            </p:grpSp>
            <p:grpSp>
              <p:nvGrpSpPr>
                <p:cNvPr id="382" name="Group 129"/>
                <p:cNvGrpSpPr/>
                <p:nvPr/>
              </p:nvGrpSpPr>
              <p:grpSpPr bwMode="auto">
                <a:xfrm>
                  <a:off x="5060" y="2206"/>
                  <a:ext cx="84" cy="138"/>
                  <a:chOff x="5060" y="2206"/>
                  <a:chExt cx="84" cy="138"/>
                </a:xfrm>
              </p:grpSpPr>
              <p:sp>
                <p:nvSpPr>
                  <p:cNvPr id="383" name="Freeform 130"/>
                  <p:cNvSpPr/>
                  <p:nvPr/>
                </p:nvSpPr>
                <p:spPr bwMode="auto">
                  <a:xfrm>
                    <a:off x="5060" y="2207"/>
                    <a:ext cx="80" cy="137"/>
                  </a:xfrm>
                  <a:custGeom>
                    <a:avLst/>
                    <a:gdLst>
                      <a:gd name="T0" fmla="*/ 26 w 481"/>
                      <a:gd name="T1" fmla="*/ 244 h 683"/>
                      <a:gd name="T2" fmla="*/ 6 w 481"/>
                      <a:gd name="T3" fmla="*/ 257 h 683"/>
                      <a:gd name="T4" fmla="*/ 0 w 481"/>
                      <a:gd name="T5" fmla="*/ 272 h 683"/>
                      <a:gd name="T6" fmla="*/ 2 w 481"/>
                      <a:gd name="T7" fmla="*/ 285 h 683"/>
                      <a:gd name="T8" fmla="*/ 7 w 481"/>
                      <a:gd name="T9" fmla="*/ 320 h 683"/>
                      <a:gd name="T10" fmla="*/ 17 w 481"/>
                      <a:gd name="T11" fmla="*/ 352 h 683"/>
                      <a:gd name="T12" fmla="*/ 27 w 481"/>
                      <a:gd name="T13" fmla="*/ 379 h 683"/>
                      <a:gd name="T14" fmla="*/ 27 w 481"/>
                      <a:gd name="T15" fmla="*/ 400 h 683"/>
                      <a:gd name="T16" fmla="*/ 34 w 481"/>
                      <a:gd name="T17" fmla="*/ 416 h 683"/>
                      <a:gd name="T18" fmla="*/ 46 w 481"/>
                      <a:gd name="T19" fmla="*/ 424 h 683"/>
                      <a:gd name="T20" fmla="*/ 50 w 481"/>
                      <a:gd name="T21" fmla="*/ 427 h 683"/>
                      <a:gd name="T22" fmla="*/ 38 w 481"/>
                      <a:gd name="T23" fmla="*/ 494 h 683"/>
                      <a:gd name="T24" fmla="*/ 60 w 481"/>
                      <a:gd name="T25" fmla="*/ 540 h 683"/>
                      <a:gd name="T26" fmla="*/ 85 w 481"/>
                      <a:gd name="T27" fmla="*/ 576 h 683"/>
                      <a:gd name="T28" fmla="*/ 125 w 481"/>
                      <a:gd name="T29" fmla="*/ 614 h 683"/>
                      <a:gd name="T30" fmla="*/ 179 w 481"/>
                      <a:gd name="T31" fmla="*/ 662 h 683"/>
                      <a:gd name="T32" fmla="*/ 236 w 481"/>
                      <a:gd name="T33" fmla="*/ 681 h 683"/>
                      <a:gd name="T34" fmla="*/ 290 w 481"/>
                      <a:gd name="T35" fmla="*/ 683 h 683"/>
                      <a:gd name="T36" fmla="*/ 328 w 481"/>
                      <a:gd name="T37" fmla="*/ 659 h 683"/>
                      <a:gd name="T38" fmla="*/ 362 w 481"/>
                      <a:gd name="T39" fmla="*/ 613 h 683"/>
                      <a:gd name="T40" fmla="*/ 377 w 481"/>
                      <a:gd name="T41" fmla="*/ 576 h 683"/>
                      <a:gd name="T42" fmla="*/ 381 w 481"/>
                      <a:gd name="T43" fmla="*/ 542 h 683"/>
                      <a:gd name="T44" fmla="*/ 403 w 481"/>
                      <a:gd name="T45" fmla="*/ 505 h 683"/>
                      <a:gd name="T46" fmla="*/ 411 w 481"/>
                      <a:gd name="T47" fmla="*/ 489 h 683"/>
                      <a:gd name="T48" fmla="*/ 416 w 481"/>
                      <a:gd name="T49" fmla="*/ 472 h 683"/>
                      <a:gd name="T50" fmla="*/ 428 w 481"/>
                      <a:gd name="T51" fmla="*/ 436 h 683"/>
                      <a:gd name="T52" fmla="*/ 438 w 481"/>
                      <a:gd name="T53" fmla="*/ 398 h 683"/>
                      <a:gd name="T54" fmla="*/ 446 w 481"/>
                      <a:gd name="T55" fmla="*/ 372 h 683"/>
                      <a:gd name="T56" fmla="*/ 456 w 481"/>
                      <a:gd name="T57" fmla="*/ 345 h 683"/>
                      <a:gd name="T58" fmla="*/ 465 w 481"/>
                      <a:gd name="T59" fmla="*/ 309 h 683"/>
                      <a:gd name="T60" fmla="*/ 478 w 481"/>
                      <a:gd name="T61" fmla="*/ 230 h 683"/>
                      <a:gd name="T62" fmla="*/ 481 w 481"/>
                      <a:gd name="T63" fmla="*/ 184 h 683"/>
                      <a:gd name="T64" fmla="*/ 474 w 481"/>
                      <a:gd name="T65" fmla="*/ 144 h 683"/>
                      <a:gd name="T66" fmla="*/ 460 w 481"/>
                      <a:gd name="T67" fmla="*/ 109 h 683"/>
                      <a:gd name="T68" fmla="*/ 437 w 481"/>
                      <a:gd name="T69" fmla="*/ 74 h 683"/>
                      <a:gd name="T70" fmla="*/ 420 w 481"/>
                      <a:gd name="T71" fmla="*/ 58 h 683"/>
                      <a:gd name="T72" fmla="*/ 408 w 481"/>
                      <a:gd name="T73" fmla="*/ 48 h 683"/>
                      <a:gd name="T74" fmla="*/ 376 w 481"/>
                      <a:gd name="T75" fmla="*/ 26 h 683"/>
                      <a:gd name="T76" fmla="*/ 344 w 481"/>
                      <a:gd name="T77" fmla="*/ 11 h 683"/>
                      <a:gd name="T78" fmla="*/ 308 w 481"/>
                      <a:gd name="T79" fmla="*/ 3 h 683"/>
                      <a:gd name="T80" fmla="*/ 279 w 481"/>
                      <a:gd name="T81" fmla="*/ 0 h 683"/>
                      <a:gd name="T82" fmla="*/ 235 w 481"/>
                      <a:gd name="T83" fmla="*/ 1 h 683"/>
                      <a:gd name="T84" fmla="*/ 189 w 481"/>
                      <a:gd name="T85" fmla="*/ 12 h 683"/>
                      <a:gd name="T86" fmla="*/ 155 w 481"/>
                      <a:gd name="T87" fmla="*/ 26 h 683"/>
                      <a:gd name="T88" fmla="*/ 126 w 481"/>
                      <a:gd name="T89" fmla="*/ 45 h 683"/>
                      <a:gd name="T90" fmla="*/ 104 w 481"/>
                      <a:gd name="T91" fmla="*/ 63 h 683"/>
                      <a:gd name="T92" fmla="*/ 85 w 481"/>
                      <a:gd name="T93" fmla="*/ 89 h 683"/>
                      <a:gd name="T94" fmla="*/ 68 w 481"/>
                      <a:gd name="T95" fmla="*/ 116 h 683"/>
                      <a:gd name="T96" fmla="*/ 50 w 481"/>
                      <a:gd name="T97" fmla="*/ 149 h 683"/>
                      <a:gd name="T98" fmla="*/ 42 w 481"/>
                      <a:gd name="T99" fmla="*/ 174 h 683"/>
                      <a:gd name="T100" fmla="*/ 33 w 481"/>
                      <a:gd name="T101" fmla="*/ 207 h 683"/>
                      <a:gd name="T102" fmla="*/ 26 w 481"/>
                      <a:gd name="T103" fmla="*/ 244 h 68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</a:cxnLst>
                    <a:rect l="0" t="0" r="r" b="b"/>
                    <a:pathLst>
                      <a:path w="481" h="683">
                        <a:moveTo>
                          <a:pt x="26" y="244"/>
                        </a:moveTo>
                        <a:lnTo>
                          <a:pt x="6" y="257"/>
                        </a:lnTo>
                        <a:lnTo>
                          <a:pt x="0" y="272"/>
                        </a:lnTo>
                        <a:lnTo>
                          <a:pt x="2" y="285"/>
                        </a:lnTo>
                        <a:lnTo>
                          <a:pt x="7" y="320"/>
                        </a:lnTo>
                        <a:lnTo>
                          <a:pt x="17" y="352"/>
                        </a:lnTo>
                        <a:lnTo>
                          <a:pt x="27" y="379"/>
                        </a:lnTo>
                        <a:lnTo>
                          <a:pt x="27" y="400"/>
                        </a:lnTo>
                        <a:lnTo>
                          <a:pt x="34" y="416"/>
                        </a:lnTo>
                        <a:lnTo>
                          <a:pt x="46" y="424"/>
                        </a:lnTo>
                        <a:lnTo>
                          <a:pt x="50" y="427"/>
                        </a:lnTo>
                        <a:lnTo>
                          <a:pt x="38" y="494"/>
                        </a:lnTo>
                        <a:lnTo>
                          <a:pt x="60" y="540"/>
                        </a:lnTo>
                        <a:lnTo>
                          <a:pt x="85" y="576"/>
                        </a:lnTo>
                        <a:lnTo>
                          <a:pt x="125" y="614"/>
                        </a:lnTo>
                        <a:lnTo>
                          <a:pt x="179" y="662"/>
                        </a:lnTo>
                        <a:lnTo>
                          <a:pt x="236" y="681"/>
                        </a:lnTo>
                        <a:lnTo>
                          <a:pt x="290" y="683"/>
                        </a:lnTo>
                        <a:lnTo>
                          <a:pt x="328" y="659"/>
                        </a:lnTo>
                        <a:lnTo>
                          <a:pt x="362" y="613"/>
                        </a:lnTo>
                        <a:lnTo>
                          <a:pt x="377" y="576"/>
                        </a:lnTo>
                        <a:lnTo>
                          <a:pt x="381" y="542"/>
                        </a:lnTo>
                        <a:lnTo>
                          <a:pt x="403" y="505"/>
                        </a:lnTo>
                        <a:lnTo>
                          <a:pt x="411" y="489"/>
                        </a:lnTo>
                        <a:lnTo>
                          <a:pt x="416" y="472"/>
                        </a:lnTo>
                        <a:lnTo>
                          <a:pt x="428" y="436"/>
                        </a:lnTo>
                        <a:lnTo>
                          <a:pt x="438" y="398"/>
                        </a:lnTo>
                        <a:lnTo>
                          <a:pt x="446" y="372"/>
                        </a:lnTo>
                        <a:lnTo>
                          <a:pt x="456" y="345"/>
                        </a:lnTo>
                        <a:lnTo>
                          <a:pt x="465" y="309"/>
                        </a:lnTo>
                        <a:lnTo>
                          <a:pt x="478" y="230"/>
                        </a:lnTo>
                        <a:lnTo>
                          <a:pt x="481" y="184"/>
                        </a:lnTo>
                        <a:lnTo>
                          <a:pt x="474" y="144"/>
                        </a:lnTo>
                        <a:lnTo>
                          <a:pt x="460" y="109"/>
                        </a:lnTo>
                        <a:lnTo>
                          <a:pt x="437" y="74"/>
                        </a:lnTo>
                        <a:lnTo>
                          <a:pt x="420" y="58"/>
                        </a:lnTo>
                        <a:lnTo>
                          <a:pt x="408" y="48"/>
                        </a:lnTo>
                        <a:lnTo>
                          <a:pt x="376" y="26"/>
                        </a:lnTo>
                        <a:lnTo>
                          <a:pt x="344" y="11"/>
                        </a:lnTo>
                        <a:lnTo>
                          <a:pt x="308" y="3"/>
                        </a:lnTo>
                        <a:lnTo>
                          <a:pt x="279" y="0"/>
                        </a:lnTo>
                        <a:lnTo>
                          <a:pt x="235" y="1"/>
                        </a:lnTo>
                        <a:lnTo>
                          <a:pt x="189" y="12"/>
                        </a:lnTo>
                        <a:lnTo>
                          <a:pt x="155" y="26"/>
                        </a:lnTo>
                        <a:lnTo>
                          <a:pt x="126" y="45"/>
                        </a:lnTo>
                        <a:lnTo>
                          <a:pt x="104" y="63"/>
                        </a:lnTo>
                        <a:lnTo>
                          <a:pt x="85" y="89"/>
                        </a:lnTo>
                        <a:lnTo>
                          <a:pt x="68" y="116"/>
                        </a:lnTo>
                        <a:lnTo>
                          <a:pt x="50" y="149"/>
                        </a:lnTo>
                        <a:lnTo>
                          <a:pt x="42" y="174"/>
                        </a:lnTo>
                        <a:lnTo>
                          <a:pt x="33" y="207"/>
                        </a:lnTo>
                        <a:lnTo>
                          <a:pt x="26" y="244"/>
                        </a:lnTo>
                        <a:close/>
                      </a:path>
                    </a:pathLst>
                  </a:custGeom>
                  <a:solidFill>
                    <a:srgbClr val="FF9F7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84" name="Freeform 131"/>
                  <p:cNvSpPr/>
                  <p:nvPr/>
                </p:nvSpPr>
                <p:spPr bwMode="auto">
                  <a:xfrm>
                    <a:off x="5114" y="2299"/>
                    <a:ext cx="5" cy="4"/>
                  </a:xfrm>
                  <a:custGeom>
                    <a:avLst/>
                    <a:gdLst>
                      <a:gd name="T0" fmla="*/ 1 w 32"/>
                      <a:gd name="T1" fmla="*/ 20 h 20"/>
                      <a:gd name="T2" fmla="*/ 20 w 32"/>
                      <a:gd name="T3" fmla="*/ 8 h 20"/>
                      <a:gd name="T4" fmla="*/ 32 w 32"/>
                      <a:gd name="T5" fmla="*/ 0 h 20"/>
                      <a:gd name="T6" fmla="*/ 15 w 32"/>
                      <a:gd name="T7" fmla="*/ 1 h 20"/>
                      <a:gd name="T8" fmla="*/ 0 w 32"/>
                      <a:gd name="T9" fmla="*/ 4 h 20"/>
                      <a:gd name="T10" fmla="*/ 1 w 32"/>
                      <a:gd name="T11" fmla="*/ 20 h 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32" h="20">
                        <a:moveTo>
                          <a:pt x="1" y="20"/>
                        </a:moveTo>
                        <a:lnTo>
                          <a:pt x="20" y="8"/>
                        </a:lnTo>
                        <a:lnTo>
                          <a:pt x="32" y="0"/>
                        </a:lnTo>
                        <a:lnTo>
                          <a:pt x="15" y="1"/>
                        </a:lnTo>
                        <a:lnTo>
                          <a:pt x="0" y="4"/>
                        </a:lnTo>
                        <a:lnTo>
                          <a:pt x="1" y="2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85" name="Freeform 132"/>
                  <p:cNvSpPr/>
                  <p:nvPr/>
                </p:nvSpPr>
                <p:spPr bwMode="auto">
                  <a:xfrm>
                    <a:off x="5102" y="2303"/>
                    <a:ext cx="8" cy="4"/>
                  </a:xfrm>
                  <a:custGeom>
                    <a:avLst/>
                    <a:gdLst>
                      <a:gd name="T0" fmla="*/ 0 w 43"/>
                      <a:gd name="T1" fmla="*/ 0 h 21"/>
                      <a:gd name="T2" fmla="*/ 21 w 43"/>
                      <a:gd name="T3" fmla="*/ 14 h 21"/>
                      <a:gd name="T4" fmla="*/ 29 w 43"/>
                      <a:gd name="T5" fmla="*/ 21 h 21"/>
                      <a:gd name="T6" fmla="*/ 39 w 43"/>
                      <a:gd name="T7" fmla="*/ 18 h 21"/>
                      <a:gd name="T8" fmla="*/ 43 w 43"/>
                      <a:gd name="T9" fmla="*/ 7 h 21"/>
                      <a:gd name="T10" fmla="*/ 0 w 43"/>
                      <a:gd name="T11" fmla="*/ 0 h 2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43" h="21">
                        <a:moveTo>
                          <a:pt x="0" y="0"/>
                        </a:moveTo>
                        <a:lnTo>
                          <a:pt x="21" y="14"/>
                        </a:lnTo>
                        <a:lnTo>
                          <a:pt x="29" y="21"/>
                        </a:lnTo>
                        <a:lnTo>
                          <a:pt x="39" y="18"/>
                        </a:lnTo>
                        <a:lnTo>
                          <a:pt x="43" y="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BF7F3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86" name="Freeform 133"/>
                  <p:cNvSpPr/>
                  <p:nvPr/>
                </p:nvSpPr>
                <p:spPr bwMode="auto">
                  <a:xfrm>
                    <a:off x="5095" y="2297"/>
                    <a:ext cx="20" cy="8"/>
                  </a:xfrm>
                  <a:custGeom>
                    <a:avLst/>
                    <a:gdLst>
                      <a:gd name="T0" fmla="*/ 0 w 122"/>
                      <a:gd name="T1" fmla="*/ 3 h 39"/>
                      <a:gd name="T2" fmla="*/ 58 w 122"/>
                      <a:gd name="T3" fmla="*/ 0 h 39"/>
                      <a:gd name="T4" fmla="*/ 79 w 122"/>
                      <a:gd name="T5" fmla="*/ 2 h 39"/>
                      <a:gd name="T6" fmla="*/ 106 w 122"/>
                      <a:gd name="T7" fmla="*/ 11 h 39"/>
                      <a:gd name="T8" fmla="*/ 122 w 122"/>
                      <a:gd name="T9" fmla="*/ 12 h 39"/>
                      <a:gd name="T10" fmla="*/ 121 w 122"/>
                      <a:gd name="T11" fmla="*/ 31 h 39"/>
                      <a:gd name="T12" fmla="*/ 100 w 122"/>
                      <a:gd name="T13" fmla="*/ 36 h 39"/>
                      <a:gd name="T14" fmla="*/ 86 w 122"/>
                      <a:gd name="T15" fmla="*/ 39 h 39"/>
                      <a:gd name="T16" fmla="*/ 70 w 122"/>
                      <a:gd name="T17" fmla="*/ 38 h 39"/>
                      <a:gd name="T18" fmla="*/ 50 w 122"/>
                      <a:gd name="T19" fmla="*/ 34 h 39"/>
                      <a:gd name="T20" fmla="*/ 39 w 122"/>
                      <a:gd name="T21" fmla="*/ 31 h 39"/>
                      <a:gd name="T22" fmla="*/ 21 w 122"/>
                      <a:gd name="T23" fmla="*/ 23 h 39"/>
                      <a:gd name="T24" fmla="*/ 7 w 122"/>
                      <a:gd name="T25" fmla="*/ 17 h 39"/>
                      <a:gd name="T26" fmla="*/ 0 w 122"/>
                      <a:gd name="T27" fmla="*/ 3 h 3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122" h="39">
                        <a:moveTo>
                          <a:pt x="0" y="3"/>
                        </a:moveTo>
                        <a:lnTo>
                          <a:pt x="58" y="0"/>
                        </a:lnTo>
                        <a:lnTo>
                          <a:pt x="79" y="2"/>
                        </a:lnTo>
                        <a:lnTo>
                          <a:pt x="106" y="11"/>
                        </a:lnTo>
                        <a:lnTo>
                          <a:pt x="122" y="12"/>
                        </a:lnTo>
                        <a:lnTo>
                          <a:pt x="121" y="31"/>
                        </a:lnTo>
                        <a:lnTo>
                          <a:pt x="100" y="36"/>
                        </a:lnTo>
                        <a:lnTo>
                          <a:pt x="86" y="39"/>
                        </a:lnTo>
                        <a:lnTo>
                          <a:pt x="70" y="38"/>
                        </a:lnTo>
                        <a:lnTo>
                          <a:pt x="50" y="34"/>
                        </a:lnTo>
                        <a:lnTo>
                          <a:pt x="39" y="31"/>
                        </a:lnTo>
                        <a:lnTo>
                          <a:pt x="21" y="23"/>
                        </a:lnTo>
                        <a:lnTo>
                          <a:pt x="7" y="17"/>
                        </a:lnTo>
                        <a:lnTo>
                          <a:pt x="0" y="3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87" name="Freeform 134"/>
                  <p:cNvSpPr/>
                  <p:nvPr/>
                </p:nvSpPr>
                <p:spPr bwMode="auto">
                  <a:xfrm>
                    <a:off x="5091" y="2279"/>
                    <a:ext cx="29" cy="22"/>
                  </a:xfrm>
                  <a:custGeom>
                    <a:avLst/>
                    <a:gdLst>
                      <a:gd name="T0" fmla="*/ 65 w 171"/>
                      <a:gd name="T1" fmla="*/ 0 h 112"/>
                      <a:gd name="T2" fmla="*/ 48 w 171"/>
                      <a:gd name="T3" fmla="*/ 12 h 112"/>
                      <a:gd name="T4" fmla="*/ 34 w 171"/>
                      <a:gd name="T5" fmla="*/ 27 h 112"/>
                      <a:gd name="T6" fmla="*/ 21 w 171"/>
                      <a:gd name="T7" fmla="*/ 43 h 112"/>
                      <a:gd name="T8" fmla="*/ 11 w 171"/>
                      <a:gd name="T9" fmla="*/ 57 h 112"/>
                      <a:gd name="T10" fmla="*/ 4 w 171"/>
                      <a:gd name="T11" fmla="*/ 73 h 112"/>
                      <a:gd name="T12" fmla="*/ 2 w 171"/>
                      <a:gd name="T13" fmla="*/ 93 h 112"/>
                      <a:gd name="T14" fmla="*/ 0 w 171"/>
                      <a:gd name="T15" fmla="*/ 103 h 112"/>
                      <a:gd name="T16" fmla="*/ 23 w 171"/>
                      <a:gd name="T17" fmla="*/ 103 h 112"/>
                      <a:gd name="T18" fmla="*/ 45 w 171"/>
                      <a:gd name="T19" fmla="*/ 105 h 112"/>
                      <a:gd name="T20" fmla="*/ 66 w 171"/>
                      <a:gd name="T21" fmla="*/ 104 h 112"/>
                      <a:gd name="T22" fmla="*/ 88 w 171"/>
                      <a:gd name="T23" fmla="*/ 104 h 112"/>
                      <a:gd name="T24" fmla="*/ 98 w 171"/>
                      <a:gd name="T25" fmla="*/ 104 h 112"/>
                      <a:gd name="T26" fmla="*/ 109 w 171"/>
                      <a:gd name="T27" fmla="*/ 106 h 112"/>
                      <a:gd name="T28" fmla="*/ 134 w 171"/>
                      <a:gd name="T29" fmla="*/ 111 h 112"/>
                      <a:gd name="T30" fmla="*/ 149 w 171"/>
                      <a:gd name="T31" fmla="*/ 112 h 112"/>
                      <a:gd name="T32" fmla="*/ 171 w 171"/>
                      <a:gd name="T33" fmla="*/ 106 h 112"/>
                      <a:gd name="T34" fmla="*/ 161 w 171"/>
                      <a:gd name="T35" fmla="*/ 100 h 112"/>
                      <a:gd name="T36" fmla="*/ 146 w 171"/>
                      <a:gd name="T37" fmla="*/ 96 h 112"/>
                      <a:gd name="T38" fmla="*/ 129 w 171"/>
                      <a:gd name="T39" fmla="*/ 93 h 112"/>
                      <a:gd name="T40" fmla="*/ 119 w 171"/>
                      <a:gd name="T41" fmla="*/ 91 h 112"/>
                      <a:gd name="T42" fmla="*/ 109 w 171"/>
                      <a:gd name="T43" fmla="*/ 95 h 112"/>
                      <a:gd name="T44" fmla="*/ 86 w 171"/>
                      <a:gd name="T45" fmla="*/ 85 h 112"/>
                      <a:gd name="T46" fmla="*/ 75 w 171"/>
                      <a:gd name="T47" fmla="*/ 85 h 112"/>
                      <a:gd name="T48" fmla="*/ 59 w 171"/>
                      <a:gd name="T49" fmla="*/ 89 h 112"/>
                      <a:gd name="T50" fmla="*/ 26 w 171"/>
                      <a:gd name="T51" fmla="*/ 94 h 112"/>
                      <a:gd name="T52" fmla="*/ 28 w 171"/>
                      <a:gd name="T53" fmla="*/ 85 h 112"/>
                      <a:gd name="T54" fmla="*/ 33 w 171"/>
                      <a:gd name="T55" fmla="*/ 77 h 112"/>
                      <a:gd name="T56" fmla="*/ 40 w 171"/>
                      <a:gd name="T57" fmla="*/ 66 h 112"/>
                      <a:gd name="T58" fmla="*/ 52 w 171"/>
                      <a:gd name="T59" fmla="*/ 66 h 112"/>
                      <a:gd name="T60" fmla="*/ 66 w 171"/>
                      <a:gd name="T61" fmla="*/ 63 h 112"/>
                      <a:gd name="T62" fmla="*/ 84 w 171"/>
                      <a:gd name="T63" fmla="*/ 59 h 112"/>
                      <a:gd name="T64" fmla="*/ 95 w 171"/>
                      <a:gd name="T65" fmla="*/ 56 h 112"/>
                      <a:gd name="T66" fmla="*/ 112 w 171"/>
                      <a:gd name="T67" fmla="*/ 48 h 112"/>
                      <a:gd name="T68" fmla="*/ 89 w 171"/>
                      <a:gd name="T69" fmla="*/ 32 h 112"/>
                      <a:gd name="T70" fmla="*/ 65 w 171"/>
                      <a:gd name="T71" fmla="*/ 0 h 1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</a:cxnLst>
                    <a:rect l="0" t="0" r="r" b="b"/>
                    <a:pathLst>
                      <a:path w="171" h="112">
                        <a:moveTo>
                          <a:pt x="65" y="0"/>
                        </a:moveTo>
                        <a:lnTo>
                          <a:pt x="48" y="12"/>
                        </a:lnTo>
                        <a:lnTo>
                          <a:pt x="34" y="27"/>
                        </a:lnTo>
                        <a:lnTo>
                          <a:pt x="21" y="43"/>
                        </a:lnTo>
                        <a:lnTo>
                          <a:pt x="11" y="57"/>
                        </a:lnTo>
                        <a:lnTo>
                          <a:pt x="4" y="73"/>
                        </a:lnTo>
                        <a:lnTo>
                          <a:pt x="2" y="93"/>
                        </a:lnTo>
                        <a:lnTo>
                          <a:pt x="0" y="103"/>
                        </a:lnTo>
                        <a:lnTo>
                          <a:pt x="23" y="103"/>
                        </a:lnTo>
                        <a:lnTo>
                          <a:pt x="45" y="105"/>
                        </a:lnTo>
                        <a:lnTo>
                          <a:pt x="66" y="104"/>
                        </a:lnTo>
                        <a:lnTo>
                          <a:pt x="88" y="104"/>
                        </a:lnTo>
                        <a:lnTo>
                          <a:pt x="98" y="104"/>
                        </a:lnTo>
                        <a:lnTo>
                          <a:pt x="109" y="106"/>
                        </a:lnTo>
                        <a:lnTo>
                          <a:pt x="134" y="111"/>
                        </a:lnTo>
                        <a:lnTo>
                          <a:pt x="149" y="112"/>
                        </a:lnTo>
                        <a:lnTo>
                          <a:pt x="171" y="106"/>
                        </a:lnTo>
                        <a:lnTo>
                          <a:pt x="161" y="100"/>
                        </a:lnTo>
                        <a:lnTo>
                          <a:pt x="146" y="96"/>
                        </a:lnTo>
                        <a:lnTo>
                          <a:pt x="129" y="93"/>
                        </a:lnTo>
                        <a:lnTo>
                          <a:pt x="119" y="91"/>
                        </a:lnTo>
                        <a:lnTo>
                          <a:pt x="109" y="95"/>
                        </a:lnTo>
                        <a:lnTo>
                          <a:pt x="86" y="85"/>
                        </a:lnTo>
                        <a:lnTo>
                          <a:pt x="75" y="85"/>
                        </a:lnTo>
                        <a:lnTo>
                          <a:pt x="59" y="89"/>
                        </a:lnTo>
                        <a:lnTo>
                          <a:pt x="26" y="94"/>
                        </a:lnTo>
                        <a:lnTo>
                          <a:pt x="28" y="85"/>
                        </a:lnTo>
                        <a:lnTo>
                          <a:pt x="33" y="77"/>
                        </a:lnTo>
                        <a:lnTo>
                          <a:pt x="40" y="66"/>
                        </a:lnTo>
                        <a:lnTo>
                          <a:pt x="52" y="66"/>
                        </a:lnTo>
                        <a:lnTo>
                          <a:pt x="66" y="63"/>
                        </a:lnTo>
                        <a:lnTo>
                          <a:pt x="84" y="59"/>
                        </a:lnTo>
                        <a:lnTo>
                          <a:pt x="95" y="56"/>
                        </a:lnTo>
                        <a:lnTo>
                          <a:pt x="112" y="48"/>
                        </a:lnTo>
                        <a:lnTo>
                          <a:pt x="89" y="32"/>
                        </a:lnTo>
                        <a:lnTo>
                          <a:pt x="65" y="0"/>
                        </a:lnTo>
                        <a:close/>
                      </a:path>
                    </a:pathLst>
                  </a:custGeom>
                  <a:solidFill>
                    <a:srgbClr val="FF7F3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88" name="Freeform 135"/>
                  <p:cNvSpPr/>
                  <p:nvPr/>
                </p:nvSpPr>
                <p:spPr bwMode="auto">
                  <a:xfrm>
                    <a:off x="5089" y="2254"/>
                    <a:ext cx="19" cy="21"/>
                  </a:xfrm>
                  <a:custGeom>
                    <a:avLst/>
                    <a:gdLst>
                      <a:gd name="T0" fmla="*/ 113 w 113"/>
                      <a:gd name="T1" fmla="*/ 43 h 103"/>
                      <a:gd name="T2" fmla="*/ 113 w 113"/>
                      <a:gd name="T3" fmla="*/ 69 h 103"/>
                      <a:gd name="T4" fmla="*/ 80 w 113"/>
                      <a:gd name="T5" fmla="*/ 103 h 103"/>
                      <a:gd name="T6" fmla="*/ 83 w 113"/>
                      <a:gd name="T7" fmla="*/ 75 h 103"/>
                      <a:gd name="T8" fmla="*/ 83 w 113"/>
                      <a:gd name="T9" fmla="*/ 60 h 103"/>
                      <a:gd name="T10" fmla="*/ 80 w 113"/>
                      <a:gd name="T11" fmla="*/ 48 h 103"/>
                      <a:gd name="T12" fmla="*/ 70 w 113"/>
                      <a:gd name="T13" fmla="*/ 40 h 103"/>
                      <a:gd name="T14" fmla="*/ 55 w 113"/>
                      <a:gd name="T15" fmla="*/ 32 h 103"/>
                      <a:gd name="T16" fmla="*/ 40 w 113"/>
                      <a:gd name="T17" fmla="*/ 24 h 103"/>
                      <a:gd name="T18" fmla="*/ 27 w 113"/>
                      <a:gd name="T19" fmla="*/ 23 h 103"/>
                      <a:gd name="T20" fmla="*/ 10 w 113"/>
                      <a:gd name="T21" fmla="*/ 27 h 103"/>
                      <a:gd name="T22" fmla="*/ 0 w 113"/>
                      <a:gd name="T23" fmla="*/ 31 h 103"/>
                      <a:gd name="T24" fmla="*/ 14 w 113"/>
                      <a:gd name="T25" fmla="*/ 2 h 103"/>
                      <a:gd name="T26" fmla="*/ 21 w 113"/>
                      <a:gd name="T27" fmla="*/ 0 h 103"/>
                      <a:gd name="T28" fmla="*/ 36 w 113"/>
                      <a:gd name="T29" fmla="*/ 0 h 103"/>
                      <a:gd name="T30" fmla="*/ 58 w 113"/>
                      <a:gd name="T31" fmla="*/ 3 h 103"/>
                      <a:gd name="T32" fmla="*/ 77 w 113"/>
                      <a:gd name="T33" fmla="*/ 8 h 103"/>
                      <a:gd name="T34" fmla="*/ 95 w 113"/>
                      <a:gd name="T35" fmla="*/ 16 h 103"/>
                      <a:gd name="T36" fmla="*/ 107 w 113"/>
                      <a:gd name="T37" fmla="*/ 28 h 103"/>
                      <a:gd name="T38" fmla="*/ 113 w 113"/>
                      <a:gd name="T39" fmla="*/ 43 h 10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13" h="103">
                        <a:moveTo>
                          <a:pt x="113" y="43"/>
                        </a:moveTo>
                        <a:lnTo>
                          <a:pt x="113" y="69"/>
                        </a:lnTo>
                        <a:lnTo>
                          <a:pt x="80" y="103"/>
                        </a:lnTo>
                        <a:lnTo>
                          <a:pt x="83" y="75"/>
                        </a:lnTo>
                        <a:lnTo>
                          <a:pt x="83" y="60"/>
                        </a:lnTo>
                        <a:lnTo>
                          <a:pt x="80" y="48"/>
                        </a:lnTo>
                        <a:lnTo>
                          <a:pt x="70" y="40"/>
                        </a:lnTo>
                        <a:lnTo>
                          <a:pt x="55" y="32"/>
                        </a:lnTo>
                        <a:lnTo>
                          <a:pt x="40" y="24"/>
                        </a:lnTo>
                        <a:lnTo>
                          <a:pt x="27" y="23"/>
                        </a:lnTo>
                        <a:lnTo>
                          <a:pt x="10" y="27"/>
                        </a:lnTo>
                        <a:lnTo>
                          <a:pt x="0" y="31"/>
                        </a:lnTo>
                        <a:lnTo>
                          <a:pt x="14" y="2"/>
                        </a:lnTo>
                        <a:lnTo>
                          <a:pt x="21" y="0"/>
                        </a:lnTo>
                        <a:lnTo>
                          <a:pt x="36" y="0"/>
                        </a:lnTo>
                        <a:lnTo>
                          <a:pt x="58" y="3"/>
                        </a:lnTo>
                        <a:lnTo>
                          <a:pt x="77" y="8"/>
                        </a:lnTo>
                        <a:lnTo>
                          <a:pt x="95" y="16"/>
                        </a:lnTo>
                        <a:lnTo>
                          <a:pt x="107" y="28"/>
                        </a:lnTo>
                        <a:lnTo>
                          <a:pt x="113" y="43"/>
                        </a:lnTo>
                        <a:close/>
                      </a:path>
                    </a:pathLst>
                  </a:custGeom>
                  <a:solidFill>
                    <a:srgbClr val="BF7F3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89" name="Freeform 136"/>
                  <p:cNvSpPr/>
                  <p:nvPr/>
                </p:nvSpPr>
                <p:spPr bwMode="auto">
                  <a:xfrm>
                    <a:off x="5060" y="2206"/>
                    <a:ext cx="80" cy="137"/>
                  </a:xfrm>
                  <a:custGeom>
                    <a:avLst/>
                    <a:gdLst>
                      <a:gd name="T0" fmla="*/ 0 w 481"/>
                      <a:gd name="T1" fmla="*/ 272 h 684"/>
                      <a:gd name="T2" fmla="*/ 17 w 481"/>
                      <a:gd name="T3" fmla="*/ 352 h 684"/>
                      <a:gd name="T4" fmla="*/ 34 w 481"/>
                      <a:gd name="T5" fmla="*/ 417 h 684"/>
                      <a:gd name="T6" fmla="*/ 38 w 481"/>
                      <a:gd name="T7" fmla="*/ 495 h 684"/>
                      <a:gd name="T8" fmla="*/ 168 w 481"/>
                      <a:gd name="T9" fmla="*/ 415 h 684"/>
                      <a:gd name="T10" fmla="*/ 213 w 481"/>
                      <a:gd name="T11" fmla="*/ 392 h 684"/>
                      <a:gd name="T12" fmla="*/ 236 w 481"/>
                      <a:gd name="T13" fmla="*/ 366 h 684"/>
                      <a:gd name="T14" fmla="*/ 198 w 481"/>
                      <a:gd name="T15" fmla="*/ 376 h 684"/>
                      <a:gd name="T16" fmla="*/ 164 w 481"/>
                      <a:gd name="T17" fmla="*/ 357 h 684"/>
                      <a:gd name="T18" fmla="*/ 187 w 481"/>
                      <a:gd name="T19" fmla="*/ 329 h 684"/>
                      <a:gd name="T20" fmla="*/ 240 w 481"/>
                      <a:gd name="T21" fmla="*/ 347 h 684"/>
                      <a:gd name="T22" fmla="*/ 300 w 481"/>
                      <a:gd name="T23" fmla="*/ 234 h 684"/>
                      <a:gd name="T24" fmla="*/ 259 w 481"/>
                      <a:gd name="T25" fmla="*/ 185 h 684"/>
                      <a:gd name="T26" fmla="*/ 309 w 481"/>
                      <a:gd name="T27" fmla="*/ 103 h 684"/>
                      <a:gd name="T28" fmla="*/ 381 w 481"/>
                      <a:gd name="T29" fmla="*/ 122 h 684"/>
                      <a:gd name="T30" fmla="*/ 418 w 481"/>
                      <a:gd name="T31" fmla="*/ 177 h 684"/>
                      <a:gd name="T32" fmla="*/ 411 w 481"/>
                      <a:gd name="T33" fmla="*/ 225 h 684"/>
                      <a:gd name="T34" fmla="*/ 413 w 481"/>
                      <a:gd name="T35" fmla="*/ 262 h 684"/>
                      <a:gd name="T36" fmla="*/ 395 w 481"/>
                      <a:gd name="T37" fmla="*/ 346 h 684"/>
                      <a:gd name="T38" fmla="*/ 423 w 481"/>
                      <a:gd name="T39" fmla="*/ 372 h 684"/>
                      <a:gd name="T40" fmla="*/ 413 w 481"/>
                      <a:gd name="T41" fmla="*/ 410 h 684"/>
                      <a:gd name="T42" fmla="*/ 373 w 481"/>
                      <a:gd name="T43" fmla="*/ 396 h 684"/>
                      <a:gd name="T44" fmla="*/ 352 w 481"/>
                      <a:gd name="T45" fmla="*/ 403 h 684"/>
                      <a:gd name="T46" fmla="*/ 385 w 481"/>
                      <a:gd name="T47" fmla="*/ 429 h 684"/>
                      <a:gd name="T48" fmla="*/ 400 w 481"/>
                      <a:gd name="T49" fmla="*/ 460 h 684"/>
                      <a:gd name="T50" fmla="*/ 386 w 481"/>
                      <a:gd name="T51" fmla="*/ 498 h 684"/>
                      <a:gd name="T52" fmla="*/ 357 w 481"/>
                      <a:gd name="T53" fmla="*/ 533 h 684"/>
                      <a:gd name="T54" fmla="*/ 318 w 481"/>
                      <a:gd name="T55" fmla="*/ 555 h 684"/>
                      <a:gd name="T56" fmla="*/ 279 w 481"/>
                      <a:gd name="T57" fmla="*/ 565 h 684"/>
                      <a:gd name="T58" fmla="*/ 245 w 481"/>
                      <a:gd name="T59" fmla="*/ 549 h 684"/>
                      <a:gd name="T60" fmla="*/ 208 w 481"/>
                      <a:gd name="T61" fmla="*/ 503 h 684"/>
                      <a:gd name="T62" fmla="*/ 190 w 481"/>
                      <a:gd name="T63" fmla="*/ 472 h 684"/>
                      <a:gd name="T64" fmla="*/ 171 w 481"/>
                      <a:gd name="T65" fmla="*/ 488 h 684"/>
                      <a:gd name="T66" fmla="*/ 49 w 481"/>
                      <a:gd name="T67" fmla="*/ 524 h 684"/>
                      <a:gd name="T68" fmla="*/ 122 w 481"/>
                      <a:gd name="T69" fmla="*/ 623 h 684"/>
                      <a:gd name="T70" fmla="*/ 290 w 481"/>
                      <a:gd name="T71" fmla="*/ 684 h 684"/>
                      <a:gd name="T72" fmla="*/ 377 w 481"/>
                      <a:gd name="T73" fmla="*/ 576 h 684"/>
                      <a:gd name="T74" fmla="*/ 403 w 481"/>
                      <a:gd name="T75" fmla="*/ 506 h 684"/>
                      <a:gd name="T76" fmla="*/ 428 w 481"/>
                      <a:gd name="T77" fmla="*/ 436 h 684"/>
                      <a:gd name="T78" fmla="*/ 456 w 481"/>
                      <a:gd name="T79" fmla="*/ 345 h 684"/>
                      <a:gd name="T80" fmla="*/ 481 w 481"/>
                      <a:gd name="T81" fmla="*/ 184 h 684"/>
                      <a:gd name="T82" fmla="*/ 437 w 481"/>
                      <a:gd name="T83" fmla="*/ 74 h 684"/>
                      <a:gd name="T84" fmla="*/ 376 w 481"/>
                      <a:gd name="T85" fmla="*/ 26 h 684"/>
                      <a:gd name="T86" fmla="*/ 279 w 481"/>
                      <a:gd name="T87" fmla="*/ 0 h 684"/>
                      <a:gd name="T88" fmla="*/ 155 w 481"/>
                      <a:gd name="T89" fmla="*/ 26 h 684"/>
                      <a:gd name="T90" fmla="*/ 85 w 481"/>
                      <a:gd name="T91" fmla="*/ 89 h 684"/>
                      <a:gd name="T92" fmla="*/ 42 w 481"/>
                      <a:gd name="T93" fmla="*/ 174 h 68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</a:cxnLst>
                    <a:rect l="0" t="0" r="r" b="b"/>
                    <a:pathLst>
                      <a:path w="481" h="684">
                        <a:moveTo>
                          <a:pt x="26" y="245"/>
                        </a:moveTo>
                        <a:lnTo>
                          <a:pt x="6" y="257"/>
                        </a:lnTo>
                        <a:lnTo>
                          <a:pt x="0" y="272"/>
                        </a:lnTo>
                        <a:lnTo>
                          <a:pt x="2" y="286"/>
                        </a:lnTo>
                        <a:lnTo>
                          <a:pt x="7" y="320"/>
                        </a:lnTo>
                        <a:lnTo>
                          <a:pt x="17" y="352"/>
                        </a:lnTo>
                        <a:lnTo>
                          <a:pt x="27" y="380"/>
                        </a:lnTo>
                        <a:lnTo>
                          <a:pt x="27" y="401"/>
                        </a:lnTo>
                        <a:lnTo>
                          <a:pt x="34" y="417"/>
                        </a:lnTo>
                        <a:lnTo>
                          <a:pt x="46" y="424"/>
                        </a:lnTo>
                        <a:lnTo>
                          <a:pt x="50" y="428"/>
                        </a:lnTo>
                        <a:lnTo>
                          <a:pt x="38" y="495"/>
                        </a:lnTo>
                        <a:lnTo>
                          <a:pt x="140" y="423"/>
                        </a:lnTo>
                        <a:lnTo>
                          <a:pt x="152" y="417"/>
                        </a:lnTo>
                        <a:lnTo>
                          <a:pt x="168" y="415"/>
                        </a:lnTo>
                        <a:lnTo>
                          <a:pt x="186" y="408"/>
                        </a:lnTo>
                        <a:lnTo>
                          <a:pt x="201" y="399"/>
                        </a:lnTo>
                        <a:lnTo>
                          <a:pt x="213" y="392"/>
                        </a:lnTo>
                        <a:lnTo>
                          <a:pt x="222" y="387"/>
                        </a:lnTo>
                        <a:lnTo>
                          <a:pt x="232" y="377"/>
                        </a:lnTo>
                        <a:lnTo>
                          <a:pt x="236" y="366"/>
                        </a:lnTo>
                        <a:lnTo>
                          <a:pt x="223" y="371"/>
                        </a:lnTo>
                        <a:lnTo>
                          <a:pt x="210" y="375"/>
                        </a:lnTo>
                        <a:lnTo>
                          <a:pt x="198" y="376"/>
                        </a:lnTo>
                        <a:lnTo>
                          <a:pt x="183" y="372"/>
                        </a:lnTo>
                        <a:lnTo>
                          <a:pt x="168" y="366"/>
                        </a:lnTo>
                        <a:lnTo>
                          <a:pt x="164" y="357"/>
                        </a:lnTo>
                        <a:lnTo>
                          <a:pt x="165" y="346"/>
                        </a:lnTo>
                        <a:lnTo>
                          <a:pt x="173" y="334"/>
                        </a:lnTo>
                        <a:lnTo>
                          <a:pt x="187" y="329"/>
                        </a:lnTo>
                        <a:lnTo>
                          <a:pt x="202" y="328"/>
                        </a:lnTo>
                        <a:lnTo>
                          <a:pt x="220" y="331"/>
                        </a:lnTo>
                        <a:lnTo>
                          <a:pt x="240" y="347"/>
                        </a:lnTo>
                        <a:lnTo>
                          <a:pt x="254" y="357"/>
                        </a:lnTo>
                        <a:lnTo>
                          <a:pt x="281" y="258"/>
                        </a:lnTo>
                        <a:lnTo>
                          <a:pt x="300" y="234"/>
                        </a:lnTo>
                        <a:lnTo>
                          <a:pt x="281" y="220"/>
                        </a:lnTo>
                        <a:lnTo>
                          <a:pt x="263" y="210"/>
                        </a:lnTo>
                        <a:lnTo>
                          <a:pt x="259" y="185"/>
                        </a:lnTo>
                        <a:lnTo>
                          <a:pt x="281" y="147"/>
                        </a:lnTo>
                        <a:lnTo>
                          <a:pt x="300" y="122"/>
                        </a:lnTo>
                        <a:lnTo>
                          <a:pt x="309" y="103"/>
                        </a:lnTo>
                        <a:lnTo>
                          <a:pt x="330" y="103"/>
                        </a:lnTo>
                        <a:lnTo>
                          <a:pt x="358" y="109"/>
                        </a:lnTo>
                        <a:lnTo>
                          <a:pt x="381" y="122"/>
                        </a:lnTo>
                        <a:lnTo>
                          <a:pt x="395" y="135"/>
                        </a:lnTo>
                        <a:lnTo>
                          <a:pt x="410" y="155"/>
                        </a:lnTo>
                        <a:lnTo>
                          <a:pt x="418" y="177"/>
                        </a:lnTo>
                        <a:lnTo>
                          <a:pt x="426" y="202"/>
                        </a:lnTo>
                        <a:lnTo>
                          <a:pt x="416" y="221"/>
                        </a:lnTo>
                        <a:lnTo>
                          <a:pt x="411" y="225"/>
                        </a:lnTo>
                        <a:lnTo>
                          <a:pt x="403" y="237"/>
                        </a:lnTo>
                        <a:lnTo>
                          <a:pt x="423" y="240"/>
                        </a:lnTo>
                        <a:lnTo>
                          <a:pt x="413" y="262"/>
                        </a:lnTo>
                        <a:lnTo>
                          <a:pt x="403" y="281"/>
                        </a:lnTo>
                        <a:lnTo>
                          <a:pt x="420" y="321"/>
                        </a:lnTo>
                        <a:lnTo>
                          <a:pt x="395" y="346"/>
                        </a:lnTo>
                        <a:lnTo>
                          <a:pt x="404" y="350"/>
                        </a:lnTo>
                        <a:lnTo>
                          <a:pt x="412" y="359"/>
                        </a:lnTo>
                        <a:lnTo>
                          <a:pt x="423" y="372"/>
                        </a:lnTo>
                        <a:lnTo>
                          <a:pt x="431" y="389"/>
                        </a:lnTo>
                        <a:lnTo>
                          <a:pt x="428" y="406"/>
                        </a:lnTo>
                        <a:lnTo>
                          <a:pt x="413" y="410"/>
                        </a:lnTo>
                        <a:lnTo>
                          <a:pt x="394" y="407"/>
                        </a:lnTo>
                        <a:lnTo>
                          <a:pt x="382" y="402"/>
                        </a:lnTo>
                        <a:lnTo>
                          <a:pt x="373" y="396"/>
                        </a:lnTo>
                        <a:lnTo>
                          <a:pt x="352" y="380"/>
                        </a:lnTo>
                        <a:lnTo>
                          <a:pt x="336" y="383"/>
                        </a:lnTo>
                        <a:lnTo>
                          <a:pt x="352" y="403"/>
                        </a:lnTo>
                        <a:lnTo>
                          <a:pt x="362" y="412"/>
                        </a:lnTo>
                        <a:lnTo>
                          <a:pt x="374" y="423"/>
                        </a:lnTo>
                        <a:lnTo>
                          <a:pt x="385" y="429"/>
                        </a:lnTo>
                        <a:lnTo>
                          <a:pt x="397" y="439"/>
                        </a:lnTo>
                        <a:lnTo>
                          <a:pt x="400" y="449"/>
                        </a:lnTo>
                        <a:lnTo>
                          <a:pt x="400" y="460"/>
                        </a:lnTo>
                        <a:lnTo>
                          <a:pt x="399" y="477"/>
                        </a:lnTo>
                        <a:lnTo>
                          <a:pt x="393" y="488"/>
                        </a:lnTo>
                        <a:lnTo>
                          <a:pt x="386" y="498"/>
                        </a:lnTo>
                        <a:lnTo>
                          <a:pt x="375" y="509"/>
                        </a:lnTo>
                        <a:lnTo>
                          <a:pt x="367" y="524"/>
                        </a:lnTo>
                        <a:lnTo>
                          <a:pt x="357" y="533"/>
                        </a:lnTo>
                        <a:lnTo>
                          <a:pt x="343" y="529"/>
                        </a:lnTo>
                        <a:lnTo>
                          <a:pt x="330" y="545"/>
                        </a:lnTo>
                        <a:lnTo>
                          <a:pt x="318" y="555"/>
                        </a:lnTo>
                        <a:lnTo>
                          <a:pt x="307" y="565"/>
                        </a:lnTo>
                        <a:lnTo>
                          <a:pt x="291" y="567"/>
                        </a:lnTo>
                        <a:lnTo>
                          <a:pt x="279" y="565"/>
                        </a:lnTo>
                        <a:lnTo>
                          <a:pt x="266" y="563"/>
                        </a:lnTo>
                        <a:lnTo>
                          <a:pt x="257" y="558"/>
                        </a:lnTo>
                        <a:lnTo>
                          <a:pt x="245" y="549"/>
                        </a:lnTo>
                        <a:lnTo>
                          <a:pt x="238" y="540"/>
                        </a:lnTo>
                        <a:lnTo>
                          <a:pt x="216" y="511"/>
                        </a:lnTo>
                        <a:lnTo>
                          <a:pt x="208" y="503"/>
                        </a:lnTo>
                        <a:lnTo>
                          <a:pt x="202" y="496"/>
                        </a:lnTo>
                        <a:lnTo>
                          <a:pt x="195" y="487"/>
                        </a:lnTo>
                        <a:lnTo>
                          <a:pt x="190" y="472"/>
                        </a:lnTo>
                        <a:lnTo>
                          <a:pt x="186" y="457"/>
                        </a:lnTo>
                        <a:lnTo>
                          <a:pt x="178" y="473"/>
                        </a:lnTo>
                        <a:lnTo>
                          <a:pt x="171" y="488"/>
                        </a:lnTo>
                        <a:lnTo>
                          <a:pt x="162" y="478"/>
                        </a:lnTo>
                        <a:lnTo>
                          <a:pt x="154" y="464"/>
                        </a:lnTo>
                        <a:lnTo>
                          <a:pt x="49" y="524"/>
                        </a:lnTo>
                        <a:lnTo>
                          <a:pt x="72" y="567"/>
                        </a:lnTo>
                        <a:lnTo>
                          <a:pt x="99" y="598"/>
                        </a:lnTo>
                        <a:lnTo>
                          <a:pt x="122" y="623"/>
                        </a:lnTo>
                        <a:lnTo>
                          <a:pt x="179" y="663"/>
                        </a:lnTo>
                        <a:lnTo>
                          <a:pt x="236" y="681"/>
                        </a:lnTo>
                        <a:lnTo>
                          <a:pt x="290" y="684"/>
                        </a:lnTo>
                        <a:lnTo>
                          <a:pt x="328" y="659"/>
                        </a:lnTo>
                        <a:lnTo>
                          <a:pt x="362" y="613"/>
                        </a:lnTo>
                        <a:lnTo>
                          <a:pt x="377" y="576"/>
                        </a:lnTo>
                        <a:lnTo>
                          <a:pt x="381" y="543"/>
                        </a:lnTo>
                        <a:lnTo>
                          <a:pt x="395" y="525"/>
                        </a:lnTo>
                        <a:lnTo>
                          <a:pt x="403" y="506"/>
                        </a:lnTo>
                        <a:lnTo>
                          <a:pt x="411" y="490"/>
                        </a:lnTo>
                        <a:lnTo>
                          <a:pt x="416" y="472"/>
                        </a:lnTo>
                        <a:lnTo>
                          <a:pt x="428" y="436"/>
                        </a:lnTo>
                        <a:lnTo>
                          <a:pt x="438" y="398"/>
                        </a:lnTo>
                        <a:lnTo>
                          <a:pt x="446" y="372"/>
                        </a:lnTo>
                        <a:lnTo>
                          <a:pt x="456" y="345"/>
                        </a:lnTo>
                        <a:lnTo>
                          <a:pt x="465" y="309"/>
                        </a:lnTo>
                        <a:lnTo>
                          <a:pt x="478" y="230"/>
                        </a:lnTo>
                        <a:lnTo>
                          <a:pt x="481" y="184"/>
                        </a:lnTo>
                        <a:lnTo>
                          <a:pt x="474" y="145"/>
                        </a:lnTo>
                        <a:lnTo>
                          <a:pt x="460" y="109"/>
                        </a:lnTo>
                        <a:lnTo>
                          <a:pt x="437" y="74"/>
                        </a:lnTo>
                        <a:lnTo>
                          <a:pt x="420" y="58"/>
                        </a:lnTo>
                        <a:lnTo>
                          <a:pt x="408" y="48"/>
                        </a:lnTo>
                        <a:lnTo>
                          <a:pt x="376" y="26"/>
                        </a:lnTo>
                        <a:lnTo>
                          <a:pt x="344" y="11"/>
                        </a:lnTo>
                        <a:lnTo>
                          <a:pt x="308" y="4"/>
                        </a:lnTo>
                        <a:lnTo>
                          <a:pt x="279" y="0"/>
                        </a:lnTo>
                        <a:lnTo>
                          <a:pt x="235" y="1"/>
                        </a:lnTo>
                        <a:lnTo>
                          <a:pt x="189" y="12"/>
                        </a:lnTo>
                        <a:lnTo>
                          <a:pt x="155" y="26"/>
                        </a:lnTo>
                        <a:lnTo>
                          <a:pt x="126" y="46"/>
                        </a:lnTo>
                        <a:lnTo>
                          <a:pt x="104" y="63"/>
                        </a:lnTo>
                        <a:lnTo>
                          <a:pt x="85" y="89"/>
                        </a:lnTo>
                        <a:lnTo>
                          <a:pt x="68" y="116"/>
                        </a:lnTo>
                        <a:lnTo>
                          <a:pt x="50" y="145"/>
                        </a:lnTo>
                        <a:lnTo>
                          <a:pt x="42" y="174"/>
                        </a:lnTo>
                        <a:lnTo>
                          <a:pt x="33" y="208"/>
                        </a:lnTo>
                        <a:lnTo>
                          <a:pt x="26" y="245"/>
                        </a:lnTo>
                        <a:close/>
                      </a:path>
                    </a:pathLst>
                  </a:custGeom>
                  <a:solidFill>
                    <a:srgbClr val="FF7F3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90" name="Freeform 137"/>
                  <p:cNvSpPr/>
                  <p:nvPr/>
                </p:nvSpPr>
                <p:spPr bwMode="auto">
                  <a:xfrm>
                    <a:off x="5060" y="2207"/>
                    <a:ext cx="81" cy="137"/>
                  </a:xfrm>
                  <a:custGeom>
                    <a:avLst/>
                    <a:gdLst>
                      <a:gd name="T0" fmla="*/ 281 w 483"/>
                      <a:gd name="T1" fmla="*/ 355 h 682"/>
                      <a:gd name="T2" fmla="*/ 273 w 483"/>
                      <a:gd name="T3" fmla="*/ 381 h 682"/>
                      <a:gd name="T4" fmla="*/ 309 w 483"/>
                      <a:gd name="T5" fmla="*/ 393 h 682"/>
                      <a:gd name="T6" fmla="*/ 298 w 483"/>
                      <a:gd name="T7" fmla="*/ 405 h 682"/>
                      <a:gd name="T8" fmla="*/ 269 w 483"/>
                      <a:gd name="T9" fmla="*/ 394 h 682"/>
                      <a:gd name="T10" fmla="*/ 238 w 483"/>
                      <a:gd name="T11" fmla="*/ 388 h 682"/>
                      <a:gd name="T12" fmla="*/ 244 w 483"/>
                      <a:gd name="T13" fmla="*/ 363 h 682"/>
                      <a:gd name="T14" fmla="*/ 258 w 483"/>
                      <a:gd name="T15" fmla="*/ 308 h 682"/>
                      <a:gd name="T16" fmla="*/ 245 w 483"/>
                      <a:gd name="T17" fmla="*/ 273 h 682"/>
                      <a:gd name="T18" fmla="*/ 203 w 483"/>
                      <a:gd name="T19" fmla="*/ 257 h 682"/>
                      <a:gd name="T20" fmla="*/ 139 w 483"/>
                      <a:gd name="T21" fmla="*/ 272 h 682"/>
                      <a:gd name="T22" fmla="*/ 113 w 483"/>
                      <a:gd name="T23" fmla="*/ 276 h 682"/>
                      <a:gd name="T24" fmla="*/ 99 w 483"/>
                      <a:gd name="T25" fmla="*/ 310 h 682"/>
                      <a:gd name="T26" fmla="*/ 109 w 483"/>
                      <a:gd name="T27" fmla="*/ 351 h 682"/>
                      <a:gd name="T28" fmla="*/ 134 w 483"/>
                      <a:gd name="T29" fmla="*/ 371 h 682"/>
                      <a:gd name="T30" fmla="*/ 147 w 483"/>
                      <a:gd name="T31" fmla="*/ 466 h 682"/>
                      <a:gd name="T32" fmla="*/ 167 w 483"/>
                      <a:gd name="T33" fmla="*/ 540 h 682"/>
                      <a:gd name="T34" fmla="*/ 190 w 483"/>
                      <a:gd name="T35" fmla="*/ 577 h 682"/>
                      <a:gd name="T36" fmla="*/ 256 w 483"/>
                      <a:gd name="T37" fmla="*/ 609 h 682"/>
                      <a:gd name="T38" fmla="*/ 306 w 483"/>
                      <a:gd name="T39" fmla="*/ 612 h 682"/>
                      <a:gd name="T40" fmla="*/ 349 w 483"/>
                      <a:gd name="T41" fmla="*/ 592 h 682"/>
                      <a:gd name="T42" fmla="*/ 365 w 483"/>
                      <a:gd name="T43" fmla="*/ 598 h 682"/>
                      <a:gd name="T44" fmla="*/ 318 w 483"/>
                      <a:gd name="T45" fmla="*/ 663 h 682"/>
                      <a:gd name="T46" fmla="*/ 242 w 483"/>
                      <a:gd name="T47" fmla="*/ 680 h 682"/>
                      <a:gd name="T48" fmla="*/ 173 w 483"/>
                      <a:gd name="T49" fmla="*/ 658 h 682"/>
                      <a:gd name="T50" fmla="*/ 91 w 483"/>
                      <a:gd name="T51" fmla="*/ 581 h 682"/>
                      <a:gd name="T52" fmla="*/ 35 w 483"/>
                      <a:gd name="T53" fmla="*/ 498 h 682"/>
                      <a:gd name="T54" fmla="*/ 29 w 483"/>
                      <a:gd name="T55" fmla="*/ 412 h 682"/>
                      <a:gd name="T56" fmla="*/ 18 w 483"/>
                      <a:gd name="T57" fmla="*/ 355 h 682"/>
                      <a:gd name="T58" fmla="*/ 0 w 483"/>
                      <a:gd name="T59" fmla="*/ 273 h 682"/>
                      <a:gd name="T60" fmla="*/ 29 w 483"/>
                      <a:gd name="T61" fmla="*/ 236 h 682"/>
                      <a:gd name="T62" fmla="*/ 50 w 483"/>
                      <a:gd name="T63" fmla="*/ 148 h 682"/>
                      <a:gd name="T64" fmla="*/ 104 w 483"/>
                      <a:gd name="T65" fmla="*/ 67 h 682"/>
                      <a:gd name="T66" fmla="*/ 166 w 483"/>
                      <a:gd name="T67" fmla="*/ 18 h 682"/>
                      <a:gd name="T68" fmla="*/ 285 w 483"/>
                      <a:gd name="T69" fmla="*/ 0 h 682"/>
                      <a:gd name="T70" fmla="*/ 380 w 483"/>
                      <a:gd name="T71" fmla="*/ 23 h 682"/>
                      <a:gd name="T72" fmla="*/ 453 w 483"/>
                      <a:gd name="T73" fmla="*/ 96 h 682"/>
                      <a:gd name="T74" fmla="*/ 483 w 483"/>
                      <a:gd name="T75" fmla="*/ 208 h 682"/>
                      <a:gd name="T76" fmla="*/ 455 w 483"/>
                      <a:gd name="T77" fmla="*/ 282 h 682"/>
                      <a:gd name="T78" fmla="*/ 447 w 483"/>
                      <a:gd name="T79" fmla="*/ 200 h 682"/>
                      <a:gd name="T80" fmla="*/ 446 w 483"/>
                      <a:gd name="T81" fmla="*/ 154 h 682"/>
                      <a:gd name="T82" fmla="*/ 404 w 483"/>
                      <a:gd name="T83" fmla="*/ 86 h 682"/>
                      <a:gd name="T84" fmla="*/ 352 w 483"/>
                      <a:gd name="T85" fmla="*/ 43 h 682"/>
                      <a:gd name="T86" fmla="*/ 270 w 483"/>
                      <a:gd name="T87" fmla="*/ 27 h 682"/>
                      <a:gd name="T88" fmla="*/ 213 w 483"/>
                      <a:gd name="T89" fmla="*/ 46 h 682"/>
                      <a:gd name="T90" fmla="*/ 177 w 483"/>
                      <a:gd name="T91" fmla="*/ 90 h 682"/>
                      <a:gd name="T92" fmla="*/ 154 w 483"/>
                      <a:gd name="T93" fmla="*/ 145 h 682"/>
                      <a:gd name="T94" fmla="*/ 152 w 483"/>
                      <a:gd name="T95" fmla="*/ 245 h 682"/>
                      <a:gd name="T96" fmla="*/ 211 w 483"/>
                      <a:gd name="T97" fmla="*/ 234 h 682"/>
                      <a:gd name="T98" fmla="*/ 269 w 483"/>
                      <a:gd name="T99" fmla="*/ 250 h 68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</a:cxnLst>
                    <a:rect l="0" t="0" r="r" b="b"/>
                    <a:pathLst>
                      <a:path w="483" h="682">
                        <a:moveTo>
                          <a:pt x="287" y="276"/>
                        </a:moveTo>
                        <a:lnTo>
                          <a:pt x="287" y="351"/>
                        </a:lnTo>
                        <a:lnTo>
                          <a:pt x="281" y="355"/>
                        </a:lnTo>
                        <a:lnTo>
                          <a:pt x="275" y="362"/>
                        </a:lnTo>
                        <a:lnTo>
                          <a:pt x="271" y="372"/>
                        </a:lnTo>
                        <a:lnTo>
                          <a:pt x="273" y="381"/>
                        </a:lnTo>
                        <a:lnTo>
                          <a:pt x="281" y="384"/>
                        </a:lnTo>
                        <a:lnTo>
                          <a:pt x="288" y="391"/>
                        </a:lnTo>
                        <a:lnTo>
                          <a:pt x="309" y="393"/>
                        </a:lnTo>
                        <a:lnTo>
                          <a:pt x="317" y="391"/>
                        </a:lnTo>
                        <a:lnTo>
                          <a:pt x="304" y="402"/>
                        </a:lnTo>
                        <a:lnTo>
                          <a:pt x="298" y="405"/>
                        </a:lnTo>
                        <a:lnTo>
                          <a:pt x="289" y="404"/>
                        </a:lnTo>
                        <a:lnTo>
                          <a:pt x="279" y="401"/>
                        </a:lnTo>
                        <a:lnTo>
                          <a:pt x="269" y="394"/>
                        </a:lnTo>
                        <a:lnTo>
                          <a:pt x="261" y="391"/>
                        </a:lnTo>
                        <a:lnTo>
                          <a:pt x="245" y="389"/>
                        </a:lnTo>
                        <a:lnTo>
                          <a:pt x="238" y="388"/>
                        </a:lnTo>
                        <a:lnTo>
                          <a:pt x="236" y="379"/>
                        </a:lnTo>
                        <a:lnTo>
                          <a:pt x="237" y="371"/>
                        </a:lnTo>
                        <a:lnTo>
                          <a:pt x="244" y="363"/>
                        </a:lnTo>
                        <a:lnTo>
                          <a:pt x="249" y="357"/>
                        </a:lnTo>
                        <a:lnTo>
                          <a:pt x="255" y="335"/>
                        </a:lnTo>
                        <a:lnTo>
                          <a:pt x="258" y="308"/>
                        </a:lnTo>
                        <a:lnTo>
                          <a:pt x="258" y="293"/>
                        </a:lnTo>
                        <a:lnTo>
                          <a:pt x="255" y="281"/>
                        </a:lnTo>
                        <a:lnTo>
                          <a:pt x="245" y="273"/>
                        </a:lnTo>
                        <a:lnTo>
                          <a:pt x="230" y="265"/>
                        </a:lnTo>
                        <a:lnTo>
                          <a:pt x="215" y="258"/>
                        </a:lnTo>
                        <a:lnTo>
                          <a:pt x="203" y="257"/>
                        </a:lnTo>
                        <a:lnTo>
                          <a:pt x="176" y="265"/>
                        </a:lnTo>
                        <a:lnTo>
                          <a:pt x="159" y="268"/>
                        </a:lnTo>
                        <a:lnTo>
                          <a:pt x="139" y="272"/>
                        </a:lnTo>
                        <a:lnTo>
                          <a:pt x="129" y="268"/>
                        </a:lnTo>
                        <a:lnTo>
                          <a:pt x="119" y="268"/>
                        </a:lnTo>
                        <a:lnTo>
                          <a:pt x="113" y="276"/>
                        </a:lnTo>
                        <a:lnTo>
                          <a:pt x="105" y="283"/>
                        </a:lnTo>
                        <a:lnTo>
                          <a:pt x="99" y="294"/>
                        </a:lnTo>
                        <a:lnTo>
                          <a:pt x="99" y="310"/>
                        </a:lnTo>
                        <a:lnTo>
                          <a:pt x="103" y="328"/>
                        </a:lnTo>
                        <a:lnTo>
                          <a:pt x="105" y="341"/>
                        </a:lnTo>
                        <a:lnTo>
                          <a:pt x="109" y="351"/>
                        </a:lnTo>
                        <a:lnTo>
                          <a:pt x="117" y="362"/>
                        </a:lnTo>
                        <a:lnTo>
                          <a:pt x="127" y="370"/>
                        </a:lnTo>
                        <a:lnTo>
                          <a:pt x="134" y="371"/>
                        </a:lnTo>
                        <a:lnTo>
                          <a:pt x="135" y="391"/>
                        </a:lnTo>
                        <a:lnTo>
                          <a:pt x="139" y="419"/>
                        </a:lnTo>
                        <a:lnTo>
                          <a:pt x="147" y="466"/>
                        </a:lnTo>
                        <a:lnTo>
                          <a:pt x="156" y="496"/>
                        </a:lnTo>
                        <a:lnTo>
                          <a:pt x="160" y="518"/>
                        </a:lnTo>
                        <a:lnTo>
                          <a:pt x="167" y="540"/>
                        </a:lnTo>
                        <a:lnTo>
                          <a:pt x="173" y="551"/>
                        </a:lnTo>
                        <a:lnTo>
                          <a:pt x="179" y="564"/>
                        </a:lnTo>
                        <a:lnTo>
                          <a:pt x="190" y="577"/>
                        </a:lnTo>
                        <a:lnTo>
                          <a:pt x="207" y="592"/>
                        </a:lnTo>
                        <a:lnTo>
                          <a:pt x="225" y="604"/>
                        </a:lnTo>
                        <a:lnTo>
                          <a:pt x="256" y="609"/>
                        </a:lnTo>
                        <a:lnTo>
                          <a:pt x="275" y="609"/>
                        </a:lnTo>
                        <a:lnTo>
                          <a:pt x="289" y="611"/>
                        </a:lnTo>
                        <a:lnTo>
                          <a:pt x="306" y="612"/>
                        </a:lnTo>
                        <a:lnTo>
                          <a:pt x="323" y="608"/>
                        </a:lnTo>
                        <a:lnTo>
                          <a:pt x="338" y="602"/>
                        </a:lnTo>
                        <a:lnTo>
                          <a:pt x="349" y="592"/>
                        </a:lnTo>
                        <a:lnTo>
                          <a:pt x="360" y="583"/>
                        </a:lnTo>
                        <a:lnTo>
                          <a:pt x="374" y="574"/>
                        </a:lnTo>
                        <a:lnTo>
                          <a:pt x="365" y="598"/>
                        </a:lnTo>
                        <a:lnTo>
                          <a:pt x="352" y="618"/>
                        </a:lnTo>
                        <a:lnTo>
                          <a:pt x="338" y="639"/>
                        </a:lnTo>
                        <a:lnTo>
                          <a:pt x="318" y="663"/>
                        </a:lnTo>
                        <a:lnTo>
                          <a:pt x="293" y="676"/>
                        </a:lnTo>
                        <a:lnTo>
                          <a:pt x="264" y="682"/>
                        </a:lnTo>
                        <a:lnTo>
                          <a:pt x="242" y="680"/>
                        </a:lnTo>
                        <a:lnTo>
                          <a:pt x="221" y="679"/>
                        </a:lnTo>
                        <a:lnTo>
                          <a:pt x="200" y="671"/>
                        </a:lnTo>
                        <a:lnTo>
                          <a:pt x="173" y="658"/>
                        </a:lnTo>
                        <a:lnTo>
                          <a:pt x="153" y="642"/>
                        </a:lnTo>
                        <a:lnTo>
                          <a:pt x="124" y="613"/>
                        </a:lnTo>
                        <a:lnTo>
                          <a:pt x="91" y="581"/>
                        </a:lnTo>
                        <a:lnTo>
                          <a:pt x="70" y="555"/>
                        </a:lnTo>
                        <a:lnTo>
                          <a:pt x="52" y="530"/>
                        </a:lnTo>
                        <a:lnTo>
                          <a:pt x="35" y="498"/>
                        </a:lnTo>
                        <a:lnTo>
                          <a:pt x="49" y="426"/>
                        </a:lnTo>
                        <a:lnTo>
                          <a:pt x="38" y="420"/>
                        </a:lnTo>
                        <a:lnTo>
                          <a:pt x="29" y="412"/>
                        </a:lnTo>
                        <a:lnTo>
                          <a:pt x="25" y="398"/>
                        </a:lnTo>
                        <a:lnTo>
                          <a:pt x="24" y="375"/>
                        </a:lnTo>
                        <a:lnTo>
                          <a:pt x="18" y="355"/>
                        </a:lnTo>
                        <a:lnTo>
                          <a:pt x="7" y="329"/>
                        </a:lnTo>
                        <a:lnTo>
                          <a:pt x="4" y="295"/>
                        </a:lnTo>
                        <a:lnTo>
                          <a:pt x="0" y="273"/>
                        </a:lnTo>
                        <a:lnTo>
                          <a:pt x="3" y="257"/>
                        </a:lnTo>
                        <a:lnTo>
                          <a:pt x="17" y="247"/>
                        </a:lnTo>
                        <a:lnTo>
                          <a:pt x="29" y="236"/>
                        </a:lnTo>
                        <a:lnTo>
                          <a:pt x="31" y="205"/>
                        </a:lnTo>
                        <a:lnTo>
                          <a:pt x="37" y="176"/>
                        </a:lnTo>
                        <a:lnTo>
                          <a:pt x="50" y="148"/>
                        </a:lnTo>
                        <a:lnTo>
                          <a:pt x="65" y="117"/>
                        </a:lnTo>
                        <a:lnTo>
                          <a:pt x="85" y="86"/>
                        </a:lnTo>
                        <a:lnTo>
                          <a:pt x="104" y="67"/>
                        </a:lnTo>
                        <a:lnTo>
                          <a:pt x="122" y="48"/>
                        </a:lnTo>
                        <a:lnTo>
                          <a:pt x="142" y="31"/>
                        </a:lnTo>
                        <a:lnTo>
                          <a:pt x="166" y="18"/>
                        </a:lnTo>
                        <a:lnTo>
                          <a:pt x="203" y="2"/>
                        </a:lnTo>
                        <a:lnTo>
                          <a:pt x="249" y="0"/>
                        </a:lnTo>
                        <a:lnTo>
                          <a:pt x="285" y="0"/>
                        </a:lnTo>
                        <a:lnTo>
                          <a:pt x="323" y="4"/>
                        </a:lnTo>
                        <a:lnTo>
                          <a:pt x="353" y="11"/>
                        </a:lnTo>
                        <a:lnTo>
                          <a:pt x="380" y="23"/>
                        </a:lnTo>
                        <a:lnTo>
                          <a:pt x="406" y="43"/>
                        </a:lnTo>
                        <a:lnTo>
                          <a:pt x="434" y="70"/>
                        </a:lnTo>
                        <a:lnTo>
                          <a:pt x="453" y="96"/>
                        </a:lnTo>
                        <a:lnTo>
                          <a:pt x="469" y="130"/>
                        </a:lnTo>
                        <a:lnTo>
                          <a:pt x="481" y="174"/>
                        </a:lnTo>
                        <a:lnTo>
                          <a:pt x="483" y="208"/>
                        </a:lnTo>
                        <a:lnTo>
                          <a:pt x="475" y="252"/>
                        </a:lnTo>
                        <a:lnTo>
                          <a:pt x="460" y="311"/>
                        </a:lnTo>
                        <a:lnTo>
                          <a:pt x="455" y="282"/>
                        </a:lnTo>
                        <a:lnTo>
                          <a:pt x="454" y="250"/>
                        </a:lnTo>
                        <a:lnTo>
                          <a:pt x="451" y="224"/>
                        </a:lnTo>
                        <a:lnTo>
                          <a:pt x="447" y="200"/>
                        </a:lnTo>
                        <a:lnTo>
                          <a:pt x="438" y="178"/>
                        </a:lnTo>
                        <a:lnTo>
                          <a:pt x="418" y="158"/>
                        </a:lnTo>
                        <a:lnTo>
                          <a:pt x="446" y="154"/>
                        </a:lnTo>
                        <a:lnTo>
                          <a:pt x="434" y="127"/>
                        </a:lnTo>
                        <a:lnTo>
                          <a:pt x="420" y="108"/>
                        </a:lnTo>
                        <a:lnTo>
                          <a:pt x="404" y="86"/>
                        </a:lnTo>
                        <a:lnTo>
                          <a:pt x="385" y="72"/>
                        </a:lnTo>
                        <a:lnTo>
                          <a:pt x="368" y="54"/>
                        </a:lnTo>
                        <a:lnTo>
                          <a:pt x="352" y="43"/>
                        </a:lnTo>
                        <a:lnTo>
                          <a:pt x="326" y="30"/>
                        </a:lnTo>
                        <a:lnTo>
                          <a:pt x="297" y="25"/>
                        </a:lnTo>
                        <a:lnTo>
                          <a:pt x="270" y="27"/>
                        </a:lnTo>
                        <a:lnTo>
                          <a:pt x="249" y="31"/>
                        </a:lnTo>
                        <a:lnTo>
                          <a:pt x="232" y="37"/>
                        </a:lnTo>
                        <a:lnTo>
                          <a:pt x="213" y="46"/>
                        </a:lnTo>
                        <a:lnTo>
                          <a:pt x="199" y="59"/>
                        </a:lnTo>
                        <a:lnTo>
                          <a:pt x="184" y="75"/>
                        </a:lnTo>
                        <a:lnTo>
                          <a:pt x="177" y="90"/>
                        </a:lnTo>
                        <a:lnTo>
                          <a:pt x="167" y="105"/>
                        </a:lnTo>
                        <a:lnTo>
                          <a:pt x="163" y="121"/>
                        </a:lnTo>
                        <a:lnTo>
                          <a:pt x="154" y="145"/>
                        </a:lnTo>
                        <a:lnTo>
                          <a:pt x="151" y="173"/>
                        </a:lnTo>
                        <a:lnTo>
                          <a:pt x="148" y="209"/>
                        </a:lnTo>
                        <a:lnTo>
                          <a:pt x="152" y="245"/>
                        </a:lnTo>
                        <a:lnTo>
                          <a:pt x="165" y="239"/>
                        </a:lnTo>
                        <a:lnTo>
                          <a:pt x="184" y="235"/>
                        </a:lnTo>
                        <a:lnTo>
                          <a:pt x="211" y="234"/>
                        </a:lnTo>
                        <a:lnTo>
                          <a:pt x="233" y="237"/>
                        </a:lnTo>
                        <a:lnTo>
                          <a:pt x="252" y="242"/>
                        </a:lnTo>
                        <a:lnTo>
                          <a:pt x="269" y="250"/>
                        </a:lnTo>
                        <a:lnTo>
                          <a:pt x="281" y="261"/>
                        </a:lnTo>
                        <a:lnTo>
                          <a:pt x="287" y="276"/>
                        </a:lnTo>
                        <a:close/>
                      </a:path>
                    </a:pathLst>
                  </a:custGeom>
                  <a:solidFill>
                    <a:srgbClr val="7F3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91" name="Freeform 138"/>
                  <p:cNvSpPr/>
                  <p:nvPr/>
                </p:nvSpPr>
                <p:spPr bwMode="auto">
                  <a:xfrm>
                    <a:off x="5114" y="2258"/>
                    <a:ext cx="20" cy="12"/>
                  </a:xfrm>
                  <a:custGeom>
                    <a:avLst/>
                    <a:gdLst>
                      <a:gd name="T0" fmla="*/ 0 w 118"/>
                      <a:gd name="T1" fmla="*/ 19 h 60"/>
                      <a:gd name="T2" fmla="*/ 12 w 118"/>
                      <a:gd name="T3" fmla="*/ 14 h 60"/>
                      <a:gd name="T4" fmla="*/ 26 w 118"/>
                      <a:gd name="T5" fmla="*/ 9 h 60"/>
                      <a:gd name="T6" fmla="*/ 40 w 118"/>
                      <a:gd name="T7" fmla="*/ 4 h 60"/>
                      <a:gd name="T8" fmla="*/ 57 w 118"/>
                      <a:gd name="T9" fmla="*/ 0 h 60"/>
                      <a:gd name="T10" fmla="*/ 74 w 118"/>
                      <a:gd name="T11" fmla="*/ 0 h 60"/>
                      <a:gd name="T12" fmla="*/ 95 w 118"/>
                      <a:gd name="T13" fmla="*/ 5 h 60"/>
                      <a:gd name="T14" fmla="*/ 107 w 118"/>
                      <a:gd name="T15" fmla="*/ 16 h 60"/>
                      <a:gd name="T16" fmla="*/ 115 w 118"/>
                      <a:gd name="T17" fmla="*/ 30 h 60"/>
                      <a:gd name="T18" fmla="*/ 118 w 118"/>
                      <a:gd name="T19" fmla="*/ 39 h 60"/>
                      <a:gd name="T20" fmla="*/ 101 w 118"/>
                      <a:gd name="T21" fmla="*/ 52 h 60"/>
                      <a:gd name="T22" fmla="*/ 87 w 118"/>
                      <a:gd name="T23" fmla="*/ 58 h 60"/>
                      <a:gd name="T24" fmla="*/ 80 w 118"/>
                      <a:gd name="T25" fmla="*/ 60 h 60"/>
                      <a:gd name="T26" fmla="*/ 74 w 118"/>
                      <a:gd name="T27" fmla="*/ 51 h 60"/>
                      <a:gd name="T28" fmla="*/ 63 w 118"/>
                      <a:gd name="T29" fmla="*/ 42 h 60"/>
                      <a:gd name="T30" fmla="*/ 51 w 118"/>
                      <a:gd name="T31" fmla="*/ 39 h 60"/>
                      <a:gd name="T32" fmla="*/ 38 w 118"/>
                      <a:gd name="T33" fmla="*/ 39 h 60"/>
                      <a:gd name="T34" fmla="*/ 21 w 118"/>
                      <a:gd name="T35" fmla="*/ 44 h 60"/>
                      <a:gd name="T36" fmla="*/ 8 w 118"/>
                      <a:gd name="T37" fmla="*/ 52 h 60"/>
                      <a:gd name="T38" fmla="*/ 2 w 118"/>
                      <a:gd name="T39" fmla="*/ 57 h 60"/>
                      <a:gd name="T40" fmla="*/ 5 w 118"/>
                      <a:gd name="T41" fmla="*/ 47 h 60"/>
                      <a:gd name="T42" fmla="*/ 0 w 118"/>
                      <a:gd name="T43" fmla="*/ 19 h 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</a:cxnLst>
                    <a:rect l="0" t="0" r="r" b="b"/>
                    <a:pathLst>
                      <a:path w="118" h="60">
                        <a:moveTo>
                          <a:pt x="0" y="19"/>
                        </a:moveTo>
                        <a:lnTo>
                          <a:pt x="12" y="14"/>
                        </a:lnTo>
                        <a:lnTo>
                          <a:pt x="26" y="9"/>
                        </a:lnTo>
                        <a:lnTo>
                          <a:pt x="40" y="4"/>
                        </a:lnTo>
                        <a:lnTo>
                          <a:pt x="57" y="0"/>
                        </a:lnTo>
                        <a:lnTo>
                          <a:pt x="74" y="0"/>
                        </a:lnTo>
                        <a:lnTo>
                          <a:pt x="95" y="5"/>
                        </a:lnTo>
                        <a:lnTo>
                          <a:pt x="107" y="16"/>
                        </a:lnTo>
                        <a:lnTo>
                          <a:pt x="115" y="30"/>
                        </a:lnTo>
                        <a:lnTo>
                          <a:pt x="118" y="39"/>
                        </a:lnTo>
                        <a:lnTo>
                          <a:pt x="101" y="52"/>
                        </a:lnTo>
                        <a:lnTo>
                          <a:pt x="87" y="58"/>
                        </a:lnTo>
                        <a:lnTo>
                          <a:pt x="80" y="60"/>
                        </a:lnTo>
                        <a:lnTo>
                          <a:pt x="74" y="51"/>
                        </a:lnTo>
                        <a:lnTo>
                          <a:pt x="63" y="42"/>
                        </a:lnTo>
                        <a:lnTo>
                          <a:pt x="51" y="39"/>
                        </a:lnTo>
                        <a:lnTo>
                          <a:pt x="38" y="39"/>
                        </a:lnTo>
                        <a:lnTo>
                          <a:pt x="21" y="44"/>
                        </a:lnTo>
                        <a:lnTo>
                          <a:pt x="8" y="52"/>
                        </a:lnTo>
                        <a:lnTo>
                          <a:pt x="2" y="57"/>
                        </a:lnTo>
                        <a:lnTo>
                          <a:pt x="5" y="47"/>
                        </a:lnTo>
                        <a:lnTo>
                          <a:pt x="0" y="19"/>
                        </a:lnTo>
                        <a:close/>
                      </a:path>
                    </a:pathLst>
                  </a:custGeom>
                  <a:solidFill>
                    <a:srgbClr val="FF9F7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92" name="Freeform 139"/>
                  <p:cNvSpPr/>
                  <p:nvPr/>
                </p:nvSpPr>
                <p:spPr bwMode="auto">
                  <a:xfrm>
                    <a:off x="5114" y="2258"/>
                    <a:ext cx="18" cy="11"/>
                  </a:xfrm>
                  <a:custGeom>
                    <a:avLst/>
                    <a:gdLst>
                      <a:gd name="T0" fmla="*/ 0 w 106"/>
                      <a:gd name="T1" fmla="*/ 19 h 57"/>
                      <a:gd name="T2" fmla="*/ 12 w 106"/>
                      <a:gd name="T3" fmla="*/ 15 h 57"/>
                      <a:gd name="T4" fmla="*/ 27 w 106"/>
                      <a:gd name="T5" fmla="*/ 9 h 57"/>
                      <a:gd name="T6" fmla="*/ 40 w 106"/>
                      <a:gd name="T7" fmla="*/ 4 h 57"/>
                      <a:gd name="T8" fmla="*/ 57 w 106"/>
                      <a:gd name="T9" fmla="*/ 0 h 57"/>
                      <a:gd name="T10" fmla="*/ 74 w 106"/>
                      <a:gd name="T11" fmla="*/ 0 h 57"/>
                      <a:gd name="T12" fmla="*/ 95 w 106"/>
                      <a:gd name="T13" fmla="*/ 5 h 57"/>
                      <a:gd name="T14" fmla="*/ 106 w 106"/>
                      <a:gd name="T15" fmla="*/ 12 h 57"/>
                      <a:gd name="T16" fmla="*/ 83 w 106"/>
                      <a:gd name="T17" fmla="*/ 30 h 57"/>
                      <a:gd name="T18" fmla="*/ 73 w 106"/>
                      <a:gd name="T19" fmla="*/ 36 h 57"/>
                      <a:gd name="T20" fmla="*/ 63 w 106"/>
                      <a:gd name="T21" fmla="*/ 44 h 57"/>
                      <a:gd name="T22" fmla="*/ 51 w 106"/>
                      <a:gd name="T23" fmla="*/ 39 h 57"/>
                      <a:gd name="T24" fmla="*/ 38 w 106"/>
                      <a:gd name="T25" fmla="*/ 39 h 57"/>
                      <a:gd name="T26" fmla="*/ 27 w 106"/>
                      <a:gd name="T27" fmla="*/ 44 h 57"/>
                      <a:gd name="T28" fmla="*/ 16 w 106"/>
                      <a:gd name="T29" fmla="*/ 47 h 57"/>
                      <a:gd name="T30" fmla="*/ 3 w 106"/>
                      <a:gd name="T31" fmla="*/ 57 h 57"/>
                      <a:gd name="T32" fmla="*/ 6 w 106"/>
                      <a:gd name="T33" fmla="*/ 29 h 57"/>
                      <a:gd name="T34" fmla="*/ 0 w 106"/>
                      <a:gd name="T35" fmla="*/ 19 h 5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</a:cxnLst>
                    <a:rect l="0" t="0" r="r" b="b"/>
                    <a:pathLst>
                      <a:path w="106" h="57">
                        <a:moveTo>
                          <a:pt x="0" y="19"/>
                        </a:moveTo>
                        <a:lnTo>
                          <a:pt x="12" y="15"/>
                        </a:lnTo>
                        <a:lnTo>
                          <a:pt x="27" y="9"/>
                        </a:lnTo>
                        <a:lnTo>
                          <a:pt x="40" y="4"/>
                        </a:lnTo>
                        <a:lnTo>
                          <a:pt x="57" y="0"/>
                        </a:lnTo>
                        <a:lnTo>
                          <a:pt x="74" y="0"/>
                        </a:lnTo>
                        <a:lnTo>
                          <a:pt x="95" y="5"/>
                        </a:lnTo>
                        <a:lnTo>
                          <a:pt x="106" y="12"/>
                        </a:lnTo>
                        <a:lnTo>
                          <a:pt x="83" y="30"/>
                        </a:lnTo>
                        <a:lnTo>
                          <a:pt x="73" y="36"/>
                        </a:lnTo>
                        <a:lnTo>
                          <a:pt x="63" y="44"/>
                        </a:lnTo>
                        <a:lnTo>
                          <a:pt x="51" y="39"/>
                        </a:lnTo>
                        <a:lnTo>
                          <a:pt x="38" y="39"/>
                        </a:lnTo>
                        <a:lnTo>
                          <a:pt x="27" y="44"/>
                        </a:lnTo>
                        <a:lnTo>
                          <a:pt x="16" y="47"/>
                        </a:lnTo>
                        <a:lnTo>
                          <a:pt x="3" y="57"/>
                        </a:lnTo>
                        <a:lnTo>
                          <a:pt x="6" y="29"/>
                        </a:lnTo>
                        <a:lnTo>
                          <a:pt x="0" y="19"/>
                        </a:lnTo>
                        <a:close/>
                      </a:path>
                    </a:pathLst>
                  </a:custGeom>
                  <a:solidFill>
                    <a:srgbClr val="FF7F3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93" name="Freeform 140"/>
                  <p:cNvSpPr/>
                  <p:nvPr/>
                </p:nvSpPr>
                <p:spPr bwMode="auto">
                  <a:xfrm>
                    <a:off x="5114" y="2284"/>
                    <a:ext cx="3" cy="3"/>
                  </a:xfrm>
                  <a:custGeom>
                    <a:avLst/>
                    <a:gdLst>
                      <a:gd name="T0" fmla="*/ 12 w 21"/>
                      <a:gd name="T1" fmla="*/ 0 h 18"/>
                      <a:gd name="T2" fmla="*/ 0 w 21"/>
                      <a:gd name="T3" fmla="*/ 12 h 18"/>
                      <a:gd name="T4" fmla="*/ 11 w 21"/>
                      <a:gd name="T5" fmla="*/ 18 h 18"/>
                      <a:gd name="T6" fmla="*/ 20 w 21"/>
                      <a:gd name="T7" fmla="*/ 12 h 18"/>
                      <a:gd name="T8" fmla="*/ 21 w 21"/>
                      <a:gd name="T9" fmla="*/ 0 h 18"/>
                      <a:gd name="T10" fmla="*/ 12 w 21"/>
                      <a:gd name="T11" fmla="*/ 0 h 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1" h="18">
                        <a:moveTo>
                          <a:pt x="12" y="0"/>
                        </a:moveTo>
                        <a:lnTo>
                          <a:pt x="0" y="12"/>
                        </a:lnTo>
                        <a:lnTo>
                          <a:pt x="11" y="18"/>
                        </a:lnTo>
                        <a:lnTo>
                          <a:pt x="20" y="12"/>
                        </a:lnTo>
                        <a:lnTo>
                          <a:pt x="21" y="0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BF7F3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94" name="Freeform 141"/>
                  <p:cNvSpPr/>
                  <p:nvPr/>
                </p:nvSpPr>
                <p:spPr bwMode="auto">
                  <a:xfrm>
                    <a:off x="5110" y="2272"/>
                    <a:ext cx="6" cy="9"/>
                  </a:xfrm>
                  <a:custGeom>
                    <a:avLst/>
                    <a:gdLst>
                      <a:gd name="T0" fmla="*/ 17 w 32"/>
                      <a:gd name="T1" fmla="*/ 0 h 47"/>
                      <a:gd name="T2" fmla="*/ 4 w 32"/>
                      <a:gd name="T3" fmla="*/ 7 h 47"/>
                      <a:gd name="T4" fmla="*/ 0 w 32"/>
                      <a:gd name="T5" fmla="*/ 17 h 47"/>
                      <a:gd name="T6" fmla="*/ 0 w 32"/>
                      <a:gd name="T7" fmla="*/ 27 h 47"/>
                      <a:gd name="T8" fmla="*/ 6 w 32"/>
                      <a:gd name="T9" fmla="*/ 35 h 47"/>
                      <a:gd name="T10" fmla="*/ 14 w 32"/>
                      <a:gd name="T11" fmla="*/ 42 h 47"/>
                      <a:gd name="T12" fmla="*/ 18 w 32"/>
                      <a:gd name="T13" fmla="*/ 47 h 47"/>
                      <a:gd name="T14" fmla="*/ 32 w 32"/>
                      <a:gd name="T15" fmla="*/ 47 h 47"/>
                      <a:gd name="T16" fmla="*/ 25 w 32"/>
                      <a:gd name="T17" fmla="*/ 32 h 47"/>
                      <a:gd name="T18" fmla="*/ 19 w 32"/>
                      <a:gd name="T19" fmla="*/ 22 h 47"/>
                      <a:gd name="T20" fmla="*/ 17 w 32"/>
                      <a:gd name="T21" fmla="*/ 0 h 4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32" h="47">
                        <a:moveTo>
                          <a:pt x="17" y="0"/>
                        </a:moveTo>
                        <a:lnTo>
                          <a:pt x="4" y="7"/>
                        </a:lnTo>
                        <a:lnTo>
                          <a:pt x="0" y="17"/>
                        </a:lnTo>
                        <a:lnTo>
                          <a:pt x="0" y="27"/>
                        </a:lnTo>
                        <a:lnTo>
                          <a:pt x="6" y="35"/>
                        </a:lnTo>
                        <a:lnTo>
                          <a:pt x="14" y="42"/>
                        </a:lnTo>
                        <a:lnTo>
                          <a:pt x="18" y="47"/>
                        </a:lnTo>
                        <a:lnTo>
                          <a:pt x="32" y="47"/>
                        </a:lnTo>
                        <a:lnTo>
                          <a:pt x="25" y="32"/>
                        </a:lnTo>
                        <a:lnTo>
                          <a:pt x="19" y="22"/>
                        </a:lnTo>
                        <a:lnTo>
                          <a:pt x="17" y="0"/>
                        </a:lnTo>
                        <a:close/>
                      </a:path>
                    </a:pathLst>
                  </a:custGeom>
                  <a:solidFill>
                    <a:srgbClr val="FF7F3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grpSp>
                <p:nvGrpSpPr>
                  <p:cNvPr id="395" name="Group 142"/>
                  <p:cNvGrpSpPr/>
                  <p:nvPr/>
                </p:nvGrpSpPr>
                <p:grpSpPr bwMode="auto">
                  <a:xfrm>
                    <a:off x="5079" y="2288"/>
                    <a:ext cx="45" cy="28"/>
                    <a:chOff x="5079" y="2288"/>
                    <a:chExt cx="45" cy="28"/>
                  </a:xfrm>
                </p:grpSpPr>
                <p:sp>
                  <p:nvSpPr>
                    <p:cNvPr id="417" name="Freeform 143"/>
                    <p:cNvSpPr/>
                    <p:nvPr/>
                  </p:nvSpPr>
                  <p:spPr bwMode="auto">
                    <a:xfrm>
                      <a:off x="5096" y="2308"/>
                      <a:ext cx="14" cy="6"/>
                    </a:xfrm>
                    <a:custGeom>
                      <a:avLst/>
                      <a:gdLst>
                        <a:gd name="T0" fmla="*/ 0 w 80"/>
                        <a:gd name="T1" fmla="*/ 0 h 34"/>
                        <a:gd name="T2" fmla="*/ 10 w 80"/>
                        <a:gd name="T3" fmla="*/ 12 h 34"/>
                        <a:gd name="T4" fmla="*/ 19 w 80"/>
                        <a:gd name="T5" fmla="*/ 17 h 34"/>
                        <a:gd name="T6" fmla="*/ 36 w 80"/>
                        <a:gd name="T7" fmla="*/ 22 h 34"/>
                        <a:gd name="T8" fmla="*/ 53 w 80"/>
                        <a:gd name="T9" fmla="*/ 27 h 34"/>
                        <a:gd name="T10" fmla="*/ 65 w 80"/>
                        <a:gd name="T11" fmla="*/ 28 h 34"/>
                        <a:gd name="T12" fmla="*/ 80 w 80"/>
                        <a:gd name="T13" fmla="*/ 28 h 34"/>
                        <a:gd name="T14" fmla="*/ 65 w 80"/>
                        <a:gd name="T15" fmla="*/ 34 h 34"/>
                        <a:gd name="T16" fmla="*/ 48 w 80"/>
                        <a:gd name="T17" fmla="*/ 34 h 34"/>
                        <a:gd name="T18" fmla="*/ 34 w 80"/>
                        <a:gd name="T19" fmla="*/ 31 h 34"/>
                        <a:gd name="T20" fmla="*/ 19 w 80"/>
                        <a:gd name="T21" fmla="*/ 27 h 34"/>
                        <a:gd name="T22" fmla="*/ 11 w 80"/>
                        <a:gd name="T23" fmla="*/ 22 h 34"/>
                        <a:gd name="T24" fmla="*/ 5 w 80"/>
                        <a:gd name="T25" fmla="*/ 12 h 34"/>
                        <a:gd name="T26" fmla="*/ 0 w 80"/>
                        <a:gd name="T27" fmla="*/ 0 h 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</a:cxnLst>
                      <a:rect l="0" t="0" r="r" b="b"/>
                      <a:pathLst>
                        <a:path w="80" h="34">
                          <a:moveTo>
                            <a:pt x="0" y="0"/>
                          </a:moveTo>
                          <a:lnTo>
                            <a:pt x="10" y="12"/>
                          </a:lnTo>
                          <a:lnTo>
                            <a:pt x="19" y="17"/>
                          </a:lnTo>
                          <a:lnTo>
                            <a:pt x="36" y="22"/>
                          </a:lnTo>
                          <a:lnTo>
                            <a:pt x="53" y="27"/>
                          </a:lnTo>
                          <a:lnTo>
                            <a:pt x="65" y="28"/>
                          </a:lnTo>
                          <a:lnTo>
                            <a:pt x="80" y="28"/>
                          </a:lnTo>
                          <a:lnTo>
                            <a:pt x="65" y="34"/>
                          </a:lnTo>
                          <a:lnTo>
                            <a:pt x="48" y="34"/>
                          </a:lnTo>
                          <a:lnTo>
                            <a:pt x="34" y="31"/>
                          </a:lnTo>
                          <a:lnTo>
                            <a:pt x="19" y="27"/>
                          </a:lnTo>
                          <a:lnTo>
                            <a:pt x="11" y="22"/>
                          </a:lnTo>
                          <a:lnTo>
                            <a:pt x="5" y="12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5F3F1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18" name="Freeform 144"/>
                    <p:cNvSpPr/>
                    <p:nvPr/>
                  </p:nvSpPr>
                  <p:spPr bwMode="auto">
                    <a:xfrm>
                      <a:off x="5079" y="2294"/>
                      <a:ext cx="8" cy="22"/>
                    </a:xfrm>
                    <a:custGeom>
                      <a:avLst/>
                      <a:gdLst>
                        <a:gd name="T0" fmla="*/ 5 w 47"/>
                        <a:gd name="T1" fmla="*/ 0 h 110"/>
                        <a:gd name="T2" fmla="*/ 0 w 47"/>
                        <a:gd name="T3" fmla="*/ 18 h 110"/>
                        <a:gd name="T4" fmla="*/ 31 w 47"/>
                        <a:gd name="T5" fmla="*/ 87 h 110"/>
                        <a:gd name="T6" fmla="*/ 47 w 47"/>
                        <a:gd name="T7" fmla="*/ 110 h 110"/>
                        <a:gd name="T8" fmla="*/ 29 w 47"/>
                        <a:gd name="T9" fmla="*/ 64 h 110"/>
                        <a:gd name="T10" fmla="*/ 18 w 47"/>
                        <a:gd name="T11" fmla="*/ 34 h 110"/>
                        <a:gd name="T12" fmla="*/ 5 w 47"/>
                        <a:gd name="T13" fmla="*/ 0 h 11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47" h="110">
                          <a:moveTo>
                            <a:pt x="5" y="0"/>
                          </a:moveTo>
                          <a:lnTo>
                            <a:pt x="0" y="18"/>
                          </a:lnTo>
                          <a:lnTo>
                            <a:pt x="31" y="87"/>
                          </a:lnTo>
                          <a:lnTo>
                            <a:pt x="47" y="110"/>
                          </a:lnTo>
                          <a:lnTo>
                            <a:pt x="29" y="64"/>
                          </a:lnTo>
                          <a:lnTo>
                            <a:pt x="18" y="34"/>
                          </a:lnTo>
                          <a:lnTo>
                            <a:pt x="5" y="0"/>
                          </a:lnTo>
                          <a:close/>
                        </a:path>
                      </a:pathLst>
                    </a:custGeom>
                    <a:solidFill>
                      <a:srgbClr val="5F3F1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19" name="Freeform 145"/>
                    <p:cNvSpPr/>
                    <p:nvPr/>
                  </p:nvSpPr>
                  <p:spPr bwMode="auto">
                    <a:xfrm>
                      <a:off x="5119" y="2288"/>
                      <a:ext cx="5" cy="11"/>
                    </a:xfrm>
                    <a:custGeom>
                      <a:avLst/>
                      <a:gdLst>
                        <a:gd name="T0" fmla="*/ 0 w 28"/>
                        <a:gd name="T1" fmla="*/ 0 h 52"/>
                        <a:gd name="T2" fmla="*/ 14 w 28"/>
                        <a:gd name="T3" fmla="*/ 15 h 52"/>
                        <a:gd name="T4" fmla="*/ 22 w 28"/>
                        <a:gd name="T5" fmla="*/ 26 h 52"/>
                        <a:gd name="T6" fmla="*/ 27 w 28"/>
                        <a:gd name="T7" fmla="*/ 32 h 52"/>
                        <a:gd name="T8" fmla="*/ 28 w 28"/>
                        <a:gd name="T9" fmla="*/ 41 h 52"/>
                        <a:gd name="T10" fmla="*/ 28 w 28"/>
                        <a:gd name="T11" fmla="*/ 52 h 5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28" h="52">
                          <a:moveTo>
                            <a:pt x="0" y="0"/>
                          </a:moveTo>
                          <a:lnTo>
                            <a:pt x="14" y="15"/>
                          </a:lnTo>
                          <a:lnTo>
                            <a:pt x="22" y="26"/>
                          </a:lnTo>
                          <a:lnTo>
                            <a:pt x="27" y="32"/>
                          </a:lnTo>
                          <a:lnTo>
                            <a:pt x="28" y="41"/>
                          </a:lnTo>
                          <a:lnTo>
                            <a:pt x="28" y="52"/>
                          </a:lnTo>
                        </a:path>
                      </a:pathLst>
                    </a:custGeom>
                    <a:noFill/>
                    <a:ln w="1588">
                      <a:solidFill>
                        <a:srgbClr val="000000"/>
                      </a:solidFill>
                      <a:prstDash val="solid"/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20" name="Freeform 146"/>
                    <p:cNvSpPr/>
                    <p:nvPr/>
                  </p:nvSpPr>
                  <p:spPr bwMode="auto">
                    <a:xfrm>
                      <a:off x="5110" y="2302"/>
                      <a:ext cx="7" cy="7"/>
                    </a:xfrm>
                    <a:custGeom>
                      <a:avLst/>
                      <a:gdLst>
                        <a:gd name="T0" fmla="*/ 0 w 41"/>
                        <a:gd name="T1" fmla="*/ 13 h 32"/>
                        <a:gd name="T2" fmla="*/ 20 w 41"/>
                        <a:gd name="T3" fmla="*/ 12 h 32"/>
                        <a:gd name="T4" fmla="*/ 31 w 41"/>
                        <a:gd name="T5" fmla="*/ 6 h 32"/>
                        <a:gd name="T6" fmla="*/ 41 w 41"/>
                        <a:gd name="T7" fmla="*/ 0 h 32"/>
                        <a:gd name="T8" fmla="*/ 28 w 41"/>
                        <a:gd name="T9" fmla="*/ 16 h 32"/>
                        <a:gd name="T10" fmla="*/ 14 w 41"/>
                        <a:gd name="T11" fmla="*/ 28 h 32"/>
                        <a:gd name="T12" fmla="*/ 9 w 41"/>
                        <a:gd name="T13" fmla="*/ 32 h 32"/>
                        <a:gd name="T14" fmla="*/ 12 w 41"/>
                        <a:gd name="T15" fmla="*/ 22 h 32"/>
                        <a:gd name="T16" fmla="*/ 0 w 41"/>
                        <a:gd name="T17" fmla="*/ 13 h 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41" h="32">
                          <a:moveTo>
                            <a:pt x="0" y="13"/>
                          </a:moveTo>
                          <a:lnTo>
                            <a:pt x="20" y="12"/>
                          </a:lnTo>
                          <a:lnTo>
                            <a:pt x="31" y="6"/>
                          </a:lnTo>
                          <a:lnTo>
                            <a:pt x="41" y="0"/>
                          </a:lnTo>
                          <a:lnTo>
                            <a:pt x="28" y="16"/>
                          </a:lnTo>
                          <a:lnTo>
                            <a:pt x="14" y="28"/>
                          </a:lnTo>
                          <a:lnTo>
                            <a:pt x="9" y="32"/>
                          </a:lnTo>
                          <a:lnTo>
                            <a:pt x="12" y="22"/>
                          </a:lnTo>
                          <a:lnTo>
                            <a:pt x="0" y="13"/>
                          </a:lnTo>
                          <a:close/>
                        </a:path>
                      </a:pathLst>
                    </a:custGeom>
                    <a:solidFill>
                      <a:srgbClr val="7F5F3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sp>
                <p:nvSpPr>
                  <p:cNvPr id="396" name="Oval 147"/>
                  <p:cNvSpPr>
                    <a:spLocks noChangeArrowheads="1"/>
                  </p:cNvSpPr>
                  <p:nvPr/>
                </p:nvSpPr>
                <p:spPr bwMode="auto">
                  <a:xfrm>
                    <a:off x="5111" y="2282"/>
                    <a:ext cx="2" cy="3"/>
                  </a:xfrm>
                  <a:prstGeom prst="ellipse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grpSp>
                <p:nvGrpSpPr>
                  <p:cNvPr id="397" name="Group 148"/>
                  <p:cNvGrpSpPr/>
                  <p:nvPr/>
                </p:nvGrpSpPr>
                <p:grpSpPr bwMode="auto">
                  <a:xfrm>
                    <a:off x="5063" y="2206"/>
                    <a:ext cx="81" cy="71"/>
                    <a:chOff x="5063" y="2206"/>
                    <a:chExt cx="81" cy="71"/>
                  </a:xfrm>
                </p:grpSpPr>
                <p:sp>
                  <p:nvSpPr>
                    <p:cNvPr id="415" name="Freeform 149"/>
                    <p:cNvSpPr/>
                    <p:nvPr/>
                  </p:nvSpPr>
                  <p:spPr bwMode="auto">
                    <a:xfrm>
                      <a:off x="5063" y="2206"/>
                      <a:ext cx="81" cy="71"/>
                    </a:xfrm>
                    <a:custGeom>
                      <a:avLst/>
                      <a:gdLst>
                        <a:gd name="T0" fmla="*/ 2 w 485"/>
                        <a:gd name="T1" fmla="*/ 208 h 353"/>
                        <a:gd name="T2" fmla="*/ 20 w 485"/>
                        <a:gd name="T3" fmla="*/ 157 h 353"/>
                        <a:gd name="T4" fmla="*/ 49 w 485"/>
                        <a:gd name="T5" fmla="*/ 108 h 353"/>
                        <a:gd name="T6" fmla="*/ 67 w 485"/>
                        <a:gd name="T7" fmla="*/ 81 h 353"/>
                        <a:gd name="T8" fmla="*/ 85 w 485"/>
                        <a:gd name="T9" fmla="*/ 55 h 353"/>
                        <a:gd name="T10" fmla="*/ 136 w 485"/>
                        <a:gd name="T11" fmla="*/ 22 h 353"/>
                        <a:gd name="T12" fmla="*/ 187 w 485"/>
                        <a:gd name="T13" fmla="*/ 3 h 353"/>
                        <a:gd name="T14" fmla="*/ 251 w 485"/>
                        <a:gd name="T15" fmla="*/ 0 h 353"/>
                        <a:gd name="T16" fmla="*/ 307 w 485"/>
                        <a:gd name="T17" fmla="*/ 3 h 353"/>
                        <a:gd name="T18" fmla="*/ 369 w 485"/>
                        <a:gd name="T19" fmla="*/ 25 h 353"/>
                        <a:gd name="T20" fmla="*/ 402 w 485"/>
                        <a:gd name="T21" fmla="*/ 54 h 353"/>
                        <a:gd name="T22" fmla="*/ 444 w 485"/>
                        <a:gd name="T23" fmla="*/ 100 h 353"/>
                        <a:gd name="T24" fmla="*/ 473 w 485"/>
                        <a:gd name="T25" fmla="*/ 145 h 353"/>
                        <a:gd name="T26" fmla="*/ 484 w 485"/>
                        <a:gd name="T27" fmla="*/ 185 h 353"/>
                        <a:gd name="T28" fmla="*/ 478 w 485"/>
                        <a:gd name="T29" fmla="*/ 248 h 353"/>
                        <a:gd name="T30" fmla="*/ 453 w 485"/>
                        <a:gd name="T31" fmla="*/ 305 h 353"/>
                        <a:gd name="T32" fmla="*/ 435 w 485"/>
                        <a:gd name="T33" fmla="*/ 353 h 353"/>
                        <a:gd name="T34" fmla="*/ 445 w 485"/>
                        <a:gd name="T35" fmla="*/ 274 h 353"/>
                        <a:gd name="T36" fmla="*/ 455 w 485"/>
                        <a:gd name="T37" fmla="*/ 212 h 353"/>
                        <a:gd name="T38" fmla="*/ 442 w 485"/>
                        <a:gd name="T39" fmla="*/ 152 h 353"/>
                        <a:gd name="T40" fmla="*/ 416 w 485"/>
                        <a:gd name="T41" fmla="*/ 96 h 353"/>
                        <a:gd name="T42" fmla="*/ 377 w 485"/>
                        <a:gd name="T43" fmla="*/ 55 h 353"/>
                        <a:gd name="T44" fmla="*/ 332 w 485"/>
                        <a:gd name="T45" fmla="*/ 29 h 353"/>
                        <a:gd name="T46" fmla="*/ 290 w 485"/>
                        <a:gd name="T47" fmla="*/ 13 h 353"/>
                        <a:gd name="T48" fmla="*/ 218 w 485"/>
                        <a:gd name="T49" fmla="*/ 13 h 353"/>
                        <a:gd name="T50" fmla="*/ 175 w 485"/>
                        <a:gd name="T51" fmla="*/ 24 h 353"/>
                        <a:gd name="T52" fmla="*/ 132 w 485"/>
                        <a:gd name="T53" fmla="*/ 50 h 353"/>
                        <a:gd name="T54" fmla="*/ 106 w 485"/>
                        <a:gd name="T55" fmla="*/ 84 h 353"/>
                        <a:gd name="T56" fmla="*/ 89 w 485"/>
                        <a:gd name="T57" fmla="*/ 123 h 353"/>
                        <a:gd name="T58" fmla="*/ 71 w 485"/>
                        <a:gd name="T59" fmla="*/ 168 h 353"/>
                        <a:gd name="T60" fmla="*/ 67 w 485"/>
                        <a:gd name="T61" fmla="*/ 207 h 353"/>
                        <a:gd name="T62" fmla="*/ 82 w 485"/>
                        <a:gd name="T63" fmla="*/ 243 h 353"/>
                        <a:gd name="T64" fmla="*/ 81 w 485"/>
                        <a:gd name="T65" fmla="*/ 274 h 353"/>
                        <a:gd name="T66" fmla="*/ 70 w 485"/>
                        <a:gd name="T67" fmla="*/ 304 h 353"/>
                        <a:gd name="T68" fmla="*/ 64 w 485"/>
                        <a:gd name="T69" fmla="*/ 341 h 353"/>
                        <a:gd name="T70" fmla="*/ 50 w 485"/>
                        <a:gd name="T71" fmla="*/ 341 h 353"/>
                        <a:gd name="T72" fmla="*/ 39 w 485"/>
                        <a:gd name="T73" fmla="*/ 293 h 353"/>
                        <a:gd name="T74" fmla="*/ 0 w 485"/>
                        <a:gd name="T75" fmla="*/ 252 h 35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</a:cxnLst>
                      <a:rect l="0" t="0" r="r" b="b"/>
                      <a:pathLst>
                        <a:path w="485" h="353">
                          <a:moveTo>
                            <a:pt x="0" y="252"/>
                          </a:moveTo>
                          <a:lnTo>
                            <a:pt x="2" y="208"/>
                          </a:lnTo>
                          <a:lnTo>
                            <a:pt x="9" y="175"/>
                          </a:lnTo>
                          <a:lnTo>
                            <a:pt x="20" y="157"/>
                          </a:lnTo>
                          <a:lnTo>
                            <a:pt x="32" y="133"/>
                          </a:lnTo>
                          <a:lnTo>
                            <a:pt x="49" y="108"/>
                          </a:lnTo>
                          <a:lnTo>
                            <a:pt x="57" y="96"/>
                          </a:lnTo>
                          <a:lnTo>
                            <a:pt x="67" y="81"/>
                          </a:lnTo>
                          <a:lnTo>
                            <a:pt x="75" y="66"/>
                          </a:lnTo>
                          <a:lnTo>
                            <a:pt x="85" y="55"/>
                          </a:lnTo>
                          <a:lnTo>
                            <a:pt x="113" y="37"/>
                          </a:lnTo>
                          <a:lnTo>
                            <a:pt x="136" y="22"/>
                          </a:lnTo>
                          <a:lnTo>
                            <a:pt x="162" y="9"/>
                          </a:lnTo>
                          <a:lnTo>
                            <a:pt x="187" y="3"/>
                          </a:lnTo>
                          <a:lnTo>
                            <a:pt x="216" y="0"/>
                          </a:lnTo>
                          <a:lnTo>
                            <a:pt x="251" y="0"/>
                          </a:lnTo>
                          <a:lnTo>
                            <a:pt x="281" y="0"/>
                          </a:lnTo>
                          <a:lnTo>
                            <a:pt x="307" y="3"/>
                          </a:lnTo>
                          <a:lnTo>
                            <a:pt x="344" y="14"/>
                          </a:lnTo>
                          <a:lnTo>
                            <a:pt x="369" y="25"/>
                          </a:lnTo>
                          <a:lnTo>
                            <a:pt x="387" y="39"/>
                          </a:lnTo>
                          <a:lnTo>
                            <a:pt x="402" y="54"/>
                          </a:lnTo>
                          <a:lnTo>
                            <a:pt x="426" y="77"/>
                          </a:lnTo>
                          <a:lnTo>
                            <a:pt x="444" y="100"/>
                          </a:lnTo>
                          <a:lnTo>
                            <a:pt x="462" y="123"/>
                          </a:lnTo>
                          <a:lnTo>
                            <a:pt x="473" y="145"/>
                          </a:lnTo>
                          <a:lnTo>
                            <a:pt x="480" y="163"/>
                          </a:lnTo>
                          <a:lnTo>
                            <a:pt x="484" y="185"/>
                          </a:lnTo>
                          <a:lnTo>
                            <a:pt x="485" y="216"/>
                          </a:lnTo>
                          <a:lnTo>
                            <a:pt x="478" y="248"/>
                          </a:lnTo>
                          <a:lnTo>
                            <a:pt x="463" y="278"/>
                          </a:lnTo>
                          <a:lnTo>
                            <a:pt x="453" y="305"/>
                          </a:lnTo>
                          <a:lnTo>
                            <a:pt x="442" y="337"/>
                          </a:lnTo>
                          <a:lnTo>
                            <a:pt x="435" y="353"/>
                          </a:lnTo>
                          <a:lnTo>
                            <a:pt x="442" y="307"/>
                          </a:lnTo>
                          <a:lnTo>
                            <a:pt x="445" y="274"/>
                          </a:lnTo>
                          <a:lnTo>
                            <a:pt x="448" y="239"/>
                          </a:lnTo>
                          <a:lnTo>
                            <a:pt x="455" y="212"/>
                          </a:lnTo>
                          <a:lnTo>
                            <a:pt x="451" y="178"/>
                          </a:lnTo>
                          <a:lnTo>
                            <a:pt x="442" y="152"/>
                          </a:lnTo>
                          <a:lnTo>
                            <a:pt x="430" y="123"/>
                          </a:lnTo>
                          <a:lnTo>
                            <a:pt x="416" y="96"/>
                          </a:lnTo>
                          <a:lnTo>
                            <a:pt x="398" y="76"/>
                          </a:lnTo>
                          <a:lnTo>
                            <a:pt x="377" y="55"/>
                          </a:lnTo>
                          <a:lnTo>
                            <a:pt x="353" y="43"/>
                          </a:lnTo>
                          <a:lnTo>
                            <a:pt x="332" y="29"/>
                          </a:lnTo>
                          <a:lnTo>
                            <a:pt x="310" y="21"/>
                          </a:lnTo>
                          <a:lnTo>
                            <a:pt x="290" y="13"/>
                          </a:lnTo>
                          <a:lnTo>
                            <a:pt x="258" y="9"/>
                          </a:lnTo>
                          <a:lnTo>
                            <a:pt x="218" y="13"/>
                          </a:lnTo>
                          <a:lnTo>
                            <a:pt x="193" y="17"/>
                          </a:lnTo>
                          <a:lnTo>
                            <a:pt x="175" y="24"/>
                          </a:lnTo>
                          <a:lnTo>
                            <a:pt x="151" y="37"/>
                          </a:lnTo>
                          <a:lnTo>
                            <a:pt x="132" y="50"/>
                          </a:lnTo>
                          <a:lnTo>
                            <a:pt x="113" y="70"/>
                          </a:lnTo>
                          <a:lnTo>
                            <a:pt x="106" y="84"/>
                          </a:lnTo>
                          <a:lnTo>
                            <a:pt x="97" y="101"/>
                          </a:lnTo>
                          <a:lnTo>
                            <a:pt x="89" y="123"/>
                          </a:lnTo>
                          <a:lnTo>
                            <a:pt x="81" y="144"/>
                          </a:lnTo>
                          <a:lnTo>
                            <a:pt x="71" y="168"/>
                          </a:lnTo>
                          <a:lnTo>
                            <a:pt x="67" y="186"/>
                          </a:lnTo>
                          <a:lnTo>
                            <a:pt x="67" y="207"/>
                          </a:lnTo>
                          <a:lnTo>
                            <a:pt x="74" y="227"/>
                          </a:lnTo>
                          <a:lnTo>
                            <a:pt x="82" y="243"/>
                          </a:lnTo>
                          <a:lnTo>
                            <a:pt x="86" y="259"/>
                          </a:lnTo>
                          <a:lnTo>
                            <a:pt x="81" y="274"/>
                          </a:lnTo>
                          <a:lnTo>
                            <a:pt x="74" y="285"/>
                          </a:lnTo>
                          <a:lnTo>
                            <a:pt x="70" y="304"/>
                          </a:lnTo>
                          <a:lnTo>
                            <a:pt x="64" y="322"/>
                          </a:lnTo>
                          <a:lnTo>
                            <a:pt x="64" y="341"/>
                          </a:lnTo>
                          <a:lnTo>
                            <a:pt x="64" y="353"/>
                          </a:lnTo>
                          <a:lnTo>
                            <a:pt x="50" y="341"/>
                          </a:lnTo>
                          <a:lnTo>
                            <a:pt x="45" y="312"/>
                          </a:lnTo>
                          <a:lnTo>
                            <a:pt x="39" y="293"/>
                          </a:lnTo>
                          <a:lnTo>
                            <a:pt x="31" y="274"/>
                          </a:lnTo>
                          <a:lnTo>
                            <a:pt x="0" y="252"/>
                          </a:lnTo>
                          <a:close/>
                        </a:path>
                      </a:pathLst>
                    </a:custGeom>
                    <a:solidFill>
                      <a:srgbClr val="BFBFB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16" name="Freeform 150"/>
                    <p:cNvSpPr/>
                    <p:nvPr/>
                  </p:nvSpPr>
                  <p:spPr bwMode="auto">
                    <a:xfrm>
                      <a:off x="5063" y="2206"/>
                      <a:ext cx="81" cy="71"/>
                    </a:xfrm>
                    <a:custGeom>
                      <a:avLst/>
                      <a:gdLst>
                        <a:gd name="T0" fmla="*/ 2 w 485"/>
                        <a:gd name="T1" fmla="*/ 208 h 353"/>
                        <a:gd name="T2" fmla="*/ 20 w 485"/>
                        <a:gd name="T3" fmla="*/ 157 h 353"/>
                        <a:gd name="T4" fmla="*/ 49 w 485"/>
                        <a:gd name="T5" fmla="*/ 108 h 353"/>
                        <a:gd name="T6" fmla="*/ 66 w 485"/>
                        <a:gd name="T7" fmla="*/ 81 h 353"/>
                        <a:gd name="T8" fmla="*/ 84 w 485"/>
                        <a:gd name="T9" fmla="*/ 55 h 353"/>
                        <a:gd name="T10" fmla="*/ 136 w 485"/>
                        <a:gd name="T11" fmla="*/ 22 h 353"/>
                        <a:gd name="T12" fmla="*/ 187 w 485"/>
                        <a:gd name="T13" fmla="*/ 3 h 353"/>
                        <a:gd name="T14" fmla="*/ 250 w 485"/>
                        <a:gd name="T15" fmla="*/ 0 h 353"/>
                        <a:gd name="T16" fmla="*/ 307 w 485"/>
                        <a:gd name="T17" fmla="*/ 3 h 353"/>
                        <a:gd name="T18" fmla="*/ 369 w 485"/>
                        <a:gd name="T19" fmla="*/ 25 h 353"/>
                        <a:gd name="T20" fmla="*/ 402 w 485"/>
                        <a:gd name="T21" fmla="*/ 54 h 353"/>
                        <a:gd name="T22" fmla="*/ 444 w 485"/>
                        <a:gd name="T23" fmla="*/ 100 h 353"/>
                        <a:gd name="T24" fmla="*/ 473 w 485"/>
                        <a:gd name="T25" fmla="*/ 145 h 353"/>
                        <a:gd name="T26" fmla="*/ 483 w 485"/>
                        <a:gd name="T27" fmla="*/ 185 h 353"/>
                        <a:gd name="T28" fmla="*/ 478 w 485"/>
                        <a:gd name="T29" fmla="*/ 248 h 353"/>
                        <a:gd name="T30" fmla="*/ 452 w 485"/>
                        <a:gd name="T31" fmla="*/ 305 h 353"/>
                        <a:gd name="T32" fmla="*/ 435 w 485"/>
                        <a:gd name="T33" fmla="*/ 353 h 353"/>
                        <a:gd name="T34" fmla="*/ 445 w 485"/>
                        <a:gd name="T35" fmla="*/ 274 h 353"/>
                        <a:gd name="T36" fmla="*/ 455 w 485"/>
                        <a:gd name="T37" fmla="*/ 212 h 353"/>
                        <a:gd name="T38" fmla="*/ 442 w 485"/>
                        <a:gd name="T39" fmla="*/ 152 h 353"/>
                        <a:gd name="T40" fmla="*/ 415 w 485"/>
                        <a:gd name="T41" fmla="*/ 96 h 353"/>
                        <a:gd name="T42" fmla="*/ 377 w 485"/>
                        <a:gd name="T43" fmla="*/ 55 h 353"/>
                        <a:gd name="T44" fmla="*/ 332 w 485"/>
                        <a:gd name="T45" fmla="*/ 29 h 353"/>
                        <a:gd name="T46" fmla="*/ 290 w 485"/>
                        <a:gd name="T47" fmla="*/ 13 h 353"/>
                        <a:gd name="T48" fmla="*/ 218 w 485"/>
                        <a:gd name="T49" fmla="*/ 13 h 353"/>
                        <a:gd name="T50" fmla="*/ 175 w 485"/>
                        <a:gd name="T51" fmla="*/ 24 h 353"/>
                        <a:gd name="T52" fmla="*/ 132 w 485"/>
                        <a:gd name="T53" fmla="*/ 50 h 353"/>
                        <a:gd name="T54" fmla="*/ 106 w 485"/>
                        <a:gd name="T55" fmla="*/ 84 h 353"/>
                        <a:gd name="T56" fmla="*/ 92 w 485"/>
                        <a:gd name="T57" fmla="*/ 89 h 353"/>
                        <a:gd name="T58" fmla="*/ 72 w 485"/>
                        <a:gd name="T59" fmla="*/ 103 h 353"/>
                        <a:gd name="T60" fmla="*/ 58 w 485"/>
                        <a:gd name="T61" fmla="*/ 127 h 353"/>
                        <a:gd name="T62" fmla="*/ 49 w 485"/>
                        <a:gd name="T63" fmla="*/ 168 h 353"/>
                        <a:gd name="T64" fmla="*/ 46 w 485"/>
                        <a:gd name="T65" fmla="*/ 223 h 353"/>
                        <a:gd name="T66" fmla="*/ 45 w 485"/>
                        <a:gd name="T67" fmla="*/ 312 h 353"/>
                        <a:gd name="T68" fmla="*/ 31 w 485"/>
                        <a:gd name="T69" fmla="*/ 274 h 35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</a:cxnLst>
                      <a:rect l="0" t="0" r="r" b="b"/>
                      <a:pathLst>
                        <a:path w="485" h="353">
                          <a:moveTo>
                            <a:pt x="0" y="252"/>
                          </a:moveTo>
                          <a:lnTo>
                            <a:pt x="2" y="208"/>
                          </a:lnTo>
                          <a:lnTo>
                            <a:pt x="9" y="175"/>
                          </a:lnTo>
                          <a:lnTo>
                            <a:pt x="20" y="157"/>
                          </a:lnTo>
                          <a:lnTo>
                            <a:pt x="32" y="133"/>
                          </a:lnTo>
                          <a:lnTo>
                            <a:pt x="49" y="108"/>
                          </a:lnTo>
                          <a:lnTo>
                            <a:pt x="57" y="96"/>
                          </a:lnTo>
                          <a:lnTo>
                            <a:pt x="66" y="81"/>
                          </a:lnTo>
                          <a:lnTo>
                            <a:pt x="75" y="66"/>
                          </a:lnTo>
                          <a:lnTo>
                            <a:pt x="84" y="55"/>
                          </a:lnTo>
                          <a:lnTo>
                            <a:pt x="113" y="37"/>
                          </a:lnTo>
                          <a:lnTo>
                            <a:pt x="136" y="22"/>
                          </a:lnTo>
                          <a:lnTo>
                            <a:pt x="162" y="9"/>
                          </a:lnTo>
                          <a:lnTo>
                            <a:pt x="187" y="3"/>
                          </a:lnTo>
                          <a:lnTo>
                            <a:pt x="216" y="0"/>
                          </a:lnTo>
                          <a:lnTo>
                            <a:pt x="250" y="0"/>
                          </a:lnTo>
                          <a:lnTo>
                            <a:pt x="280" y="0"/>
                          </a:lnTo>
                          <a:lnTo>
                            <a:pt x="307" y="3"/>
                          </a:lnTo>
                          <a:lnTo>
                            <a:pt x="344" y="14"/>
                          </a:lnTo>
                          <a:lnTo>
                            <a:pt x="369" y="25"/>
                          </a:lnTo>
                          <a:lnTo>
                            <a:pt x="387" y="39"/>
                          </a:lnTo>
                          <a:lnTo>
                            <a:pt x="402" y="54"/>
                          </a:lnTo>
                          <a:lnTo>
                            <a:pt x="426" y="77"/>
                          </a:lnTo>
                          <a:lnTo>
                            <a:pt x="444" y="100"/>
                          </a:lnTo>
                          <a:lnTo>
                            <a:pt x="462" y="123"/>
                          </a:lnTo>
                          <a:lnTo>
                            <a:pt x="473" y="145"/>
                          </a:lnTo>
                          <a:lnTo>
                            <a:pt x="480" y="163"/>
                          </a:lnTo>
                          <a:lnTo>
                            <a:pt x="483" y="185"/>
                          </a:lnTo>
                          <a:lnTo>
                            <a:pt x="485" y="216"/>
                          </a:lnTo>
                          <a:lnTo>
                            <a:pt x="478" y="248"/>
                          </a:lnTo>
                          <a:lnTo>
                            <a:pt x="463" y="278"/>
                          </a:lnTo>
                          <a:lnTo>
                            <a:pt x="452" y="305"/>
                          </a:lnTo>
                          <a:lnTo>
                            <a:pt x="442" y="337"/>
                          </a:lnTo>
                          <a:lnTo>
                            <a:pt x="435" y="353"/>
                          </a:lnTo>
                          <a:lnTo>
                            <a:pt x="442" y="307"/>
                          </a:lnTo>
                          <a:lnTo>
                            <a:pt x="445" y="274"/>
                          </a:lnTo>
                          <a:lnTo>
                            <a:pt x="448" y="239"/>
                          </a:lnTo>
                          <a:lnTo>
                            <a:pt x="455" y="212"/>
                          </a:lnTo>
                          <a:lnTo>
                            <a:pt x="451" y="178"/>
                          </a:lnTo>
                          <a:lnTo>
                            <a:pt x="442" y="152"/>
                          </a:lnTo>
                          <a:lnTo>
                            <a:pt x="430" y="123"/>
                          </a:lnTo>
                          <a:lnTo>
                            <a:pt x="415" y="96"/>
                          </a:lnTo>
                          <a:lnTo>
                            <a:pt x="397" y="76"/>
                          </a:lnTo>
                          <a:lnTo>
                            <a:pt x="377" y="55"/>
                          </a:lnTo>
                          <a:lnTo>
                            <a:pt x="353" y="43"/>
                          </a:lnTo>
                          <a:lnTo>
                            <a:pt x="332" y="29"/>
                          </a:lnTo>
                          <a:lnTo>
                            <a:pt x="310" y="21"/>
                          </a:lnTo>
                          <a:lnTo>
                            <a:pt x="290" y="13"/>
                          </a:lnTo>
                          <a:lnTo>
                            <a:pt x="258" y="9"/>
                          </a:lnTo>
                          <a:lnTo>
                            <a:pt x="218" y="13"/>
                          </a:lnTo>
                          <a:lnTo>
                            <a:pt x="193" y="17"/>
                          </a:lnTo>
                          <a:lnTo>
                            <a:pt x="175" y="24"/>
                          </a:lnTo>
                          <a:lnTo>
                            <a:pt x="151" y="37"/>
                          </a:lnTo>
                          <a:lnTo>
                            <a:pt x="132" y="50"/>
                          </a:lnTo>
                          <a:lnTo>
                            <a:pt x="113" y="70"/>
                          </a:lnTo>
                          <a:lnTo>
                            <a:pt x="106" y="84"/>
                          </a:lnTo>
                          <a:lnTo>
                            <a:pt x="100" y="85"/>
                          </a:lnTo>
                          <a:lnTo>
                            <a:pt x="92" y="89"/>
                          </a:lnTo>
                          <a:lnTo>
                            <a:pt x="81" y="96"/>
                          </a:lnTo>
                          <a:lnTo>
                            <a:pt x="72" y="103"/>
                          </a:lnTo>
                          <a:lnTo>
                            <a:pt x="65" y="111"/>
                          </a:lnTo>
                          <a:lnTo>
                            <a:pt x="58" y="127"/>
                          </a:lnTo>
                          <a:lnTo>
                            <a:pt x="55" y="143"/>
                          </a:lnTo>
                          <a:lnTo>
                            <a:pt x="49" y="168"/>
                          </a:lnTo>
                          <a:lnTo>
                            <a:pt x="46" y="192"/>
                          </a:lnTo>
                          <a:lnTo>
                            <a:pt x="46" y="223"/>
                          </a:lnTo>
                          <a:lnTo>
                            <a:pt x="44" y="262"/>
                          </a:lnTo>
                          <a:lnTo>
                            <a:pt x="45" y="312"/>
                          </a:lnTo>
                          <a:lnTo>
                            <a:pt x="39" y="293"/>
                          </a:lnTo>
                          <a:lnTo>
                            <a:pt x="31" y="274"/>
                          </a:lnTo>
                          <a:lnTo>
                            <a:pt x="0" y="252"/>
                          </a:lnTo>
                          <a:close/>
                        </a:path>
                      </a:pathLst>
                    </a:custGeom>
                    <a:solidFill>
                      <a:srgbClr val="9F9F9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398" name="Group 151"/>
                  <p:cNvGrpSpPr/>
                  <p:nvPr/>
                </p:nvGrpSpPr>
                <p:grpSpPr bwMode="auto">
                  <a:xfrm>
                    <a:off x="5084" y="2252"/>
                    <a:ext cx="50" cy="15"/>
                    <a:chOff x="5084" y="2252"/>
                    <a:chExt cx="50" cy="15"/>
                  </a:xfrm>
                </p:grpSpPr>
                <p:sp>
                  <p:nvSpPr>
                    <p:cNvPr id="413" name="Freeform 152"/>
                    <p:cNvSpPr/>
                    <p:nvPr/>
                  </p:nvSpPr>
                  <p:spPr bwMode="auto">
                    <a:xfrm>
                      <a:off x="5084" y="2252"/>
                      <a:ext cx="24" cy="9"/>
                    </a:xfrm>
                    <a:custGeom>
                      <a:avLst/>
                      <a:gdLst>
                        <a:gd name="T0" fmla="*/ 143 w 143"/>
                        <a:gd name="T1" fmla="*/ 45 h 45"/>
                        <a:gd name="T2" fmla="*/ 143 w 143"/>
                        <a:gd name="T3" fmla="*/ 37 h 45"/>
                        <a:gd name="T4" fmla="*/ 140 w 143"/>
                        <a:gd name="T5" fmla="*/ 26 h 45"/>
                        <a:gd name="T6" fmla="*/ 129 w 143"/>
                        <a:gd name="T7" fmla="*/ 18 h 45"/>
                        <a:gd name="T8" fmla="*/ 117 w 143"/>
                        <a:gd name="T9" fmla="*/ 10 h 45"/>
                        <a:gd name="T10" fmla="*/ 106 w 143"/>
                        <a:gd name="T11" fmla="*/ 3 h 45"/>
                        <a:gd name="T12" fmla="*/ 97 w 143"/>
                        <a:gd name="T13" fmla="*/ 3 h 45"/>
                        <a:gd name="T14" fmla="*/ 82 w 143"/>
                        <a:gd name="T15" fmla="*/ 3 h 45"/>
                        <a:gd name="T16" fmla="*/ 74 w 143"/>
                        <a:gd name="T17" fmla="*/ 0 h 45"/>
                        <a:gd name="T18" fmla="*/ 52 w 143"/>
                        <a:gd name="T19" fmla="*/ 0 h 45"/>
                        <a:gd name="T20" fmla="*/ 38 w 143"/>
                        <a:gd name="T21" fmla="*/ 1 h 45"/>
                        <a:gd name="T22" fmla="*/ 24 w 143"/>
                        <a:gd name="T23" fmla="*/ 6 h 45"/>
                        <a:gd name="T24" fmla="*/ 12 w 143"/>
                        <a:gd name="T25" fmla="*/ 15 h 45"/>
                        <a:gd name="T26" fmla="*/ 0 w 143"/>
                        <a:gd name="T27" fmla="*/ 24 h 45"/>
                        <a:gd name="T28" fmla="*/ 15 w 143"/>
                        <a:gd name="T29" fmla="*/ 17 h 45"/>
                        <a:gd name="T30" fmla="*/ 30 w 143"/>
                        <a:gd name="T31" fmla="*/ 16 h 45"/>
                        <a:gd name="T32" fmla="*/ 43 w 143"/>
                        <a:gd name="T33" fmla="*/ 15 h 45"/>
                        <a:gd name="T34" fmla="*/ 64 w 143"/>
                        <a:gd name="T35" fmla="*/ 17 h 45"/>
                        <a:gd name="T36" fmla="*/ 77 w 143"/>
                        <a:gd name="T37" fmla="*/ 17 h 45"/>
                        <a:gd name="T38" fmla="*/ 91 w 143"/>
                        <a:gd name="T39" fmla="*/ 18 h 45"/>
                        <a:gd name="T40" fmla="*/ 112 w 143"/>
                        <a:gd name="T41" fmla="*/ 27 h 45"/>
                        <a:gd name="T42" fmla="*/ 129 w 143"/>
                        <a:gd name="T43" fmla="*/ 37 h 45"/>
                        <a:gd name="T44" fmla="*/ 143 w 143"/>
                        <a:gd name="T45" fmla="*/ 45 h 4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</a:cxnLst>
                      <a:rect l="0" t="0" r="r" b="b"/>
                      <a:pathLst>
                        <a:path w="143" h="45">
                          <a:moveTo>
                            <a:pt x="143" y="45"/>
                          </a:moveTo>
                          <a:lnTo>
                            <a:pt x="143" y="37"/>
                          </a:lnTo>
                          <a:lnTo>
                            <a:pt x="140" y="26"/>
                          </a:lnTo>
                          <a:lnTo>
                            <a:pt x="129" y="18"/>
                          </a:lnTo>
                          <a:lnTo>
                            <a:pt x="117" y="10"/>
                          </a:lnTo>
                          <a:lnTo>
                            <a:pt x="106" y="3"/>
                          </a:lnTo>
                          <a:lnTo>
                            <a:pt x="97" y="3"/>
                          </a:lnTo>
                          <a:lnTo>
                            <a:pt x="82" y="3"/>
                          </a:lnTo>
                          <a:lnTo>
                            <a:pt x="74" y="0"/>
                          </a:lnTo>
                          <a:lnTo>
                            <a:pt x="52" y="0"/>
                          </a:lnTo>
                          <a:lnTo>
                            <a:pt x="38" y="1"/>
                          </a:lnTo>
                          <a:lnTo>
                            <a:pt x="24" y="6"/>
                          </a:lnTo>
                          <a:lnTo>
                            <a:pt x="12" y="15"/>
                          </a:lnTo>
                          <a:lnTo>
                            <a:pt x="0" y="24"/>
                          </a:lnTo>
                          <a:lnTo>
                            <a:pt x="15" y="17"/>
                          </a:lnTo>
                          <a:lnTo>
                            <a:pt x="30" y="16"/>
                          </a:lnTo>
                          <a:lnTo>
                            <a:pt x="43" y="15"/>
                          </a:lnTo>
                          <a:lnTo>
                            <a:pt x="64" y="17"/>
                          </a:lnTo>
                          <a:lnTo>
                            <a:pt x="77" y="17"/>
                          </a:lnTo>
                          <a:lnTo>
                            <a:pt x="91" y="18"/>
                          </a:lnTo>
                          <a:lnTo>
                            <a:pt x="112" y="27"/>
                          </a:lnTo>
                          <a:lnTo>
                            <a:pt x="129" y="37"/>
                          </a:lnTo>
                          <a:lnTo>
                            <a:pt x="143" y="45"/>
                          </a:lnTo>
                          <a:close/>
                        </a:path>
                      </a:pathLst>
                    </a:custGeom>
                    <a:solidFill>
                      <a:srgbClr val="5F3F1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414" name="Freeform 153"/>
                    <p:cNvSpPr/>
                    <p:nvPr/>
                  </p:nvSpPr>
                  <p:spPr bwMode="auto">
                    <a:xfrm>
                      <a:off x="5116" y="2256"/>
                      <a:ext cx="18" cy="11"/>
                    </a:xfrm>
                    <a:custGeom>
                      <a:avLst/>
                      <a:gdLst>
                        <a:gd name="T0" fmla="*/ 0 w 110"/>
                        <a:gd name="T1" fmla="*/ 23 h 55"/>
                        <a:gd name="T2" fmla="*/ 4 w 110"/>
                        <a:gd name="T3" fmla="*/ 18 h 55"/>
                        <a:gd name="T4" fmla="*/ 15 w 110"/>
                        <a:gd name="T5" fmla="*/ 11 h 55"/>
                        <a:gd name="T6" fmla="*/ 31 w 110"/>
                        <a:gd name="T7" fmla="*/ 3 h 55"/>
                        <a:gd name="T8" fmla="*/ 44 w 110"/>
                        <a:gd name="T9" fmla="*/ 0 h 55"/>
                        <a:gd name="T10" fmla="*/ 62 w 110"/>
                        <a:gd name="T11" fmla="*/ 0 h 55"/>
                        <a:gd name="T12" fmla="*/ 79 w 110"/>
                        <a:gd name="T13" fmla="*/ 2 h 55"/>
                        <a:gd name="T14" fmla="*/ 96 w 110"/>
                        <a:gd name="T15" fmla="*/ 12 h 55"/>
                        <a:gd name="T16" fmla="*/ 103 w 110"/>
                        <a:gd name="T17" fmla="*/ 20 h 55"/>
                        <a:gd name="T18" fmla="*/ 108 w 110"/>
                        <a:gd name="T19" fmla="*/ 32 h 55"/>
                        <a:gd name="T20" fmla="*/ 110 w 110"/>
                        <a:gd name="T21" fmla="*/ 45 h 55"/>
                        <a:gd name="T22" fmla="*/ 108 w 110"/>
                        <a:gd name="T23" fmla="*/ 55 h 55"/>
                        <a:gd name="T24" fmla="*/ 104 w 110"/>
                        <a:gd name="T25" fmla="*/ 39 h 55"/>
                        <a:gd name="T26" fmla="*/ 97 w 110"/>
                        <a:gd name="T27" fmla="*/ 29 h 55"/>
                        <a:gd name="T28" fmla="*/ 87 w 110"/>
                        <a:gd name="T29" fmla="*/ 18 h 55"/>
                        <a:gd name="T30" fmla="*/ 74 w 110"/>
                        <a:gd name="T31" fmla="*/ 15 h 55"/>
                        <a:gd name="T32" fmla="*/ 62 w 110"/>
                        <a:gd name="T33" fmla="*/ 17 h 55"/>
                        <a:gd name="T34" fmla="*/ 53 w 110"/>
                        <a:gd name="T35" fmla="*/ 16 h 55"/>
                        <a:gd name="T36" fmla="*/ 42 w 110"/>
                        <a:gd name="T37" fmla="*/ 16 h 55"/>
                        <a:gd name="T38" fmla="*/ 31 w 110"/>
                        <a:gd name="T39" fmla="*/ 20 h 55"/>
                        <a:gd name="T40" fmla="*/ 16 w 110"/>
                        <a:gd name="T41" fmla="*/ 27 h 55"/>
                        <a:gd name="T42" fmla="*/ 3 w 110"/>
                        <a:gd name="T43" fmla="*/ 28 h 55"/>
                        <a:gd name="T44" fmla="*/ 0 w 110"/>
                        <a:gd name="T45" fmla="*/ 23 h 5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</a:cxnLst>
                      <a:rect l="0" t="0" r="r" b="b"/>
                      <a:pathLst>
                        <a:path w="110" h="55">
                          <a:moveTo>
                            <a:pt x="0" y="23"/>
                          </a:moveTo>
                          <a:lnTo>
                            <a:pt x="4" y="18"/>
                          </a:lnTo>
                          <a:lnTo>
                            <a:pt x="15" y="11"/>
                          </a:lnTo>
                          <a:lnTo>
                            <a:pt x="31" y="3"/>
                          </a:lnTo>
                          <a:lnTo>
                            <a:pt x="44" y="0"/>
                          </a:lnTo>
                          <a:lnTo>
                            <a:pt x="62" y="0"/>
                          </a:lnTo>
                          <a:lnTo>
                            <a:pt x="79" y="2"/>
                          </a:lnTo>
                          <a:lnTo>
                            <a:pt x="96" y="12"/>
                          </a:lnTo>
                          <a:lnTo>
                            <a:pt x="103" y="20"/>
                          </a:lnTo>
                          <a:lnTo>
                            <a:pt x="108" y="32"/>
                          </a:lnTo>
                          <a:lnTo>
                            <a:pt x="110" y="45"/>
                          </a:lnTo>
                          <a:lnTo>
                            <a:pt x="108" y="55"/>
                          </a:lnTo>
                          <a:lnTo>
                            <a:pt x="104" y="39"/>
                          </a:lnTo>
                          <a:lnTo>
                            <a:pt x="97" y="29"/>
                          </a:lnTo>
                          <a:lnTo>
                            <a:pt x="87" y="18"/>
                          </a:lnTo>
                          <a:lnTo>
                            <a:pt x="74" y="15"/>
                          </a:lnTo>
                          <a:lnTo>
                            <a:pt x="62" y="17"/>
                          </a:lnTo>
                          <a:lnTo>
                            <a:pt x="53" y="16"/>
                          </a:lnTo>
                          <a:lnTo>
                            <a:pt x="42" y="16"/>
                          </a:lnTo>
                          <a:lnTo>
                            <a:pt x="31" y="20"/>
                          </a:lnTo>
                          <a:lnTo>
                            <a:pt x="16" y="27"/>
                          </a:lnTo>
                          <a:lnTo>
                            <a:pt x="3" y="28"/>
                          </a:lnTo>
                          <a:lnTo>
                            <a:pt x="0" y="23"/>
                          </a:lnTo>
                          <a:close/>
                        </a:path>
                      </a:pathLst>
                    </a:custGeom>
                    <a:solidFill>
                      <a:srgbClr val="5F3F1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399" name="Group 154"/>
                  <p:cNvGrpSpPr/>
                  <p:nvPr/>
                </p:nvGrpSpPr>
                <p:grpSpPr bwMode="auto">
                  <a:xfrm>
                    <a:off x="5115" y="2265"/>
                    <a:ext cx="13" cy="9"/>
                    <a:chOff x="5115" y="2265"/>
                    <a:chExt cx="13" cy="9"/>
                  </a:xfrm>
                </p:grpSpPr>
                <p:sp>
                  <p:nvSpPr>
                    <p:cNvPr id="407" name="Freeform 155"/>
                    <p:cNvSpPr/>
                    <p:nvPr/>
                  </p:nvSpPr>
                  <p:spPr bwMode="auto">
                    <a:xfrm>
                      <a:off x="5116" y="2265"/>
                      <a:ext cx="12" cy="7"/>
                    </a:xfrm>
                    <a:custGeom>
                      <a:avLst/>
                      <a:gdLst>
                        <a:gd name="T0" fmla="*/ 0 w 71"/>
                        <a:gd name="T1" fmla="*/ 16 h 35"/>
                        <a:gd name="T2" fmla="*/ 6 w 71"/>
                        <a:gd name="T3" fmla="*/ 8 h 35"/>
                        <a:gd name="T4" fmla="*/ 19 w 71"/>
                        <a:gd name="T5" fmla="*/ 1 h 35"/>
                        <a:gd name="T6" fmla="*/ 32 w 71"/>
                        <a:gd name="T7" fmla="*/ 0 h 35"/>
                        <a:gd name="T8" fmla="*/ 44 w 71"/>
                        <a:gd name="T9" fmla="*/ 3 h 35"/>
                        <a:gd name="T10" fmla="*/ 51 w 71"/>
                        <a:gd name="T11" fmla="*/ 5 h 35"/>
                        <a:gd name="T12" fmla="*/ 64 w 71"/>
                        <a:gd name="T13" fmla="*/ 14 h 35"/>
                        <a:gd name="T14" fmla="*/ 71 w 71"/>
                        <a:gd name="T15" fmla="*/ 27 h 35"/>
                        <a:gd name="T16" fmla="*/ 61 w 71"/>
                        <a:gd name="T17" fmla="*/ 29 h 35"/>
                        <a:gd name="T18" fmla="*/ 50 w 71"/>
                        <a:gd name="T19" fmla="*/ 32 h 35"/>
                        <a:gd name="T20" fmla="*/ 40 w 71"/>
                        <a:gd name="T21" fmla="*/ 35 h 35"/>
                        <a:gd name="T22" fmla="*/ 28 w 71"/>
                        <a:gd name="T23" fmla="*/ 35 h 35"/>
                        <a:gd name="T24" fmla="*/ 19 w 71"/>
                        <a:gd name="T25" fmla="*/ 31 h 35"/>
                        <a:gd name="T26" fmla="*/ 0 w 71"/>
                        <a:gd name="T27" fmla="*/ 16 h 3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</a:cxnLst>
                      <a:rect l="0" t="0" r="r" b="b"/>
                      <a:pathLst>
                        <a:path w="71" h="35">
                          <a:moveTo>
                            <a:pt x="0" y="16"/>
                          </a:moveTo>
                          <a:lnTo>
                            <a:pt x="6" y="8"/>
                          </a:lnTo>
                          <a:lnTo>
                            <a:pt x="19" y="1"/>
                          </a:lnTo>
                          <a:lnTo>
                            <a:pt x="32" y="0"/>
                          </a:lnTo>
                          <a:lnTo>
                            <a:pt x="44" y="3"/>
                          </a:lnTo>
                          <a:lnTo>
                            <a:pt x="51" y="5"/>
                          </a:lnTo>
                          <a:lnTo>
                            <a:pt x="64" y="14"/>
                          </a:lnTo>
                          <a:lnTo>
                            <a:pt x="71" y="27"/>
                          </a:lnTo>
                          <a:lnTo>
                            <a:pt x="61" y="29"/>
                          </a:lnTo>
                          <a:lnTo>
                            <a:pt x="50" y="32"/>
                          </a:lnTo>
                          <a:lnTo>
                            <a:pt x="40" y="35"/>
                          </a:lnTo>
                          <a:lnTo>
                            <a:pt x="28" y="35"/>
                          </a:lnTo>
                          <a:lnTo>
                            <a:pt x="19" y="31"/>
                          </a:lnTo>
                          <a:lnTo>
                            <a:pt x="0" y="16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grpSp>
                  <p:nvGrpSpPr>
                    <p:cNvPr id="408" name="Group 156"/>
                    <p:cNvGrpSpPr/>
                    <p:nvPr/>
                  </p:nvGrpSpPr>
                  <p:grpSpPr bwMode="auto">
                    <a:xfrm>
                      <a:off x="5118" y="2265"/>
                      <a:ext cx="9" cy="9"/>
                      <a:chOff x="5118" y="2265"/>
                      <a:chExt cx="9" cy="9"/>
                    </a:xfrm>
                  </p:grpSpPr>
                  <p:sp>
                    <p:nvSpPr>
                      <p:cNvPr id="410" name="Oval 15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118" y="2265"/>
                        <a:ext cx="9" cy="9"/>
                      </a:xfrm>
                      <a:prstGeom prst="ellipse">
                        <a:avLst/>
                      </a:prstGeom>
                      <a:solidFill>
                        <a:srgbClr val="7F3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411" name="Oval 15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120" y="2266"/>
                        <a:ext cx="6" cy="8"/>
                      </a:xfrm>
                      <a:prstGeom prst="ellipse">
                        <a:avLst/>
                      </a:pr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412" name="Oval 15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124" y="2268"/>
                        <a:ext cx="1" cy="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sp>
                  <p:nvSpPr>
                    <p:cNvPr id="409" name="Freeform 160"/>
                    <p:cNvSpPr/>
                    <p:nvPr/>
                  </p:nvSpPr>
                  <p:spPr bwMode="auto">
                    <a:xfrm>
                      <a:off x="5115" y="2265"/>
                      <a:ext cx="13" cy="5"/>
                    </a:xfrm>
                    <a:custGeom>
                      <a:avLst/>
                      <a:gdLst>
                        <a:gd name="T0" fmla="*/ 9 w 76"/>
                        <a:gd name="T1" fmla="*/ 22 h 26"/>
                        <a:gd name="T2" fmla="*/ 0 w 76"/>
                        <a:gd name="T3" fmla="*/ 23 h 26"/>
                        <a:gd name="T4" fmla="*/ 10 w 76"/>
                        <a:gd name="T5" fmla="*/ 13 h 26"/>
                        <a:gd name="T6" fmla="*/ 19 w 76"/>
                        <a:gd name="T7" fmla="*/ 5 h 26"/>
                        <a:gd name="T8" fmla="*/ 34 w 76"/>
                        <a:gd name="T9" fmla="*/ 0 h 26"/>
                        <a:gd name="T10" fmla="*/ 49 w 76"/>
                        <a:gd name="T11" fmla="*/ 0 h 26"/>
                        <a:gd name="T12" fmla="*/ 61 w 76"/>
                        <a:gd name="T13" fmla="*/ 6 h 26"/>
                        <a:gd name="T14" fmla="*/ 67 w 76"/>
                        <a:gd name="T15" fmla="*/ 13 h 26"/>
                        <a:gd name="T16" fmla="*/ 73 w 76"/>
                        <a:gd name="T17" fmla="*/ 22 h 26"/>
                        <a:gd name="T18" fmla="*/ 76 w 76"/>
                        <a:gd name="T19" fmla="*/ 26 h 2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</a:cxnLst>
                      <a:rect l="0" t="0" r="r" b="b"/>
                      <a:pathLst>
                        <a:path w="76" h="26">
                          <a:moveTo>
                            <a:pt x="9" y="22"/>
                          </a:moveTo>
                          <a:lnTo>
                            <a:pt x="0" y="23"/>
                          </a:lnTo>
                          <a:lnTo>
                            <a:pt x="10" y="13"/>
                          </a:lnTo>
                          <a:lnTo>
                            <a:pt x="19" y="5"/>
                          </a:lnTo>
                          <a:lnTo>
                            <a:pt x="34" y="0"/>
                          </a:lnTo>
                          <a:lnTo>
                            <a:pt x="49" y="0"/>
                          </a:lnTo>
                          <a:lnTo>
                            <a:pt x="61" y="6"/>
                          </a:lnTo>
                          <a:lnTo>
                            <a:pt x="67" y="13"/>
                          </a:lnTo>
                          <a:lnTo>
                            <a:pt x="73" y="22"/>
                          </a:lnTo>
                          <a:lnTo>
                            <a:pt x="76" y="26"/>
                          </a:lnTo>
                        </a:path>
                      </a:pathLst>
                    </a:custGeom>
                    <a:noFill/>
                    <a:ln w="1588">
                      <a:solidFill>
                        <a:srgbClr val="000000"/>
                      </a:solidFill>
                      <a:prstDash val="solid"/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400" name="Group 161"/>
                  <p:cNvGrpSpPr/>
                  <p:nvPr/>
                </p:nvGrpSpPr>
                <p:grpSpPr bwMode="auto">
                  <a:xfrm>
                    <a:off x="5088" y="2260"/>
                    <a:ext cx="14" cy="9"/>
                    <a:chOff x="5088" y="2260"/>
                    <a:chExt cx="14" cy="9"/>
                  </a:xfrm>
                </p:grpSpPr>
                <p:sp>
                  <p:nvSpPr>
                    <p:cNvPr id="401" name="Freeform 162"/>
                    <p:cNvSpPr/>
                    <p:nvPr/>
                  </p:nvSpPr>
                  <p:spPr bwMode="auto">
                    <a:xfrm>
                      <a:off x="5090" y="2260"/>
                      <a:ext cx="12" cy="7"/>
                    </a:xfrm>
                    <a:custGeom>
                      <a:avLst/>
                      <a:gdLst>
                        <a:gd name="T0" fmla="*/ 74 w 74"/>
                        <a:gd name="T1" fmla="*/ 23 h 33"/>
                        <a:gd name="T2" fmla="*/ 60 w 74"/>
                        <a:gd name="T3" fmla="*/ 12 h 33"/>
                        <a:gd name="T4" fmla="*/ 50 w 74"/>
                        <a:gd name="T5" fmla="*/ 4 h 33"/>
                        <a:gd name="T6" fmla="*/ 41 w 74"/>
                        <a:gd name="T7" fmla="*/ 2 h 33"/>
                        <a:gd name="T8" fmla="*/ 34 w 74"/>
                        <a:gd name="T9" fmla="*/ 0 h 33"/>
                        <a:gd name="T10" fmla="*/ 25 w 74"/>
                        <a:gd name="T11" fmla="*/ 0 h 33"/>
                        <a:gd name="T12" fmla="*/ 15 w 74"/>
                        <a:gd name="T13" fmla="*/ 4 h 33"/>
                        <a:gd name="T14" fmla="*/ 7 w 74"/>
                        <a:gd name="T15" fmla="*/ 11 h 33"/>
                        <a:gd name="T16" fmla="*/ 0 w 74"/>
                        <a:gd name="T17" fmla="*/ 18 h 33"/>
                        <a:gd name="T18" fmla="*/ 6 w 74"/>
                        <a:gd name="T19" fmla="*/ 22 h 33"/>
                        <a:gd name="T20" fmla="*/ 19 w 74"/>
                        <a:gd name="T21" fmla="*/ 29 h 33"/>
                        <a:gd name="T22" fmla="*/ 34 w 74"/>
                        <a:gd name="T23" fmla="*/ 33 h 33"/>
                        <a:gd name="T24" fmla="*/ 48 w 74"/>
                        <a:gd name="T25" fmla="*/ 32 h 33"/>
                        <a:gd name="T26" fmla="*/ 56 w 74"/>
                        <a:gd name="T27" fmla="*/ 27 h 33"/>
                        <a:gd name="T28" fmla="*/ 62 w 74"/>
                        <a:gd name="T29" fmla="*/ 25 h 33"/>
                        <a:gd name="T30" fmla="*/ 74 w 74"/>
                        <a:gd name="T31" fmla="*/ 23 h 3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</a:cxnLst>
                      <a:rect l="0" t="0" r="r" b="b"/>
                      <a:pathLst>
                        <a:path w="74" h="33">
                          <a:moveTo>
                            <a:pt x="74" y="23"/>
                          </a:moveTo>
                          <a:lnTo>
                            <a:pt x="60" y="12"/>
                          </a:lnTo>
                          <a:lnTo>
                            <a:pt x="50" y="4"/>
                          </a:lnTo>
                          <a:lnTo>
                            <a:pt x="41" y="2"/>
                          </a:lnTo>
                          <a:lnTo>
                            <a:pt x="34" y="0"/>
                          </a:lnTo>
                          <a:lnTo>
                            <a:pt x="25" y="0"/>
                          </a:lnTo>
                          <a:lnTo>
                            <a:pt x="15" y="4"/>
                          </a:lnTo>
                          <a:lnTo>
                            <a:pt x="7" y="11"/>
                          </a:lnTo>
                          <a:lnTo>
                            <a:pt x="0" y="18"/>
                          </a:lnTo>
                          <a:lnTo>
                            <a:pt x="6" y="22"/>
                          </a:lnTo>
                          <a:lnTo>
                            <a:pt x="19" y="29"/>
                          </a:lnTo>
                          <a:lnTo>
                            <a:pt x="34" y="33"/>
                          </a:lnTo>
                          <a:lnTo>
                            <a:pt x="48" y="32"/>
                          </a:lnTo>
                          <a:lnTo>
                            <a:pt x="56" y="27"/>
                          </a:lnTo>
                          <a:lnTo>
                            <a:pt x="62" y="25"/>
                          </a:lnTo>
                          <a:lnTo>
                            <a:pt x="74" y="23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grpSp>
                  <p:nvGrpSpPr>
                    <p:cNvPr id="402" name="Group 163"/>
                    <p:cNvGrpSpPr/>
                    <p:nvPr/>
                  </p:nvGrpSpPr>
                  <p:grpSpPr bwMode="auto">
                    <a:xfrm>
                      <a:off x="5093" y="2260"/>
                      <a:ext cx="9" cy="9"/>
                      <a:chOff x="5093" y="2260"/>
                      <a:chExt cx="9" cy="9"/>
                    </a:xfrm>
                  </p:grpSpPr>
                  <p:sp>
                    <p:nvSpPr>
                      <p:cNvPr id="404" name="Oval 16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093" y="2260"/>
                        <a:ext cx="9" cy="9"/>
                      </a:xfrm>
                      <a:prstGeom prst="ellipse">
                        <a:avLst/>
                      </a:prstGeom>
                      <a:solidFill>
                        <a:srgbClr val="7F3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405" name="Oval 16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095" y="2262"/>
                        <a:ext cx="5" cy="7"/>
                      </a:xfrm>
                      <a:prstGeom prst="ellipse">
                        <a:avLst/>
                      </a:pr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406" name="Oval 16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098" y="2263"/>
                        <a:ext cx="2" cy="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sp>
                  <p:nvSpPr>
                    <p:cNvPr id="403" name="Freeform 167"/>
                    <p:cNvSpPr/>
                    <p:nvPr/>
                  </p:nvSpPr>
                  <p:spPr bwMode="auto">
                    <a:xfrm>
                      <a:off x="5088" y="2260"/>
                      <a:ext cx="13" cy="4"/>
                    </a:xfrm>
                    <a:custGeom>
                      <a:avLst/>
                      <a:gdLst>
                        <a:gd name="T0" fmla="*/ 76 w 76"/>
                        <a:gd name="T1" fmla="*/ 19 h 21"/>
                        <a:gd name="T2" fmla="*/ 67 w 76"/>
                        <a:gd name="T3" fmla="*/ 10 h 21"/>
                        <a:gd name="T4" fmla="*/ 59 w 76"/>
                        <a:gd name="T5" fmla="*/ 4 h 21"/>
                        <a:gd name="T6" fmla="*/ 50 w 76"/>
                        <a:gd name="T7" fmla="*/ 0 h 21"/>
                        <a:gd name="T8" fmla="*/ 40 w 76"/>
                        <a:gd name="T9" fmla="*/ 0 h 21"/>
                        <a:gd name="T10" fmla="*/ 32 w 76"/>
                        <a:gd name="T11" fmla="*/ 2 h 21"/>
                        <a:gd name="T12" fmla="*/ 24 w 76"/>
                        <a:gd name="T13" fmla="*/ 8 h 21"/>
                        <a:gd name="T14" fmla="*/ 15 w 76"/>
                        <a:gd name="T15" fmla="*/ 13 h 21"/>
                        <a:gd name="T16" fmla="*/ 8 w 76"/>
                        <a:gd name="T17" fmla="*/ 20 h 21"/>
                        <a:gd name="T18" fmla="*/ 0 w 76"/>
                        <a:gd name="T19" fmla="*/ 21 h 2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</a:cxnLst>
                      <a:rect l="0" t="0" r="r" b="b"/>
                      <a:pathLst>
                        <a:path w="76" h="21">
                          <a:moveTo>
                            <a:pt x="76" y="19"/>
                          </a:moveTo>
                          <a:lnTo>
                            <a:pt x="67" y="10"/>
                          </a:lnTo>
                          <a:lnTo>
                            <a:pt x="59" y="4"/>
                          </a:lnTo>
                          <a:lnTo>
                            <a:pt x="50" y="0"/>
                          </a:lnTo>
                          <a:lnTo>
                            <a:pt x="40" y="0"/>
                          </a:lnTo>
                          <a:lnTo>
                            <a:pt x="32" y="2"/>
                          </a:lnTo>
                          <a:lnTo>
                            <a:pt x="24" y="8"/>
                          </a:lnTo>
                          <a:lnTo>
                            <a:pt x="15" y="13"/>
                          </a:lnTo>
                          <a:lnTo>
                            <a:pt x="8" y="20"/>
                          </a:lnTo>
                          <a:lnTo>
                            <a:pt x="0" y="21"/>
                          </a:lnTo>
                        </a:path>
                      </a:pathLst>
                    </a:custGeom>
                    <a:noFill/>
                    <a:ln w="1588">
                      <a:solidFill>
                        <a:srgbClr val="000000"/>
                      </a:solidFill>
                      <a:prstDash val="solid"/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</p:grpSp>
          <p:grpSp>
            <p:nvGrpSpPr>
              <p:cNvPr id="242" name="Group 168"/>
              <p:cNvGrpSpPr/>
              <p:nvPr/>
            </p:nvGrpSpPr>
            <p:grpSpPr bwMode="auto">
              <a:xfrm>
                <a:off x="5085" y="2258"/>
                <a:ext cx="261" cy="488"/>
                <a:chOff x="5085" y="2258"/>
                <a:chExt cx="261" cy="488"/>
              </a:xfrm>
            </p:grpSpPr>
            <p:grpSp>
              <p:nvGrpSpPr>
                <p:cNvPr id="311" name="Group 169"/>
                <p:cNvGrpSpPr/>
                <p:nvPr/>
              </p:nvGrpSpPr>
              <p:grpSpPr bwMode="auto">
                <a:xfrm>
                  <a:off x="5314" y="2616"/>
                  <a:ext cx="32" cy="121"/>
                  <a:chOff x="5314" y="2616"/>
                  <a:chExt cx="32" cy="121"/>
                </a:xfrm>
              </p:grpSpPr>
              <p:sp>
                <p:nvSpPr>
                  <p:cNvPr id="379" name="Freeform 170"/>
                  <p:cNvSpPr/>
                  <p:nvPr/>
                </p:nvSpPr>
                <p:spPr bwMode="auto">
                  <a:xfrm>
                    <a:off x="5314" y="2616"/>
                    <a:ext cx="32" cy="121"/>
                  </a:xfrm>
                  <a:custGeom>
                    <a:avLst/>
                    <a:gdLst>
                      <a:gd name="T0" fmla="*/ 141 w 191"/>
                      <a:gd name="T1" fmla="*/ 0 h 606"/>
                      <a:gd name="T2" fmla="*/ 136 w 191"/>
                      <a:gd name="T3" fmla="*/ 106 h 606"/>
                      <a:gd name="T4" fmla="*/ 134 w 191"/>
                      <a:gd name="T5" fmla="*/ 202 h 606"/>
                      <a:gd name="T6" fmla="*/ 125 w 191"/>
                      <a:gd name="T7" fmla="*/ 296 h 606"/>
                      <a:gd name="T8" fmla="*/ 136 w 191"/>
                      <a:gd name="T9" fmla="*/ 328 h 606"/>
                      <a:gd name="T10" fmla="*/ 149 w 191"/>
                      <a:gd name="T11" fmla="*/ 363 h 606"/>
                      <a:gd name="T12" fmla="*/ 166 w 191"/>
                      <a:gd name="T13" fmla="*/ 399 h 606"/>
                      <a:gd name="T14" fmla="*/ 171 w 191"/>
                      <a:gd name="T15" fmla="*/ 413 h 606"/>
                      <a:gd name="T16" fmla="*/ 177 w 191"/>
                      <a:gd name="T17" fmla="*/ 421 h 606"/>
                      <a:gd name="T18" fmla="*/ 182 w 191"/>
                      <a:gd name="T19" fmla="*/ 442 h 606"/>
                      <a:gd name="T20" fmla="*/ 191 w 191"/>
                      <a:gd name="T21" fmla="*/ 484 h 606"/>
                      <a:gd name="T22" fmla="*/ 185 w 191"/>
                      <a:gd name="T23" fmla="*/ 506 h 606"/>
                      <a:gd name="T24" fmla="*/ 177 w 191"/>
                      <a:gd name="T25" fmla="*/ 511 h 606"/>
                      <a:gd name="T26" fmla="*/ 173 w 191"/>
                      <a:gd name="T27" fmla="*/ 525 h 606"/>
                      <a:gd name="T28" fmla="*/ 167 w 191"/>
                      <a:gd name="T29" fmla="*/ 532 h 606"/>
                      <a:gd name="T30" fmla="*/ 153 w 191"/>
                      <a:gd name="T31" fmla="*/ 537 h 606"/>
                      <a:gd name="T32" fmla="*/ 155 w 191"/>
                      <a:gd name="T33" fmla="*/ 554 h 606"/>
                      <a:gd name="T34" fmla="*/ 152 w 191"/>
                      <a:gd name="T35" fmla="*/ 559 h 606"/>
                      <a:gd name="T36" fmla="*/ 129 w 191"/>
                      <a:gd name="T37" fmla="*/ 562 h 606"/>
                      <a:gd name="T38" fmla="*/ 123 w 191"/>
                      <a:gd name="T39" fmla="*/ 589 h 606"/>
                      <a:gd name="T40" fmla="*/ 80 w 191"/>
                      <a:gd name="T41" fmla="*/ 606 h 606"/>
                      <a:gd name="T42" fmla="*/ 57 w 191"/>
                      <a:gd name="T43" fmla="*/ 588 h 606"/>
                      <a:gd name="T44" fmla="*/ 47 w 191"/>
                      <a:gd name="T45" fmla="*/ 578 h 606"/>
                      <a:gd name="T46" fmla="*/ 45 w 191"/>
                      <a:gd name="T47" fmla="*/ 552 h 606"/>
                      <a:gd name="T48" fmla="*/ 69 w 191"/>
                      <a:gd name="T49" fmla="*/ 522 h 606"/>
                      <a:gd name="T50" fmla="*/ 55 w 191"/>
                      <a:gd name="T51" fmla="*/ 496 h 606"/>
                      <a:gd name="T52" fmla="*/ 36 w 191"/>
                      <a:gd name="T53" fmla="*/ 517 h 606"/>
                      <a:gd name="T54" fmla="*/ 35 w 191"/>
                      <a:gd name="T55" fmla="*/ 540 h 606"/>
                      <a:gd name="T56" fmla="*/ 27 w 191"/>
                      <a:gd name="T57" fmla="*/ 556 h 606"/>
                      <a:gd name="T58" fmla="*/ 19 w 191"/>
                      <a:gd name="T59" fmla="*/ 561 h 606"/>
                      <a:gd name="T60" fmla="*/ 10 w 191"/>
                      <a:gd name="T61" fmla="*/ 569 h 606"/>
                      <a:gd name="T62" fmla="*/ 0 w 191"/>
                      <a:gd name="T63" fmla="*/ 562 h 606"/>
                      <a:gd name="T64" fmla="*/ 4 w 191"/>
                      <a:gd name="T65" fmla="*/ 543 h 606"/>
                      <a:gd name="T66" fmla="*/ 2 w 191"/>
                      <a:gd name="T67" fmla="*/ 511 h 606"/>
                      <a:gd name="T68" fmla="*/ 10 w 191"/>
                      <a:gd name="T69" fmla="*/ 450 h 606"/>
                      <a:gd name="T70" fmla="*/ 18 w 191"/>
                      <a:gd name="T71" fmla="*/ 421 h 606"/>
                      <a:gd name="T72" fmla="*/ 32 w 191"/>
                      <a:gd name="T73" fmla="*/ 404 h 606"/>
                      <a:gd name="T74" fmla="*/ 50 w 191"/>
                      <a:gd name="T75" fmla="*/ 384 h 606"/>
                      <a:gd name="T76" fmla="*/ 54 w 191"/>
                      <a:gd name="T77" fmla="*/ 361 h 606"/>
                      <a:gd name="T78" fmla="*/ 57 w 191"/>
                      <a:gd name="T79" fmla="*/ 298 h 606"/>
                      <a:gd name="T80" fmla="*/ 29 w 191"/>
                      <a:gd name="T81" fmla="*/ 135 h 606"/>
                      <a:gd name="T82" fmla="*/ 13 w 191"/>
                      <a:gd name="T83" fmla="*/ 45 h 606"/>
                      <a:gd name="T84" fmla="*/ 141 w 191"/>
                      <a:gd name="T85" fmla="*/ 0 h 6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</a:cxnLst>
                    <a:rect l="0" t="0" r="r" b="b"/>
                    <a:pathLst>
                      <a:path w="191" h="606">
                        <a:moveTo>
                          <a:pt x="141" y="0"/>
                        </a:moveTo>
                        <a:lnTo>
                          <a:pt x="136" y="106"/>
                        </a:lnTo>
                        <a:lnTo>
                          <a:pt x="134" y="202"/>
                        </a:lnTo>
                        <a:lnTo>
                          <a:pt x="125" y="296"/>
                        </a:lnTo>
                        <a:lnTo>
                          <a:pt x="136" y="328"/>
                        </a:lnTo>
                        <a:lnTo>
                          <a:pt x="149" y="363"/>
                        </a:lnTo>
                        <a:lnTo>
                          <a:pt x="166" y="399"/>
                        </a:lnTo>
                        <a:lnTo>
                          <a:pt x="171" y="413"/>
                        </a:lnTo>
                        <a:lnTo>
                          <a:pt x="177" y="421"/>
                        </a:lnTo>
                        <a:lnTo>
                          <a:pt x="182" y="442"/>
                        </a:lnTo>
                        <a:lnTo>
                          <a:pt x="191" y="484"/>
                        </a:lnTo>
                        <a:lnTo>
                          <a:pt x="185" y="506"/>
                        </a:lnTo>
                        <a:lnTo>
                          <a:pt x="177" y="511"/>
                        </a:lnTo>
                        <a:lnTo>
                          <a:pt x="173" y="525"/>
                        </a:lnTo>
                        <a:lnTo>
                          <a:pt x="167" y="532"/>
                        </a:lnTo>
                        <a:lnTo>
                          <a:pt x="153" y="537"/>
                        </a:lnTo>
                        <a:lnTo>
                          <a:pt x="155" y="554"/>
                        </a:lnTo>
                        <a:lnTo>
                          <a:pt x="152" y="559"/>
                        </a:lnTo>
                        <a:lnTo>
                          <a:pt x="129" y="562"/>
                        </a:lnTo>
                        <a:lnTo>
                          <a:pt x="123" y="589"/>
                        </a:lnTo>
                        <a:lnTo>
                          <a:pt x="80" y="606"/>
                        </a:lnTo>
                        <a:lnTo>
                          <a:pt x="57" y="588"/>
                        </a:lnTo>
                        <a:lnTo>
                          <a:pt x="47" y="578"/>
                        </a:lnTo>
                        <a:lnTo>
                          <a:pt x="45" y="552"/>
                        </a:lnTo>
                        <a:lnTo>
                          <a:pt x="69" y="522"/>
                        </a:lnTo>
                        <a:lnTo>
                          <a:pt x="55" y="496"/>
                        </a:lnTo>
                        <a:lnTo>
                          <a:pt x="36" y="517"/>
                        </a:lnTo>
                        <a:lnTo>
                          <a:pt x="35" y="540"/>
                        </a:lnTo>
                        <a:lnTo>
                          <a:pt x="27" y="556"/>
                        </a:lnTo>
                        <a:lnTo>
                          <a:pt x="19" y="561"/>
                        </a:lnTo>
                        <a:lnTo>
                          <a:pt x="10" y="569"/>
                        </a:lnTo>
                        <a:lnTo>
                          <a:pt x="0" y="562"/>
                        </a:lnTo>
                        <a:lnTo>
                          <a:pt x="4" y="543"/>
                        </a:lnTo>
                        <a:lnTo>
                          <a:pt x="2" y="511"/>
                        </a:lnTo>
                        <a:lnTo>
                          <a:pt x="10" y="450"/>
                        </a:lnTo>
                        <a:lnTo>
                          <a:pt x="18" y="421"/>
                        </a:lnTo>
                        <a:lnTo>
                          <a:pt x="32" y="404"/>
                        </a:lnTo>
                        <a:lnTo>
                          <a:pt x="50" y="384"/>
                        </a:lnTo>
                        <a:lnTo>
                          <a:pt x="54" y="361"/>
                        </a:lnTo>
                        <a:lnTo>
                          <a:pt x="57" y="298"/>
                        </a:lnTo>
                        <a:lnTo>
                          <a:pt x="29" y="135"/>
                        </a:lnTo>
                        <a:lnTo>
                          <a:pt x="13" y="45"/>
                        </a:lnTo>
                        <a:lnTo>
                          <a:pt x="141" y="0"/>
                        </a:lnTo>
                        <a:close/>
                      </a:path>
                    </a:pathLst>
                  </a:custGeom>
                  <a:solidFill>
                    <a:srgbClr val="FF9F7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80" name="Freeform 171"/>
                  <p:cNvSpPr/>
                  <p:nvPr/>
                </p:nvSpPr>
                <p:spPr bwMode="auto">
                  <a:xfrm>
                    <a:off x="5322" y="2711"/>
                    <a:ext cx="7" cy="23"/>
                  </a:xfrm>
                  <a:custGeom>
                    <a:avLst/>
                    <a:gdLst>
                      <a:gd name="T0" fmla="*/ 0 w 45"/>
                      <a:gd name="T1" fmla="*/ 0 h 117"/>
                      <a:gd name="T2" fmla="*/ 14 w 45"/>
                      <a:gd name="T3" fmla="*/ 17 h 117"/>
                      <a:gd name="T4" fmla="*/ 28 w 45"/>
                      <a:gd name="T5" fmla="*/ 38 h 117"/>
                      <a:gd name="T6" fmla="*/ 35 w 45"/>
                      <a:gd name="T7" fmla="*/ 48 h 117"/>
                      <a:gd name="T8" fmla="*/ 39 w 45"/>
                      <a:gd name="T9" fmla="*/ 59 h 117"/>
                      <a:gd name="T10" fmla="*/ 40 w 45"/>
                      <a:gd name="T11" fmla="*/ 70 h 117"/>
                      <a:gd name="T12" fmla="*/ 41 w 45"/>
                      <a:gd name="T13" fmla="*/ 82 h 117"/>
                      <a:gd name="T14" fmla="*/ 41 w 45"/>
                      <a:gd name="T15" fmla="*/ 93 h 117"/>
                      <a:gd name="T16" fmla="*/ 42 w 45"/>
                      <a:gd name="T17" fmla="*/ 106 h 117"/>
                      <a:gd name="T18" fmla="*/ 43 w 45"/>
                      <a:gd name="T19" fmla="*/ 117 h 117"/>
                      <a:gd name="T20" fmla="*/ 45 w 45"/>
                      <a:gd name="T21" fmla="*/ 117 h 117"/>
                      <a:gd name="T22" fmla="*/ 35 w 45"/>
                      <a:gd name="T23" fmla="*/ 96 h 117"/>
                      <a:gd name="T24" fmla="*/ 12 w 45"/>
                      <a:gd name="T25" fmla="*/ 101 h 117"/>
                      <a:gd name="T26" fmla="*/ 28 w 45"/>
                      <a:gd name="T27" fmla="*/ 85 h 117"/>
                      <a:gd name="T28" fmla="*/ 34 w 45"/>
                      <a:gd name="T29" fmla="*/ 78 h 117"/>
                      <a:gd name="T30" fmla="*/ 28 w 45"/>
                      <a:gd name="T31" fmla="*/ 72 h 117"/>
                      <a:gd name="T32" fmla="*/ 15 w 45"/>
                      <a:gd name="T33" fmla="*/ 74 h 117"/>
                      <a:gd name="T34" fmla="*/ 24 w 45"/>
                      <a:gd name="T35" fmla="*/ 46 h 117"/>
                      <a:gd name="T36" fmla="*/ 4 w 45"/>
                      <a:gd name="T37" fmla="*/ 11 h 117"/>
                      <a:gd name="T38" fmla="*/ 0 w 45"/>
                      <a:gd name="T39" fmla="*/ 0 h 1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45" h="117">
                        <a:moveTo>
                          <a:pt x="0" y="0"/>
                        </a:moveTo>
                        <a:lnTo>
                          <a:pt x="14" y="17"/>
                        </a:lnTo>
                        <a:lnTo>
                          <a:pt x="28" y="38"/>
                        </a:lnTo>
                        <a:lnTo>
                          <a:pt x="35" y="48"/>
                        </a:lnTo>
                        <a:lnTo>
                          <a:pt x="39" y="59"/>
                        </a:lnTo>
                        <a:lnTo>
                          <a:pt x="40" y="70"/>
                        </a:lnTo>
                        <a:lnTo>
                          <a:pt x="41" y="82"/>
                        </a:lnTo>
                        <a:lnTo>
                          <a:pt x="41" y="93"/>
                        </a:lnTo>
                        <a:lnTo>
                          <a:pt x="42" y="106"/>
                        </a:lnTo>
                        <a:lnTo>
                          <a:pt x="43" y="117"/>
                        </a:lnTo>
                        <a:lnTo>
                          <a:pt x="45" y="117"/>
                        </a:lnTo>
                        <a:lnTo>
                          <a:pt x="35" y="96"/>
                        </a:lnTo>
                        <a:lnTo>
                          <a:pt x="12" y="101"/>
                        </a:lnTo>
                        <a:lnTo>
                          <a:pt x="28" y="85"/>
                        </a:lnTo>
                        <a:lnTo>
                          <a:pt x="34" y="78"/>
                        </a:lnTo>
                        <a:lnTo>
                          <a:pt x="28" y="72"/>
                        </a:lnTo>
                        <a:lnTo>
                          <a:pt x="15" y="74"/>
                        </a:lnTo>
                        <a:lnTo>
                          <a:pt x="24" y="46"/>
                        </a:lnTo>
                        <a:lnTo>
                          <a:pt x="4" y="1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BF3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  <p:grpSp>
              <p:nvGrpSpPr>
                <p:cNvPr id="312" name="Group 172"/>
                <p:cNvGrpSpPr/>
                <p:nvPr/>
              </p:nvGrpSpPr>
              <p:grpSpPr bwMode="auto">
                <a:xfrm>
                  <a:off x="5159" y="2399"/>
                  <a:ext cx="175" cy="347"/>
                  <a:chOff x="5159" y="2399"/>
                  <a:chExt cx="175" cy="347"/>
                </a:xfrm>
              </p:grpSpPr>
              <p:sp>
                <p:nvSpPr>
                  <p:cNvPr id="376" name="Freeform 173"/>
                  <p:cNvSpPr/>
                  <p:nvPr/>
                </p:nvSpPr>
                <p:spPr bwMode="auto">
                  <a:xfrm>
                    <a:off x="5159" y="2400"/>
                    <a:ext cx="175" cy="346"/>
                  </a:xfrm>
                  <a:custGeom>
                    <a:avLst/>
                    <a:gdLst>
                      <a:gd name="T0" fmla="*/ 373 w 1051"/>
                      <a:gd name="T1" fmla="*/ 11 h 1731"/>
                      <a:gd name="T2" fmla="*/ 251 w 1051"/>
                      <a:gd name="T3" fmla="*/ 22 h 1731"/>
                      <a:gd name="T4" fmla="*/ 187 w 1051"/>
                      <a:gd name="T5" fmla="*/ 89 h 1731"/>
                      <a:gd name="T6" fmla="*/ 36 w 1051"/>
                      <a:gd name="T7" fmla="*/ 258 h 1731"/>
                      <a:gd name="T8" fmla="*/ 51 w 1051"/>
                      <a:gd name="T9" fmla="*/ 332 h 1731"/>
                      <a:gd name="T10" fmla="*/ 97 w 1051"/>
                      <a:gd name="T11" fmla="*/ 408 h 1731"/>
                      <a:gd name="T12" fmla="*/ 194 w 1051"/>
                      <a:gd name="T13" fmla="*/ 393 h 1731"/>
                      <a:gd name="T14" fmla="*/ 212 w 1051"/>
                      <a:gd name="T15" fmla="*/ 453 h 1731"/>
                      <a:gd name="T16" fmla="*/ 248 w 1051"/>
                      <a:gd name="T17" fmla="*/ 572 h 1731"/>
                      <a:gd name="T18" fmla="*/ 287 w 1051"/>
                      <a:gd name="T19" fmla="*/ 638 h 1731"/>
                      <a:gd name="T20" fmla="*/ 301 w 1051"/>
                      <a:gd name="T21" fmla="*/ 749 h 1731"/>
                      <a:gd name="T22" fmla="*/ 294 w 1051"/>
                      <a:gd name="T23" fmla="*/ 912 h 1731"/>
                      <a:gd name="T24" fmla="*/ 237 w 1051"/>
                      <a:gd name="T25" fmla="*/ 1209 h 1731"/>
                      <a:gd name="T26" fmla="*/ 208 w 1051"/>
                      <a:gd name="T27" fmla="*/ 1470 h 1731"/>
                      <a:gd name="T28" fmla="*/ 965 w 1051"/>
                      <a:gd name="T29" fmla="*/ 1731 h 1731"/>
                      <a:gd name="T30" fmla="*/ 929 w 1051"/>
                      <a:gd name="T31" fmla="*/ 1470 h 1731"/>
                      <a:gd name="T32" fmla="*/ 822 w 1051"/>
                      <a:gd name="T33" fmla="*/ 1053 h 1731"/>
                      <a:gd name="T34" fmla="*/ 794 w 1051"/>
                      <a:gd name="T35" fmla="*/ 886 h 1731"/>
                      <a:gd name="T36" fmla="*/ 826 w 1051"/>
                      <a:gd name="T37" fmla="*/ 671 h 1731"/>
                      <a:gd name="T38" fmla="*/ 854 w 1051"/>
                      <a:gd name="T39" fmla="*/ 587 h 1731"/>
                      <a:gd name="T40" fmla="*/ 879 w 1051"/>
                      <a:gd name="T41" fmla="*/ 675 h 1731"/>
                      <a:gd name="T42" fmla="*/ 989 w 1051"/>
                      <a:gd name="T43" fmla="*/ 645 h 1731"/>
                      <a:gd name="T44" fmla="*/ 1033 w 1051"/>
                      <a:gd name="T45" fmla="*/ 517 h 1731"/>
                      <a:gd name="T46" fmla="*/ 989 w 1051"/>
                      <a:gd name="T47" fmla="*/ 262 h 1731"/>
                      <a:gd name="T48" fmla="*/ 886 w 1051"/>
                      <a:gd name="T49" fmla="*/ 141 h 1731"/>
                      <a:gd name="T50" fmla="*/ 685 w 1051"/>
                      <a:gd name="T51" fmla="*/ 18 h 1731"/>
                      <a:gd name="T52" fmla="*/ 689 w 1051"/>
                      <a:gd name="T53" fmla="*/ 97 h 1731"/>
                      <a:gd name="T54" fmla="*/ 674 w 1051"/>
                      <a:gd name="T55" fmla="*/ 151 h 1731"/>
                      <a:gd name="T56" fmla="*/ 648 w 1051"/>
                      <a:gd name="T57" fmla="*/ 190 h 1731"/>
                      <a:gd name="T58" fmla="*/ 605 w 1051"/>
                      <a:gd name="T59" fmla="*/ 217 h 1731"/>
                      <a:gd name="T60" fmla="*/ 561 w 1051"/>
                      <a:gd name="T61" fmla="*/ 219 h 1731"/>
                      <a:gd name="T62" fmla="*/ 506 w 1051"/>
                      <a:gd name="T63" fmla="*/ 200 h 1731"/>
                      <a:gd name="T64" fmla="*/ 462 w 1051"/>
                      <a:gd name="T65" fmla="*/ 169 h 1731"/>
                      <a:gd name="T66" fmla="*/ 432 w 1051"/>
                      <a:gd name="T67" fmla="*/ 137 h 1731"/>
                      <a:gd name="T68" fmla="*/ 415 w 1051"/>
                      <a:gd name="T69" fmla="*/ 96 h 1731"/>
                      <a:gd name="T70" fmla="*/ 434 w 1051"/>
                      <a:gd name="T71" fmla="*/ 0 h 17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</a:cxnLst>
                    <a:rect l="0" t="0" r="r" b="b"/>
                    <a:pathLst>
                      <a:path w="1051" h="1731">
                        <a:moveTo>
                          <a:pt x="434" y="0"/>
                        </a:moveTo>
                        <a:lnTo>
                          <a:pt x="373" y="11"/>
                        </a:lnTo>
                        <a:lnTo>
                          <a:pt x="301" y="22"/>
                        </a:lnTo>
                        <a:lnTo>
                          <a:pt x="251" y="22"/>
                        </a:lnTo>
                        <a:lnTo>
                          <a:pt x="237" y="26"/>
                        </a:lnTo>
                        <a:lnTo>
                          <a:pt x="187" y="89"/>
                        </a:lnTo>
                        <a:lnTo>
                          <a:pt x="94" y="199"/>
                        </a:lnTo>
                        <a:lnTo>
                          <a:pt x="36" y="258"/>
                        </a:lnTo>
                        <a:lnTo>
                          <a:pt x="0" y="299"/>
                        </a:lnTo>
                        <a:lnTo>
                          <a:pt x="51" y="332"/>
                        </a:lnTo>
                        <a:lnTo>
                          <a:pt x="76" y="369"/>
                        </a:lnTo>
                        <a:lnTo>
                          <a:pt x="97" y="408"/>
                        </a:lnTo>
                        <a:lnTo>
                          <a:pt x="111" y="461"/>
                        </a:lnTo>
                        <a:lnTo>
                          <a:pt x="194" y="393"/>
                        </a:lnTo>
                        <a:lnTo>
                          <a:pt x="205" y="411"/>
                        </a:lnTo>
                        <a:lnTo>
                          <a:pt x="212" y="453"/>
                        </a:lnTo>
                        <a:lnTo>
                          <a:pt x="230" y="531"/>
                        </a:lnTo>
                        <a:lnTo>
                          <a:pt x="248" y="572"/>
                        </a:lnTo>
                        <a:lnTo>
                          <a:pt x="262" y="606"/>
                        </a:lnTo>
                        <a:lnTo>
                          <a:pt x="287" y="638"/>
                        </a:lnTo>
                        <a:lnTo>
                          <a:pt x="298" y="697"/>
                        </a:lnTo>
                        <a:lnTo>
                          <a:pt x="301" y="749"/>
                        </a:lnTo>
                        <a:lnTo>
                          <a:pt x="294" y="801"/>
                        </a:lnTo>
                        <a:lnTo>
                          <a:pt x="294" y="912"/>
                        </a:lnTo>
                        <a:lnTo>
                          <a:pt x="284" y="1072"/>
                        </a:lnTo>
                        <a:lnTo>
                          <a:pt x="237" y="1209"/>
                        </a:lnTo>
                        <a:lnTo>
                          <a:pt x="219" y="1318"/>
                        </a:lnTo>
                        <a:lnTo>
                          <a:pt x="208" y="1470"/>
                        </a:lnTo>
                        <a:lnTo>
                          <a:pt x="201" y="1731"/>
                        </a:lnTo>
                        <a:lnTo>
                          <a:pt x="965" y="1731"/>
                        </a:lnTo>
                        <a:lnTo>
                          <a:pt x="954" y="1587"/>
                        </a:lnTo>
                        <a:lnTo>
                          <a:pt x="929" y="1470"/>
                        </a:lnTo>
                        <a:lnTo>
                          <a:pt x="886" y="1257"/>
                        </a:lnTo>
                        <a:lnTo>
                          <a:pt x="822" y="1053"/>
                        </a:lnTo>
                        <a:lnTo>
                          <a:pt x="805" y="964"/>
                        </a:lnTo>
                        <a:lnTo>
                          <a:pt x="794" y="886"/>
                        </a:lnTo>
                        <a:lnTo>
                          <a:pt x="801" y="786"/>
                        </a:lnTo>
                        <a:lnTo>
                          <a:pt x="826" y="671"/>
                        </a:lnTo>
                        <a:lnTo>
                          <a:pt x="840" y="634"/>
                        </a:lnTo>
                        <a:lnTo>
                          <a:pt x="854" y="587"/>
                        </a:lnTo>
                        <a:lnTo>
                          <a:pt x="871" y="623"/>
                        </a:lnTo>
                        <a:lnTo>
                          <a:pt x="879" y="675"/>
                        </a:lnTo>
                        <a:lnTo>
                          <a:pt x="932" y="656"/>
                        </a:lnTo>
                        <a:lnTo>
                          <a:pt x="989" y="645"/>
                        </a:lnTo>
                        <a:lnTo>
                          <a:pt x="1051" y="638"/>
                        </a:lnTo>
                        <a:lnTo>
                          <a:pt x="1033" y="517"/>
                        </a:lnTo>
                        <a:lnTo>
                          <a:pt x="1022" y="411"/>
                        </a:lnTo>
                        <a:lnTo>
                          <a:pt x="989" y="262"/>
                        </a:lnTo>
                        <a:lnTo>
                          <a:pt x="979" y="195"/>
                        </a:lnTo>
                        <a:lnTo>
                          <a:pt x="886" y="141"/>
                        </a:lnTo>
                        <a:lnTo>
                          <a:pt x="794" y="85"/>
                        </a:lnTo>
                        <a:lnTo>
                          <a:pt x="685" y="18"/>
                        </a:lnTo>
                        <a:lnTo>
                          <a:pt x="689" y="74"/>
                        </a:lnTo>
                        <a:lnTo>
                          <a:pt x="689" y="97"/>
                        </a:lnTo>
                        <a:lnTo>
                          <a:pt x="681" y="130"/>
                        </a:lnTo>
                        <a:lnTo>
                          <a:pt x="674" y="151"/>
                        </a:lnTo>
                        <a:lnTo>
                          <a:pt x="664" y="173"/>
                        </a:lnTo>
                        <a:lnTo>
                          <a:pt x="648" y="190"/>
                        </a:lnTo>
                        <a:lnTo>
                          <a:pt x="632" y="201"/>
                        </a:lnTo>
                        <a:lnTo>
                          <a:pt x="605" y="217"/>
                        </a:lnTo>
                        <a:lnTo>
                          <a:pt x="581" y="220"/>
                        </a:lnTo>
                        <a:lnTo>
                          <a:pt x="561" y="219"/>
                        </a:lnTo>
                        <a:lnTo>
                          <a:pt x="531" y="211"/>
                        </a:lnTo>
                        <a:lnTo>
                          <a:pt x="506" y="200"/>
                        </a:lnTo>
                        <a:lnTo>
                          <a:pt x="481" y="185"/>
                        </a:lnTo>
                        <a:lnTo>
                          <a:pt x="462" y="169"/>
                        </a:lnTo>
                        <a:lnTo>
                          <a:pt x="446" y="154"/>
                        </a:lnTo>
                        <a:lnTo>
                          <a:pt x="432" y="137"/>
                        </a:lnTo>
                        <a:lnTo>
                          <a:pt x="421" y="117"/>
                        </a:lnTo>
                        <a:lnTo>
                          <a:pt x="415" y="96"/>
                        </a:lnTo>
                        <a:lnTo>
                          <a:pt x="413" y="70"/>
                        </a:lnTo>
                        <a:lnTo>
                          <a:pt x="434" y="0"/>
                        </a:lnTo>
                        <a:close/>
                      </a:path>
                    </a:pathLst>
                  </a:custGeom>
                  <a:solidFill>
                    <a:srgbClr val="DFFFB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77" name="Freeform 174"/>
                  <p:cNvSpPr/>
                  <p:nvPr/>
                </p:nvSpPr>
                <p:spPr bwMode="auto">
                  <a:xfrm>
                    <a:off x="5159" y="2399"/>
                    <a:ext cx="78" cy="347"/>
                  </a:xfrm>
                  <a:custGeom>
                    <a:avLst/>
                    <a:gdLst>
                      <a:gd name="T0" fmla="*/ 374 w 471"/>
                      <a:gd name="T1" fmla="*/ 11 h 1735"/>
                      <a:gd name="T2" fmla="*/ 252 w 471"/>
                      <a:gd name="T3" fmla="*/ 22 h 1735"/>
                      <a:gd name="T4" fmla="*/ 188 w 471"/>
                      <a:gd name="T5" fmla="*/ 89 h 1735"/>
                      <a:gd name="T6" fmla="*/ 36 w 471"/>
                      <a:gd name="T7" fmla="*/ 258 h 1735"/>
                      <a:gd name="T8" fmla="*/ 51 w 471"/>
                      <a:gd name="T9" fmla="*/ 333 h 1735"/>
                      <a:gd name="T10" fmla="*/ 97 w 471"/>
                      <a:gd name="T11" fmla="*/ 408 h 1735"/>
                      <a:gd name="T12" fmla="*/ 195 w 471"/>
                      <a:gd name="T13" fmla="*/ 393 h 1735"/>
                      <a:gd name="T14" fmla="*/ 213 w 471"/>
                      <a:gd name="T15" fmla="*/ 454 h 1735"/>
                      <a:gd name="T16" fmla="*/ 249 w 471"/>
                      <a:gd name="T17" fmla="*/ 572 h 1735"/>
                      <a:gd name="T18" fmla="*/ 287 w 471"/>
                      <a:gd name="T19" fmla="*/ 638 h 1735"/>
                      <a:gd name="T20" fmla="*/ 301 w 471"/>
                      <a:gd name="T21" fmla="*/ 749 h 1735"/>
                      <a:gd name="T22" fmla="*/ 294 w 471"/>
                      <a:gd name="T23" fmla="*/ 912 h 1735"/>
                      <a:gd name="T24" fmla="*/ 238 w 471"/>
                      <a:gd name="T25" fmla="*/ 1209 h 1735"/>
                      <a:gd name="T26" fmla="*/ 209 w 471"/>
                      <a:gd name="T27" fmla="*/ 1470 h 1735"/>
                      <a:gd name="T28" fmla="*/ 294 w 471"/>
                      <a:gd name="T29" fmla="*/ 1735 h 1735"/>
                      <a:gd name="T30" fmla="*/ 309 w 471"/>
                      <a:gd name="T31" fmla="*/ 1610 h 1735"/>
                      <a:gd name="T32" fmla="*/ 344 w 471"/>
                      <a:gd name="T33" fmla="*/ 1558 h 1735"/>
                      <a:gd name="T34" fmla="*/ 385 w 471"/>
                      <a:gd name="T35" fmla="*/ 1545 h 1735"/>
                      <a:gd name="T36" fmla="*/ 403 w 471"/>
                      <a:gd name="T37" fmla="*/ 1491 h 1735"/>
                      <a:gd name="T38" fmla="*/ 399 w 471"/>
                      <a:gd name="T39" fmla="*/ 1428 h 1735"/>
                      <a:gd name="T40" fmla="*/ 399 w 471"/>
                      <a:gd name="T41" fmla="*/ 1361 h 1735"/>
                      <a:gd name="T42" fmla="*/ 396 w 471"/>
                      <a:gd name="T43" fmla="*/ 1297 h 1735"/>
                      <a:gd name="T44" fmla="*/ 407 w 471"/>
                      <a:gd name="T45" fmla="*/ 1208 h 1735"/>
                      <a:gd name="T46" fmla="*/ 421 w 471"/>
                      <a:gd name="T47" fmla="*/ 1089 h 1735"/>
                      <a:gd name="T48" fmla="*/ 435 w 471"/>
                      <a:gd name="T49" fmla="*/ 1019 h 1735"/>
                      <a:gd name="T50" fmla="*/ 439 w 471"/>
                      <a:gd name="T51" fmla="*/ 933 h 1735"/>
                      <a:gd name="T52" fmla="*/ 432 w 471"/>
                      <a:gd name="T53" fmla="*/ 870 h 1735"/>
                      <a:gd name="T54" fmla="*/ 410 w 471"/>
                      <a:gd name="T55" fmla="*/ 789 h 1735"/>
                      <a:gd name="T56" fmla="*/ 457 w 471"/>
                      <a:gd name="T57" fmla="*/ 778 h 1735"/>
                      <a:gd name="T58" fmla="*/ 471 w 471"/>
                      <a:gd name="T59" fmla="*/ 760 h 1735"/>
                      <a:gd name="T60" fmla="*/ 435 w 471"/>
                      <a:gd name="T61" fmla="*/ 598 h 1735"/>
                      <a:gd name="T62" fmla="*/ 460 w 471"/>
                      <a:gd name="T63" fmla="*/ 561 h 1735"/>
                      <a:gd name="T64" fmla="*/ 446 w 471"/>
                      <a:gd name="T65" fmla="*/ 454 h 1735"/>
                      <a:gd name="T66" fmla="*/ 442 w 471"/>
                      <a:gd name="T67" fmla="*/ 325 h 1735"/>
                      <a:gd name="T68" fmla="*/ 442 w 471"/>
                      <a:gd name="T69" fmla="*/ 198 h 1735"/>
                      <a:gd name="T70" fmla="*/ 447 w 471"/>
                      <a:gd name="T71" fmla="*/ 155 h 1735"/>
                      <a:gd name="T72" fmla="*/ 422 w 471"/>
                      <a:gd name="T73" fmla="*/ 118 h 1735"/>
                      <a:gd name="T74" fmla="*/ 414 w 471"/>
                      <a:gd name="T75" fmla="*/ 71 h 17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</a:cxnLst>
                    <a:rect l="0" t="0" r="r" b="b"/>
                    <a:pathLst>
                      <a:path w="471" h="1735">
                        <a:moveTo>
                          <a:pt x="435" y="0"/>
                        </a:moveTo>
                        <a:lnTo>
                          <a:pt x="374" y="11"/>
                        </a:lnTo>
                        <a:lnTo>
                          <a:pt x="301" y="22"/>
                        </a:lnTo>
                        <a:lnTo>
                          <a:pt x="252" y="22"/>
                        </a:lnTo>
                        <a:lnTo>
                          <a:pt x="238" y="26"/>
                        </a:lnTo>
                        <a:lnTo>
                          <a:pt x="188" y="89"/>
                        </a:lnTo>
                        <a:lnTo>
                          <a:pt x="94" y="199"/>
                        </a:lnTo>
                        <a:lnTo>
                          <a:pt x="36" y="258"/>
                        </a:lnTo>
                        <a:lnTo>
                          <a:pt x="0" y="299"/>
                        </a:lnTo>
                        <a:lnTo>
                          <a:pt x="51" y="333"/>
                        </a:lnTo>
                        <a:lnTo>
                          <a:pt x="76" y="370"/>
                        </a:lnTo>
                        <a:lnTo>
                          <a:pt x="97" y="408"/>
                        </a:lnTo>
                        <a:lnTo>
                          <a:pt x="111" y="461"/>
                        </a:lnTo>
                        <a:lnTo>
                          <a:pt x="195" y="393"/>
                        </a:lnTo>
                        <a:lnTo>
                          <a:pt x="206" y="412"/>
                        </a:lnTo>
                        <a:lnTo>
                          <a:pt x="213" y="454"/>
                        </a:lnTo>
                        <a:lnTo>
                          <a:pt x="231" y="532"/>
                        </a:lnTo>
                        <a:lnTo>
                          <a:pt x="249" y="572"/>
                        </a:lnTo>
                        <a:lnTo>
                          <a:pt x="263" y="606"/>
                        </a:lnTo>
                        <a:lnTo>
                          <a:pt x="287" y="638"/>
                        </a:lnTo>
                        <a:lnTo>
                          <a:pt x="298" y="697"/>
                        </a:lnTo>
                        <a:lnTo>
                          <a:pt x="301" y="749"/>
                        </a:lnTo>
                        <a:lnTo>
                          <a:pt x="294" y="801"/>
                        </a:lnTo>
                        <a:lnTo>
                          <a:pt x="294" y="912"/>
                        </a:lnTo>
                        <a:lnTo>
                          <a:pt x="284" y="1072"/>
                        </a:lnTo>
                        <a:lnTo>
                          <a:pt x="238" y="1209"/>
                        </a:lnTo>
                        <a:lnTo>
                          <a:pt x="220" y="1318"/>
                        </a:lnTo>
                        <a:lnTo>
                          <a:pt x="209" y="1470"/>
                        </a:lnTo>
                        <a:lnTo>
                          <a:pt x="202" y="1725"/>
                        </a:lnTo>
                        <a:lnTo>
                          <a:pt x="294" y="1735"/>
                        </a:lnTo>
                        <a:lnTo>
                          <a:pt x="301" y="1653"/>
                        </a:lnTo>
                        <a:lnTo>
                          <a:pt x="309" y="1610"/>
                        </a:lnTo>
                        <a:lnTo>
                          <a:pt x="327" y="1576"/>
                        </a:lnTo>
                        <a:lnTo>
                          <a:pt x="344" y="1558"/>
                        </a:lnTo>
                        <a:lnTo>
                          <a:pt x="371" y="1553"/>
                        </a:lnTo>
                        <a:lnTo>
                          <a:pt x="385" y="1545"/>
                        </a:lnTo>
                        <a:lnTo>
                          <a:pt x="396" y="1519"/>
                        </a:lnTo>
                        <a:lnTo>
                          <a:pt x="403" y="1491"/>
                        </a:lnTo>
                        <a:lnTo>
                          <a:pt x="399" y="1458"/>
                        </a:lnTo>
                        <a:lnTo>
                          <a:pt x="399" y="1428"/>
                        </a:lnTo>
                        <a:lnTo>
                          <a:pt x="396" y="1395"/>
                        </a:lnTo>
                        <a:lnTo>
                          <a:pt x="399" y="1361"/>
                        </a:lnTo>
                        <a:lnTo>
                          <a:pt x="396" y="1332"/>
                        </a:lnTo>
                        <a:lnTo>
                          <a:pt x="396" y="1297"/>
                        </a:lnTo>
                        <a:lnTo>
                          <a:pt x="403" y="1260"/>
                        </a:lnTo>
                        <a:lnTo>
                          <a:pt x="407" y="1208"/>
                        </a:lnTo>
                        <a:lnTo>
                          <a:pt x="414" y="1115"/>
                        </a:lnTo>
                        <a:lnTo>
                          <a:pt x="421" y="1089"/>
                        </a:lnTo>
                        <a:lnTo>
                          <a:pt x="439" y="1063"/>
                        </a:lnTo>
                        <a:lnTo>
                          <a:pt x="435" y="1019"/>
                        </a:lnTo>
                        <a:lnTo>
                          <a:pt x="435" y="978"/>
                        </a:lnTo>
                        <a:lnTo>
                          <a:pt x="439" y="933"/>
                        </a:lnTo>
                        <a:lnTo>
                          <a:pt x="439" y="900"/>
                        </a:lnTo>
                        <a:lnTo>
                          <a:pt x="432" y="870"/>
                        </a:lnTo>
                        <a:lnTo>
                          <a:pt x="417" y="826"/>
                        </a:lnTo>
                        <a:lnTo>
                          <a:pt x="410" y="789"/>
                        </a:lnTo>
                        <a:lnTo>
                          <a:pt x="414" y="763"/>
                        </a:lnTo>
                        <a:lnTo>
                          <a:pt x="457" y="778"/>
                        </a:lnTo>
                        <a:lnTo>
                          <a:pt x="471" y="770"/>
                        </a:lnTo>
                        <a:lnTo>
                          <a:pt x="471" y="760"/>
                        </a:lnTo>
                        <a:lnTo>
                          <a:pt x="468" y="742"/>
                        </a:lnTo>
                        <a:lnTo>
                          <a:pt x="435" y="598"/>
                        </a:lnTo>
                        <a:lnTo>
                          <a:pt x="468" y="623"/>
                        </a:lnTo>
                        <a:lnTo>
                          <a:pt x="460" y="561"/>
                        </a:lnTo>
                        <a:lnTo>
                          <a:pt x="450" y="506"/>
                        </a:lnTo>
                        <a:lnTo>
                          <a:pt x="446" y="454"/>
                        </a:lnTo>
                        <a:lnTo>
                          <a:pt x="439" y="397"/>
                        </a:lnTo>
                        <a:lnTo>
                          <a:pt x="442" y="325"/>
                        </a:lnTo>
                        <a:lnTo>
                          <a:pt x="439" y="246"/>
                        </a:lnTo>
                        <a:lnTo>
                          <a:pt x="442" y="198"/>
                        </a:lnTo>
                        <a:lnTo>
                          <a:pt x="463" y="169"/>
                        </a:lnTo>
                        <a:lnTo>
                          <a:pt x="447" y="155"/>
                        </a:lnTo>
                        <a:lnTo>
                          <a:pt x="433" y="137"/>
                        </a:lnTo>
                        <a:lnTo>
                          <a:pt x="422" y="118"/>
                        </a:lnTo>
                        <a:lnTo>
                          <a:pt x="416" y="96"/>
                        </a:lnTo>
                        <a:lnTo>
                          <a:pt x="414" y="71"/>
                        </a:lnTo>
                        <a:lnTo>
                          <a:pt x="435" y="0"/>
                        </a:lnTo>
                        <a:close/>
                      </a:path>
                    </a:pathLst>
                  </a:custGeom>
                  <a:solidFill>
                    <a:srgbClr val="BFFFB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78" name="Freeform 175"/>
                  <p:cNvSpPr/>
                  <p:nvPr/>
                </p:nvSpPr>
                <p:spPr bwMode="auto">
                  <a:xfrm>
                    <a:off x="5247" y="2402"/>
                    <a:ext cx="87" cy="342"/>
                  </a:xfrm>
                  <a:custGeom>
                    <a:avLst/>
                    <a:gdLst>
                      <a:gd name="T0" fmla="*/ 23 w 522"/>
                      <a:gd name="T1" fmla="*/ 737 h 1712"/>
                      <a:gd name="T2" fmla="*/ 34 w 522"/>
                      <a:gd name="T3" fmla="*/ 935 h 1712"/>
                      <a:gd name="T4" fmla="*/ 51 w 522"/>
                      <a:gd name="T5" fmla="*/ 1193 h 1712"/>
                      <a:gd name="T6" fmla="*/ 61 w 522"/>
                      <a:gd name="T7" fmla="*/ 1257 h 1712"/>
                      <a:gd name="T8" fmla="*/ 100 w 522"/>
                      <a:gd name="T9" fmla="*/ 1492 h 1712"/>
                      <a:gd name="T10" fmla="*/ 99 w 522"/>
                      <a:gd name="T11" fmla="*/ 1550 h 1712"/>
                      <a:gd name="T12" fmla="*/ 115 w 522"/>
                      <a:gd name="T13" fmla="*/ 1593 h 1712"/>
                      <a:gd name="T14" fmla="*/ 159 w 522"/>
                      <a:gd name="T15" fmla="*/ 1632 h 1712"/>
                      <a:gd name="T16" fmla="*/ 270 w 522"/>
                      <a:gd name="T17" fmla="*/ 1650 h 1712"/>
                      <a:gd name="T18" fmla="*/ 344 w 522"/>
                      <a:gd name="T19" fmla="*/ 1658 h 1712"/>
                      <a:gd name="T20" fmla="*/ 436 w 522"/>
                      <a:gd name="T21" fmla="*/ 1706 h 1712"/>
                      <a:gd name="T22" fmla="*/ 400 w 522"/>
                      <a:gd name="T23" fmla="*/ 1451 h 1712"/>
                      <a:gd name="T24" fmla="*/ 293 w 522"/>
                      <a:gd name="T25" fmla="*/ 1035 h 1712"/>
                      <a:gd name="T26" fmla="*/ 264 w 522"/>
                      <a:gd name="T27" fmla="*/ 868 h 1712"/>
                      <a:gd name="T28" fmla="*/ 296 w 522"/>
                      <a:gd name="T29" fmla="*/ 653 h 1712"/>
                      <a:gd name="T30" fmla="*/ 324 w 522"/>
                      <a:gd name="T31" fmla="*/ 569 h 1712"/>
                      <a:gd name="T32" fmla="*/ 349 w 522"/>
                      <a:gd name="T33" fmla="*/ 656 h 1712"/>
                      <a:gd name="T34" fmla="*/ 458 w 522"/>
                      <a:gd name="T35" fmla="*/ 627 h 1712"/>
                      <a:gd name="T36" fmla="*/ 504 w 522"/>
                      <a:gd name="T37" fmla="*/ 498 h 1712"/>
                      <a:gd name="T38" fmla="*/ 458 w 522"/>
                      <a:gd name="T39" fmla="*/ 243 h 1712"/>
                      <a:gd name="T40" fmla="*/ 356 w 522"/>
                      <a:gd name="T41" fmla="*/ 122 h 1712"/>
                      <a:gd name="T42" fmla="*/ 157 w 522"/>
                      <a:gd name="T43" fmla="*/ 0 h 1712"/>
                      <a:gd name="T44" fmla="*/ 160 w 522"/>
                      <a:gd name="T45" fmla="*/ 79 h 1712"/>
                      <a:gd name="T46" fmla="*/ 146 w 522"/>
                      <a:gd name="T47" fmla="*/ 132 h 1712"/>
                      <a:gd name="T48" fmla="*/ 122 w 522"/>
                      <a:gd name="T49" fmla="*/ 190 h 1712"/>
                      <a:gd name="T50" fmla="*/ 83 w 522"/>
                      <a:gd name="T51" fmla="*/ 284 h 1712"/>
                      <a:gd name="T52" fmla="*/ 50 w 522"/>
                      <a:gd name="T53" fmla="*/ 293 h 1712"/>
                      <a:gd name="T54" fmla="*/ 36 w 522"/>
                      <a:gd name="T55" fmla="*/ 325 h 1712"/>
                      <a:gd name="T56" fmla="*/ 29 w 522"/>
                      <a:gd name="T57" fmla="*/ 425 h 1712"/>
                      <a:gd name="T58" fmla="*/ 8 w 522"/>
                      <a:gd name="T59" fmla="*/ 489 h 1712"/>
                      <a:gd name="T60" fmla="*/ 0 w 522"/>
                      <a:gd name="T61" fmla="*/ 538 h 1712"/>
                      <a:gd name="T62" fmla="*/ 8 w 522"/>
                      <a:gd name="T63" fmla="*/ 617 h 17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</a:cxnLst>
                    <a:rect l="0" t="0" r="r" b="b"/>
                    <a:pathLst>
                      <a:path w="522" h="1712">
                        <a:moveTo>
                          <a:pt x="16" y="671"/>
                        </a:moveTo>
                        <a:lnTo>
                          <a:pt x="23" y="737"/>
                        </a:lnTo>
                        <a:lnTo>
                          <a:pt x="25" y="797"/>
                        </a:lnTo>
                        <a:lnTo>
                          <a:pt x="34" y="935"/>
                        </a:lnTo>
                        <a:lnTo>
                          <a:pt x="41" y="1061"/>
                        </a:lnTo>
                        <a:lnTo>
                          <a:pt x="51" y="1193"/>
                        </a:lnTo>
                        <a:lnTo>
                          <a:pt x="54" y="1228"/>
                        </a:lnTo>
                        <a:lnTo>
                          <a:pt x="61" y="1257"/>
                        </a:lnTo>
                        <a:lnTo>
                          <a:pt x="77" y="1298"/>
                        </a:lnTo>
                        <a:lnTo>
                          <a:pt x="100" y="1492"/>
                        </a:lnTo>
                        <a:lnTo>
                          <a:pt x="100" y="1533"/>
                        </a:lnTo>
                        <a:lnTo>
                          <a:pt x="99" y="1550"/>
                        </a:lnTo>
                        <a:lnTo>
                          <a:pt x="102" y="1571"/>
                        </a:lnTo>
                        <a:lnTo>
                          <a:pt x="115" y="1593"/>
                        </a:lnTo>
                        <a:lnTo>
                          <a:pt x="129" y="1616"/>
                        </a:lnTo>
                        <a:lnTo>
                          <a:pt x="159" y="1632"/>
                        </a:lnTo>
                        <a:lnTo>
                          <a:pt x="197" y="1642"/>
                        </a:lnTo>
                        <a:lnTo>
                          <a:pt x="270" y="1650"/>
                        </a:lnTo>
                        <a:lnTo>
                          <a:pt x="319" y="1655"/>
                        </a:lnTo>
                        <a:lnTo>
                          <a:pt x="344" y="1658"/>
                        </a:lnTo>
                        <a:lnTo>
                          <a:pt x="405" y="1712"/>
                        </a:lnTo>
                        <a:lnTo>
                          <a:pt x="436" y="1706"/>
                        </a:lnTo>
                        <a:lnTo>
                          <a:pt x="425" y="1569"/>
                        </a:lnTo>
                        <a:lnTo>
                          <a:pt x="400" y="1451"/>
                        </a:lnTo>
                        <a:lnTo>
                          <a:pt x="356" y="1239"/>
                        </a:lnTo>
                        <a:lnTo>
                          <a:pt x="293" y="1035"/>
                        </a:lnTo>
                        <a:lnTo>
                          <a:pt x="275" y="946"/>
                        </a:lnTo>
                        <a:lnTo>
                          <a:pt x="264" y="868"/>
                        </a:lnTo>
                        <a:lnTo>
                          <a:pt x="271" y="768"/>
                        </a:lnTo>
                        <a:lnTo>
                          <a:pt x="296" y="653"/>
                        </a:lnTo>
                        <a:lnTo>
                          <a:pt x="310" y="616"/>
                        </a:lnTo>
                        <a:lnTo>
                          <a:pt x="324" y="569"/>
                        </a:lnTo>
                        <a:lnTo>
                          <a:pt x="342" y="604"/>
                        </a:lnTo>
                        <a:lnTo>
                          <a:pt x="349" y="656"/>
                        </a:lnTo>
                        <a:lnTo>
                          <a:pt x="404" y="638"/>
                        </a:lnTo>
                        <a:lnTo>
                          <a:pt x="458" y="627"/>
                        </a:lnTo>
                        <a:lnTo>
                          <a:pt x="522" y="619"/>
                        </a:lnTo>
                        <a:lnTo>
                          <a:pt x="504" y="498"/>
                        </a:lnTo>
                        <a:lnTo>
                          <a:pt x="494" y="393"/>
                        </a:lnTo>
                        <a:lnTo>
                          <a:pt x="458" y="243"/>
                        </a:lnTo>
                        <a:lnTo>
                          <a:pt x="451" y="177"/>
                        </a:lnTo>
                        <a:lnTo>
                          <a:pt x="356" y="122"/>
                        </a:lnTo>
                        <a:lnTo>
                          <a:pt x="264" y="67"/>
                        </a:lnTo>
                        <a:lnTo>
                          <a:pt x="157" y="0"/>
                        </a:lnTo>
                        <a:lnTo>
                          <a:pt x="160" y="56"/>
                        </a:lnTo>
                        <a:lnTo>
                          <a:pt x="160" y="79"/>
                        </a:lnTo>
                        <a:lnTo>
                          <a:pt x="153" y="111"/>
                        </a:lnTo>
                        <a:lnTo>
                          <a:pt x="146" y="132"/>
                        </a:lnTo>
                        <a:lnTo>
                          <a:pt x="135" y="154"/>
                        </a:lnTo>
                        <a:lnTo>
                          <a:pt x="122" y="190"/>
                        </a:lnTo>
                        <a:lnTo>
                          <a:pt x="99" y="243"/>
                        </a:lnTo>
                        <a:lnTo>
                          <a:pt x="83" y="284"/>
                        </a:lnTo>
                        <a:lnTo>
                          <a:pt x="68" y="288"/>
                        </a:lnTo>
                        <a:lnTo>
                          <a:pt x="50" y="293"/>
                        </a:lnTo>
                        <a:lnTo>
                          <a:pt x="36" y="308"/>
                        </a:lnTo>
                        <a:lnTo>
                          <a:pt x="36" y="325"/>
                        </a:lnTo>
                        <a:lnTo>
                          <a:pt x="34" y="378"/>
                        </a:lnTo>
                        <a:lnTo>
                          <a:pt x="29" y="425"/>
                        </a:lnTo>
                        <a:lnTo>
                          <a:pt x="16" y="467"/>
                        </a:lnTo>
                        <a:lnTo>
                          <a:pt x="8" y="489"/>
                        </a:lnTo>
                        <a:lnTo>
                          <a:pt x="1" y="517"/>
                        </a:lnTo>
                        <a:lnTo>
                          <a:pt x="0" y="538"/>
                        </a:lnTo>
                        <a:lnTo>
                          <a:pt x="5" y="570"/>
                        </a:lnTo>
                        <a:lnTo>
                          <a:pt x="8" y="617"/>
                        </a:lnTo>
                        <a:lnTo>
                          <a:pt x="16" y="671"/>
                        </a:lnTo>
                        <a:close/>
                      </a:path>
                    </a:pathLst>
                  </a:custGeom>
                  <a:solidFill>
                    <a:srgbClr val="BFFFB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  <p:grpSp>
              <p:nvGrpSpPr>
                <p:cNvPr id="313" name="Group 176"/>
                <p:cNvGrpSpPr/>
                <p:nvPr/>
              </p:nvGrpSpPr>
              <p:grpSpPr bwMode="auto">
                <a:xfrm>
                  <a:off x="5204" y="2258"/>
                  <a:ext cx="90" cy="191"/>
                  <a:chOff x="5204" y="2258"/>
                  <a:chExt cx="90" cy="191"/>
                </a:xfrm>
              </p:grpSpPr>
              <p:grpSp>
                <p:nvGrpSpPr>
                  <p:cNvPr id="333" name="Group 177"/>
                  <p:cNvGrpSpPr/>
                  <p:nvPr/>
                </p:nvGrpSpPr>
                <p:grpSpPr bwMode="auto">
                  <a:xfrm>
                    <a:off x="5225" y="2354"/>
                    <a:ext cx="47" cy="95"/>
                    <a:chOff x="5225" y="2354"/>
                    <a:chExt cx="47" cy="95"/>
                  </a:xfrm>
                </p:grpSpPr>
                <p:sp>
                  <p:nvSpPr>
                    <p:cNvPr id="374" name="Freeform 178"/>
                    <p:cNvSpPr/>
                    <p:nvPr/>
                  </p:nvSpPr>
                  <p:spPr bwMode="auto">
                    <a:xfrm>
                      <a:off x="5225" y="2354"/>
                      <a:ext cx="47" cy="95"/>
                    </a:xfrm>
                    <a:custGeom>
                      <a:avLst/>
                      <a:gdLst>
                        <a:gd name="T0" fmla="*/ 240 w 278"/>
                        <a:gd name="T1" fmla="*/ 0 h 477"/>
                        <a:gd name="T2" fmla="*/ 253 w 278"/>
                        <a:gd name="T3" fmla="*/ 135 h 477"/>
                        <a:gd name="T4" fmla="*/ 261 w 278"/>
                        <a:gd name="T5" fmla="*/ 206 h 477"/>
                        <a:gd name="T6" fmla="*/ 268 w 278"/>
                        <a:gd name="T7" fmla="*/ 231 h 477"/>
                        <a:gd name="T8" fmla="*/ 278 w 278"/>
                        <a:gd name="T9" fmla="*/ 292 h 477"/>
                        <a:gd name="T10" fmla="*/ 272 w 278"/>
                        <a:gd name="T11" fmla="*/ 339 h 477"/>
                        <a:gd name="T12" fmla="*/ 261 w 278"/>
                        <a:gd name="T13" fmla="*/ 387 h 477"/>
                        <a:gd name="T14" fmla="*/ 243 w 278"/>
                        <a:gd name="T15" fmla="*/ 431 h 477"/>
                        <a:gd name="T16" fmla="*/ 224 w 278"/>
                        <a:gd name="T17" fmla="*/ 455 h 477"/>
                        <a:gd name="T18" fmla="*/ 191 w 278"/>
                        <a:gd name="T19" fmla="*/ 470 h 477"/>
                        <a:gd name="T20" fmla="*/ 148 w 278"/>
                        <a:gd name="T21" fmla="*/ 477 h 477"/>
                        <a:gd name="T22" fmla="*/ 102 w 278"/>
                        <a:gd name="T23" fmla="*/ 470 h 477"/>
                        <a:gd name="T24" fmla="*/ 65 w 278"/>
                        <a:gd name="T25" fmla="*/ 451 h 477"/>
                        <a:gd name="T26" fmla="*/ 43 w 278"/>
                        <a:gd name="T27" fmla="*/ 431 h 477"/>
                        <a:gd name="T28" fmla="*/ 22 w 278"/>
                        <a:gd name="T29" fmla="*/ 402 h 477"/>
                        <a:gd name="T30" fmla="*/ 3 w 278"/>
                        <a:gd name="T31" fmla="*/ 360 h 477"/>
                        <a:gd name="T32" fmla="*/ 0 w 278"/>
                        <a:gd name="T33" fmla="*/ 332 h 477"/>
                        <a:gd name="T34" fmla="*/ 3 w 278"/>
                        <a:gd name="T35" fmla="*/ 305 h 477"/>
                        <a:gd name="T36" fmla="*/ 12 w 278"/>
                        <a:gd name="T37" fmla="*/ 283 h 477"/>
                        <a:gd name="T38" fmla="*/ 25 w 278"/>
                        <a:gd name="T39" fmla="*/ 262 h 477"/>
                        <a:gd name="T40" fmla="*/ 51 w 278"/>
                        <a:gd name="T41" fmla="*/ 240 h 477"/>
                        <a:gd name="T42" fmla="*/ 53 w 278"/>
                        <a:gd name="T43" fmla="*/ 195 h 477"/>
                        <a:gd name="T44" fmla="*/ 51 w 278"/>
                        <a:gd name="T45" fmla="*/ 121 h 477"/>
                        <a:gd name="T46" fmla="*/ 92 w 278"/>
                        <a:gd name="T47" fmla="*/ 121 h 477"/>
                        <a:gd name="T48" fmla="*/ 120 w 278"/>
                        <a:gd name="T49" fmla="*/ 112 h 477"/>
                        <a:gd name="T50" fmla="*/ 148 w 278"/>
                        <a:gd name="T51" fmla="*/ 97 h 477"/>
                        <a:gd name="T52" fmla="*/ 167 w 278"/>
                        <a:gd name="T53" fmla="*/ 72 h 477"/>
                        <a:gd name="T54" fmla="*/ 192 w 278"/>
                        <a:gd name="T55" fmla="*/ 38 h 477"/>
                        <a:gd name="T56" fmla="*/ 240 w 278"/>
                        <a:gd name="T57" fmla="*/ 0 h 47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</a:cxnLst>
                      <a:rect l="0" t="0" r="r" b="b"/>
                      <a:pathLst>
                        <a:path w="278" h="477">
                          <a:moveTo>
                            <a:pt x="240" y="0"/>
                          </a:moveTo>
                          <a:lnTo>
                            <a:pt x="253" y="135"/>
                          </a:lnTo>
                          <a:lnTo>
                            <a:pt x="261" y="206"/>
                          </a:lnTo>
                          <a:lnTo>
                            <a:pt x="268" y="231"/>
                          </a:lnTo>
                          <a:lnTo>
                            <a:pt x="278" y="292"/>
                          </a:lnTo>
                          <a:lnTo>
                            <a:pt x="272" y="339"/>
                          </a:lnTo>
                          <a:lnTo>
                            <a:pt x="261" y="387"/>
                          </a:lnTo>
                          <a:lnTo>
                            <a:pt x="243" y="431"/>
                          </a:lnTo>
                          <a:lnTo>
                            <a:pt x="224" y="455"/>
                          </a:lnTo>
                          <a:lnTo>
                            <a:pt x="191" y="470"/>
                          </a:lnTo>
                          <a:lnTo>
                            <a:pt x="148" y="477"/>
                          </a:lnTo>
                          <a:lnTo>
                            <a:pt x="102" y="470"/>
                          </a:lnTo>
                          <a:lnTo>
                            <a:pt x="65" y="451"/>
                          </a:lnTo>
                          <a:lnTo>
                            <a:pt x="43" y="431"/>
                          </a:lnTo>
                          <a:lnTo>
                            <a:pt x="22" y="402"/>
                          </a:lnTo>
                          <a:lnTo>
                            <a:pt x="3" y="360"/>
                          </a:lnTo>
                          <a:lnTo>
                            <a:pt x="0" y="332"/>
                          </a:lnTo>
                          <a:lnTo>
                            <a:pt x="3" y="305"/>
                          </a:lnTo>
                          <a:lnTo>
                            <a:pt x="12" y="283"/>
                          </a:lnTo>
                          <a:lnTo>
                            <a:pt x="25" y="262"/>
                          </a:lnTo>
                          <a:lnTo>
                            <a:pt x="51" y="240"/>
                          </a:lnTo>
                          <a:lnTo>
                            <a:pt x="53" y="195"/>
                          </a:lnTo>
                          <a:lnTo>
                            <a:pt x="51" y="121"/>
                          </a:lnTo>
                          <a:lnTo>
                            <a:pt x="92" y="121"/>
                          </a:lnTo>
                          <a:lnTo>
                            <a:pt x="120" y="112"/>
                          </a:lnTo>
                          <a:lnTo>
                            <a:pt x="148" y="97"/>
                          </a:lnTo>
                          <a:lnTo>
                            <a:pt x="167" y="72"/>
                          </a:lnTo>
                          <a:lnTo>
                            <a:pt x="192" y="38"/>
                          </a:lnTo>
                          <a:lnTo>
                            <a:pt x="240" y="0"/>
                          </a:lnTo>
                          <a:close/>
                        </a:path>
                      </a:pathLst>
                    </a:custGeom>
                    <a:solidFill>
                      <a:srgbClr val="FF9F9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75" name="Freeform 179"/>
                    <p:cNvSpPr/>
                    <p:nvPr/>
                  </p:nvSpPr>
                  <p:spPr bwMode="auto">
                    <a:xfrm>
                      <a:off x="5225" y="2354"/>
                      <a:ext cx="46" cy="87"/>
                    </a:xfrm>
                    <a:custGeom>
                      <a:avLst/>
                      <a:gdLst>
                        <a:gd name="T0" fmla="*/ 240 w 279"/>
                        <a:gd name="T1" fmla="*/ 0 h 434"/>
                        <a:gd name="T2" fmla="*/ 254 w 279"/>
                        <a:gd name="T3" fmla="*/ 135 h 434"/>
                        <a:gd name="T4" fmla="*/ 262 w 279"/>
                        <a:gd name="T5" fmla="*/ 206 h 434"/>
                        <a:gd name="T6" fmla="*/ 269 w 279"/>
                        <a:gd name="T7" fmla="*/ 231 h 434"/>
                        <a:gd name="T8" fmla="*/ 279 w 279"/>
                        <a:gd name="T9" fmla="*/ 292 h 434"/>
                        <a:gd name="T10" fmla="*/ 273 w 279"/>
                        <a:gd name="T11" fmla="*/ 340 h 434"/>
                        <a:gd name="T12" fmla="*/ 262 w 279"/>
                        <a:gd name="T13" fmla="*/ 387 h 434"/>
                        <a:gd name="T14" fmla="*/ 245 w 279"/>
                        <a:gd name="T15" fmla="*/ 431 h 434"/>
                        <a:gd name="T16" fmla="*/ 234 w 279"/>
                        <a:gd name="T17" fmla="*/ 407 h 434"/>
                        <a:gd name="T18" fmla="*/ 214 w 279"/>
                        <a:gd name="T19" fmla="*/ 398 h 434"/>
                        <a:gd name="T20" fmla="*/ 199 w 279"/>
                        <a:gd name="T21" fmla="*/ 403 h 434"/>
                        <a:gd name="T22" fmla="*/ 185 w 279"/>
                        <a:gd name="T23" fmla="*/ 415 h 434"/>
                        <a:gd name="T24" fmla="*/ 163 w 279"/>
                        <a:gd name="T25" fmla="*/ 434 h 434"/>
                        <a:gd name="T26" fmla="*/ 133 w 279"/>
                        <a:gd name="T27" fmla="*/ 434 h 434"/>
                        <a:gd name="T28" fmla="*/ 146 w 279"/>
                        <a:gd name="T29" fmla="*/ 410 h 434"/>
                        <a:gd name="T30" fmla="*/ 173 w 279"/>
                        <a:gd name="T31" fmla="*/ 374 h 434"/>
                        <a:gd name="T32" fmla="*/ 201 w 279"/>
                        <a:gd name="T33" fmla="*/ 351 h 434"/>
                        <a:gd name="T34" fmla="*/ 217 w 279"/>
                        <a:gd name="T35" fmla="*/ 334 h 434"/>
                        <a:gd name="T36" fmla="*/ 224 w 279"/>
                        <a:gd name="T37" fmla="*/ 309 h 434"/>
                        <a:gd name="T38" fmla="*/ 227 w 279"/>
                        <a:gd name="T39" fmla="*/ 285 h 434"/>
                        <a:gd name="T40" fmla="*/ 228 w 279"/>
                        <a:gd name="T41" fmla="*/ 258 h 434"/>
                        <a:gd name="T42" fmla="*/ 225 w 279"/>
                        <a:gd name="T43" fmla="*/ 230 h 434"/>
                        <a:gd name="T44" fmla="*/ 227 w 279"/>
                        <a:gd name="T45" fmla="*/ 189 h 434"/>
                        <a:gd name="T46" fmla="*/ 213 w 279"/>
                        <a:gd name="T47" fmla="*/ 193 h 434"/>
                        <a:gd name="T48" fmla="*/ 177 w 279"/>
                        <a:gd name="T49" fmla="*/ 194 h 434"/>
                        <a:gd name="T50" fmla="*/ 147 w 279"/>
                        <a:gd name="T51" fmla="*/ 191 h 434"/>
                        <a:gd name="T52" fmla="*/ 116 w 279"/>
                        <a:gd name="T53" fmla="*/ 186 h 434"/>
                        <a:gd name="T54" fmla="*/ 93 w 279"/>
                        <a:gd name="T55" fmla="*/ 178 h 434"/>
                        <a:gd name="T56" fmla="*/ 76 w 279"/>
                        <a:gd name="T57" fmla="*/ 169 h 434"/>
                        <a:gd name="T58" fmla="*/ 76 w 279"/>
                        <a:gd name="T59" fmla="*/ 196 h 434"/>
                        <a:gd name="T60" fmla="*/ 76 w 279"/>
                        <a:gd name="T61" fmla="*/ 231 h 434"/>
                        <a:gd name="T62" fmla="*/ 68 w 279"/>
                        <a:gd name="T63" fmla="*/ 262 h 434"/>
                        <a:gd name="T64" fmla="*/ 67 w 279"/>
                        <a:gd name="T65" fmla="*/ 292 h 434"/>
                        <a:gd name="T66" fmla="*/ 78 w 279"/>
                        <a:gd name="T67" fmla="*/ 322 h 434"/>
                        <a:gd name="T68" fmla="*/ 90 w 279"/>
                        <a:gd name="T69" fmla="*/ 348 h 434"/>
                        <a:gd name="T70" fmla="*/ 107 w 279"/>
                        <a:gd name="T71" fmla="*/ 378 h 434"/>
                        <a:gd name="T72" fmla="*/ 98 w 279"/>
                        <a:gd name="T73" fmla="*/ 400 h 434"/>
                        <a:gd name="T74" fmla="*/ 84 w 279"/>
                        <a:gd name="T75" fmla="*/ 387 h 434"/>
                        <a:gd name="T76" fmla="*/ 59 w 279"/>
                        <a:gd name="T77" fmla="*/ 369 h 434"/>
                        <a:gd name="T78" fmla="*/ 43 w 279"/>
                        <a:gd name="T79" fmla="*/ 353 h 434"/>
                        <a:gd name="T80" fmla="*/ 22 w 279"/>
                        <a:gd name="T81" fmla="*/ 342 h 434"/>
                        <a:gd name="T82" fmla="*/ 0 w 279"/>
                        <a:gd name="T83" fmla="*/ 334 h 434"/>
                        <a:gd name="T84" fmla="*/ 4 w 279"/>
                        <a:gd name="T85" fmla="*/ 305 h 434"/>
                        <a:gd name="T86" fmla="*/ 12 w 279"/>
                        <a:gd name="T87" fmla="*/ 283 h 434"/>
                        <a:gd name="T88" fmla="*/ 25 w 279"/>
                        <a:gd name="T89" fmla="*/ 262 h 434"/>
                        <a:gd name="T90" fmla="*/ 52 w 279"/>
                        <a:gd name="T91" fmla="*/ 240 h 434"/>
                        <a:gd name="T92" fmla="*/ 54 w 279"/>
                        <a:gd name="T93" fmla="*/ 195 h 434"/>
                        <a:gd name="T94" fmla="*/ 52 w 279"/>
                        <a:gd name="T95" fmla="*/ 121 h 434"/>
                        <a:gd name="T96" fmla="*/ 92 w 279"/>
                        <a:gd name="T97" fmla="*/ 121 h 434"/>
                        <a:gd name="T98" fmla="*/ 121 w 279"/>
                        <a:gd name="T99" fmla="*/ 114 h 434"/>
                        <a:gd name="T100" fmla="*/ 148 w 279"/>
                        <a:gd name="T101" fmla="*/ 97 h 434"/>
                        <a:gd name="T102" fmla="*/ 168 w 279"/>
                        <a:gd name="T103" fmla="*/ 72 h 434"/>
                        <a:gd name="T104" fmla="*/ 193 w 279"/>
                        <a:gd name="T105" fmla="*/ 38 h 434"/>
                        <a:gd name="T106" fmla="*/ 240 w 279"/>
                        <a:gd name="T107" fmla="*/ 0 h 4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</a:cxnLst>
                      <a:rect l="0" t="0" r="r" b="b"/>
                      <a:pathLst>
                        <a:path w="279" h="434">
                          <a:moveTo>
                            <a:pt x="240" y="0"/>
                          </a:moveTo>
                          <a:lnTo>
                            <a:pt x="254" y="135"/>
                          </a:lnTo>
                          <a:lnTo>
                            <a:pt x="262" y="206"/>
                          </a:lnTo>
                          <a:lnTo>
                            <a:pt x="269" y="231"/>
                          </a:lnTo>
                          <a:lnTo>
                            <a:pt x="279" y="292"/>
                          </a:lnTo>
                          <a:lnTo>
                            <a:pt x="273" y="340"/>
                          </a:lnTo>
                          <a:lnTo>
                            <a:pt x="262" y="387"/>
                          </a:lnTo>
                          <a:lnTo>
                            <a:pt x="245" y="431"/>
                          </a:lnTo>
                          <a:lnTo>
                            <a:pt x="234" y="407"/>
                          </a:lnTo>
                          <a:lnTo>
                            <a:pt x="214" y="398"/>
                          </a:lnTo>
                          <a:lnTo>
                            <a:pt x="199" y="403"/>
                          </a:lnTo>
                          <a:lnTo>
                            <a:pt x="185" y="415"/>
                          </a:lnTo>
                          <a:lnTo>
                            <a:pt x="163" y="434"/>
                          </a:lnTo>
                          <a:lnTo>
                            <a:pt x="133" y="434"/>
                          </a:lnTo>
                          <a:lnTo>
                            <a:pt x="146" y="410"/>
                          </a:lnTo>
                          <a:lnTo>
                            <a:pt x="173" y="374"/>
                          </a:lnTo>
                          <a:lnTo>
                            <a:pt x="201" y="351"/>
                          </a:lnTo>
                          <a:lnTo>
                            <a:pt x="217" y="334"/>
                          </a:lnTo>
                          <a:lnTo>
                            <a:pt x="224" y="309"/>
                          </a:lnTo>
                          <a:lnTo>
                            <a:pt x="227" y="285"/>
                          </a:lnTo>
                          <a:lnTo>
                            <a:pt x="228" y="258"/>
                          </a:lnTo>
                          <a:lnTo>
                            <a:pt x="225" y="230"/>
                          </a:lnTo>
                          <a:lnTo>
                            <a:pt x="227" y="189"/>
                          </a:lnTo>
                          <a:lnTo>
                            <a:pt x="213" y="193"/>
                          </a:lnTo>
                          <a:lnTo>
                            <a:pt x="177" y="194"/>
                          </a:lnTo>
                          <a:lnTo>
                            <a:pt x="147" y="191"/>
                          </a:lnTo>
                          <a:lnTo>
                            <a:pt x="116" y="186"/>
                          </a:lnTo>
                          <a:lnTo>
                            <a:pt x="93" y="178"/>
                          </a:lnTo>
                          <a:lnTo>
                            <a:pt x="76" y="169"/>
                          </a:lnTo>
                          <a:lnTo>
                            <a:pt x="76" y="196"/>
                          </a:lnTo>
                          <a:lnTo>
                            <a:pt x="76" y="231"/>
                          </a:lnTo>
                          <a:lnTo>
                            <a:pt x="68" y="262"/>
                          </a:lnTo>
                          <a:lnTo>
                            <a:pt x="67" y="292"/>
                          </a:lnTo>
                          <a:lnTo>
                            <a:pt x="78" y="322"/>
                          </a:lnTo>
                          <a:lnTo>
                            <a:pt x="90" y="348"/>
                          </a:lnTo>
                          <a:lnTo>
                            <a:pt x="107" y="378"/>
                          </a:lnTo>
                          <a:lnTo>
                            <a:pt x="98" y="400"/>
                          </a:lnTo>
                          <a:lnTo>
                            <a:pt x="84" y="387"/>
                          </a:lnTo>
                          <a:lnTo>
                            <a:pt x="59" y="369"/>
                          </a:lnTo>
                          <a:lnTo>
                            <a:pt x="43" y="353"/>
                          </a:lnTo>
                          <a:lnTo>
                            <a:pt x="22" y="342"/>
                          </a:lnTo>
                          <a:lnTo>
                            <a:pt x="0" y="334"/>
                          </a:lnTo>
                          <a:lnTo>
                            <a:pt x="4" y="305"/>
                          </a:lnTo>
                          <a:lnTo>
                            <a:pt x="12" y="283"/>
                          </a:lnTo>
                          <a:lnTo>
                            <a:pt x="25" y="262"/>
                          </a:lnTo>
                          <a:lnTo>
                            <a:pt x="52" y="240"/>
                          </a:lnTo>
                          <a:lnTo>
                            <a:pt x="54" y="195"/>
                          </a:lnTo>
                          <a:lnTo>
                            <a:pt x="52" y="121"/>
                          </a:lnTo>
                          <a:lnTo>
                            <a:pt x="92" y="121"/>
                          </a:lnTo>
                          <a:lnTo>
                            <a:pt x="121" y="114"/>
                          </a:lnTo>
                          <a:lnTo>
                            <a:pt x="148" y="97"/>
                          </a:lnTo>
                          <a:lnTo>
                            <a:pt x="168" y="72"/>
                          </a:lnTo>
                          <a:lnTo>
                            <a:pt x="193" y="38"/>
                          </a:lnTo>
                          <a:lnTo>
                            <a:pt x="240" y="0"/>
                          </a:lnTo>
                          <a:close/>
                        </a:path>
                      </a:pathLst>
                    </a:custGeom>
                    <a:solidFill>
                      <a:srgbClr val="FF7F7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sp>
                <p:nvSpPr>
                  <p:cNvPr id="334" name="Freeform 180"/>
                  <p:cNvSpPr/>
                  <p:nvPr/>
                </p:nvSpPr>
                <p:spPr bwMode="auto">
                  <a:xfrm>
                    <a:off x="5214" y="2266"/>
                    <a:ext cx="63" cy="116"/>
                  </a:xfrm>
                  <a:custGeom>
                    <a:avLst/>
                    <a:gdLst>
                      <a:gd name="T0" fmla="*/ 34 w 376"/>
                      <a:gd name="T1" fmla="*/ 100 h 582"/>
                      <a:gd name="T2" fmla="*/ 19 w 376"/>
                      <a:gd name="T3" fmla="*/ 137 h 582"/>
                      <a:gd name="T4" fmla="*/ 8 w 376"/>
                      <a:gd name="T5" fmla="*/ 169 h 582"/>
                      <a:gd name="T6" fmla="*/ 1 w 376"/>
                      <a:gd name="T7" fmla="*/ 195 h 582"/>
                      <a:gd name="T8" fmla="*/ 0 w 376"/>
                      <a:gd name="T9" fmla="*/ 215 h 582"/>
                      <a:gd name="T10" fmla="*/ 2 w 376"/>
                      <a:gd name="T11" fmla="*/ 233 h 582"/>
                      <a:gd name="T12" fmla="*/ 6 w 376"/>
                      <a:gd name="T13" fmla="*/ 262 h 582"/>
                      <a:gd name="T14" fmla="*/ 4 w 376"/>
                      <a:gd name="T15" fmla="*/ 275 h 582"/>
                      <a:gd name="T16" fmla="*/ 6 w 376"/>
                      <a:gd name="T17" fmla="*/ 291 h 582"/>
                      <a:gd name="T18" fmla="*/ 13 w 376"/>
                      <a:gd name="T19" fmla="*/ 312 h 582"/>
                      <a:gd name="T20" fmla="*/ 15 w 376"/>
                      <a:gd name="T21" fmla="*/ 325 h 582"/>
                      <a:gd name="T22" fmla="*/ 12 w 376"/>
                      <a:gd name="T23" fmla="*/ 362 h 582"/>
                      <a:gd name="T24" fmla="*/ 15 w 376"/>
                      <a:gd name="T25" fmla="*/ 388 h 582"/>
                      <a:gd name="T26" fmla="*/ 22 w 376"/>
                      <a:gd name="T27" fmla="*/ 414 h 582"/>
                      <a:gd name="T28" fmla="*/ 34 w 376"/>
                      <a:gd name="T29" fmla="*/ 445 h 582"/>
                      <a:gd name="T30" fmla="*/ 49 w 376"/>
                      <a:gd name="T31" fmla="*/ 477 h 582"/>
                      <a:gd name="T32" fmla="*/ 62 w 376"/>
                      <a:gd name="T33" fmla="*/ 507 h 582"/>
                      <a:gd name="T34" fmla="*/ 70 w 376"/>
                      <a:gd name="T35" fmla="*/ 530 h 582"/>
                      <a:gd name="T36" fmla="*/ 77 w 376"/>
                      <a:gd name="T37" fmla="*/ 555 h 582"/>
                      <a:gd name="T38" fmla="*/ 88 w 376"/>
                      <a:gd name="T39" fmla="*/ 570 h 582"/>
                      <a:gd name="T40" fmla="*/ 104 w 376"/>
                      <a:gd name="T41" fmla="*/ 578 h 582"/>
                      <a:gd name="T42" fmla="*/ 129 w 376"/>
                      <a:gd name="T43" fmla="*/ 582 h 582"/>
                      <a:gd name="T44" fmla="*/ 163 w 376"/>
                      <a:gd name="T45" fmla="*/ 578 h 582"/>
                      <a:gd name="T46" fmla="*/ 193 w 376"/>
                      <a:gd name="T47" fmla="*/ 571 h 582"/>
                      <a:gd name="T48" fmla="*/ 210 w 376"/>
                      <a:gd name="T49" fmla="*/ 559 h 582"/>
                      <a:gd name="T50" fmla="*/ 235 w 376"/>
                      <a:gd name="T51" fmla="*/ 541 h 582"/>
                      <a:gd name="T52" fmla="*/ 261 w 376"/>
                      <a:gd name="T53" fmla="*/ 507 h 582"/>
                      <a:gd name="T54" fmla="*/ 304 w 376"/>
                      <a:gd name="T55" fmla="*/ 444 h 582"/>
                      <a:gd name="T56" fmla="*/ 315 w 376"/>
                      <a:gd name="T57" fmla="*/ 424 h 582"/>
                      <a:gd name="T58" fmla="*/ 324 w 376"/>
                      <a:gd name="T59" fmla="*/ 429 h 582"/>
                      <a:gd name="T60" fmla="*/ 337 w 376"/>
                      <a:gd name="T61" fmla="*/ 429 h 582"/>
                      <a:gd name="T62" fmla="*/ 344 w 376"/>
                      <a:gd name="T63" fmla="*/ 410 h 582"/>
                      <a:gd name="T64" fmla="*/ 356 w 376"/>
                      <a:gd name="T65" fmla="*/ 372 h 582"/>
                      <a:gd name="T66" fmla="*/ 365 w 376"/>
                      <a:gd name="T67" fmla="*/ 336 h 582"/>
                      <a:gd name="T68" fmla="*/ 363 w 376"/>
                      <a:gd name="T69" fmla="*/ 288 h 582"/>
                      <a:gd name="T70" fmla="*/ 373 w 376"/>
                      <a:gd name="T71" fmla="*/ 206 h 582"/>
                      <a:gd name="T72" fmla="*/ 376 w 376"/>
                      <a:gd name="T73" fmla="*/ 157 h 582"/>
                      <a:gd name="T74" fmla="*/ 374 w 376"/>
                      <a:gd name="T75" fmla="*/ 116 h 582"/>
                      <a:gd name="T76" fmla="*/ 365 w 376"/>
                      <a:gd name="T77" fmla="*/ 86 h 582"/>
                      <a:gd name="T78" fmla="*/ 340 w 376"/>
                      <a:gd name="T79" fmla="*/ 48 h 582"/>
                      <a:gd name="T80" fmla="*/ 304 w 376"/>
                      <a:gd name="T81" fmla="*/ 22 h 582"/>
                      <a:gd name="T82" fmla="*/ 265 w 376"/>
                      <a:gd name="T83" fmla="*/ 7 h 582"/>
                      <a:gd name="T84" fmla="*/ 222 w 376"/>
                      <a:gd name="T85" fmla="*/ 0 h 582"/>
                      <a:gd name="T86" fmla="*/ 178 w 376"/>
                      <a:gd name="T87" fmla="*/ 0 h 582"/>
                      <a:gd name="T88" fmla="*/ 136 w 376"/>
                      <a:gd name="T89" fmla="*/ 7 h 582"/>
                      <a:gd name="T90" fmla="*/ 95 w 376"/>
                      <a:gd name="T91" fmla="*/ 27 h 582"/>
                      <a:gd name="T92" fmla="*/ 65 w 376"/>
                      <a:gd name="T93" fmla="*/ 53 h 582"/>
                      <a:gd name="T94" fmla="*/ 34 w 376"/>
                      <a:gd name="T95" fmla="*/ 100 h 58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</a:cxnLst>
                    <a:rect l="0" t="0" r="r" b="b"/>
                    <a:pathLst>
                      <a:path w="376" h="582">
                        <a:moveTo>
                          <a:pt x="34" y="100"/>
                        </a:moveTo>
                        <a:lnTo>
                          <a:pt x="19" y="137"/>
                        </a:lnTo>
                        <a:lnTo>
                          <a:pt x="8" y="169"/>
                        </a:lnTo>
                        <a:lnTo>
                          <a:pt x="1" y="195"/>
                        </a:lnTo>
                        <a:lnTo>
                          <a:pt x="0" y="215"/>
                        </a:lnTo>
                        <a:lnTo>
                          <a:pt x="2" y="233"/>
                        </a:lnTo>
                        <a:lnTo>
                          <a:pt x="6" y="262"/>
                        </a:lnTo>
                        <a:lnTo>
                          <a:pt x="4" y="275"/>
                        </a:lnTo>
                        <a:lnTo>
                          <a:pt x="6" y="291"/>
                        </a:lnTo>
                        <a:lnTo>
                          <a:pt x="13" y="312"/>
                        </a:lnTo>
                        <a:lnTo>
                          <a:pt x="15" y="325"/>
                        </a:lnTo>
                        <a:lnTo>
                          <a:pt x="12" y="362"/>
                        </a:lnTo>
                        <a:lnTo>
                          <a:pt x="15" y="388"/>
                        </a:lnTo>
                        <a:lnTo>
                          <a:pt x="22" y="414"/>
                        </a:lnTo>
                        <a:lnTo>
                          <a:pt x="34" y="445"/>
                        </a:lnTo>
                        <a:lnTo>
                          <a:pt x="49" y="477"/>
                        </a:lnTo>
                        <a:lnTo>
                          <a:pt x="62" y="507"/>
                        </a:lnTo>
                        <a:lnTo>
                          <a:pt x="70" y="530"/>
                        </a:lnTo>
                        <a:lnTo>
                          <a:pt x="77" y="555"/>
                        </a:lnTo>
                        <a:lnTo>
                          <a:pt x="88" y="570"/>
                        </a:lnTo>
                        <a:lnTo>
                          <a:pt x="104" y="578"/>
                        </a:lnTo>
                        <a:lnTo>
                          <a:pt x="129" y="582"/>
                        </a:lnTo>
                        <a:lnTo>
                          <a:pt x="163" y="578"/>
                        </a:lnTo>
                        <a:lnTo>
                          <a:pt x="193" y="571"/>
                        </a:lnTo>
                        <a:lnTo>
                          <a:pt x="210" y="559"/>
                        </a:lnTo>
                        <a:lnTo>
                          <a:pt x="235" y="541"/>
                        </a:lnTo>
                        <a:lnTo>
                          <a:pt x="261" y="507"/>
                        </a:lnTo>
                        <a:lnTo>
                          <a:pt x="304" y="444"/>
                        </a:lnTo>
                        <a:lnTo>
                          <a:pt x="315" y="424"/>
                        </a:lnTo>
                        <a:lnTo>
                          <a:pt x="324" y="429"/>
                        </a:lnTo>
                        <a:lnTo>
                          <a:pt x="337" y="429"/>
                        </a:lnTo>
                        <a:lnTo>
                          <a:pt x="344" y="410"/>
                        </a:lnTo>
                        <a:lnTo>
                          <a:pt x="356" y="372"/>
                        </a:lnTo>
                        <a:lnTo>
                          <a:pt x="365" y="336"/>
                        </a:lnTo>
                        <a:lnTo>
                          <a:pt x="363" y="288"/>
                        </a:lnTo>
                        <a:lnTo>
                          <a:pt x="373" y="206"/>
                        </a:lnTo>
                        <a:lnTo>
                          <a:pt x="376" y="157"/>
                        </a:lnTo>
                        <a:lnTo>
                          <a:pt x="374" y="116"/>
                        </a:lnTo>
                        <a:lnTo>
                          <a:pt x="365" y="86"/>
                        </a:lnTo>
                        <a:lnTo>
                          <a:pt x="340" y="48"/>
                        </a:lnTo>
                        <a:lnTo>
                          <a:pt x="304" y="22"/>
                        </a:lnTo>
                        <a:lnTo>
                          <a:pt x="265" y="7"/>
                        </a:lnTo>
                        <a:lnTo>
                          <a:pt x="222" y="0"/>
                        </a:lnTo>
                        <a:lnTo>
                          <a:pt x="178" y="0"/>
                        </a:lnTo>
                        <a:lnTo>
                          <a:pt x="136" y="7"/>
                        </a:lnTo>
                        <a:lnTo>
                          <a:pt x="95" y="27"/>
                        </a:lnTo>
                        <a:lnTo>
                          <a:pt x="65" y="53"/>
                        </a:lnTo>
                        <a:lnTo>
                          <a:pt x="34" y="100"/>
                        </a:lnTo>
                        <a:close/>
                      </a:path>
                    </a:pathLst>
                  </a:custGeom>
                  <a:solidFill>
                    <a:srgbClr val="FF9F9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grpSp>
                <p:nvGrpSpPr>
                  <p:cNvPr id="335" name="Group 181"/>
                  <p:cNvGrpSpPr/>
                  <p:nvPr/>
                </p:nvGrpSpPr>
                <p:grpSpPr bwMode="auto">
                  <a:xfrm>
                    <a:off x="5204" y="2258"/>
                    <a:ext cx="90" cy="143"/>
                    <a:chOff x="5204" y="2258"/>
                    <a:chExt cx="90" cy="143"/>
                  </a:xfrm>
                </p:grpSpPr>
                <p:grpSp>
                  <p:nvGrpSpPr>
                    <p:cNvPr id="370" name="Group 182"/>
                    <p:cNvGrpSpPr/>
                    <p:nvPr/>
                  </p:nvGrpSpPr>
                  <p:grpSpPr bwMode="auto">
                    <a:xfrm>
                      <a:off x="5204" y="2258"/>
                      <a:ext cx="90" cy="143"/>
                      <a:chOff x="5204" y="2258"/>
                      <a:chExt cx="90" cy="143"/>
                    </a:xfrm>
                  </p:grpSpPr>
                  <p:sp>
                    <p:nvSpPr>
                      <p:cNvPr id="372" name="Freeform 183"/>
                      <p:cNvSpPr/>
                      <p:nvPr/>
                    </p:nvSpPr>
                    <p:spPr bwMode="auto">
                      <a:xfrm>
                        <a:off x="5225" y="2293"/>
                        <a:ext cx="7" cy="14"/>
                      </a:xfrm>
                      <a:custGeom>
                        <a:avLst/>
                        <a:gdLst>
                          <a:gd name="T0" fmla="*/ 7 w 45"/>
                          <a:gd name="T1" fmla="*/ 0 h 70"/>
                          <a:gd name="T2" fmla="*/ 1 w 45"/>
                          <a:gd name="T3" fmla="*/ 11 h 70"/>
                          <a:gd name="T4" fmla="*/ 0 w 45"/>
                          <a:gd name="T5" fmla="*/ 25 h 70"/>
                          <a:gd name="T6" fmla="*/ 4 w 45"/>
                          <a:gd name="T7" fmla="*/ 37 h 70"/>
                          <a:gd name="T8" fmla="*/ 12 w 45"/>
                          <a:gd name="T9" fmla="*/ 46 h 70"/>
                          <a:gd name="T10" fmla="*/ 24 w 45"/>
                          <a:gd name="T11" fmla="*/ 57 h 70"/>
                          <a:gd name="T12" fmla="*/ 45 w 45"/>
                          <a:gd name="T13" fmla="*/ 70 h 70"/>
                          <a:gd name="T14" fmla="*/ 26 w 45"/>
                          <a:gd name="T15" fmla="*/ 51 h 70"/>
                          <a:gd name="T16" fmla="*/ 19 w 45"/>
                          <a:gd name="T17" fmla="*/ 41 h 70"/>
                          <a:gd name="T18" fmla="*/ 14 w 45"/>
                          <a:gd name="T19" fmla="*/ 32 h 70"/>
                          <a:gd name="T20" fmla="*/ 10 w 45"/>
                          <a:gd name="T21" fmla="*/ 20 h 70"/>
                          <a:gd name="T22" fmla="*/ 7 w 45"/>
                          <a:gd name="T23" fmla="*/ 0 h 7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</a:cxnLst>
                        <a:rect l="0" t="0" r="r" b="b"/>
                        <a:pathLst>
                          <a:path w="45" h="70">
                            <a:moveTo>
                              <a:pt x="7" y="0"/>
                            </a:moveTo>
                            <a:lnTo>
                              <a:pt x="1" y="11"/>
                            </a:lnTo>
                            <a:lnTo>
                              <a:pt x="0" y="25"/>
                            </a:lnTo>
                            <a:lnTo>
                              <a:pt x="4" y="37"/>
                            </a:lnTo>
                            <a:lnTo>
                              <a:pt x="12" y="46"/>
                            </a:lnTo>
                            <a:lnTo>
                              <a:pt x="24" y="57"/>
                            </a:lnTo>
                            <a:lnTo>
                              <a:pt x="45" y="70"/>
                            </a:lnTo>
                            <a:lnTo>
                              <a:pt x="26" y="51"/>
                            </a:lnTo>
                            <a:lnTo>
                              <a:pt x="19" y="41"/>
                            </a:lnTo>
                            <a:lnTo>
                              <a:pt x="14" y="32"/>
                            </a:lnTo>
                            <a:lnTo>
                              <a:pt x="10" y="20"/>
                            </a:lnTo>
                            <a:lnTo>
                              <a:pt x="7" y="0"/>
                            </a:lnTo>
                            <a:close/>
                          </a:path>
                        </a:pathLst>
                      </a:custGeom>
                      <a:solidFill>
                        <a:srgbClr val="7F3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373" name="Freeform 184"/>
                      <p:cNvSpPr/>
                      <p:nvPr/>
                    </p:nvSpPr>
                    <p:spPr bwMode="auto">
                      <a:xfrm>
                        <a:off x="5204" y="2258"/>
                        <a:ext cx="90" cy="143"/>
                      </a:xfrm>
                      <a:custGeom>
                        <a:avLst/>
                        <a:gdLst>
                          <a:gd name="T0" fmla="*/ 49 w 540"/>
                          <a:gd name="T1" fmla="*/ 109 h 714"/>
                          <a:gd name="T2" fmla="*/ 7 w 540"/>
                          <a:gd name="T3" fmla="*/ 151 h 714"/>
                          <a:gd name="T4" fmla="*/ 12 w 540"/>
                          <a:gd name="T5" fmla="*/ 207 h 714"/>
                          <a:gd name="T6" fmla="*/ 13 w 540"/>
                          <a:gd name="T7" fmla="*/ 160 h 714"/>
                          <a:gd name="T8" fmla="*/ 49 w 540"/>
                          <a:gd name="T9" fmla="*/ 129 h 714"/>
                          <a:gd name="T10" fmla="*/ 20 w 540"/>
                          <a:gd name="T11" fmla="*/ 175 h 714"/>
                          <a:gd name="T12" fmla="*/ 55 w 540"/>
                          <a:gd name="T13" fmla="*/ 138 h 714"/>
                          <a:gd name="T14" fmla="*/ 28 w 540"/>
                          <a:gd name="T15" fmla="*/ 181 h 714"/>
                          <a:gd name="T16" fmla="*/ 51 w 540"/>
                          <a:gd name="T17" fmla="*/ 237 h 714"/>
                          <a:gd name="T18" fmla="*/ 36 w 540"/>
                          <a:gd name="T19" fmla="*/ 173 h 714"/>
                          <a:gd name="T20" fmla="*/ 54 w 540"/>
                          <a:gd name="T21" fmla="*/ 156 h 714"/>
                          <a:gd name="T22" fmla="*/ 57 w 540"/>
                          <a:gd name="T23" fmla="*/ 203 h 714"/>
                          <a:gd name="T24" fmla="*/ 63 w 540"/>
                          <a:gd name="T25" fmla="*/ 204 h 714"/>
                          <a:gd name="T26" fmla="*/ 71 w 540"/>
                          <a:gd name="T27" fmla="*/ 159 h 714"/>
                          <a:gd name="T28" fmla="*/ 79 w 540"/>
                          <a:gd name="T29" fmla="*/ 214 h 714"/>
                          <a:gd name="T30" fmla="*/ 77 w 540"/>
                          <a:gd name="T31" fmla="*/ 190 h 714"/>
                          <a:gd name="T32" fmla="*/ 89 w 540"/>
                          <a:gd name="T33" fmla="*/ 198 h 714"/>
                          <a:gd name="T34" fmla="*/ 97 w 540"/>
                          <a:gd name="T35" fmla="*/ 207 h 714"/>
                          <a:gd name="T36" fmla="*/ 111 w 540"/>
                          <a:gd name="T37" fmla="*/ 228 h 714"/>
                          <a:gd name="T38" fmla="*/ 134 w 540"/>
                          <a:gd name="T39" fmla="*/ 253 h 714"/>
                          <a:gd name="T40" fmla="*/ 101 w 540"/>
                          <a:gd name="T41" fmla="*/ 185 h 714"/>
                          <a:gd name="T42" fmla="*/ 117 w 540"/>
                          <a:gd name="T43" fmla="*/ 212 h 714"/>
                          <a:gd name="T44" fmla="*/ 118 w 540"/>
                          <a:gd name="T45" fmla="*/ 201 h 714"/>
                          <a:gd name="T46" fmla="*/ 149 w 540"/>
                          <a:gd name="T47" fmla="*/ 199 h 714"/>
                          <a:gd name="T48" fmla="*/ 153 w 540"/>
                          <a:gd name="T49" fmla="*/ 187 h 714"/>
                          <a:gd name="T50" fmla="*/ 175 w 540"/>
                          <a:gd name="T51" fmla="*/ 220 h 714"/>
                          <a:gd name="T52" fmla="*/ 175 w 540"/>
                          <a:gd name="T53" fmla="*/ 203 h 714"/>
                          <a:gd name="T54" fmla="*/ 185 w 540"/>
                          <a:gd name="T55" fmla="*/ 201 h 714"/>
                          <a:gd name="T56" fmla="*/ 192 w 540"/>
                          <a:gd name="T57" fmla="*/ 194 h 714"/>
                          <a:gd name="T58" fmla="*/ 224 w 540"/>
                          <a:gd name="T59" fmla="*/ 159 h 714"/>
                          <a:gd name="T60" fmla="*/ 242 w 540"/>
                          <a:gd name="T61" fmla="*/ 224 h 714"/>
                          <a:gd name="T62" fmla="*/ 346 w 540"/>
                          <a:gd name="T63" fmla="*/ 343 h 714"/>
                          <a:gd name="T64" fmla="*/ 376 w 540"/>
                          <a:gd name="T65" fmla="*/ 345 h 714"/>
                          <a:gd name="T66" fmla="*/ 389 w 540"/>
                          <a:gd name="T67" fmla="*/ 288 h 714"/>
                          <a:gd name="T68" fmla="*/ 426 w 540"/>
                          <a:gd name="T69" fmla="*/ 345 h 714"/>
                          <a:gd name="T70" fmla="*/ 353 w 540"/>
                          <a:gd name="T71" fmla="*/ 516 h 714"/>
                          <a:gd name="T72" fmla="*/ 339 w 540"/>
                          <a:gd name="T73" fmla="*/ 644 h 714"/>
                          <a:gd name="T74" fmla="*/ 393 w 540"/>
                          <a:gd name="T75" fmla="*/ 706 h 714"/>
                          <a:gd name="T76" fmla="*/ 480 w 540"/>
                          <a:gd name="T77" fmla="*/ 700 h 714"/>
                          <a:gd name="T78" fmla="*/ 518 w 540"/>
                          <a:gd name="T79" fmla="*/ 605 h 714"/>
                          <a:gd name="T80" fmla="*/ 536 w 540"/>
                          <a:gd name="T81" fmla="*/ 527 h 714"/>
                          <a:gd name="T82" fmla="*/ 484 w 540"/>
                          <a:gd name="T83" fmla="*/ 424 h 714"/>
                          <a:gd name="T84" fmla="*/ 493 w 540"/>
                          <a:gd name="T85" fmla="*/ 232 h 714"/>
                          <a:gd name="T86" fmla="*/ 451 w 540"/>
                          <a:gd name="T87" fmla="*/ 89 h 714"/>
                          <a:gd name="T88" fmla="*/ 386 w 540"/>
                          <a:gd name="T89" fmla="*/ 20 h 714"/>
                          <a:gd name="T90" fmla="*/ 300 w 540"/>
                          <a:gd name="T91" fmla="*/ 0 h 714"/>
                          <a:gd name="T92" fmla="*/ 204 w 540"/>
                          <a:gd name="T93" fmla="*/ 23 h 714"/>
                          <a:gd name="T94" fmla="*/ 146 w 540"/>
                          <a:gd name="T95" fmla="*/ 61 h 714"/>
                          <a:gd name="T96" fmla="*/ 125 w 540"/>
                          <a:gd name="T97" fmla="*/ 66 h 714"/>
                          <a:gd name="T98" fmla="*/ 101 w 540"/>
                          <a:gd name="T99" fmla="*/ 73 h 714"/>
                          <a:gd name="T100" fmla="*/ 94 w 540"/>
                          <a:gd name="T101" fmla="*/ 51 h 71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  <a:cxn ang="0">
                            <a:pos x="T78" y="T79"/>
                          </a:cxn>
                          <a:cxn ang="0">
                            <a:pos x="T80" y="T81"/>
                          </a:cxn>
                          <a:cxn ang="0">
                            <a:pos x="T82" y="T83"/>
                          </a:cxn>
                          <a:cxn ang="0">
                            <a:pos x="T84" y="T85"/>
                          </a:cxn>
                          <a:cxn ang="0">
                            <a:pos x="T86" y="T87"/>
                          </a:cxn>
                          <a:cxn ang="0">
                            <a:pos x="T88" y="T89"/>
                          </a:cxn>
                          <a:cxn ang="0">
                            <a:pos x="T90" y="T91"/>
                          </a:cxn>
                          <a:cxn ang="0">
                            <a:pos x="T92" y="T93"/>
                          </a:cxn>
                          <a:cxn ang="0">
                            <a:pos x="T94" y="T95"/>
                          </a:cxn>
                          <a:cxn ang="0">
                            <a:pos x="T96" y="T97"/>
                          </a:cxn>
                          <a:cxn ang="0">
                            <a:pos x="T98" y="T99"/>
                          </a:cxn>
                          <a:cxn ang="0">
                            <a:pos x="T100" y="T101"/>
                          </a:cxn>
                        </a:cxnLst>
                        <a:rect l="0" t="0" r="r" b="b"/>
                        <a:pathLst>
                          <a:path w="540" h="714">
                            <a:moveTo>
                              <a:pt x="71" y="71"/>
                            </a:moveTo>
                            <a:lnTo>
                              <a:pt x="60" y="80"/>
                            </a:lnTo>
                            <a:lnTo>
                              <a:pt x="54" y="88"/>
                            </a:lnTo>
                            <a:lnTo>
                              <a:pt x="50" y="99"/>
                            </a:lnTo>
                            <a:lnTo>
                              <a:pt x="49" y="109"/>
                            </a:lnTo>
                            <a:lnTo>
                              <a:pt x="49" y="120"/>
                            </a:lnTo>
                            <a:lnTo>
                              <a:pt x="32" y="125"/>
                            </a:lnTo>
                            <a:lnTo>
                              <a:pt x="20" y="133"/>
                            </a:lnTo>
                            <a:lnTo>
                              <a:pt x="12" y="141"/>
                            </a:lnTo>
                            <a:lnTo>
                              <a:pt x="7" y="151"/>
                            </a:lnTo>
                            <a:lnTo>
                              <a:pt x="5" y="165"/>
                            </a:lnTo>
                            <a:lnTo>
                              <a:pt x="0" y="175"/>
                            </a:lnTo>
                            <a:lnTo>
                              <a:pt x="5" y="186"/>
                            </a:lnTo>
                            <a:lnTo>
                              <a:pt x="8" y="197"/>
                            </a:lnTo>
                            <a:lnTo>
                              <a:pt x="12" y="207"/>
                            </a:lnTo>
                            <a:lnTo>
                              <a:pt x="18" y="217"/>
                            </a:lnTo>
                            <a:lnTo>
                              <a:pt x="13" y="199"/>
                            </a:lnTo>
                            <a:lnTo>
                              <a:pt x="11" y="186"/>
                            </a:lnTo>
                            <a:lnTo>
                              <a:pt x="11" y="173"/>
                            </a:lnTo>
                            <a:lnTo>
                              <a:pt x="13" y="160"/>
                            </a:lnTo>
                            <a:lnTo>
                              <a:pt x="18" y="148"/>
                            </a:lnTo>
                            <a:lnTo>
                              <a:pt x="24" y="141"/>
                            </a:lnTo>
                            <a:lnTo>
                              <a:pt x="32" y="136"/>
                            </a:lnTo>
                            <a:lnTo>
                              <a:pt x="39" y="133"/>
                            </a:lnTo>
                            <a:lnTo>
                              <a:pt x="49" y="129"/>
                            </a:lnTo>
                            <a:lnTo>
                              <a:pt x="34" y="139"/>
                            </a:lnTo>
                            <a:lnTo>
                              <a:pt x="27" y="146"/>
                            </a:lnTo>
                            <a:lnTo>
                              <a:pt x="22" y="155"/>
                            </a:lnTo>
                            <a:lnTo>
                              <a:pt x="20" y="162"/>
                            </a:lnTo>
                            <a:lnTo>
                              <a:pt x="20" y="175"/>
                            </a:lnTo>
                            <a:lnTo>
                              <a:pt x="24" y="162"/>
                            </a:lnTo>
                            <a:lnTo>
                              <a:pt x="28" y="152"/>
                            </a:lnTo>
                            <a:lnTo>
                              <a:pt x="37" y="145"/>
                            </a:lnTo>
                            <a:lnTo>
                              <a:pt x="46" y="140"/>
                            </a:lnTo>
                            <a:lnTo>
                              <a:pt x="55" y="138"/>
                            </a:lnTo>
                            <a:lnTo>
                              <a:pt x="44" y="144"/>
                            </a:lnTo>
                            <a:lnTo>
                              <a:pt x="38" y="150"/>
                            </a:lnTo>
                            <a:lnTo>
                              <a:pt x="32" y="160"/>
                            </a:lnTo>
                            <a:lnTo>
                              <a:pt x="30" y="170"/>
                            </a:lnTo>
                            <a:lnTo>
                              <a:pt x="28" y="181"/>
                            </a:lnTo>
                            <a:lnTo>
                              <a:pt x="28" y="191"/>
                            </a:lnTo>
                            <a:lnTo>
                              <a:pt x="30" y="198"/>
                            </a:lnTo>
                            <a:lnTo>
                              <a:pt x="33" y="207"/>
                            </a:lnTo>
                            <a:lnTo>
                              <a:pt x="38" y="217"/>
                            </a:lnTo>
                            <a:lnTo>
                              <a:pt x="51" y="237"/>
                            </a:lnTo>
                            <a:lnTo>
                              <a:pt x="40" y="214"/>
                            </a:lnTo>
                            <a:lnTo>
                              <a:pt x="36" y="204"/>
                            </a:lnTo>
                            <a:lnTo>
                              <a:pt x="33" y="194"/>
                            </a:lnTo>
                            <a:lnTo>
                              <a:pt x="34" y="183"/>
                            </a:lnTo>
                            <a:lnTo>
                              <a:pt x="36" y="173"/>
                            </a:lnTo>
                            <a:lnTo>
                              <a:pt x="37" y="165"/>
                            </a:lnTo>
                            <a:lnTo>
                              <a:pt x="44" y="154"/>
                            </a:lnTo>
                            <a:lnTo>
                              <a:pt x="56" y="145"/>
                            </a:lnTo>
                            <a:lnTo>
                              <a:pt x="60" y="148"/>
                            </a:lnTo>
                            <a:lnTo>
                              <a:pt x="54" y="156"/>
                            </a:lnTo>
                            <a:lnTo>
                              <a:pt x="50" y="164"/>
                            </a:lnTo>
                            <a:lnTo>
                              <a:pt x="49" y="172"/>
                            </a:lnTo>
                            <a:lnTo>
                              <a:pt x="50" y="182"/>
                            </a:lnTo>
                            <a:lnTo>
                              <a:pt x="52" y="192"/>
                            </a:lnTo>
                            <a:lnTo>
                              <a:pt x="57" y="203"/>
                            </a:lnTo>
                            <a:lnTo>
                              <a:pt x="64" y="215"/>
                            </a:lnTo>
                            <a:lnTo>
                              <a:pt x="75" y="232"/>
                            </a:lnTo>
                            <a:lnTo>
                              <a:pt x="86" y="246"/>
                            </a:lnTo>
                            <a:lnTo>
                              <a:pt x="69" y="218"/>
                            </a:lnTo>
                            <a:lnTo>
                              <a:pt x="63" y="204"/>
                            </a:lnTo>
                            <a:lnTo>
                              <a:pt x="60" y="193"/>
                            </a:lnTo>
                            <a:lnTo>
                              <a:pt x="62" y="183"/>
                            </a:lnTo>
                            <a:lnTo>
                              <a:pt x="63" y="169"/>
                            </a:lnTo>
                            <a:lnTo>
                              <a:pt x="68" y="156"/>
                            </a:lnTo>
                            <a:lnTo>
                              <a:pt x="71" y="159"/>
                            </a:lnTo>
                            <a:lnTo>
                              <a:pt x="70" y="167"/>
                            </a:lnTo>
                            <a:lnTo>
                              <a:pt x="70" y="181"/>
                            </a:lnTo>
                            <a:lnTo>
                              <a:pt x="71" y="191"/>
                            </a:lnTo>
                            <a:lnTo>
                              <a:pt x="75" y="203"/>
                            </a:lnTo>
                            <a:lnTo>
                              <a:pt x="79" y="214"/>
                            </a:lnTo>
                            <a:lnTo>
                              <a:pt x="87" y="225"/>
                            </a:lnTo>
                            <a:lnTo>
                              <a:pt x="97" y="237"/>
                            </a:lnTo>
                            <a:lnTo>
                              <a:pt x="85" y="215"/>
                            </a:lnTo>
                            <a:lnTo>
                              <a:pt x="80" y="203"/>
                            </a:lnTo>
                            <a:lnTo>
                              <a:pt x="77" y="190"/>
                            </a:lnTo>
                            <a:lnTo>
                              <a:pt x="77" y="172"/>
                            </a:lnTo>
                            <a:lnTo>
                              <a:pt x="80" y="162"/>
                            </a:lnTo>
                            <a:lnTo>
                              <a:pt x="86" y="167"/>
                            </a:lnTo>
                            <a:lnTo>
                              <a:pt x="87" y="183"/>
                            </a:lnTo>
                            <a:lnTo>
                              <a:pt x="89" y="198"/>
                            </a:lnTo>
                            <a:lnTo>
                              <a:pt x="94" y="211"/>
                            </a:lnTo>
                            <a:lnTo>
                              <a:pt x="99" y="223"/>
                            </a:lnTo>
                            <a:lnTo>
                              <a:pt x="106" y="237"/>
                            </a:lnTo>
                            <a:lnTo>
                              <a:pt x="100" y="218"/>
                            </a:lnTo>
                            <a:lnTo>
                              <a:pt x="97" y="207"/>
                            </a:lnTo>
                            <a:lnTo>
                              <a:pt x="94" y="198"/>
                            </a:lnTo>
                            <a:lnTo>
                              <a:pt x="93" y="187"/>
                            </a:lnTo>
                            <a:lnTo>
                              <a:pt x="99" y="207"/>
                            </a:lnTo>
                            <a:lnTo>
                              <a:pt x="104" y="218"/>
                            </a:lnTo>
                            <a:lnTo>
                              <a:pt x="111" y="228"/>
                            </a:lnTo>
                            <a:lnTo>
                              <a:pt x="119" y="240"/>
                            </a:lnTo>
                            <a:lnTo>
                              <a:pt x="129" y="253"/>
                            </a:lnTo>
                            <a:lnTo>
                              <a:pt x="140" y="261"/>
                            </a:lnTo>
                            <a:lnTo>
                              <a:pt x="148" y="267"/>
                            </a:lnTo>
                            <a:lnTo>
                              <a:pt x="134" y="253"/>
                            </a:lnTo>
                            <a:lnTo>
                              <a:pt x="124" y="240"/>
                            </a:lnTo>
                            <a:lnTo>
                              <a:pt x="116" y="227"/>
                            </a:lnTo>
                            <a:lnTo>
                              <a:pt x="108" y="211"/>
                            </a:lnTo>
                            <a:lnTo>
                              <a:pt x="104" y="197"/>
                            </a:lnTo>
                            <a:lnTo>
                              <a:pt x="101" y="185"/>
                            </a:lnTo>
                            <a:lnTo>
                              <a:pt x="104" y="173"/>
                            </a:lnTo>
                            <a:lnTo>
                              <a:pt x="111" y="173"/>
                            </a:lnTo>
                            <a:lnTo>
                              <a:pt x="111" y="187"/>
                            </a:lnTo>
                            <a:lnTo>
                              <a:pt x="112" y="198"/>
                            </a:lnTo>
                            <a:lnTo>
                              <a:pt x="117" y="212"/>
                            </a:lnTo>
                            <a:lnTo>
                              <a:pt x="122" y="224"/>
                            </a:lnTo>
                            <a:lnTo>
                              <a:pt x="132" y="239"/>
                            </a:lnTo>
                            <a:lnTo>
                              <a:pt x="126" y="224"/>
                            </a:lnTo>
                            <a:lnTo>
                              <a:pt x="120" y="211"/>
                            </a:lnTo>
                            <a:lnTo>
                              <a:pt x="118" y="201"/>
                            </a:lnTo>
                            <a:lnTo>
                              <a:pt x="117" y="188"/>
                            </a:lnTo>
                            <a:lnTo>
                              <a:pt x="119" y="176"/>
                            </a:lnTo>
                            <a:lnTo>
                              <a:pt x="137" y="175"/>
                            </a:lnTo>
                            <a:lnTo>
                              <a:pt x="143" y="188"/>
                            </a:lnTo>
                            <a:lnTo>
                              <a:pt x="149" y="199"/>
                            </a:lnTo>
                            <a:lnTo>
                              <a:pt x="154" y="209"/>
                            </a:lnTo>
                            <a:lnTo>
                              <a:pt x="178" y="244"/>
                            </a:lnTo>
                            <a:lnTo>
                              <a:pt x="162" y="212"/>
                            </a:lnTo>
                            <a:lnTo>
                              <a:pt x="157" y="202"/>
                            </a:lnTo>
                            <a:lnTo>
                              <a:pt x="153" y="187"/>
                            </a:lnTo>
                            <a:lnTo>
                              <a:pt x="149" y="172"/>
                            </a:lnTo>
                            <a:lnTo>
                              <a:pt x="154" y="175"/>
                            </a:lnTo>
                            <a:lnTo>
                              <a:pt x="162" y="196"/>
                            </a:lnTo>
                            <a:lnTo>
                              <a:pt x="167" y="207"/>
                            </a:lnTo>
                            <a:lnTo>
                              <a:pt x="175" y="220"/>
                            </a:lnTo>
                            <a:lnTo>
                              <a:pt x="189" y="232"/>
                            </a:lnTo>
                            <a:lnTo>
                              <a:pt x="206" y="239"/>
                            </a:lnTo>
                            <a:lnTo>
                              <a:pt x="190" y="224"/>
                            </a:lnTo>
                            <a:lnTo>
                              <a:pt x="181" y="213"/>
                            </a:lnTo>
                            <a:lnTo>
                              <a:pt x="175" y="203"/>
                            </a:lnTo>
                            <a:lnTo>
                              <a:pt x="172" y="191"/>
                            </a:lnTo>
                            <a:lnTo>
                              <a:pt x="171" y="176"/>
                            </a:lnTo>
                            <a:lnTo>
                              <a:pt x="180" y="172"/>
                            </a:lnTo>
                            <a:lnTo>
                              <a:pt x="180" y="186"/>
                            </a:lnTo>
                            <a:lnTo>
                              <a:pt x="185" y="201"/>
                            </a:lnTo>
                            <a:lnTo>
                              <a:pt x="190" y="211"/>
                            </a:lnTo>
                            <a:lnTo>
                              <a:pt x="208" y="228"/>
                            </a:lnTo>
                            <a:lnTo>
                              <a:pt x="199" y="218"/>
                            </a:lnTo>
                            <a:lnTo>
                              <a:pt x="193" y="206"/>
                            </a:lnTo>
                            <a:lnTo>
                              <a:pt x="192" y="194"/>
                            </a:lnTo>
                            <a:lnTo>
                              <a:pt x="191" y="181"/>
                            </a:lnTo>
                            <a:lnTo>
                              <a:pt x="193" y="170"/>
                            </a:lnTo>
                            <a:lnTo>
                              <a:pt x="198" y="166"/>
                            </a:lnTo>
                            <a:lnTo>
                              <a:pt x="211" y="164"/>
                            </a:lnTo>
                            <a:lnTo>
                              <a:pt x="224" y="159"/>
                            </a:lnTo>
                            <a:lnTo>
                              <a:pt x="241" y="144"/>
                            </a:lnTo>
                            <a:lnTo>
                              <a:pt x="223" y="176"/>
                            </a:lnTo>
                            <a:lnTo>
                              <a:pt x="226" y="193"/>
                            </a:lnTo>
                            <a:lnTo>
                              <a:pt x="233" y="211"/>
                            </a:lnTo>
                            <a:lnTo>
                              <a:pt x="242" y="224"/>
                            </a:lnTo>
                            <a:lnTo>
                              <a:pt x="259" y="241"/>
                            </a:lnTo>
                            <a:lnTo>
                              <a:pt x="283" y="258"/>
                            </a:lnTo>
                            <a:lnTo>
                              <a:pt x="314" y="282"/>
                            </a:lnTo>
                            <a:lnTo>
                              <a:pt x="346" y="322"/>
                            </a:lnTo>
                            <a:lnTo>
                              <a:pt x="346" y="343"/>
                            </a:lnTo>
                            <a:lnTo>
                              <a:pt x="347" y="355"/>
                            </a:lnTo>
                            <a:lnTo>
                              <a:pt x="356" y="363"/>
                            </a:lnTo>
                            <a:lnTo>
                              <a:pt x="367" y="365"/>
                            </a:lnTo>
                            <a:lnTo>
                              <a:pt x="371" y="358"/>
                            </a:lnTo>
                            <a:lnTo>
                              <a:pt x="376" y="345"/>
                            </a:lnTo>
                            <a:lnTo>
                              <a:pt x="375" y="332"/>
                            </a:lnTo>
                            <a:lnTo>
                              <a:pt x="375" y="319"/>
                            </a:lnTo>
                            <a:lnTo>
                              <a:pt x="376" y="303"/>
                            </a:lnTo>
                            <a:lnTo>
                              <a:pt x="381" y="293"/>
                            </a:lnTo>
                            <a:lnTo>
                              <a:pt x="389" y="288"/>
                            </a:lnTo>
                            <a:lnTo>
                              <a:pt x="399" y="288"/>
                            </a:lnTo>
                            <a:lnTo>
                              <a:pt x="412" y="296"/>
                            </a:lnTo>
                            <a:lnTo>
                              <a:pt x="422" y="311"/>
                            </a:lnTo>
                            <a:lnTo>
                              <a:pt x="425" y="326"/>
                            </a:lnTo>
                            <a:lnTo>
                              <a:pt x="426" y="345"/>
                            </a:lnTo>
                            <a:lnTo>
                              <a:pt x="425" y="364"/>
                            </a:lnTo>
                            <a:lnTo>
                              <a:pt x="423" y="387"/>
                            </a:lnTo>
                            <a:lnTo>
                              <a:pt x="411" y="429"/>
                            </a:lnTo>
                            <a:lnTo>
                              <a:pt x="356" y="492"/>
                            </a:lnTo>
                            <a:lnTo>
                              <a:pt x="353" y="516"/>
                            </a:lnTo>
                            <a:lnTo>
                              <a:pt x="357" y="569"/>
                            </a:lnTo>
                            <a:lnTo>
                              <a:pt x="358" y="600"/>
                            </a:lnTo>
                            <a:lnTo>
                              <a:pt x="350" y="616"/>
                            </a:lnTo>
                            <a:lnTo>
                              <a:pt x="343" y="632"/>
                            </a:lnTo>
                            <a:lnTo>
                              <a:pt x="339" y="644"/>
                            </a:lnTo>
                            <a:lnTo>
                              <a:pt x="337" y="664"/>
                            </a:lnTo>
                            <a:lnTo>
                              <a:pt x="342" y="679"/>
                            </a:lnTo>
                            <a:lnTo>
                              <a:pt x="353" y="695"/>
                            </a:lnTo>
                            <a:lnTo>
                              <a:pt x="371" y="705"/>
                            </a:lnTo>
                            <a:lnTo>
                              <a:pt x="393" y="706"/>
                            </a:lnTo>
                            <a:lnTo>
                              <a:pt x="407" y="710"/>
                            </a:lnTo>
                            <a:lnTo>
                              <a:pt x="428" y="714"/>
                            </a:lnTo>
                            <a:lnTo>
                              <a:pt x="447" y="711"/>
                            </a:lnTo>
                            <a:lnTo>
                              <a:pt x="462" y="708"/>
                            </a:lnTo>
                            <a:lnTo>
                              <a:pt x="480" y="700"/>
                            </a:lnTo>
                            <a:lnTo>
                              <a:pt x="493" y="690"/>
                            </a:lnTo>
                            <a:lnTo>
                              <a:pt x="503" y="675"/>
                            </a:lnTo>
                            <a:lnTo>
                              <a:pt x="511" y="662"/>
                            </a:lnTo>
                            <a:lnTo>
                              <a:pt x="517" y="644"/>
                            </a:lnTo>
                            <a:lnTo>
                              <a:pt x="518" y="605"/>
                            </a:lnTo>
                            <a:lnTo>
                              <a:pt x="526" y="598"/>
                            </a:lnTo>
                            <a:lnTo>
                              <a:pt x="534" y="585"/>
                            </a:lnTo>
                            <a:lnTo>
                              <a:pt x="536" y="572"/>
                            </a:lnTo>
                            <a:lnTo>
                              <a:pt x="540" y="549"/>
                            </a:lnTo>
                            <a:lnTo>
                              <a:pt x="536" y="527"/>
                            </a:lnTo>
                            <a:lnTo>
                              <a:pt x="532" y="511"/>
                            </a:lnTo>
                            <a:lnTo>
                              <a:pt x="524" y="501"/>
                            </a:lnTo>
                            <a:lnTo>
                              <a:pt x="510" y="476"/>
                            </a:lnTo>
                            <a:lnTo>
                              <a:pt x="496" y="455"/>
                            </a:lnTo>
                            <a:lnTo>
                              <a:pt x="484" y="424"/>
                            </a:lnTo>
                            <a:lnTo>
                              <a:pt x="485" y="347"/>
                            </a:lnTo>
                            <a:lnTo>
                              <a:pt x="490" y="316"/>
                            </a:lnTo>
                            <a:lnTo>
                              <a:pt x="494" y="281"/>
                            </a:lnTo>
                            <a:lnTo>
                              <a:pt x="494" y="259"/>
                            </a:lnTo>
                            <a:lnTo>
                              <a:pt x="493" y="232"/>
                            </a:lnTo>
                            <a:lnTo>
                              <a:pt x="488" y="207"/>
                            </a:lnTo>
                            <a:lnTo>
                              <a:pt x="486" y="186"/>
                            </a:lnTo>
                            <a:lnTo>
                              <a:pt x="480" y="162"/>
                            </a:lnTo>
                            <a:lnTo>
                              <a:pt x="465" y="117"/>
                            </a:lnTo>
                            <a:lnTo>
                              <a:pt x="451" y="89"/>
                            </a:lnTo>
                            <a:lnTo>
                              <a:pt x="418" y="54"/>
                            </a:lnTo>
                            <a:lnTo>
                              <a:pt x="399" y="46"/>
                            </a:lnTo>
                            <a:lnTo>
                              <a:pt x="399" y="36"/>
                            </a:lnTo>
                            <a:lnTo>
                              <a:pt x="393" y="28"/>
                            </a:lnTo>
                            <a:lnTo>
                              <a:pt x="386" y="20"/>
                            </a:lnTo>
                            <a:lnTo>
                              <a:pt x="374" y="14"/>
                            </a:lnTo>
                            <a:lnTo>
                              <a:pt x="359" y="9"/>
                            </a:lnTo>
                            <a:lnTo>
                              <a:pt x="343" y="5"/>
                            </a:lnTo>
                            <a:lnTo>
                              <a:pt x="328" y="3"/>
                            </a:lnTo>
                            <a:lnTo>
                              <a:pt x="300" y="0"/>
                            </a:lnTo>
                            <a:lnTo>
                              <a:pt x="279" y="0"/>
                            </a:lnTo>
                            <a:lnTo>
                              <a:pt x="250" y="3"/>
                            </a:lnTo>
                            <a:lnTo>
                              <a:pt x="233" y="8"/>
                            </a:lnTo>
                            <a:lnTo>
                              <a:pt x="218" y="14"/>
                            </a:lnTo>
                            <a:lnTo>
                              <a:pt x="204" y="23"/>
                            </a:lnTo>
                            <a:lnTo>
                              <a:pt x="192" y="30"/>
                            </a:lnTo>
                            <a:lnTo>
                              <a:pt x="178" y="42"/>
                            </a:lnTo>
                            <a:lnTo>
                              <a:pt x="166" y="54"/>
                            </a:lnTo>
                            <a:lnTo>
                              <a:pt x="156" y="58"/>
                            </a:lnTo>
                            <a:lnTo>
                              <a:pt x="146" y="61"/>
                            </a:lnTo>
                            <a:lnTo>
                              <a:pt x="138" y="61"/>
                            </a:lnTo>
                            <a:lnTo>
                              <a:pt x="131" y="57"/>
                            </a:lnTo>
                            <a:lnTo>
                              <a:pt x="126" y="47"/>
                            </a:lnTo>
                            <a:lnTo>
                              <a:pt x="125" y="57"/>
                            </a:lnTo>
                            <a:lnTo>
                              <a:pt x="125" y="66"/>
                            </a:lnTo>
                            <a:lnTo>
                              <a:pt x="118" y="65"/>
                            </a:lnTo>
                            <a:lnTo>
                              <a:pt x="111" y="61"/>
                            </a:lnTo>
                            <a:lnTo>
                              <a:pt x="116" y="70"/>
                            </a:lnTo>
                            <a:lnTo>
                              <a:pt x="108" y="76"/>
                            </a:lnTo>
                            <a:lnTo>
                              <a:pt x="101" y="73"/>
                            </a:lnTo>
                            <a:lnTo>
                              <a:pt x="98" y="70"/>
                            </a:lnTo>
                            <a:lnTo>
                              <a:pt x="95" y="63"/>
                            </a:lnTo>
                            <a:lnTo>
                              <a:pt x="98" y="55"/>
                            </a:lnTo>
                            <a:lnTo>
                              <a:pt x="106" y="49"/>
                            </a:lnTo>
                            <a:lnTo>
                              <a:pt x="94" y="51"/>
                            </a:lnTo>
                            <a:lnTo>
                              <a:pt x="83" y="55"/>
                            </a:lnTo>
                            <a:lnTo>
                              <a:pt x="76" y="62"/>
                            </a:lnTo>
                            <a:lnTo>
                              <a:pt x="71" y="71"/>
                            </a:lnTo>
                            <a:close/>
                          </a:path>
                        </a:pathLst>
                      </a:custGeom>
                      <a:solidFill>
                        <a:srgbClr val="7F3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sp>
                  <p:nvSpPr>
                    <p:cNvPr id="371" name="Freeform 185"/>
                    <p:cNvSpPr/>
                    <p:nvPr/>
                  </p:nvSpPr>
                  <p:spPr bwMode="auto">
                    <a:xfrm>
                      <a:off x="5241" y="2293"/>
                      <a:ext cx="41" cy="106"/>
                    </a:xfrm>
                    <a:custGeom>
                      <a:avLst/>
                      <a:gdLst>
                        <a:gd name="T0" fmla="*/ 26 w 245"/>
                        <a:gd name="T1" fmla="*/ 32 h 529"/>
                        <a:gd name="T2" fmla="*/ 0 w 245"/>
                        <a:gd name="T3" fmla="*/ 0 h 529"/>
                        <a:gd name="T4" fmla="*/ 10 w 245"/>
                        <a:gd name="T5" fmla="*/ 34 h 529"/>
                        <a:gd name="T6" fmla="*/ 36 w 245"/>
                        <a:gd name="T7" fmla="*/ 64 h 529"/>
                        <a:gd name="T8" fmla="*/ 92 w 245"/>
                        <a:gd name="T9" fmla="*/ 105 h 529"/>
                        <a:gd name="T10" fmla="*/ 124 w 245"/>
                        <a:gd name="T11" fmla="*/ 167 h 529"/>
                        <a:gd name="T12" fmla="*/ 134 w 245"/>
                        <a:gd name="T13" fmla="*/ 187 h 529"/>
                        <a:gd name="T14" fmla="*/ 149 w 245"/>
                        <a:gd name="T15" fmla="*/ 182 h 529"/>
                        <a:gd name="T16" fmla="*/ 153 w 245"/>
                        <a:gd name="T17" fmla="*/ 156 h 529"/>
                        <a:gd name="T18" fmla="*/ 154 w 245"/>
                        <a:gd name="T19" fmla="*/ 126 h 529"/>
                        <a:gd name="T20" fmla="*/ 167 w 245"/>
                        <a:gd name="T21" fmla="*/ 111 h 529"/>
                        <a:gd name="T22" fmla="*/ 190 w 245"/>
                        <a:gd name="T23" fmla="*/ 119 h 529"/>
                        <a:gd name="T24" fmla="*/ 203 w 245"/>
                        <a:gd name="T25" fmla="*/ 150 h 529"/>
                        <a:gd name="T26" fmla="*/ 203 w 245"/>
                        <a:gd name="T27" fmla="*/ 188 h 529"/>
                        <a:gd name="T28" fmla="*/ 189 w 245"/>
                        <a:gd name="T29" fmla="*/ 254 h 529"/>
                        <a:gd name="T30" fmla="*/ 131 w 245"/>
                        <a:gd name="T31" fmla="*/ 340 h 529"/>
                        <a:gd name="T32" fmla="*/ 136 w 245"/>
                        <a:gd name="T33" fmla="*/ 424 h 529"/>
                        <a:gd name="T34" fmla="*/ 121 w 245"/>
                        <a:gd name="T35" fmla="*/ 456 h 529"/>
                        <a:gd name="T36" fmla="*/ 115 w 245"/>
                        <a:gd name="T37" fmla="*/ 488 h 529"/>
                        <a:gd name="T38" fmla="*/ 131 w 245"/>
                        <a:gd name="T39" fmla="*/ 519 h 529"/>
                        <a:gd name="T40" fmla="*/ 167 w 245"/>
                        <a:gd name="T41" fmla="*/ 528 h 529"/>
                        <a:gd name="T42" fmla="*/ 177 w 245"/>
                        <a:gd name="T43" fmla="*/ 503 h 529"/>
                        <a:gd name="T44" fmla="*/ 159 w 245"/>
                        <a:gd name="T45" fmla="*/ 461 h 529"/>
                        <a:gd name="T46" fmla="*/ 196 w 245"/>
                        <a:gd name="T47" fmla="*/ 486 h 529"/>
                        <a:gd name="T48" fmla="*/ 243 w 245"/>
                        <a:gd name="T49" fmla="*/ 491 h 529"/>
                        <a:gd name="T50" fmla="*/ 200 w 245"/>
                        <a:gd name="T51" fmla="*/ 461 h 529"/>
                        <a:gd name="T52" fmla="*/ 166 w 245"/>
                        <a:gd name="T53" fmla="*/ 432 h 529"/>
                        <a:gd name="T54" fmla="*/ 169 w 245"/>
                        <a:gd name="T55" fmla="*/ 401 h 529"/>
                        <a:gd name="T56" fmla="*/ 206 w 245"/>
                        <a:gd name="T57" fmla="*/ 428 h 529"/>
                        <a:gd name="T58" fmla="*/ 173 w 245"/>
                        <a:gd name="T59" fmla="*/ 380 h 529"/>
                        <a:gd name="T60" fmla="*/ 212 w 245"/>
                        <a:gd name="T61" fmla="*/ 412 h 529"/>
                        <a:gd name="T62" fmla="*/ 222 w 245"/>
                        <a:gd name="T63" fmla="*/ 408 h 529"/>
                        <a:gd name="T64" fmla="*/ 197 w 245"/>
                        <a:gd name="T65" fmla="*/ 366 h 529"/>
                        <a:gd name="T66" fmla="*/ 192 w 245"/>
                        <a:gd name="T67" fmla="*/ 333 h 529"/>
                        <a:gd name="T68" fmla="*/ 200 w 245"/>
                        <a:gd name="T69" fmla="*/ 283 h 529"/>
                        <a:gd name="T70" fmla="*/ 234 w 245"/>
                        <a:gd name="T71" fmla="*/ 334 h 529"/>
                        <a:gd name="T72" fmla="*/ 209 w 245"/>
                        <a:gd name="T73" fmla="*/ 275 h 529"/>
                        <a:gd name="T74" fmla="*/ 245 w 245"/>
                        <a:gd name="T75" fmla="*/ 303 h 529"/>
                        <a:gd name="T76" fmla="*/ 225 w 245"/>
                        <a:gd name="T77" fmla="*/ 246 h 529"/>
                        <a:gd name="T78" fmla="*/ 212 w 245"/>
                        <a:gd name="T79" fmla="*/ 200 h 529"/>
                        <a:gd name="T80" fmla="*/ 209 w 245"/>
                        <a:gd name="T81" fmla="*/ 120 h 529"/>
                        <a:gd name="T82" fmla="*/ 186 w 245"/>
                        <a:gd name="T83" fmla="*/ 92 h 529"/>
                        <a:gd name="T84" fmla="*/ 141 w 245"/>
                        <a:gd name="T85" fmla="*/ 78 h 529"/>
                        <a:gd name="T86" fmla="*/ 130 w 245"/>
                        <a:gd name="T87" fmla="*/ 77 h 529"/>
                        <a:gd name="T88" fmla="*/ 104 w 245"/>
                        <a:gd name="T89" fmla="*/ 61 h 529"/>
                        <a:gd name="T90" fmla="*/ 94 w 245"/>
                        <a:gd name="T91" fmla="*/ 77 h 529"/>
                        <a:gd name="T92" fmla="*/ 88 w 245"/>
                        <a:gd name="T93" fmla="*/ 89 h 529"/>
                        <a:gd name="T94" fmla="*/ 55 w 245"/>
                        <a:gd name="T95" fmla="*/ 42 h 529"/>
                        <a:gd name="T96" fmla="*/ 43 w 245"/>
                        <a:gd name="T97" fmla="*/ 40 h 5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</a:cxnLst>
                      <a:rect l="0" t="0" r="r" b="b"/>
                      <a:pathLst>
                        <a:path w="245" h="529">
                          <a:moveTo>
                            <a:pt x="43" y="40"/>
                          </a:moveTo>
                          <a:lnTo>
                            <a:pt x="26" y="32"/>
                          </a:lnTo>
                          <a:lnTo>
                            <a:pt x="18" y="21"/>
                          </a:lnTo>
                          <a:lnTo>
                            <a:pt x="0" y="0"/>
                          </a:lnTo>
                          <a:lnTo>
                            <a:pt x="2" y="16"/>
                          </a:lnTo>
                          <a:lnTo>
                            <a:pt x="10" y="34"/>
                          </a:lnTo>
                          <a:lnTo>
                            <a:pt x="19" y="47"/>
                          </a:lnTo>
                          <a:lnTo>
                            <a:pt x="36" y="64"/>
                          </a:lnTo>
                          <a:lnTo>
                            <a:pt x="60" y="81"/>
                          </a:lnTo>
                          <a:lnTo>
                            <a:pt x="92" y="105"/>
                          </a:lnTo>
                          <a:lnTo>
                            <a:pt x="124" y="146"/>
                          </a:lnTo>
                          <a:lnTo>
                            <a:pt x="124" y="167"/>
                          </a:lnTo>
                          <a:lnTo>
                            <a:pt x="125" y="179"/>
                          </a:lnTo>
                          <a:lnTo>
                            <a:pt x="134" y="187"/>
                          </a:lnTo>
                          <a:lnTo>
                            <a:pt x="145" y="189"/>
                          </a:lnTo>
                          <a:lnTo>
                            <a:pt x="149" y="182"/>
                          </a:lnTo>
                          <a:lnTo>
                            <a:pt x="154" y="170"/>
                          </a:lnTo>
                          <a:lnTo>
                            <a:pt x="153" y="156"/>
                          </a:lnTo>
                          <a:lnTo>
                            <a:pt x="153" y="144"/>
                          </a:lnTo>
                          <a:lnTo>
                            <a:pt x="154" y="126"/>
                          </a:lnTo>
                          <a:lnTo>
                            <a:pt x="159" y="116"/>
                          </a:lnTo>
                          <a:lnTo>
                            <a:pt x="167" y="111"/>
                          </a:lnTo>
                          <a:lnTo>
                            <a:pt x="177" y="111"/>
                          </a:lnTo>
                          <a:lnTo>
                            <a:pt x="190" y="119"/>
                          </a:lnTo>
                          <a:lnTo>
                            <a:pt x="200" y="135"/>
                          </a:lnTo>
                          <a:lnTo>
                            <a:pt x="203" y="150"/>
                          </a:lnTo>
                          <a:lnTo>
                            <a:pt x="204" y="170"/>
                          </a:lnTo>
                          <a:lnTo>
                            <a:pt x="203" y="188"/>
                          </a:lnTo>
                          <a:lnTo>
                            <a:pt x="201" y="212"/>
                          </a:lnTo>
                          <a:lnTo>
                            <a:pt x="189" y="254"/>
                          </a:lnTo>
                          <a:lnTo>
                            <a:pt x="134" y="317"/>
                          </a:lnTo>
                          <a:lnTo>
                            <a:pt x="131" y="340"/>
                          </a:lnTo>
                          <a:lnTo>
                            <a:pt x="135" y="392"/>
                          </a:lnTo>
                          <a:lnTo>
                            <a:pt x="136" y="424"/>
                          </a:lnTo>
                          <a:lnTo>
                            <a:pt x="128" y="440"/>
                          </a:lnTo>
                          <a:lnTo>
                            <a:pt x="121" y="456"/>
                          </a:lnTo>
                          <a:lnTo>
                            <a:pt x="117" y="469"/>
                          </a:lnTo>
                          <a:lnTo>
                            <a:pt x="115" y="488"/>
                          </a:lnTo>
                          <a:lnTo>
                            <a:pt x="120" y="503"/>
                          </a:lnTo>
                          <a:lnTo>
                            <a:pt x="131" y="519"/>
                          </a:lnTo>
                          <a:lnTo>
                            <a:pt x="149" y="529"/>
                          </a:lnTo>
                          <a:lnTo>
                            <a:pt x="167" y="528"/>
                          </a:lnTo>
                          <a:lnTo>
                            <a:pt x="178" y="519"/>
                          </a:lnTo>
                          <a:lnTo>
                            <a:pt x="177" y="503"/>
                          </a:lnTo>
                          <a:lnTo>
                            <a:pt x="167" y="485"/>
                          </a:lnTo>
                          <a:lnTo>
                            <a:pt x="159" y="461"/>
                          </a:lnTo>
                          <a:lnTo>
                            <a:pt x="179" y="481"/>
                          </a:lnTo>
                          <a:lnTo>
                            <a:pt x="196" y="486"/>
                          </a:lnTo>
                          <a:lnTo>
                            <a:pt x="217" y="490"/>
                          </a:lnTo>
                          <a:lnTo>
                            <a:pt x="243" y="491"/>
                          </a:lnTo>
                          <a:lnTo>
                            <a:pt x="227" y="481"/>
                          </a:lnTo>
                          <a:lnTo>
                            <a:pt x="200" y="461"/>
                          </a:lnTo>
                          <a:lnTo>
                            <a:pt x="179" y="450"/>
                          </a:lnTo>
                          <a:lnTo>
                            <a:pt x="166" y="432"/>
                          </a:lnTo>
                          <a:lnTo>
                            <a:pt x="163" y="411"/>
                          </a:lnTo>
                          <a:lnTo>
                            <a:pt x="169" y="401"/>
                          </a:lnTo>
                          <a:lnTo>
                            <a:pt x="189" y="421"/>
                          </a:lnTo>
                          <a:lnTo>
                            <a:pt x="206" y="428"/>
                          </a:lnTo>
                          <a:lnTo>
                            <a:pt x="179" y="401"/>
                          </a:lnTo>
                          <a:lnTo>
                            <a:pt x="173" y="380"/>
                          </a:lnTo>
                          <a:lnTo>
                            <a:pt x="188" y="387"/>
                          </a:lnTo>
                          <a:lnTo>
                            <a:pt x="212" y="412"/>
                          </a:lnTo>
                          <a:lnTo>
                            <a:pt x="228" y="418"/>
                          </a:lnTo>
                          <a:lnTo>
                            <a:pt x="222" y="408"/>
                          </a:lnTo>
                          <a:lnTo>
                            <a:pt x="202" y="378"/>
                          </a:lnTo>
                          <a:lnTo>
                            <a:pt x="197" y="366"/>
                          </a:lnTo>
                          <a:lnTo>
                            <a:pt x="191" y="349"/>
                          </a:lnTo>
                          <a:lnTo>
                            <a:pt x="192" y="333"/>
                          </a:lnTo>
                          <a:lnTo>
                            <a:pt x="191" y="312"/>
                          </a:lnTo>
                          <a:lnTo>
                            <a:pt x="200" y="283"/>
                          </a:lnTo>
                          <a:lnTo>
                            <a:pt x="215" y="322"/>
                          </a:lnTo>
                          <a:lnTo>
                            <a:pt x="234" y="334"/>
                          </a:lnTo>
                          <a:lnTo>
                            <a:pt x="221" y="315"/>
                          </a:lnTo>
                          <a:lnTo>
                            <a:pt x="209" y="275"/>
                          </a:lnTo>
                          <a:lnTo>
                            <a:pt x="226" y="289"/>
                          </a:lnTo>
                          <a:lnTo>
                            <a:pt x="245" y="303"/>
                          </a:lnTo>
                          <a:lnTo>
                            <a:pt x="233" y="276"/>
                          </a:lnTo>
                          <a:lnTo>
                            <a:pt x="225" y="246"/>
                          </a:lnTo>
                          <a:lnTo>
                            <a:pt x="216" y="218"/>
                          </a:lnTo>
                          <a:lnTo>
                            <a:pt x="212" y="200"/>
                          </a:lnTo>
                          <a:lnTo>
                            <a:pt x="212" y="155"/>
                          </a:lnTo>
                          <a:lnTo>
                            <a:pt x="209" y="120"/>
                          </a:lnTo>
                          <a:lnTo>
                            <a:pt x="204" y="102"/>
                          </a:lnTo>
                          <a:lnTo>
                            <a:pt x="186" y="92"/>
                          </a:lnTo>
                          <a:lnTo>
                            <a:pt x="163" y="93"/>
                          </a:lnTo>
                          <a:lnTo>
                            <a:pt x="141" y="78"/>
                          </a:lnTo>
                          <a:lnTo>
                            <a:pt x="116" y="56"/>
                          </a:lnTo>
                          <a:lnTo>
                            <a:pt x="130" y="77"/>
                          </a:lnTo>
                          <a:lnTo>
                            <a:pt x="146" y="102"/>
                          </a:lnTo>
                          <a:lnTo>
                            <a:pt x="104" y="61"/>
                          </a:lnTo>
                          <a:lnTo>
                            <a:pt x="118" y="93"/>
                          </a:lnTo>
                          <a:lnTo>
                            <a:pt x="94" y="77"/>
                          </a:lnTo>
                          <a:lnTo>
                            <a:pt x="114" y="105"/>
                          </a:lnTo>
                          <a:lnTo>
                            <a:pt x="88" y="89"/>
                          </a:lnTo>
                          <a:lnTo>
                            <a:pt x="73" y="66"/>
                          </a:lnTo>
                          <a:lnTo>
                            <a:pt x="55" y="42"/>
                          </a:lnTo>
                          <a:lnTo>
                            <a:pt x="36" y="14"/>
                          </a:lnTo>
                          <a:lnTo>
                            <a:pt x="43" y="40"/>
                          </a:lnTo>
                          <a:close/>
                        </a:path>
                      </a:pathLst>
                    </a:custGeom>
                    <a:solidFill>
                      <a:srgbClr val="5F3F1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336" name="Group 186"/>
                  <p:cNvGrpSpPr/>
                  <p:nvPr/>
                </p:nvGrpSpPr>
                <p:grpSpPr bwMode="auto">
                  <a:xfrm>
                    <a:off x="5214" y="2316"/>
                    <a:ext cx="35" cy="53"/>
                    <a:chOff x="5214" y="2316"/>
                    <a:chExt cx="35" cy="53"/>
                  </a:xfrm>
                </p:grpSpPr>
                <p:grpSp>
                  <p:nvGrpSpPr>
                    <p:cNvPr id="340" name="Group 187"/>
                    <p:cNvGrpSpPr/>
                    <p:nvPr/>
                  </p:nvGrpSpPr>
                  <p:grpSpPr bwMode="auto">
                    <a:xfrm>
                      <a:off x="5217" y="2320"/>
                      <a:ext cx="21" cy="37"/>
                      <a:chOff x="5217" y="2320"/>
                      <a:chExt cx="21" cy="37"/>
                    </a:xfrm>
                  </p:grpSpPr>
                  <p:sp>
                    <p:nvSpPr>
                      <p:cNvPr id="367" name="Freeform 188"/>
                      <p:cNvSpPr/>
                      <p:nvPr/>
                    </p:nvSpPr>
                    <p:spPr bwMode="auto">
                      <a:xfrm>
                        <a:off x="5217" y="2321"/>
                        <a:ext cx="7" cy="20"/>
                      </a:xfrm>
                      <a:custGeom>
                        <a:avLst/>
                        <a:gdLst>
                          <a:gd name="T0" fmla="*/ 28 w 45"/>
                          <a:gd name="T1" fmla="*/ 0 h 103"/>
                          <a:gd name="T2" fmla="*/ 29 w 45"/>
                          <a:gd name="T3" fmla="*/ 10 h 103"/>
                          <a:gd name="T4" fmla="*/ 24 w 45"/>
                          <a:gd name="T5" fmla="*/ 19 h 103"/>
                          <a:gd name="T6" fmla="*/ 19 w 45"/>
                          <a:gd name="T7" fmla="*/ 23 h 103"/>
                          <a:gd name="T8" fmla="*/ 0 w 45"/>
                          <a:gd name="T9" fmla="*/ 25 h 103"/>
                          <a:gd name="T10" fmla="*/ 19 w 45"/>
                          <a:gd name="T11" fmla="*/ 28 h 103"/>
                          <a:gd name="T12" fmla="*/ 31 w 45"/>
                          <a:gd name="T13" fmla="*/ 30 h 103"/>
                          <a:gd name="T14" fmla="*/ 38 w 45"/>
                          <a:gd name="T15" fmla="*/ 37 h 103"/>
                          <a:gd name="T16" fmla="*/ 41 w 45"/>
                          <a:gd name="T17" fmla="*/ 47 h 103"/>
                          <a:gd name="T18" fmla="*/ 44 w 45"/>
                          <a:gd name="T19" fmla="*/ 65 h 103"/>
                          <a:gd name="T20" fmla="*/ 42 w 45"/>
                          <a:gd name="T21" fmla="*/ 103 h 103"/>
                          <a:gd name="T22" fmla="*/ 45 w 45"/>
                          <a:gd name="T23" fmla="*/ 57 h 103"/>
                          <a:gd name="T24" fmla="*/ 44 w 45"/>
                          <a:gd name="T25" fmla="*/ 37 h 103"/>
                          <a:gd name="T26" fmla="*/ 44 w 45"/>
                          <a:gd name="T27" fmla="*/ 18 h 103"/>
                          <a:gd name="T28" fmla="*/ 42 w 45"/>
                          <a:gd name="T29" fmla="*/ 7 h 103"/>
                          <a:gd name="T30" fmla="*/ 28 w 45"/>
                          <a:gd name="T31" fmla="*/ 0 h 10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</a:cxnLst>
                        <a:rect l="0" t="0" r="r" b="b"/>
                        <a:pathLst>
                          <a:path w="45" h="103">
                            <a:moveTo>
                              <a:pt x="28" y="0"/>
                            </a:moveTo>
                            <a:lnTo>
                              <a:pt x="29" y="10"/>
                            </a:lnTo>
                            <a:lnTo>
                              <a:pt x="24" y="19"/>
                            </a:lnTo>
                            <a:lnTo>
                              <a:pt x="19" y="23"/>
                            </a:lnTo>
                            <a:lnTo>
                              <a:pt x="0" y="25"/>
                            </a:lnTo>
                            <a:lnTo>
                              <a:pt x="19" y="28"/>
                            </a:lnTo>
                            <a:lnTo>
                              <a:pt x="31" y="30"/>
                            </a:lnTo>
                            <a:lnTo>
                              <a:pt x="38" y="37"/>
                            </a:lnTo>
                            <a:lnTo>
                              <a:pt x="41" y="47"/>
                            </a:lnTo>
                            <a:lnTo>
                              <a:pt x="44" y="65"/>
                            </a:lnTo>
                            <a:lnTo>
                              <a:pt x="42" y="103"/>
                            </a:lnTo>
                            <a:lnTo>
                              <a:pt x="45" y="57"/>
                            </a:lnTo>
                            <a:lnTo>
                              <a:pt x="44" y="37"/>
                            </a:lnTo>
                            <a:lnTo>
                              <a:pt x="44" y="18"/>
                            </a:lnTo>
                            <a:lnTo>
                              <a:pt x="42" y="7"/>
                            </a:lnTo>
                            <a:lnTo>
                              <a:pt x="28" y="0"/>
                            </a:lnTo>
                            <a:close/>
                          </a:path>
                        </a:pathLst>
                      </a:custGeom>
                      <a:solidFill>
                        <a:srgbClr val="FF7F7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368" name="Freeform 189"/>
                      <p:cNvSpPr/>
                      <p:nvPr/>
                    </p:nvSpPr>
                    <p:spPr bwMode="auto">
                      <a:xfrm>
                        <a:off x="5223" y="2349"/>
                        <a:ext cx="9" cy="8"/>
                      </a:xfrm>
                      <a:custGeom>
                        <a:avLst/>
                        <a:gdLst>
                          <a:gd name="T0" fmla="*/ 0 w 55"/>
                          <a:gd name="T1" fmla="*/ 0 h 41"/>
                          <a:gd name="T2" fmla="*/ 5 w 55"/>
                          <a:gd name="T3" fmla="*/ 4 h 41"/>
                          <a:gd name="T4" fmla="*/ 15 w 55"/>
                          <a:gd name="T5" fmla="*/ 7 h 41"/>
                          <a:gd name="T6" fmla="*/ 21 w 55"/>
                          <a:gd name="T7" fmla="*/ 7 h 41"/>
                          <a:gd name="T8" fmla="*/ 31 w 55"/>
                          <a:gd name="T9" fmla="*/ 5 h 41"/>
                          <a:gd name="T10" fmla="*/ 39 w 55"/>
                          <a:gd name="T11" fmla="*/ 3 h 41"/>
                          <a:gd name="T12" fmla="*/ 47 w 55"/>
                          <a:gd name="T13" fmla="*/ 4 h 41"/>
                          <a:gd name="T14" fmla="*/ 55 w 55"/>
                          <a:gd name="T15" fmla="*/ 11 h 41"/>
                          <a:gd name="T16" fmla="*/ 42 w 55"/>
                          <a:gd name="T17" fmla="*/ 13 h 41"/>
                          <a:gd name="T18" fmla="*/ 37 w 55"/>
                          <a:gd name="T19" fmla="*/ 14 h 41"/>
                          <a:gd name="T20" fmla="*/ 35 w 55"/>
                          <a:gd name="T21" fmla="*/ 23 h 41"/>
                          <a:gd name="T22" fmla="*/ 33 w 55"/>
                          <a:gd name="T23" fmla="*/ 41 h 41"/>
                          <a:gd name="T24" fmla="*/ 31 w 55"/>
                          <a:gd name="T25" fmla="*/ 23 h 41"/>
                          <a:gd name="T26" fmla="*/ 30 w 55"/>
                          <a:gd name="T27" fmla="*/ 13 h 41"/>
                          <a:gd name="T28" fmla="*/ 19 w 55"/>
                          <a:gd name="T29" fmla="*/ 15 h 41"/>
                          <a:gd name="T30" fmla="*/ 10 w 55"/>
                          <a:gd name="T31" fmla="*/ 14 h 41"/>
                          <a:gd name="T32" fmla="*/ 4 w 55"/>
                          <a:gd name="T33" fmla="*/ 7 h 41"/>
                          <a:gd name="T34" fmla="*/ 0 w 55"/>
                          <a:gd name="T35" fmla="*/ 0 h 41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</a:cxnLst>
                        <a:rect l="0" t="0" r="r" b="b"/>
                        <a:pathLst>
                          <a:path w="55" h="41">
                            <a:moveTo>
                              <a:pt x="0" y="0"/>
                            </a:moveTo>
                            <a:lnTo>
                              <a:pt x="5" y="4"/>
                            </a:lnTo>
                            <a:lnTo>
                              <a:pt x="15" y="7"/>
                            </a:lnTo>
                            <a:lnTo>
                              <a:pt x="21" y="7"/>
                            </a:lnTo>
                            <a:lnTo>
                              <a:pt x="31" y="5"/>
                            </a:lnTo>
                            <a:lnTo>
                              <a:pt x="39" y="3"/>
                            </a:lnTo>
                            <a:lnTo>
                              <a:pt x="47" y="4"/>
                            </a:lnTo>
                            <a:lnTo>
                              <a:pt x="55" y="11"/>
                            </a:lnTo>
                            <a:lnTo>
                              <a:pt x="42" y="13"/>
                            </a:lnTo>
                            <a:lnTo>
                              <a:pt x="37" y="14"/>
                            </a:lnTo>
                            <a:lnTo>
                              <a:pt x="35" y="23"/>
                            </a:lnTo>
                            <a:lnTo>
                              <a:pt x="33" y="41"/>
                            </a:lnTo>
                            <a:lnTo>
                              <a:pt x="31" y="23"/>
                            </a:lnTo>
                            <a:lnTo>
                              <a:pt x="30" y="13"/>
                            </a:lnTo>
                            <a:lnTo>
                              <a:pt x="19" y="15"/>
                            </a:lnTo>
                            <a:lnTo>
                              <a:pt x="10" y="14"/>
                            </a:lnTo>
                            <a:lnTo>
                              <a:pt x="4" y="7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FF7F7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369" name="Freeform 190"/>
                      <p:cNvSpPr/>
                      <p:nvPr/>
                    </p:nvSpPr>
                    <p:spPr bwMode="auto">
                      <a:xfrm>
                        <a:off x="5234" y="2320"/>
                        <a:ext cx="4" cy="6"/>
                      </a:xfrm>
                      <a:custGeom>
                        <a:avLst/>
                        <a:gdLst>
                          <a:gd name="T0" fmla="*/ 14 w 27"/>
                          <a:gd name="T1" fmla="*/ 0 h 30"/>
                          <a:gd name="T2" fmla="*/ 12 w 27"/>
                          <a:gd name="T3" fmla="*/ 5 h 30"/>
                          <a:gd name="T4" fmla="*/ 12 w 27"/>
                          <a:gd name="T5" fmla="*/ 13 h 30"/>
                          <a:gd name="T6" fmla="*/ 14 w 27"/>
                          <a:gd name="T7" fmla="*/ 18 h 30"/>
                          <a:gd name="T8" fmla="*/ 27 w 27"/>
                          <a:gd name="T9" fmla="*/ 30 h 30"/>
                          <a:gd name="T10" fmla="*/ 12 w 27"/>
                          <a:gd name="T11" fmla="*/ 30 h 30"/>
                          <a:gd name="T12" fmla="*/ 4 w 27"/>
                          <a:gd name="T13" fmla="*/ 21 h 30"/>
                          <a:gd name="T14" fmla="*/ 1 w 27"/>
                          <a:gd name="T15" fmla="*/ 16 h 30"/>
                          <a:gd name="T16" fmla="*/ 0 w 27"/>
                          <a:gd name="T17" fmla="*/ 5 h 30"/>
                          <a:gd name="T18" fmla="*/ 14 w 27"/>
                          <a:gd name="T19" fmla="*/ 0 h 30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</a:cxnLst>
                        <a:rect l="0" t="0" r="r" b="b"/>
                        <a:pathLst>
                          <a:path w="27" h="30">
                            <a:moveTo>
                              <a:pt x="14" y="0"/>
                            </a:moveTo>
                            <a:lnTo>
                              <a:pt x="12" y="5"/>
                            </a:lnTo>
                            <a:lnTo>
                              <a:pt x="12" y="13"/>
                            </a:lnTo>
                            <a:lnTo>
                              <a:pt x="14" y="18"/>
                            </a:lnTo>
                            <a:lnTo>
                              <a:pt x="27" y="30"/>
                            </a:lnTo>
                            <a:lnTo>
                              <a:pt x="12" y="30"/>
                            </a:lnTo>
                            <a:lnTo>
                              <a:pt x="4" y="21"/>
                            </a:lnTo>
                            <a:lnTo>
                              <a:pt x="1" y="16"/>
                            </a:lnTo>
                            <a:lnTo>
                              <a:pt x="0" y="5"/>
                            </a:lnTo>
                            <a:lnTo>
                              <a:pt x="14" y="0"/>
                            </a:lnTo>
                            <a:close/>
                          </a:path>
                        </a:pathLst>
                      </a:custGeom>
                      <a:solidFill>
                        <a:srgbClr val="FF7F7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341" name="Group 191"/>
                    <p:cNvGrpSpPr/>
                    <p:nvPr/>
                  </p:nvGrpSpPr>
                  <p:grpSpPr bwMode="auto">
                    <a:xfrm>
                      <a:off x="5214" y="2316"/>
                      <a:ext cx="35" cy="17"/>
                      <a:chOff x="5214" y="2316"/>
                      <a:chExt cx="35" cy="17"/>
                    </a:xfrm>
                  </p:grpSpPr>
                  <p:grpSp>
                    <p:nvGrpSpPr>
                      <p:cNvPr id="352" name="Group 192"/>
                      <p:cNvGrpSpPr/>
                      <p:nvPr/>
                    </p:nvGrpSpPr>
                    <p:grpSpPr bwMode="auto">
                      <a:xfrm>
                        <a:off x="5215" y="2316"/>
                        <a:ext cx="33" cy="7"/>
                        <a:chOff x="5215" y="2316"/>
                        <a:chExt cx="33" cy="7"/>
                      </a:xfrm>
                    </p:grpSpPr>
                    <p:sp>
                      <p:nvSpPr>
                        <p:cNvPr id="365" name="Freeform 193"/>
                        <p:cNvSpPr/>
                        <p:nvPr/>
                      </p:nvSpPr>
                      <p:spPr bwMode="auto">
                        <a:xfrm>
                          <a:off x="5230" y="2317"/>
                          <a:ext cx="18" cy="6"/>
                        </a:xfrm>
                        <a:custGeom>
                          <a:avLst/>
                          <a:gdLst>
                            <a:gd name="T0" fmla="*/ 0 w 105"/>
                            <a:gd name="T1" fmla="*/ 18 h 28"/>
                            <a:gd name="T2" fmla="*/ 7 w 105"/>
                            <a:gd name="T3" fmla="*/ 11 h 28"/>
                            <a:gd name="T4" fmla="*/ 17 w 105"/>
                            <a:gd name="T5" fmla="*/ 5 h 28"/>
                            <a:gd name="T6" fmla="*/ 29 w 105"/>
                            <a:gd name="T7" fmla="*/ 1 h 28"/>
                            <a:gd name="T8" fmla="*/ 41 w 105"/>
                            <a:gd name="T9" fmla="*/ 0 h 28"/>
                            <a:gd name="T10" fmla="*/ 53 w 105"/>
                            <a:gd name="T11" fmla="*/ 0 h 28"/>
                            <a:gd name="T12" fmla="*/ 68 w 105"/>
                            <a:gd name="T13" fmla="*/ 2 h 28"/>
                            <a:gd name="T14" fmla="*/ 84 w 105"/>
                            <a:gd name="T15" fmla="*/ 8 h 28"/>
                            <a:gd name="T16" fmla="*/ 105 w 105"/>
                            <a:gd name="T17" fmla="*/ 14 h 28"/>
                            <a:gd name="T18" fmla="*/ 89 w 105"/>
                            <a:gd name="T19" fmla="*/ 14 h 28"/>
                            <a:gd name="T20" fmla="*/ 71 w 105"/>
                            <a:gd name="T21" fmla="*/ 13 h 28"/>
                            <a:gd name="T22" fmla="*/ 56 w 105"/>
                            <a:gd name="T23" fmla="*/ 12 h 28"/>
                            <a:gd name="T24" fmla="*/ 46 w 105"/>
                            <a:gd name="T25" fmla="*/ 14 h 28"/>
                            <a:gd name="T26" fmla="*/ 36 w 105"/>
                            <a:gd name="T27" fmla="*/ 18 h 28"/>
                            <a:gd name="T28" fmla="*/ 28 w 105"/>
                            <a:gd name="T29" fmla="*/ 24 h 28"/>
                            <a:gd name="T30" fmla="*/ 21 w 105"/>
                            <a:gd name="T31" fmla="*/ 28 h 28"/>
                            <a:gd name="T32" fmla="*/ 12 w 105"/>
                            <a:gd name="T33" fmla="*/ 28 h 28"/>
                            <a:gd name="T34" fmla="*/ 4 w 105"/>
                            <a:gd name="T35" fmla="*/ 26 h 28"/>
                            <a:gd name="T36" fmla="*/ 0 w 105"/>
                            <a:gd name="T37" fmla="*/ 18 h 2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  <a:cxn ang="0">
                              <a:pos x="T30" y="T31"/>
                            </a:cxn>
                            <a:cxn ang="0">
                              <a:pos x="T32" y="T33"/>
                            </a:cxn>
                            <a:cxn ang="0">
                              <a:pos x="T34" y="T35"/>
                            </a:cxn>
                            <a:cxn ang="0">
                              <a:pos x="T36" y="T37"/>
                            </a:cxn>
                          </a:cxnLst>
                          <a:rect l="0" t="0" r="r" b="b"/>
                          <a:pathLst>
                            <a:path w="105" h="28">
                              <a:moveTo>
                                <a:pt x="0" y="18"/>
                              </a:moveTo>
                              <a:lnTo>
                                <a:pt x="7" y="11"/>
                              </a:lnTo>
                              <a:lnTo>
                                <a:pt x="17" y="5"/>
                              </a:lnTo>
                              <a:lnTo>
                                <a:pt x="29" y="1"/>
                              </a:lnTo>
                              <a:lnTo>
                                <a:pt x="41" y="0"/>
                              </a:lnTo>
                              <a:lnTo>
                                <a:pt x="53" y="0"/>
                              </a:lnTo>
                              <a:lnTo>
                                <a:pt x="68" y="2"/>
                              </a:lnTo>
                              <a:lnTo>
                                <a:pt x="84" y="8"/>
                              </a:lnTo>
                              <a:lnTo>
                                <a:pt x="105" y="14"/>
                              </a:lnTo>
                              <a:lnTo>
                                <a:pt x="89" y="14"/>
                              </a:lnTo>
                              <a:lnTo>
                                <a:pt x="71" y="13"/>
                              </a:lnTo>
                              <a:lnTo>
                                <a:pt x="56" y="12"/>
                              </a:lnTo>
                              <a:lnTo>
                                <a:pt x="46" y="14"/>
                              </a:lnTo>
                              <a:lnTo>
                                <a:pt x="36" y="18"/>
                              </a:lnTo>
                              <a:lnTo>
                                <a:pt x="28" y="24"/>
                              </a:lnTo>
                              <a:lnTo>
                                <a:pt x="21" y="28"/>
                              </a:lnTo>
                              <a:lnTo>
                                <a:pt x="12" y="28"/>
                              </a:lnTo>
                              <a:lnTo>
                                <a:pt x="4" y="26"/>
                              </a:lnTo>
                              <a:lnTo>
                                <a:pt x="0" y="18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  <p:sp>
                      <p:nvSpPr>
                        <p:cNvPr id="366" name="Freeform 194"/>
                        <p:cNvSpPr/>
                        <p:nvPr/>
                      </p:nvSpPr>
                      <p:spPr bwMode="auto">
                        <a:xfrm>
                          <a:off x="5215" y="2316"/>
                          <a:ext cx="9" cy="7"/>
                        </a:xfrm>
                        <a:custGeom>
                          <a:avLst/>
                          <a:gdLst>
                            <a:gd name="T0" fmla="*/ 0 w 53"/>
                            <a:gd name="T1" fmla="*/ 0 h 35"/>
                            <a:gd name="T2" fmla="*/ 0 w 53"/>
                            <a:gd name="T3" fmla="*/ 5 h 35"/>
                            <a:gd name="T4" fmla="*/ 12 w 53"/>
                            <a:gd name="T5" fmla="*/ 7 h 35"/>
                            <a:gd name="T6" fmla="*/ 22 w 53"/>
                            <a:gd name="T7" fmla="*/ 16 h 35"/>
                            <a:gd name="T8" fmla="*/ 28 w 53"/>
                            <a:gd name="T9" fmla="*/ 23 h 35"/>
                            <a:gd name="T10" fmla="*/ 34 w 53"/>
                            <a:gd name="T11" fmla="*/ 31 h 35"/>
                            <a:gd name="T12" fmla="*/ 42 w 53"/>
                            <a:gd name="T13" fmla="*/ 35 h 35"/>
                            <a:gd name="T14" fmla="*/ 51 w 53"/>
                            <a:gd name="T15" fmla="*/ 33 h 35"/>
                            <a:gd name="T16" fmla="*/ 53 w 53"/>
                            <a:gd name="T17" fmla="*/ 25 h 35"/>
                            <a:gd name="T18" fmla="*/ 49 w 53"/>
                            <a:gd name="T19" fmla="*/ 18 h 35"/>
                            <a:gd name="T20" fmla="*/ 39 w 53"/>
                            <a:gd name="T21" fmla="*/ 12 h 35"/>
                            <a:gd name="T22" fmla="*/ 33 w 53"/>
                            <a:gd name="T23" fmla="*/ 7 h 35"/>
                            <a:gd name="T24" fmla="*/ 22 w 53"/>
                            <a:gd name="T25" fmla="*/ 4 h 35"/>
                            <a:gd name="T26" fmla="*/ 0 w 53"/>
                            <a:gd name="T27" fmla="*/ 0 h 35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</a:cxnLst>
                          <a:rect l="0" t="0" r="r" b="b"/>
                          <a:pathLst>
                            <a:path w="53" h="35">
                              <a:moveTo>
                                <a:pt x="0" y="0"/>
                              </a:moveTo>
                              <a:lnTo>
                                <a:pt x="0" y="5"/>
                              </a:lnTo>
                              <a:lnTo>
                                <a:pt x="12" y="7"/>
                              </a:lnTo>
                              <a:lnTo>
                                <a:pt x="22" y="16"/>
                              </a:lnTo>
                              <a:lnTo>
                                <a:pt x="28" y="23"/>
                              </a:lnTo>
                              <a:lnTo>
                                <a:pt x="34" y="31"/>
                              </a:lnTo>
                              <a:lnTo>
                                <a:pt x="42" y="35"/>
                              </a:lnTo>
                              <a:lnTo>
                                <a:pt x="51" y="33"/>
                              </a:lnTo>
                              <a:lnTo>
                                <a:pt x="53" y="25"/>
                              </a:lnTo>
                              <a:lnTo>
                                <a:pt x="49" y="18"/>
                              </a:lnTo>
                              <a:lnTo>
                                <a:pt x="39" y="12"/>
                              </a:lnTo>
                              <a:lnTo>
                                <a:pt x="33" y="7"/>
                              </a:lnTo>
                              <a:lnTo>
                                <a:pt x="22" y="4"/>
                              </a:lnTo>
                              <a:lnTo>
                                <a:pt x="0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</p:grpSp>
                  <p:sp>
                    <p:nvSpPr>
                      <p:cNvPr id="353" name="Freeform 195"/>
                      <p:cNvSpPr/>
                      <p:nvPr/>
                    </p:nvSpPr>
                    <p:spPr bwMode="auto">
                      <a:xfrm>
                        <a:off x="5234" y="2325"/>
                        <a:ext cx="12" cy="5"/>
                      </a:xfrm>
                      <a:custGeom>
                        <a:avLst/>
                        <a:gdLst>
                          <a:gd name="T0" fmla="*/ 0 w 75"/>
                          <a:gd name="T1" fmla="*/ 8 h 26"/>
                          <a:gd name="T2" fmla="*/ 3 w 75"/>
                          <a:gd name="T3" fmla="*/ 18 h 26"/>
                          <a:gd name="T4" fmla="*/ 5 w 75"/>
                          <a:gd name="T5" fmla="*/ 21 h 26"/>
                          <a:gd name="T6" fmla="*/ 8 w 75"/>
                          <a:gd name="T7" fmla="*/ 24 h 26"/>
                          <a:gd name="T8" fmla="*/ 20 w 75"/>
                          <a:gd name="T9" fmla="*/ 26 h 26"/>
                          <a:gd name="T10" fmla="*/ 34 w 75"/>
                          <a:gd name="T11" fmla="*/ 26 h 26"/>
                          <a:gd name="T12" fmla="*/ 45 w 75"/>
                          <a:gd name="T13" fmla="*/ 24 h 26"/>
                          <a:gd name="T14" fmla="*/ 57 w 75"/>
                          <a:gd name="T15" fmla="*/ 19 h 26"/>
                          <a:gd name="T16" fmla="*/ 75 w 75"/>
                          <a:gd name="T17" fmla="*/ 8 h 26"/>
                          <a:gd name="T18" fmla="*/ 48 w 75"/>
                          <a:gd name="T19" fmla="*/ 5 h 26"/>
                          <a:gd name="T20" fmla="*/ 25 w 75"/>
                          <a:gd name="T21" fmla="*/ 2 h 26"/>
                          <a:gd name="T22" fmla="*/ 12 w 75"/>
                          <a:gd name="T23" fmla="*/ 0 h 26"/>
                          <a:gd name="T24" fmla="*/ 0 w 75"/>
                          <a:gd name="T25" fmla="*/ 8 h 26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</a:cxnLst>
                        <a:rect l="0" t="0" r="r" b="b"/>
                        <a:pathLst>
                          <a:path w="75" h="26">
                            <a:moveTo>
                              <a:pt x="0" y="8"/>
                            </a:moveTo>
                            <a:lnTo>
                              <a:pt x="3" y="18"/>
                            </a:lnTo>
                            <a:lnTo>
                              <a:pt x="5" y="21"/>
                            </a:lnTo>
                            <a:lnTo>
                              <a:pt x="8" y="24"/>
                            </a:lnTo>
                            <a:lnTo>
                              <a:pt x="20" y="26"/>
                            </a:lnTo>
                            <a:lnTo>
                              <a:pt x="34" y="26"/>
                            </a:lnTo>
                            <a:lnTo>
                              <a:pt x="45" y="24"/>
                            </a:lnTo>
                            <a:lnTo>
                              <a:pt x="57" y="19"/>
                            </a:lnTo>
                            <a:lnTo>
                              <a:pt x="75" y="8"/>
                            </a:lnTo>
                            <a:lnTo>
                              <a:pt x="48" y="5"/>
                            </a:lnTo>
                            <a:lnTo>
                              <a:pt x="25" y="2"/>
                            </a:lnTo>
                            <a:lnTo>
                              <a:pt x="12" y="0"/>
                            </a:lnTo>
                            <a:lnTo>
                              <a:pt x="0" y="8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354" name="Freeform 196"/>
                      <p:cNvSpPr/>
                      <p:nvPr/>
                    </p:nvSpPr>
                    <p:spPr bwMode="auto">
                      <a:xfrm>
                        <a:off x="5218" y="2326"/>
                        <a:ext cx="4" cy="5"/>
                      </a:xfrm>
                      <a:custGeom>
                        <a:avLst/>
                        <a:gdLst>
                          <a:gd name="T0" fmla="*/ 1 w 23"/>
                          <a:gd name="T1" fmla="*/ 0 h 25"/>
                          <a:gd name="T2" fmla="*/ 18 w 23"/>
                          <a:gd name="T3" fmla="*/ 3 h 25"/>
                          <a:gd name="T4" fmla="*/ 21 w 23"/>
                          <a:gd name="T5" fmla="*/ 13 h 25"/>
                          <a:gd name="T6" fmla="*/ 23 w 23"/>
                          <a:gd name="T7" fmla="*/ 25 h 25"/>
                          <a:gd name="T8" fmla="*/ 8 w 23"/>
                          <a:gd name="T9" fmla="*/ 23 h 25"/>
                          <a:gd name="T10" fmla="*/ 0 w 23"/>
                          <a:gd name="T11" fmla="*/ 21 h 25"/>
                          <a:gd name="T12" fmla="*/ 1 w 23"/>
                          <a:gd name="T13" fmla="*/ 0 h 25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23" h="25">
                            <a:moveTo>
                              <a:pt x="1" y="0"/>
                            </a:moveTo>
                            <a:lnTo>
                              <a:pt x="18" y="3"/>
                            </a:lnTo>
                            <a:lnTo>
                              <a:pt x="21" y="13"/>
                            </a:lnTo>
                            <a:lnTo>
                              <a:pt x="23" y="25"/>
                            </a:lnTo>
                            <a:lnTo>
                              <a:pt x="8" y="23"/>
                            </a:lnTo>
                            <a:lnTo>
                              <a:pt x="0" y="21"/>
                            </a:lnTo>
                            <a:lnTo>
                              <a:pt x="1" y="0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grpSp>
                    <p:nvGrpSpPr>
                      <p:cNvPr id="355" name="Group 197"/>
                      <p:cNvGrpSpPr/>
                      <p:nvPr/>
                    </p:nvGrpSpPr>
                    <p:grpSpPr bwMode="auto">
                      <a:xfrm>
                        <a:off x="5234" y="2325"/>
                        <a:ext cx="9" cy="7"/>
                        <a:chOff x="5234" y="2325"/>
                        <a:chExt cx="9" cy="7"/>
                      </a:xfrm>
                    </p:grpSpPr>
                    <p:sp>
                      <p:nvSpPr>
                        <p:cNvPr id="363" name="Oval 19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5234" y="2325"/>
                          <a:ext cx="9" cy="7"/>
                        </a:xfrm>
                        <a:prstGeom prst="ellipse">
                          <a:avLst/>
                        </a:prstGeom>
                        <a:solidFill>
                          <a:srgbClr val="7F3F0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  <p:sp>
                      <p:nvSpPr>
                        <p:cNvPr id="364" name="Oval 19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5236" y="2326"/>
                          <a:ext cx="4" cy="5"/>
                        </a:xfrm>
                        <a:prstGeom prst="ellipse">
                          <a:avLst/>
                        </a:prstGeom>
                        <a:solidFill>
                          <a:srgbClr val="00000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</p:grpSp>
                  <p:sp>
                    <p:nvSpPr>
                      <p:cNvPr id="356" name="Oval 20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235" y="2326"/>
                        <a:ext cx="3" cy="3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grpSp>
                    <p:nvGrpSpPr>
                      <p:cNvPr id="357" name="Group 201"/>
                      <p:cNvGrpSpPr/>
                      <p:nvPr/>
                    </p:nvGrpSpPr>
                    <p:grpSpPr bwMode="auto">
                      <a:xfrm>
                        <a:off x="5217" y="2326"/>
                        <a:ext cx="5" cy="7"/>
                        <a:chOff x="5217" y="2326"/>
                        <a:chExt cx="5" cy="7"/>
                      </a:xfrm>
                    </p:grpSpPr>
                    <p:sp>
                      <p:nvSpPr>
                        <p:cNvPr id="361" name="Oval 20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5217" y="2326"/>
                          <a:ext cx="5" cy="7"/>
                        </a:xfrm>
                        <a:prstGeom prst="ellipse">
                          <a:avLst/>
                        </a:prstGeom>
                        <a:solidFill>
                          <a:srgbClr val="7F3F0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  <p:sp>
                      <p:nvSpPr>
                        <p:cNvPr id="362" name="Oval 20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5217" y="2326"/>
                          <a:ext cx="4" cy="6"/>
                        </a:xfrm>
                        <a:prstGeom prst="ellipse">
                          <a:avLst/>
                        </a:prstGeom>
                        <a:solidFill>
                          <a:srgbClr val="00000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</p:grpSp>
                  <p:sp>
                    <p:nvSpPr>
                      <p:cNvPr id="358" name="Oval 20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217" y="2327"/>
                        <a:ext cx="2" cy="2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359" name="Freeform 205"/>
                      <p:cNvSpPr/>
                      <p:nvPr/>
                    </p:nvSpPr>
                    <p:spPr bwMode="auto">
                      <a:xfrm>
                        <a:off x="5231" y="2324"/>
                        <a:ext cx="18" cy="5"/>
                      </a:xfrm>
                      <a:custGeom>
                        <a:avLst/>
                        <a:gdLst>
                          <a:gd name="T0" fmla="*/ 0 w 106"/>
                          <a:gd name="T1" fmla="*/ 1 h 24"/>
                          <a:gd name="T2" fmla="*/ 14 w 106"/>
                          <a:gd name="T3" fmla="*/ 8 h 24"/>
                          <a:gd name="T4" fmla="*/ 23 w 106"/>
                          <a:gd name="T5" fmla="*/ 3 h 24"/>
                          <a:gd name="T6" fmla="*/ 31 w 106"/>
                          <a:gd name="T7" fmla="*/ 0 h 24"/>
                          <a:gd name="T8" fmla="*/ 40 w 106"/>
                          <a:gd name="T9" fmla="*/ 0 h 24"/>
                          <a:gd name="T10" fmla="*/ 51 w 106"/>
                          <a:gd name="T11" fmla="*/ 3 h 24"/>
                          <a:gd name="T12" fmla="*/ 68 w 106"/>
                          <a:gd name="T13" fmla="*/ 8 h 24"/>
                          <a:gd name="T14" fmla="*/ 85 w 106"/>
                          <a:gd name="T15" fmla="*/ 8 h 24"/>
                          <a:gd name="T16" fmla="*/ 106 w 106"/>
                          <a:gd name="T17" fmla="*/ 5 h 24"/>
                          <a:gd name="T18" fmla="*/ 92 w 106"/>
                          <a:gd name="T19" fmla="*/ 16 h 24"/>
                          <a:gd name="T20" fmla="*/ 74 w 106"/>
                          <a:gd name="T21" fmla="*/ 24 h 24"/>
                          <a:gd name="T22" fmla="*/ 87 w 106"/>
                          <a:gd name="T23" fmla="*/ 15 h 24"/>
                          <a:gd name="T24" fmla="*/ 73 w 106"/>
                          <a:gd name="T25" fmla="*/ 13 h 24"/>
                          <a:gd name="T26" fmla="*/ 62 w 106"/>
                          <a:gd name="T27" fmla="*/ 12 h 24"/>
                          <a:gd name="T28" fmla="*/ 50 w 106"/>
                          <a:gd name="T29" fmla="*/ 10 h 24"/>
                          <a:gd name="T30" fmla="*/ 41 w 106"/>
                          <a:gd name="T31" fmla="*/ 10 h 24"/>
                          <a:gd name="T32" fmla="*/ 30 w 106"/>
                          <a:gd name="T33" fmla="*/ 8 h 24"/>
                          <a:gd name="T34" fmla="*/ 25 w 106"/>
                          <a:gd name="T35" fmla="*/ 8 h 24"/>
                          <a:gd name="T36" fmla="*/ 19 w 106"/>
                          <a:gd name="T37" fmla="*/ 12 h 24"/>
                          <a:gd name="T38" fmla="*/ 14 w 106"/>
                          <a:gd name="T39" fmla="*/ 13 h 24"/>
                          <a:gd name="T40" fmla="*/ 11 w 106"/>
                          <a:gd name="T41" fmla="*/ 13 h 24"/>
                          <a:gd name="T42" fmla="*/ 0 w 106"/>
                          <a:gd name="T43" fmla="*/ 1 h 2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</a:cxnLst>
                        <a:rect l="0" t="0" r="r" b="b"/>
                        <a:pathLst>
                          <a:path w="106" h="24">
                            <a:moveTo>
                              <a:pt x="0" y="1"/>
                            </a:moveTo>
                            <a:lnTo>
                              <a:pt x="14" y="8"/>
                            </a:lnTo>
                            <a:lnTo>
                              <a:pt x="23" y="3"/>
                            </a:lnTo>
                            <a:lnTo>
                              <a:pt x="31" y="0"/>
                            </a:lnTo>
                            <a:lnTo>
                              <a:pt x="40" y="0"/>
                            </a:lnTo>
                            <a:lnTo>
                              <a:pt x="51" y="3"/>
                            </a:lnTo>
                            <a:lnTo>
                              <a:pt x="68" y="8"/>
                            </a:lnTo>
                            <a:lnTo>
                              <a:pt x="85" y="8"/>
                            </a:lnTo>
                            <a:lnTo>
                              <a:pt x="106" y="5"/>
                            </a:lnTo>
                            <a:lnTo>
                              <a:pt x="92" y="16"/>
                            </a:lnTo>
                            <a:lnTo>
                              <a:pt x="74" y="24"/>
                            </a:lnTo>
                            <a:lnTo>
                              <a:pt x="87" y="15"/>
                            </a:lnTo>
                            <a:lnTo>
                              <a:pt x="73" y="13"/>
                            </a:lnTo>
                            <a:lnTo>
                              <a:pt x="62" y="12"/>
                            </a:lnTo>
                            <a:lnTo>
                              <a:pt x="50" y="10"/>
                            </a:lnTo>
                            <a:lnTo>
                              <a:pt x="41" y="10"/>
                            </a:lnTo>
                            <a:lnTo>
                              <a:pt x="30" y="8"/>
                            </a:lnTo>
                            <a:lnTo>
                              <a:pt x="25" y="8"/>
                            </a:lnTo>
                            <a:lnTo>
                              <a:pt x="19" y="12"/>
                            </a:lnTo>
                            <a:lnTo>
                              <a:pt x="14" y="13"/>
                            </a:lnTo>
                            <a:lnTo>
                              <a:pt x="11" y="13"/>
                            </a:lnTo>
                            <a:lnTo>
                              <a:pt x="0" y="1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360" name="Freeform 206"/>
                      <p:cNvSpPr/>
                      <p:nvPr/>
                    </p:nvSpPr>
                    <p:spPr bwMode="auto">
                      <a:xfrm>
                        <a:off x="5214" y="2325"/>
                        <a:ext cx="7" cy="4"/>
                      </a:xfrm>
                      <a:custGeom>
                        <a:avLst/>
                        <a:gdLst>
                          <a:gd name="T0" fmla="*/ 0 w 48"/>
                          <a:gd name="T1" fmla="*/ 0 h 21"/>
                          <a:gd name="T2" fmla="*/ 6 w 48"/>
                          <a:gd name="T3" fmla="*/ 8 h 21"/>
                          <a:gd name="T4" fmla="*/ 16 w 48"/>
                          <a:gd name="T5" fmla="*/ 6 h 21"/>
                          <a:gd name="T6" fmla="*/ 24 w 48"/>
                          <a:gd name="T7" fmla="*/ 6 h 21"/>
                          <a:gd name="T8" fmla="*/ 29 w 48"/>
                          <a:gd name="T9" fmla="*/ 6 h 21"/>
                          <a:gd name="T10" fmla="*/ 37 w 48"/>
                          <a:gd name="T11" fmla="*/ 6 h 21"/>
                          <a:gd name="T12" fmla="*/ 43 w 48"/>
                          <a:gd name="T13" fmla="*/ 10 h 21"/>
                          <a:gd name="T14" fmla="*/ 47 w 48"/>
                          <a:gd name="T15" fmla="*/ 13 h 21"/>
                          <a:gd name="T16" fmla="*/ 48 w 48"/>
                          <a:gd name="T17" fmla="*/ 21 h 21"/>
                          <a:gd name="T18" fmla="*/ 46 w 48"/>
                          <a:gd name="T19" fmla="*/ 14 h 21"/>
                          <a:gd name="T20" fmla="*/ 41 w 48"/>
                          <a:gd name="T21" fmla="*/ 11 h 21"/>
                          <a:gd name="T22" fmla="*/ 28 w 48"/>
                          <a:gd name="T23" fmla="*/ 10 h 21"/>
                          <a:gd name="T24" fmla="*/ 14 w 48"/>
                          <a:gd name="T25" fmla="*/ 10 h 21"/>
                          <a:gd name="T26" fmla="*/ 0 w 48"/>
                          <a:gd name="T27" fmla="*/ 0 h 21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</a:cxnLst>
                        <a:rect l="0" t="0" r="r" b="b"/>
                        <a:pathLst>
                          <a:path w="48" h="21">
                            <a:moveTo>
                              <a:pt x="0" y="0"/>
                            </a:moveTo>
                            <a:lnTo>
                              <a:pt x="6" y="8"/>
                            </a:lnTo>
                            <a:lnTo>
                              <a:pt x="16" y="6"/>
                            </a:lnTo>
                            <a:lnTo>
                              <a:pt x="24" y="6"/>
                            </a:lnTo>
                            <a:lnTo>
                              <a:pt x="29" y="6"/>
                            </a:lnTo>
                            <a:lnTo>
                              <a:pt x="37" y="6"/>
                            </a:lnTo>
                            <a:lnTo>
                              <a:pt x="43" y="10"/>
                            </a:lnTo>
                            <a:lnTo>
                              <a:pt x="47" y="13"/>
                            </a:lnTo>
                            <a:lnTo>
                              <a:pt x="48" y="21"/>
                            </a:lnTo>
                            <a:lnTo>
                              <a:pt x="46" y="14"/>
                            </a:lnTo>
                            <a:lnTo>
                              <a:pt x="41" y="11"/>
                            </a:lnTo>
                            <a:lnTo>
                              <a:pt x="28" y="10"/>
                            </a:lnTo>
                            <a:lnTo>
                              <a:pt x="14" y="1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grpSp>
                  <p:nvGrpSpPr>
                    <p:cNvPr id="342" name="Group 207"/>
                    <p:cNvGrpSpPr/>
                    <p:nvPr/>
                  </p:nvGrpSpPr>
                  <p:grpSpPr bwMode="auto">
                    <a:xfrm>
                      <a:off x="5223" y="2358"/>
                      <a:ext cx="18" cy="11"/>
                      <a:chOff x="5223" y="2358"/>
                      <a:chExt cx="18" cy="11"/>
                    </a:xfrm>
                  </p:grpSpPr>
                  <p:grpSp>
                    <p:nvGrpSpPr>
                      <p:cNvPr id="343" name="Group 208"/>
                      <p:cNvGrpSpPr/>
                      <p:nvPr/>
                    </p:nvGrpSpPr>
                    <p:grpSpPr bwMode="auto">
                      <a:xfrm>
                        <a:off x="5223" y="2358"/>
                        <a:ext cx="18" cy="11"/>
                        <a:chOff x="5223" y="2358"/>
                        <a:chExt cx="18" cy="11"/>
                      </a:xfrm>
                    </p:grpSpPr>
                    <p:sp>
                      <p:nvSpPr>
                        <p:cNvPr id="345" name="Freeform 209"/>
                        <p:cNvSpPr/>
                        <p:nvPr/>
                      </p:nvSpPr>
                      <p:spPr bwMode="auto">
                        <a:xfrm>
                          <a:off x="5223" y="2358"/>
                          <a:ext cx="18" cy="11"/>
                        </a:xfrm>
                        <a:custGeom>
                          <a:avLst/>
                          <a:gdLst>
                            <a:gd name="T0" fmla="*/ 11 w 107"/>
                            <a:gd name="T1" fmla="*/ 23 h 58"/>
                            <a:gd name="T2" fmla="*/ 5 w 107"/>
                            <a:gd name="T3" fmla="*/ 16 h 58"/>
                            <a:gd name="T4" fmla="*/ 1 w 107"/>
                            <a:gd name="T5" fmla="*/ 9 h 58"/>
                            <a:gd name="T6" fmla="*/ 0 w 107"/>
                            <a:gd name="T7" fmla="*/ 5 h 58"/>
                            <a:gd name="T8" fmla="*/ 5 w 107"/>
                            <a:gd name="T9" fmla="*/ 1 h 58"/>
                            <a:gd name="T10" fmla="*/ 13 w 107"/>
                            <a:gd name="T11" fmla="*/ 0 h 58"/>
                            <a:gd name="T12" fmla="*/ 25 w 107"/>
                            <a:gd name="T13" fmla="*/ 6 h 58"/>
                            <a:gd name="T14" fmla="*/ 36 w 107"/>
                            <a:gd name="T15" fmla="*/ 0 h 58"/>
                            <a:gd name="T16" fmla="*/ 48 w 107"/>
                            <a:gd name="T17" fmla="*/ 3 h 58"/>
                            <a:gd name="T18" fmla="*/ 61 w 107"/>
                            <a:gd name="T19" fmla="*/ 6 h 58"/>
                            <a:gd name="T20" fmla="*/ 75 w 107"/>
                            <a:gd name="T21" fmla="*/ 7 h 58"/>
                            <a:gd name="T22" fmla="*/ 107 w 107"/>
                            <a:gd name="T23" fmla="*/ 9 h 58"/>
                            <a:gd name="T24" fmla="*/ 88 w 107"/>
                            <a:gd name="T25" fmla="*/ 27 h 58"/>
                            <a:gd name="T26" fmla="*/ 78 w 107"/>
                            <a:gd name="T27" fmla="*/ 35 h 58"/>
                            <a:gd name="T28" fmla="*/ 68 w 107"/>
                            <a:gd name="T29" fmla="*/ 44 h 58"/>
                            <a:gd name="T30" fmla="*/ 58 w 107"/>
                            <a:gd name="T31" fmla="*/ 52 h 58"/>
                            <a:gd name="T32" fmla="*/ 43 w 107"/>
                            <a:gd name="T33" fmla="*/ 58 h 58"/>
                            <a:gd name="T34" fmla="*/ 30 w 107"/>
                            <a:gd name="T35" fmla="*/ 58 h 58"/>
                            <a:gd name="T36" fmla="*/ 18 w 107"/>
                            <a:gd name="T37" fmla="*/ 53 h 58"/>
                            <a:gd name="T38" fmla="*/ 13 w 107"/>
                            <a:gd name="T39" fmla="*/ 44 h 58"/>
                            <a:gd name="T40" fmla="*/ 11 w 107"/>
                            <a:gd name="T41" fmla="*/ 23 h 58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  <a:cxn ang="0">
                              <a:pos x="T26" y="T27"/>
                            </a:cxn>
                            <a:cxn ang="0">
                              <a:pos x="T28" y="T29"/>
                            </a:cxn>
                            <a:cxn ang="0">
                              <a:pos x="T30" y="T31"/>
                            </a:cxn>
                            <a:cxn ang="0">
                              <a:pos x="T32" y="T33"/>
                            </a:cxn>
                            <a:cxn ang="0">
                              <a:pos x="T34" y="T35"/>
                            </a:cxn>
                            <a:cxn ang="0">
                              <a:pos x="T36" y="T37"/>
                            </a:cxn>
                            <a:cxn ang="0">
                              <a:pos x="T38" y="T39"/>
                            </a:cxn>
                            <a:cxn ang="0">
                              <a:pos x="T40" y="T41"/>
                            </a:cxn>
                          </a:cxnLst>
                          <a:rect l="0" t="0" r="r" b="b"/>
                          <a:pathLst>
                            <a:path w="107" h="58">
                              <a:moveTo>
                                <a:pt x="11" y="23"/>
                              </a:moveTo>
                              <a:lnTo>
                                <a:pt x="5" y="16"/>
                              </a:lnTo>
                              <a:lnTo>
                                <a:pt x="1" y="9"/>
                              </a:lnTo>
                              <a:lnTo>
                                <a:pt x="0" y="5"/>
                              </a:lnTo>
                              <a:lnTo>
                                <a:pt x="5" y="1"/>
                              </a:lnTo>
                              <a:lnTo>
                                <a:pt x="13" y="0"/>
                              </a:lnTo>
                              <a:lnTo>
                                <a:pt x="25" y="6"/>
                              </a:lnTo>
                              <a:lnTo>
                                <a:pt x="36" y="0"/>
                              </a:lnTo>
                              <a:lnTo>
                                <a:pt x="48" y="3"/>
                              </a:lnTo>
                              <a:lnTo>
                                <a:pt x="61" y="6"/>
                              </a:lnTo>
                              <a:lnTo>
                                <a:pt x="75" y="7"/>
                              </a:lnTo>
                              <a:lnTo>
                                <a:pt x="107" y="9"/>
                              </a:lnTo>
                              <a:lnTo>
                                <a:pt x="88" y="27"/>
                              </a:lnTo>
                              <a:lnTo>
                                <a:pt x="78" y="35"/>
                              </a:lnTo>
                              <a:lnTo>
                                <a:pt x="68" y="44"/>
                              </a:lnTo>
                              <a:lnTo>
                                <a:pt x="58" y="52"/>
                              </a:lnTo>
                              <a:lnTo>
                                <a:pt x="43" y="58"/>
                              </a:lnTo>
                              <a:lnTo>
                                <a:pt x="30" y="58"/>
                              </a:lnTo>
                              <a:lnTo>
                                <a:pt x="18" y="53"/>
                              </a:lnTo>
                              <a:lnTo>
                                <a:pt x="13" y="44"/>
                              </a:lnTo>
                              <a:lnTo>
                                <a:pt x="11" y="2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7F000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  <p:grpSp>
                      <p:nvGrpSpPr>
                        <p:cNvPr id="346" name="Group 210"/>
                        <p:cNvGrpSpPr/>
                        <p:nvPr/>
                      </p:nvGrpSpPr>
                      <p:grpSpPr bwMode="auto">
                        <a:xfrm>
                          <a:off x="5223" y="2358"/>
                          <a:ext cx="18" cy="11"/>
                          <a:chOff x="5223" y="2358"/>
                          <a:chExt cx="18" cy="11"/>
                        </a:xfrm>
                      </p:grpSpPr>
                      <p:grpSp>
                        <p:nvGrpSpPr>
                          <p:cNvPr id="348" name="Group 211"/>
                          <p:cNvGrpSpPr/>
                          <p:nvPr/>
                        </p:nvGrpSpPr>
                        <p:grpSpPr bwMode="auto">
                          <a:xfrm>
                            <a:off x="5223" y="2358"/>
                            <a:ext cx="18" cy="5"/>
                            <a:chOff x="5223" y="2358"/>
                            <a:chExt cx="18" cy="5"/>
                          </a:xfrm>
                        </p:grpSpPr>
                        <p:sp>
                          <p:nvSpPr>
                            <p:cNvPr id="350" name="Freeform 212"/>
                            <p:cNvSpPr/>
                            <p:nvPr/>
                          </p:nvSpPr>
                          <p:spPr bwMode="auto">
                            <a:xfrm>
                              <a:off x="5225" y="2360"/>
                              <a:ext cx="12" cy="3"/>
                            </a:xfrm>
                            <a:custGeom>
                              <a:avLst/>
                              <a:gdLst>
                                <a:gd name="T0" fmla="*/ 0 w 77"/>
                                <a:gd name="T1" fmla="*/ 1 h 17"/>
                                <a:gd name="T2" fmla="*/ 7 w 77"/>
                                <a:gd name="T3" fmla="*/ 10 h 17"/>
                                <a:gd name="T4" fmla="*/ 14 w 77"/>
                                <a:gd name="T5" fmla="*/ 15 h 17"/>
                                <a:gd name="T6" fmla="*/ 25 w 77"/>
                                <a:gd name="T7" fmla="*/ 17 h 17"/>
                                <a:gd name="T8" fmla="*/ 36 w 77"/>
                                <a:gd name="T9" fmla="*/ 17 h 17"/>
                                <a:gd name="T10" fmla="*/ 44 w 77"/>
                                <a:gd name="T11" fmla="*/ 17 h 17"/>
                                <a:gd name="T12" fmla="*/ 63 w 77"/>
                                <a:gd name="T13" fmla="*/ 13 h 17"/>
                                <a:gd name="T14" fmla="*/ 77 w 77"/>
                                <a:gd name="T15" fmla="*/ 7 h 17"/>
                                <a:gd name="T16" fmla="*/ 45 w 77"/>
                                <a:gd name="T17" fmla="*/ 0 h 17"/>
                                <a:gd name="T18" fmla="*/ 0 w 77"/>
                                <a:gd name="T19" fmla="*/ 1 h 17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  <a:cxn ang="0">
                                  <a:pos x="T10" y="T11"/>
                                </a:cxn>
                                <a:cxn ang="0">
                                  <a:pos x="T12" y="T13"/>
                                </a:cxn>
                                <a:cxn ang="0">
                                  <a:pos x="T14" y="T15"/>
                                </a:cxn>
                                <a:cxn ang="0">
                                  <a:pos x="T16" y="T17"/>
                                </a:cxn>
                                <a:cxn ang="0">
                                  <a:pos x="T18" y="T19"/>
                                </a:cxn>
                              </a:cxnLst>
                              <a:rect l="0" t="0" r="r" b="b"/>
                              <a:pathLst>
                                <a:path w="77" h="17">
                                  <a:moveTo>
                                    <a:pt x="0" y="1"/>
                                  </a:moveTo>
                                  <a:lnTo>
                                    <a:pt x="7" y="10"/>
                                  </a:lnTo>
                                  <a:lnTo>
                                    <a:pt x="14" y="15"/>
                                  </a:lnTo>
                                  <a:lnTo>
                                    <a:pt x="25" y="17"/>
                                  </a:lnTo>
                                  <a:lnTo>
                                    <a:pt x="36" y="17"/>
                                  </a:lnTo>
                                  <a:lnTo>
                                    <a:pt x="44" y="17"/>
                                  </a:lnTo>
                                  <a:lnTo>
                                    <a:pt x="63" y="13"/>
                                  </a:lnTo>
                                  <a:lnTo>
                                    <a:pt x="77" y="7"/>
                                  </a:lnTo>
                                  <a:lnTo>
                                    <a:pt x="45" y="0"/>
                                  </a:lnTo>
                                  <a:lnTo>
                                    <a:pt x="0" y="1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F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 sz="3655"/>
                            </a:p>
                          </p:txBody>
                        </p:sp>
                        <p:sp>
                          <p:nvSpPr>
                            <p:cNvPr id="351" name="Freeform 213"/>
                            <p:cNvSpPr/>
                            <p:nvPr/>
                          </p:nvSpPr>
                          <p:spPr bwMode="auto">
                            <a:xfrm>
                              <a:off x="5223" y="2358"/>
                              <a:ext cx="18" cy="5"/>
                            </a:xfrm>
                            <a:custGeom>
                              <a:avLst/>
                              <a:gdLst>
                                <a:gd name="T0" fmla="*/ 10 w 107"/>
                                <a:gd name="T1" fmla="*/ 24 h 24"/>
                                <a:gd name="T2" fmla="*/ 4 w 107"/>
                                <a:gd name="T3" fmla="*/ 16 h 24"/>
                                <a:gd name="T4" fmla="*/ 1 w 107"/>
                                <a:gd name="T5" fmla="*/ 11 h 24"/>
                                <a:gd name="T6" fmla="*/ 0 w 107"/>
                                <a:gd name="T7" fmla="*/ 5 h 24"/>
                                <a:gd name="T8" fmla="*/ 4 w 107"/>
                                <a:gd name="T9" fmla="*/ 1 h 24"/>
                                <a:gd name="T10" fmla="*/ 13 w 107"/>
                                <a:gd name="T11" fmla="*/ 0 h 24"/>
                                <a:gd name="T12" fmla="*/ 25 w 107"/>
                                <a:gd name="T13" fmla="*/ 7 h 24"/>
                                <a:gd name="T14" fmla="*/ 36 w 107"/>
                                <a:gd name="T15" fmla="*/ 0 h 24"/>
                                <a:gd name="T16" fmla="*/ 47 w 107"/>
                                <a:gd name="T17" fmla="*/ 3 h 24"/>
                                <a:gd name="T18" fmla="*/ 61 w 107"/>
                                <a:gd name="T19" fmla="*/ 7 h 24"/>
                                <a:gd name="T20" fmla="*/ 75 w 107"/>
                                <a:gd name="T21" fmla="*/ 8 h 24"/>
                                <a:gd name="T22" fmla="*/ 107 w 107"/>
                                <a:gd name="T23" fmla="*/ 11 h 24"/>
                                <a:gd name="T24" fmla="*/ 98 w 107"/>
                                <a:gd name="T25" fmla="*/ 16 h 24"/>
                                <a:gd name="T26" fmla="*/ 88 w 107"/>
                                <a:gd name="T27" fmla="*/ 21 h 24"/>
                                <a:gd name="T28" fmla="*/ 77 w 107"/>
                                <a:gd name="T29" fmla="*/ 21 h 24"/>
                                <a:gd name="T30" fmla="*/ 68 w 107"/>
                                <a:gd name="T31" fmla="*/ 22 h 24"/>
                                <a:gd name="T32" fmla="*/ 55 w 107"/>
                                <a:gd name="T33" fmla="*/ 19 h 24"/>
                                <a:gd name="T34" fmla="*/ 41 w 107"/>
                                <a:gd name="T35" fmla="*/ 16 h 24"/>
                                <a:gd name="T36" fmla="*/ 33 w 107"/>
                                <a:gd name="T37" fmla="*/ 21 h 24"/>
                                <a:gd name="T38" fmla="*/ 22 w 107"/>
                                <a:gd name="T39" fmla="*/ 16 h 24"/>
                                <a:gd name="T40" fmla="*/ 12 w 107"/>
                                <a:gd name="T41" fmla="*/ 13 h 24"/>
                                <a:gd name="T42" fmla="*/ 10 w 107"/>
                                <a:gd name="T43" fmla="*/ 24 h 24"/>
                              </a:gdLst>
                              <a:ahLst/>
                              <a:cxnLst>
                                <a:cxn ang="0">
                                  <a:pos x="T0" y="T1"/>
                                </a:cxn>
                                <a:cxn ang="0">
                                  <a:pos x="T2" y="T3"/>
                                </a:cxn>
                                <a:cxn ang="0">
                                  <a:pos x="T4" y="T5"/>
                                </a:cxn>
                                <a:cxn ang="0">
                                  <a:pos x="T6" y="T7"/>
                                </a:cxn>
                                <a:cxn ang="0">
                                  <a:pos x="T8" y="T9"/>
                                </a:cxn>
                                <a:cxn ang="0">
                                  <a:pos x="T10" y="T11"/>
                                </a:cxn>
                                <a:cxn ang="0">
                                  <a:pos x="T12" y="T13"/>
                                </a:cxn>
                                <a:cxn ang="0">
                                  <a:pos x="T14" y="T15"/>
                                </a:cxn>
                                <a:cxn ang="0">
                                  <a:pos x="T16" y="T17"/>
                                </a:cxn>
                                <a:cxn ang="0">
                                  <a:pos x="T18" y="T19"/>
                                </a:cxn>
                                <a:cxn ang="0">
                                  <a:pos x="T20" y="T21"/>
                                </a:cxn>
                                <a:cxn ang="0">
                                  <a:pos x="T22" y="T23"/>
                                </a:cxn>
                                <a:cxn ang="0">
                                  <a:pos x="T24" y="T25"/>
                                </a:cxn>
                                <a:cxn ang="0">
                                  <a:pos x="T26" y="T27"/>
                                </a:cxn>
                                <a:cxn ang="0">
                                  <a:pos x="T28" y="T29"/>
                                </a:cxn>
                                <a:cxn ang="0">
                                  <a:pos x="T30" y="T31"/>
                                </a:cxn>
                                <a:cxn ang="0">
                                  <a:pos x="T32" y="T33"/>
                                </a:cxn>
                                <a:cxn ang="0">
                                  <a:pos x="T34" y="T35"/>
                                </a:cxn>
                                <a:cxn ang="0">
                                  <a:pos x="T36" y="T37"/>
                                </a:cxn>
                                <a:cxn ang="0">
                                  <a:pos x="T38" y="T39"/>
                                </a:cxn>
                                <a:cxn ang="0">
                                  <a:pos x="T40" y="T41"/>
                                </a:cxn>
                                <a:cxn ang="0">
                                  <a:pos x="T42" y="T43"/>
                                </a:cxn>
                              </a:cxnLst>
                              <a:rect l="0" t="0" r="r" b="b"/>
                              <a:pathLst>
                                <a:path w="107" h="24">
                                  <a:moveTo>
                                    <a:pt x="10" y="24"/>
                                  </a:moveTo>
                                  <a:lnTo>
                                    <a:pt x="4" y="16"/>
                                  </a:lnTo>
                                  <a:lnTo>
                                    <a:pt x="1" y="11"/>
                                  </a:lnTo>
                                  <a:lnTo>
                                    <a:pt x="0" y="5"/>
                                  </a:lnTo>
                                  <a:lnTo>
                                    <a:pt x="4" y="1"/>
                                  </a:lnTo>
                                  <a:lnTo>
                                    <a:pt x="13" y="0"/>
                                  </a:lnTo>
                                  <a:lnTo>
                                    <a:pt x="25" y="7"/>
                                  </a:lnTo>
                                  <a:lnTo>
                                    <a:pt x="36" y="0"/>
                                  </a:lnTo>
                                  <a:lnTo>
                                    <a:pt x="47" y="3"/>
                                  </a:lnTo>
                                  <a:lnTo>
                                    <a:pt x="61" y="7"/>
                                  </a:lnTo>
                                  <a:lnTo>
                                    <a:pt x="75" y="8"/>
                                  </a:lnTo>
                                  <a:lnTo>
                                    <a:pt x="107" y="11"/>
                                  </a:lnTo>
                                  <a:lnTo>
                                    <a:pt x="98" y="16"/>
                                  </a:lnTo>
                                  <a:lnTo>
                                    <a:pt x="88" y="21"/>
                                  </a:lnTo>
                                  <a:lnTo>
                                    <a:pt x="77" y="21"/>
                                  </a:lnTo>
                                  <a:lnTo>
                                    <a:pt x="68" y="22"/>
                                  </a:lnTo>
                                  <a:lnTo>
                                    <a:pt x="55" y="19"/>
                                  </a:lnTo>
                                  <a:lnTo>
                                    <a:pt x="41" y="16"/>
                                  </a:lnTo>
                                  <a:lnTo>
                                    <a:pt x="33" y="21"/>
                                  </a:lnTo>
                                  <a:lnTo>
                                    <a:pt x="22" y="16"/>
                                  </a:lnTo>
                                  <a:lnTo>
                                    <a:pt x="12" y="13"/>
                                  </a:lnTo>
                                  <a:lnTo>
                                    <a:pt x="10" y="24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001F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 sz="3655"/>
                            </a:p>
                          </p:txBody>
                        </p:sp>
                      </p:grpSp>
                      <p:sp>
                        <p:nvSpPr>
                          <p:cNvPr id="349" name="Freeform 214"/>
                          <p:cNvSpPr/>
                          <p:nvPr/>
                        </p:nvSpPr>
                        <p:spPr bwMode="auto">
                          <a:xfrm>
                            <a:off x="5225" y="2360"/>
                            <a:ext cx="16" cy="9"/>
                          </a:xfrm>
                          <a:custGeom>
                            <a:avLst/>
                            <a:gdLst>
                              <a:gd name="T0" fmla="*/ 0 w 96"/>
                              <a:gd name="T1" fmla="*/ 14 h 49"/>
                              <a:gd name="T2" fmla="*/ 6 w 96"/>
                              <a:gd name="T3" fmla="*/ 18 h 49"/>
                              <a:gd name="T4" fmla="*/ 14 w 96"/>
                              <a:gd name="T5" fmla="*/ 22 h 49"/>
                              <a:gd name="T6" fmla="*/ 22 w 96"/>
                              <a:gd name="T7" fmla="*/ 23 h 49"/>
                              <a:gd name="T8" fmla="*/ 34 w 96"/>
                              <a:gd name="T9" fmla="*/ 23 h 49"/>
                              <a:gd name="T10" fmla="*/ 46 w 96"/>
                              <a:gd name="T11" fmla="*/ 22 h 49"/>
                              <a:gd name="T12" fmla="*/ 57 w 96"/>
                              <a:gd name="T13" fmla="*/ 19 h 49"/>
                              <a:gd name="T14" fmla="*/ 67 w 96"/>
                              <a:gd name="T15" fmla="*/ 17 h 49"/>
                              <a:gd name="T16" fmla="*/ 76 w 96"/>
                              <a:gd name="T17" fmla="*/ 14 h 49"/>
                              <a:gd name="T18" fmla="*/ 82 w 96"/>
                              <a:gd name="T19" fmla="*/ 8 h 49"/>
                              <a:gd name="T20" fmla="*/ 88 w 96"/>
                              <a:gd name="T21" fmla="*/ 5 h 49"/>
                              <a:gd name="T22" fmla="*/ 96 w 96"/>
                              <a:gd name="T23" fmla="*/ 0 h 49"/>
                              <a:gd name="T24" fmla="*/ 77 w 96"/>
                              <a:gd name="T25" fmla="*/ 18 h 49"/>
                              <a:gd name="T26" fmla="*/ 67 w 96"/>
                              <a:gd name="T27" fmla="*/ 26 h 49"/>
                              <a:gd name="T28" fmla="*/ 57 w 96"/>
                              <a:gd name="T29" fmla="*/ 34 h 49"/>
                              <a:gd name="T30" fmla="*/ 47 w 96"/>
                              <a:gd name="T31" fmla="*/ 43 h 49"/>
                              <a:gd name="T32" fmla="*/ 32 w 96"/>
                              <a:gd name="T33" fmla="*/ 49 h 49"/>
                              <a:gd name="T34" fmla="*/ 18 w 96"/>
                              <a:gd name="T35" fmla="*/ 49 h 49"/>
                              <a:gd name="T36" fmla="*/ 7 w 96"/>
                              <a:gd name="T37" fmla="*/ 44 h 49"/>
                              <a:gd name="T38" fmla="*/ 2 w 96"/>
                              <a:gd name="T39" fmla="*/ 34 h 49"/>
                              <a:gd name="T40" fmla="*/ 0 w 96"/>
                              <a:gd name="T41" fmla="*/ 14 h 49"/>
                            </a:gdLst>
                            <a:ahLst/>
                            <a:cxnLst>
                              <a:cxn ang="0">
                                <a:pos x="T0" y="T1"/>
                              </a:cxn>
                              <a:cxn ang="0">
                                <a:pos x="T2" y="T3"/>
                              </a:cxn>
                              <a:cxn ang="0">
                                <a:pos x="T4" y="T5"/>
                              </a:cxn>
                              <a:cxn ang="0">
                                <a:pos x="T6" y="T7"/>
                              </a:cxn>
                              <a:cxn ang="0">
                                <a:pos x="T8" y="T9"/>
                              </a:cxn>
                              <a:cxn ang="0">
                                <a:pos x="T10" y="T11"/>
                              </a:cxn>
                              <a:cxn ang="0">
                                <a:pos x="T12" y="T13"/>
                              </a:cxn>
                              <a:cxn ang="0">
                                <a:pos x="T14" y="T15"/>
                              </a:cxn>
                              <a:cxn ang="0">
                                <a:pos x="T16" y="T17"/>
                              </a:cxn>
                              <a:cxn ang="0">
                                <a:pos x="T18" y="T19"/>
                              </a:cxn>
                              <a:cxn ang="0">
                                <a:pos x="T20" y="T21"/>
                              </a:cxn>
                              <a:cxn ang="0">
                                <a:pos x="T22" y="T23"/>
                              </a:cxn>
                              <a:cxn ang="0">
                                <a:pos x="T24" y="T25"/>
                              </a:cxn>
                              <a:cxn ang="0">
                                <a:pos x="T26" y="T27"/>
                              </a:cxn>
                              <a:cxn ang="0">
                                <a:pos x="T28" y="T29"/>
                              </a:cxn>
                              <a:cxn ang="0">
                                <a:pos x="T30" y="T31"/>
                              </a:cxn>
                              <a:cxn ang="0">
                                <a:pos x="T32" y="T33"/>
                              </a:cxn>
                              <a:cxn ang="0">
                                <a:pos x="T34" y="T35"/>
                              </a:cxn>
                              <a:cxn ang="0">
                                <a:pos x="T36" y="T37"/>
                              </a:cxn>
                              <a:cxn ang="0">
                                <a:pos x="T38" y="T39"/>
                              </a:cxn>
                              <a:cxn ang="0">
                                <a:pos x="T40" y="T41"/>
                              </a:cxn>
                            </a:cxnLst>
                            <a:rect l="0" t="0" r="r" b="b"/>
                            <a:pathLst>
                              <a:path w="96" h="49">
                                <a:moveTo>
                                  <a:pt x="0" y="14"/>
                                </a:moveTo>
                                <a:lnTo>
                                  <a:pt x="6" y="18"/>
                                </a:lnTo>
                                <a:lnTo>
                                  <a:pt x="14" y="22"/>
                                </a:lnTo>
                                <a:lnTo>
                                  <a:pt x="22" y="23"/>
                                </a:lnTo>
                                <a:lnTo>
                                  <a:pt x="34" y="23"/>
                                </a:lnTo>
                                <a:lnTo>
                                  <a:pt x="46" y="22"/>
                                </a:lnTo>
                                <a:lnTo>
                                  <a:pt x="57" y="19"/>
                                </a:lnTo>
                                <a:lnTo>
                                  <a:pt x="67" y="17"/>
                                </a:lnTo>
                                <a:lnTo>
                                  <a:pt x="76" y="14"/>
                                </a:lnTo>
                                <a:lnTo>
                                  <a:pt x="82" y="8"/>
                                </a:lnTo>
                                <a:lnTo>
                                  <a:pt x="88" y="5"/>
                                </a:lnTo>
                                <a:lnTo>
                                  <a:pt x="96" y="0"/>
                                </a:lnTo>
                                <a:lnTo>
                                  <a:pt x="77" y="18"/>
                                </a:lnTo>
                                <a:lnTo>
                                  <a:pt x="67" y="26"/>
                                </a:lnTo>
                                <a:lnTo>
                                  <a:pt x="57" y="34"/>
                                </a:lnTo>
                                <a:lnTo>
                                  <a:pt x="47" y="43"/>
                                </a:lnTo>
                                <a:lnTo>
                                  <a:pt x="32" y="49"/>
                                </a:lnTo>
                                <a:lnTo>
                                  <a:pt x="18" y="49"/>
                                </a:lnTo>
                                <a:lnTo>
                                  <a:pt x="7" y="44"/>
                                </a:lnTo>
                                <a:lnTo>
                                  <a:pt x="2" y="34"/>
                                </a:lnTo>
                                <a:lnTo>
                                  <a:pt x="0" y="14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FF001F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round/>
                              </a14:hiddenLine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 sz="3655"/>
                          </a:p>
                        </p:txBody>
                      </p:sp>
                    </p:grpSp>
                    <p:sp>
                      <p:nvSpPr>
                        <p:cNvPr id="347" name="Freeform 215"/>
                        <p:cNvSpPr/>
                        <p:nvPr/>
                      </p:nvSpPr>
                      <p:spPr bwMode="auto">
                        <a:xfrm>
                          <a:off x="5226" y="2363"/>
                          <a:ext cx="10" cy="5"/>
                        </a:xfrm>
                        <a:custGeom>
                          <a:avLst/>
                          <a:gdLst>
                            <a:gd name="T0" fmla="*/ 0 w 62"/>
                            <a:gd name="T1" fmla="*/ 0 h 23"/>
                            <a:gd name="T2" fmla="*/ 9 w 62"/>
                            <a:gd name="T3" fmla="*/ 7 h 23"/>
                            <a:gd name="T4" fmla="*/ 21 w 62"/>
                            <a:gd name="T5" fmla="*/ 8 h 23"/>
                            <a:gd name="T6" fmla="*/ 34 w 62"/>
                            <a:gd name="T7" fmla="*/ 8 h 23"/>
                            <a:gd name="T8" fmla="*/ 52 w 62"/>
                            <a:gd name="T9" fmla="*/ 5 h 23"/>
                            <a:gd name="T10" fmla="*/ 62 w 62"/>
                            <a:gd name="T11" fmla="*/ 0 h 23"/>
                            <a:gd name="T12" fmla="*/ 48 w 62"/>
                            <a:gd name="T13" fmla="*/ 13 h 23"/>
                            <a:gd name="T14" fmla="*/ 38 w 62"/>
                            <a:gd name="T15" fmla="*/ 21 h 23"/>
                            <a:gd name="T16" fmla="*/ 28 w 62"/>
                            <a:gd name="T17" fmla="*/ 23 h 23"/>
                            <a:gd name="T18" fmla="*/ 15 w 62"/>
                            <a:gd name="T19" fmla="*/ 23 h 23"/>
                            <a:gd name="T20" fmla="*/ 6 w 62"/>
                            <a:gd name="T21" fmla="*/ 20 h 23"/>
                            <a:gd name="T22" fmla="*/ 1 w 62"/>
                            <a:gd name="T23" fmla="*/ 13 h 23"/>
                            <a:gd name="T24" fmla="*/ 0 w 62"/>
                            <a:gd name="T25" fmla="*/ 0 h 23"/>
                          </a:gdLst>
                          <a:ahLst/>
                          <a:cxnLst>
                            <a:cxn ang="0">
                              <a:pos x="T0" y="T1"/>
                            </a:cxn>
                            <a:cxn ang="0">
                              <a:pos x="T2" y="T3"/>
                            </a:cxn>
                            <a:cxn ang="0">
                              <a:pos x="T4" y="T5"/>
                            </a:cxn>
                            <a:cxn ang="0">
                              <a:pos x="T6" y="T7"/>
                            </a:cxn>
                            <a:cxn ang="0">
                              <a:pos x="T8" y="T9"/>
                            </a:cxn>
                            <a:cxn ang="0">
                              <a:pos x="T10" y="T11"/>
                            </a:cxn>
                            <a:cxn ang="0">
                              <a:pos x="T12" y="T13"/>
                            </a:cxn>
                            <a:cxn ang="0">
                              <a:pos x="T14" y="T15"/>
                            </a:cxn>
                            <a:cxn ang="0">
                              <a:pos x="T16" y="T17"/>
                            </a:cxn>
                            <a:cxn ang="0">
                              <a:pos x="T18" y="T19"/>
                            </a:cxn>
                            <a:cxn ang="0">
                              <a:pos x="T20" y="T21"/>
                            </a:cxn>
                            <a:cxn ang="0">
                              <a:pos x="T22" y="T23"/>
                            </a:cxn>
                            <a:cxn ang="0">
                              <a:pos x="T24" y="T25"/>
                            </a:cxn>
                          </a:cxnLst>
                          <a:rect l="0" t="0" r="r" b="b"/>
                          <a:pathLst>
                            <a:path w="62" h="23">
                              <a:moveTo>
                                <a:pt x="0" y="0"/>
                              </a:moveTo>
                              <a:lnTo>
                                <a:pt x="9" y="7"/>
                              </a:lnTo>
                              <a:lnTo>
                                <a:pt x="21" y="8"/>
                              </a:lnTo>
                              <a:lnTo>
                                <a:pt x="34" y="8"/>
                              </a:lnTo>
                              <a:lnTo>
                                <a:pt x="52" y="5"/>
                              </a:lnTo>
                              <a:lnTo>
                                <a:pt x="62" y="0"/>
                              </a:lnTo>
                              <a:lnTo>
                                <a:pt x="48" y="13"/>
                              </a:lnTo>
                              <a:lnTo>
                                <a:pt x="38" y="21"/>
                              </a:lnTo>
                              <a:lnTo>
                                <a:pt x="28" y="23"/>
                              </a:lnTo>
                              <a:lnTo>
                                <a:pt x="15" y="23"/>
                              </a:lnTo>
                              <a:lnTo>
                                <a:pt x="6" y="20"/>
                              </a:lnTo>
                              <a:lnTo>
                                <a:pt x="1" y="13"/>
                              </a:lnTo>
                              <a:lnTo>
                                <a:pt x="0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1F3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 sz="3655"/>
                        </a:p>
                      </p:txBody>
                    </p:sp>
                  </p:grpSp>
                  <p:sp>
                    <p:nvSpPr>
                      <p:cNvPr id="344" name="Oval 21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227" y="2365"/>
                        <a:ext cx="2" cy="1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</p:grpSp>
              <p:grpSp>
                <p:nvGrpSpPr>
                  <p:cNvPr id="337" name="Group 217"/>
                  <p:cNvGrpSpPr/>
                  <p:nvPr/>
                </p:nvGrpSpPr>
                <p:grpSpPr bwMode="auto">
                  <a:xfrm>
                    <a:off x="5261" y="2339"/>
                    <a:ext cx="12" cy="20"/>
                    <a:chOff x="5261" y="2339"/>
                    <a:chExt cx="12" cy="20"/>
                  </a:xfrm>
                </p:grpSpPr>
                <p:sp>
                  <p:nvSpPr>
                    <p:cNvPr id="338" name="Freeform 218"/>
                    <p:cNvSpPr/>
                    <p:nvPr/>
                  </p:nvSpPr>
                  <p:spPr bwMode="auto">
                    <a:xfrm>
                      <a:off x="5261" y="2339"/>
                      <a:ext cx="12" cy="20"/>
                    </a:xfrm>
                    <a:custGeom>
                      <a:avLst/>
                      <a:gdLst>
                        <a:gd name="T0" fmla="*/ 45 w 70"/>
                        <a:gd name="T1" fmla="*/ 0 h 98"/>
                        <a:gd name="T2" fmla="*/ 67 w 70"/>
                        <a:gd name="T3" fmla="*/ 8 h 98"/>
                        <a:gd name="T4" fmla="*/ 70 w 70"/>
                        <a:gd name="T5" fmla="*/ 11 h 98"/>
                        <a:gd name="T6" fmla="*/ 69 w 70"/>
                        <a:gd name="T7" fmla="*/ 50 h 98"/>
                        <a:gd name="T8" fmla="*/ 64 w 70"/>
                        <a:gd name="T9" fmla="*/ 71 h 98"/>
                        <a:gd name="T10" fmla="*/ 57 w 70"/>
                        <a:gd name="T11" fmla="*/ 88 h 98"/>
                        <a:gd name="T12" fmla="*/ 48 w 70"/>
                        <a:gd name="T13" fmla="*/ 95 h 98"/>
                        <a:gd name="T14" fmla="*/ 36 w 70"/>
                        <a:gd name="T15" fmla="*/ 98 h 98"/>
                        <a:gd name="T16" fmla="*/ 12 w 70"/>
                        <a:gd name="T17" fmla="*/ 90 h 98"/>
                        <a:gd name="T18" fmla="*/ 2 w 70"/>
                        <a:gd name="T19" fmla="*/ 80 h 98"/>
                        <a:gd name="T20" fmla="*/ 0 w 70"/>
                        <a:gd name="T21" fmla="*/ 72 h 98"/>
                        <a:gd name="T22" fmla="*/ 0 w 70"/>
                        <a:gd name="T23" fmla="*/ 67 h 98"/>
                        <a:gd name="T24" fmla="*/ 15 w 70"/>
                        <a:gd name="T25" fmla="*/ 37 h 98"/>
                        <a:gd name="T26" fmla="*/ 24 w 70"/>
                        <a:gd name="T27" fmla="*/ 11 h 98"/>
                        <a:gd name="T28" fmla="*/ 26 w 70"/>
                        <a:gd name="T29" fmla="*/ 4 h 98"/>
                        <a:gd name="T30" fmla="*/ 32 w 70"/>
                        <a:gd name="T31" fmla="*/ 0 h 98"/>
                        <a:gd name="T32" fmla="*/ 45 w 70"/>
                        <a:gd name="T33" fmla="*/ 0 h 9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</a:cxnLst>
                      <a:rect l="0" t="0" r="r" b="b"/>
                      <a:pathLst>
                        <a:path w="70" h="98">
                          <a:moveTo>
                            <a:pt x="45" y="0"/>
                          </a:moveTo>
                          <a:lnTo>
                            <a:pt x="67" y="8"/>
                          </a:lnTo>
                          <a:lnTo>
                            <a:pt x="70" y="11"/>
                          </a:lnTo>
                          <a:lnTo>
                            <a:pt x="69" y="50"/>
                          </a:lnTo>
                          <a:lnTo>
                            <a:pt x="64" y="71"/>
                          </a:lnTo>
                          <a:lnTo>
                            <a:pt x="57" y="88"/>
                          </a:lnTo>
                          <a:lnTo>
                            <a:pt x="48" y="95"/>
                          </a:lnTo>
                          <a:lnTo>
                            <a:pt x="36" y="98"/>
                          </a:lnTo>
                          <a:lnTo>
                            <a:pt x="12" y="90"/>
                          </a:lnTo>
                          <a:lnTo>
                            <a:pt x="2" y="80"/>
                          </a:lnTo>
                          <a:lnTo>
                            <a:pt x="0" y="72"/>
                          </a:lnTo>
                          <a:lnTo>
                            <a:pt x="0" y="67"/>
                          </a:lnTo>
                          <a:lnTo>
                            <a:pt x="15" y="37"/>
                          </a:lnTo>
                          <a:lnTo>
                            <a:pt x="24" y="11"/>
                          </a:lnTo>
                          <a:lnTo>
                            <a:pt x="26" y="4"/>
                          </a:lnTo>
                          <a:lnTo>
                            <a:pt x="32" y="0"/>
                          </a:lnTo>
                          <a:lnTo>
                            <a:pt x="45" y="0"/>
                          </a:lnTo>
                          <a:close/>
                        </a:path>
                      </a:pathLst>
                    </a:custGeom>
                    <a:solidFill>
                      <a:srgbClr val="FFBF1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39" name="Freeform 219"/>
                    <p:cNvSpPr/>
                    <p:nvPr/>
                  </p:nvSpPr>
                  <p:spPr bwMode="auto">
                    <a:xfrm>
                      <a:off x="5263" y="2339"/>
                      <a:ext cx="9" cy="19"/>
                    </a:xfrm>
                    <a:custGeom>
                      <a:avLst/>
                      <a:gdLst>
                        <a:gd name="T0" fmla="*/ 48 w 50"/>
                        <a:gd name="T1" fmla="*/ 5 h 94"/>
                        <a:gd name="T2" fmla="*/ 50 w 50"/>
                        <a:gd name="T3" fmla="*/ 12 h 94"/>
                        <a:gd name="T4" fmla="*/ 49 w 50"/>
                        <a:gd name="T5" fmla="*/ 35 h 94"/>
                        <a:gd name="T6" fmla="*/ 43 w 50"/>
                        <a:gd name="T7" fmla="*/ 57 h 94"/>
                        <a:gd name="T8" fmla="*/ 35 w 50"/>
                        <a:gd name="T9" fmla="*/ 74 h 94"/>
                        <a:gd name="T10" fmla="*/ 25 w 50"/>
                        <a:gd name="T11" fmla="*/ 87 h 94"/>
                        <a:gd name="T12" fmla="*/ 15 w 50"/>
                        <a:gd name="T13" fmla="*/ 94 h 94"/>
                        <a:gd name="T14" fmla="*/ 0 w 50"/>
                        <a:gd name="T15" fmla="*/ 90 h 94"/>
                        <a:gd name="T16" fmla="*/ 9 w 50"/>
                        <a:gd name="T17" fmla="*/ 77 h 94"/>
                        <a:gd name="T18" fmla="*/ 15 w 50"/>
                        <a:gd name="T19" fmla="*/ 66 h 94"/>
                        <a:gd name="T20" fmla="*/ 20 w 50"/>
                        <a:gd name="T21" fmla="*/ 52 h 94"/>
                        <a:gd name="T22" fmla="*/ 24 w 50"/>
                        <a:gd name="T23" fmla="*/ 38 h 94"/>
                        <a:gd name="T24" fmla="*/ 26 w 50"/>
                        <a:gd name="T25" fmla="*/ 29 h 94"/>
                        <a:gd name="T26" fmla="*/ 27 w 50"/>
                        <a:gd name="T27" fmla="*/ 17 h 94"/>
                        <a:gd name="T28" fmla="*/ 27 w 50"/>
                        <a:gd name="T29" fmla="*/ 0 h 94"/>
                        <a:gd name="T30" fmla="*/ 48 w 50"/>
                        <a:gd name="T31" fmla="*/ 5 h 9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</a:cxnLst>
                      <a:rect l="0" t="0" r="r" b="b"/>
                      <a:pathLst>
                        <a:path w="50" h="94">
                          <a:moveTo>
                            <a:pt x="48" y="5"/>
                          </a:moveTo>
                          <a:lnTo>
                            <a:pt x="50" y="12"/>
                          </a:lnTo>
                          <a:lnTo>
                            <a:pt x="49" y="35"/>
                          </a:lnTo>
                          <a:lnTo>
                            <a:pt x="43" y="57"/>
                          </a:lnTo>
                          <a:lnTo>
                            <a:pt x="35" y="74"/>
                          </a:lnTo>
                          <a:lnTo>
                            <a:pt x="25" y="87"/>
                          </a:lnTo>
                          <a:lnTo>
                            <a:pt x="15" y="94"/>
                          </a:lnTo>
                          <a:lnTo>
                            <a:pt x="0" y="90"/>
                          </a:lnTo>
                          <a:lnTo>
                            <a:pt x="9" y="77"/>
                          </a:lnTo>
                          <a:lnTo>
                            <a:pt x="15" y="66"/>
                          </a:lnTo>
                          <a:lnTo>
                            <a:pt x="20" y="52"/>
                          </a:lnTo>
                          <a:lnTo>
                            <a:pt x="24" y="38"/>
                          </a:lnTo>
                          <a:lnTo>
                            <a:pt x="26" y="29"/>
                          </a:lnTo>
                          <a:lnTo>
                            <a:pt x="27" y="17"/>
                          </a:lnTo>
                          <a:lnTo>
                            <a:pt x="27" y="0"/>
                          </a:lnTo>
                          <a:lnTo>
                            <a:pt x="48" y="5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  <p:sp>
              <p:nvSpPr>
                <p:cNvPr id="314" name="Freeform 220"/>
                <p:cNvSpPr/>
                <p:nvPr/>
              </p:nvSpPr>
              <p:spPr bwMode="auto">
                <a:xfrm>
                  <a:off x="5150" y="2439"/>
                  <a:ext cx="44" cy="55"/>
                </a:xfrm>
                <a:custGeom>
                  <a:avLst/>
                  <a:gdLst>
                    <a:gd name="T0" fmla="*/ 249 w 264"/>
                    <a:gd name="T1" fmla="*/ 97 h 272"/>
                    <a:gd name="T2" fmla="*/ 202 w 264"/>
                    <a:gd name="T3" fmla="*/ 21 h 272"/>
                    <a:gd name="T4" fmla="*/ 166 w 264"/>
                    <a:gd name="T5" fmla="*/ 0 h 272"/>
                    <a:gd name="T6" fmla="*/ 233 w 264"/>
                    <a:gd name="T7" fmla="*/ 113 h 272"/>
                    <a:gd name="T8" fmla="*/ 249 w 264"/>
                    <a:gd name="T9" fmla="*/ 171 h 272"/>
                    <a:gd name="T10" fmla="*/ 61 w 264"/>
                    <a:gd name="T11" fmla="*/ 196 h 272"/>
                    <a:gd name="T12" fmla="*/ 239 w 264"/>
                    <a:gd name="T13" fmla="*/ 191 h 272"/>
                    <a:gd name="T14" fmla="*/ 0 w 264"/>
                    <a:gd name="T15" fmla="*/ 272 h 272"/>
                    <a:gd name="T16" fmla="*/ 264 w 264"/>
                    <a:gd name="T17" fmla="*/ 208 h 272"/>
                    <a:gd name="T18" fmla="*/ 249 w 264"/>
                    <a:gd name="T19" fmla="*/ 97 h 2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64" h="272">
                      <a:moveTo>
                        <a:pt x="249" y="97"/>
                      </a:moveTo>
                      <a:lnTo>
                        <a:pt x="202" y="21"/>
                      </a:lnTo>
                      <a:lnTo>
                        <a:pt x="166" y="0"/>
                      </a:lnTo>
                      <a:lnTo>
                        <a:pt x="233" y="113"/>
                      </a:lnTo>
                      <a:lnTo>
                        <a:pt x="249" y="171"/>
                      </a:lnTo>
                      <a:lnTo>
                        <a:pt x="61" y="196"/>
                      </a:lnTo>
                      <a:lnTo>
                        <a:pt x="239" y="191"/>
                      </a:lnTo>
                      <a:lnTo>
                        <a:pt x="0" y="272"/>
                      </a:lnTo>
                      <a:lnTo>
                        <a:pt x="264" y="208"/>
                      </a:lnTo>
                      <a:lnTo>
                        <a:pt x="249" y="97"/>
                      </a:lnTo>
                      <a:close/>
                    </a:path>
                  </a:pathLst>
                </a:custGeom>
                <a:solidFill>
                  <a:srgbClr val="10ADD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3655"/>
                </a:p>
              </p:txBody>
            </p:sp>
            <p:grpSp>
              <p:nvGrpSpPr>
                <p:cNvPr id="315" name="Group 221"/>
                <p:cNvGrpSpPr/>
                <p:nvPr/>
              </p:nvGrpSpPr>
              <p:grpSpPr bwMode="auto">
                <a:xfrm>
                  <a:off x="5085" y="2483"/>
                  <a:ext cx="63" cy="66"/>
                  <a:chOff x="5085" y="2483"/>
                  <a:chExt cx="63" cy="66"/>
                </a:xfrm>
              </p:grpSpPr>
              <p:sp>
                <p:nvSpPr>
                  <p:cNvPr id="331" name="Freeform 222"/>
                  <p:cNvSpPr/>
                  <p:nvPr/>
                </p:nvSpPr>
                <p:spPr bwMode="auto">
                  <a:xfrm>
                    <a:off x="5142" y="2483"/>
                    <a:ext cx="6" cy="23"/>
                  </a:xfrm>
                  <a:custGeom>
                    <a:avLst/>
                    <a:gdLst>
                      <a:gd name="T0" fmla="*/ 17 w 35"/>
                      <a:gd name="T1" fmla="*/ 15 h 114"/>
                      <a:gd name="T2" fmla="*/ 35 w 35"/>
                      <a:gd name="T3" fmla="*/ 59 h 114"/>
                      <a:gd name="T4" fmla="*/ 29 w 35"/>
                      <a:gd name="T5" fmla="*/ 92 h 114"/>
                      <a:gd name="T6" fmla="*/ 17 w 35"/>
                      <a:gd name="T7" fmla="*/ 114 h 114"/>
                      <a:gd name="T8" fmla="*/ 12 w 35"/>
                      <a:gd name="T9" fmla="*/ 114 h 114"/>
                      <a:gd name="T10" fmla="*/ 12 w 35"/>
                      <a:gd name="T11" fmla="*/ 53 h 114"/>
                      <a:gd name="T12" fmla="*/ 0 w 35"/>
                      <a:gd name="T13" fmla="*/ 38 h 114"/>
                      <a:gd name="T14" fmla="*/ 6 w 35"/>
                      <a:gd name="T15" fmla="*/ 26 h 114"/>
                      <a:gd name="T16" fmla="*/ 17 w 35"/>
                      <a:gd name="T17" fmla="*/ 0 h 114"/>
                      <a:gd name="T18" fmla="*/ 17 w 35"/>
                      <a:gd name="T19" fmla="*/ 15 h 1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35" h="114">
                        <a:moveTo>
                          <a:pt x="17" y="15"/>
                        </a:moveTo>
                        <a:lnTo>
                          <a:pt x="35" y="59"/>
                        </a:lnTo>
                        <a:lnTo>
                          <a:pt x="29" y="92"/>
                        </a:lnTo>
                        <a:lnTo>
                          <a:pt x="17" y="114"/>
                        </a:lnTo>
                        <a:lnTo>
                          <a:pt x="12" y="114"/>
                        </a:lnTo>
                        <a:lnTo>
                          <a:pt x="12" y="53"/>
                        </a:lnTo>
                        <a:lnTo>
                          <a:pt x="0" y="38"/>
                        </a:lnTo>
                        <a:lnTo>
                          <a:pt x="6" y="26"/>
                        </a:lnTo>
                        <a:lnTo>
                          <a:pt x="17" y="0"/>
                        </a:lnTo>
                        <a:lnTo>
                          <a:pt x="17" y="15"/>
                        </a:lnTo>
                        <a:close/>
                      </a:path>
                    </a:pathLst>
                  </a:custGeom>
                  <a:solidFill>
                    <a:srgbClr val="10ADD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32" name="Freeform 223"/>
                  <p:cNvSpPr/>
                  <p:nvPr/>
                </p:nvSpPr>
                <p:spPr bwMode="auto">
                  <a:xfrm>
                    <a:off x="5085" y="2508"/>
                    <a:ext cx="25" cy="41"/>
                  </a:xfrm>
                  <a:custGeom>
                    <a:avLst/>
                    <a:gdLst>
                      <a:gd name="T0" fmla="*/ 36 w 147"/>
                      <a:gd name="T1" fmla="*/ 0 h 204"/>
                      <a:gd name="T2" fmla="*/ 89 w 147"/>
                      <a:gd name="T3" fmla="*/ 32 h 204"/>
                      <a:gd name="T4" fmla="*/ 121 w 147"/>
                      <a:gd name="T5" fmla="*/ 76 h 204"/>
                      <a:gd name="T6" fmla="*/ 137 w 147"/>
                      <a:gd name="T7" fmla="*/ 108 h 204"/>
                      <a:gd name="T8" fmla="*/ 141 w 147"/>
                      <a:gd name="T9" fmla="*/ 134 h 204"/>
                      <a:gd name="T10" fmla="*/ 147 w 147"/>
                      <a:gd name="T11" fmla="*/ 163 h 204"/>
                      <a:gd name="T12" fmla="*/ 147 w 147"/>
                      <a:gd name="T13" fmla="*/ 188 h 204"/>
                      <a:gd name="T14" fmla="*/ 94 w 147"/>
                      <a:gd name="T15" fmla="*/ 204 h 204"/>
                      <a:gd name="T16" fmla="*/ 84 w 147"/>
                      <a:gd name="T17" fmla="*/ 157 h 204"/>
                      <a:gd name="T18" fmla="*/ 79 w 147"/>
                      <a:gd name="T19" fmla="*/ 129 h 204"/>
                      <a:gd name="T20" fmla="*/ 53 w 147"/>
                      <a:gd name="T21" fmla="*/ 92 h 204"/>
                      <a:gd name="T22" fmla="*/ 36 w 147"/>
                      <a:gd name="T23" fmla="*/ 71 h 204"/>
                      <a:gd name="T24" fmla="*/ 21 w 147"/>
                      <a:gd name="T25" fmla="*/ 50 h 204"/>
                      <a:gd name="T26" fmla="*/ 0 w 147"/>
                      <a:gd name="T27" fmla="*/ 32 h 204"/>
                      <a:gd name="T28" fmla="*/ 36 w 147"/>
                      <a:gd name="T29" fmla="*/ 0 h 20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147" h="204">
                        <a:moveTo>
                          <a:pt x="36" y="0"/>
                        </a:moveTo>
                        <a:lnTo>
                          <a:pt x="89" y="32"/>
                        </a:lnTo>
                        <a:lnTo>
                          <a:pt x="121" y="76"/>
                        </a:lnTo>
                        <a:lnTo>
                          <a:pt x="137" y="108"/>
                        </a:lnTo>
                        <a:lnTo>
                          <a:pt x="141" y="134"/>
                        </a:lnTo>
                        <a:lnTo>
                          <a:pt x="147" y="163"/>
                        </a:lnTo>
                        <a:lnTo>
                          <a:pt x="147" y="188"/>
                        </a:lnTo>
                        <a:lnTo>
                          <a:pt x="94" y="204"/>
                        </a:lnTo>
                        <a:lnTo>
                          <a:pt x="84" y="157"/>
                        </a:lnTo>
                        <a:lnTo>
                          <a:pt x="79" y="129"/>
                        </a:lnTo>
                        <a:lnTo>
                          <a:pt x="53" y="92"/>
                        </a:lnTo>
                        <a:lnTo>
                          <a:pt x="36" y="71"/>
                        </a:lnTo>
                        <a:lnTo>
                          <a:pt x="21" y="50"/>
                        </a:lnTo>
                        <a:lnTo>
                          <a:pt x="0" y="32"/>
                        </a:lnTo>
                        <a:lnTo>
                          <a:pt x="36" y="0"/>
                        </a:lnTo>
                        <a:close/>
                      </a:path>
                    </a:pathLst>
                  </a:custGeom>
                  <a:solidFill>
                    <a:srgbClr val="007F9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  <p:grpSp>
              <p:nvGrpSpPr>
                <p:cNvPr id="316" name="Group 224"/>
                <p:cNvGrpSpPr/>
                <p:nvPr/>
              </p:nvGrpSpPr>
              <p:grpSpPr bwMode="auto">
                <a:xfrm>
                  <a:off x="5085" y="2397"/>
                  <a:ext cx="259" cy="316"/>
                  <a:chOff x="5085" y="2397"/>
                  <a:chExt cx="259" cy="316"/>
                </a:xfrm>
              </p:grpSpPr>
              <p:sp>
                <p:nvSpPr>
                  <p:cNvPr id="317" name="Freeform 225"/>
                  <p:cNvSpPr/>
                  <p:nvPr/>
                </p:nvSpPr>
                <p:spPr bwMode="auto">
                  <a:xfrm>
                    <a:off x="5256" y="2397"/>
                    <a:ext cx="88" cy="316"/>
                  </a:xfrm>
                  <a:custGeom>
                    <a:avLst/>
                    <a:gdLst>
                      <a:gd name="T0" fmla="*/ 78 w 527"/>
                      <a:gd name="T1" fmla="*/ 0 h 1580"/>
                      <a:gd name="T2" fmla="*/ 103 w 527"/>
                      <a:gd name="T3" fmla="*/ 16 h 1580"/>
                      <a:gd name="T4" fmla="*/ 132 w 527"/>
                      <a:gd name="T5" fmla="*/ 37 h 1580"/>
                      <a:gd name="T6" fmla="*/ 164 w 527"/>
                      <a:gd name="T7" fmla="*/ 58 h 1580"/>
                      <a:gd name="T8" fmla="*/ 211 w 527"/>
                      <a:gd name="T9" fmla="*/ 84 h 1580"/>
                      <a:gd name="T10" fmla="*/ 315 w 527"/>
                      <a:gd name="T11" fmla="*/ 151 h 1580"/>
                      <a:gd name="T12" fmla="*/ 360 w 527"/>
                      <a:gd name="T13" fmla="*/ 170 h 1580"/>
                      <a:gd name="T14" fmla="*/ 383 w 527"/>
                      <a:gd name="T15" fmla="*/ 180 h 1580"/>
                      <a:gd name="T16" fmla="*/ 406 w 527"/>
                      <a:gd name="T17" fmla="*/ 201 h 1580"/>
                      <a:gd name="T18" fmla="*/ 463 w 527"/>
                      <a:gd name="T19" fmla="*/ 463 h 1580"/>
                      <a:gd name="T20" fmla="*/ 471 w 527"/>
                      <a:gd name="T21" fmla="*/ 567 h 1580"/>
                      <a:gd name="T22" fmla="*/ 461 w 527"/>
                      <a:gd name="T23" fmla="*/ 596 h 1580"/>
                      <a:gd name="T24" fmla="*/ 486 w 527"/>
                      <a:gd name="T25" fmla="*/ 708 h 1580"/>
                      <a:gd name="T26" fmla="*/ 492 w 527"/>
                      <a:gd name="T27" fmla="*/ 892 h 1580"/>
                      <a:gd name="T28" fmla="*/ 504 w 527"/>
                      <a:gd name="T29" fmla="*/ 976 h 1580"/>
                      <a:gd name="T30" fmla="*/ 511 w 527"/>
                      <a:gd name="T31" fmla="*/ 1033 h 1580"/>
                      <a:gd name="T32" fmla="*/ 522 w 527"/>
                      <a:gd name="T33" fmla="*/ 1026 h 1580"/>
                      <a:gd name="T34" fmla="*/ 527 w 527"/>
                      <a:gd name="T35" fmla="*/ 1080 h 1580"/>
                      <a:gd name="T36" fmla="*/ 502 w 527"/>
                      <a:gd name="T37" fmla="*/ 1099 h 1580"/>
                      <a:gd name="T38" fmla="*/ 467 w 527"/>
                      <a:gd name="T39" fmla="*/ 1115 h 1580"/>
                      <a:gd name="T40" fmla="*/ 436 w 527"/>
                      <a:gd name="T41" fmla="*/ 1127 h 1580"/>
                      <a:gd name="T42" fmla="*/ 403 w 527"/>
                      <a:gd name="T43" fmla="*/ 1140 h 1580"/>
                      <a:gd name="T44" fmla="*/ 376 w 527"/>
                      <a:gd name="T45" fmla="*/ 1148 h 1580"/>
                      <a:gd name="T46" fmla="*/ 346 w 527"/>
                      <a:gd name="T47" fmla="*/ 1148 h 1580"/>
                      <a:gd name="T48" fmla="*/ 325 w 527"/>
                      <a:gd name="T49" fmla="*/ 1143 h 1580"/>
                      <a:gd name="T50" fmla="*/ 312 w 527"/>
                      <a:gd name="T51" fmla="*/ 1130 h 1580"/>
                      <a:gd name="T52" fmla="*/ 308 w 527"/>
                      <a:gd name="T53" fmla="*/ 1085 h 1580"/>
                      <a:gd name="T54" fmla="*/ 343 w 527"/>
                      <a:gd name="T55" fmla="*/ 1091 h 1580"/>
                      <a:gd name="T56" fmla="*/ 331 w 527"/>
                      <a:gd name="T57" fmla="*/ 1058 h 1580"/>
                      <a:gd name="T58" fmla="*/ 333 w 527"/>
                      <a:gd name="T59" fmla="*/ 995 h 1580"/>
                      <a:gd name="T60" fmla="*/ 325 w 527"/>
                      <a:gd name="T61" fmla="*/ 958 h 1580"/>
                      <a:gd name="T62" fmla="*/ 318 w 527"/>
                      <a:gd name="T63" fmla="*/ 915 h 1580"/>
                      <a:gd name="T64" fmla="*/ 307 w 527"/>
                      <a:gd name="T65" fmla="*/ 854 h 1580"/>
                      <a:gd name="T66" fmla="*/ 287 w 527"/>
                      <a:gd name="T67" fmla="*/ 788 h 1580"/>
                      <a:gd name="T68" fmla="*/ 270 w 527"/>
                      <a:gd name="T69" fmla="*/ 625 h 1580"/>
                      <a:gd name="T70" fmla="*/ 240 w 527"/>
                      <a:gd name="T71" fmla="*/ 860 h 1580"/>
                      <a:gd name="T72" fmla="*/ 252 w 527"/>
                      <a:gd name="T73" fmla="*/ 1004 h 1580"/>
                      <a:gd name="T74" fmla="*/ 294 w 527"/>
                      <a:gd name="T75" fmla="*/ 1154 h 1580"/>
                      <a:gd name="T76" fmla="*/ 386 w 527"/>
                      <a:gd name="T77" fmla="*/ 1436 h 1580"/>
                      <a:gd name="T78" fmla="*/ 313 w 527"/>
                      <a:gd name="T79" fmla="*/ 1491 h 1580"/>
                      <a:gd name="T80" fmla="*/ 264 w 527"/>
                      <a:gd name="T81" fmla="*/ 1520 h 1580"/>
                      <a:gd name="T82" fmla="*/ 227 w 527"/>
                      <a:gd name="T83" fmla="*/ 1539 h 1580"/>
                      <a:gd name="T84" fmla="*/ 203 w 527"/>
                      <a:gd name="T85" fmla="*/ 1545 h 1580"/>
                      <a:gd name="T86" fmla="*/ 173 w 527"/>
                      <a:gd name="T87" fmla="*/ 1555 h 1580"/>
                      <a:gd name="T88" fmla="*/ 142 w 527"/>
                      <a:gd name="T89" fmla="*/ 1566 h 1580"/>
                      <a:gd name="T90" fmla="*/ 103 w 527"/>
                      <a:gd name="T91" fmla="*/ 1580 h 1580"/>
                      <a:gd name="T92" fmla="*/ 56 w 527"/>
                      <a:gd name="T93" fmla="*/ 1283 h 1580"/>
                      <a:gd name="T94" fmla="*/ 26 w 527"/>
                      <a:gd name="T95" fmla="*/ 1080 h 1580"/>
                      <a:gd name="T96" fmla="*/ 9 w 527"/>
                      <a:gd name="T97" fmla="*/ 887 h 1580"/>
                      <a:gd name="T98" fmla="*/ 0 w 527"/>
                      <a:gd name="T99" fmla="*/ 625 h 1580"/>
                      <a:gd name="T100" fmla="*/ 1 w 527"/>
                      <a:gd name="T101" fmla="*/ 519 h 1580"/>
                      <a:gd name="T102" fmla="*/ 8 w 527"/>
                      <a:gd name="T103" fmla="*/ 414 h 1580"/>
                      <a:gd name="T104" fmla="*/ 29 w 527"/>
                      <a:gd name="T105" fmla="*/ 262 h 1580"/>
                      <a:gd name="T106" fmla="*/ 40 w 527"/>
                      <a:gd name="T107" fmla="*/ 226 h 1580"/>
                      <a:gd name="T108" fmla="*/ 56 w 527"/>
                      <a:gd name="T109" fmla="*/ 183 h 1580"/>
                      <a:gd name="T110" fmla="*/ 67 w 527"/>
                      <a:gd name="T111" fmla="*/ 138 h 1580"/>
                      <a:gd name="T112" fmla="*/ 73 w 527"/>
                      <a:gd name="T113" fmla="*/ 106 h 1580"/>
                      <a:gd name="T114" fmla="*/ 80 w 527"/>
                      <a:gd name="T115" fmla="*/ 62 h 1580"/>
                      <a:gd name="T116" fmla="*/ 78 w 527"/>
                      <a:gd name="T117" fmla="*/ 0 h 158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</a:cxnLst>
                    <a:rect l="0" t="0" r="r" b="b"/>
                    <a:pathLst>
                      <a:path w="527" h="1580">
                        <a:moveTo>
                          <a:pt x="78" y="0"/>
                        </a:moveTo>
                        <a:lnTo>
                          <a:pt x="103" y="16"/>
                        </a:lnTo>
                        <a:lnTo>
                          <a:pt x="132" y="37"/>
                        </a:lnTo>
                        <a:lnTo>
                          <a:pt x="164" y="58"/>
                        </a:lnTo>
                        <a:lnTo>
                          <a:pt x="211" y="84"/>
                        </a:lnTo>
                        <a:lnTo>
                          <a:pt x="315" y="151"/>
                        </a:lnTo>
                        <a:lnTo>
                          <a:pt x="360" y="170"/>
                        </a:lnTo>
                        <a:lnTo>
                          <a:pt x="383" y="180"/>
                        </a:lnTo>
                        <a:lnTo>
                          <a:pt x="406" y="201"/>
                        </a:lnTo>
                        <a:lnTo>
                          <a:pt x="463" y="463"/>
                        </a:lnTo>
                        <a:lnTo>
                          <a:pt x="471" y="567"/>
                        </a:lnTo>
                        <a:lnTo>
                          <a:pt x="461" y="596"/>
                        </a:lnTo>
                        <a:lnTo>
                          <a:pt x="486" y="708"/>
                        </a:lnTo>
                        <a:lnTo>
                          <a:pt x="492" y="892"/>
                        </a:lnTo>
                        <a:lnTo>
                          <a:pt x="504" y="976"/>
                        </a:lnTo>
                        <a:lnTo>
                          <a:pt x="511" y="1033"/>
                        </a:lnTo>
                        <a:lnTo>
                          <a:pt x="522" y="1026"/>
                        </a:lnTo>
                        <a:lnTo>
                          <a:pt x="527" y="1080"/>
                        </a:lnTo>
                        <a:lnTo>
                          <a:pt x="502" y="1099"/>
                        </a:lnTo>
                        <a:lnTo>
                          <a:pt x="467" y="1115"/>
                        </a:lnTo>
                        <a:lnTo>
                          <a:pt x="436" y="1127"/>
                        </a:lnTo>
                        <a:lnTo>
                          <a:pt x="403" y="1140"/>
                        </a:lnTo>
                        <a:lnTo>
                          <a:pt x="376" y="1148"/>
                        </a:lnTo>
                        <a:lnTo>
                          <a:pt x="346" y="1148"/>
                        </a:lnTo>
                        <a:lnTo>
                          <a:pt x="325" y="1143"/>
                        </a:lnTo>
                        <a:lnTo>
                          <a:pt x="312" y="1130"/>
                        </a:lnTo>
                        <a:lnTo>
                          <a:pt x="308" y="1085"/>
                        </a:lnTo>
                        <a:lnTo>
                          <a:pt x="343" y="1091"/>
                        </a:lnTo>
                        <a:lnTo>
                          <a:pt x="331" y="1058"/>
                        </a:lnTo>
                        <a:lnTo>
                          <a:pt x="333" y="995"/>
                        </a:lnTo>
                        <a:lnTo>
                          <a:pt x="325" y="958"/>
                        </a:lnTo>
                        <a:lnTo>
                          <a:pt x="318" y="915"/>
                        </a:lnTo>
                        <a:lnTo>
                          <a:pt x="307" y="854"/>
                        </a:lnTo>
                        <a:lnTo>
                          <a:pt x="287" y="788"/>
                        </a:lnTo>
                        <a:lnTo>
                          <a:pt x="270" y="625"/>
                        </a:lnTo>
                        <a:lnTo>
                          <a:pt x="240" y="860"/>
                        </a:lnTo>
                        <a:lnTo>
                          <a:pt x="252" y="1004"/>
                        </a:lnTo>
                        <a:lnTo>
                          <a:pt x="294" y="1154"/>
                        </a:lnTo>
                        <a:lnTo>
                          <a:pt x="386" y="1436"/>
                        </a:lnTo>
                        <a:lnTo>
                          <a:pt x="313" y="1491"/>
                        </a:lnTo>
                        <a:lnTo>
                          <a:pt x="264" y="1520"/>
                        </a:lnTo>
                        <a:lnTo>
                          <a:pt x="227" y="1539"/>
                        </a:lnTo>
                        <a:lnTo>
                          <a:pt x="203" y="1545"/>
                        </a:lnTo>
                        <a:lnTo>
                          <a:pt x="173" y="1555"/>
                        </a:lnTo>
                        <a:lnTo>
                          <a:pt x="142" y="1566"/>
                        </a:lnTo>
                        <a:lnTo>
                          <a:pt x="103" y="1580"/>
                        </a:lnTo>
                        <a:lnTo>
                          <a:pt x="56" y="1283"/>
                        </a:lnTo>
                        <a:lnTo>
                          <a:pt x="26" y="1080"/>
                        </a:lnTo>
                        <a:lnTo>
                          <a:pt x="9" y="887"/>
                        </a:lnTo>
                        <a:lnTo>
                          <a:pt x="0" y="625"/>
                        </a:lnTo>
                        <a:lnTo>
                          <a:pt x="1" y="519"/>
                        </a:lnTo>
                        <a:lnTo>
                          <a:pt x="8" y="414"/>
                        </a:lnTo>
                        <a:lnTo>
                          <a:pt x="29" y="262"/>
                        </a:lnTo>
                        <a:lnTo>
                          <a:pt x="40" y="226"/>
                        </a:lnTo>
                        <a:lnTo>
                          <a:pt x="56" y="183"/>
                        </a:lnTo>
                        <a:lnTo>
                          <a:pt x="67" y="138"/>
                        </a:lnTo>
                        <a:lnTo>
                          <a:pt x="73" y="106"/>
                        </a:lnTo>
                        <a:lnTo>
                          <a:pt x="80" y="62"/>
                        </a:lnTo>
                        <a:lnTo>
                          <a:pt x="78" y="0"/>
                        </a:lnTo>
                        <a:close/>
                      </a:path>
                    </a:pathLst>
                  </a:custGeom>
                  <a:solidFill>
                    <a:srgbClr val="00D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18" name="Freeform 226"/>
                  <p:cNvSpPr/>
                  <p:nvPr/>
                </p:nvSpPr>
                <p:spPr bwMode="auto">
                  <a:xfrm>
                    <a:off x="5085" y="2397"/>
                    <a:ext cx="149" cy="293"/>
                  </a:xfrm>
                  <a:custGeom>
                    <a:avLst/>
                    <a:gdLst>
                      <a:gd name="T0" fmla="*/ 875 w 896"/>
                      <a:gd name="T1" fmla="*/ 17 h 1465"/>
                      <a:gd name="T2" fmla="*/ 795 w 896"/>
                      <a:gd name="T3" fmla="*/ 19 h 1465"/>
                      <a:gd name="T4" fmla="*/ 716 w 896"/>
                      <a:gd name="T5" fmla="*/ 31 h 1465"/>
                      <a:gd name="T6" fmla="*/ 689 w 896"/>
                      <a:gd name="T7" fmla="*/ 29 h 1465"/>
                      <a:gd name="T8" fmla="*/ 661 w 896"/>
                      <a:gd name="T9" fmla="*/ 44 h 1465"/>
                      <a:gd name="T10" fmla="*/ 645 w 896"/>
                      <a:gd name="T11" fmla="*/ 62 h 1465"/>
                      <a:gd name="T12" fmla="*/ 623 w 896"/>
                      <a:gd name="T13" fmla="*/ 99 h 1465"/>
                      <a:gd name="T14" fmla="*/ 547 w 896"/>
                      <a:gd name="T15" fmla="*/ 188 h 1465"/>
                      <a:gd name="T16" fmla="*/ 513 w 896"/>
                      <a:gd name="T17" fmla="*/ 223 h 1465"/>
                      <a:gd name="T18" fmla="*/ 360 w 896"/>
                      <a:gd name="T19" fmla="*/ 414 h 1465"/>
                      <a:gd name="T20" fmla="*/ 349 w 896"/>
                      <a:gd name="T21" fmla="*/ 432 h 1465"/>
                      <a:gd name="T22" fmla="*/ 219 w 896"/>
                      <a:gd name="T23" fmla="*/ 481 h 1465"/>
                      <a:gd name="T24" fmla="*/ 56 w 896"/>
                      <a:gd name="T25" fmla="*/ 566 h 1465"/>
                      <a:gd name="T26" fmla="*/ 0 w 896"/>
                      <a:gd name="T27" fmla="*/ 589 h 1465"/>
                      <a:gd name="T28" fmla="*/ 48 w 896"/>
                      <a:gd name="T29" fmla="*/ 635 h 1465"/>
                      <a:gd name="T30" fmla="*/ 81 w 896"/>
                      <a:gd name="T31" fmla="*/ 688 h 1465"/>
                      <a:gd name="T32" fmla="*/ 98 w 896"/>
                      <a:gd name="T33" fmla="*/ 758 h 1465"/>
                      <a:gd name="T34" fmla="*/ 146 w 896"/>
                      <a:gd name="T35" fmla="*/ 715 h 1465"/>
                      <a:gd name="T36" fmla="*/ 373 w 896"/>
                      <a:gd name="T37" fmla="*/ 625 h 1465"/>
                      <a:gd name="T38" fmla="*/ 635 w 896"/>
                      <a:gd name="T39" fmla="*/ 426 h 1465"/>
                      <a:gd name="T40" fmla="*/ 667 w 896"/>
                      <a:gd name="T41" fmla="*/ 589 h 1465"/>
                      <a:gd name="T42" fmla="*/ 728 w 896"/>
                      <a:gd name="T43" fmla="*/ 772 h 1465"/>
                      <a:gd name="T44" fmla="*/ 679 w 896"/>
                      <a:gd name="T45" fmla="*/ 927 h 1465"/>
                      <a:gd name="T46" fmla="*/ 600 w 896"/>
                      <a:gd name="T47" fmla="*/ 1096 h 1465"/>
                      <a:gd name="T48" fmla="*/ 528 w 896"/>
                      <a:gd name="T49" fmla="*/ 1271 h 1465"/>
                      <a:gd name="T50" fmla="*/ 531 w 896"/>
                      <a:gd name="T51" fmla="*/ 1325 h 1465"/>
                      <a:gd name="T52" fmla="*/ 639 w 896"/>
                      <a:gd name="T53" fmla="*/ 1465 h 1465"/>
                      <a:gd name="T54" fmla="*/ 715 w 896"/>
                      <a:gd name="T55" fmla="*/ 1293 h 1465"/>
                      <a:gd name="T56" fmla="*/ 737 w 896"/>
                      <a:gd name="T57" fmla="*/ 1183 h 1465"/>
                      <a:gd name="T58" fmla="*/ 760 w 896"/>
                      <a:gd name="T59" fmla="*/ 968 h 1465"/>
                      <a:gd name="T60" fmla="*/ 780 w 896"/>
                      <a:gd name="T61" fmla="*/ 486 h 1465"/>
                      <a:gd name="T62" fmla="*/ 844 w 896"/>
                      <a:gd name="T63" fmla="*/ 142 h 1465"/>
                      <a:gd name="T64" fmla="*/ 860 w 896"/>
                      <a:gd name="T65" fmla="*/ 92 h 1465"/>
                      <a:gd name="T66" fmla="*/ 883 w 896"/>
                      <a:gd name="T67" fmla="*/ 37 h 1465"/>
                      <a:gd name="T68" fmla="*/ 896 w 896"/>
                      <a:gd name="T69" fmla="*/ 0 h 146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</a:cxnLst>
                    <a:rect l="0" t="0" r="r" b="b"/>
                    <a:pathLst>
                      <a:path w="896" h="1465">
                        <a:moveTo>
                          <a:pt x="896" y="0"/>
                        </a:moveTo>
                        <a:lnTo>
                          <a:pt x="875" y="17"/>
                        </a:lnTo>
                        <a:lnTo>
                          <a:pt x="829" y="17"/>
                        </a:lnTo>
                        <a:lnTo>
                          <a:pt x="795" y="19"/>
                        </a:lnTo>
                        <a:lnTo>
                          <a:pt x="760" y="23"/>
                        </a:lnTo>
                        <a:lnTo>
                          <a:pt x="716" y="31"/>
                        </a:lnTo>
                        <a:lnTo>
                          <a:pt x="703" y="28"/>
                        </a:lnTo>
                        <a:lnTo>
                          <a:pt x="689" y="29"/>
                        </a:lnTo>
                        <a:lnTo>
                          <a:pt x="676" y="34"/>
                        </a:lnTo>
                        <a:lnTo>
                          <a:pt x="661" y="44"/>
                        </a:lnTo>
                        <a:lnTo>
                          <a:pt x="655" y="54"/>
                        </a:lnTo>
                        <a:lnTo>
                          <a:pt x="645" y="62"/>
                        </a:lnTo>
                        <a:lnTo>
                          <a:pt x="632" y="76"/>
                        </a:lnTo>
                        <a:lnTo>
                          <a:pt x="623" y="99"/>
                        </a:lnTo>
                        <a:lnTo>
                          <a:pt x="612" y="115"/>
                        </a:lnTo>
                        <a:lnTo>
                          <a:pt x="547" y="188"/>
                        </a:lnTo>
                        <a:lnTo>
                          <a:pt x="532" y="191"/>
                        </a:lnTo>
                        <a:lnTo>
                          <a:pt x="513" y="223"/>
                        </a:lnTo>
                        <a:lnTo>
                          <a:pt x="357" y="405"/>
                        </a:lnTo>
                        <a:lnTo>
                          <a:pt x="360" y="414"/>
                        </a:lnTo>
                        <a:lnTo>
                          <a:pt x="343" y="421"/>
                        </a:lnTo>
                        <a:lnTo>
                          <a:pt x="349" y="432"/>
                        </a:lnTo>
                        <a:lnTo>
                          <a:pt x="292" y="455"/>
                        </a:lnTo>
                        <a:lnTo>
                          <a:pt x="219" y="481"/>
                        </a:lnTo>
                        <a:lnTo>
                          <a:pt x="179" y="505"/>
                        </a:lnTo>
                        <a:lnTo>
                          <a:pt x="56" y="566"/>
                        </a:lnTo>
                        <a:lnTo>
                          <a:pt x="37" y="561"/>
                        </a:lnTo>
                        <a:lnTo>
                          <a:pt x="0" y="589"/>
                        </a:lnTo>
                        <a:lnTo>
                          <a:pt x="23" y="607"/>
                        </a:lnTo>
                        <a:lnTo>
                          <a:pt x="48" y="635"/>
                        </a:lnTo>
                        <a:lnTo>
                          <a:pt x="66" y="661"/>
                        </a:lnTo>
                        <a:lnTo>
                          <a:pt x="81" y="688"/>
                        </a:lnTo>
                        <a:lnTo>
                          <a:pt x="93" y="733"/>
                        </a:lnTo>
                        <a:lnTo>
                          <a:pt x="98" y="758"/>
                        </a:lnTo>
                        <a:lnTo>
                          <a:pt x="146" y="745"/>
                        </a:lnTo>
                        <a:lnTo>
                          <a:pt x="146" y="715"/>
                        </a:lnTo>
                        <a:lnTo>
                          <a:pt x="299" y="664"/>
                        </a:lnTo>
                        <a:lnTo>
                          <a:pt x="373" y="625"/>
                        </a:lnTo>
                        <a:lnTo>
                          <a:pt x="468" y="575"/>
                        </a:lnTo>
                        <a:lnTo>
                          <a:pt x="635" y="426"/>
                        </a:lnTo>
                        <a:lnTo>
                          <a:pt x="657" y="531"/>
                        </a:lnTo>
                        <a:lnTo>
                          <a:pt x="667" y="589"/>
                        </a:lnTo>
                        <a:lnTo>
                          <a:pt x="683" y="647"/>
                        </a:lnTo>
                        <a:lnTo>
                          <a:pt x="728" y="772"/>
                        </a:lnTo>
                        <a:lnTo>
                          <a:pt x="706" y="848"/>
                        </a:lnTo>
                        <a:lnTo>
                          <a:pt x="679" y="927"/>
                        </a:lnTo>
                        <a:lnTo>
                          <a:pt x="638" y="1020"/>
                        </a:lnTo>
                        <a:lnTo>
                          <a:pt x="600" y="1096"/>
                        </a:lnTo>
                        <a:lnTo>
                          <a:pt x="532" y="1240"/>
                        </a:lnTo>
                        <a:lnTo>
                          <a:pt x="528" y="1271"/>
                        </a:lnTo>
                        <a:lnTo>
                          <a:pt x="529" y="1298"/>
                        </a:lnTo>
                        <a:lnTo>
                          <a:pt x="531" y="1325"/>
                        </a:lnTo>
                        <a:lnTo>
                          <a:pt x="601" y="1428"/>
                        </a:lnTo>
                        <a:lnTo>
                          <a:pt x="639" y="1465"/>
                        </a:lnTo>
                        <a:lnTo>
                          <a:pt x="700" y="1363"/>
                        </a:lnTo>
                        <a:lnTo>
                          <a:pt x="715" y="1293"/>
                        </a:lnTo>
                        <a:lnTo>
                          <a:pt x="730" y="1233"/>
                        </a:lnTo>
                        <a:lnTo>
                          <a:pt x="737" y="1183"/>
                        </a:lnTo>
                        <a:lnTo>
                          <a:pt x="750" y="1095"/>
                        </a:lnTo>
                        <a:lnTo>
                          <a:pt x="760" y="968"/>
                        </a:lnTo>
                        <a:lnTo>
                          <a:pt x="773" y="751"/>
                        </a:lnTo>
                        <a:lnTo>
                          <a:pt x="780" y="486"/>
                        </a:lnTo>
                        <a:lnTo>
                          <a:pt x="834" y="174"/>
                        </a:lnTo>
                        <a:lnTo>
                          <a:pt x="844" y="142"/>
                        </a:lnTo>
                        <a:lnTo>
                          <a:pt x="851" y="123"/>
                        </a:lnTo>
                        <a:lnTo>
                          <a:pt x="860" y="92"/>
                        </a:lnTo>
                        <a:lnTo>
                          <a:pt x="870" y="65"/>
                        </a:lnTo>
                        <a:lnTo>
                          <a:pt x="883" y="37"/>
                        </a:lnTo>
                        <a:lnTo>
                          <a:pt x="894" y="13"/>
                        </a:lnTo>
                        <a:lnTo>
                          <a:pt x="896" y="0"/>
                        </a:lnTo>
                        <a:close/>
                      </a:path>
                    </a:pathLst>
                  </a:custGeom>
                  <a:solidFill>
                    <a:srgbClr val="00D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grpSp>
                <p:nvGrpSpPr>
                  <p:cNvPr id="319" name="Group 227"/>
                  <p:cNvGrpSpPr/>
                  <p:nvPr/>
                </p:nvGrpSpPr>
                <p:grpSpPr bwMode="auto">
                  <a:xfrm>
                    <a:off x="5256" y="2397"/>
                    <a:ext cx="31" cy="259"/>
                    <a:chOff x="5256" y="2397"/>
                    <a:chExt cx="31" cy="259"/>
                  </a:xfrm>
                </p:grpSpPr>
                <p:sp>
                  <p:nvSpPr>
                    <p:cNvPr id="329" name="Freeform 228"/>
                    <p:cNvSpPr/>
                    <p:nvPr/>
                  </p:nvSpPr>
                  <p:spPr bwMode="auto">
                    <a:xfrm>
                      <a:off x="5257" y="2400"/>
                      <a:ext cx="30" cy="256"/>
                    </a:xfrm>
                    <a:custGeom>
                      <a:avLst/>
                      <a:gdLst>
                        <a:gd name="T0" fmla="*/ 79 w 179"/>
                        <a:gd name="T1" fmla="*/ 0 h 1283"/>
                        <a:gd name="T2" fmla="*/ 104 w 179"/>
                        <a:gd name="T3" fmla="*/ 16 h 1283"/>
                        <a:gd name="T4" fmla="*/ 133 w 179"/>
                        <a:gd name="T5" fmla="*/ 37 h 1283"/>
                        <a:gd name="T6" fmla="*/ 142 w 179"/>
                        <a:gd name="T7" fmla="*/ 48 h 1283"/>
                        <a:gd name="T8" fmla="*/ 155 w 179"/>
                        <a:gd name="T9" fmla="*/ 81 h 1283"/>
                        <a:gd name="T10" fmla="*/ 159 w 179"/>
                        <a:gd name="T11" fmla="*/ 112 h 1283"/>
                        <a:gd name="T12" fmla="*/ 163 w 179"/>
                        <a:gd name="T13" fmla="*/ 143 h 1283"/>
                        <a:gd name="T14" fmla="*/ 165 w 179"/>
                        <a:gd name="T15" fmla="*/ 174 h 1283"/>
                        <a:gd name="T16" fmla="*/ 170 w 179"/>
                        <a:gd name="T17" fmla="*/ 204 h 1283"/>
                        <a:gd name="T18" fmla="*/ 173 w 179"/>
                        <a:gd name="T19" fmla="*/ 230 h 1283"/>
                        <a:gd name="T20" fmla="*/ 176 w 179"/>
                        <a:gd name="T21" fmla="*/ 256 h 1283"/>
                        <a:gd name="T22" fmla="*/ 179 w 179"/>
                        <a:gd name="T23" fmla="*/ 273 h 1283"/>
                        <a:gd name="T24" fmla="*/ 178 w 179"/>
                        <a:gd name="T25" fmla="*/ 287 h 1283"/>
                        <a:gd name="T26" fmla="*/ 177 w 179"/>
                        <a:gd name="T27" fmla="*/ 298 h 1283"/>
                        <a:gd name="T28" fmla="*/ 173 w 179"/>
                        <a:gd name="T29" fmla="*/ 308 h 1283"/>
                        <a:gd name="T30" fmla="*/ 165 w 179"/>
                        <a:gd name="T31" fmla="*/ 316 h 1283"/>
                        <a:gd name="T32" fmla="*/ 143 w 179"/>
                        <a:gd name="T33" fmla="*/ 327 h 1283"/>
                        <a:gd name="T34" fmla="*/ 60 w 179"/>
                        <a:gd name="T35" fmla="*/ 368 h 1283"/>
                        <a:gd name="T36" fmla="*/ 130 w 179"/>
                        <a:gd name="T37" fmla="*/ 452 h 1283"/>
                        <a:gd name="T38" fmla="*/ 160 w 179"/>
                        <a:gd name="T39" fmla="*/ 486 h 1283"/>
                        <a:gd name="T40" fmla="*/ 171 w 179"/>
                        <a:gd name="T41" fmla="*/ 508 h 1283"/>
                        <a:gd name="T42" fmla="*/ 158 w 179"/>
                        <a:gd name="T43" fmla="*/ 540 h 1283"/>
                        <a:gd name="T44" fmla="*/ 122 w 179"/>
                        <a:gd name="T45" fmla="*/ 619 h 1283"/>
                        <a:gd name="T46" fmla="*/ 88 w 179"/>
                        <a:gd name="T47" fmla="*/ 677 h 1283"/>
                        <a:gd name="T48" fmla="*/ 61 w 179"/>
                        <a:gd name="T49" fmla="*/ 742 h 1283"/>
                        <a:gd name="T50" fmla="*/ 47 w 179"/>
                        <a:gd name="T51" fmla="*/ 790 h 1283"/>
                        <a:gd name="T52" fmla="*/ 27 w 179"/>
                        <a:gd name="T53" fmla="*/ 838 h 1283"/>
                        <a:gd name="T54" fmla="*/ 20 w 179"/>
                        <a:gd name="T55" fmla="*/ 875 h 1283"/>
                        <a:gd name="T56" fmla="*/ 20 w 179"/>
                        <a:gd name="T57" fmla="*/ 923 h 1283"/>
                        <a:gd name="T58" fmla="*/ 57 w 179"/>
                        <a:gd name="T59" fmla="*/ 1283 h 1283"/>
                        <a:gd name="T60" fmla="*/ 26 w 179"/>
                        <a:gd name="T61" fmla="*/ 1081 h 1283"/>
                        <a:gd name="T62" fmla="*/ 10 w 179"/>
                        <a:gd name="T63" fmla="*/ 887 h 1283"/>
                        <a:gd name="T64" fmla="*/ 0 w 179"/>
                        <a:gd name="T65" fmla="*/ 625 h 1283"/>
                        <a:gd name="T66" fmla="*/ 1 w 179"/>
                        <a:gd name="T67" fmla="*/ 519 h 1283"/>
                        <a:gd name="T68" fmla="*/ 8 w 179"/>
                        <a:gd name="T69" fmla="*/ 414 h 1283"/>
                        <a:gd name="T70" fmla="*/ 29 w 179"/>
                        <a:gd name="T71" fmla="*/ 262 h 1283"/>
                        <a:gd name="T72" fmla="*/ 41 w 179"/>
                        <a:gd name="T73" fmla="*/ 226 h 1283"/>
                        <a:gd name="T74" fmla="*/ 57 w 179"/>
                        <a:gd name="T75" fmla="*/ 183 h 1283"/>
                        <a:gd name="T76" fmla="*/ 68 w 179"/>
                        <a:gd name="T77" fmla="*/ 138 h 1283"/>
                        <a:gd name="T78" fmla="*/ 74 w 179"/>
                        <a:gd name="T79" fmla="*/ 106 h 1283"/>
                        <a:gd name="T80" fmla="*/ 81 w 179"/>
                        <a:gd name="T81" fmla="*/ 62 h 1283"/>
                        <a:gd name="T82" fmla="*/ 79 w 179"/>
                        <a:gd name="T83" fmla="*/ 0 h 128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</a:cxnLst>
                      <a:rect l="0" t="0" r="r" b="b"/>
                      <a:pathLst>
                        <a:path w="179" h="1283">
                          <a:moveTo>
                            <a:pt x="79" y="0"/>
                          </a:moveTo>
                          <a:lnTo>
                            <a:pt x="104" y="16"/>
                          </a:lnTo>
                          <a:lnTo>
                            <a:pt x="133" y="37"/>
                          </a:lnTo>
                          <a:lnTo>
                            <a:pt x="142" y="48"/>
                          </a:lnTo>
                          <a:lnTo>
                            <a:pt x="155" y="81"/>
                          </a:lnTo>
                          <a:lnTo>
                            <a:pt x="159" y="112"/>
                          </a:lnTo>
                          <a:lnTo>
                            <a:pt x="163" y="143"/>
                          </a:lnTo>
                          <a:lnTo>
                            <a:pt x="165" y="174"/>
                          </a:lnTo>
                          <a:lnTo>
                            <a:pt x="170" y="204"/>
                          </a:lnTo>
                          <a:lnTo>
                            <a:pt x="173" y="230"/>
                          </a:lnTo>
                          <a:lnTo>
                            <a:pt x="176" y="256"/>
                          </a:lnTo>
                          <a:lnTo>
                            <a:pt x="179" y="273"/>
                          </a:lnTo>
                          <a:lnTo>
                            <a:pt x="178" y="287"/>
                          </a:lnTo>
                          <a:lnTo>
                            <a:pt x="177" y="298"/>
                          </a:lnTo>
                          <a:lnTo>
                            <a:pt x="173" y="308"/>
                          </a:lnTo>
                          <a:lnTo>
                            <a:pt x="165" y="316"/>
                          </a:lnTo>
                          <a:lnTo>
                            <a:pt x="143" y="327"/>
                          </a:lnTo>
                          <a:lnTo>
                            <a:pt x="60" y="368"/>
                          </a:lnTo>
                          <a:lnTo>
                            <a:pt x="130" y="452"/>
                          </a:lnTo>
                          <a:lnTo>
                            <a:pt x="160" y="486"/>
                          </a:lnTo>
                          <a:lnTo>
                            <a:pt x="171" y="508"/>
                          </a:lnTo>
                          <a:lnTo>
                            <a:pt x="158" y="540"/>
                          </a:lnTo>
                          <a:lnTo>
                            <a:pt x="122" y="619"/>
                          </a:lnTo>
                          <a:lnTo>
                            <a:pt x="88" y="677"/>
                          </a:lnTo>
                          <a:lnTo>
                            <a:pt x="61" y="742"/>
                          </a:lnTo>
                          <a:lnTo>
                            <a:pt x="47" y="790"/>
                          </a:lnTo>
                          <a:lnTo>
                            <a:pt x="27" y="838"/>
                          </a:lnTo>
                          <a:lnTo>
                            <a:pt x="20" y="875"/>
                          </a:lnTo>
                          <a:lnTo>
                            <a:pt x="20" y="923"/>
                          </a:lnTo>
                          <a:lnTo>
                            <a:pt x="57" y="1283"/>
                          </a:lnTo>
                          <a:lnTo>
                            <a:pt x="26" y="1081"/>
                          </a:lnTo>
                          <a:lnTo>
                            <a:pt x="10" y="887"/>
                          </a:lnTo>
                          <a:lnTo>
                            <a:pt x="0" y="625"/>
                          </a:lnTo>
                          <a:lnTo>
                            <a:pt x="1" y="519"/>
                          </a:lnTo>
                          <a:lnTo>
                            <a:pt x="8" y="414"/>
                          </a:lnTo>
                          <a:lnTo>
                            <a:pt x="29" y="262"/>
                          </a:lnTo>
                          <a:lnTo>
                            <a:pt x="41" y="226"/>
                          </a:lnTo>
                          <a:lnTo>
                            <a:pt x="57" y="183"/>
                          </a:lnTo>
                          <a:lnTo>
                            <a:pt x="68" y="138"/>
                          </a:lnTo>
                          <a:lnTo>
                            <a:pt x="74" y="106"/>
                          </a:lnTo>
                          <a:lnTo>
                            <a:pt x="81" y="62"/>
                          </a:lnTo>
                          <a:lnTo>
                            <a:pt x="79" y="0"/>
                          </a:lnTo>
                          <a:close/>
                        </a:path>
                      </a:pathLst>
                    </a:custGeom>
                    <a:solidFill>
                      <a:srgbClr val="009FB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30" name="Freeform 229"/>
                    <p:cNvSpPr/>
                    <p:nvPr/>
                  </p:nvSpPr>
                  <p:spPr bwMode="auto">
                    <a:xfrm>
                      <a:off x="5256" y="2397"/>
                      <a:ext cx="30" cy="256"/>
                    </a:xfrm>
                    <a:custGeom>
                      <a:avLst/>
                      <a:gdLst>
                        <a:gd name="T0" fmla="*/ 79 w 179"/>
                        <a:gd name="T1" fmla="*/ 0 h 1283"/>
                        <a:gd name="T2" fmla="*/ 104 w 179"/>
                        <a:gd name="T3" fmla="*/ 16 h 1283"/>
                        <a:gd name="T4" fmla="*/ 132 w 179"/>
                        <a:gd name="T5" fmla="*/ 37 h 1283"/>
                        <a:gd name="T6" fmla="*/ 142 w 179"/>
                        <a:gd name="T7" fmla="*/ 48 h 1283"/>
                        <a:gd name="T8" fmla="*/ 155 w 179"/>
                        <a:gd name="T9" fmla="*/ 82 h 1283"/>
                        <a:gd name="T10" fmla="*/ 159 w 179"/>
                        <a:gd name="T11" fmla="*/ 112 h 1283"/>
                        <a:gd name="T12" fmla="*/ 162 w 179"/>
                        <a:gd name="T13" fmla="*/ 143 h 1283"/>
                        <a:gd name="T14" fmla="*/ 165 w 179"/>
                        <a:gd name="T15" fmla="*/ 174 h 1283"/>
                        <a:gd name="T16" fmla="*/ 170 w 179"/>
                        <a:gd name="T17" fmla="*/ 204 h 1283"/>
                        <a:gd name="T18" fmla="*/ 173 w 179"/>
                        <a:gd name="T19" fmla="*/ 230 h 1283"/>
                        <a:gd name="T20" fmla="*/ 175 w 179"/>
                        <a:gd name="T21" fmla="*/ 256 h 1283"/>
                        <a:gd name="T22" fmla="*/ 179 w 179"/>
                        <a:gd name="T23" fmla="*/ 273 h 1283"/>
                        <a:gd name="T24" fmla="*/ 178 w 179"/>
                        <a:gd name="T25" fmla="*/ 287 h 1283"/>
                        <a:gd name="T26" fmla="*/ 177 w 179"/>
                        <a:gd name="T27" fmla="*/ 298 h 1283"/>
                        <a:gd name="T28" fmla="*/ 173 w 179"/>
                        <a:gd name="T29" fmla="*/ 308 h 1283"/>
                        <a:gd name="T30" fmla="*/ 165 w 179"/>
                        <a:gd name="T31" fmla="*/ 316 h 1283"/>
                        <a:gd name="T32" fmla="*/ 143 w 179"/>
                        <a:gd name="T33" fmla="*/ 328 h 1283"/>
                        <a:gd name="T34" fmla="*/ 60 w 179"/>
                        <a:gd name="T35" fmla="*/ 368 h 1283"/>
                        <a:gd name="T36" fmla="*/ 130 w 179"/>
                        <a:gd name="T37" fmla="*/ 452 h 1283"/>
                        <a:gd name="T38" fmla="*/ 160 w 179"/>
                        <a:gd name="T39" fmla="*/ 486 h 1283"/>
                        <a:gd name="T40" fmla="*/ 171 w 179"/>
                        <a:gd name="T41" fmla="*/ 508 h 1283"/>
                        <a:gd name="T42" fmla="*/ 158 w 179"/>
                        <a:gd name="T43" fmla="*/ 540 h 1283"/>
                        <a:gd name="T44" fmla="*/ 122 w 179"/>
                        <a:gd name="T45" fmla="*/ 621 h 1283"/>
                        <a:gd name="T46" fmla="*/ 88 w 179"/>
                        <a:gd name="T47" fmla="*/ 677 h 1283"/>
                        <a:gd name="T48" fmla="*/ 61 w 179"/>
                        <a:gd name="T49" fmla="*/ 742 h 1283"/>
                        <a:gd name="T50" fmla="*/ 46 w 179"/>
                        <a:gd name="T51" fmla="*/ 790 h 1283"/>
                        <a:gd name="T52" fmla="*/ 27 w 179"/>
                        <a:gd name="T53" fmla="*/ 838 h 1283"/>
                        <a:gd name="T54" fmla="*/ 20 w 179"/>
                        <a:gd name="T55" fmla="*/ 875 h 1283"/>
                        <a:gd name="T56" fmla="*/ 20 w 179"/>
                        <a:gd name="T57" fmla="*/ 923 h 1283"/>
                        <a:gd name="T58" fmla="*/ 57 w 179"/>
                        <a:gd name="T59" fmla="*/ 1283 h 1283"/>
                        <a:gd name="T60" fmla="*/ 26 w 179"/>
                        <a:gd name="T61" fmla="*/ 1082 h 1283"/>
                        <a:gd name="T62" fmla="*/ 9 w 179"/>
                        <a:gd name="T63" fmla="*/ 888 h 1283"/>
                        <a:gd name="T64" fmla="*/ 0 w 179"/>
                        <a:gd name="T65" fmla="*/ 625 h 1283"/>
                        <a:gd name="T66" fmla="*/ 1 w 179"/>
                        <a:gd name="T67" fmla="*/ 519 h 1283"/>
                        <a:gd name="T68" fmla="*/ 8 w 179"/>
                        <a:gd name="T69" fmla="*/ 414 h 1283"/>
                        <a:gd name="T70" fmla="*/ 29 w 179"/>
                        <a:gd name="T71" fmla="*/ 262 h 1283"/>
                        <a:gd name="T72" fmla="*/ 40 w 179"/>
                        <a:gd name="T73" fmla="*/ 226 h 1283"/>
                        <a:gd name="T74" fmla="*/ 57 w 179"/>
                        <a:gd name="T75" fmla="*/ 183 h 1283"/>
                        <a:gd name="T76" fmla="*/ 68 w 179"/>
                        <a:gd name="T77" fmla="*/ 138 h 1283"/>
                        <a:gd name="T78" fmla="*/ 74 w 179"/>
                        <a:gd name="T79" fmla="*/ 106 h 1283"/>
                        <a:gd name="T80" fmla="*/ 81 w 179"/>
                        <a:gd name="T81" fmla="*/ 62 h 1283"/>
                        <a:gd name="T82" fmla="*/ 79 w 179"/>
                        <a:gd name="T83" fmla="*/ 0 h 128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</a:cxnLst>
                      <a:rect l="0" t="0" r="r" b="b"/>
                      <a:pathLst>
                        <a:path w="179" h="1283">
                          <a:moveTo>
                            <a:pt x="79" y="0"/>
                          </a:moveTo>
                          <a:lnTo>
                            <a:pt x="104" y="16"/>
                          </a:lnTo>
                          <a:lnTo>
                            <a:pt x="132" y="37"/>
                          </a:lnTo>
                          <a:lnTo>
                            <a:pt x="142" y="48"/>
                          </a:lnTo>
                          <a:lnTo>
                            <a:pt x="155" y="82"/>
                          </a:lnTo>
                          <a:lnTo>
                            <a:pt x="159" y="112"/>
                          </a:lnTo>
                          <a:lnTo>
                            <a:pt x="162" y="143"/>
                          </a:lnTo>
                          <a:lnTo>
                            <a:pt x="165" y="174"/>
                          </a:lnTo>
                          <a:lnTo>
                            <a:pt x="170" y="204"/>
                          </a:lnTo>
                          <a:lnTo>
                            <a:pt x="173" y="230"/>
                          </a:lnTo>
                          <a:lnTo>
                            <a:pt x="175" y="256"/>
                          </a:lnTo>
                          <a:lnTo>
                            <a:pt x="179" y="273"/>
                          </a:lnTo>
                          <a:lnTo>
                            <a:pt x="178" y="287"/>
                          </a:lnTo>
                          <a:lnTo>
                            <a:pt x="177" y="298"/>
                          </a:lnTo>
                          <a:lnTo>
                            <a:pt x="173" y="308"/>
                          </a:lnTo>
                          <a:lnTo>
                            <a:pt x="165" y="316"/>
                          </a:lnTo>
                          <a:lnTo>
                            <a:pt x="143" y="328"/>
                          </a:lnTo>
                          <a:lnTo>
                            <a:pt x="60" y="368"/>
                          </a:lnTo>
                          <a:lnTo>
                            <a:pt x="130" y="452"/>
                          </a:lnTo>
                          <a:lnTo>
                            <a:pt x="160" y="486"/>
                          </a:lnTo>
                          <a:lnTo>
                            <a:pt x="171" y="508"/>
                          </a:lnTo>
                          <a:lnTo>
                            <a:pt x="158" y="540"/>
                          </a:lnTo>
                          <a:lnTo>
                            <a:pt x="122" y="621"/>
                          </a:lnTo>
                          <a:lnTo>
                            <a:pt x="88" y="677"/>
                          </a:lnTo>
                          <a:lnTo>
                            <a:pt x="61" y="742"/>
                          </a:lnTo>
                          <a:lnTo>
                            <a:pt x="46" y="790"/>
                          </a:lnTo>
                          <a:lnTo>
                            <a:pt x="27" y="838"/>
                          </a:lnTo>
                          <a:lnTo>
                            <a:pt x="20" y="875"/>
                          </a:lnTo>
                          <a:lnTo>
                            <a:pt x="20" y="923"/>
                          </a:lnTo>
                          <a:lnTo>
                            <a:pt x="57" y="1283"/>
                          </a:lnTo>
                          <a:lnTo>
                            <a:pt x="26" y="1082"/>
                          </a:lnTo>
                          <a:lnTo>
                            <a:pt x="9" y="888"/>
                          </a:lnTo>
                          <a:lnTo>
                            <a:pt x="0" y="625"/>
                          </a:lnTo>
                          <a:lnTo>
                            <a:pt x="1" y="519"/>
                          </a:lnTo>
                          <a:lnTo>
                            <a:pt x="8" y="414"/>
                          </a:lnTo>
                          <a:lnTo>
                            <a:pt x="29" y="262"/>
                          </a:lnTo>
                          <a:lnTo>
                            <a:pt x="40" y="226"/>
                          </a:lnTo>
                          <a:lnTo>
                            <a:pt x="57" y="183"/>
                          </a:lnTo>
                          <a:lnTo>
                            <a:pt x="68" y="138"/>
                          </a:lnTo>
                          <a:lnTo>
                            <a:pt x="74" y="106"/>
                          </a:lnTo>
                          <a:lnTo>
                            <a:pt x="81" y="62"/>
                          </a:lnTo>
                          <a:lnTo>
                            <a:pt x="79" y="0"/>
                          </a:lnTo>
                          <a:close/>
                        </a:path>
                      </a:pathLst>
                    </a:custGeom>
                    <a:solidFill>
                      <a:srgbClr val="00BFD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320" name="Group 230"/>
                  <p:cNvGrpSpPr/>
                  <p:nvPr/>
                </p:nvGrpSpPr>
                <p:grpSpPr bwMode="auto">
                  <a:xfrm>
                    <a:off x="5194" y="2397"/>
                    <a:ext cx="40" cy="250"/>
                    <a:chOff x="5194" y="2397"/>
                    <a:chExt cx="40" cy="250"/>
                  </a:xfrm>
                </p:grpSpPr>
                <p:sp>
                  <p:nvSpPr>
                    <p:cNvPr id="327" name="Freeform 231"/>
                    <p:cNvSpPr/>
                    <p:nvPr/>
                  </p:nvSpPr>
                  <p:spPr bwMode="auto">
                    <a:xfrm>
                      <a:off x="5194" y="2400"/>
                      <a:ext cx="40" cy="247"/>
                    </a:xfrm>
                    <a:custGeom>
                      <a:avLst/>
                      <a:gdLst>
                        <a:gd name="T0" fmla="*/ 241 w 241"/>
                        <a:gd name="T1" fmla="*/ 0 h 1234"/>
                        <a:gd name="T2" fmla="*/ 220 w 241"/>
                        <a:gd name="T3" fmla="*/ 17 h 1234"/>
                        <a:gd name="T4" fmla="*/ 206 w 241"/>
                        <a:gd name="T5" fmla="*/ 30 h 1234"/>
                        <a:gd name="T6" fmla="*/ 191 w 241"/>
                        <a:gd name="T7" fmla="*/ 43 h 1234"/>
                        <a:gd name="T8" fmla="*/ 176 w 241"/>
                        <a:gd name="T9" fmla="*/ 56 h 1234"/>
                        <a:gd name="T10" fmla="*/ 163 w 241"/>
                        <a:gd name="T11" fmla="*/ 69 h 1234"/>
                        <a:gd name="T12" fmla="*/ 147 w 241"/>
                        <a:gd name="T13" fmla="*/ 79 h 1234"/>
                        <a:gd name="T14" fmla="*/ 133 w 241"/>
                        <a:gd name="T15" fmla="*/ 96 h 1234"/>
                        <a:gd name="T16" fmla="*/ 118 w 241"/>
                        <a:gd name="T17" fmla="*/ 116 h 1234"/>
                        <a:gd name="T18" fmla="*/ 108 w 241"/>
                        <a:gd name="T19" fmla="*/ 131 h 1234"/>
                        <a:gd name="T20" fmla="*/ 94 w 241"/>
                        <a:gd name="T21" fmla="*/ 150 h 1234"/>
                        <a:gd name="T22" fmla="*/ 86 w 241"/>
                        <a:gd name="T23" fmla="*/ 166 h 1234"/>
                        <a:gd name="T24" fmla="*/ 69 w 241"/>
                        <a:gd name="T25" fmla="*/ 199 h 1234"/>
                        <a:gd name="T26" fmla="*/ 56 w 241"/>
                        <a:gd name="T27" fmla="*/ 232 h 1234"/>
                        <a:gd name="T28" fmla="*/ 66 w 241"/>
                        <a:gd name="T29" fmla="*/ 251 h 1234"/>
                        <a:gd name="T30" fmla="*/ 86 w 241"/>
                        <a:gd name="T31" fmla="*/ 265 h 1234"/>
                        <a:gd name="T32" fmla="*/ 125 w 241"/>
                        <a:gd name="T33" fmla="*/ 318 h 1234"/>
                        <a:gd name="T34" fmla="*/ 32 w 241"/>
                        <a:gd name="T35" fmla="*/ 352 h 1234"/>
                        <a:gd name="T36" fmla="*/ 14 w 241"/>
                        <a:gd name="T37" fmla="*/ 357 h 1234"/>
                        <a:gd name="T38" fmla="*/ 5 w 241"/>
                        <a:gd name="T39" fmla="*/ 368 h 1234"/>
                        <a:gd name="T40" fmla="*/ 0 w 241"/>
                        <a:gd name="T41" fmla="*/ 393 h 1234"/>
                        <a:gd name="T42" fmla="*/ 12 w 241"/>
                        <a:gd name="T43" fmla="*/ 476 h 1234"/>
                        <a:gd name="T44" fmla="*/ 32 w 241"/>
                        <a:gd name="T45" fmla="*/ 575 h 1234"/>
                        <a:gd name="T46" fmla="*/ 48 w 241"/>
                        <a:gd name="T47" fmla="*/ 640 h 1234"/>
                        <a:gd name="T48" fmla="*/ 79 w 241"/>
                        <a:gd name="T49" fmla="*/ 780 h 1234"/>
                        <a:gd name="T50" fmla="*/ 85 w 241"/>
                        <a:gd name="T51" fmla="*/ 830 h 1234"/>
                        <a:gd name="T52" fmla="*/ 90 w 241"/>
                        <a:gd name="T53" fmla="*/ 872 h 1234"/>
                        <a:gd name="T54" fmla="*/ 93 w 241"/>
                        <a:gd name="T55" fmla="*/ 928 h 1234"/>
                        <a:gd name="T56" fmla="*/ 74 w 241"/>
                        <a:gd name="T57" fmla="*/ 1234 h 1234"/>
                        <a:gd name="T58" fmla="*/ 81 w 241"/>
                        <a:gd name="T59" fmla="*/ 1183 h 1234"/>
                        <a:gd name="T60" fmla="*/ 94 w 241"/>
                        <a:gd name="T61" fmla="*/ 1097 h 1234"/>
                        <a:gd name="T62" fmla="*/ 104 w 241"/>
                        <a:gd name="T63" fmla="*/ 969 h 1234"/>
                        <a:gd name="T64" fmla="*/ 117 w 241"/>
                        <a:gd name="T65" fmla="*/ 752 h 1234"/>
                        <a:gd name="T66" fmla="*/ 124 w 241"/>
                        <a:gd name="T67" fmla="*/ 486 h 1234"/>
                        <a:gd name="T68" fmla="*/ 178 w 241"/>
                        <a:gd name="T69" fmla="*/ 174 h 1234"/>
                        <a:gd name="T70" fmla="*/ 189 w 241"/>
                        <a:gd name="T71" fmla="*/ 142 h 1234"/>
                        <a:gd name="T72" fmla="*/ 196 w 241"/>
                        <a:gd name="T73" fmla="*/ 124 h 1234"/>
                        <a:gd name="T74" fmla="*/ 206 w 241"/>
                        <a:gd name="T75" fmla="*/ 93 h 1234"/>
                        <a:gd name="T76" fmla="*/ 215 w 241"/>
                        <a:gd name="T77" fmla="*/ 66 h 1234"/>
                        <a:gd name="T78" fmla="*/ 228 w 241"/>
                        <a:gd name="T79" fmla="*/ 37 h 1234"/>
                        <a:gd name="T80" fmla="*/ 239 w 241"/>
                        <a:gd name="T81" fmla="*/ 14 h 1234"/>
                        <a:gd name="T82" fmla="*/ 241 w 241"/>
                        <a:gd name="T83" fmla="*/ 0 h 12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</a:cxnLst>
                      <a:rect l="0" t="0" r="r" b="b"/>
                      <a:pathLst>
                        <a:path w="241" h="1234">
                          <a:moveTo>
                            <a:pt x="241" y="0"/>
                          </a:moveTo>
                          <a:lnTo>
                            <a:pt x="220" y="17"/>
                          </a:lnTo>
                          <a:lnTo>
                            <a:pt x="206" y="30"/>
                          </a:lnTo>
                          <a:lnTo>
                            <a:pt x="191" y="43"/>
                          </a:lnTo>
                          <a:lnTo>
                            <a:pt x="176" y="56"/>
                          </a:lnTo>
                          <a:lnTo>
                            <a:pt x="163" y="69"/>
                          </a:lnTo>
                          <a:lnTo>
                            <a:pt x="147" y="79"/>
                          </a:lnTo>
                          <a:lnTo>
                            <a:pt x="133" y="96"/>
                          </a:lnTo>
                          <a:lnTo>
                            <a:pt x="118" y="116"/>
                          </a:lnTo>
                          <a:lnTo>
                            <a:pt x="108" y="131"/>
                          </a:lnTo>
                          <a:lnTo>
                            <a:pt x="94" y="150"/>
                          </a:lnTo>
                          <a:lnTo>
                            <a:pt x="86" y="166"/>
                          </a:lnTo>
                          <a:lnTo>
                            <a:pt x="69" y="199"/>
                          </a:lnTo>
                          <a:lnTo>
                            <a:pt x="56" y="232"/>
                          </a:lnTo>
                          <a:lnTo>
                            <a:pt x="66" y="251"/>
                          </a:lnTo>
                          <a:lnTo>
                            <a:pt x="86" y="265"/>
                          </a:lnTo>
                          <a:lnTo>
                            <a:pt x="125" y="318"/>
                          </a:lnTo>
                          <a:lnTo>
                            <a:pt x="32" y="352"/>
                          </a:lnTo>
                          <a:lnTo>
                            <a:pt x="14" y="357"/>
                          </a:lnTo>
                          <a:lnTo>
                            <a:pt x="5" y="368"/>
                          </a:lnTo>
                          <a:lnTo>
                            <a:pt x="0" y="393"/>
                          </a:lnTo>
                          <a:lnTo>
                            <a:pt x="12" y="476"/>
                          </a:lnTo>
                          <a:lnTo>
                            <a:pt x="32" y="575"/>
                          </a:lnTo>
                          <a:lnTo>
                            <a:pt x="48" y="640"/>
                          </a:lnTo>
                          <a:lnTo>
                            <a:pt x="79" y="780"/>
                          </a:lnTo>
                          <a:lnTo>
                            <a:pt x="85" y="830"/>
                          </a:lnTo>
                          <a:lnTo>
                            <a:pt x="90" y="872"/>
                          </a:lnTo>
                          <a:lnTo>
                            <a:pt x="93" y="928"/>
                          </a:lnTo>
                          <a:lnTo>
                            <a:pt x="74" y="1234"/>
                          </a:lnTo>
                          <a:lnTo>
                            <a:pt x="81" y="1183"/>
                          </a:lnTo>
                          <a:lnTo>
                            <a:pt x="94" y="1097"/>
                          </a:lnTo>
                          <a:lnTo>
                            <a:pt x="104" y="969"/>
                          </a:lnTo>
                          <a:lnTo>
                            <a:pt x="117" y="752"/>
                          </a:lnTo>
                          <a:lnTo>
                            <a:pt x="124" y="486"/>
                          </a:lnTo>
                          <a:lnTo>
                            <a:pt x="178" y="174"/>
                          </a:lnTo>
                          <a:lnTo>
                            <a:pt x="189" y="142"/>
                          </a:lnTo>
                          <a:lnTo>
                            <a:pt x="196" y="124"/>
                          </a:lnTo>
                          <a:lnTo>
                            <a:pt x="206" y="93"/>
                          </a:lnTo>
                          <a:lnTo>
                            <a:pt x="215" y="66"/>
                          </a:lnTo>
                          <a:lnTo>
                            <a:pt x="228" y="37"/>
                          </a:lnTo>
                          <a:lnTo>
                            <a:pt x="239" y="14"/>
                          </a:lnTo>
                          <a:lnTo>
                            <a:pt x="241" y="0"/>
                          </a:lnTo>
                          <a:close/>
                        </a:path>
                      </a:pathLst>
                    </a:custGeom>
                    <a:solidFill>
                      <a:srgbClr val="009FB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28" name="Freeform 232"/>
                    <p:cNvSpPr/>
                    <p:nvPr/>
                  </p:nvSpPr>
                  <p:spPr bwMode="auto">
                    <a:xfrm>
                      <a:off x="5194" y="2397"/>
                      <a:ext cx="40" cy="246"/>
                    </a:xfrm>
                    <a:custGeom>
                      <a:avLst/>
                      <a:gdLst>
                        <a:gd name="T0" fmla="*/ 241 w 241"/>
                        <a:gd name="T1" fmla="*/ 0 h 1233"/>
                        <a:gd name="T2" fmla="*/ 220 w 241"/>
                        <a:gd name="T3" fmla="*/ 17 h 1233"/>
                        <a:gd name="T4" fmla="*/ 205 w 241"/>
                        <a:gd name="T5" fmla="*/ 29 h 1233"/>
                        <a:gd name="T6" fmla="*/ 191 w 241"/>
                        <a:gd name="T7" fmla="*/ 43 h 1233"/>
                        <a:gd name="T8" fmla="*/ 175 w 241"/>
                        <a:gd name="T9" fmla="*/ 55 h 1233"/>
                        <a:gd name="T10" fmla="*/ 162 w 241"/>
                        <a:gd name="T11" fmla="*/ 69 h 1233"/>
                        <a:gd name="T12" fmla="*/ 147 w 241"/>
                        <a:gd name="T13" fmla="*/ 79 h 1233"/>
                        <a:gd name="T14" fmla="*/ 132 w 241"/>
                        <a:gd name="T15" fmla="*/ 96 h 1233"/>
                        <a:gd name="T16" fmla="*/ 118 w 241"/>
                        <a:gd name="T17" fmla="*/ 116 h 1233"/>
                        <a:gd name="T18" fmla="*/ 107 w 241"/>
                        <a:gd name="T19" fmla="*/ 131 h 1233"/>
                        <a:gd name="T20" fmla="*/ 94 w 241"/>
                        <a:gd name="T21" fmla="*/ 149 h 1233"/>
                        <a:gd name="T22" fmla="*/ 86 w 241"/>
                        <a:gd name="T23" fmla="*/ 167 h 1233"/>
                        <a:gd name="T24" fmla="*/ 69 w 241"/>
                        <a:gd name="T25" fmla="*/ 199 h 1233"/>
                        <a:gd name="T26" fmla="*/ 56 w 241"/>
                        <a:gd name="T27" fmla="*/ 232 h 1233"/>
                        <a:gd name="T28" fmla="*/ 62 w 241"/>
                        <a:gd name="T29" fmla="*/ 251 h 1233"/>
                        <a:gd name="T30" fmla="*/ 86 w 241"/>
                        <a:gd name="T31" fmla="*/ 264 h 1233"/>
                        <a:gd name="T32" fmla="*/ 125 w 241"/>
                        <a:gd name="T33" fmla="*/ 317 h 1233"/>
                        <a:gd name="T34" fmla="*/ 32 w 241"/>
                        <a:gd name="T35" fmla="*/ 352 h 1233"/>
                        <a:gd name="T36" fmla="*/ 14 w 241"/>
                        <a:gd name="T37" fmla="*/ 357 h 1233"/>
                        <a:gd name="T38" fmla="*/ 5 w 241"/>
                        <a:gd name="T39" fmla="*/ 368 h 1233"/>
                        <a:gd name="T40" fmla="*/ 0 w 241"/>
                        <a:gd name="T41" fmla="*/ 384 h 1233"/>
                        <a:gd name="T42" fmla="*/ 12 w 241"/>
                        <a:gd name="T43" fmla="*/ 476 h 1233"/>
                        <a:gd name="T44" fmla="*/ 32 w 241"/>
                        <a:gd name="T45" fmla="*/ 575 h 1233"/>
                        <a:gd name="T46" fmla="*/ 48 w 241"/>
                        <a:gd name="T47" fmla="*/ 640 h 1233"/>
                        <a:gd name="T48" fmla="*/ 79 w 241"/>
                        <a:gd name="T49" fmla="*/ 780 h 1233"/>
                        <a:gd name="T50" fmla="*/ 85 w 241"/>
                        <a:gd name="T51" fmla="*/ 829 h 1233"/>
                        <a:gd name="T52" fmla="*/ 89 w 241"/>
                        <a:gd name="T53" fmla="*/ 871 h 1233"/>
                        <a:gd name="T54" fmla="*/ 93 w 241"/>
                        <a:gd name="T55" fmla="*/ 928 h 1233"/>
                        <a:gd name="T56" fmla="*/ 74 w 241"/>
                        <a:gd name="T57" fmla="*/ 1233 h 1233"/>
                        <a:gd name="T58" fmla="*/ 81 w 241"/>
                        <a:gd name="T59" fmla="*/ 1183 h 1233"/>
                        <a:gd name="T60" fmla="*/ 94 w 241"/>
                        <a:gd name="T61" fmla="*/ 1096 h 1233"/>
                        <a:gd name="T62" fmla="*/ 104 w 241"/>
                        <a:gd name="T63" fmla="*/ 969 h 1233"/>
                        <a:gd name="T64" fmla="*/ 117 w 241"/>
                        <a:gd name="T65" fmla="*/ 751 h 1233"/>
                        <a:gd name="T66" fmla="*/ 124 w 241"/>
                        <a:gd name="T67" fmla="*/ 486 h 1233"/>
                        <a:gd name="T68" fmla="*/ 178 w 241"/>
                        <a:gd name="T69" fmla="*/ 174 h 1233"/>
                        <a:gd name="T70" fmla="*/ 189 w 241"/>
                        <a:gd name="T71" fmla="*/ 142 h 1233"/>
                        <a:gd name="T72" fmla="*/ 196 w 241"/>
                        <a:gd name="T73" fmla="*/ 123 h 1233"/>
                        <a:gd name="T74" fmla="*/ 205 w 241"/>
                        <a:gd name="T75" fmla="*/ 92 h 1233"/>
                        <a:gd name="T76" fmla="*/ 215 w 241"/>
                        <a:gd name="T77" fmla="*/ 65 h 1233"/>
                        <a:gd name="T78" fmla="*/ 228 w 241"/>
                        <a:gd name="T79" fmla="*/ 37 h 1233"/>
                        <a:gd name="T80" fmla="*/ 239 w 241"/>
                        <a:gd name="T81" fmla="*/ 13 h 1233"/>
                        <a:gd name="T82" fmla="*/ 241 w 241"/>
                        <a:gd name="T83" fmla="*/ 0 h 123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</a:cxnLst>
                      <a:rect l="0" t="0" r="r" b="b"/>
                      <a:pathLst>
                        <a:path w="241" h="1233">
                          <a:moveTo>
                            <a:pt x="241" y="0"/>
                          </a:moveTo>
                          <a:lnTo>
                            <a:pt x="220" y="17"/>
                          </a:lnTo>
                          <a:lnTo>
                            <a:pt x="205" y="29"/>
                          </a:lnTo>
                          <a:lnTo>
                            <a:pt x="191" y="43"/>
                          </a:lnTo>
                          <a:lnTo>
                            <a:pt x="175" y="55"/>
                          </a:lnTo>
                          <a:lnTo>
                            <a:pt x="162" y="69"/>
                          </a:lnTo>
                          <a:lnTo>
                            <a:pt x="147" y="79"/>
                          </a:lnTo>
                          <a:lnTo>
                            <a:pt x="132" y="96"/>
                          </a:lnTo>
                          <a:lnTo>
                            <a:pt x="118" y="116"/>
                          </a:lnTo>
                          <a:lnTo>
                            <a:pt x="107" y="131"/>
                          </a:lnTo>
                          <a:lnTo>
                            <a:pt x="94" y="149"/>
                          </a:lnTo>
                          <a:lnTo>
                            <a:pt x="86" y="167"/>
                          </a:lnTo>
                          <a:lnTo>
                            <a:pt x="69" y="199"/>
                          </a:lnTo>
                          <a:lnTo>
                            <a:pt x="56" y="232"/>
                          </a:lnTo>
                          <a:lnTo>
                            <a:pt x="62" y="251"/>
                          </a:lnTo>
                          <a:lnTo>
                            <a:pt x="86" y="264"/>
                          </a:lnTo>
                          <a:lnTo>
                            <a:pt x="125" y="317"/>
                          </a:lnTo>
                          <a:lnTo>
                            <a:pt x="32" y="352"/>
                          </a:lnTo>
                          <a:lnTo>
                            <a:pt x="14" y="357"/>
                          </a:lnTo>
                          <a:lnTo>
                            <a:pt x="5" y="368"/>
                          </a:lnTo>
                          <a:lnTo>
                            <a:pt x="0" y="384"/>
                          </a:lnTo>
                          <a:lnTo>
                            <a:pt x="12" y="476"/>
                          </a:lnTo>
                          <a:lnTo>
                            <a:pt x="32" y="575"/>
                          </a:lnTo>
                          <a:lnTo>
                            <a:pt x="48" y="640"/>
                          </a:lnTo>
                          <a:lnTo>
                            <a:pt x="79" y="780"/>
                          </a:lnTo>
                          <a:lnTo>
                            <a:pt x="85" y="829"/>
                          </a:lnTo>
                          <a:lnTo>
                            <a:pt x="89" y="871"/>
                          </a:lnTo>
                          <a:lnTo>
                            <a:pt x="93" y="928"/>
                          </a:lnTo>
                          <a:lnTo>
                            <a:pt x="74" y="1233"/>
                          </a:lnTo>
                          <a:lnTo>
                            <a:pt x="81" y="1183"/>
                          </a:lnTo>
                          <a:lnTo>
                            <a:pt x="94" y="1096"/>
                          </a:lnTo>
                          <a:lnTo>
                            <a:pt x="104" y="969"/>
                          </a:lnTo>
                          <a:lnTo>
                            <a:pt x="117" y="751"/>
                          </a:lnTo>
                          <a:lnTo>
                            <a:pt x="124" y="486"/>
                          </a:lnTo>
                          <a:lnTo>
                            <a:pt x="178" y="174"/>
                          </a:lnTo>
                          <a:lnTo>
                            <a:pt x="189" y="142"/>
                          </a:lnTo>
                          <a:lnTo>
                            <a:pt x="196" y="123"/>
                          </a:lnTo>
                          <a:lnTo>
                            <a:pt x="205" y="92"/>
                          </a:lnTo>
                          <a:lnTo>
                            <a:pt x="215" y="65"/>
                          </a:lnTo>
                          <a:lnTo>
                            <a:pt x="228" y="37"/>
                          </a:lnTo>
                          <a:lnTo>
                            <a:pt x="239" y="13"/>
                          </a:lnTo>
                          <a:lnTo>
                            <a:pt x="241" y="0"/>
                          </a:lnTo>
                          <a:close/>
                        </a:path>
                      </a:pathLst>
                    </a:custGeom>
                    <a:solidFill>
                      <a:srgbClr val="00BFD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321" name="Group 233"/>
                  <p:cNvGrpSpPr/>
                  <p:nvPr/>
                </p:nvGrpSpPr>
                <p:grpSpPr bwMode="auto">
                  <a:xfrm>
                    <a:off x="5142" y="2441"/>
                    <a:ext cx="182" cy="78"/>
                    <a:chOff x="5142" y="2441"/>
                    <a:chExt cx="182" cy="78"/>
                  </a:xfrm>
                </p:grpSpPr>
                <p:sp>
                  <p:nvSpPr>
                    <p:cNvPr id="322" name="Freeform 234"/>
                    <p:cNvSpPr/>
                    <p:nvPr/>
                  </p:nvSpPr>
                  <p:spPr bwMode="auto">
                    <a:xfrm>
                      <a:off x="5151" y="2441"/>
                      <a:ext cx="44" cy="52"/>
                    </a:xfrm>
                    <a:custGeom>
                      <a:avLst/>
                      <a:gdLst>
                        <a:gd name="T0" fmla="*/ 235 w 263"/>
                        <a:gd name="T1" fmla="*/ 205 h 260"/>
                        <a:gd name="T2" fmla="*/ 0 w 263"/>
                        <a:gd name="T3" fmla="*/ 260 h 260"/>
                        <a:gd name="T4" fmla="*/ 232 w 263"/>
                        <a:gd name="T5" fmla="*/ 189 h 260"/>
                        <a:gd name="T6" fmla="*/ 79 w 263"/>
                        <a:gd name="T7" fmla="*/ 188 h 260"/>
                        <a:gd name="T8" fmla="*/ 235 w 263"/>
                        <a:gd name="T9" fmla="*/ 167 h 260"/>
                        <a:gd name="T10" fmla="*/ 235 w 263"/>
                        <a:gd name="T11" fmla="*/ 136 h 260"/>
                        <a:gd name="T12" fmla="*/ 227 w 263"/>
                        <a:gd name="T13" fmla="*/ 105 h 260"/>
                        <a:gd name="T14" fmla="*/ 209 w 263"/>
                        <a:gd name="T15" fmla="*/ 68 h 260"/>
                        <a:gd name="T16" fmla="*/ 181 w 263"/>
                        <a:gd name="T17" fmla="*/ 27 h 260"/>
                        <a:gd name="T18" fmla="*/ 165 w 263"/>
                        <a:gd name="T19" fmla="*/ 0 h 260"/>
                        <a:gd name="T20" fmla="*/ 187 w 263"/>
                        <a:gd name="T21" fmla="*/ 11 h 260"/>
                        <a:gd name="T22" fmla="*/ 209 w 263"/>
                        <a:gd name="T23" fmla="*/ 42 h 260"/>
                        <a:gd name="T24" fmla="*/ 227 w 263"/>
                        <a:gd name="T25" fmla="*/ 77 h 260"/>
                        <a:gd name="T26" fmla="*/ 238 w 263"/>
                        <a:gd name="T27" fmla="*/ 102 h 260"/>
                        <a:gd name="T28" fmla="*/ 239 w 263"/>
                        <a:gd name="T29" fmla="*/ 139 h 260"/>
                        <a:gd name="T30" fmla="*/ 263 w 263"/>
                        <a:gd name="T31" fmla="*/ 84 h 260"/>
                        <a:gd name="T32" fmla="*/ 239 w 263"/>
                        <a:gd name="T33" fmla="*/ 167 h 260"/>
                        <a:gd name="T34" fmla="*/ 235 w 263"/>
                        <a:gd name="T35" fmla="*/ 205 h 26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</a:cxnLst>
                      <a:rect l="0" t="0" r="r" b="b"/>
                      <a:pathLst>
                        <a:path w="263" h="260">
                          <a:moveTo>
                            <a:pt x="235" y="205"/>
                          </a:moveTo>
                          <a:lnTo>
                            <a:pt x="0" y="260"/>
                          </a:lnTo>
                          <a:lnTo>
                            <a:pt x="232" y="189"/>
                          </a:lnTo>
                          <a:lnTo>
                            <a:pt x="79" y="188"/>
                          </a:lnTo>
                          <a:lnTo>
                            <a:pt x="235" y="167"/>
                          </a:lnTo>
                          <a:lnTo>
                            <a:pt x="235" y="136"/>
                          </a:lnTo>
                          <a:lnTo>
                            <a:pt x="227" y="105"/>
                          </a:lnTo>
                          <a:lnTo>
                            <a:pt x="209" y="68"/>
                          </a:lnTo>
                          <a:lnTo>
                            <a:pt x="181" y="27"/>
                          </a:lnTo>
                          <a:lnTo>
                            <a:pt x="165" y="0"/>
                          </a:lnTo>
                          <a:lnTo>
                            <a:pt x="187" y="11"/>
                          </a:lnTo>
                          <a:lnTo>
                            <a:pt x="209" y="42"/>
                          </a:lnTo>
                          <a:lnTo>
                            <a:pt x="227" y="77"/>
                          </a:lnTo>
                          <a:lnTo>
                            <a:pt x="238" y="102"/>
                          </a:lnTo>
                          <a:lnTo>
                            <a:pt x="239" y="139"/>
                          </a:lnTo>
                          <a:lnTo>
                            <a:pt x="263" y="84"/>
                          </a:lnTo>
                          <a:lnTo>
                            <a:pt x="239" y="167"/>
                          </a:lnTo>
                          <a:lnTo>
                            <a:pt x="235" y="205"/>
                          </a:lnTo>
                          <a:close/>
                        </a:path>
                      </a:pathLst>
                    </a:custGeom>
                    <a:solidFill>
                      <a:srgbClr val="007F9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23" name="Freeform 235"/>
                    <p:cNvSpPr/>
                    <p:nvPr/>
                  </p:nvSpPr>
                  <p:spPr bwMode="auto">
                    <a:xfrm>
                      <a:off x="5142" y="2484"/>
                      <a:ext cx="6" cy="23"/>
                    </a:xfrm>
                    <a:custGeom>
                      <a:avLst/>
                      <a:gdLst>
                        <a:gd name="T0" fmla="*/ 16 w 33"/>
                        <a:gd name="T1" fmla="*/ 0 h 114"/>
                        <a:gd name="T2" fmla="*/ 19 w 33"/>
                        <a:gd name="T3" fmla="*/ 25 h 114"/>
                        <a:gd name="T4" fmla="*/ 33 w 33"/>
                        <a:gd name="T5" fmla="*/ 50 h 114"/>
                        <a:gd name="T6" fmla="*/ 33 w 33"/>
                        <a:gd name="T7" fmla="*/ 74 h 114"/>
                        <a:gd name="T8" fmla="*/ 28 w 33"/>
                        <a:gd name="T9" fmla="*/ 95 h 114"/>
                        <a:gd name="T10" fmla="*/ 10 w 33"/>
                        <a:gd name="T11" fmla="*/ 114 h 114"/>
                        <a:gd name="T12" fmla="*/ 7 w 33"/>
                        <a:gd name="T13" fmla="*/ 45 h 114"/>
                        <a:gd name="T14" fmla="*/ 0 w 33"/>
                        <a:gd name="T15" fmla="*/ 37 h 114"/>
                        <a:gd name="T16" fmla="*/ 2 w 33"/>
                        <a:gd name="T17" fmla="*/ 21 h 114"/>
                        <a:gd name="T18" fmla="*/ 16 w 33"/>
                        <a:gd name="T19" fmla="*/ 0 h 11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</a:cxnLst>
                      <a:rect l="0" t="0" r="r" b="b"/>
                      <a:pathLst>
                        <a:path w="33" h="114">
                          <a:moveTo>
                            <a:pt x="16" y="0"/>
                          </a:moveTo>
                          <a:lnTo>
                            <a:pt x="19" y="25"/>
                          </a:lnTo>
                          <a:lnTo>
                            <a:pt x="33" y="50"/>
                          </a:lnTo>
                          <a:lnTo>
                            <a:pt x="33" y="74"/>
                          </a:lnTo>
                          <a:lnTo>
                            <a:pt x="28" y="95"/>
                          </a:lnTo>
                          <a:lnTo>
                            <a:pt x="10" y="114"/>
                          </a:lnTo>
                          <a:lnTo>
                            <a:pt x="7" y="45"/>
                          </a:lnTo>
                          <a:lnTo>
                            <a:pt x="0" y="37"/>
                          </a:lnTo>
                          <a:lnTo>
                            <a:pt x="2" y="21"/>
                          </a:lnTo>
                          <a:lnTo>
                            <a:pt x="16" y="0"/>
                          </a:lnTo>
                          <a:close/>
                        </a:path>
                      </a:pathLst>
                    </a:custGeom>
                    <a:solidFill>
                      <a:srgbClr val="007F9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24" name="Freeform 236"/>
                    <p:cNvSpPr/>
                    <p:nvPr/>
                  </p:nvSpPr>
                  <p:spPr bwMode="auto">
                    <a:xfrm>
                      <a:off x="5300" y="2493"/>
                      <a:ext cx="23" cy="26"/>
                    </a:xfrm>
                    <a:custGeom>
                      <a:avLst/>
                      <a:gdLst>
                        <a:gd name="T0" fmla="*/ 0 w 139"/>
                        <a:gd name="T1" fmla="*/ 129 h 129"/>
                        <a:gd name="T2" fmla="*/ 51 w 139"/>
                        <a:gd name="T3" fmla="*/ 90 h 129"/>
                        <a:gd name="T4" fmla="*/ 98 w 139"/>
                        <a:gd name="T5" fmla="*/ 57 h 129"/>
                        <a:gd name="T6" fmla="*/ 124 w 139"/>
                        <a:gd name="T7" fmla="*/ 19 h 129"/>
                        <a:gd name="T8" fmla="*/ 139 w 139"/>
                        <a:gd name="T9" fmla="*/ 0 h 129"/>
                        <a:gd name="T10" fmla="*/ 98 w 139"/>
                        <a:gd name="T11" fmla="*/ 26 h 129"/>
                        <a:gd name="T12" fmla="*/ 73 w 139"/>
                        <a:gd name="T13" fmla="*/ 46 h 129"/>
                        <a:gd name="T14" fmla="*/ 51 w 139"/>
                        <a:gd name="T15" fmla="*/ 61 h 129"/>
                        <a:gd name="T16" fmla="*/ 32 w 139"/>
                        <a:gd name="T17" fmla="*/ 83 h 129"/>
                        <a:gd name="T18" fmla="*/ 0 w 139"/>
                        <a:gd name="T19" fmla="*/ 129 h 1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</a:cxnLst>
                      <a:rect l="0" t="0" r="r" b="b"/>
                      <a:pathLst>
                        <a:path w="139" h="129">
                          <a:moveTo>
                            <a:pt x="0" y="129"/>
                          </a:moveTo>
                          <a:lnTo>
                            <a:pt x="51" y="90"/>
                          </a:lnTo>
                          <a:lnTo>
                            <a:pt x="98" y="57"/>
                          </a:lnTo>
                          <a:lnTo>
                            <a:pt x="124" y="19"/>
                          </a:lnTo>
                          <a:lnTo>
                            <a:pt x="139" y="0"/>
                          </a:lnTo>
                          <a:lnTo>
                            <a:pt x="98" y="26"/>
                          </a:lnTo>
                          <a:lnTo>
                            <a:pt x="73" y="46"/>
                          </a:lnTo>
                          <a:lnTo>
                            <a:pt x="51" y="61"/>
                          </a:lnTo>
                          <a:lnTo>
                            <a:pt x="32" y="83"/>
                          </a:lnTo>
                          <a:lnTo>
                            <a:pt x="0" y="129"/>
                          </a:lnTo>
                          <a:close/>
                        </a:path>
                      </a:pathLst>
                    </a:custGeom>
                    <a:solidFill>
                      <a:srgbClr val="007F9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25" name="Freeform 237"/>
                    <p:cNvSpPr/>
                    <p:nvPr/>
                  </p:nvSpPr>
                  <p:spPr bwMode="auto">
                    <a:xfrm>
                      <a:off x="5312" y="2503"/>
                      <a:ext cx="12" cy="15"/>
                    </a:xfrm>
                    <a:custGeom>
                      <a:avLst/>
                      <a:gdLst>
                        <a:gd name="T0" fmla="*/ 0 w 74"/>
                        <a:gd name="T1" fmla="*/ 77 h 77"/>
                        <a:gd name="T2" fmla="*/ 74 w 74"/>
                        <a:gd name="T3" fmla="*/ 0 h 77"/>
                        <a:gd name="T4" fmla="*/ 52 w 74"/>
                        <a:gd name="T5" fmla="*/ 50 h 77"/>
                        <a:gd name="T6" fmla="*/ 0 w 74"/>
                        <a:gd name="T7" fmla="*/ 77 h 7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</a:cxnLst>
                      <a:rect l="0" t="0" r="r" b="b"/>
                      <a:pathLst>
                        <a:path w="74" h="77">
                          <a:moveTo>
                            <a:pt x="0" y="77"/>
                          </a:moveTo>
                          <a:lnTo>
                            <a:pt x="74" y="0"/>
                          </a:lnTo>
                          <a:lnTo>
                            <a:pt x="52" y="50"/>
                          </a:lnTo>
                          <a:lnTo>
                            <a:pt x="0" y="77"/>
                          </a:lnTo>
                          <a:close/>
                        </a:path>
                      </a:pathLst>
                    </a:custGeom>
                    <a:solidFill>
                      <a:srgbClr val="007F9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26" name="Freeform 238"/>
                    <p:cNvSpPr/>
                    <p:nvPr/>
                  </p:nvSpPr>
                  <p:spPr bwMode="auto">
                    <a:xfrm>
                      <a:off x="5302" y="2464"/>
                      <a:ext cx="11" cy="45"/>
                    </a:xfrm>
                    <a:custGeom>
                      <a:avLst/>
                      <a:gdLst>
                        <a:gd name="T0" fmla="*/ 0 w 67"/>
                        <a:gd name="T1" fmla="*/ 226 h 226"/>
                        <a:gd name="T2" fmla="*/ 3 w 67"/>
                        <a:gd name="T3" fmla="*/ 132 h 226"/>
                        <a:gd name="T4" fmla="*/ 23 w 67"/>
                        <a:gd name="T5" fmla="*/ 37 h 226"/>
                        <a:gd name="T6" fmla="*/ 37 w 67"/>
                        <a:gd name="T7" fmla="*/ 0 h 226"/>
                        <a:gd name="T8" fmla="*/ 14 w 67"/>
                        <a:gd name="T9" fmla="*/ 121 h 226"/>
                        <a:gd name="T10" fmla="*/ 11 w 67"/>
                        <a:gd name="T11" fmla="*/ 186 h 226"/>
                        <a:gd name="T12" fmla="*/ 67 w 67"/>
                        <a:gd name="T13" fmla="*/ 129 h 226"/>
                        <a:gd name="T14" fmla="*/ 0 w 67"/>
                        <a:gd name="T15" fmla="*/ 226 h 22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</a:cxnLst>
                      <a:rect l="0" t="0" r="r" b="b"/>
                      <a:pathLst>
                        <a:path w="67" h="226">
                          <a:moveTo>
                            <a:pt x="0" y="226"/>
                          </a:moveTo>
                          <a:lnTo>
                            <a:pt x="3" y="132"/>
                          </a:lnTo>
                          <a:lnTo>
                            <a:pt x="23" y="37"/>
                          </a:lnTo>
                          <a:lnTo>
                            <a:pt x="37" y="0"/>
                          </a:lnTo>
                          <a:lnTo>
                            <a:pt x="14" y="121"/>
                          </a:lnTo>
                          <a:lnTo>
                            <a:pt x="11" y="186"/>
                          </a:lnTo>
                          <a:lnTo>
                            <a:pt x="67" y="129"/>
                          </a:lnTo>
                          <a:lnTo>
                            <a:pt x="0" y="226"/>
                          </a:lnTo>
                          <a:close/>
                        </a:path>
                      </a:pathLst>
                    </a:custGeom>
                    <a:solidFill>
                      <a:srgbClr val="007F9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</p:grpSp>
          <p:grpSp>
            <p:nvGrpSpPr>
              <p:cNvPr id="243" name="Group 239"/>
              <p:cNvGrpSpPr/>
              <p:nvPr/>
            </p:nvGrpSpPr>
            <p:grpSpPr bwMode="auto">
              <a:xfrm>
                <a:off x="4779" y="2242"/>
                <a:ext cx="222" cy="504"/>
                <a:chOff x="4779" y="2242"/>
                <a:chExt cx="222" cy="504"/>
              </a:xfrm>
            </p:grpSpPr>
            <p:grpSp>
              <p:nvGrpSpPr>
                <p:cNvPr id="263" name="Group 240"/>
                <p:cNvGrpSpPr/>
                <p:nvPr/>
              </p:nvGrpSpPr>
              <p:grpSpPr bwMode="auto">
                <a:xfrm>
                  <a:off x="4779" y="2327"/>
                  <a:ext cx="222" cy="419"/>
                  <a:chOff x="4779" y="2327"/>
                  <a:chExt cx="222" cy="419"/>
                </a:xfrm>
              </p:grpSpPr>
              <p:sp>
                <p:nvSpPr>
                  <p:cNvPr id="296" name="Freeform 241"/>
                  <p:cNvSpPr/>
                  <p:nvPr/>
                </p:nvSpPr>
                <p:spPr bwMode="auto">
                  <a:xfrm>
                    <a:off x="4971" y="2544"/>
                    <a:ext cx="30" cy="44"/>
                  </a:xfrm>
                  <a:custGeom>
                    <a:avLst/>
                    <a:gdLst>
                      <a:gd name="T0" fmla="*/ 67 w 179"/>
                      <a:gd name="T1" fmla="*/ 0 h 220"/>
                      <a:gd name="T2" fmla="*/ 179 w 179"/>
                      <a:gd name="T3" fmla="*/ 7 h 220"/>
                      <a:gd name="T4" fmla="*/ 166 w 179"/>
                      <a:gd name="T5" fmla="*/ 173 h 220"/>
                      <a:gd name="T6" fmla="*/ 159 w 179"/>
                      <a:gd name="T7" fmla="*/ 220 h 220"/>
                      <a:gd name="T8" fmla="*/ 0 w 179"/>
                      <a:gd name="T9" fmla="*/ 206 h 220"/>
                      <a:gd name="T10" fmla="*/ 67 w 179"/>
                      <a:gd name="T11" fmla="*/ 0 h 2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179" h="220">
                        <a:moveTo>
                          <a:pt x="67" y="0"/>
                        </a:moveTo>
                        <a:lnTo>
                          <a:pt x="179" y="7"/>
                        </a:lnTo>
                        <a:lnTo>
                          <a:pt x="166" y="173"/>
                        </a:lnTo>
                        <a:lnTo>
                          <a:pt x="159" y="220"/>
                        </a:lnTo>
                        <a:lnTo>
                          <a:pt x="0" y="206"/>
                        </a:lnTo>
                        <a:lnTo>
                          <a:pt x="67" y="0"/>
                        </a:lnTo>
                        <a:close/>
                      </a:path>
                    </a:pathLst>
                  </a:custGeom>
                  <a:solidFill>
                    <a:srgbClr val="F9F9F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297" name="Freeform 242"/>
                  <p:cNvSpPr/>
                  <p:nvPr/>
                </p:nvSpPr>
                <p:spPr bwMode="auto">
                  <a:xfrm>
                    <a:off x="4844" y="2336"/>
                    <a:ext cx="51" cy="161"/>
                  </a:xfrm>
                  <a:custGeom>
                    <a:avLst/>
                    <a:gdLst>
                      <a:gd name="T0" fmla="*/ 0 w 311"/>
                      <a:gd name="T1" fmla="*/ 0 h 804"/>
                      <a:gd name="T2" fmla="*/ 109 w 311"/>
                      <a:gd name="T3" fmla="*/ 409 h 804"/>
                      <a:gd name="T4" fmla="*/ 188 w 311"/>
                      <a:gd name="T5" fmla="*/ 804 h 804"/>
                      <a:gd name="T6" fmla="*/ 311 w 311"/>
                      <a:gd name="T7" fmla="*/ 796 h 804"/>
                      <a:gd name="T8" fmla="*/ 296 w 311"/>
                      <a:gd name="T9" fmla="*/ 446 h 804"/>
                      <a:gd name="T10" fmla="*/ 246 w 311"/>
                      <a:gd name="T11" fmla="*/ 171 h 804"/>
                      <a:gd name="T12" fmla="*/ 0 w 311"/>
                      <a:gd name="T13" fmla="*/ 0 h 80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311" h="804">
                        <a:moveTo>
                          <a:pt x="0" y="0"/>
                        </a:moveTo>
                        <a:lnTo>
                          <a:pt x="109" y="409"/>
                        </a:lnTo>
                        <a:lnTo>
                          <a:pt x="188" y="804"/>
                        </a:lnTo>
                        <a:lnTo>
                          <a:pt x="311" y="796"/>
                        </a:lnTo>
                        <a:lnTo>
                          <a:pt x="296" y="446"/>
                        </a:lnTo>
                        <a:lnTo>
                          <a:pt x="246" y="17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grpSp>
                <p:nvGrpSpPr>
                  <p:cNvPr id="298" name="Group 243"/>
                  <p:cNvGrpSpPr/>
                  <p:nvPr/>
                </p:nvGrpSpPr>
                <p:grpSpPr bwMode="auto">
                  <a:xfrm>
                    <a:off x="4904" y="2700"/>
                    <a:ext cx="24" cy="44"/>
                    <a:chOff x="4904" y="2700"/>
                    <a:chExt cx="24" cy="44"/>
                  </a:xfrm>
                </p:grpSpPr>
                <p:sp>
                  <p:nvSpPr>
                    <p:cNvPr id="309" name="Freeform 244"/>
                    <p:cNvSpPr/>
                    <p:nvPr/>
                  </p:nvSpPr>
                  <p:spPr bwMode="auto">
                    <a:xfrm>
                      <a:off x="4907" y="2712"/>
                      <a:ext cx="16" cy="32"/>
                    </a:xfrm>
                    <a:custGeom>
                      <a:avLst/>
                      <a:gdLst>
                        <a:gd name="T0" fmla="*/ 0 w 97"/>
                        <a:gd name="T1" fmla="*/ 163 h 163"/>
                        <a:gd name="T2" fmla="*/ 97 w 97"/>
                        <a:gd name="T3" fmla="*/ 163 h 163"/>
                        <a:gd name="T4" fmla="*/ 80 w 97"/>
                        <a:gd name="T5" fmla="*/ 0 h 163"/>
                        <a:gd name="T6" fmla="*/ 3 w 97"/>
                        <a:gd name="T7" fmla="*/ 5 h 163"/>
                        <a:gd name="T8" fmla="*/ 0 w 97"/>
                        <a:gd name="T9" fmla="*/ 163 h 16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97" h="163">
                          <a:moveTo>
                            <a:pt x="0" y="163"/>
                          </a:moveTo>
                          <a:lnTo>
                            <a:pt x="97" y="163"/>
                          </a:lnTo>
                          <a:lnTo>
                            <a:pt x="80" y="0"/>
                          </a:lnTo>
                          <a:lnTo>
                            <a:pt x="3" y="5"/>
                          </a:lnTo>
                          <a:lnTo>
                            <a:pt x="0" y="163"/>
                          </a:lnTo>
                          <a:close/>
                        </a:path>
                      </a:pathLst>
                    </a:custGeom>
                    <a:solidFill>
                      <a:srgbClr val="FF9F9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10" name="Freeform 245"/>
                    <p:cNvSpPr/>
                    <p:nvPr/>
                  </p:nvSpPr>
                  <p:spPr bwMode="auto">
                    <a:xfrm>
                      <a:off x="4904" y="2700"/>
                      <a:ext cx="24" cy="18"/>
                    </a:xfrm>
                    <a:custGeom>
                      <a:avLst/>
                      <a:gdLst>
                        <a:gd name="T0" fmla="*/ 126 w 140"/>
                        <a:gd name="T1" fmla="*/ 0 h 90"/>
                        <a:gd name="T2" fmla="*/ 140 w 140"/>
                        <a:gd name="T3" fmla="*/ 76 h 90"/>
                        <a:gd name="T4" fmla="*/ 4 w 140"/>
                        <a:gd name="T5" fmla="*/ 90 h 90"/>
                        <a:gd name="T6" fmla="*/ 0 w 140"/>
                        <a:gd name="T7" fmla="*/ 12 h 90"/>
                        <a:gd name="T8" fmla="*/ 126 w 140"/>
                        <a:gd name="T9" fmla="*/ 0 h 9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40" h="90">
                          <a:moveTo>
                            <a:pt x="126" y="0"/>
                          </a:moveTo>
                          <a:lnTo>
                            <a:pt x="140" y="76"/>
                          </a:lnTo>
                          <a:lnTo>
                            <a:pt x="4" y="90"/>
                          </a:lnTo>
                          <a:lnTo>
                            <a:pt x="0" y="12"/>
                          </a:lnTo>
                          <a:lnTo>
                            <a:pt x="126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sp>
                <p:nvSpPr>
                  <p:cNvPr id="299" name="Freeform 246"/>
                  <p:cNvSpPr/>
                  <p:nvPr/>
                </p:nvSpPr>
                <p:spPr bwMode="auto">
                  <a:xfrm>
                    <a:off x="4779" y="2327"/>
                    <a:ext cx="150" cy="419"/>
                  </a:xfrm>
                  <a:custGeom>
                    <a:avLst/>
                    <a:gdLst>
                      <a:gd name="T0" fmla="*/ 361 w 899"/>
                      <a:gd name="T1" fmla="*/ 34 h 2097"/>
                      <a:gd name="T2" fmla="*/ 287 w 899"/>
                      <a:gd name="T3" fmla="*/ 126 h 2097"/>
                      <a:gd name="T4" fmla="*/ 183 w 899"/>
                      <a:gd name="T5" fmla="*/ 227 h 2097"/>
                      <a:gd name="T6" fmla="*/ 109 w 899"/>
                      <a:gd name="T7" fmla="*/ 367 h 2097"/>
                      <a:gd name="T8" fmla="*/ 58 w 899"/>
                      <a:gd name="T9" fmla="*/ 552 h 2097"/>
                      <a:gd name="T10" fmla="*/ 52 w 899"/>
                      <a:gd name="T11" fmla="*/ 646 h 2097"/>
                      <a:gd name="T12" fmla="*/ 30 w 899"/>
                      <a:gd name="T13" fmla="*/ 833 h 2097"/>
                      <a:gd name="T14" fmla="*/ 29 w 899"/>
                      <a:gd name="T15" fmla="*/ 986 h 2097"/>
                      <a:gd name="T16" fmla="*/ 53 w 899"/>
                      <a:gd name="T17" fmla="*/ 1116 h 2097"/>
                      <a:gd name="T18" fmla="*/ 47 w 899"/>
                      <a:gd name="T19" fmla="*/ 1439 h 2097"/>
                      <a:gd name="T20" fmla="*/ 0 w 899"/>
                      <a:gd name="T21" fmla="*/ 2097 h 2097"/>
                      <a:gd name="T22" fmla="*/ 773 w 899"/>
                      <a:gd name="T23" fmla="*/ 1889 h 2097"/>
                      <a:gd name="T24" fmla="*/ 829 w 899"/>
                      <a:gd name="T25" fmla="*/ 1273 h 2097"/>
                      <a:gd name="T26" fmla="*/ 892 w 899"/>
                      <a:gd name="T27" fmla="*/ 721 h 2097"/>
                      <a:gd name="T28" fmla="*/ 893 w 899"/>
                      <a:gd name="T29" fmla="*/ 582 h 2097"/>
                      <a:gd name="T30" fmla="*/ 883 w 899"/>
                      <a:gd name="T31" fmla="*/ 508 h 2097"/>
                      <a:gd name="T32" fmla="*/ 870 w 899"/>
                      <a:gd name="T33" fmla="*/ 466 h 2097"/>
                      <a:gd name="T34" fmla="*/ 844 w 899"/>
                      <a:gd name="T35" fmla="*/ 426 h 2097"/>
                      <a:gd name="T36" fmla="*/ 794 w 899"/>
                      <a:gd name="T37" fmla="*/ 372 h 2097"/>
                      <a:gd name="T38" fmla="*/ 665 w 899"/>
                      <a:gd name="T39" fmla="*/ 263 h 2097"/>
                      <a:gd name="T40" fmla="*/ 626 w 899"/>
                      <a:gd name="T41" fmla="*/ 255 h 2097"/>
                      <a:gd name="T42" fmla="*/ 625 w 899"/>
                      <a:gd name="T43" fmla="*/ 330 h 2097"/>
                      <a:gd name="T44" fmla="*/ 638 w 899"/>
                      <a:gd name="T45" fmla="*/ 486 h 2097"/>
                      <a:gd name="T46" fmla="*/ 645 w 899"/>
                      <a:gd name="T47" fmla="*/ 865 h 2097"/>
                      <a:gd name="T48" fmla="*/ 593 w 899"/>
                      <a:gd name="T49" fmla="*/ 739 h 2097"/>
                      <a:gd name="T50" fmla="*/ 577 w 899"/>
                      <a:gd name="T51" fmla="*/ 666 h 2097"/>
                      <a:gd name="T52" fmla="*/ 563 w 899"/>
                      <a:gd name="T53" fmla="*/ 567 h 2097"/>
                      <a:gd name="T54" fmla="*/ 543 w 899"/>
                      <a:gd name="T55" fmla="*/ 472 h 2097"/>
                      <a:gd name="T56" fmla="*/ 509 w 899"/>
                      <a:gd name="T57" fmla="*/ 382 h 2097"/>
                      <a:gd name="T58" fmla="*/ 447 w 899"/>
                      <a:gd name="T59" fmla="*/ 246 h 2097"/>
                      <a:gd name="T60" fmla="*/ 381 w 899"/>
                      <a:gd name="T61" fmla="*/ 93 h 2097"/>
                      <a:gd name="T62" fmla="*/ 379 w 899"/>
                      <a:gd name="T63" fmla="*/ 43 h 2097"/>
                      <a:gd name="T64" fmla="*/ 391 w 899"/>
                      <a:gd name="T65" fmla="*/ 0 h 209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</a:cxnLst>
                    <a:rect l="0" t="0" r="r" b="b"/>
                    <a:pathLst>
                      <a:path w="899" h="2097">
                        <a:moveTo>
                          <a:pt x="391" y="0"/>
                        </a:moveTo>
                        <a:lnTo>
                          <a:pt x="361" y="34"/>
                        </a:lnTo>
                        <a:lnTo>
                          <a:pt x="325" y="80"/>
                        </a:lnTo>
                        <a:lnTo>
                          <a:pt x="287" y="126"/>
                        </a:lnTo>
                        <a:lnTo>
                          <a:pt x="210" y="201"/>
                        </a:lnTo>
                        <a:lnTo>
                          <a:pt x="183" y="227"/>
                        </a:lnTo>
                        <a:lnTo>
                          <a:pt x="164" y="258"/>
                        </a:lnTo>
                        <a:lnTo>
                          <a:pt x="109" y="367"/>
                        </a:lnTo>
                        <a:lnTo>
                          <a:pt x="80" y="440"/>
                        </a:lnTo>
                        <a:lnTo>
                          <a:pt x="58" y="552"/>
                        </a:lnTo>
                        <a:lnTo>
                          <a:pt x="52" y="611"/>
                        </a:lnTo>
                        <a:lnTo>
                          <a:pt x="52" y="646"/>
                        </a:lnTo>
                        <a:lnTo>
                          <a:pt x="36" y="772"/>
                        </a:lnTo>
                        <a:lnTo>
                          <a:pt x="30" y="833"/>
                        </a:lnTo>
                        <a:lnTo>
                          <a:pt x="30" y="894"/>
                        </a:lnTo>
                        <a:lnTo>
                          <a:pt x="29" y="986"/>
                        </a:lnTo>
                        <a:lnTo>
                          <a:pt x="52" y="1087"/>
                        </a:lnTo>
                        <a:lnTo>
                          <a:pt x="53" y="1116"/>
                        </a:lnTo>
                        <a:lnTo>
                          <a:pt x="54" y="1205"/>
                        </a:lnTo>
                        <a:lnTo>
                          <a:pt x="47" y="1439"/>
                        </a:lnTo>
                        <a:lnTo>
                          <a:pt x="29" y="1748"/>
                        </a:lnTo>
                        <a:lnTo>
                          <a:pt x="0" y="2097"/>
                        </a:lnTo>
                        <a:lnTo>
                          <a:pt x="773" y="2089"/>
                        </a:lnTo>
                        <a:lnTo>
                          <a:pt x="773" y="1889"/>
                        </a:lnTo>
                        <a:lnTo>
                          <a:pt x="899" y="1873"/>
                        </a:lnTo>
                        <a:lnTo>
                          <a:pt x="829" y="1273"/>
                        </a:lnTo>
                        <a:lnTo>
                          <a:pt x="871" y="821"/>
                        </a:lnTo>
                        <a:lnTo>
                          <a:pt x="892" y="721"/>
                        </a:lnTo>
                        <a:lnTo>
                          <a:pt x="893" y="615"/>
                        </a:lnTo>
                        <a:lnTo>
                          <a:pt x="893" y="582"/>
                        </a:lnTo>
                        <a:lnTo>
                          <a:pt x="889" y="547"/>
                        </a:lnTo>
                        <a:lnTo>
                          <a:pt x="883" y="508"/>
                        </a:lnTo>
                        <a:lnTo>
                          <a:pt x="877" y="487"/>
                        </a:lnTo>
                        <a:lnTo>
                          <a:pt x="870" y="466"/>
                        </a:lnTo>
                        <a:lnTo>
                          <a:pt x="861" y="449"/>
                        </a:lnTo>
                        <a:lnTo>
                          <a:pt x="844" y="426"/>
                        </a:lnTo>
                        <a:lnTo>
                          <a:pt x="810" y="400"/>
                        </a:lnTo>
                        <a:lnTo>
                          <a:pt x="794" y="372"/>
                        </a:lnTo>
                        <a:lnTo>
                          <a:pt x="696" y="266"/>
                        </a:lnTo>
                        <a:lnTo>
                          <a:pt x="665" y="263"/>
                        </a:lnTo>
                        <a:lnTo>
                          <a:pt x="644" y="259"/>
                        </a:lnTo>
                        <a:lnTo>
                          <a:pt x="626" y="255"/>
                        </a:lnTo>
                        <a:lnTo>
                          <a:pt x="606" y="250"/>
                        </a:lnTo>
                        <a:lnTo>
                          <a:pt x="625" y="330"/>
                        </a:lnTo>
                        <a:lnTo>
                          <a:pt x="635" y="408"/>
                        </a:lnTo>
                        <a:lnTo>
                          <a:pt x="638" y="486"/>
                        </a:lnTo>
                        <a:lnTo>
                          <a:pt x="653" y="634"/>
                        </a:lnTo>
                        <a:lnTo>
                          <a:pt x="645" y="865"/>
                        </a:lnTo>
                        <a:lnTo>
                          <a:pt x="602" y="784"/>
                        </a:lnTo>
                        <a:lnTo>
                          <a:pt x="593" y="739"/>
                        </a:lnTo>
                        <a:lnTo>
                          <a:pt x="586" y="697"/>
                        </a:lnTo>
                        <a:lnTo>
                          <a:pt x="577" y="666"/>
                        </a:lnTo>
                        <a:lnTo>
                          <a:pt x="570" y="615"/>
                        </a:lnTo>
                        <a:lnTo>
                          <a:pt x="563" y="567"/>
                        </a:lnTo>
                        <a:lnTo>
                          <a:pt x="553" y="519"/>
                        </a:lnTo>
                        <a:lnTo>
                          <a:pt x="543" y="472"/>
                        </a:lnTo>
                        <a:lnTo>
                          <a:pt x="530" y="430"/>
                        </a:lnTo>
                        <a:lnTo>
                          <a:pt x="509" y="382"/>
                        </a:lnTo>
                        <a:lnTo>
                          <a:pt x="472" y="303"/>
                        </a:lnTo>
                        <a:lnTo>
                          <a:pt x="447" y="246"/>
                        </a:lnTo>
                        <a:lnTo>
                          <a:pt x="414" y="167"/>
                        </a:lnTo>
                        <a:lnTo>
                          <a:pt x="381" y="93"/>
                        </a:lnTo>
                        <a:lnTo>
                          <a:pt x="371" y="64"/>
                        </a:lnTo>
                        <a:lnTo>
                          <a:pt x="379" y="43"/>
                        </a:lnTo>
                        <a:lnTo>
                          <a:pt x="394" y="13"/>
                        </a:lnTo>
                        <a:lnTo>
                          <a:pt x="391" y="0"/>
                        </a:lnTo>
                        <a:close/>
                      </a:path>
                    </a:pathLst>
                  </a:custGeom>
                  <a:solidFill>
                    <a:srgbClr val="7F7F7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00" name="Freeform 247"/>
                  <p:cNvSpPr/>
                  <p:nvPr/>
                </p:nvSpPr>
                <p:spPr bwMode="auto">
                  <a:xfrm>
                    <a:off x="4908" y="2401"/>
                    <a:ext cx="21" cy="303"/>
                  </a:xfrm>
                  <a:custGeom>
                    <a:avLst/>
                    <a:gdLst>
                      <a:gd name="T0" fmla="*/ 64 w 128"/>
                      <a:gd name="T1" fmla="*/ 147 h 1517"/>
                      <a:gd name="T2" fmla="*/ 75 w 128"/>
                      <a:gd name="T3" fmla="*/ 313 h 1517"/>
                      <a:gd name="T4" fmla="*/ 46 w 128"/>
                      <a:gd name="T5" fmla="*/ 691 h 1517"/>
                      <a:gd name="T6" fmla="*/ 0 w 128"/>
                      <a:gd name="T7" fmla="*/ 1061 h 1517"/>
                      <a:gd name="T8" fmla="*/ 0 w 128"/>
                      <a:gd name="T9" fmla="*/ 1517 h 1517"/>
                      <a:gd name="T10" fmla="*/ 128 w 128"/>
                      <a:gd name="T11" fmla="*/ 1501 h 1517"/>
                      <a:gd name="T12" fmla="*/ 57 w 128"/>
                      <a:gd name="T13" fmla="*/ 901 h 1517"/>
                      <a:gd name="T14" fmla="*/ 100 w 128"/>
                      <a:gd name="T15" fmla="*/ 449 h 1517"/>
                      <a:gd name="T16" fmla="*/ 121 w 128"/>
                      <a:gd name="T17" fmla="*/ 347 h 1517"/>
                      <a:gd name="T18" fmla="*/ 122 w 128"/>
                      <a:gd name="T19" fmla="*/ 242 h 1517"/>
                      <a:gd name="T20" fmla="*/ 122 w 128"/>
                      <a:gd name="T21" fmla="*/ 209 h 1517"/>
                      <a:gd name="T22" fmla="*/ 118 w 128"/>
                      <a:gd name="T23" fmla="*/ 174 h 1517"/>
                      <a:gd name="T24" fmla="*/ 112 w 128"/>
                      <a:gd name="T25" fmla="*/ 136 h 1517"/>
                      <a:gd name="T26" fmla="*/ 106 w 128"/>
                      <a:gd name="T27" fmla="*/ 115 h 1517"/>
                      <a:gd name="T28" fmla="*/ 99 w 128"/>
                      <a:gd name="T29" fmla="*/ 94 h 1517"/>
                      <a:gd name="T30" fmla="*/ 88 w 128"/>
                      <a:gd name="T31" fmla="*/ 77 h 1517"/>
                      <a:gd name="T32" fmla="*/ 72 w 128"/>
                      <a:gd name="T33" fmla="*/ 54 h 1517"/>
                      <a:gd name="T34" fmla="*/ 38 w 128"/>
                      <a:gd name="T35" fmla="*/ 28 h 1517"/>
                      <a:gd name="T36" fmla="*/ 20 w 128"/>
                      <a:gd name="T37" fmla="*/ 0 h 1517"/>
                      <a:gd name="T38" fmla="*/ 64 w 128"/>
                      <a:gd name="T39" fmla="*/ 147 h 15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28" h="1517">
                        <a:moveTo>
                          <a:pt x="64" y="147"/>
                        </a:moveTo>
                        <a:lnTo>
                          <a:pt x="75" y="313"/>
                        </a:lnTo>
                        <a:lnTo>
                          <a:pt x="46" y="691"/>
                        </a:lnTo>
                        <a:lnTo>
                          <a:pt x="0" y="1061"/>
                        </a:lnTo>
                        <a:lnTo>
                          <a:pt x="0" y="1517"/>
                        </a:lnTo>
                        <a:lnTo>
                          <a:pt x="128" y="1501"/>
                        </a:lnTo>
                        <a:lnTo>
                          <a:pt x="57" y="901"/>
                        </a:lnTo>
                        <a:lnTo>
                          <a:pt x="100" y="449"/>
                        </a:lnTo>
                        <a:lnTo>
                          <a:pt x="121" y="347"/>
                        </a:lnTo>
                        <a:lnTo>
                          <a:pt x="122" y="242"/>
                        </a:lnTo>
                        <a:lnTo>
                          <a:pt x="122" y="209"/>
                        </a:lnTo>
                        <a:lnTo>
                          <a:pt x="118" y="174"/>
                        </a:lnTo>
                        <a:lnTo>
                          <a:pt x="112" y="136"/>
                        </a:lnTo>
                        <a:lnTo>
                          <a:pt x="106" y="115"/>
                        </a:lnTo>
                        <a:lnTo>
                          <a:pt x="99" y="94"/>
                        </a:lnTo>
                        <a:lnTo>
                          <a:pt x="88" y="77"/>
                        </a:lnTo>
                        <a:lnTo>
                          <a:pt x="72" y="54"/>
                        </a:lnTo>
                        <a:lnTo>
                          <a:pt x="38" y="28"/>
                        </a:lnTo>
                        <a:lnTo>
                          <a:pt x="20" y="0"/>
                        </a:lnTo>
                        <a:lnTo>
                          <a:pt x="64" y="147"/>
                        </a:lnTo>
                        <a:close/>
                      </a:path>
                    </a:pathLst>
                  </a:custGeom>
                  <a:solidFill>
                    <a:srgbClr val="7F7F7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01" name="Freeform 248"/>
                  <p:cNvSpPr/>
                  <p:nvPr/>
                </p:nvSpPr>
                <p:spPr bwMode="auto">
                  <a:xfrm>
                    <a:off x="4810" y="2473"/>
                    <a:ext cx="87" cy="210"/>
                  </a:xfrm>
                  <a:custGeom>
                    <a:avLst/>
                    <a:gdLst>
                      <a:gd name="T0" fmla="*/ 0 w 525"/>
                      <a:gd name="T1" fmla="*/ 0 h 1048"/>
                      <a:gd name="T2" fmla="*/ 47 w 525"/>
                      <a:gd name="T3" fmla="*/ 135 h 1048"/>
                      <a:gd name="T4" fmla="*/ 100 w 525"/>
                      <a:gd name="T5" fmla="*/ 245 h 1048"/>
                      <a:gd name="T6" fmla="*/ 121 w 525"/>
                      <a:gd name="T7" fmla="*/ 298 h 1048"/>
                      <a:gd name="T8" fmla="*/ 128 w 525"/>
                      <a:gd name="T9" fmla="*/ 354 h 1048"/>
                      <a:gd name="T10" fmla="*/ 151 w 525"/>
                      <a:gd name="T11" fmla="*/ 376 h 1048"/>
                      <a:gd name="T12" fmla="*/ 233 w 525"/>
                      <a:gd name="T13" fmla="*/ 557 h 1048"/>
                      <a:gd name="T14" fmla="*/ 269 w 525"/>
                      <a:gd name="T15" fmla="*/ 621 h 1048"/>
                      <a:gd name="T16" fmla="*/ 330 w 525"/>
                      <a:gd name="T17" fmla="*/ 750 h 1048"/>
                      <a:gd name="T18" fmla="*/ 366 w 525"/>
                      <a:gd name="T19" fmla="*/ 822 h 1048"/>
                      <a:gd name="T20" fmla="*/ 399 w 525"/>
                      <a:gd name="T21" fmla="*/ 911 h 1048"/>
                      <a:gd name="T22" fmla="*/ 406 w 525"/>
                      <a:gd name="T23" fmla="*/ 952 h 1048"/>
                      <a:gd name="T24" fmla="*/ 489 w 525"/>
                      <a:gd name="T25" fmla="*/ 1048 h 1048"/>
                      <a:gd name="T26" fmla="*/ 517 w 525"/>
                      <a:gd name="T27" fmla="*/ 826 h 1048"/>
                      <a:gd name="T28" fmla="*/ 525 w 525"/>
                      <a:gd name="T29" fmla="*/ 710 h 1048"/>
                      <a:gd name="T30" fmla="*/ 514 w 525"/>
                      <a:gd name="T31" fmla="*/ 569 h 1048"/>
                      <a:gd name="T32" fmla="*/ 492 w 525"/>
                      <a:gd name="T33" fmla="*/ 409 h 1048"/>
                      <a:gd name="T34" fmla="*/ 464 w 525"/>
                      <a:gd name="T35" fmla="*/ 394 h 1048"/>
                      <a:gd name="T36" fmla="*/ 464 w 525"/>
                      <a:gd name="T37" fmla="*/ 491 h 1048"/>
                      <a:gd name="T38" fmla="*/ 478 w 525"/>
                      <a:gd name="T39" fmla="*/ 576 h 1048"/>
                      <a:gd name="T40" fmla="*/ 489 w 525"/>
                      <a:gd name="T41" fmla="*/ 669 h 1048"/>
                      <a:gd name="T42" fmla="*/ 485 w 525"/>
                      <a:gd name="T43" fmla="*/ 717 h 1048"/>
                      <a:gd name="T44" fmla="*/ 453 w 525"/>
                      <a:gd name="T45" fmla="*/ 565 h 1048"/>
                      <a:gd name="T46" fmla="*/ 428 w 525"/>
                      <a:gd name="T47" fmla="*/ 454 h 1048"/>
                      <a:gd name="T48" fmla="*/ 384 w 525"/>
                      <a:gd name="T49" fmla="*/ 383 h 1048"/>
                      <a:gd name="T50" fmla="*/ 110 w 525"/>
                      <a:gd name="T51" fmla="*/ 83 h 1048"/>
                      <a:gd name="T52" fmla="*/ 0 w 525"/>
                      <a:gd name="T53" fmla="*/ 0 h 104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</a:cxnLst>
                    <a:rect l="0" t="0" r="r" b="b"/>
                    <a:pathLst>
                      <a:path w="525" h="1048">
                        <a:moveTo>
                          <a:pt x="0" y="0"/>
                        </a:moveTo>
                        <a:lnTo>
                          <a:pt x="47" y="135"/>
                        </a:lnTo>
                        <a:lnTo>
                          <a:pt x="100" y="245"/>
                        </a:lnTo>
                        <a:lnTo>
                          <a:pt x="121" y="298"/>
                        </a:lnTo>
                        <a:lnTo>
                          <a:pt x="128" y="354"/>
                        </a:lnTo>
                        <a:lnTo>
                          <a:pt x="151" y="376"/>
                        </a:lnTo>
                        <a:lnTo>
                          <a:pt x="233" y="557"/>
                        </a:lnTo>
                        <a:lnTo>
                          <a:pt x="269" y="621"/>
                        </a:lnTo>
                        <a:lnTo>
                          <a:pt x="330" y="750"/>
                        </a:lnTo>
                        <a:lnTo>
                          <a:pt x="366" y="822"/>
                        </a:lnTo>
                        <a:lnTo>
                          <a:pt x="399" y="911"/>
                        </a:lnTo>
                        <a:lnTo>
                          <a:pt x="406" y="952"/>
                        </a:lnTo>
                        <a:lnTo>
                          <a:pt x="489" y="1048"/>
                        </a:lnTo>
                        <a:lnTo>
                          <a:pt x="517" y="826"/>
                        </a:lnTo>
                        <a:lnTo>
                          <a:pt x="525" y="710"/>
                        </a:lnTo>
                        <a:lnTo>
                          <a:pt x="514" y="569"/>
                        </a:lnTo>
                        <a:lnTo>
                          <a:pt x="492" y="409"/>
                        </a:lnTo>
                        <a:lnTo>
                          <a:pt x="464" y="394"/>
                        </a:lnTo>
                        <a:lnTo>
                          <a:pt x="464" y="491"/>
                        </a:lnTo>
                        <a:lnTo>
                          <a:pt x="478" y="576"/>
                        </a:lnTo>
                        <a:lnTo>
                          <a:pt x="489" y="669"/>
                        </a:lnTo>
                        <a:lnTo>
                          <a:pt x="485" y="717"/>
                        </a:lnTo>
                        <a:lnTo>
                          <a:pt x="453" y="565"/>
                        </a:lnTo>
                        <a:lnTo>
                          <a:pt x="428" y="454"/>
                        </a:lnTo>
                        <a:lnTo>
                          <a:pt x="384" y="383"/>
                        </a:lnTo>
                        <a:lnTo>
                          <a:pt x="110" y="8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3F3F3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02" name="Freeform 249"/>
                  <p:cNvSpPr/>
                  <p:nvPr/>
                </p:nvSpPr>
                <p:spPr bwMode="auto">
                  <a:xfrm>
                    <a:off x="4791" y="2375"/>
                    <a:ext cx="199" cy="223"/>
                  </a:xfrm>
                  <a:custGeom>
                    <a:avLst/>
                    <a:gdLst>
                      <a:gd name="T0" fmla="*/ 355 w 1198"/>
                      <a:gd name="T1" fmla="*/ 85 h 1114"/>
                      <a:gd name="T2" fmla="*/ 305 w 1198"/>
                      <a:gd name="T3" fmla="*/ 41 h 1114"/>
                      <a:gd name="T4" fmla="*/ 261 w 1198"/>
                      <a:gd name="T5" fmla="*/ 18 h 1114"/>
                      <a:gd name="T6" fmla="*/ 208 w 1198"/>
                      <a:gd name="T7" fmla="*/ 4 h 1114"/>
                      <a:gd name="T8" fmla="*/ 165 w 1198"/>
                      <a:gd name="T9" fmla="*/ 0 h 1114"/>
                      <a:gd name="T10" fmla="*/ 147 w 1198"/>
                      <a:gd name="T11" fmla="*/ 7 h 1114"/>
                      <a:gd name="T12" fmla="*/ 108 w 1198"/>
                      <a:gd name="T13" fmla="*/ 44 h 1114"/>
                      <a:gd name="T14" fmla="*/ 68 w 1198"/>
                      <a:gd name="T15" fmla="*/ 93 h 1114"/>
                      <a:gd name="T16" fmla="*/ 50 w 1198"/>
                      <a:gd name="T17" fmla="*/ 119 h 1114"/>
                      <a:gd name="T18" fmla="*/ 43 w 1198"/>
                      <a:gd name="T19" fmla="*/ 167 h 1114"/>
                      <a:gd name="T20" fmla="*/ 50 w 1198"/>
                      <a:gd name="T21" fmla="*/ 234 h 1114"/>
                      <a:gd name="T22" fmla="*/ 65 w 1198"/>
                      <a:gd name="T23" fmla="*/ 304 h 1114"/>
                      <a:gd name="T24" fmla="*/ 97 w 1198"/>
                      <a:gd name="T25" fmla="*/ 363 h 1114"/>
                      <a:gd name="T26" fmla="*/ 115 w 1198"/>
                      <a:gd name="T27" fmla="*/ 419 h 1114"/>
                      <a:gd name="T28" fmla="*/ 0 w 1198"/>
                      <a:gd name="T29" fmla="*/ 438 h 1114"/>
                      <a:gd name="T30" fmla="*/ 97 w 1198"/>
                      <a:gd name="T31" fmla="*/ 438 h 1114"/>
                      <a:gd name="T32" fmla="*/ 15 w 1198"/>
                      <a:gd name="T33" fmla="*/ 572 h 1114"/>
                      <a:gd name="T34" fmla="*/ 104 w 1198"/>
                      <a:gd name="T35" fmla="*/ 464 h 1114"/>
                      <a:gd name="T36" fmla="*/ 108 w 1198"/>
                      <a:gd name="T37" fmla="*/ 498 h 1114"/>
                      <a:gd name="T38" fmla="*/ 43 w 1198"/>
                      <a:gd name="T39" fmla="*/ 756 h 1114"/>
                      <a:gd name="T40" fmla="*/ 126 w 1198"/>
                      <a:gd name="T41" fmla="*/ 520 h 1114"/>
                      <a:gd name="T42" fmla="*/ 176 w 1198"/>
                      <a:gd name="T43" fmla="*/ 561 h 1114"/>
                      <a:gd name="T44" fmla="*/ 243 w 1198"/>
                      <a:gd name="T45" fmla="*/ 665 h 1114"/>
                      <a:gd name="T46" fmla="*/ 301 w 1198"/>
                      <a:gd name="T47" fmla="*/ 728 h 1114"/>
                      <a:gd name="T48" fmla="*/ 326 w 1198"/>
                      <a:gd name="T49" fmla="*/ 756 h 1114"/>
                      <a:gd name="T50" fmla="*/ 359 w 1198"/>
                      <a:gd name="T51" fmla="*/ 790 h 1114"/>
                      <a:gd name="T52" fmla="*/ 373 w 1198"/>
                      <a:gd name="T53" fmla="*/ 801 h 1114"/>
                      <a:gd name="T54" fmla="*/ 377 w 1198"/>
                      <a:gd name="T55" fmla="*/ 827 h 1114"/>
                      <a:gd name="T56" fmla="*/ 395 w 1198"/>
                      <a:gd name="T57" fmla="*/ 843 h 1114"/>
                      <a:gd name="T58" fmla="*/ 427 w 1198"/>
                      <a:gd name="T59" fmla="*/ 850 h 1114"/>
                      <a:gd name="T60" fmla="*/ 459 w 1198"/>
                      <a:gd name="T61" fmla="*/ 854 h 1114"/>
                      <a:gd name="T62" fmla="*/ 495 w 1198"/>
                      <a:gd name="T63" fmla="*/ 873 h 1114"/>
                      <a:gd name="T64" fmla="*/ 552 w 1198"/>
                      <a:gd name="T65" fmla="*/ 914 h 1114"/>
                      <a:gd name="T66" fmla="*/ 617 w 1198"/>
                      <a:gd name="T67" fmla="*/ 954 h 1114"/>
                      <a:gd name="T68" fmla="*/ 717 w 1198"/>
                      <a:gd name="T69" fmla="*/ 999 h 1114"/>
                      <a:gd name="T70" fmla="*/ 813 w 1198"/>
                      <a:gd name="T71" fmla="*/ 1032 h 1114"/>
                      <a:gd name="T72" fmla="*/ 900 w 1198"/>
                      <a:gd name="T73" fmla="*/ 1054 h 1114"/>
                      <a:gd name="T74" fmla="*/ 1018 w 1198"/>
                      <a:gd name="T75" fmla="*/ 1088 h 1114"/>
                      <a:gd name="T76" fmla="*/ 1137 w 1198"/>
                      <a:gd name="T77" fmla="*/ 1114 h 1114"/>
                      <a:gd name="T78" fmla="*/ 1158 w 1198"/>
                      <a:gd name="T79" fmla="*/ 1114 h 1114"/>
                      <a:gd name="T80" fmla="*/ 1155 w 1198"/>
                      <a:gd name="T81" fmla="*/ 1025 h 1114"/>
                      <a:gd name="T82" fmla="*/ 1165 w 1198"/>
                      <a:gd name="T83" fmla="*/ 984 h 1114"/>
                      <a:gd name="T84" fmla="*/ 1172 w 1198"/>
                      <a:gd name="T85" fmla="*/ 925 h 1114"/>
                      <a:gd name="T86" fmla="*/ 1190 w 1198"/>
                      <a:gd name="T87" fmla="*/ 850 h 1114"/>
                      <a:gd name="T88" fmla="*/ 1198 w 1198"/>
                      <a:gd name="T89" fmla="*/ 834 h 1114"/>
                      <a:gd name="T90" fmla="*/ 1097 w 1198"/>
                      <a:gd name="T91" fmla="*/ 812 h 1114"/>
                      <a:gd name="T92" fmla="*/ 1011 w 1198"/>
                      <a:gd name="T93" fmla="*/ 775 h 1114"/>
                      <a:gd name="T94" fmla="*/ 922 w 1198"/>
                      <a:gd name="T95" fmla="*/ 738 h 1114"/>
                      <a:gd name="T96" fmla="*/ 900 w 1198"/>
                      <a:gd name="T97" fmla="*/ 713 h 1114"/>
                      <a:gd name="T98" fmla="*/ 859 w 1198"/>
                      <a:gd name="T99" fmla="*/ 702 h 1114"/>
                      <a:gd name="T100" fmla="*/ 809 w 1198"/>
                      <a:gd name="T101" fmla="*/ 698 h 1114"/>
                      <a:gd name="T102" fmla="*/ 721 w 1198"/>
                      <a:gd name="T103" fmla="*/ 672 h 1114"/>
                      <a:gd name="T104" fmla="*/ 667 w 1198"/>
                      <a:gd name="T105" fmla="*/ 624 h 1114"/>
                      <a:gd name="T106" fmla="*/ 581 w 1198"/>
                      <a:gd name="T107" fmla="*/ 535 h 1114"/>
                      <a:gd name="T108" fmla="*/ 524 w 1198"/>
                      <a:gd name="T109" fmla="*/ 438 h 1114"/>
                      <a:gd name="T110" fmla="*/ 491 w 1198"/>
                      <a:gd name="T111" fmla="*/ 408 h 1114"/>
                      <a:gd name="T112" fmla="*/ 430 w 1198"/>
                      <a:gd name="T113" fmla="*/ 304 h 1114"/>
                      <a:gd name="T114" fmla="*/ 423 w 1198"/>
                      <a:gd name="T115" fmla="*/ 260 h 1114"/>
                      <a:gd name="T116" fmla="*/ 413 w 1198"/>
                      <a:gd name="T117" fmla="*/ 219 h 1114"/>
                      <a:gd name="T118" fmla="*/ 398 w 1198"/>
                      <a:gd name="T119" fmla="*/ 189 h 1114"/>
                      <a:gd name="T120" fmla="*/ 380 w 1198"/>
                      <a:gd name="T121" fmla="*/ 137 h 1114"/>
                      <a:gd name="T122" fmla="*/ 355 w 1198"/>
                      <a:gd name="T123" fmla="*/ 85 h 11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  <a:cxn ang="0">
                        <a:pos x="T120" y="T121"/>
                      </a:cxn>
                      <a:cxn ang="0">
                        <a:pos x="T122" y="T123"/>
                      </a:cxn>
                    </a:cxnLst>
                    <a:rect l="0" t="0" r="r" b="b"/>
                    <a:pathLst>
                      <a:path w="1198" h="1114">
                        <a:moveTo>
                          <a:pt x="355" y="85"/>
                        </a:moveTo>
                        <a:lnTo>
                          <a:pt x="305" y="41"/>
                        </a:lnTo>
                        <a:lnTo>
                          <a:pt x="261" y="18"/>
                        </a:lnTo>
                        <a:lnTo>
                          <a:pt x="208" y="4"/>
                        </a:lnTo>
                        <a:lnTo>
                          <a:pt x="165" y="0"/>
                        </a:lnTo>
                        <a:lnTo>
                          <a:pt x="147" y="7"/>
                        </a:lnTo>
                        <a:lnTo>
                          <a:pt x="108" y="44"/>
                        </a:lnTo>
                        <a:lnTo>
                          <a:pt x="68" y="93"/>
                        </a:lnTo>
                        <a:lnTo>
                          <a:pt x="50" y="119"/>
                        </a:lnTo>
                        <a:lnTo>
                          <a:pt x="43" y="167"/>
                        </a:lnTo>
                        <a:lnTo>
                          <a:pt x="50" y="234"/>
                        </a:lnTo>
                        <a:lnTo>
                          <a:pt x="65" y="304"/>
                        </a:lnTo>
                        <a:lnTo>
                          <a:pt x="97" y="363"/>
                        </a:lnTo>
                        <a:lnTo>
                          <a:pt x="115" y="419"/>
                        </a:lnTo>
                        <a:lnTo>
                          <a:pt x="0" y="438"/>
                        </a:lnTo>
                        <a:lnTo>
                          <a:pt x="97" y="438"/>
                        </a:lnTo>
                        <a:lnTo>
                          <a:pt x="15" y="572"/>
                        </a:lnTo>
                        <a:lnTo>
                          <a:pt x="104" y="464"/>
                        </a:lnTo>
                        <a:lnTo>
                          <a:pt x="108" y="498"/>
                        </a:lnTo>
                        <a:lnTo>
                          <a:pt x="43" y="756"/>
                        </a:lnTo>
                        <a:lnTo>
                          <a:pt x="126" y="520"/>
                        </a:lnTo>
                        <a:lnTo>
                          <a:pt x="176" y="561"/>
                        </a:lnTo>
                        <a:lnTo>
                          <a:pt x="243" y="665"/>
                        </a:lnTo>
                        <a:lnTo>
                          <a:pt x="301" y="728"/>
                        </a:lnTo>
                        <a:lnTo>
                          <a:pt x="326" y="756"/>
                        </a:lnTo>
                        <a:lnTo>
                          <a:pt x="359" y="790"/>
                        </a:lnTo>
                        <a:lnTo>
                          <a:pt x="373" y="801"/>
                        </a:lnTo>
                        <a:lnTo>
                          <a:pt x="377" y="827"/>
                        </a:lnTo>
                        <a:lnTo>
                          <a:pt x="395" y="843"/>
                        </a:lnTo>
                        <a:lnTo>
                          <a:pt x="427" y="850"/>
                        </a:lnTo>
                        <a:lnTo>
                          <a:pt x="459" y="854"/>
                        </a:lnTo>
                        <a:lnTo>
                          <a:pt x="495" y="873"/>
                        </a:lnTo>
                        <a:lnTo>
                          <a:pt x="552" y="914"/>
                        </a:lnTo>
                        <a:lnTo>
                          <a:pt x="617" y="954"/>
                        </a:lnTo>
                        <a:lnTo>
                          <a:pt x="717" y="999"/>
                        </a:lnTo>
                        <a:lnTo>
                          <a:pt x="813" y="1032"/>
                        </a:lnTo>
                        <a:lnTo>
                          <a:pt x="900" y="1054"/>
                        </a:lnTo>
                        <a:lnTo>
                          <a:pt x="1018" y="1088"/>
                        </a:lnTo>
                        <a:lnTo>
                          <a:pt x="1137" y="1114"/>
                        </a:lnTo>
                        <a:lnTo>
                          <a:pt x="1158" y="1114"/>
                        </a:lnTo>
                        <a:lnTo>
                          <a:pt x="1155" y="1025"/>
                        </a:lnTo>
                        <a:lnTo>
                          <a:pt x="1165" y="984"/>
                        </a:lnTo>
                        <a:lnTo>
                          <a:pt x="1172" y="925"/>
                        </a:lnTo>
                        <a:lnTo>
                          <a:pt x="1190" y="850"/>
                        </a:lnTo>
                        <a:lnTo>
                          <a:pt x="1198" y="834"/>
                        </a:lnTo>
                        <a:lnTo>
                          <a:pt x="1097" y="812"/>
                        </a:lnTo>
                        <a:lnTo>
                          <a:pt x="1011" y="775"/>
                        </a:lnTo>
                        <a:lnTo>
                          <a:pt x="922" y="738"/>
                        </a:lnTo>
                        <a:lnTo>
                          <a:pt x="900" y="713"/>
                        </a:lnTo>
                        <a:lnTo>
                          <a:pt x="859" y="702"/>
                        </a:lnTo>
                        <a:lnTo>
                          <a:pt x="809" y="698"/>
                        </a:lnTo>
                        <a:lnTo>
                          <a:pt x="721" y="672"/>
                        </a:lnTo>
                        <a:lnTo>
                          <a:pt x="667" y="624"/>
                        </a:lnTo>
                        <a:lnTo>
                          <a:pt x="581" y="535"/>
                        </a:lnTo>
                        <a:lnTo>
                          <a:pt x="524" y="438"/>
                        </a:lnTo>
                        <a:lnTo>
                          <a:pt x="491" y="408"/>
                        </a:lnTo>
                        <a:lnTo>
                          <a:pt x="430" y="304"/>
                        </a:lnTo>
                        <a:lnTo>
                          <a:pt x="423" y="260"/>
                        </a:lnTo>
                        <a:lnTo>
                          <a:pt x="413" y="219"/>
                        </a:lnTo>
                        <a:lnTo>
                          <a:pt x="398" y="189"/>
                        </a:lnTo>
                        <a:lnTo>
                          <a:pt x="380" y="137"/>
                        </a:lnTo>
                        <a:lnTo>
                          <a:pt x="355" y="85"/>
                        </a:lnTo>
                        <a:close/>
                      </a:path>
                    </a:pathLst>
                  </a:custGeom>
                  <a:solidFill>
                    <a:srgbClr val="7F7F7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03" name="Freeform 250"/>
                  <p:cNvSpPr/>
                  <p:nvPr/>
                </p:nvSpPr>
                <p:spPr bwMode="auto">
                  <a:xfrm>
                    <a:off x="4810" y="2406"/>
                    <a:ext cx="49" cy="50"/>
                  </a:xfrm>
                  <a:custGeom>
                    <a:avLst/>
                    <a:gdLst>
                      <a:gd name="T0" fmla="*/ 84 w 292"/>
                      <a:gd name="T1" fmla="*/ 167 h 251"/>
                      <a:gd name="T2" fmla="*/ 238 w 292"/>
                      <a:gd name="T3" fmla="*/ 3 h 251"/>
                      <a:gd name="T4" fmla="*/ 214 w 292"/>
                      <a:gd name="T5" fmla="*/ 5 h 251"/>
                      <a:gd name="T6" fmla="*/ 175 w 292"/>
                      <a:gd name="T7" fmla="*/ 15 h 251"/>
                      <a:gd name="T8" fmla="*/ 143 w 292"/>
                      <a:gd name="T9" fmla="*/ 34 h 251"/>
                      <a:gd name="T10" fmla="*/ 107 w 292"/>
                      <a:gd name="T11" fmla="*/ 71 h 251"/>
                      <a:gd name="T12" fmla="*/ 72 w 292"/>
                      <a:gd name="T13" fmla="*/ 106 h 251"/>
                      <a:gd name="T14" fmla="*/ 51 w 292"/>
                      <a:gd name="T15" fmla="*/ 141 h 251"/>
                      <a:gd name="T16" fmla="*/ 36 w 292"/>
                      <a:gd name="T17" fmla="*/ 174 h 251"/>
                      <a:gd name="T18" fmla="*/ 14 w 292"/>
                      <a:gd name="T19" fmla="*/ 210 h 251"/>
                      <a:gd name="T20" fmla="*/ 60 w 292"/>
                      <a:gd name="T21" fmla="*/ 214 h 251"/>
                      <a:gd name="T22" fmla="*/ 98 w 292"/>
                      <a:gd name="T23" fmla="*/ 209 h 251"/>
                      <a:gd name="T24" fmla="*/ 133 w 292"/>
                      <a:gd name="T25" fmla="*/ 195 h 251"/>
                      <a:gd name="T26" fmla="*/ 176 w 292"/>
                      <a:gd name="T27" fmla="*/ 168 h 251"/>
                      <a:gd name="T28" fmla="*/ 211 w 292"/>
                      <a:gd name="T29" fmla="*/ 134 h 251"/>
                      <a:gd name="T30" fmla="*/ 233 w 292"/>
                      <a:gd name="T31" fmla="*/ 120 h 251"/>
                      <a:gd name="T32" fmla="*/ 258 w 292"/>
                      <a:gd name="T33" fmla="*/ 102 h 251"/>
                      <a:gd name="T34" fmla="*/ 278 w 292"/>
                      <a:gd name="T35" fmla="*/ 97 h 251"/>
                      <a:gd name="T36" fmla="*/ 292 w 292"/>
                      <a:gd name="T37" fmla="*/ 106 h 251"/>
                      <a:gd name="T38" fmla="*/ 291 w 292"/>
                      <a:gd name="T39" fmla="*/ 129 h 251"/>
                      <a:gd name="T40" fmla="*/ 278 w 292"/>
                      <a:gd name="T41" fmla="*/ 163 h 251"/>
                      <a:gd name="T42" fmla="*/ 258 w 292"/>
                      <a:gd name="T43" fmla="*/ 183 h 251"/>
                      <a:gd name="T44" fmla="*/ 237 w 292"/>
                      <a:gd name="T45" fmla="*/ 199 h 251"/>
                      <a:gd name="T46" fmla="*/ 212 w 292"/>
                      <a:gd name="T47" fmla="*/ 214 h 251"/>
                      <a:gd name="T48" fmla="*/ 172 w 292"/>
                      <a:gd name="T49" fmla="*/ 232 h 251"/>
                      <a:gd name="T50" fmla="*/ 129 w 292"/>
                      <a:gd name="T51" fmla="*/ 247 h 251"/>
                      <a:gd name="T52" fmla="*/ 104 w 292"/>
                      <a:gd name="T53" fmla="*/ 251 h 251"/>
                      <a:gd name="T54" fmla="*/ 77 w 292"/>
                      <a:gd name="T55" fmla="*/ 246 h 251"/>
                      <a:gd name="T56" fmla="*/ 36 w 292"/>
                      <a:gd name="T57" fmla="*/ 232 h 251"/>
                      <a:gd name="T58" fmla="*/ 14 w 292"/>
                      <a:gd name="T59" fmla="*/ 221 h 251"/>
                      <a:gd name="T60" fmla="*/ 0 w 292"/>
                      <a:gd name="T61" fmla="*/ 209 h 251"/>
                      <a:gd name="T62" fmla="*/ 4 w 292"/>
                      <a:gd name="T63" fmla="*/ 168 h 251"/>
                      <a:gd name="T64" fmla="*/ 21 w 292"/>
                      <a:gd name="T65" fmla="*/ 133 h 251"/>
                      <a:gd name="T66" fmla="*/ 40 w 292"/>
                      <a:gd name="T67" fmla="*/ 102 h 251"/>
                      <a:gd name="T68" fmla="*/ 65 w 292"/>
                      <a:gd name="T69" fmla="*/ 75 h 251"/>
                      <a:gd name="T70" fmla="*/ 97 w 292"/>
                      <a:gd name="T71" fmla="*/ 49 h 251"/>
                      <a:gd name="T72" fmla="*/ 129 w 292"/>
                      <a:gd name="T73" fmla="*/ 29 h 251"/>
                      <a:gd name="T74" fmla="*/ 165 w 292"/>
                      <a:gd name="T75" fmla="*/ 15 h 251"/>
                      <a:gd name="T76" fmla="*/ 223 w 292"/>
                      <a:gd name="T77" fmla="*/ 0 h 251"/>
                      <a:gd name="T78" fmla="*/ 270 w 292"/>
                      <a:gd name="T79" fmla="*/ 1 h 251"/>
                      <a:gd name="T80" fmla="*/ 84 w 292"/>
                      <a:gd name="T81" fmla="*/ 167 h 25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</a:cxnLst>
                    <a:rect l="0" t="0" r="r" b="b"/>
                    <a:pathLst>
                      <a:path w="292" h="251">
                        <a:moveTo>
                          <a:pt x="84" y="167"/>
                        </a:moveTo>
                        <a:lnTo>
                          <a:pt x="238" y="3"/>
                        </a:lnTo>
                        <a:lnTo>
                          <a:pt x="214" y="5"/>
                        </a:lnTo>
                        <a:lnTo>
                          <a:pt x="175" y="15"/>
                        </a:lnTo>
                        <a:lnTo>
                          <a:pt x="143" y="34"/>
                        </a:lnTo>
                        <a:lnTo>
                          <a:pt x="107" y="71"/>
                        </a:lnTo>
                        <a:lnTo>
                          <a:pt x="72" y="106"/>
                        </a:lnTo>
                        <a:lnTo>
                          <a:pt x="51" y="141"/>
                        </a:lnTo>
                        <a:lnTo>
                          <a:pt x="36" y="174"/>
                        </a:lnTo>
                        <a:lnTo>
                          <a:pt x="14" y="210"/>
                        </a:lnTo>
                        <a:lnTo>
                          <a:pt x="60" y="214"/>
                        </a:lnTo>
                        <a:lnTo>
                          <a:pt x="98" y="209"/>
                        </a:lnTo>
                        <a:lnTo>
                          <a:pt x="133" y="195"/>
                        </a:lnTo>
                        <a:lnTo>
                          <a:pt x="176" y="168"/>
                        </a:lnTo>
                        <a:lnTo>
                          <a:pt x="211" y="134"/>
                        </a:lnTo>
                        <a:lnTo>
                          <a:pt x="233" y="120"/>
                        </a:lnTo>
                        <a:lnTo>
                          <a:pt x="258" y="102"/>
                        </a:lnTo>
                        <a:lnTo>
                          <a:pt x="278" y="97"/>
                        </a:lnTo>
                        <a:lnTo>
                          <a:pt x="292" y="106"/>
                        </a:lnTo>
                        <a:lnTo>
                          <a:pt x="291" y="129"/>
                        </a:lnTo>
                        <a:lnTo>
                          <a:pt x="278" y="163"/>
                        </a:lnTo>
                        <a:lnTo>
                          <a:pt x="258" y="183"/>
                        </a:lnTo>
                        <a:lnTo>
                          <a:pt x="237" y="199"/>
                        </a:lnTo>
                        <a:lnTo>
                          <a:pt x="212" y="214"/>
                        </a:lnTo>
                        <a:lnTo>
                          <a:pt x="172" y="232"/>
                        </a:lnTo>
                        <a:lnTo>
                          <a:pt x="129" y="247"/>
                        </a:lnTo>
                        <a:lnTo>
                          <a:pt x="104" y="251"/>
                        </a:lnTo>
                        <a:lnTo>
                          <a:pt x="77" y="246"/>
                        </a:lnTo>
                        <a:lnTo>
                          <a:pt x="36" y="232"/>
                        </a:lnTo>
                        <a:lnTo>
                          <a:pt x="14" y="221"/>
                        </a:lnTo>
                        <a:lnTo>
                          <a:pt x="0" y="209"/>
                        </a:lnTo>
                        <a:lnTo>
                          <a:pt x="4" y="168"/>
                        </a:lnTo>
                        <a:lnTo>
                          <a:pt x="21" y="133"/>
                        </a:lnTo>
                        <a:lnTo>
                          <a:pt x="40" y="102"/>
                        </a:lnTo>
                        <a:lnTo>
                          <a:pt x="65" y="75"/>
                        </a:lnTo>
                        <a:lnTo>
                          <a:pt x="97" y="49"/>
                        </a:lnTo>
                        <a:lnTo>
                          <a:pt x="129" y="29"/>
                        </a:lnTo>
                        <a:lnTo>
                          <a:pt x="165" y="15"/>
                        </a:lnTo>
                        <a:lnTo>
                          <a:pt x="223" y="0"/>
                        </a:lnTo>
                        <a:lnTo>
                          <a:pt x="270" y="1"/>
                        </a:lnTo>
                        <a:lnTo>
                          <a:pt x="84" y="167"/>
                        </a:lnTo>
                        <a:close/>
                      </a:path>
                    </a:pathLst>
                  </a:custGeom>
                  <a:solidFill>
                    <a:srgbClr val="5F5F5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04" name="Freeform 251"/>
                  <p:cNvSpPr/>
                  <p:nvPr/>
                </p:nvSpPr>
                <p:spPr bwMode="auto">
                  <a:xfrm>
                    <a:off x="4791" y="2409"/>
                    <a:ext cx="193" cy="189"/>
                  </a:xfrm>
                  <a:custGeom>
                    <a:avLst/>
                    <a:gdLst>
                      <a:gd name="T0" fmla="*/ 50 w 1158"/>
                      <a:gd name="T1" fmla="*/ 66 h 946"/>
                      <a:gd name="T2" fmla="*/ 97 w 1158"/>
                      <a:gd name="T3" fmla="*/ 195 h 946"/>
                      <a:gd name="T4" fmla="*/ 0 w 1158"/>
                      <a:gd name="T5" fmla="*/ 270 h 946"/>
                      <a:gd name="T6" fmla="*/ 15 w 1158"/>
                      <a:gd name="T7" fmla="*/ 405 h 946"/>
                      <a:gd name="T8" fmla="*/ 108 w 1158"/>
                      <a:gd name="T9" fmla="*/ 338 h 946"/>
                      <a:gd name="T10" fmla="*/ 126 w 1158"/>
                      <a:gd name="T11" fmla="*/ 353 h 946"/>
                      <a:gd name="T12" fmla="*/ 243 w 1158"/>
                      <a:gd name="T13" fmla="*/ 498 h 946"/>
                      <a:gd name="T14" fmla="*/ 326 w 1158"/>
                      <a:gd name="T15" fmla="*/ 589 h 946"/>
                      <a:gd name="T16" fmla="*/ 373 w 1158"/>
                      <a:gd name="T17" fmla="*/ 634 h 946"/>
                      <a:gd name="T18" fmla="*/ 395 w 1158"/>
                      <a:gd name="T19" fmla="*/ 675 h 946"/>
                      <a:gd name="T20" fmla="*/ 459 w 1158"/>
                      <a:gd name="T21" fmla="*/ 686 h 946"/>
                      <a:gd name="T22" fmla="*/ 552 w 1158"/>
                      <a:gd name="T23" fmla="*/ 746 h 946"/>
                      <a:gd name="T24" fmla="*/ 717 w 1158"/>
                      <a:gd name="T25" fmla="*/ 832 h 946"/>
                      <a:gd name="T26" fmla="*/ 900 w 1158"/>
                      <a:gd name="T27" fmla="*/ 887 h 946"/>
                      <a:gd name="T28" fmla="*/ 1137 w 1158"/>
                      <a:gd name="T29" fmla="*/ 946 h 946"/>
                      <a:gd name="T30" fmla="*/ 1112 w 1158"/>
                      <a:gd name="T31" fmla="*/ 921 h 946"/>
                      <a:gd name="T32" fmla="*/ 1033 w 1158"/>
                      <a:gd name="T33" fmla="*/ 880 h 946"/>
                      <a:gd name="T34" fmla="*/ 904 w 1158"/>
                      <a:gd name="T35" fmla="*/ 846 h 946"/>
                      <a:gd name="T36" fmla="*/ 838 w 1158"/>
                      <a:gd name="T37" fmla="*/ 806 h 946"/>
                      <a:gd name="T38" fmla="*/ 795 w 1158"/>
                      <a:gd name="T39" fmla="*/ 776 h 946"/>
                      <a:gd name="T40" fmla="*/ 717 w 1158"/>
                      <a:gd name="T41" fmla="*/ 761 h 946"/>
                      <a:gd name="T42" fmla="*/ 692 w 1158"/>
                      <a:gd name="T43" fmla="*/ 728 h 946"/>
                      <a:gd name="T44" fmla="*/ 620 w 1158"/>
                      <a:gd name="T45" fmla="*/ 713 h 946"/>
                      <a:gd name="T46" fmla="*/ 588 w 1158"/>
                      <a:gd name="T47" fmla="*/ 671 h 946"/>
                      <a:gd name="T48" fmla="*/ 552 w 1158"/>
                      <a:gd name="T49" fmla="*/ 652 h 946"/>
                      <a:gd name="T50" fmla="*/ 527 w 1158"/>
                      <a:gd name="T51" fmla="*/ 623 h 946"/>
                      <a:gd name="T52" fmla="*/ 473 w 1158"/>
                      <a:gd name="T53" fmla="*/ 611 h 946"/>
                      <a:gd name="T54" fmla="*/ 466 w 1158"/>
                      <a:gd name="T55" fmla="*/ 557 h 946"/>
                      <a:gd name="T56" fmla="*/ 398 w 1158"/>
                      <a:gd name="T57" fmla="*/ 557 h 946"/>
                      <a:gd name="T58" fmla="*/ 366 w 1158"/>
                      <a:gd name="T59" fmla="*/ 501 h 946"/>
                      <a:gd name="T60" fmla="*/ 309 w 1158"/>
                      <a:gd name="T61" fmla="*/ 479 h 946"/>
                      <a:gd name="T62" fmla="*/ 250 w 1158"/>
                      <a:gd name="T63" fmla="*/ 427 h 946"/>
                      <a:gd name="T64" fmla="*/ 225 w 1158"/>
                      <a:gd name="T65" fmla="*/ 372 h 946"/>
                      <a:gd name="T66" fmla="*/ 190 w 1158"/>
                      <a:gd name="T67" fmla="*/ 322 h 946"/>
                      <a:gd name="T68" fmla="*/ 133 w 1158"/>
                      <a:gd name="T69" fmla="*/ 267 h 946"/>
                      <a:gd name="T70" fmla="*/ 115 w 1158"/>
                      <a:gd name="T71" fmla="*/ 195 h 946"/>
                      <a:gd name="T72" fmla="*/ 79 w 1158"/>
                      <a:gd name="T73" fmla="*/ 110 h 946"/>
                      <a:gd name="T74" fmla="*/ 43 w 1158"/>
                      <a:gd name="T75" fmla="*/ 0 h 94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</a:cxnLst>
                    <a:rect l="0" t="0" r="r" b="b"/>
                    <a:pathLst>
                      <a:path w="1158" h="946">
                        <a:moveTo>
                          <a:pt x="43" y="0"/>
                        </a:moveTo>
                        <a:lnTo>
                          <a:pt x="50" y="66"/>
                        </a:lnTo>
                        <a:lnTo>
                          <a:pt x="65" y="135"/>
                        </a:lnTo>
                        <a:lnTo>
                          <a:pt x="97" y="195"/>
                        </a:lnTo>
                        <a:lnTo>
                          <a:pt x="115" y="252"/>
                        </a:lnTo>
                        <a:lnTo>
                          <a:pt x="0" y="270"/>
                        </a:lnTo>
                        <a:lnTo>
                          <a:pt x="97" y="270"/>
                        </a:lnTo>
                        <a:lnTo>
                          <a:pt x="15" y="405"/>
                        </a:lnTo>
                        <a:lnTo>
                          <a:pt x="104" y="296"/>
                        </a:lnTo>
                        <a:lnTo>
                          <a:pt x="108" y="338"/>
                        </a:lnTo>
                        <a:lnTo>
                          <a:pt x="43" y="589"/>
                        </a:lnTo>
                        <a:lnTo>
                          <a:pt x="126" y="353"/>
                        </a:lnTo>
                        <a:lnTo>
                          <a:pt x="176" y="394"/>
                        </a:lnTo>
                        <a:lnTo>
                          <a:pt x="243" y="498"/>
                        </a:lnTo>
                        <a:lnTo>
                          <a:pt x="301" y="560"/>
                        </a:lnTo>
                        <a:lnTo>
                          <a:pt x="326" y="589"/>
                        </a:lnTo>
                        <a:lnTo>
                          <a:pt x="359" y="623"/>
                        </a:lnTo>
                        <a:lnTo>
                          <a:pt x="373" y="634"/>
                        </a:lnTo>
                        <a:lnTo>
                          <a:pt x="377" y="660"/>
                        </a:lnTo>
                        <a:lnTo>
                          <a:pt x="395" y="675"/>
                        </a:lnTo>
                        <a:lnTo>
                          <a:pt x="427" y="682"/>
                        </a:lnTo>
                        <a:lnTo>
                          <a:pt x="459" y="686"/>
                        </a:lnTo>
                        <a:lnTo>
                          <a:pt x="495" y="704"/>
                        </a:lnTo>
                        <a:lnTo>
                          <a:pt x="552" y="746"/>
                        </a:lnTo>
                        <a:lnTo>
                          <a:pt x="617" y="787"/>
                        </a:lnTo>
                        <a:lnTo>
                          <a:pt x="717" y="832"/>
                        </a:lnTo>
                        <a:lnTo>
                          <a:pt x="813" y="865"/>
                        </a:lnTo>
                        <a:lnTo>
                          <a:pt x="900" y="887"/>
                        </a:lnTo>
                        <a:lnTo>
                          <a:pt x="1018" y="921"/>
                        </a:lnTo>
                        <a:lnTo>
                          <a:pt x="1137" y="946"/>
                        </a:lnTo>
                        <a:lnTo>
                          <a:pt x="1158" y="946"/>
                        </a:lnTo>
                        <a:lnTo>
                          <a:pt x="1112" y="921"/>
                        </a:lnTo>
                        <a:lnTo>
                          <a:pt x="1072" y="898"/>
                        </a:lnTo>
                        <a:lnTo>
                          <a:pt x="1033" y="880"/>
                        </a:lnTo>
                        <a:lnTo>
                          <a:pt x="990" y="846"/>
                        </a:lnTo>
                        <a:lnTo>
                          <a:pt x="904" y="846"/>
                        </a:lnTo>
                        <a:lnTo>
                          <a:pt x="859" y="824"/>
                        </a:lnTo>
                        <a:lnTo>
                          <a:pt x="838" y="806"/>
                        </a:lnTo>
                        <a:lnTo>
                          <a:pt x="834" y="776"/>
                        </a:lnTo>
                        <a:lnTo>
                          <a:pt x="795" y="776"/>
                        </a:lnTo>
                        <a:lnTo>
                          <a:pt x="767" y="772"/>
                        </a:lnTo>
                        <a:lnTo>
                          <a:pt x="717" y="761"/>
                        </a:lnTo>
                        <a:lnTo>
                          <a:pt x="703" y="754"/>
                        </a:lnTo>
                        <a:lnTo>
                          <a:pt x="692" y="728"/>
                        </a:lnTo>
                        <a:lnTo>
                          <a:pt x="656" y="724"/>
                        </a:lnTo>
                        <a:lnTo>
                          <a:pt x="620" y="713"/>
                        </a:lnTo>
                        <a:lnTo>
                          <a:pt x="599" y="697"/>
                        </a:lnTo>
                        <a:lnTo>
                          <a:pt x="588" y="671"/>
                        </a:lnTo>
                        <a:lnTo>
                          <a:pt x="534" y="682"/>
                        </a:lnTo>
                        <a:lnTo>
                          <a:pt x="552" y="652"/>
                        </a:lnTo>
                        <a:lnTo>
                          <a:pt x="542" y="634"/>
                        </a:lnTo>
                        <a:lnTo>
                          <a:pt x="527" y="623"/>
                        </a:lnTo>
                        <a:lnTo>
                          <a:pt x="499" y="619"/>
                        </a:lnTo>
                        <a:lnTo>
                          <a:pt x="473" y="611"/>
                        </a:lnTo>
                        <a:lnTo>
                          <a:pt x="477" y="571"/>
                        </a:lnTo>
                        <a:lnTo>
                          <a:pt x="466" y="557"/>
                        </a:lnTo>
                        <a:lnTo>
                          <a:pt x="423" y="557"/>
                        </a:lnTo>
                        <a:lnTo>
                          <a:pt x="398" y="557"/>
                        </a:lnTo>
                        <a:lnTo>
                          <a:pt x="384" y="524"/>
                        </a:lnTo>
                        <a:lnTo>
                          <a:pt x="366" y="501"/>
                        </a:lnTo>
                        <a:lnTo>
                          <a:pt x="337" y="494"/>
                        </a:lnTo>
                        <a:lnTo>
                          <a:pt x="309" y="479"/>
                        </a:lnTo>
                        <a:lnTo>
                          <a:pt x="279" y="457"/>
                        </a:lnTo>
                        <a:lnTo>
                          <a:pt x="250" y="427"/>
                        </a:lnTo>
                        <a:lnTo>
                          <a:pt x="236" y="398"/>
                        </a:lnTo>
                        <a:lnTo>
                          <a:pt x="225" y="372"/>
                        </a:lnTo>
                        <a:lnTo>
                          <a:pt x="205" y="353"/>
                        </a:lnTo>
                        <a:lnTo>
                          <a:pt x="190" y="322"/>
                        </a:lnTo>
                        <a:lnTo>
                          <a:pt x="158" y="296"/>
                        </a:lnTo>
                        <a:lnTo>
                          <a:pt x="133" y="267"/>
                        </a:lnTo>
                        <a:lnTo>
                          <a:pt x="126" y="228"/>
                        </a:lnTo>
                        <a:lnTo>
                          <a:pt x="115" y="195"/>
                        </a:lnTo>
                        <a:lnTo>
                          <a:pt x="93" y="158"/>
                        </a:lnTo>
                        <a:lnTo>
                          <a:pt x="79" y="110"/>
                        </a:lnTo>
                        <a:lnTo>
                          <a:pt x="68" y="66"/>
                        </a:lnTo>
                        <a:lnTo>
                          <a:pt x="43" y="0"/>
                        </a:lnTo>
                        <a:close/>
                      </a:path>
                    </a:pathLst>
                  </a:custGeom>
                  <a:solidFill>
                    <a:srgbClr val="5F5F5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305" name="Freeform 252"/>
                  <p:cNvSpPr/>
                  <p:nvPr/>
                </p:nvSpPr>
                <p:spPr bwMode="auto">
                  <a:xfrm>
                    <a:off x="4871" y="2497"/>
                    <a:ext cx="33" cy="46"/>
                  </a:xfrm>
                  <a:custGeom>
                    <a:avLst/>
                    <a:gdLst>
                      <a:gd name="T0" fmla="*/ 186 w 199"/>
                      <a:gd name="T1" fmla="*/ 69 h 231"/>
                      <a:gd name="T2" fmla="*/ 126 w 199"/>
                      <a:gd name="T3" fmla="*/ 169 h 231"/>
                      <a:gd name="T4" fmla="*/ 107 w 199"/>
                      <a:gd name="T5" fmla="*/ 217 h 231"/>
                      <a:gd name="T6" fmla="*/ 100 w 199"/>
                      <a:gd name="T7" fmla="*/ 231 h 231"/>
                      <a:gd name="T8" fmla="*/ 94 w 199"/>
                      <a:gd name="T9" fmla="*/ 231 h 231"/>
                      <a:gd name="T10" fmla="*/ 94 w 199"/>
                      <a:gd name="T11" fmla="*/ 183 h 231"/>
                      <a:gd name="T12" fmla="*/ 107 w 199"/>
                      <a:gd name="T13" fmla="*/ 116 h 231"/>
                      <a:gd name="T14" fmla="*/ 133 w 199"/>
                      <a:gd name="T15" fmla="*/ 75 h 231"/>
                      <a:gd name="T16" fmla="*/ 159 w 199"/>
                      <a:gd name="T17" fmla="*/ 40 h 231"/>
                      <a:gd name="T18" fmla="*/ 186 w 199"/>
                      <a:gd name="T19" fmla="*/ 33 h 231"/>
                      <a:gd name="T20" fmla="*/ 193 w 199"/>
                      <a:gd name="T21" fmla="*/ 27 h 231"/>
                      <a:gd name="T22" fmla="*/ 139 w 199"/>
                      <a:gd name="T23" fmla="*/ 27 h 231"/>
                      <a:gd name="T24" fmla="*/ 107 w 199"/>
                      <a:gd name="T25" fmla="*/ 53 h 231"/>
                      <a:gd name="T26" fmla="*/ 54 w 199"/>
                      <a:gd name="T27" fmla="*/ 89 h 231"/>
                      <a:gd name="T28" fmla="*/ 27 w 199"/>
                      <a:gd name="T29" fmla="*/ 128 h 231"/>
                      <a:gd name="T30" fmla="*/ 8 w 199"/>
                      <a:gd name="T31" fmla="*/ 162 h 231"/>
                      <a:gd name="T32" fmla="*/ 0 w 199"/>
                      <a:gd name="T33" fmla="*/ 178 h 231"/>
                      <a:gd name="T34" fmla="*/ 27 w 199"/>
                      <a:gd name="T35" fmla="*/ 121 h 231"/>
                      <a:gd name="T36" fmla="*/ 60 w 199"/>
                      <a:gd name="T37" fmla="*/ 61 h 231"/>
                      <a:gd name="T38" fmla="*/ 107 w 199"/>
                      <a:gd name="T39" fmla="*/ 19 h 231"/>
                      <a:gd name="T40" fmla="*/ 126 w 199"/>
                      <a:gd name="T41" fmla="*/ 6 h 231"/>
                      <a:gd name="T42" fmla="*/ 159 w 199"/>
                      <a:gd name="T43" fmla="*/ 0 h 231"/>
                      <a:gd name="T44" fmla="*/ 180 w 199"/>
                      <a:gd name="T45" fmla="*/ 6 h 231"/>
                      <a:gd name="T46" fmla="*/ 199 w 199"/>
                      <a:gd name="T47" fmla="*/ 19 h 231"/>
                      <a:gd name="T48" fmla="*/ 186 w 199"/>
                      <a:gd name="T49" fmla="*/ 69 h 2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</a:cxnLst>
                    <a:rect l="0" t="0" r="r" b="b"/>
                    <a:pathLst>
                      <a:path w="199" h="231">
                        <a:moveTo>
                          <a:pt x="186" y="69"/>
                        </a:moveTo>
                        <a:lnTo>
                          <a:pt x="126" y="169"/>
                        </a:lnTo>
                        <a:lnTo>
                          <a:pt x="107" y="217"/>
                        </a:lnTo>
                        <a:lnTo>
                          <a:pt x="100" y="231"/>
                        </a:lnTo>
                        <a:lnTo>
                          <a:pt x="94" y="231"/>
                        </a:lnTo>
                        <a:lnTo>
                          <a:pt x="94" y="183"/>
                        </a:lnTo>
                        <a:lnTo>
                          <a:pt x="107" y="116"/>
                        </a:lnTo>
                        <a:lnTo>
                          <a:pt x="133" y="75"/>
                        </a:lnTo>
                        <a:lnTo>
                          <a:pt x="159" y="40"/>
                        </a:lnTo>
                        <a:lnTo>
                          <a:pt x="186" y="33"/>
                        </a:lnTo>
                        <a:lnTo>
                          <a:pt x="193" y="27"/>
                        </a:lnTo>
                        <a:lnTo>
                          <a:pt x="139" y="27"/>
                        </a:lnTo>
                        <a:lnTo>
                          <a:pt x="107" y="53"/>
                        </a:lnTo>
                        <a:lnTo>
                          <a:pt x="54" y="89"/>
                        </a:lnTo>
                        <a:lnTo>
                          <a:pt x="27" y="128"/>
                        </a:lnTo>
                        <a:lnTo>
                          <a:pt x="8" y="162"/>
                        </a:lnTo>
                        <a:lnTo>
                          <a:pt x="0" y="178"/>
                        </a:lnTo>
                        <a:lnTo>
                          <a:pt x="27" y="121"/>
                        </a:lnTo>
                        <a:lnTo>
                          <a:pt x="60" y="61"/>
                        </a:lnTo>
                        <a:lnTo>
                          <a:pt x="107" y="19"/>
                        </a:lnTo>
                        <a:lnTo>
                          <a:pt x="126" y="6"/>
                        </a:lnTo>
                        <a:lnTo>
                          <a:pt x="159" y="0"/>
                        </a:lnTo>
                        <a:lnTo>
                          <a:pt x="180" y="6"/>
                        </a:lnTo>
                        <a:lnTo>
                          <a:pt x="199" y="19"/>
                        </a:lnTo>
                        <a:lnTo>
                          <a:pt x="186" y="69"/>
                        </a:lnTo>
                        <a:close/>
                      </a:path>
                    </a:pathLst>
                  </a:custGeom>
                  <a:solidFill>
                    <a:srgbClr val="5F5F5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grpSp>
                <p:nvGrpSpPr>
                  <p:cNvPr id="306" name="Group 253"/>
                  <p:cNvGrpSpPr/>
                  <p:nvPr/>
                </p:nvGrpSpPr>
                <p:grpSpPr bwMode="auto">
                  <a:xfrm>
                    <a:off x="4842" y="2328"/>
                    <a:ext cx="46" cy="158"/>
                    <a:chOff x="4842" y="2328"/>
                    <a:chExt cx="46" cy="158"/>
                  </a:xfrm>
                </p:grpSpPr>
                <p:sp>
                  <p:nvSpPr>
                    <p:cNvPr id="307" name="Freeform 254"/>
                    <p:cNvSpPr/>
                    <p:nvPr/>
                  </p:nvSpPr>
                  <p:spPr bwMode="auto">
                    <a:xfrm>
                      <a:off x="4863" y="2379"/>
                      <a:ext cx="25" cy="107"/>
                    </a:xfrm>
                    <a:custGeom>
                      <a:avLst/>
                      <a:gdLst>
                        <a:gd name="T0" fmla="*/ 0 w 153"/>
                        <a:gd name="T1" fmla="*/ 111 h 534"/>
                        <a:gd name="T2" fmla="*/ 46 w 153"/>
                        <a:gd name="T3" fmla="*/ 63 h 534"/>
                        <a:gd name="T4" fmla="*/ 61 w 153"/>
                        <a:gd name="T5" fmla="*/ 93 h 534"/>
                        <a:gd name="T6" fmla="*/ 75 w 153"/>
                        <a:gd name="T7" fmla="*/ 130 h 534"/>
                        <a:gd name="T8" fmla="*/ 101 w 153"/>
                        <a:gd name="T9" fmla="*/ 402 h 534"/>
                        <a:gd name="T10" fmla="*/ 94 w 153"/>
                        <a:gd name="T11" fmla="*/ 454 h 534"/>
                        <a:gd name="T12" fmla="*/ 145 w 153"/>
                        <a:gd name="T13" fmla="*/ 534 h 534"/>
                        <a:gd name="T14" fmla="*/ 153 w 153"/>
                        <a:gd name="T15" fmla="*/ 365 h 534"/>
                        <a:gd name="T16" fmla="*/ 138 w 153"/>
                        <a:gd name="T17" fmla="*/ 302 h 534"/>
                        <a:gd name="T18" fmla="*/ 112 w 153"/>
                        <a:gd name="T19" fmla="*/ 192 h 534"/>
                        <a:gd name="T20" fmla="*/ 94 w 153"/>
                        <a:gd name="T21" fmla="*/ 105 h 534"/>
                        <a:gd name="T22" fmla="*/ 101 w 153"/>
                        <a:gd name="T23" fmla="*/ 42 h 534"/>
                        <a:gd name="T24" fmla="*/ 76 w 153"/>
                        <a:gd name="T25" fmla="*/ 0 h 534"/>
                        <a:gd name="T26" fmla="*/ 2 w 153"/>
                        <a:gd name="T27" fmla="*/ 90 h 534"/>
                        <a:gd name="T28" fmla="*/ 0 w 153"/>
                        <a:gd name="T29" fmla="*/ 111 h 5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</a:cxnLst>
                      <a:rect l="0" t="0" r="r" b="b"/>
                      <a:pathLst>
                        <a:path w="153" h="534">
                          <a:moveTo>
                            <a:pt x="0" y="111"/>
                          </a:moveTo>
                          <a:lnTo>
                            <a:pt x="46" y="63"/>
                          </a:lnTo>
                          <a:lnTo>
                            <a:pt x="61" y="93"/>
                          </a:lnTo>
                          <a:lnTo>
                            <a:pt x="75" y="130"/>
                          </a:lnTo>
                          <a:lnTo>
                            <a:pt x="101" y="402"/>
                          </a:lnTo>
                          <a:lnTo>
                            <a:pt x="94" y="454"/>
                          </a:lnTo>
                          <a:lnTo>
                            <a:pt x="145" y="534"/>
                          </a:lnTo>
                          <a:lnTo>
                            <a:pt x="153" y="365"/>
                          </a:lnTo>
                          <a:lnTo>
                            <a:pt x="138" y="302"/>
                          </a:lnTo>
                          <a:lnTo>
                            <a:pt x="112" y="192"/>
                          </a:lnTo>
                          <a:lnTo>
                            <a:pt x="94" y="105"/>
                          </a:lnTo>
                          <a:lnTo>
                            <a:pt x="101" y="42"/>
                          </a:lnTo>
                          <a:lnTo>
                            <a:pt x="76" y="0"/>
                          </a:lnTo>
                          <a:lnTo>
                            <a:pt x="2" y="90"/>
                          </a:lnTo>
                          <a:lnTo>
                            <a:pt x="0" y="111"/>
                          </a:lnTo>
                          <a:close/>
                        </a:path>
                      </a:pathLst>
                    </a:custGeom>
                    <a:solidFill>
                      <a:srgbClr val="00007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308" name="Freeform 255"/>
                    <p:cNvSpPr/>
                    <p:nvPr/>
                  </p:nvSpPr>
                  <p:spPr bwMode="auto">
                    <a:xfrm>
                      <a:off x="4842" y="2328"/>
                      <a:ext cx="42" cy="72"/>
                    </a:xfrm>
                    <a:custGeom>
                      <a:avLst/>
                      <a:gdLst>
                        <a:gd name="T0" fmla="*/ 15 w 254"/>
                        <a:gd name="T1" fmla="*/ 0 h 359"/>
                        <a:gd name="T2" fmla="*/ 34 w 254"/>
                        <a:gd name="T3" fmla="*/ 56 h 359"/>
                        <a:gd name="T4" fmla="*/ 51 w 254"/>
                        <a:gd name="T5" fmla="*/ 91 h 359"/>
                        <a:gd name="T6" fmla="*/ 70 w 254"/>
                        <a:gd name="T7" fmla="*/ 120 h 359"/>
                        <a:gd name="T8" fmla="*/ 94 w 254"/>
                        <a:gd name="T9" fmla="*/ 158 h 359"/>
                        <a:gd name="T10" fmla="*/ 123 w 254"/>
                        <a:gd name="T11" fmla="*/ 202 h 359"/>
                        <a:gd name="T12" fmla="*/ 152 w 254"/>
                        <a:gd name="T13" fmla="*/ 227 h 359"/>
                        <a:gd name="T14" fmla="*/ 181 w 254"/>
                        <a:gd name="T15" fmla="*/ 247 h 359"/>
                        <a:gd name="T16" fmla="*/ 230 w 254"/>
                        <a:gd name="T17" fmla="*/ 245 h 359"/>
                        <a:gd name="T18" fmla="*/ 254 w 254"/>
                        <a:gd name="T19" fmla="*/ 336 h 359"/>
                        <a:gd name="T20" fmla="*/ 202 w 254"/>
                        <a:gd name="T21" fmla="*/ 258 h 359"/>
                        <a:gd name="T22" fmla="*/ 127 w 254"/>
                        <a:gd name="T23" fmla="*/ 359 h 359"/>
                        <a:gd name="T24" fmla="*/ 100 w 254"/>
                        <a:gd name="T25" fmla="*/ 304 h 359"/>
                        <a:gd name="T26" fmla="*/ 73 w 254"/>
                        <a:gd name="T27" fmla="*/ 256 h 359"/>
                        <a:gd name="T28" fmla="*/ 59 w 254"/>
                        <a:gd name="T29" fmla="*/ 229 h 359"/>
                        <a:gd name="T30" fmla="*/ 47 w 254"/>
                        <a:gd name="T31" fmla="*/ 194 h 359"/>
                        <a:gd name="T32" fmla="*/ 37 w 254"/>
                        <a:gd name="T33" fmla="*/ 162 h 359"/>
                        <a:gd name="T34" fmla="*/ 29 w 254"/>
                        <a:gd name="T35" fmla="*/ 135 h 359"/>
                        <a:gd name="T36" fmla="*/ 8 w 254"/>
                        <a:gd name="T37" fmla="*/ 94 h 359"/>
                        <a:gd name="T38" fmla="*/ 2 w 254"/>
                        <a:gd name="T39" fmla="*/ 67 h 359"/>
                        <a:gd name="T40" fmla="*/ 0 w 254"/>
                        <a:gd name="T41" fmla="*/ 45 h 359"/>
                        <a:gd name="T42" fmla="*/ 15 w 254"/>
                        <a:gd name="T43" fmla="*/ 0 h 35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</a:cxnLst>
                      <a:rect l="0" t="0" r="r" b="b"/>
                      <a:pathLst>
                        <a:path w="254" h="359">
                          <a:moveTo>
                            <a:pt x="15" y="0"/>
                          </a:moveTo>
                          <a:lnTo>
                            <a:pt x="34" y="56"/>
                          </a:lnTo>
                          <a:lnTo>
                            <a:pt x="51" y="91"/>
                          </a:lnTo>
                          <a:lnTo>
                            <a:pt x="70" y="120"/>
                          </a:lnTo>
                          <a:lnTo>
                            <a:pt x="94" y="158"/>
                          </a:lnTo>
                          <a:lnTo>
                            <a:pt x="123" y="202"/>
                          </a:lnTo>
                          <a:lnTo>
                            <a:pt x="152" y="227"/>
                          </a:lnTo>
                          <a:lnTo>
                            <a:pt x="181" y="247"/>
                          </a:lnTo>
                          <a:lnTo>
                            <a:pt x="230" y="245"/>
                          </a:lnTo>
                          <a:lnTo>
                            <a:pt x="254" y="336"/>
                          </a:lnTo>
                          <a:lnTo>
                            <a:pt x="202" y="258"/>
                          </a:lnTo>
                          <a:lnTo>
                            <a:pt x="127" y="359"/>
                          </a:lnTo>
                          <a:lnTo>
                            <a:pt x="100" y="304"/>
                          </a:lnTo>
                          <a:lnTo>
                            <a:pt x="73" y="256"/>
                          </a:lnTo>
                          <a:lnTo>
                            <a:pt x="59" y="229"/>
                          </a:lnTo>
                          <a:lnTo>
                            <a:pt x="47" y="194"/>
                          </a:lnTo>
                          <a:lnTo>
                            <a:pt x="37" y="162"/>
                          </a:lnTo>
                          <a:lnTo>
                            <a:pt x="29" y="135"/>
                          </a:lnTo>
                          <a:lnTo>
                            <a:pt x="8" y="94"/>
                          </a:lnTo>
                          <a:lnTo>
                            <a:pt x="2" y="67"/>
                          </a:lnTo>
                          <a:lnTo>
                            <a:pt x="0" y="45"/>
                          </a:lnTo>
                          <a:lnTo>
                            <a:pt x="15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  <p:grpSp>
              <p:nvGrpSpPr>
                <p:cNvPr id="264" name="Group 256"/>
                <p:cNvGrpSpPr/>
                <p:nvPr/>
              </p:nvGrpSpPr>
              <p:grpSpPr bwMode="auto">
                <a:xfrm>
                  <a:off x="4840" y="2242"/>
                  <a:ext cx="86" cy="141"/>
                  <a:chOff x="4840" y="2242"/>
                  <a:chExt cx="86" cy="141"/>
                </a:xfrm>
              </p:grpSpPr>
              <p:sp>
                <p:nvSpPr>
                  <p:cNvPr id="265" name="Freeform 257"/>
                  <p:cNvSpPr/>
                  <p:nvPr/>
                </p:nvSpPr>
                <p:spPr bwMode="auto">
                  <a:xfrm>
                    <a:off x="4842" y="2244"/>
                    <a:ext cx="83" cy="139"/>
                  </a:xfrm>
                  <a:custGeom>
                    <a:avLst/>
                    <a:gdLst>
                      <a:gd name="T0" fmla="*/ 201 w 502"/>
                      <a:gd name="T1" fmla="*/ 682 h 693"/>
                      <a:gd name="T2" fmla="*/ 224 w 502"/>
                      <a:gd name="T3" fmla="*/ 673 h 693"/>
                      <a:gd name="T4" fmla="*/ 269 w 502"/>
                      <a:gd name="T5" fmla="*/ 684 h 693"/>
                      <a:gd name="T6" fmla="*/ 302 w 502"/>
                      <a:gd name="T7" fmla="*/ 691 h 693"/>
                      <a:gd name="T8" fmla="*/ 317 w 502"/>
                      <a:gd name="T9" fmla="*/ 691 h 693"/>
                      <a:gd name="T10" fmla="*/ 336 w 502"/>
                      <a:gd name="T11" fmla="*/ 693 h 693"/>
                      <a:gd name="T12" fmla="*/ 355 w 502"/>
                      <a:gd name="T13" fmla="*/ 693 h 693"/>
                      <a:gd name="T14" fmla="*/ 371 w 502"/>
                      <a:gd name="T15" fmla="*/ 688 h 693"/>
                      <a:gd name="T16" fmla="*/ 381 w 502"/>
                      <a:gd name="T17" fmla="*/ 674 h 693"/>
                      <a:gd name="T18" fmla="*/ 390 w 502"/>
                      <a:gd name="T19" fmla="*/ 659 h 693"/>
                      <a:gd name="T20" fmla="*/ 396 w 502"/>
                      <a:gd name="T21" fmla="*/ 643 h 693"/>
                      <a:gd name="T22" fmla="*/ 403 w 502"/>
                      <a:gd name="T23" fmla="*/ 617 h 693"/>
                      <a:gd name="T24" fmla="*/ 406 w 502"/>
                      <a:gd name="T25" fmla="*/ 606 h 693"/>
                      <a:gd name="T26" fmla="*/ 422 w 502"/>
                      <a:gd name="T27" fmla="*/ 569 h 693"/>
                      <a:gd name="T28" fmla="*/ 433 w 502"/>
                      <a:gd name="T29" fmla="*/ 537 h 693"/>
                      <a:gd name="T30" fmla="*/ 445 w 502"/>
                      <a:gd name="T31" fmla="*/ 505 h 693"/>
                      <a:gd name="T32" fmla="*/ 448 w 502"/>
                      <a:gd name="T33" fmla="*/ 484 h 693"/>
                      <a:gd name="T34" fmla="*/ 461 w 502"/>
                      <a:gd name="T35" fmla="*/ 453 h 693"/>
                      <a:gd name="T36" fmla="*/ 472 w 502"/>
                      <a:gd name="T37" fmla="*/ 424 h 693"/>
                      <a:gd name="T38" fmla="*/ 475 w 502"/>
                      <a:gd name="T39" fmla="*/ 390 h 693"/>
                      <a:gd name="T40" fmla="*/ 475 w 502"/>
                      <a:gd name="T41" fmla="*/ 368 h 693"/>
                      <a:gd name="T42" fmla="*/ 500 w 502"/>
                      <a:gd name="T43" fmla="*/ 347 h 693"/>
                      <a:gd name="T44" fmla="*/ 498 w 502"/>
                      <a:gd name="T45" fmla="*/ 297 h 693"/>
                      <a:gd name="T46" fmla="*/ 502 w 502"/>
                      <a:gd name="T47" fmla="*/ 219 h 693"/>
                      <a:gd name="T48" fmla="*/ 498 w 502"/>
                      <a:gd name="T49" fmla="*/ 180 h 693"/>
                      <a:gd name="T50" fmla="*/ 488 w 502"/>
                      <a:gd name="T51" fmla="*/ 134 h 693"/>
                      <a:gd name="T52" fmla="*/ 472 w 502"/>
                      <a:gd name="T53" fmla="*/ 110 h 693"/>
                      <a:gd name="T54" fmla="*/ 451 w 502"/>
                      <a:gd name="T55" fmla="*/ 81 h 693"/>
                      <a:gd name="T56" fmla="*/ 406 w 502"/>
                      <a:gd name="T57" fmla="*/ 47 h 693"/>
                      <a:gd name="T58" fmla="*/ 348 w 502"/>
                      <a:gd name="T59" fmla="*/ 20 h 693"/>
                      <a:gd name="T60" fmla="*/ 298 w 502"/>
                      <a:gd name="T61" fmla="*/ 8 h 693"/>
                      <a:gd name="T62" fmla="*/ 245 w 502"/>
                      <a:gd name="T63" fmla="*/ 0 h 693"/>
                      <a:gd name="T64" fmla="*/ 191 w 502"/>
                      <a:gd name="T65" fmla="*/ 0 h 693"/>
                      <a:gd name="T66" fmla="*/ 152 w 502"/>
                      <a:gd name="T67" fmla="*/ 4 h 693"/>
                      <a:gd name="T68" fmla="*/ 117 w 502"/>
                      <a:gd name="T69" fmla="*/ 15 h 693"/>
                      <a:gd name="T70" fmla="*/ 81 w 502"/>
                      <a:gd name="T71" fmla="*/ 34 h 693"/>
                      <a:gd name="T72" fmla="*/ 60 w 502"/>
                      <a:gd name="T73" fmla="*/ 56 h 693"/>
                      <a:gd name="T74" fmla="*/ 36 w 502"/>
                      <a:gd name="T75" fmla="*/ 81 h 693"/>
                      <a:gd name="T76" fmla="*/ 24 w 502"/>
                      <a:gd name="T77" fmla="*/ 115 h 693"/>
                      <a:gd name="T78" fmla="*/ 11 w 502"/>
                      <a:gd name="T79" fmla="*/ 156 h 693"/>
                      <a:gd name="T80" fmla="*/ 3 w 502"/>
                      <a:gd name="T81" fmla="*/ 209 h 693"/>
                      <a:gd name="T82" fmla="*/ 0 w 502"/>
                      <a:gd name="T83" fmla="*/ 260 h 693"/>
                      <a:gd name="T84" fmla="*/ 4 w 502"/>
                      <a:gd name="T85" fmla="*/ 328 h 693"/>
                      <a:gd name="T86" fmla="*/ 7 w 502"/>
                      <a:gd name="T87" fmla="*/ 380 h 693"/>
                      <a:gd name="T88" fmla="*/ 18 w 502"/>
                      <a:gd name="T89" fmla="*/ 407 h 693"/>
                      <a:gd name="T90" fmla="*/ 28 w 502"/>
                      <a:gd name="T91" fmla="*/ 432 h 693"/>
                      <a:gd name="T92" fmla="*/ 40 w 502"/>
                      <a:gd name="T93" fmla="*/ 471 h 693"/>
                      <a:gd name="T94" fmla="*/ 62 w 502"/>
                      <a:gd name="T95" fmla="*/ 517 h 693"/>
                      <a:gd name="T96" fmla="*/ 89 w 502"/>
                      <a:gd name="T97" fmla="*/ 564 h 693"/>
                      <a:gd name="T98" fmla="*/ 107 w 502"/>
                      <a:gd name="T99" fmla="*/ 596 h 693"/>
                      <a:gd name="T100" fmla="*/ 129 w 502"/>
                      <a:gd name="T101" fmla="*/ 627 h 693"/>
                      <a:gd name="T102" fmla="*/ 146 w 502"/>
                      <a:gd name="T103" fmla="*/ 644 h 693"/>
                      <a:gd name="T104" fmla="*/ 163 w 502"/>
                      <a:gd name="T105" fmla="*/ 662 h 693"/>
                      <a:gd name="T106" fmla="*/ 181 w 502"/>
                      <a:gd name="T107" fmla="*/ 674 h 693"/>
                      <a:gd name="T108" fmla="*/ 201 w 502"/>
                      <a:gd name="T109" fmla="*/ 682 h 69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</a:cxnLst>
                    <a:rect l="0" t="0" r="r" b="b"/>
                    <a:pathLst>
                      <a:path w="502" h="693">
                        <a:moveTo>
                          <a:pt x="201" y="682"/>
                        </a:moveTo>
                        <a:lnTo>
                          <a:pt x="224" y="673"/>
                        </a:lnTo>
                        <a:lnTo>
                          <a:pt x="269" y="684"/>
                        </a:lnTo>
                        <a:lnTo>
                          <a:pt x="302" y="691"/>
                        </a:lnTo>
                        <a:lnTo>
                          <a:pt x="317" y="691"/>
                        </a:lnTo>
                        <a:lnTo>
                          <a:pt x="336" y="693"/>
                        </a:lnTo>
                        <a:lnTo>
                          <a:pt x="355" y="693"/>
                        </a:lnTo>
                        <a:lnTo>
                          <a:pt x="371" y="688"/>
                        </a:lnTo>
                        <a:lnTo>
                          <a:pt x="381" y="674"/>
                        </a:lnTo>
                        <a:lnTo>
                          <a:pt x="390" y="659"/>
                        </a:lnTo>
                        <a:lnTo>
                          <a:pt x="396" y="643"/>
                        </a:lnTo>
                        <a:lnTo>
                          <a:pt x="403" y="617"/>
                        </a:lnTo>
                        <a:lnTo>
                          <a:pt x="406" y="606"/>
                        </a:lnTo>
                        <a:lnTo>
                          <a:pt x="422" y="569"/>
                        </a:lnTo>
                        <a:lnTo>
                          <a:pt x="433" y="537"/>
                        </a:lnTo>
                        <a:lnTo>
                          <a:pt x="445" y="505"/>
                        </a:lnTo>
                        <a:lnTo>
                          <a:pt x="448" y="484"/>
                        </a:lnTo>
                        <a:lnTo>
                          <a:pt x="461" y="453"/>
                        </a:lnTo>
                        <a:lnTo>
                          <a:pt x="472" y="424"/>
                        </a:lnTo>
                        <a:lnTo>
                          <a:pt x="475" y="390"/>
                        </a:lnTo>
                        <a:lnTo>
                          <a:pt x="475" y="368"/>
                        </a:lnTo>
                        <a:lnTo>
                          <a:pt x="500" y="347"/>
                        </a:lnTo>
                        <a:lnTo>
                          <a:pt x="498" y="297"/>
                        </a:lnTo>
                        <a:lnTo>
                          <a:pt x="502" y="219"/>
                        </a:lnTo>
                        <a:lnTo>
                          <a:pt x="498" y="180"/>
                        </a:lnTo>
                        <a:lnTo>
                          <a:pt x="488" y="134"/>
                        </a:lnTo>
                        <a:lnTo>
                          <a:pt x="472" y="110"/>
                        </a:lnTo>
                        <a:lnTo>
                          <a:pt x="451" y="81"/>
                        </a:lnTo>
                        <a:lnTo>
                          <a:pt x="406" y="47"/>
                        </a:lnTo>
                        <a:lnTo>
                          <a:pt x="348" y="20"/>
                        </a:lnTo>
                        <a:lnTo>
                          <a:pt x="298" y="8"/>
                        </a:lnTo>
                        <a:lnTo>
                          <a:pt x="245" y="0"/>
                        </a:lnTo>
                        <a:lnTo>
                          <a:pt x="191" y="0"/>
                        </a:lnTo>
                        <a:lnTo>
                          <a:pt x="152" y="4"/>
                        </a:lnTo>
                        <a:lnTo>
                          <a:pt x="117" y="15"/>
                        </a:lnTo>
                        <a:lnTo>
                          <a:pt x="81" y="34"/>
                        </a:lnTo>
                        <a:lnTo>
                          <a:pt x="60" y="56"/>
                        </a:lnTo>
                        <a:lnTo>
                          <a:pt x="36" y="81"/>
                        </a:lnTo>
                        <a:lnTo>
                          <a:pt x="24" y="115"/>
                        </a:lnTo>
                        <a:lnTo>
                          <a:pt x="11" y="156"/>
                        </a:lnTo>
                        <a:lnTo>
                          <a:pt x="3" y="209"/>
                        </a:lnTo>
                        <a:lnTo>
                          <a:pt x="0" y="260"/>
                        </a:lnTo>
                        <a:lnTo>
                          <a:pt x="4" y="328"/>
                        </a:lnTo>
                        <a:lnTo>
                          <a:pt x="7" y="380"/>
                        </a:lnTo>
                        <a:lnTo>
                          <a:pt x="18" y="407"/>
                        </a:lnTo>
                        <a:lnTo>
                          <a:pt x="28" y="432"/>
                        </a:lnTo>
                        <a:lnTo>
                          <a:pt x="40" y="471"/>
                        </a:lnTo>
                        <a:lnTo>
                          <a:pt x="62" y="517"/>
                        </a:lnTo>
                        <a:lnTo>
                          <a:pt x="89" y="564"/>
                        </a:lnTo>
                        <a:lnTo>
                          <a:pt x="107" y="596"/>
                        </a:lnTo>
                        <a:lnTo>
                          <a:pt x="129" y="627"/>
                        </a:lnTo>
                        <a:lnTo>
                          <a:pt x="146" y="644"/>
                        </a:lnTo>
                        <a:lnTo>
                          <a:pt x="163" y="662"/>
                        </a:lnTo>
                        <a:lnTo>
                          <a:pt x="181" y="674"/>
                        </a:lnTo>
                        <a:lnTo>
                          <a:pt x="201" y="682"/>
                        </a:lnTo>
                        <a:close/>
                      </a:path>
                    </a:pathLst>
                  </a:custGeom>
                  <a:solidFill>
                    <a:srgbClr val="FF9F9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grpSp>
                <p:nvGrpSpPr>
                  <p:cNvPr id="266" name="Group 258"/>
                  <p:cNvGrpSpPr/>
                  <p:nvPr/>
                </p:nvGrpSpPr>
                <p:grpSpPr bwMode="auto">
                  <a:xfrm>
                    <a:off x="4842" y="2244"/>
                    <a:ext cx="76" cy="139"/>
                    <a:chOff x="4842" y="2244"/>
                    <a:chExt cx="76" cy="139"/>
                  </a:xfrm>
                </p:grpSpPr>
                <p:sp>
                  <p:nvSpPr>
                    <p:cNvPr id="290" name="Freeform 259"/>
                    <p:cNvSpPr/>
                    <p:nvPr/>
                  </p:nvSpPr>
                  <p:spPr bwMode="auto">
                    <a:xfrm>
                      <a:off x="4842" y="2244"/>
                      <a:ext cx="61" cy="139"/>
                    </a:xfrm>
                    <a:custGeom>
                      <a:avLst/>
                      <a:gdLst>
                        <a:gd name="T0" fmla="*/ 224 w 368"/>
                        <a:gd name="T1" fmla="*/ 673 h 693"/>
                        <a:gd name="T2" fmla="*/ 304 w 368"/>
                        <a:gd name="T3" fmla="*/ 691 h 693"/>
                        <a:gd name="T4" fmla="*/ 329 w 368"/>
                        <a:gd name="T5" fmla="*/ 691 h 693"/>
                        <a:gd name="T6" fmla="*/ 356 w 368"/>
                        <a:gd name="T7" fmla="*/ 691 h 693"/>
                        <a:gd name="T8" fmla="*/ 356 w 368"/>
                        <a:gd name="T9" fmla="*/ 683 h 693"/>
                        <a:gd name="T10" fmla="*/ 340 w 368"/>
                        <a:gd name="T11" fmla="*/ 683 h 693"/>
                        <a:gd name="T12" fmla="*/ 313 w 368"/>
                        <a:gd name="T13" fmla="*/ 679 h 693"/>
                        <a:gd name="T14" fmla="*/ 291 w 368"/>
                        <a:gd name="T15" fmla="*/ 668 h 693"/>
                        <a:gd name="T16" fmla="*/ 267 w 368"/>
                        <a:gd name="T17" fmla="*/ 646 h 693"/>
                        <a:gd name="T18" fmla="*/ 251 w 368"/>
                        <a:gd name="T19" fmla="*/ 623 h 693"/>
                        <a:gd name="T20" fmla="*/ 264 w 368"/>
                        <a:gd name="T21" fmla="*/ 607 h 693"/>
                        <a:gd name="T22" fmla="*/ 258 w 368"/>
                        <a:gd name="T23" fmla="*/ 595 h 693"/>
                        <a:gd name="T24" fmla="*/ 263 w 368"/>
                        <a:gd name="T25" fmla="*/ 552 h 693"/>
                        <a:gd name="T26" fmla="*/ 246 w 368"/>
                        <a:gd name="T27" fmla="*/ 512 h 693"/>
                        <a:gd name="T28" fmla="*/ 222 w 368"/>
                        <a:gd name="T29" fmla="*/ 468 h 693"/>
                        <a:gd name="T30" fmla="*/ 232 w 368"/>
                        <a:gd name="T31" fmla="*/ 445 h 693"/>
                        <a:gd name="T32" fmla="*/ 249 w 368"/>
                        <a:gd name="T33" fmla="*/ 428 h 693"/>
                        <a:gd name="T34" fmla="*/ 236 w 368"/>
                        <a:gd name="T35" fmla="*/ 415 h 693"/>
                        <a:gd name="T36" fmla="*/ 219 w 368"/>
                        <a:gd name="T37" fmla="*/ 397 h 693"/>
                        <a:gd name="T38" fmla="*/ 201 w 368"/>
                        <a:gd name="T39" fmla="*/ 376 h 693"/>
                        <a:gd name="T40" fmla="*/ 189 w 368"/>
                        <a:gd name="T41" fmla="*/ 338 h 693"/>
                        <a:gd name="T42" fmla="*/ 202 w 368"/>
                        <a:gd name="T43" fmla="*/ 309 h 693"/>
                        <a:gd name="T44" fmla="*/ 219 w 368"/>
                        <a:gd name="T45" fmla="*/ 298 h 693"/>
                        <a:gd name="T46" fmla="*/ 240 w 368"/>
                        <a:gd name="T47" fmla="*/ 317 h 693"/>
                        <a:gd name="T48" fmla="*/ 255 w 368"/>
                        <a:gd name="T49" fmla="*/ 337 h 693"/>
                        <a:gd name="T50" fmla="*/ 267 w 368"/>
                        <a:gd name="T51" fmla="*/ 316 h 693"/>
                        <a:gd name="T52" fmla="*/ 262 w 368"/>
                        <a:gd name="T53" fmla="*/ 288 h 693"/>
                        <a:gd name="T54" fmla="*/ 267 w 368"/>
                        <a:gd name="T55" fmla="*/ 235 h 693"/>
                        <a:gd name="T56" fmla="*/ 281 w 368"/>
                        <a:gd name="T57" fmla="*/ 175 h 693"/>
                        <a:gd name="T58" fmla="*/ 273 w 368"/>
                        <a:gd name="T59" fmla="*/ 112 h 693"/>
                        <a:gd name="T60" fmla="*/ 286 w 368"/>
                        <a:gd name="T61" fmla="*/ 58 h 693"/>
                        <a:gd name="T62" fmla="*/ 349 w 368"/>
                        <a:gd name="T63" fmla="*/ 20 h 693"/>
                        <a:gd name="T64" fmla="*/ 245 w 368"/>
                        <a:gd name="T65" fmla="*/ 0 h 693"/>
                        <a:gd name="T66" fmla="*/ 152 w 368"/>
                        <a:gd name="T67" fmla="*/ 4 h 693"/>
                        <a:gd name="T68" fmla="*/ 81 w 368"/>
                        <a:gd name="T69" fmla="*/ 34 h 693"/>
                        <a:gd name="T70" fmla="*/ 36 w 368"/>
                        <a:gd name="T71" fmla="*/ 81 h 693"/>
                        <a:gd name="T72" fmla="*/ 11 w 368"/>
                        <a:gd name="T73" fmla="*/ 156 h 693"/>
                        <a:gd name="T74" fmla="*/ 0 w 368"/>
                        <a:gd name="T75" fmla="*/ 260 h 693"/>
                        <a:gd name="T76" fmla="*/ 7 w 368"/>
                        <a:gd name="T77" fmla="*/ 380 h 693"/>
                        <a:gd name="T78" fmla="*/ 28 w 368"/>
                        <a:gd name="T79" fmla="*/ 432 h 693"/>
                        <a:gd name="T80" fmla="*/ 62 w 368"/>
                        <a:gd name="T81" fmla="*/ 517 h 693"/>
                        <a:gd name="T82" fmla="*/ 108 w 368"/>
                        <a:gd name="T83" fmla="*/ 596 h 693"/>
                        <a:gd name="T84" fmla="*/ 146 w 368"/>
                        <a:gd name="T85" fmla="*/ 644 h 693"/>
                        <a:gd name="T86" fmla="*/ 181 w 368"/>
                        <a:gd name="T87" fmla="*/ 674 h 69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</a:cxnLst>
                      <a:rect l="0" t="0" r="r" b="b"/>
                      <a:pathLst>
                        <a:path w="368" h="693">
                          <a:moveTo>
                            <a:pt x="201" y="682"/>
                          </a:moveTo>
                          <a:lnTo>
                            <a:pt x="224" y="673"/>
                          </a:lnTo>
                          <a:lnTo>
                            <a:pt x="269" y="684"/>
                          </a:lnTo>
                          <a:lnTo>
                            <a:pt x="304" y="691"/>
                          </a:lnTo>
                          <a:lnTo>
                            <a:pt x="318" y="691"/>
                          </a:lnTo>
                          <a:lnTo>
                            <a:pt x="329" y="691"/>
                          </a:lnTo>
                          <a:lnTo>
                            <a:pt x="345" y="693"/>
                          </a:lnTo>
                          <a:lnTo>
                            <a:pt x="356" y="691"/>
                          </a:lnTo>
                          <a:lnTo>
                            <a:pt x="368" y="683"/>
                          </a:lnTo>
                          <a:lnTo>
                            <a:pt x="356" y="683"/>
                          </a:lnTo>
                          <a:lnTo>
                            <a:pt x="348" y="679"/>
                          </a:lnTo>
                          <a:lnTo>
                            <a:pt x="340" y="683"/>
                          </a:lnTo>
                          <a:lnTo>
                            <a:pt x="325" y="682"/>
                          </a:lnTo>
                          <a:lnTo>
                            <a:pt x="313" y="679"/>
                          </a:lnTo>
                          <a:lnTo>
                            <a:pt x="299" y="673"/>
                          </a:lnTo>
                          <a:lnTo>
                            <a:pt x="291" y="668"/>
                          </a:lnTo>
                          <a:lnTo>
                            <a:pt x="277" y="656"/>
                          </a:lnTo>
                          <a:lnTo>
                            <a:pt x="267" y="646"/>
                          </a:lnTo>
                          <a:lnTo>
                            <a:pt x="257" y="633"/>
                          </a:lnTo>
                          <a:lnTo>
                            <a:pt x="251" y="623"/>
                          </a:lnTo>
                          <a:lnTo>
                            <a:pt x="259" y="615"/>
                          </a:lnTo>
                          <a:lnTo>
                            <a:pt x="264" y="607"/>
                          </a:lnTo>
                          <a:lnTo>
                            <a:pt x="261" y="601"/>
                          </a:lnTo>
                          <a:lnTo>
                            <a:pt x="258" y="595"/>
                          </a:lnTo>
                          <a:lnTo>
                            <a:pt x="270" y="569"/>
                          </a:lnTo>
                          <a:lnTo>
                            <a:pt x="263" y="552"/>
                          </a:lnTo>
                          <a:lnTo>
                            <a:pt x="253" y="528"/>
                          </a:lnTo>
                          <a:lnTo>
                            <a:pt x="246" y="512"/>
                          </a:lnTo>
                          <a:lnTo>
                            <a:pt x="228" y="486"/>
                          </a:lnTo>
                          <a:lnTo>
                            <a:pt x="222" y="468"/>
                          </a:lnTo>
                          <a:lnTo>
                            <a:pt x="226" y="457"/>
                          </a:lnTo>
                          <a:lnTo>
                            <a:pt x="232" y="445"/>
                          </a:lnTo>
                          <a:lnTo>
                            <a:pt x="242" y="437"/>
                          </a:lnTo>
                          <a:lnTo>
                            <a:pt x="249" y="428"/>
                          </a:lnTo>
                          <a:lnTo>
                            <a:pt x="244" y="419"/>
                          </a:lnTo>
                          <a:lnTo>
                            <a:pt x="236" y="415"/>
                          </a:lnTo>
                          <a:lnTo>
                            <a:pt x="226" y="405"/>
                          </a:lnTo>
                          <a:lnTo>
                            <a:pt x="219" y="397"/>
                          </a:lnTo>
                          <a:lnTo>
                            <a:pt x="208" y="389"/>
                          </a:lnTo>
                          <a:lnTo>
                            <a:pt x="201" y="376"/>
                          </a:lnTo>
                          <a:lnTo>
                            <a:pt x="196" y="364"/>
                          </a:lnTo>
                          <a:lnTo>
                            <a:pt x="189" y="338"/>
                          </a:lnTo>
                          <a:lnTo>
                            <a:pt x="196" y="317"/>
                          </a:lnTo>
                          <a:lnTo>
                            <a:pt x="202" y="309"/>
                          </a:lnTo>
                          <a:lnTo>
                            <a:pt x="210" y="301"/>
                          </a:lnTo>
                          <a:lnTo>
                            <a:pt x="219" y="298"/>
                          </a:lnTo>
                          <a:lnTo>
                            <a:pt x="228" y="306"/>
                          </a:lnTo>
                          <a:lnTo>
                            <a:pt x="240" y="317"/>
                          </a:lnTo>
                          <a:lnTo>
                            <a:pt x="245" y="327"/>
                          </a:lnTo>
                          <a:lnTo>
                            <a:pt x="255" y="337"/>
                          </a:lnTo>
                          <a:lnTo>
                            <a:pt x="264" y="328"/>
                          </a:lnTo>
                          <a:lnTo>
                            <a:pt x="267" y="316"/>
                          </a:lnTo>
                          <a:lnTo>
                            <a:pt x="268" y="302"/>
                          </a:lnTo>
                          <a:lnTo>
                            <a:pt x="262" y="288"/>
                          </a:lnTo>
                          <a:lnTo>
                            <a:pt x="258" y="271"/>
                          </a:lnTo>
                          <a:lnTo>
                            <a:pt x="267" y="235"/>
                          </a:lnTo>
                          <a:lnTo>
                            <a:pt x="273" y="201"/>
                          </a:lnTo>
                          <a:lnTo>
                            <a:pt x="281" y="175"/>
                          </a:lnTo>
                          <a:lnTo>
                            <a:pt x="273" y="141"/>
                          </a:lnTo>
                          <a:lnTo>
                            <a:pt x="273" y="112"/>
                          </a:lnTo>
                          <a:lnTo>
                            <a:pt x="270" y="81"/>
                          </a:lnTo>
                          <a:lnTo>
                            <a:pt x="286" y="58"/>
                          </a:lnTo>
                          <a:lnTo>
                            <a:pt x="317" y="36"/>
                          </a:lnTo>
                          <a:lnTo>
                            <a:pt x="349" y="20"/>
                          </a:lnTo>
                          <a:lnTo>
                            <a:pt x="299" y="8"/>
                          </a:lnTo>
                          <a:lnTo>
                            <a:pt x="245" y="0"/>
                          </a:lnTo>
                          <a:lnTo>
                            <a:pt x="191" y="0"/>
                          </a:lnTo>
                          <a:lnTo>
                            <a:pt x="152" y="4"/>
                          </a:lnTo>
                          <a:lnTo>
                            <a:pt x="118" y="15"/>
                          </a:lnTo>
                          <a:lnTo>
                            <a:pt x="81" y="34"/>
                          </a:lnTo>
                          <a:lnTo>
                            <a:pt x="60" y="56"/>
                          </a:lnTo>
                          <a:lnTo>
                            <a:pt x="36" y="81"/>
                          </a:lnTo>
                          <a:lnTo>
                            <a:pt x="24" y="115"/>
                          </a:lnTo>
                          <a:lnTo>
                            <a:pt x="11" y="156"/>
                          </a:lnTo>
                          <a:lnTo>
                            <a:pt x="3" y="209"/>
                          </a:lnTo>
                          <a:lnTo>
                            <a:pt x="0" y="260"/>
                          </a:lnTo>
                          <a:lnTo>
                            <a:pt x="4" y="328"/>
                          </a:lnTo>
                          <a:lnTo>
                            <a:pt x="7" y="380"/>
                          </a:lnTo>
                          <a:lnTo>
                            <a:pt x="18" y="407"/>
                          </a:lnTo>
                          <a:lnTo>
                            <a:pt x="28" y="432"/>
                          </a:lnTo>
                          <a:lnTo>
                            <a:pt x="40" y="471"/>
                          </a:lnTo>
                          <a:lnTo>
                            <a:pt x="62" y="517"/>
                          </a:lnTo>
                          <a:lnTo>
                            <a:pt x="89" y="564"/>
                          </a:lnTo>
                          <a:lnTo>
                            <a:pt x="108" y="596"/>
                          </a:lnTo>
                          <a:lnTo>
                            <a:pt x="129" y="627"/>
                          </a:lnTo>
                          <a:lnTo>
                            <a:pt x="146" y="644"/>
                          </a:lnTo>
                          <a:lnTo>
                            <a:pt x="163" y="662"/>
                          </a:lnTo>
                          <a:lnTo>
                            <a:pt x="181" y="674"/>
                          </a:lnTo>
                          <a:lnTo>
                            <a:pt x="201" y="682"/>
                          </a:lnTo>
                          <a:close/>
                        </a:path>
                      </a:pathLst>
                    </a:custGeom>
                    <a:solidFill>
                      <a:srgbClr val="FF7F7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grpSp>
                  <p:nvGrpSpPr>
                    <p:cNvPr id="291" name="Group 260"/>
                    <p:cNvGrpSpPr/>
                    <p:nvPr/>
                  </p:nvGrpSpPr>
                  <p:grpSpPr bwMode="auto">
                    <a:xfrm>
                      <a:off x="4882" y="2310"/>
                      <a:ext cx="17" cy="16"/>
                      <a:chOff x="4882" y="2310"/>
                      <a:chExt cx="17" cy="16"/>
                    </a:xfrm>
                  </p:grpSpPr>
                  <p:sp>
                    <p:nvSpPr>
                      <p:cNvPr id="294" name="Freeform 261"/>
                      <p:cNvSpPr/>
                      <p:nvPr/>
                    </p:nvSpPr>
                    <p:spPr bwMode="auto">
                      <a:xfrm>
                        <a:off x="4882" y="2310"/>
                        <a:ext cx="15" cy="15"/>
                      </a:xfrm>
                      <a:custGeom>
                        <a:avLst/>
                        <a:gdLst>
                          <a:gd name="T0" fmla="*/ 86 w 86"/>
                          <a:gd name="T1" fmla="*/ 6 h 78"/>
                          <a:gd name="T2" fmla="*/ 76 w 86"/>
                          <a:gd name="T3" fmla="*/ 12 h 78"/>
                          <a:gd name="T4" fmla="*/ 61 w 86"/>
                          <a:gd name="T5" fmla="*/ 18 h 78"/>
                          <a:gd name="T6" fmla="*/ 45 w 86"/>
                          <a:gd name="T7" fmla="*/ 24 h 78"/>
                          <a:gd name="T8" fmla="*/ 31 w 86"/>
                          <a:gd name="T9" fmla="*/ 28 h 78"/>
                          <a:gd name="T10" fmla="*/ 24 w 86"/>
                          <a:gd name="T11" fmla="*/ 32 h 78"/>
                          <a:gd name="T12" fmla="*/ 27 w 86"/>
                          <a:gd name="T13" fmla="*/ 38 h 78"/>
                          <a:gd name="T14" fmla="*/ 24 w 86"/>
                          <a:gd name="T15" fmla="*/ 42 h 78"/>
                          <a:gd name="T16" fmla="*/ 31 w 86"/>
                          <a:gd name="T17" fmla="*/ 55 h 78"/>
                          <a:gd name="T18" fmla="*/ 38 w 86"/>
                          <a:gd name="T19" fmla="*/ 64 h 78"/>
                          <a:gd name="T20" fmla="*/ 47 w 86"/>
                          <a:gd name="T21" fmla="*/ 70 h 78"/>
                          <a:gd name="T22" fmla="*/ 60 w 86"/>
                          <a:gd name="T23" fmla="*/ 78 h 78"/>
                          <a:gd name="T24" fmla="*/ 31 w 86"/>
                          <a:gd name="T25" fmla="*/ 67 h 78"/>
                          <a:gd name="T26" fmla="*/ 20 w 86"/>
                          <a:gd name="T27" fmla="*/ 59 h 78"/>
                          <a:gd name="T28" fmla="*/ 11 w 86"/>
                          <a:gd name="T29" fmla="*/ 47 h 78"/>
                          <a:gd name="T30" fmla="*/ 8 w 86"/>
                          <a:gd name="T31" fmla="*/ 39 h 78"/>
                          <a:gd name="T32" fmla="*/ 5 w 86"/>
                          <a:gd name="T33" fmla="*/ 32 h 78"/>
                          <a:gd name="T34" fmla="*/ 0 w 86"/>
                          <a:gd name="T35" fmla="*/ 26 h 78"/>
                          <a:gd name="T36" fmla="*/ 15 w 86"/>
                          <a:gd name="T37" fmla="*/ 16 h 78"/>
                          <a:gd name="T38" fmla="*/ 38 w 86"/>
                          <a:gd name="T39" fmla="*/ 1 h 78"/>
                          <a:gd name="T40" fmla="*/ 51 w 86"/>
                          <a:gd name="T41" fmla="*/ 0 h 78"/>
                          <a:gd name="T42" fmla="*/ 66 w 86"/>
                          <a:gd name="T43" fmla="*/ 1 h 78"/>
                          <a:gd name="T44" fmla="*/ 86 w 86"/>
                          <a:gd name="T45" fmla="*/ 6 h 78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</a:cxnLst>
                        <a:rect l="0" t="0" r="r" b="b"/>
                        <a:pathLst>
                          <a:path w="86" h="78">
                            <a:moveTo>
                              <a:pt x="86" y="6"/>
                            </a:moveTo>
                            <a:lnTo>
                              <a:pt x="76" y="12"/>
                            </a:lnTo>
                            <a:lnTo>
                              <a:pt x="61" y="18"/>
                            </a:lnTo>
                            <a:lnTo>
                              <a:pt x="45" y="24"/>
                            </a:lnTo>
                            <a:lnTo>
                              <a:pt x="31" y="28"/>
                            </a:lnTo>
                            <a:lnTo>
                              <a:pt x="24" y="32"/>
                            </a:lnTo>
                            <a:lnTo>
                              <a:pt x="27" y="38"/>
                            </a:lnTo>
                            <a:lnTo>
                              <a:pt x="24" y="42"/>
                            </a:lnTo>
                            <a:lnTo>
                              <a:pt x="31" y="55"/>
                            </a:lnTo>
                            <a:lnTo>
                              <a:pt x="38" y="64"/>
                            </a:lnTo>
                            <a:lnTo>
                              <a:pt x="47" y="70"/>
                            </a:lnTo>
                            <a:lnTo>
                              <a:pt x="60" y="78"/>
                            </a:lnTo>
                            <a:lnTo>
                              <a:pt x="31" y="67"/>
                            </a:lnTo>
                            <a:lnTo>
                              <a:pt x="20" y="59"/>
                            </a:lnTo>
                            <a:lnTo>
                              <a:pt x="11" y="47"/>
                            </a:lnTo>
                            <a:lnTo>
                              <a:pt x="8" y="39"/>
                            </a:lnTo>
                            <a:lnTo>
                              <a:pt x="5" y="32"/>
                            </a:lnTo>
                            <a:lnTo>
                              <a:pt x="0" y="26"/>
                            </a:lnTo>
                            <a:lnTo>
                              <a:pt x="15" y="16"/>
                            </a:lnTo>
                            <a:lnTo>
                              <a:pt x="38" y="1"/>
                            </a:lnTo>
                            <a:lnTo>
                              <a:pt x="51" y="0"/>
                            </a:lnTo>
                            <a:lnTo>
                              <a:pt x="66" y="1"/>
                            </a:lnTo>
                            <a:lnTo>
                              <a:pt x="86" y="6"/>
                            </a:lnTo>
                            <a:close/>
                          </a:path>
                        </a:pathLst>
                      </a:custGeom>
                      <a:solidFill>
                        <a:srgbClr val="FF7F7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295" name="Freeform 262"/>
                      <p:cNvSpPr/>
                      <p:nvPr/>
                    </p:nvSpPr>
                    <p:spPr bwMode="auto">
                      <a:xfrm>
                        <a:off x="4888" y="2316"/>
                        <a:ext cx="11" cy="10"/>
                      </a:xfrm>
                      <a:custGeom>
                        <a:avLst/>
                        <a:gdLst>
                          <a:gd name="T0" fmla="*/ 10 w 65"/>
                          <a:gd name="T1" fmla="*/ 2 h 51"/>
                          <a:gd name="T2" fmla="*/ 26 w 65"/>
                          <a:gd name="T3" fmla="*/ 14 h 51"/>
                          <a:gd name="T4" fmla="*/ 37 w 65"/>
                          <a:gd name="T5" fmla="*/ 19 h 51"/>
                          <a:gd name="T6" fmla="*/ 46 w 65"/>
                          <a:gd name="T7" fmla="*/ 19 h 51"/>
                          <a:gd name="T8" fmla="*/ 53 w 65"/>
                          <a:gd name="T9" fmla="*/ 18 h 51"/>
                          <a:gd name="T10" fmla="*/ 65 w 65"/>
                          <a:gd name="T11" fmla="*/ 18 h 51"/>
                          <a:gd name="T12" fmla="*/ 64 w 65"/>
                          <a:gd name="T13" fmla="*/ 23 h 51"/>
                          <a:gd name="T14" fmla="*/ 65 w 65"/>
                          <a:gd name="T15" fmla="*/ 29 h 51"/>
                          <a:gd name="T16" fmla="*/ 61 w 65"/>
                          <a:gd name="T17" fmla="*/ 38 h 51"/>
                          <a:gd name="T18" fmla="*/ 52 w 65"/>
                          <a:gd name="T19" fmla="*/ 46 h 51"/>
                          <a:gd name="T20" fmla="*/ 43 w 65"/>
                          <a:gd name="T21" fmla="*/ 49 h 51"/>
                          <a:gd name="T22" fmla="*/ 33 w 65"/>
                          <a:gd name="T23" fmla="*/ 51 h 51"/>
                          <a:gd name="T24" fmla="*/ 50 w 65"/>
                          <a:gd name="T25" fmla="*/ 40 h 51"/>
                          <a:gd name="T26" fmla="*/ 57 w 65"/>
                          <a:gd name="T27" fmla="*/ 31 h 51"/>
                          <a:gd name="T28" fmla="*/ 39 w 65"/>
                          <a:gd name="T29" fmla="*/ 33 h 51"/>
                          <a:gd name="T30" fmla="*/ 32 w 65"/>
                          <a:gd name="T31" fmla="*/ 35 h 51"/>
                          <a:gd name="T32" fmla="*/ 20 w 65"/>
                          <a:gd name="T33" fmla="*/ 29 h 51"/>
                          <a:gd name="T34" fmla="*/ 8 w 65"/>
                          <a:gd name="T35" fmla="*/ 19 h 51"/>
                          <a:gd name="T36" fmla="*/ 2 w 65"/>
                          <a:gd name="T37" fmla="*/ 12 h 51"/>
                          <a:gd name="T38" fmla="*/ 0 w 65"/>
                          <a:gd name="T39" fmla="*/ 3 h 51"/>
                          <a:gd name="T40" fmla="*/ 3 w 65"/>
                          <a:gd name="T41" fmla="*/ 0 h 51"/>
                          <a:gd name="T42" fmla="*/ 10 w 65"/>
                          <a:gd name="T43" fmla="*/ 2 h 51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</a:cxnLst>
                        <a:rect l="0" t="0" r="r" b="b"/>
                        <a:pathLst>
                          <a:path w="65" h="51">
                            <a:moveTo>
                              <a:pt x="10" y="2"/>
                            </a:moveTo>
                            <a:lnTo>
                              <a:pt x="26" y="14"/>
                            </a:lnTo>
                            <a:lnTo>
                              <a:pt x="37" y="19"/>
                            </a:lnTo>
                            <a:lnTo>
                              <a:pt x="46" y="19"/>
                            </a:lnTo>
                            <a:lnTo>
                              <a:pt x="53" y="18"/>
                            </a:lnTo>
                            <a:lnTo>
                              <a:pt x="65" y="18"/>
                            </a:lnTo>
                            <a:lnTo>
                              <a:pt x="64" y="23"/>
                            </a:lnTo>
                            <a:lnTo>
                              <a:pt x="65" y="29"/>
                            </a:lnTo>
                            <a:lnTo>
                              <a:pt x="61" y="38"/>
                            </a:lnTo>
                            <a:lnTo>
                              <a:pt x="52" y="46"/>
                            </a:lnTo>
                            <a:lnTo>
                              <a:pt x="43" y="49"/>
                            </a:lnTo>
                            <a:lnTo>
                              <a:pt x="33" y="51"/>
                            </a:lnTo>
                            <a:lnTo>
                              <a:pt x="50" y="40"/>
                            </a:lnTo>
                            <a:lnTo>
                              <a:pt x="57" y="31"/>
                            </a:lnTo>
                            <a:lnTo>
                              <a:pt x="39" y="33"/>
                            </a:lnTo>
                            <a:lnTo>
                              <a:pt x="32" y="35"/>
                            </a:lnTo>
                            <a:lnTo>
                              <a:pt x="20" y="29"/>
                            </a:lnTo>
                            <a:lnTo>
                              <a:pt x="8" y="19"/>
                            </a:lnTo>
                            <a:lnTo>
                              <a:pt x="2" y="12"/>
                            </a:lnTo>
                            <a:lnTo>
                              <a:pt x="0" y="3"/>
                            </a:lnTo>
                            <a:lnTo>
                              <a:pt x="3" y="0"/>
                            </a:lnTo>
                            <a:lnTo>
                              <a:pt x="10" y="2"/>
                            </a:lnTo>
                            <a:close/>
                          </a:path>
                        </a:pathLst>
                      </a:custGeom>
                      <a:solidFill>
                        <a:srgbClr val="FF7F7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  <p:sp>
                  <p:nvSpPr>
                    <p:cNvPr id="292" name="Freeform 263"/>
                    <p:cNvSpPr/>
                    <p:nvPr/>
                  </p:nvSpPr>
                  <p:spPr bwMode="auto">
                    <a:xfrm>
                      <a:off x="4911" y="2319"/>
                      <a:ext cx="7" cy="11"/>
                    </a:xfrm>
                    <a:custGeom>
                      <a:avLst/>
                      <a:gdLst>
                        <a:gd name="T0" fmla="*/ 0 w 42"/>
                        <a:gd name="T1" fmla="*/ 0 h 52"/>
                        <a:gd name="T2" fmla="*/ 12 w 42"/>
                        <a:gd name="T3" fmla="*/ 14 h 52"/>
                        <a:gd name="T4" fmla="*/ 22 w 42"/>
                        <a:gd name="T5" fmla="*/ 15 h 52"/>
                        <a:gd name="T6" fmla="*/ 35 w 42"/>
                        <a:gd name="T7" fmla="*/ 14 h 52"/>
                        <a:gd name="T8" fmla="*/ 42 w 42"/>
                        <a:gd name="T9" fmla="*/ 14 h 52"/>
                        <a:gd name="T10" fmla="*/ 35 w 42"/>
                        <a:gd name="T11" fmla="*/ 25 h 52"/>
                        <a:gd name="T12" fmla="*/ 30 w 42"/>
                        <a:gd name="T13" fmla="*/ 28 h 52"/>
                        <a:gd name="T14" fmla="*/ 21 w 42"/>
                        <a:gd name="T15" fmla="*/ 28 h 52"/>
                        <a:gd name="T16" fmla="*/ 13 w 42"/>
                        <a:gd name="T17" fmla="*/ 33 h 52"/>
                        <a:gd name="T18" fmla="*/ 19 w 42"/>
                        <a:gd name="T19" fmla="*/ 37 h 52"/>
                        <a:gd name="T20" fmla="*/ 28 w 42"/>
                        <a:gd name="T21" fmla="*/ 40 h 52"/>
                        <a:gd name="T22" fmla="*/ 25 w 42"/>
                        <a:gd name="T23" fmla="*/ 47 h 52"/>
                        <a:gd name="T24" fmla="*/ 16 w 42"/>
                        <a:gd name="T25" fmla="*/ 52 h 52"/>
                        <a:gd name="T26" fmla="*/ 10 w 42"/>
                        <a:gd name="T27" fmla="*/ 52 h 52"/>
                        <a:gd name="T28" fmla="*/ 4 w 42"/>
                        <a:gd name="T29" fmla="*/ 40 h 52"/>
                        <a:gd name="T30" fmla="*/ 1 w 42"/>
                        <a:gd name="T31" fmla="*/ 21 h 52"/>
                        <a:gd name="T32" fmla="*/ 0 w 42"/>
                        <a:gd name="T33" fmla="*/ 0 h 5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</a:cxnLst>
                      <a:rect l="0" t="0" r="r" b="b"/>
                      <a:pathLst>
                        <a:path w="42" h="52">
                          <a:moveTo>
                            <a:pt x="0" y="0"/>
                          </a:moveTo>
                          <a:lnTo>
                            <a:pt x="12" y="14"/>
                          </a:lnTo>
                          <a:lnTo>
                            <a:pt x="22" y="15"/>
                          </a:lnTo>
                          <a:lnTo>
                            <a:pt x="35" y="14"/>
                          </a:lnTo>
                          <a:lnTo>
                            <a:pt x="42" y="14"/>
                          </a:lnTo>
                          <a:lnTo>
                            <a:pt x="35" y="25"/>
                          </a:lnTo>
                          <a:lnTo>
                            <a:pt x="30" y="28"/>
                          </a:lnTo>
                          <a:lnTo>
                            <a:pt x="21" y="28"/>
                          </a:lnTo>
                          <a:lnTo>
                            <a:pt x="13" y="33"/>
                          </a:lnTo>
                          <a:lnTo>
                            <a:pt x="19" y="37"/>
                          </a:lnTo>
                          <a:lnTo>
                            <a:pt x="28" y="40"/>
                          </a:lnTo>
                          <a:lnTo>
                            <a:pt x="25" y="47"/>
                          </a:lnTo>
                          <a:lnTo>
                            <a:pt x="16" y="52"/>
                          </a:lnTo>
                          <a:lnTo>
                            <a:pt x="10" y="52"/>
                          </a:lnTo>
                          <a:lnTo>
                            <a:pt x="4" y="40"/>
                          </a:lnTo>
                          <a:lnTo>
                            <a:pt x="1" y="21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7F7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93" name="Freeform 264"/>
                    <p:cNvSpPr/>
                    <p:nvPr/>
                  </p:nvSpPr>
                  <p:spPr bwMode="auto">
                    <a:xfrm>
                      <a:off x="4890" y="2361"/>
                      <a:ext cx="16" cy="13"/>
                    </a:xfrm>
                    <a:custGeom>
                      <a:avLst/>
                      <a:gdLst>
                        <a:gd name="T0" fmla="*/ 6 w 94"/>
                        <a:gd name="T1" fmla="*/ 2 h 63"/>
                        <a:gd name="T2" fmla="*/ 21 w 94"/>
                        <a:gd name="T3" fmla="*/ 7 h 63"/>
                        <a:gd name="T4" fmla="*/ 38 w 94"/>
                        <a:gd name="T5" fmla="*/ 12 h 63"/>
                        <a:gd name="T6" fmla="*/ 49 w 94"/>
                        <a:gd name="T7" fmla="*/ 15 h 63"/>
                        <a:gd name="T8" fmla="*/ 59 w 94"/>
                        <a:gd name="T9" fmla="*/ 15 h 63"/>
                        <a:gd name="T10" fmla="*/ 75 w 94"/>
                        <a:gd name="T11" fmla="*/ 11 h 63"/>
                        <a:gd name="T12" fmla="*/ 86 w 94"/>
                        <a:gd name="T13" fmla="*/ 5 h 63"/>
                        <a:gd name="T14" fmla="*/ 94 w 94"/>
                        <a:gd name="T15" fmla="*/ 0 h 63"/>
                        <a:gd name="T16" fmla="*/ 80 w 94"/>
                        <a:gd name="T17" fmla="*/ 23 h 63"/>
                        <a:gd name="T18" fmla="*/ 86 w 94"/>
                        <a:gd name="T19" fmla="*/ 33 h 63"/>
                        <a:gd name="T20" fmla="*/ 86 w 94"/>
                        <a:gd name="T21" fmla="*/ 42 h 63"/>
                        <a:gd name="T22" fmla="*/ 78 w 94"/>
                        <a:gd name="T23" fmla="*/ 37 h 63"/>
                        <a:gd name="T24" fmla="*/ 74 w 94"/>
                        <a:gd name="T25" fmla="*/ 40 h 63"/>
                        <a:gd name="T26" fmla="*/ 66 w 94"/>
                        <a:gd name="T27" fmla="*/ 55 h 63"/>
                        <a:gd name="T28" fmla="*/ 63 w 94"/>
                        <a:gd name="T29" fmla="*/ 63 h 63"/>
                        <a:gd name="T30" fmla="*/ 63 w 94"/>
                        <a:gd name="T31" fmla="*/ 49 h 63"/>
                        <a:gd name="T32" fmla="*/ 57 w 94"/>
                        <a:gd name="T33" fmla="*/ 38 h 63"/>
                        <a:gd name="T34" fmla="*/ 49 w 94"/>
                        <a:gd name="T35" fmla="*/ 32 h 63"/>
                        <a:gd name="T36" fmla="*/ 37 w 94"/>
                        <a:gd name="T37" fmla="*/ 29 h 63"/>
                        <a:gd name="T38" fmla="*/ 16 w 94"/>
                        <a:gd name="T39" fmla="*/ 31 h 63"/>
                        <a:gd name="T40" fmla="*/ 0 w 94"/>
                        <a:gd name="T41" fmla="*/ 36 h 63"/>
                        <a:gd name="T42" fmla="*/ 19 w 94"/>
                        <a:gd name="T43" fmla="*/ 21 h 63"/>
                        <a:gd name="T44" fmla="*/ 6 w 94"/>
                        <a:gd name="T45" fmla="*/ 2 h 6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</a:cxnLst>
                      <a:rect l="0" t="0" r="r" b="b"/>
                      <a:pathLst>
                        <a:path w="94" h="63">
                          <a:moveTo>
                            <a:pt x="6" y="2"/>
                          </a:moveTo>
                          <a:lnTo>
                            <a:pt x="21" y="7"/>
                          </a:lnTo>
                          <a:lnTo>
                            <a:pt x="38" y="12"/>
                          </a:lnTo>
                          <a:lnTo>
                            <a:pt x="49" y="15"/>
                          </a:lnTo>
                          <a:lnTo>
                            <a:pt x="59" y="15"/>
                          </a:lnTo>
                          <a:lnTo>
                            <a:pt x="75" y="11"/>
                          </a:lnTo>
                          <a:lnTo>
                            <a:pt x="86" y="5"/>
                          </a:lnTo>
                          <a:lnTo>
                            <a:pt x="94" y="0"/>
                          </a:lnTo>
                          <a:lnTo>
                            <a:pt x="80" y="23"/>
                          </a:lnTo>
                          <a:lnTo>
                            <a:pt x="86" y="33"/>
                          </a:lnTo>
                          <a:lnTo>
                            <a:pt x="86" y="42"/>
                          </a:lnTo>
                          <a:lnTo>
                            <a:pt x="78" y="37"/>
                          </a:lnTo>
                          <a:lnTo>
                            <a:pt x="74" y="40"/>
                          </a:lnTo>
                          <a:lnTo>
                            <a:pt x="66" y="55"/>
                          </a:lnTo>
                          <a:lnTo>
                            <a:pt x="63" y="63"/>
                          </a:lnTo>
                          <a:lnTo>
                            <a:pt x="63" y="49"/>
                          </a:lnTo>
                          <a:lnTo>
                            <a:pt x="57" y="38"/>
                          </a:lnTo>
                          <a:lnTo>
                            <a:pt x="49" y="32"/>
                          </a:lnTo>
                          <a:lnTo>
                            <a:pt x="37" y="29"/>
                          </a:lnTo>
                          <a:lnTo>
                            <a:pt x="16" y="31"/>
                          </a:lnTo>
                          <a:lnTo>
                            <a:pt x="0" y="36"/>
                          </a:lnTo>
                          <a:lnTo>
                            <a:pt x="19" y="21"/>
                          </a:lnTo>
                          <a:lnTo>
                            <a:pt x="6" y="2"/>
                          </a:lnTo>
                          <a:close/>
                        </a:path>
                      </a:pathLst>
                    </a:custGeom>
                    <a:solidFill>
                      <a:srgbClr val="FF7F7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sp>
                <p:nvSpPr>
                  <p:cNvPr id="267" name="Freeform 265"/>
                  <p:cNvSpPr/>
                  <p:nvPr/>
                </p:nvSpPr>
                <p:spPr bwMode="auto">
                  <a:xfrm>
                    <a:off x="4886" y="2349"/>
                    <a:ext cx="23" cy="11"/>
                  </a:xfrm>
                  <a:custGeom>
                    <a:avLst/>
                    <a:gdLst>
                      <a:gd name="T0" fmla="*/ 23 w 138"/>
                      <a:gd name="T1" fmla="*/ 0 h 56"/>
                      <a:gd name="T2" fmla="*/ 5 w 138"/>
                      <a:gd name="T3" fmla="*/ 15 h 56"/>
                      <a:gd name="T4" fmla="*/ 0 w 138"/>
                      <a:gd name="T5" fmla="*/ 24 h 56"/>
                      <a:gd name="T6" fmla="*/ 0 w 138"/>
                      <a:gd name="T7" fmla="*/ 35 h 56"/>
                      <a:gd name="T8" fmla="*/ 5 w 138"/>
                      <a:gd name="T9" fmla="*/ 45 h 56"/>
                      <a:gd name="T10" fmla="*/ 5 w 138"/>
                      <a:gd name="T11" fmla="*/ 32 h 56"/>
                      <a:gd name="T12" fmla="*/ 13 w 138"/>
                      <a:gd name="T13" fmla="*/ 26 h 56"/>
                      <a:gd name="T14" fmla="*/ 28 w 138"/>
                      <a:gd name="T15" fmla="*/ 26 h 56"/>
                      <a:gd name="T16" fmla="*/ 47 w 138"/>
                      <a:gd name="T17" fmla="*/ 34 h 56"/>
                      <a:gd name="T18" fmla="*/ 65 w 138"/>
                      <a:gd name="T19" fmla="*/ 41 h 56"/>
                      <a:gd name="T20" fmla="*/ 81 w 138"/>
                      <a:gd name="T21" fmla="*/ 46 h 56"/>
                      <a:gd name="T22" fmla="*/ 95 w 138"/>
                      <a:gd name="T23" fmla="*/ 47 h 56"/>
                      <a:gd name="T24" fmla="*/ 99 w 138"/>
                      <a:gd name="T25" fmla="*/ 50 h 56"/>
                      <a:gd name="T26" fmla="*/ 101 w 138"/>
                      <a:gd name="T27" fmla="*/ 56 h 56"/>
                      <a:gd name="T28" fmla="*/ 108 w 138"/>
                      <a:gd name="T29" fmla="*/ 50 h 56"/>
                      <a:gd name="T30" fmla="*/ 120 w 138"/>
                      <a:gd name="T31" fmla="*/ 45 h 56"/>
                      <a:gd name="T32" fmla="*/ 123 w 138"/>
                      <a:gd name="T33" fmla="*/ 44 h 56"/>
                      <a:gd name="T34" fmla="*/ 127 w 138"/>
                      <a:gd name="T35" fmla="*/ 41 h 56"/>
                      <a:gd name="T36" fmla="*/ 138 w 138"/>
                      <a:gd name="T37" fmla="*/ 32 h 56"/>
                      <a:gd name="T38" fmla="*/ 128 w 138"/>
                      <a:gd name="T39" fmla="*/ 23 h 56"/>
                      <a:gd name="T40" fmla="*/ 120 w 138"/>
                      <a:gd name="T41" fmla="*/ 23 h 56"/>
                      <a:gd name="T42" fmla="*/ 107 w 138"/>
                      <a:gd name="T43" fmla="*/ 25 h 56"/>
                      <a:gd name="T44" fmla="*/ 93 w 138"/>
                      <a:gd name="T45" fmla="*/ 26 h 56"/>
                      <a:gd name="T46" fmla="*/ 86 w 138"/>
                      <a:gd name="T47" fmla="*/ 25 h 56"/>
                      <a:gd name="T48" fmla="*/ 79 w 138"/>
                      <a:gd name="T49" fmla="*/ 21 h 56"/>
                      <a:gd name="T50" fmla="*/ 67 w 138"/>
                      <a:gd name="T51" fmla="*/ 21 h 56"/>
                      <a:gd name="T52" fmla="*/ 50 w 138"/>
                      <a:gd name="T53" fmla="*/ 23 h 56"/>
                      <a:gd name="T54" fmla="*/ 38 w 138"/>
                      <a:gd name="T55" fmla="*/ 20 h 56"/>
                      <a:gd name="T56" fmla="*/ 28 w 138"/>
                      <a:gd name="T57" fmla="*/ 18 h 56"/>
                      <a:gd name="T58" fmla="*/ 19 w 138"/>
                      <a:gd name="T59" fmla="*/ 11 h 56"/>
                      <a:gd name="T60" fmla="*/ 23 w 138"/>
                      <a:gd name="T61" fmla="*/ 0 h 5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</a:cxnLst>
                    <a:rect l="0" t="0" r="r" b="b"/>
                    <a:pathLst>
                      <a:path w="138" h="56">
                        <a:moveTo>
                          <a:pt x="23" y="0"/>
                        </a:moveTo>
                        <a:lnTo>
                          <a:pt x="5" y="15"/>
                        </a:lnTo>
                        <a:lnTo>
                          <a:pt x="0" y="24"/>
                        </a:lnTo>
                        <a:lnTo>
                          <a:pt x="0" y="35"/>
                        </a:lnTo>
                        <a:lnTo>
                          <a:pt x="5" y="45"/>
                        </a:lnTo>
                        <a:lnTo>
                          <a:pt x="5" y="32"/>
                        </a:lnTo>
                        <a:lnTo>
                          <a:pt x="13" y="26"/>
                        </a:lnTo>
                        <a:lnTo>
                          <a:pt x="28" y="26"/>
                        </a:lnTo>
                        <a:lnTo>
                          <a:pt x="47" y="34"/>
                        </a:lnTo>
                        <a:lnTo>
                          <a:pt x="65" y="41"/>
                        </a:lnTo>
                        <a:lnTo>
                          <a:pt x="81" y="46"/>
                        </a:lnTo>
                        <a:lnTo>
                          <a:pt x="95" y="47"/>
                        </a:lnTo>
                        <a:lnTo>
                          <a:pt x="99" y="50"/>
                        </a:lnTo>
                        <a:lnTo>
                          <a:pt x="101" y="56"/>
                        </a:lnTo>
                        <a:lnTo>
                          <a:pt x="108" y="50"/>
                        </a:lnTo>
                        <a:lnTo>
                          <a:pt x="120" y="45"/>
                        </a:lnTo>
                        <a:lnTo>
                          <a:pt x="123" y="44"/>
                        </a:lnTo>
                        <a:lnTo>
                          <a:pt x="127" y="41"/>
                        </a:lnTo>
                        <a:lnTo>
                          <a:pt x="138" y="32"/>
                        </a:lnTo>
                        <a:lnTo>
                          <a:pt x="128" y="23"/>
                        </a:lnTo>
                        <a:lnTo>
                          <a:pt x="120" y="23"/>
                        </a:lnTo>
                        <a:lnTo>
                          <a:pt x="107" y="25"/>
                        </a:lnTo>
                        <a:lnTo>
                          <a:pt x="93" y="26"/>
                        </a:lnTo>
                        <a:lnTo>
                          <a:pt x="86" y="25"/>
                        </a:lnTo>
                        <a:lnTo>
                          <a:pt x="79" y="21"/>
                        </a:lnTo>
                        <a:lnTo>
                          <a:pt x="67" y="21"/>
                        </a:lnTo>
                        <a:lnTo>
                          <a:pt x="50" y="23"/>
                        </a:lnTo>
                        <a:lnTo>
                          <a:pt x="38" y="20"/>
                        </a:lnTo>
                        <a:lnTo>
                          <a:pt x="28" y="18"/>
                        </a:lnTo>
                        <a:lnTo>
                          <a:pt x="19" y="11"/>
                        </a:lnTo>
                        <a:lnTo>
                          <a:pt x="23" y="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268" name="Freeform 266"/>
                  <p:cNvSpPr/>
                  <p:nvPr/>
                </p:nvSpPr>
                <p:spPr bwMode="auto">
                  <a:xfrm>
                    <a:off x="4893" y="2334"/>
                    <a:ext cx="20" cy="16"/>
                  </a:xfrm>
                  <a:custGeom>
                    <a:avLst/>
                    <a:gdLst>
                      <a:gd name="T0" fmla="*/ 32 w 120"/>
                      <a:gd name="T1" fmla="*/ 0 h 81"/>
                      <a:gd name="T2" fmla="*/ 13 w 120"/>
                      <a:gd name="T3" fmla="*/ 31 h 81"/>
                      <a:gd name="T4" fmla="*/ 0 w 120"/>
                      <a:gd name="T5" fmla="*/ 37 h 81"/>
                      <a:gd name="T6" fmla="*/ 18 w 120"/>
                      <a:gd name="T7" fmla="*/ 39 h 81"/>
                      <a:gd name="T8" fmla="*/ 32 w 120"/>
                      <a:gd name="T9" fmla="*/ 43 h 81"/>
                      <a:gd name="T10" fmla="*/ 44 w 120"/>
                      <a:gd name="T11" fmla="*/ 53 h 81"/>
                      <a:gd name="T12" fmla="*/ 55 w 120"/>
                      <a:gd name="T13" fmla="*/ 81 h 81"/>
                      <a:gd name="T14" fmla="*/ 51 w 120"/>
                      <a:gd name="T15" fmla="*/ 61 h 81"/>
                      <a:gd name="T16" fmla="*/ 55 w 120"/>
                      <a:gd name="T17" fmla="*/ 54 h 81"/>
                      <a:gd name="T18" fmla="*/ 62 w 120"/>
                      <a:gd name="T19" fmla="*/ 58 h 81"/>
                      <a:gd name="T20" fmla="*/ 78 w 120"/>
                      <a:gd name="T21" fmla="*/ 59 h 81"/>
                      <a:gd name="T22" fmla="*/ 87 w 120"/>
                      <a:gd name="T23" fmla="*/ 49 h 81"/>
                      <a:gd name="T24" fmla="*/ 103 w 120"/>
                      <a:gd name="T25" fmla="*/ 47 h 81"/>
                      <a:gd name="T26" fmla="*/ 120 w 120"/>
                      <a:gd name="T27" fmla="*/ 38 h 81"/>
                      <a:gd name="T28" fmla="*/ 103 w 120"/>
                      <a:gd name="T29" fmla="*/ 38 h 81"/>
                      <a:gd name="T30" fmla="*/ 92 w 120"/>
                      <a:gd name="T31" fmla="*/ 38 h 81"/>
                      <a:gd name="T32" fmla="*/ 80 w 120"/>
                      <a:gd name="T33" fmla="*/ 32 h 81"/>
                      <a:gd name="T34" fmla="*/ 55 w 120"/>
                      <a:gd name="T35" fmla="*/ 31 h 81"/>
                      <a:gd name="T36" fmla="*/ 41 w 120"/>
                      <a:gd name="T37" fmla="*/ 34 h 81"/>
                      <a:gd name="T38" fmla="*/ 34 w 120"/>
                      <a:gd name="T39" fmla="*/ 32 h 81"/>
                      <a:gd name="T40" fmla="*/ 26 w 120"/>
                      <a:gd name="T41" fmla="*/ 26 h 81"/>
                      <a:gd name="T42" fmla="*/ 25 w 120"/>
                      <a:gd name="T43" fmla="*/ 18 h 81"/>
                      <a:gd name="T44" fmla="*/ 32 w 120"/>
                      <a:gd name="T45" fmla="*/ 0 h 8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</a:cxnLst>
                    <a:rect l="0" t="0" r="r" b="b"/>
                    <a:pathLst>
                      <a:path w="120" h="81">
                        <a:moveTo>
                          <a:pt x="32" y="0"/>
                        </a:moveTo>
                        <a:lnTo>
                          <a:pt x="13" y="31"/>
                        </a:lnTo>
                        <a:lnTo>
                          <a:pt x="0" y="37"/>
                        </a:lnTo>
                        <a:lnTo>
                          <a:pt x="18" y="39"/>
                        </a:lnTo>
                        <a:lnTo>
                          <a:pt x="32" y="43"/>
                        </a:lnTo>
                        <a:lnTo>
                          <a:pt x="44" y="53"/>
                        </a:lnTo>
                        <a:lnTo>
                          <a:pt x="55" y="81"/>
                        </a:lnTo>
                        <a:lnTo>
                          <a:pt x="51" y="61"/>
                        </a:lnTo>
                        <a:lnTo>
                          <a:pt x="55" y="54"/>
                        </a:lnTo>
                        <a:lnTo>
                          <a:pt x="62" y="58"/>
                        </a:lnTo>
                        <a:lnTo>
                          <a:pt x="78" y="59"/>
                        </a:lnTo>
                        <a:lnTo>
                          <a:pt x="87" y="49"/>
                        </a:lnTo>
                        <a:lnTo>
                          <a:pt x="103" y="47"/>
                        </a:lnTo>
                        <a:lnTo>
                          <a:pt x="120" y="38"/>
                        </a:lnTo>
                        <a:lnTo>
                          <a:pt x="103" y="38"/>
                        </a:lnTo>
                        <a:lnTo>
                          <a:pt x="92" y="38"/>
                        </a:lnTo>
                        <a:lnTo>
                          <a:pt x="80" y="32"/>
                        </a:lnTo>
                        <a:lnTo>
                          <a:pt x="55" y="31"/>
                        </a:lnTo>
                        <a:lnTo>
                          <a:pt x="41" y="34"/>
                        </a:lnTo>
                        <a:lnTo>
                          <a:pt x="34" y="32"/>
                        </a:lnTo>
                        <a:lnTo>
                          <a:pt x="26" y="26"/>
                        </a:lnTo>
                        <a:lnTo>
                          <a:pt x="25" y="18"/>
                        </a:lnTo>
                        <a:lnTo>
                          <a:pt x="32" y="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269" name="Freeform 267"/>
                  <p:cNvSpPr/>
                  <p:nvPr/>
                </p:nvSpPr>
                <p:spPr bwMode="auto">
                  <a:xfrm>
                    <a:off x="4889" y="2354"/>
                    <a:ext cx="18" cy="9"/>
                  </a:xfrm>
                  <a:custGeom>
                    <a:avLst/>
                    <a:gdLst>
                      <a:gd name="T0" fmla="*/ 0 w 110"/>
                      <a:gd name="T1" fmla="*/ 1 h 47"/>
                      <a:gd name="T2" fmla="*/ 13 w 110"/>
                      <a:gd name="T3" fmla="*/ 0 h 47"/>
                      <a:gd name="T4" fmla="*/ 25 w 110"/>
                      <a:gd name="T5" fmla="*/ 5 h 47"/>
                      <a:gd name="T6" fmla="*/ 42 w 110"/>
                      <a:gd name="T7" fmla="*/ 10 h 47"/>
                      <a:gd name="T8" fmla="*/ 52 w 110"/>
                      <a:gd name="T9" fmla="*/ 15 h 47"/>
                      <a:gd name="T10" fmla="*/ 63 w 110"/>
                      <a:gd name="T11" fmla="*/ 19 h 47"/>
                      <a:gd name="T12" fmla="*/ 74 w 110"/>
                      <a:gd name="T13" fmla="*/ 20 h 47"/>
                      <a:gd name="T14" fmla="*/ 84 w 110"/>
                      <a:gd name="T15" fmla="*/ 21 h 47"/>
                      <a:gd name="T16" fmla="*/ 98 w 110"/>
                      <a:gd name="T17" fmla="*/ 19 h 47"/>
                      <a:gd name="T18" fmla="*/ 107 w 110"/>
                      <a:gd name="T19" fmla="*/ 14 h 47"/>
                      <a:gd name="T20" fmla="*/ 110 w 110"/>
                      <a:gd name="T21" fmla="*/ 10 h 47"/>
                      <a:gd name="T22" fmla="*/ 107 w 110"/>
                      <a:gd name="T23" fmla="*/ 26 h 47"/>
                      <a:gd name="T24" fmla="*/ 99 w 110"/>
                      <a:gd name="T25" fmla="*/ 38 h 47"/>
                      <a:gd name="T26" fmla="*/ 89 w 110"/>
                      <a:gd name="T27" fmla="*/ 45 h 47"/>
                      <a:gd name="T28" fmla="*/ 75 w 110"/>
                      <a:gd name="T29" fmla="*/ 47 h 47"/>
                      <a:gd name="T30" fmla="*/ 59 w 110"/>
                      <a:gd name="T31" fmla="*/ 46 h 47"/>
                      <a:gd name="T32" fmla="*/ 48 w 110"/>
                      <a:gd name="T33" fmla="*/ 42 h 47"/>
                      <a:gd name="T34" fmla="*/ 36 w 110"/>
                      <a:gd name="T35" fmla="*/ 33 h 47"/>
                      <a:gd name="T36" fmla="*/ 29 w 110"/>
                      <a:gd name="T37" fmla="*/ 27 h 47"/>
                      <a:gd name="T38" fmla="*/ 16 w 110"/>
                      <a:gd name="T39" fmla="*/ 17 h 47"/>
                      <a:gd name="T40" fmla="*/ 0 w 110"/>
                      <a:gd name="T41" fmla="*/ 1 h 4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</a:cxnLst>
                    <a:rect l="0" t="0" r="r" b="b"/>
                    <a:pathLst>
                      <a:path w="110" h="47">
                        <a:moveTo>
                          <a:pt x="0" y="1"/>
                        </a:moveTo>
                        <a:lnTo>
                          <a:pt x="13" y="0"/>
                        </a:lnTo>
                        <a:lnTo>
                          <a:pt x="25" y="5"/>
                        </a:lnTo>
                        <a:lnTo>
                          <a:pt x="42" y="10"/>
                        </a:lnTo>
                        <a:lnTo>
                          <a:pt x="52" y="15"/>
                        </a:lnTo>
                        <a:lnTo>
                          <a:pt x="63" y="19"/>
                        </a:lnTo>
                        <a:lnTo>
                          <a:pt x="74" y="20"/>
                        </a:lnTo>
                        <a:lnTo>
                          <a:pt x="84" y="21"/>
                        </a:lnTo>
                        <a:lnTo>
                          <a:pt x="98" y="19"/>
                        </a:lnTo>
                        <a:lnTo>
                          <a:pt x="107" y="14"/>
                        </a:lnTo>
                        <a:lnTo>
                          <a:pt x="110" y="10"/>
                        </a:lnTo>
                        <a:lnTo>
                          <a:pt x="107" y="26"/>
                        </a:lnTo>
                        <a:lnTo>
                          <a:pt x="99" y="38"/>
                        </a:lnTo>
                        <a:lnTo>
                          <a:pt x="89" y="45"/>
                        </a:lnTo>
                        <a:lnTo>
                          <a:pt x="75" y="47"/>
                        </a:lnTo>
                        <a:lnTo>
                          <a:pt x="59" y="46"/>
                        </a:lnTo>
                        <a:lnTo>
                          <a:pt x="48" y="42"/>
                        </a:lnTo>
                        <a:lnTo>
                          <a:pt x="36" y="33"/>
                        </a:lnTo>
                        <a:lnTo>
                          <a:pt x="29" y="27"/>
                        </a:lnTo>
                        <a:lnTo>
                          <a:pt x="16" y="17"/>
                        </a:lnTo>
                        <a:lnTo>
                          <a:pt x="0" y="1"/>
                        </a:lnTo>
                        <a:close/>
                      </a:path>
                    </a:pathLst>
                  </a:custGeom>
                  <a:solidFill>
                    <a:srgbClr val="BF7F3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270" name="Freeform 268"/>
                  <p:cNvSpPr/>
                  <p:nvPr/>
                </p:nvSpPr>
                <p:spPr bwMode="auto">
                  <a:xfrm>
                    <a:off x="4890" y="2354"/>
                    <a:ext cx="16" cy="4"/>
                  </a:xfrm>
                  <a:custGeom>
                    <a:avLst/>
                    <a:gdLst>
                      <a:gd name="T0" fmla="*/ 0 w 94"/>
                      <a:gd name="T1" fmla="*/ 0 h 21"/>
                      <a:gd name="T2" fmla="*/ 13 w 94"/>
                      <a:gd name="T3" fmla="*/ 1 h 21"/>
                      <a:gd name="T4" fmla="*/ 32 w 94"/>
                      <a:gd name="T5" fmla="*/ 2 h 21"/>
                      <a:gd name="T6" fmla="*/ 45 w 94"/>
                      <a:gd name="T7" fmla="*/ 4 h 21"/>
                      <a:gd name="T8" fmla="*/ 57 w 94"/>
                      <a:gd name="T9" fmla="*/ 10 h 21"/>
                      <a:gd name="T10" fmla="*/ 64 w 94"/>
                      <a:gd name="T11" fmla="*/ 12 h 21"/>
                      <a:gd name="T12" fmla="*/ 80 w 94"/>
                      <a:gd name="T13" fmla="*/ 8 h 21"/>
                      <a:gd name="T14" fmla="*/ 92 w 94"/>
                      <a:gd name="T15" fmla="*/ 8 h 21"/>
                      <a:gd name="T16" fmla="*/ 94 w 94"/>
                      <a:gd name="T17" fmla="*/ 20 h 21"/>
                      <a:gd name="T18" fmla="*/ 82 w 94"/>
                      <a:gd name="T19" fmla="*/ 18 h 21"/>
                      <a:gd name="T20" fmla="*/ 72 w 94"/>
                      <a:gd name="T21" fmla="*/ 20 h 21"/>
                      <a:gd name="T22" fmla="*/ 61 w 94"/>
                      <a:gd name="T23" fmla="*/ 21 h 21"/>
                      <a:gd name="T24" fmla="*/ 54 w 94"/>
                      <a:gd name="T25" fmla="*/ 21 h 21"/>
                      <a:gd name="T26" fmla="*/ 45 w 94"/>
                      <a:gd name="T27" fmla="*/ 13 h 21"/>
                      <a:gd name="T28" fmla="*/ 38 w 94"/>
                      <a:gd name="T29" fmla="*/ 7 h 21"/>
                      <a:gd name="T30" fmla="*/ 27 w 94"/>
                      <a:gd name="T31" fmla="*/ 6 h 21"/>
                      <a:gd name="T32" fmla="*/ 12 w 94"/>
                      <a:gd name="T33" fmla="*/ 4 h 21"/>
                      <a:gd name="T34" fmla="*/ 0 w 94"/>
                      <a:gd name="T35" fmla="*/ 0 h 2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</a:cxnLst>
                    <a:rect l="0" t="0" r="r" b="b"/>
                    <a:pathLst>
                      <a:path w="94" h="21">
                        <a:moveTo>
                          <a:pt x="0" y="0"/>
                        </a:moveTo>
                        <a:lnTo>
                          <a:pt x="13" y="1"/>
                        </a:lnTo>
                        <a:lnTo>
                          <a:pt x="32" y="2"/>
                        </a:lnTo>
                        <a:lnTo>
                          <a:pt x="45" y="4"/>
                        </a:lnTo>
                        <a:lnTo>
                          <a:pt x="57" y="10"/>
                        </a:lnTo>
                        <a:lnTo>
                          <a:pt x="64" y="12"/>
                        </a:lnTo>
                        <a:lnTo>
                          <a:pt x="80" y="8"/>
                        </a:lnTo>
                        <a:lnTo>
                          <a:pt x="92" y="8"/>
                        </a:lnTo>
                        <a:lnTo>
                          <a:pt x="94" y="20"/>
                        </a:lnTo>
                        <a:lnTo>
                          <a:pt x="82" y="18"/>
                        </a:lnTo>
                        <a:lnTo>
                          <a:pt x="72" y="20"/>
                        </a:lnTo>
                        <a:lnTo>
                          <a:pt x="61" y="21"/>
                        </a:lnTo>
                        <a:lnTo>
                          <a:pt x="54" y="21"/>
                        </a:lnTo>
                        <a:lnTo>
                          <a:pt x="45" y="13"/>
                        </a:lnTo>
                        <a:lnTo>
                          <a:pt x="38" y="7"/>
                        </a:lnTo>
                        <a:lnTo>
                          <a:pt x="27" y="6"/>
                        </a:lnTo>
                        <a:lnTo>
                          <a:pt x="12" y="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grpSp>
                <p:nvGrpSpPr>
                  <p:cNvPr id="271" name="Group 269"/>
                  <p:cNvGrpSpPr/>
                  <p:nvPr/>
                </p:nvGrpSpPr>
                <p:grpSpPr bwMode="auto">
                  <a:xfrm>
                    <a:off x="4840" y="2242"/>
                    <a:ext cx="86" cy="92"/>
                    <a:chOff x="4840" y="2242"/>
                    <a:chExt cx="86" cy="92"/>
                  </a:xfrm>
                </p:grpSpPr>
                <p:sp>
                  <p:nvSpPr>
                    <p:cNvPr id="288" name="Freeform 270"/>
                    <p:cNvSpPr/>
                    <p:nvPr/>
                  </p:nvSpPr>
                  <p:spPr bwMode="auto">
                    <a:xfrm>
                      <a:off x="4840" y="2242"/>
                      <a:ext cx="86" cy="92"/>
                    </a:xfrm>
                    <a:custGeom>
                      <a:avLst/>
                      <a:gdLst>
                        <a:gd name="T0" fmla="*/ 21 w 518"/>
                        <a:gd name="T1" fmla="*/ 463 h 463"/>
                        <a:gd name="T2" fmla="*/ 6 w 518"/>
                        <a:gd name="T3" fmla="*/ 326 h 463"/>
                        <a:gd name="T4" fmla="*/ 0 w 518"/>
                        <a:gd name="T5" fmla="*/ 248 h 463"/>
                        <a:gd name="T6" fmla="*/ 5 w 518"/>
                        <a:gd name="T7" fmla="*/ 164 h 463"/>
                        <a:gd name="T8" fmla="*/ 21 w 518"/>
                        <a:gd name="T9" fmla="*/ 90 h 463"/>
                        <a:gd name="T10" fmla="*/ 57 w 518"/>
                        <a:gd name="T11" fmla="*/ 54 h 463"/>
                        <a:gd name="T12" fmla="*/ 118 w 518"/>
                        <a:gd name="T13" fmla="*/ 18 h 463"/>
                        <a:gd name="T14" fmla="*/ 159 w 518"/>
                        <a:gd name="T15" fmla="*/ 6 h 463"/>
                        <a:gd name="T16" fmla="*/ 188 w 518"/>
                        <a:gd name="T17" fmla="*/ 4 h 463"/>
                        <a:gd name="T18" fmla="*/ 270 w 518"/>
                        <a:gd name="T19" fmla="*/ 1 h 463"/>
                        <a:gd name="T20" fmla="*/ 323 w 518"/>
                        <a:gd name="T21" fmla="*/ 10 h 463"/>
                        <a:gd name="T22" fmla="*/ 374 w 518"/>
                        <a:gd name="T23" fmla="*/ 25 h 463"/>
                        <a:gd name="T24" fmla="*/ 421 w 518"/>
                        <a:gd name="T25" fmla="*/ 41 h 463"/>
                        <a:gd name="T26" fmla="*/ 472 w 518"/>
                        <a:gd name="T27" fmla="*/ 68 h 463"/>
                        <a:gd name="T28" fmla="*/ 508 w 518"/>
                        <a:gd name="T29" fmla="*/ 96 h 463"/>
                        <a:gd name="T30" fmla="*/ 518 w 518"/>
                        <a:gd name="T31" fmla="*/ 148 h 463"/>
                        <a:gd name="T32" fmla="*/ 509 w 518"/>
                        <a:gd name="T33" fmla="*/ 210 h 463"/>
                        <a:gd name="T34" fmla="*/ 469 w 518"/>
                        <a:gd name="T35" fmla="*/ 167 h 463"/>
                        <a:gd name="T36" fmla="*/ 411 w 518"/>
                        <a:gd name="T37" fmla="*/ 151 h 463"/>
                        <a:gd name="T38" fmla="*/ 385 w 518"/>
                        <a:gd name="T39" fmla="*/ 138 h 463"/>
                        <a:gd name="T40" fmla="*/ 356 w 518"/>
                        <a:gd name="T41" fmla="*/ 135 h 463"/>
                        <a:gd name="T42" fmla="*/ 328 w 518"/>
                        <a:gd name="T43" fmla="*/ 117 h 463"/>
                        <a:gd name="T44" fmla="*/ 299 w 518"/>
                        <a:gd name="T45" fmla="*/ 94 h 463"/>
                        <a:gd name="T46" fmla="*/ 242 w 518"/>
                        <a:gd name="T47" fmla="*/ 60 h 463"/>
                        <a:gd name="T48" fmla="*/ 261 w 518"/>
                        <a:gd name="T49" fmla="*/ 90 h 463"/>
                        <a:gd name="T50" fmla="*/ 262 w 518"/>
                        <a:gd name="T51" fmla="*/ 139 h 463"/>
                        <a:gd name="T52" fmla="*/ 255 w 518"/>
                        <a:gd name="T53" fmla="*/ 189 h 463"/>
                        <a:gd name="T54" fmla="*/ 235 w 518"/>
                        <a:gd name="T55" fmla="*/ 229 h 463"/>
                        <a:gd name="T56" fmla="*/ 208 w 518"/>
                        <a:gd name="T57" fmla="*/ 257 h 463"/>
                        <a:gd name="T58" fmla="*/ 183 w 518"/>
                        <a:gd name="T59" fmla="*/ 295 h 463"/>
                        <a:gd name="T60" fmla="*/ 174 w 518"/>
                        <a:gd name="T61" fmla="*/ 322 h 463"/>
                        <a:gd name="T62" fmla="*/ 161 w 518"/>
                        <a:gd name="T63" fmla="*/ 356 h 463"/>
                        <a:gd name="T64" fmla="*/ 161 w 518"/>
                        <a:gd name="T65" fmla="*/ 392 h 463"/>
                        <a:gd name="T66" fmla="*/ 123 w 518"/>
                        <a:gd name="T67" fmla="*/ 407 h 463"/>
                        <a:gd name="T68" fmla="*/ 114 w 518"/>
                        <a:gd name="T69" fmla="*/ 372 h 463"/>
                        <a:gd name="T70" fmla="*/ 110 w 518"/>
                        <a:gd name="T71" fmla="*/ 337 h 463"/>
                        <a:gd name="T72" fmla="*/ 101 w 518"/>
                        <a:gd name="T73" fmla="*/ 288 h 463"/>
                        <a:gd name="T74" fmla="*/ 85 w 518"/>
                        <a:gd name="T75" fmla="*/ 262 h 463"/>
                        <a:gd name="T76" fmla="*/ 59 w 518"/>
                        <a:gd name="T77" fmla="*/ 253 h 463"/>
                        <a:gd name="T78" fmla="*/ 35 w 518"/>
                        <a:gd name="T79" fmla="*/ 274 h 463"/>
                        <a:gd name="T80" fmla="*/ 24 w 518"/>
                        <a:gd name="T81" fmla="*/ 311 h 463"/>
                        <a:gd name="T82" fmla="*/ 21 w 518"/>
                        <a:gd name="T83" fmla="*/ 348 h 463"/>
                        <a:gd name="T84" fmla="*/ 29 w 518"/>
                        <a:gd name="T85" fmla="*/ 408 h 463"/>
                        <a:gd name="T86" fmla="*/ 46 w 518"/>
                        <a:gd name="T87" fmla="*/ 439 h 46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</a:cxnLst>
                      <a:rect l="0" t="0" r="r" b="b"/>
                      <a:pathLst>
                        <a:path w="518" h="463">
                          <a:moveTo>
                            <a:pt x="46" y="439"/>
                          </a:moveTo>
                          <a:lnTo>
                            <a:pt x="21" y="463"/>
                          </a:lnTo>
                          <a:lnTo>
                            <a:pt x="6" y="426"/>
                          </a:lnTo>
                          <a:lnTo>
                            <a:pt x="6" y="326"/>
                          </a:lnTo>
                          <a:lnTo>
                            <a:pt x="3" y="284"/>
                          </a:lnTo>
                          <a:lnTo>
                            <a:pt x="0" y="248"/>
                          </a:lnTo>
                          <a:lnTo>
                            <a:pt x="3" y="204"/>
                          </a:lnTo>
                          <a:lnTo>
                            <a:pt x="5" y="164"/>
                          </a:lnTo>
                          <a:lnTo>
                            <a:pt x="12" y="109"/>
                          </a:lnTo>
                          <a:lnTo>
                            <a:pt x="21" y="90"/>
                          </a:lnTo>
                          <a:lnTo>
                            <a:pt x="37" y="73"/>
                          </a:lnTo>
                          <a:lnTo>
                            <a:pt x="57" y="54"/>
                          </a:lnTo>
                          <a:lnTo>
                            <a:pt x="82" y="36"/>
                          </a:lnTo>
                          <a:lnTo>
                            <a:pt x="118" y="18"/>
                          </a:lnTo>
                          <a:lnTo>
                            <a:pt x="141" y="10"/>
                          </a:lnTo>
                          <a:lnTo>
                            <a:pt x="159" y="6"/>
                          </a:lnTo>
                          <a:lnTo>
                            <a:pt x="174" y="5"/>
                          </a:lnTo>
                          <a:lnTo>
                            <a:pt x="188" y="4"/>
                          </a:lnTo>
                          <a:lnTo>
                            <a:pt x="235" y="0"/>
                          </a:lnTo>
                          <a:lnTo>
                            <a:pt x="270" y="1"/>
                          </a:lnTo>
                          <a:lnTo>
                            <a:pt x="302" y="6"/>
                          </a:lnTo>
                          <a:lnTo>
                            <a:pt x="323" y="10"/>
                          </a:lnTo>
                          <a:lnTo>
                            <a:pt x="349" y="16"/>
                          </a:lnTo>
                          <a:lnTo>
                            <a:pt x="374" y="25"/>
                          </a:lnTo>
                          <a:lnTo>
                            <a:pt x="398" y="32"/>
                          </a:lnTo>
                          <a:lnTo>
                            <a:pt x="421" y="41"/>
                          </a:lnTo>
                          <a:lnTo>
                            <a:pt x="444" y="49"/>
                          </a:lnTo>
                          <a:lnTo>
                            <a:pt x="472" y="68"/>
                          </a:lnTo>
                          <a:lnTo>
                            <a:pt x="496" y="84"/>
                          </a:lnTo>
                          <a:lnTo>
                            <a:pt x="508" y="96"/>
                          </a:lnTo>
                          <a:lnTo>
                            <a:pt x="515" y="121"/>
                          </a:lnTo>
                          <a:lnTo>
                            <a:pt x="518" y="148"/>
                          </a:lnTo>
                          <a:lnTo>
                            <a:pt x="514" y="191"/>
                          </a:lnTo>
                          <a:lnTo>
                            <a:pt x="509" y="210"/>
                          </a:lnTo>
                          <a:lnTo>
                            <a:pt x="499" y="185"/>
                          </a:lnTo>
                          <a:lnTo>
                            <a:pt x="469" y="167"/>
                          </a:lnTo>
                          <a:lnTo>
                            <a:pt x="433" y="158"/>
                          </a:lnTo>
                          <a:lnTo>
                            <a:pt x="411" y="151"/>
                          </a:lnTo>
                          <a:lnTo>
                            <a:pt x="397" y="143"/>
                          </a:lnTo>
                          <a:lnTo>
                            <a:pt x="385" y="138"/>
                          </a:lnTo>
                          <a:lnTo>
                            <a:pt x="372" y="138"/>
                          </a:lnTo>
                          <a:lnTo>
                            <a:pt x="356" y="135"/>
                          </a:lnTo>
                          <a:lnTo>
                            <a:pt x="345" y="128"/>
                          </a:lnTo>
                          <a:lnTo>
                            <a:pt x="328" y="117"/>
                          </a:lnTo>
                          <a:lnTo>
                            <a:pt x="317" y="107"/>
                          </a:lnTo>
                          <a:lnTo>
                            <a:pt x="299" y="94"/>
                          </a:lnTo>
                          <a:lnTo>
                            <a:pt x="278" y="79"/>
                          </a:lnTo>
                          <a:lnTo>
                            <a:pt x="242" y="60"/>
                          </a:lnTo>
                          <a:lnTo>
                            <a:pt x="255" y="75"/>
                          </a:lnTo>
                          <a:lnTo>
                            <a:pt x="261" y="90"/>
                          </a:lnTo>
                          <a:lnTo>
                            <a:pt x="263" y="110"/>
                          </a:lnTo>
                          <a:lnTo>
                            <a:pt x="262" y="139"/>
                          </a:lnTo>
                          <a:lnTo>
                            <a:pt x="259" y="162"/>
                          </a:lnTo>
                          <a:lnTo>
                            <a:pt x="255" y="189"/>
                          </a:lnTo>
                          <a:lnTo>
                            <a:pt x="244" y="215"/>
                          </a:lnTo>
                          <a:lnTo>
                            <a:pt x="235" y="229"/>
                          </a:lnTo>
                          <a:lnTo>
                            <a:pt x="223" y="243"/>
                          </a:lnTo>
                          <a:lnTo>
                            <a:pt x="208" y="257"/>
                          </a:lnTo>
                          <a:lnTo>
                            <a:pt x="199" y="269"/>
                          </a:lnTo>
                          <a:lnTo>
                            <a:pt x="183" y="295"/>
                          </a:lnTo>
                          <a:lnTo>
                            <a:pt x="177" y="310"/>
                          </a:lnTo>
                          <a:lnTo>
                            <a:pt x="174" y="322"/>
                          </a:lnTo>
                          <a:lnTo>
                            <a:pt x="167" y="340"/>
                          </a:lnTo>
                          <a:lnTo>
                            <a:pt x="161" y="356"/>
                          </a:lnTo>
                          <a:lnTo>
                            <a:pt x="163" y="374"/>
                          </a:lnTo>
                          <a:lnTo>
                            <a:pt x="161" y="392"/>
                          </a:lnTo>
                          <a:lnTo>
                            <a:pt x="152" y="408"/>
                          </a:lnTo>
                          <a:lnTo>
                            <a:pt x="123" y="407"/>
                          </a:lnTo>
                          <a:lnTo>
                            <a:pt x="118" y="387"/>
                          </a:lnTo>
                          <a:lnTo>
                            <a:pt x="114" y="372"/>
                          </a:lnTo>
                          <a:lnTo>
                            <a:pt x="110" y="356"/>
                          </a:lnTo>
                          <a:lnTo>
                            <a:pt x="110" y="337"/>
                          </a:lnTo>
                          <a:lnTo>
                            <a:pt x="108" y="319"/>
                          </a:lnTo>
                          <a:lnTo>
                            <a:pt x="101" y="288"/>
                          </a:lnTo>
                          <a:lnTo>
                            <a:pt x="95" y="272"/>
                          </a:lnTo>
                          <a:lnTo>
                            <a:pt x="85" y="262"/>
                          </a:lnTo>
                          <a:lnTo>
                            <a:pt x="69" y="252"/>
                          </a:lnTo>
                          <a:lnTo>
                            <a:pt x="59" y="253"/>
                          </a:lnTo>
                          <a:lnTo>
                            <a:pt x="43" y="261"/>
                          </a:lnTo>
                          <a:lnTo>
                            <a:pt x="35" y="274"/>
                          </a:lnTo>
                          <a:lnTo>
                            <a:pt x="28" y="292"/>
                          </a:lnTo>
                          <a:lnTo>
                            <a:pt x="24" y="311"/>
                          </a:lnTo>
                          <a:lnTo>
                            <a:pt x="22" y="326"/>
                          </a:lnTo>
                          <a:lnTo>
                            <a:pt x="21" y="348"/>
                          </a:lnTo>
                          <a:lnTo>
                            <a:pt x="24" y="386"/>
                          </a:lnTo>
                          <a:lnTo>
                            <a:pt x="29" y="408"/>
                          </a:lnTo>
                          <a:lnTo>
                            <a:pt x="39" y="426"/>
                          </a:lnTo>
                          <a:lnTo>
                            <a:pt x="46" y="439"/>
                          </a:lnTo>
                          <a:close/>
                        </a:path>
                      </a:pathLst>
                    </a:custGeom>
                    <a:solidFill>
                      <a:srgbClr val="3F1F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89" name="Freeform 271"/>
                    <p:cNvSpPr/>
                    <p:nvPr/>
                  </p:nvSpPr>
                  <p:spPr bwMode="auto">
                    <a:xfrm>
                      <a:off x="4860" y="2245"/>
                      <a:ext cx="65" cy="67"/>
                    </a:xfrm>
                    <a:custGeom>
                      <a:avLst/>
                      <a:gdLst>
                        <a:gd name="T0" fmla="*/ 40 w 388"/>
                        <a:gd name="T1" fmla="*/ 309 h 335"/>
                        <a:gd name="T2" fmla="*/ 16 w 388"/>
                        <a:gd name="T3" fmla="*/ 335 h 335"/>
                        <a:gd name="T4" fmla="*/ 17 w 388"/>
                        <a:gd name="T5" fmla="*/ 298 h 335"/>
                        <a:gd name="T6" fmla="*/ 14 w 388"/>
                        <a:gd name="T7" fmla="*/ 278 h 335"/>
                        <a:gd name="T8" fmla="*/ 22 w 388"/>
                        <a:gd name="T9" fmla="*/ 214 h 335"/>
                        <a:gd name="T10" fmla="*/ 23 w 388"/>
                        <a:gd name="T11" fmla="*/ 184 h 335"/>
                        <a:gd name="T12" fmla="*/ 32 w 388"/>
                        <a:gd name="T13" fmla="*/ 188 h 335"/>
                        <a:gd name="T14" fmla="*/ 36 w 388"/>
                        <a:gd name="T15" fmla="*/ 210 h 335"/>
                        <a:gd name="T16" fmla="*/ 26 w 388"/>
                        <a:gd name="T17" fmla="*/ 241 h 335"/>
                        <a:gd name="T18" fmla="*/ 36 w 388"/>
                        <a:gd name="T19" fmla="*/ 255 h 335"/>
                        <a:gd name="T20" fmla="*/ 63 w 388"/>
                        <a:gd name="T21" fmla="*/ 257 h 335"/>
                        <a:gd name="T22" fmla="*/ 99 w 388"/>
                        <a:gd name="T23" fmla="*/ 194 h 335"/>
                        <a:gd name="T24" fmla="*/ 75 w 388"/>
                        <a:gd name="T25" fmla="*/ 193 h 335"/>
                        <a:gd name="T26" fmla="*/ 78 w 388"/>
                        <a:gd name="T27" fmla="*/ 179 h 335"/>
                        <a:gd name="T28" fmla="*/ 83 w 388"/>
                        <a:gd name="T29" fmla="*/ 190 h 335"/>
                        <a:gd name="T30" fmla="*/ 104 w 388"/>
                        <a:gd name="T31" fmla="*/ 158 h 335"/>
                        <a:gd name="T32" fmla="*/ 116 w 388"/>
                        <a:gd name="T33" fmla="*/ 126 h 335"/>
                        <a:gd name="T34" fmla="*/ 124 w 388"/>
                        <a:gd name="T35" fmla="*/ 121 h 335"/>
                        <a:gd name="T36" fmla="*/ 129 w 388"/>
                        <a:gd name="T37" fmla="*/ 80 h 335"/>
                        <a:gd name="T38" fmla="*/ 127 w 388"/>
                        <a:gd name="T39" fmla="*/ 55 h 335"/>
                        <a:gd name="T40" fmla="*/ 109 w 388"/>
                        <a:gd name="T41" fmla="*/ 41 h 335"/>
                        <a:gd name="T42" fmla="*/ 75 w 388"/>
                        <a:gd name="T43" fmla="*/ 26 h 335"/>
                        <a:gd name="T44" fmla="*/ 41 w 388"/>
                        <a:gd name="T45" fmla="*/ 9 h 335"/>
                        <a:gd name="T46" fmla="*/ 49 w 388"/>
                        <a:gd name="T47" fmla="*/ 0 h 335"/>
                        <a:gd name="T48" fmla="*/ 92 w 388"/>
                        <a:gd name="T49" fmla="*/ 5 h 335"/>
                        <a:gd name="T50" fmla="*/ 123 w 388"/>
                        <a:gd name="T51" fmla="*/ 11 h 335"/>
                        <a:gd name="T52" fmla="*/ 109 w 388"/>
                        <a:gd name="T53" fmla="*/ 16 h 335"/>
                        <a:gd name="T54" fmla="*/ 143 w 388"/>
                        <a:gd name="T55" fmla="*/ 16 h 335"/>
                        <a:gd name="T56" fmla="*/ 173 w 388"/>
                        <a:gd name="T57" fmla="*/ 21 h 335"/>
                        <a:gd name="T58" fmla="*/ 147 w 388"/>
                        <a:gd name="T59" fmla="*/ 28 h 335"/>
                        <a:gd name="T60" fmla="*/ 176 w 388"/>
                        <a:gd name="T61" fmla="*/ 30 h 335"/>
                        <a:gd name="T62" fmla="*/ 133 w 388"/>
                        <a:gd name="T63" fmla="*/ 36 h 335"/>
                        <a:gd name="T64" fmla="*/ 165 w 388"/>
                        <a:gd name="T65" fmla="*/ 47 h 335"/>
                        <a:gd name="T66" fmla="*/ 218 w 388"/>
                        <a:gd name="T67" fmla="*/ 59 h 335"/>
                        <a:gd name="T68" fmla="*/ 204 w 388"/>
                        <a:gd name="T69" fmla="*/ 41 h 335"/>
                        <a:gd name="T70" fmla="*/ 246 w 388"/>
                        <a:gd name="T71" fmla="*/ 52 h 335"/>
                        <a:gd name="T72" fmla="*/ 276 w 388"/>
                        <a:gd name="T73" fmla="*/ 67 h 335"/>
                        <a:gd name="T74" fmla="*/ 312 w 388"/>
                        <a:gd name="T75" fmla="*/ 93 h 335"/>
                        <a:gd name="T76" fmla="*/ 314 w 388"/>
                        <a:gd name="T77" fmla="*/ 100 h 335"/>
                        <a:gd name="T78" fmla="*/ 350 w 388"/>
                        <a:gd name="T79" fmla="*/ 122 h 335"/>
                        <a:gd name="T80" fmla="*/ 375 w 388"/>
                        <a:gd name="T81" fmla="*/ 149 h 335"/>
                        <a:gd name="T82" fmla="*/ 388 w 388"/>
                        <a:gd name="T83" fmla="*/ 194 h 335"/>
                        <a:gd name="T84" fmla="*/ 348 w 388"/>
                        <a:gd name="T85" fmla="*/ 151 h 335"/>
                        <a:gd name="T86" fmla="*/ 289 w 388"/>
                        <a:gd name="T87" fmla="*/ 135 h 335"/>
                        <a:gd name="T88" fmla="*/ 264 w 388"/>
                        <a:gd name="T89" fmla="*/ 122 h 335"/>
                        <a:gd name="T90" fmla="*/ 235 w 388"/>
                        <a:gd name="T91" fmla="*/ 119 h 335"/>
                        <a:gd name="T92" fmla="*/ 207 w 388"/>
                        <a:gd name="T93" fmla="*/ 101 h 335"/>
                        <a:gd name="T94" fmla="*/ 178 w 388"/>
                        <a:gd name="T95" fmla="*/ 78 h 335"/>
                        <a:gd name="T96" fmla="*/ 121 w 388"/>
                        <a:gd name="T97" fmla="*/ 44 h 335"/>
                        <a:gd name="T98" fmla="*/ 140 w 388"/>
                        <a:gd name="T99" fmla="*/ 74 h 335"/>
                        <a:gd name="T100" fmla="*/ 141 w 388"/>
                        <a:gd name="T101" fmla="*/ 123 h 335"/>
                        <a:gd name="T102" fmla="*/ 134 w 388"/>
                        <a:gd name="T103" fmla="*/ 173 h 335"/>
                        <a:gd name="T104" fmla="*/ 114 w 388"/>
                        <a:gd name="T105" fmla="*/ 213 h 335"/>
                        <a:gd name="T106" fmla="*/ 86 w 388"/>
                        <a:gd name="T107" fmla="*/ 241 h 335"/>
                        <a:gd name="T108" fmla="*/ 61 w 388"/>
                        <a:gd name="T109" fmla="*/ 280 h 335"/>
                        <a:gd name="T110" fmla="*/ 51 w 388"/>
                        <a:gd name="T111" fmla="*/ 308 h 33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</a:cxnLst>
                      <a:rect l="0" t="0" r="r" b="b"/>
                      <a:pathLst>
                        <a:path w="388" h="335">
                          <a:moveTo>
                            <a:pt x="50" y="297"/>
                          </a:moveTo>
                          <a:lnTo>
                            <a:pt x="40" y="309"/>
                          </a:lnTo>
                          <a:lnTo>
                            <a:pt x="46" y="285"/>
                          </a:lnTo>
                          <a:lnTo>
                            <a:pt x="16" y="335"/>
                          </a:lnTo>
                          <a:lnTo>
                            <a:pt x="38" y="277"/>
                          </a:lnTo>
                          <a:lnTo>
                            <a:pt x="17" y="298"/>
                          </a:lnTo>
                          <a:lnTo>
                            <a:pt x="25" y="257"/>
                          </a:lnTo>
                          <a:lnTo>
                            <a:pt x="14" y="278"/>
                          </a:lnTo>
                          <a:lnTo>
                            <a:pt x="17" y="241"/>
                          </a:lnTo>
                          <a:lnTo>
                            <a:pt x="22" y="214"/>
                          </a:lnTo>
                          <a:lnTo>
                            <a:pt x="0" y="247"/>
                          </a:lnTo>
                          <a:lnTo>
                            <a:pt x="23" y="184"/>
                          </a:lnTo>
                          <a:lnTo>
                            <a:pt x="54" y="152"/>
                          </a:lnTo>
                          <a:lnTo>
                            <a:pt x="32" y="188"/>
                          </a:lnTo>
                          <a:lnTo>
                            <a:pt x="71" y="148"/>
                          </a:lnTo>
                          <a:lnTo>
                            <a:pt x="36" y="210"/>
                          </a:lnTo>
                          <a:lnTo>
                            <a:pt x="63" y="187"/>
                          </a:lnTo>
                          <a:lnTo>
                            <a:pt x="26" y="241"/>
                          </a:lnTo>
                          <a:lnTo>
                            <a:pt x="62" y="211"/>
                          </a:lnTo>
                          <a:lnTo>
                            <a:pt x="36" y="255"/>
                          </a:lnTo>
                          <a:lnTo>
                            <a:pt x="71" y="221"/>
                          </a:lnTo>
                          <a:lnTo>
                            <a:pt x="63" y="257"/>
                          </a:lnTo>
                          <a:lnTo>
                            <a:pt x="84" y="220"/>
                          </a:lnTo>
                          <a:lnTo>
                            <a:pt x="99" y="194"/>
                          </a:lnTo>
                          <a:lnTo>
                            <a:pt x="75" y="211"/>
                          </a:lnTo>
                          <a:lnTo>
                            <a:pt x="75" y="193"/>
                          </a:lnTo>
                          <a:lnTo>
                            <a:pt x="56" y="208"/>
                          </a:lnTo>
                          <a:lnTo>
                            <a:pt x="78" y="179"/>
                          </a:lnTo>
                          <a:lnTo>
                            <a:pt x="87" y="170"/>
                          </a:lnTo>
                          <a:lnTo>
                            <a:pt x="83" y="190"/>
                          </a:lnTo>
                          <a:lnTo>
                            <a:pt x="94" y="172"/>
                          </a:lnTo>
                          <a:lnTo>
                            <a:pt x="104" y="158"/>
                          </a:lnTo>
                          <a:lnTo>
                            <a:pt x="111" y="138"/>
                          </a:lnTo>
                          <a:lnTo>
                            <a:pt x="116" y="126"/>
                          </a:lnTo>
                          <a:lnTo>
                            <a:pt x="122" y="105"/>
                          </a:lnTo>
                          <a:lnTo>
                            <a:pt x="124" y="121"/>
                          </a:lnTo>
                          <a:lnTo>
                            <a:pt x="129" y="96"/>
                          </a:lnTo>
                          <a:lnTo>
                            <a:pt x="129" y="80"/>
                          </a:lnTo>
                          <a:lnTo>
                            <a:pt x="128" y="68"/>
                          </a:lnTo>
                          <a:lnTo>
                            <a:pt x="127" y="55"/>
                          </a:lnTo>
                          <a:lnTo>
                            <a:pt x="118" y="48"/>
                          </a:lnTo>
                          <a:lnTo>
                            <a:pt x="109" y="41"/>
                          </a:lnTo>
                          <a:lnTo>
                            <a:pt x="92" y="32"/>
                          </a:lnTo>
                          <a:lnTo>
                            <a:pt x="75" y="26"/>
                          </a:lnTo>
                          <a:lnTo>
                            <a:pt x="60" y="20"/>
                          </a:lnTo>
                          <a:lnTo>
                            <a:pt x="41" y="9"/>
                          </a:lnTo>
                          <a:lnTo>
                            <a:pt x="63" y="16"/>
                          </a:lnTo>
                          <a:lnTo>
                            <a:pt x="49" y="0"/>
                          </a:lnTo>
                          <a:lnTo>
                            <a:pt x="65" y="2"/>
                          </a:lnTo>
                          <a:lnTo>
                            <a:pt x="92" y="5"/>
                          </a:lnTo>
                          <a:lnTo>
                            <a:pt x="106" y="6"/>
                          </a:lnTo>
                          <a:lnTo>
                            <a:pt x="123" y="11"/>
                          </a:lnTo>
                          <a:lnTo>
                            <a:pt x="100" y="15"/>
                          </a:lnTo>
                          <a:lnTo>
                            <a:pt x="109" y="16"/>
                          </a:lnTo>
                          <a:lnTo>
                            <a:pt x="122" y="16"/>
                          </a:lnTo>
                          <a:lnTo>
                            <a:pt x="143" y="16"/>
                          </a:lnTo>
                          <a:lnTo>
                            <a:pt x="160" y="16"/>
                          </a:lnTo>
                          <a:lnTo>
                            <a:pt x="173" y="21"/>
                          </a:lnTo>
                          <a:lnTo>
                            <a:pt x="133" y="25"/>
                          </a:lnTo>
                          <a:lnTo>
                            <a:pt x="147" y="28"/>
                          </a:lnTo>
                          <a:lnTo>
                            <a:pt x="161" y="30"/>
                          </a:lnTo>
                          <a:lnTo>
                            <a:pt x="176" y="30"/>
                          </a:lnTo>
                          <a:lnTo>
                            <a:pt x="147" y="34"/>
                          </a:lnTo>
                          <a:lnTo>
                            <a:pt x="133" y="36"/>
                          </a:lnTo>
                          <a:lnTo>
                            <a:pt x="152" y="43"/>
                          </a:lnTo>
                          <a:lnTo>
                            <a:pt x="165" y="47"/>
                          </a:lnTo>
                          <a:lnTo>
                            <a:pt x="179" y="51"/>
                          </a:lnTo>
                          <a:lnTo>
                            <a:pt x="218" y="59"/>
                          </a:lnTo>
                          <a:lnTo>
                            <a:pt x="177" y="39"/>
                          </a:lnTo>
                          <a:lnTo>
                            <a:pt x="204" y="41"/>
                          </a:lnTo>
                          <a:lnTo>
                            <a:pt x="226" y="46"/>
                          </a:lnTo>
                          <a:lnTo>
                            <a:pt x="246" y="52"/>
                          </a:lnTo>
                          <a:lnTo>
                            <a:pt x="264" y="60"/>
                          </a:lnTo>
                          <a:lnTo>
                            <a:pt x="276" y="67"/>
                          </a:lnTo>
                          <a:lnTo>
                            <a:pt x="294" y="78"/>
                          </a:lnTo>
                          <a:lnTo>
                            <a:pt x="312" y="93"/>
                          </a:lnTo>
                          <a:lnTo>
                            <a:pt x="269" y="81"/>
                          </a:lnTo>
                          <a:lnTo>
                            <a:pt x="314" y="100"/>
                          </a:lnTo>
                          <a:lnTo>
                            <a:pt x="336" y="111"/>
                          </a:lnTo>
                          <a:lnTo>
                            <a:pt x="350" y="122"/>
                          </a:lnTo>
                          <a:lnTo>
                            <a:pt x="363" y="135"/>
                          </a:lnTo>
                          <a:lnTo>
                            <a:pt x="375" y="149"/>
                          </a:lnTo>
                          <a:lnTo>
                            <a:pt x="382" y="166"/>
                          </a:lnTo>
                          <a:lnTo>
                            <a:pt x="388" y="194"/>
                          </a:lnTo>
                          <a:lnTo>
                            <a:pt x="378" y="169"/>
                          </a:lnTo>
                          <a:lnTo>
                            <a:pt x="348" y="151"/>
                          </a:lnTo>
                          <a:lnTo>
                            <a:pt x="312" y="142"/>
                          </a:lnTo>
                          <a:lnTo>
                            <a:pt x="289" y="135"/>
                          </a:lnTo>
                          <a:lnTo>
                            <a:pt x="275" y="127"/>
                          </a:lnTo>
                          <a:lnTo>
                            <a:pt x="264" y="122"/>
                          </a:lnTo>
                          <a:lnTo>
                            <a:pt x="251" y="122"/>
                          </a:lnTo>
                          <a:lnTo>
                            <a:pt x="235" y="119"/>
                          </a:lnTo>
                          <a:lnTo>
                            <a:pt x="224" y="112"/>
                          </a:lnTo>
                          <a:lnTo>
                            <a:pt x="207" y="101"/>
                          </a:lnTo>
                          <a:lnTo>
                            <a:pt x="196" y="93"/>
                          </a:lnTo>
                          <a:lnTo>
                            <a:pt x="178" y="78"/>
                          </a:lnTo>
                          <a:lnTo>
                            <a:pt x="157" y="63"/>
                          </a:lnTo>
                          <a:lnTo>
                            <a:pt x="121" y="44"/>
                          </a:lnTo>
                          <a:lnTo>
                            <a:pt x="134" y="59"/>
                          </a:lnTo>
                          <a:lnTo>
                            <a:pt x="140" y="74"/>
                          </a:lnTo>
                          <a:lnTo>
                            <a:pt x="142" y="95"/>
                          </a:lnTo>
                          <a:lnTo>
                            <a:pt x="141" y="123"/>
                          </a:lnTo>
                          <a:lnTo>
                            <a:pt x="138" y="146"/>
                          </a:lnTo>
                          <a:lnTo>
                            <a:pt x="134" y="173"/>
                          </a:lnTo>
                          <a:lnTo>
                            <a:pt x="123" y="199"/>
                          </a:lnTo>
                          <a:lnTo>
                            <a:pt x="114" y="213"/>
                          </a:lnTo>
                          <a:lnTo>
                            <a:pt x="102" y="227"/>
                          </a:lnTo>
                          <a:lnTo>
                            <a:pt x="86" y="241"/>
                          </a:lnTo>
                          <a:lnTo>
                            <a:pt x="77" y="255"/>
                          </a:lnTo>
                          <a:lnTo>
                            <a:pt x="61" y="280"/>
                          </a:lnTo>
                          <a:lnTo>
                            <a:pt x="55" y="295"/>
                          </a:lnTo>
                          <a:lnTo>
                            <a:pt x="51" y="308"/>
                          </a:lnTo>
                          <a:lnTo>
                            <a:pt x="50" y="297"/>
                          </a:lnTo>
                          <a:close/>
                        </a:path>
                      </a:pathLst>
                    </a:custGeom>
                    <a:solidFill>
                      <a:srgbClr val="7F3F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272" name="Group 272"/>
                  <p:cNvGrpSpPr/>
                  <p:nvPr/>
                </p:nvGrpSpPr>
                <p:grpSpPr bwMode="auto">
                  <a:xfrm>
                    <a:off x="4845" y="2298"/>
                    <a:ext cx="35" cy="77"/>
                    <a:chOff x="4845" y="2298"/>
                    <a:chExt cx="35" cy="77"/>
                  </a:xfrm>
                </p:grpSpPr>
                <p:sp>
                  <p:nvSpPr>
                    <p:cNvPr id="286" name="Freeform 273"/>
                    <p:cNvSpPr/>
                    <p:nvPr/>
                  </p:nvSpPr>
                  <p:spPr bwMode="auto">
                    <a:xfrm>
                      <a:off x="4848" y="2330"/>
                      <a:ext cx="32" cy="45"/>
                    </a:xfrm>
                    <a:custGeom>
                      <a:avLst/>
                      <a:gdLst>
                        <a:gd name="T0" fmla="*/ 0 w 194"/>
                        <a:gd name="T1" fmla="*/ 0 h 223"/>
                        <a:gd name="T2" fmla="*/ 11 w 194"/>
                        <a:gd name="T3" fmla="*/ 13 h 223"/>
                        <a:gd name="T4" fmla="*/ 20 w 194"/>
                        <a:gd name="T5" fmla="*/ 18 h 223"/>
                        <a:gd name="T6" fmla="*/ 31 w 194"/>
                        <a:gd name="T7" fmla="*/ 19 h 223"/>
                        <a:gd name="T8" fmla="*/ 41 w 194"/>
                        <a:gd name="T9" fmla="*/ 12 h 223"/>
                        <a:gd name="T10" fmla="*/ 42 w 194"/>
                        <a:gd name="T11" fmla="*/ 0 h 223"/>
                        <a:gd name="T12" fmla="*/ 43 w 194"/>
                        <a:gd name="T13" fmla="*/ 24 h 223"/>
                        <a:gd name="T14" fmla="*/ 51 w 194"/>
                        <a:gd name="T15" fmla="*/ 37 h 223"/>
                        <a:gd name="T16" fmla="*/ 58 w 194"/>
                        <a:gd name="T17" fmla="*/ 50 h 223"/>
                        <a:gd name="T18" fmla="*/ 69 w 194"/>
                        <a:gd name="T19" fmla="*/ 70 h 223"/>
                        <a:gd name="T20" fmla="*/ 76 w 194"/>
                        <a:gd name="T21" fmla="*/ 84 h 223"/>
                        <a:gd name="T22" fmla="*/ 82 w 194"/>
                        <a:gd name="T23" fmla="*/ 96 h 223"/>
                        <a:gd name="T24" fmla="*/ 91 w 194"/>
                        <a:gd name="T25" fmla="*/ 108 h 223"/>
                        <a:gd name="T26" fmla="*/ 108 w 194"/>
                        <a:gd name="T27" fmla="*/ 124 h 223"/>
                        <a:gd name="T28" fmla="*/ 119 w 194"/>
                        <a:gd name="T29" fmla="*/ 136 h 223"/>
                        <a:gd name="T30" fmla="*/ 128 w 194"/>
                        <a:gd name="T31" fmla="*/ 145 h 223"/>
                        <a:gd name="T32" fmla="*/ 133 w 194"/>
                        <a:gd name="T33" fmla="*/ 151 h 223"/>
                        <a:gd name="T34" fmla="*/ 139 w 194"/>
                        <a:gd name="T35" fmla="*/ 166 h 223"/>
                        <a:gd name="T36" fmla="*/ 146 w 194"/>
                        <a:gd name="T37" fmla="*/ 178 h 223"/>
                        <a:gd name="T38" fmla="*/ 156 w 194"/>
                        <a:gd name="T39" fmla="*/ 191 h 223"/>
                        <a:gd name="T40" fmla="*/ 163 w 194"/>
                        <a:gd name="T41" fmla="*/ 203 h 223"/>
                        <a:gd name="T42" fmla="*/ 172 w 194"/>
                        <a:gd name="T43" fmla="*/ 212 h 223"/>
                        <a:gd name="T44" fmla="*/ 182 w 194"/>
                        <a:gd name="T45" fmla="*/ 218 h 223"/>
                        <a:gd name="T46" fmla="*/ 194 w 194"/>
                        <a:gd name="T47" fmla="*/ 223 h 223"/>
                        <a:gd name="T48" fmla="*/ 176 w 194"/>
                        <a:gd name="T49" fmla="*/ 222 h 223"/>
                        <a:gd name="T50" fmla="*/ 159 w 194"/>
                        <a:gd name="T51" fmla="*/ 219 h 223"/>
                        <a:gd name="T52" fmla="*/ 149 w 194"/>
                        <a:gd name="T53" fmla="*/ 214 h 223"/>
                        <a:gd name="T54" fmla="*/ 137 w 194"/>
                        <a:gd name="T55" fmla="*/ 204 h 223"/>
                        <a:gd name="T56" fmla="*/ 129 w 194"/>
                        <a:gd name="T57" fmla="*/ 196 h 223"/>
                        <a:gd name="T58" fmla="*/ 123 w 194"/>
                        <a:gd name="T59" fmla="*/ 188 h 223"/>
                        <a:gd name="T60" fmla="*/ 116 w 194"/>
                        <a:gd name="T61" fmla="*/ 181 h 223"/>
                        <a:gd name="T62" fmla="*/ 113 w 194"/>
                        <a:gd name="T63" fmla="*/ 181 h 223"/>
                        <a:gd name="T64" fmla="*/ 106 w 194"/>
                        <a:gd name="T65" fmla="*/ 178 h 223"/>
                        <a:gd name="T66" fmla="*/ 94 w 194"/>
                        <a:gd name="T67" fmla="*/ 171 h 223"/>
                        <a:gd name="T68" fmla="*/ 83 w 194"/>
                        <a:gd name="T69" fmla="*/ 160 h 223"/>
                        <a:gd name="T70" fmla="*/ 69 w 194"/>
                        <a:gd name="T71" fmla="*/ 145 h 223"/>
                        <a:gd name="T72" fmla="*/ 54 w 194"/>
                        <a:gd name="T73" fmla="*/ 125 h 223"/>
                        <a:gd name="T74" fmla="*/ 42 w 194"/>
                        <a:gd name="T75" fmla="*/ 109 h 223"/>
                        <a:gd name="T76" fmla="*/ 31 w 194"/>
                        <a:gd name="T77" fmla="*/ 92 h 223"/>
                        <a:gd name="T78" fmla="*/ 22 w 194"/>
                        <a:gd name="T79" fmla="*/ 76 h 223"/>
                        <a:gd name="T80" fmla="*/ 17 w 194"/>
                        <a:gd name="T81" fmla="*/ 62 h 223"/>
                        <a:gd name="T82" fmla="*/ 14 w 194"/>
                        <a:gd name="T83" fmla="*/ 46 h 223"/>
                        <a:gd name="T84" fmla="*/ 9 w 194"/>
                        <a:gd name="T85" fmla="*/ 28 h 223"/>
                        <a:gd name="T86" fmla="*/ 0 w 194"/>
                        <a:gd name="T87" fmla="*/ 0 h 22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</a:cxnLst>
                      <a:rect l="0" t="0" r="r" b="b"/>
                      <a:pathLst>
                        <a:path w="194" h="223">
                          <a:moveTo>
                            <a:pt x="0" y="0"/>
                          </a:moveTo>
                          <a:lnTo>
                            <a:pt x="11" y="13"/>
                          </a:lnTo>
                          <a:lnTo>
                            <a:pt x="20" y="18"/>
                          </a:lnTo>
                          <a:lnTo>
                            <a:pt x="31" y="19"/>
                          </a:lnTo>
                          <a:lnTo>
                            <a:pt x="41" y="12"/>
                          </a:lnTo>
                          <a:lnTo>
                            <a:pt x="42" y="0"/>
                          </a:lnTo>
                          <a:lnTo>
                            <a:pt x="43" y="24"/>
                          </a:lnTo>
                          <a:lnTo>
                            <a:pt x="51" y="37"/>
                          </a:lnTo>
                          <a:lnTo>
                            <a:pt x="58" y="50"/>
                          </a:lnTo>
                          <a:lnTo>
                            <a:pt x="69" y="70"/>
                          </a:lnTo>
                          <a:lnTo>
                            <a:pt x="76" y="84"/>
                          </a:lnTo>
                          <a:lnTo>
                            <a:pt x="82" y="96"/>
                          </a:lnTo>
                          <a:lnTo>
                            <a:pt x="91" y="108"/>
                          </a:lnTo>
                          <a:lnTo>
                            <a:pt x="108" y="124"/>
                          </a:lnTo>
                          <a:lnTo>
                            <a:pt x="119" y="136"/>
                          </a:lnTo>
                          <a:lnTo>
                            <a:pt x="128" y="145"/>
                          </a:lnTo>
                          <a:lnTo>
                            <a:pt x="133" y="151"/>
                          </a:lnTo>
                          <a:lnTo>
                            <a:pt x="139" y="166"/>
                          </a:lnTo>
                          <a:lnTo>
                            <a:pt x="146" y="178"/>
                          </a:lnTo>
                          <a:lnTo>
                            <a:pt x="156" y="191"/>
                          </a:lnTo>
                          <a:lnTo>
                            <a:pt x="163" y="203"/>
                          </a:lnTo>
                          <a:lnTo>
                            <a:pt x="172" y="212"/>
                          </a:lnTo>
                          <a:lnTo>
                            <a:pt x="182" y="218"/>
                          </a:lnTo>
                          <a:lnTo>
                            <a:pt x="194" y="223"/>
                          </a:lnTo>
                          <a:lnTo>
                            <a:pt x="176" y="222"/>
                          </a:lnTo>
                          <a:lnTo>
                            <a:pt x="159" y="219"/>
                          </a:lnTo>
                          <a:lnTo>
                            <a:pt x="149" y="214"/>
                          </a:lnTo>
                          <a:lnTo>
                            <a:pt x="137" y="204"/>
                          </a:lnTo>
                          <a:lnTo>
                            <a:pt x="129" y="196"/>
                          </a:lnTo>
                          <a:lnTo>
                            <a:pt x="123" y="188"/>
                          </a:lnTo>
                          <a:lnTo>
                            <a:pt x="116" y="181"/>
                          </a:lnTo>
                          <a:lnTo>
                            <a:pt x="113" y="181"/>
                          </a:lnTo>
                          <a:lnTo>
                            <a:pt x="106" y="178"/>
                          </a:lnTo>
                          <a:lnTo>
                            <a:pt x="94" y="171"/>
                          </a:lnTo>
                          <a:lnTo>
                            <a:pt x="83" y="160"/>
                          </a:lnTo>
                          <a:lnTo>
                            <a:pt x="69" y="145"/>
                          </a:lnTo>
                          <a:lnTo>
                            <a:pt x="54" y="125"/>
                          </a:lnTo>
                          <a:lnTo>
                            <a:pt x="42" y="109"/>
                          </a:lnTo>
                          <a:lnTo>
                            <a:pt x="31" y="92"/>
                          </a:lnTo>
                          <a:lnTo>
                            <a:pt x="22" y="76"/>
                          </a:lnTo>
                          <a:lnTo>
                            <a:pt x="17" y="62"/>
                          </a:lnTo>
                          <a:lnTo>
                            <a:pt x="14" y="46"/>
                          </a:lnTo>
                          <a:lnTo>
                            <a:pt x="9" y="2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5F3F1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87" name="Freeform 274"/>
                    <p:cNvSpPr/>
                    <p:nvPr/>
                  </p:nvSpPr>
                  <p:spPr bwMode="auto">
                    <a:xfrm>
                      <a:off x="4845" y="2298"/>
                      <a:ext cx="9" cy="28"/>
                    </a:xfrm>
                    <a:custGeom>
                      <a:avLst/>
                      <a:gdLst>
                        <a:gd name="T0" fmla="*/ 22 w 59"/>
                        <a:gd name="T1" fmla="*/ 130 h 140"/>
                        <a:gd name="T2" fmla="*/ 13 w 59"/>
                        <a:gd name="T3" fmla="*/ 119 h 140"/>
                        <a:gd name="T4" fmla="*/ 11 w 59"/>
                        <a:gd name="T5" fmla="*/ 109 h 140"/>
                        <a:gd name="T6" fmla="*/ 8 w 59"/>
                        <a:gd name="T7" fmla="*/ 101 h 140"/>
                        <a:gd name="T8" fmla="*/ 8 w 59"/>
                        <a:gd name="T9" fmla="*/ 91 h 140"/>
                        <a:gd name="T10" fmla="*/ 12 w 59"/>
                        <a:gd name="T11" fmla="*/ 84 h 140"/>
                        <a:gd name="T12" fmla="*/ 12 w 59"/>
                        <a:gd name="T13" fmla="*/ 78 h 140"/>
                        <a:gd name="T14" fmla="*/ 8 w 59"/>
                        <a:gd name="T15" fmla="*/ 73 h 140"/>
                        <a:gd name="T16" fmla="*/ 11 w 59"/>
                        <a:gd name="T17" fmla="*/ 67 h 140"/>
                        <a:gd name="T18" fmla="*/ 13 w 59"/>
                        <a:gd name="T19" fmla="*/ 63 h 140"/>
                        <a:gd name="T20" fmla="*/ 13 w 59"/>
                        <a:gd name="T21" fmla="*/ 56 h 140"/>
                        <a:gd name="T22" fmla="*/ 13 w 59"/>
                        <a:gd name="T23" fmla="*/ 45 h 140"/>
                        <a:gd name="T24" fmla="*/ 18 w 59"/>
                        <a:gd name="T25" fmla="*/ 38 h 140"/>
                        <a:gd name="T26" fmla="*/ 22 w 59"/>
                        <a:gd name="T27" fmla="*/ 29 h 140"/>
                        <a:gd name="T28" fmla="*/ 24 w 59"/>
                        <a:gd name="T29" fmla="*/ 21 h 140"/>
                        <a:gd name="T30" fmla="*/ 26 w 59"/>
                        <a:gd name="T31" fmla="*/ 16 h 140"/>
                        <a:gd name="T32" fmla="*/ 31 w 59"/>
                        <a:gd name="T33" fmla="*/ 12 h 140"/>
                        <a:gd name="T34" fmla="*/ 37 w 59"/>
                        <a:gd name="T35" fmla="*/ 10 h 140"/>
                        <a:gd name="T36" fmla="*/ 45 w 59"/>
                        <a:gd name="T37" fmla="*/ 15 h 140"/>
                        <a:gd name="T38" fmla="*/ 50 w 59"/>
                        <a:gd name="T39" fmla="*/ 23 h 140"/>
                        <a:gd name="T40" fmla="*/ 54 w 59"/>
                        <a:gd name="T41" fmla="*/ 34 h 140"/>
                        <a:gd name="T42" fmla="*/ 55 w 59"/>
                        <a:gd name="T43" fmla="*/ 47 h 140"/>
                        <a:gd name="T44" fmla="*/ 54 w 59"/>
                        <a:gd name="T45" fmla="*/ 60 h 140"/>
                        <a:gd name="T46" fmla="*/ 47 w 59"/>
                        <a:gd name="T47" fmla="*/ 65 h 140"/>
                        <a:gd name="T48" fmla="*/ 38 w 59"/>
                        <a:gd name="T49" fmla="*/ 68 h 140"/>
                        <a:gd name="T50" fmla="*/ 34 w 59"/>
                        <a:gd name="T51" fmla="*/ 71 h 140"/>
                        <a:gd name="T52" fmla="*/ 28 w 59"/>
                        <a:gd name="T53" fmla="*/ 78 h 140"/>
                        <a:gd name="T54" fmla="*/ 25 w 59"/>
                        <a:gd name="T55" fmla="*/ 84 h 140"/>
                        <a:gd name="T56" fmla="*/ 22 w 59"/>
                        <a:gd name="T57" fmla="*/ 96 h 140"/>
                        <a:gd name="T58" fmla="*/ 23 w 59"/>
                        <a:gd name="T59" fmla="*/ 110 h 140"/>
                        <a:gd name="T60" fmla="*/ 24 w 59"/>
                        <a:gd name="T61" fmla="*/ 118 h 140"/>
                        <a:gd name="T62" fmla="*/ 30 w 59"/>
                        <a:gd name="T63" fmla="*/ 125 h 140"/>
                        <a:gd name="T64" fmla="*/ 38 w 59"/>
                        <a:gd name="T65" fmla="*/ 123 h 140"/>
                        <a:gd name="T66" fmla="*/ 38 w 59"/>
                        <a:gd name="T67" fmla="*/ 94 h 140"/>
                        <a:gd name="T68" fmla="*/ 42 w 59"/>
                        <a:gd name="T69" fmla="*/ 86 h 140"/>
                        <a:gd name="T70" fmla="*/ 51 w 59"/>
                        <a:gd name="T71" fmla="*/ 82 h 140"/>
                        <a:gd name="T72" fmla="*/ 57 w 59"/>
                        <a:gd name="T73" fmla="*/ 73 h 140"/>
                        <a:gd name="T74" fmla="*/ 59 w 59"/>
                        <a:gd name="T75" fmla="*/ 63 h 140"/>
                        <a:gd name="T76" fmla="*/ 59 w 59"/>
                        <a:gd name="T77" fmla="*/ 50 h 140"/>
                        <a:gd name="T78" fmla="*/ 56 w 59"/>
                        <a:gd name="T79" fmla="*/ 29 h 140"/>
                        <a:gd name="T80" fmla="*/ 49 w 59"/>
                        <a:gd name="T81" fmla="*/ 15 h 140"/>
                        <a:gd name="T82" fmla="*/ 38 w 59"/>
                        <a:gd name="T83" fmla="*/ 7 h 140"/>
                        <a:gd name="T84" fmla="*/ 31 w 59"/>
                        <a:gd name="T85" fmla="*/ 2 h 140"/>
                        <a:gd name="T86" fmla="*/ 24 w 59"/>
                        <a:gd name="T87" fmla="*/ 0 h 140"/>
                        <a:gd name="T88" fmla="*/ 19 w 59"/>
                        <a:gd name="T89" fmla="*/ 9 h 140"/>
                        <a:gd name="T90" fmla="*/ 12 w 59"/>
                        <a:gd name="T91" fmla="*/ 19 h 140"/>
                        <a:gd name="T92" fmla="*/ 8 w 59"/>
                        <a:gd name="T93" fmla="*/ 33 h 140"/>
                        <a:gd name="T94" fmla="*/ 4 w 59"/>
                        <a:gd name="T95" fmla="*/ 45 h 140"/>
                        <a:gd name="T96" fmla="*/ 1 w 59"/>
                        <a:gd name="T97" fmla="*/ 59 h 140"/>
                        <a:gd name="T98" fmla="*/ 0 w 59"/>
                        <a:gd name="T99" fmla="*/ 70 h 140"/>
                        <a:gd name="T100" fmla="*/ 1 w 59"/>
                        <a:gd name="T101" fmla="*/ 84 h 140"/>
                        <a:gd name="T102" fmla="*/ 2 w 59"/>
                        <a:gd name="T103" fmla="*/ 97 h 140"/>
                        <a:gd name="T104" fmla="*/ 8 w 59"/>
                        <a:gd name="T105" fmla="*/ 117 h 140"/>
                        <a:gd name="T106" fmla="*/ 12 w 59"/>
                        <a:gd name="T107" fmla="*/ 128 h 140"/>
                        <a:gd name="T108" fmla="*/ 22 w 59"/>
                        <a:gd name="T109" fmla="*/ 140 h 140"/>
                        <a:gd name="T110" fmla="*/ 22 w 59"/>
                        <a:gd name="T111" fmla="*/ 130 h 14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</a:cxnLst>
                      <a:rect l="0" t="0" r="r" b="b"/>
                      <a:pathLst>
                        <a:path w="59" h="140">
                          <a:moveTo>
                            <a:pt x="22" y="130"/>
                          </a:moveTo>
                          <a:lnTo>
                            <a:pt x="13" y="119"/>
                          </a:lnTo>
                          <a:lnTo>
                            <a:pt x="11" y="109"/>
                          </a:lnTo>
                          <a:lnTo>
                            <a:pt x="8" y="101"/>
                          </a:lnTo>
                          <a:lnTo>
                            <a:pt x="8" y="91"/>
                          </a:lnTo>
                          <a:lnTo>
                            <a:pt x="12" y="84"/>
                          </a:lnTo>
                          <a:lnTo>
                            <a:pt x="12" y="78"/>
                          </a:lnTo>
                          <a:lnTo>
                            <a:pt x="8" y="73"/>
                          </a:lnTo>
                          <a:lnTo>
                            <a:pt x="11" y="67"/>
                          </a:lnTo>
                          <a:lnTo>
                            <a:pt x="13" y="63"/>
                          </a:lnTo>
                          <a:lnTo>
                            <a:pt x="13" y="56"/>
                          </a:lnTo>
                          <a:lnTo>
                            <a:pt x="13" y="45"/>
                          </a:lnTo>
                          <a:lnTo>
                            <a:pt x="18" y="38"/>
                          </a:lnTo>
                          <a:lnTo>
                            <a:pt x="22" y="29"/>
                          </a:lnTo>
                          <a:lnTo>
                            <a:pt x="24" y="21"/>
                          </a:lnTo>
                          <a:lnTo>
                            <a:pt x="26" y="16"/>
                          </a:lnTo>
                          <a:lnTo>
                            <a:pt x="31" y="12"/>
                          </a:lnTo>
                          <a:lnTo>
                            <a:pt x="37" y="10"/>
                          </a:lnTo>
                          <a:lnTo>
                            <a:pt x="45" y="15"/>
                          </a:lnTo>
                          <a:lnTo>
                            <a:pt x="50" y="23"/>
                          </a:lnTo>
                          <a:lnTo>
                            <a:pt x="54" y="34"/>
                          </a:lnTo>
                          <a:lnTo>
                            <a:pt x="55" y="47"/>
                          </a:lnTo>
                          <a:lnTo>
                            <a:pt x="54" y="60"/>
                          </a:lnTo>
                          <a:lnTo>
                            <a:pt x="47" y="65"/>
                          </a:lnTo>
                          <a:lnTo>
                            <a:pt x="38" y="68"/>
                          </a:lnTo>
                          <a:lnTo>
                            <a:pt x="34" y="71"/>
                          </a:lnTo>
                          <a:lnTo>
                            <a:pt x="28" y="78"/>
                          </a:lnTo>
                          <a:lnTo>
                            <a:pt x="25" y="84"/>
                          </a:lnTo>
                          <a:lnTo>
                            <a:pt x="22" y="96"/>
                          </a:lnTo>
                          <a:lnTo>
                            <a:pt x="23" y="110"/>
                          </a:lnTo>
                          <a:lnTo>
                            <a:pt x="24" y="118"/>
                          </a:lnTo>
                          <a:lnTo>
                            <a:pt x="30" y="125"/>
                          </a:lnTo>
                          <a:lnTo>
                            <a:pt x="38" y="123"/>
                          </a:lnTo>
                          <a:lnTo>
                            <a:pt x="38" y="94"/>
                          </a:lnTo>
                          <a:lnTo>
                            <a:pt x="42" y="86"/>
                          </a:lnTo>
                          <a:lnTo>
                            <a:pt x="51" y="82"/>
                          </a:lnTo>
                          <a:lnTo>
                            <a:pt x="57" y="73"/>
                          </a:lnTo>
                          <a:lnTo>
                            <a:pt x="59" y="63"/>
                          </a:lnTo>
                          <a:lnTo>
                            <a:pt x="59" y="50"/>
                          </a:lnTo>
                          <a:lnTo>
                            <a:pt x="56" y="29"/>
                          </a:lnTo>
                          <a:lnTo>
                            <a:pt x="49" y="15"/>
                          </a:lnTo>
                          <a:lnTo>
                            <a:pt x="38" y="7"/>
                          </a:lnTo>
                          <a:lnTo>
                            <a:pt x="31" y="2"/>
                          </a:lnTo>
                          <a:lnTo>
                            <a:pt x="24" y="0"/>
                          </a:lnTo>
                          <a:lnTo>
                            <a:pt x="19" y="9"/>
                          </a:lnTo>
                          <a:lnTo>
                            <a:pt x="12" y="19"/>
                          </a:lnTo>
                          <a:lnTo>
                            <a:pt x="8" y="33"/>
                          </a:lnTo>
                          <a:lnTo>
                            <a:pt x="4" y="45"/>
                          </a:lnTo>
                          <a:lnTo>
                            <a:pt x="1" y="59"/>
                          </a:lnTo>
                          <a:lnTo>
                            <a:pt x="0" y="70"/>
                          </a:lnTo>
                          <a:lnTo>
                            <a:pt x="1" y="84"/>
                          </a:lnTo>
                          <a:lnTo>
                            <a:pt x="2" y="97"/>
                          </a:lnTo>
                          <a:lnTo>
                            <a:pt x="8" y="117"/>
                          </a:lnTo>
                          <a:lnTo>
                            <a:pt x="12" y="128"/>
                          </a:lnTo>
                          <a:lnTo>
                            <a:pt x="22" y="140"/>
                          </a:lnTo>
                          <a:lnTo>
                            <a:pt x="22" y="130"/>
                          </a:lnTo>
                          <a:close/>
                        </a:path>
                      </a:pathLst>
                    </a:custGeom>
                    <a:solidFill>
                      <a:srgbClr val="5F3F1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273" name="Group 275"/>
                  <p:cNvGrpSpPr/>
                  <p:nvPr/>
                </p:nvGrpSpPr>
                <p:grpSpPr bwMode="auto">
                  <a:xfrm>
                    <a:off x="4887" y="2308"/>
                    <a:ext cx="39" cy="8"/>
                    <a:chOff x="4887" y="2308"/>
                    <a:chExt cx="39" cy="8"/>
                  </a:xfrm>
                </p:grpSpPr>
                <p:sp>
                  <p:nvSpPr>
                    <p:cNvPr id="284" name="Freeform 276"/>
                    <p:cNvSpPr/>
                    <p:nvPr/>
                  </p:nvSpPr>
                  <p:spPr bwMode="auto">
                    <a:xfrm>
                      <a:off x="4913" y="2311"/>
                      <a:ext cx="13" cy="5"/>
                    </a:xfrm>
                    <a:custGeom>
                      <a:avLst/>
                      <a:gdLst>
                        <a:gd name="T0" fmla="*/ 0 w 77"/>
                        <a:gd name="T1" fmla="*/ 14 h 21"/>
                        <a:gd name="T2" fmla="*/ 14 w 77"/>
                        <a:gd name="T3" fmla="*/ 2 h 21"/>
                        <a:gd name="T4" fmla="*/ 26 w 77"/>
                        <a:gd name="T5" fmla="*/ 2 h 21"/>
                        <a:gd name="T6" fmla="*/ 34 w 77"/>
                        <a:gd name="T7" fmla="*/ 2 h 21"/>
                        <a:gd name="T8" fmla="*/ 45 w 77"/>
                        <a:gd name="T9" fmla="*/ 0 h 21"/>
                        <a:gd name="T10" fmla="*/ 43 w 77"/>
                        <a:gd name="T11" fmla="*/ 9 h 21"/>
                        <a:gd name="T12" fmla="*/ 55 w 77"/>
                        <a:gd name="T13" fmla="*/ 4 h 21"/>
                        <a:gd name="T14" fmla="*/ 63 w 77"/>
                        <a:gd name="T15" fmla="*/ 2 h 21"/>
                        <a:gd name="T16" fmla="*/ 55 w 77"/>
                        <a:gd name="T17" fmla="*/ 9 h 21"/>
                        <a:gd name="T18" fmla="*/ 71 w 77"/>
                        <a:gd name="T19" fmla="*/ 2 h 21"/>
                        <a:gd name="T20" fmla="*/ 69 w 77"/>
                        <a:gd name="T21" fmla="*/ 8 h 21"/>
                        <a:gd name="T22" fmla="*/ 77 w 77"/>
                        <a:gd name="T23" fmla="*/ 3 h 21"/>
                        <a:gd name="T24" fmla="*/ 75 w 77"/>
                        <a:gd name="T25" fmla="*/ 13 h 21"/>
                        <a:gd name="T26" fmla="*/ 70 w 77"/>
                        <a:gd name="T27" fmla="*/ 19 h 21"/>
                        <a:gd name="T28" fmla="*/ 61 w 77"/>
                        <a:gd name="T29" fmla="*/ 21 h 21"/>
                        <a:gd name="T30" fmla="*/ 48 w 77"/>
                        <a:gd name="T31" fmla="*/ 21 h 21"/>
                        <a:gd name="T32" fmla="*/ 42 w 77"/>
                        <a:gd name="T33" fmla="*/ 19 h 21"/>
                        <a:gd name="T34" fmla="*/ 36 w 77"/>
                        <a:gd name="T35" fmla="*/ 18 h 21"/>
                        <a:gd name="T36" fmla="*/ 30 w 77"/>
                        <a:gd name="T37" fmla="*/ 15 h 21"/>
                        <a:gd name="T38" fmla="*/ 21 w 77"/>
                        <a:gd name="T39" fmla="*/ 13 h 21"/>
                        <a:gd name="T40" fmla="*/ 11 w 77"/>
                        <a:gd name="T41" fmla="*/ 9 h 21"/>
                        <a:gd name="T42" fmla="*/ 0 w 77"/>
                        <a:gd name="T43" fmla="*/ 14 h 2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</a:cxnLst>
                      <a:rect l="0" t="0" r="r" b="b"/>
                      <a:pathLst>
                        <a:path w="77" h="21">
                          <a:moveTo>
                            <a:pt x="0" y="14"/>
                          </a:moveTo>
                          <a:lnTo>
                            <a:pt x="14" y="2"/>
                          </a:lnTo>
                          <a:lnTo>
                            <a:pt x="26" y="2"/>
                          </a:lnTo>
                          <a:lnTo>
                            <a:pt x="34" y="2"/>
                          </a:lnTo>
                          <a:lnTo>
                            <a:pt x="45" y="0"/>
                          </a:lnTo>
                          <a:lnTo>
                            <a:pt x="43" y="9"/>
                          </a:lnTo>
                          <a:lnTo>
                            <a:pt x="55" y="4"/>
                          </a:lnTo>
                          <a:lnTo>
                            <a:pt x="63" y="2"/>
                          </a:lnTo>
                          <a:lnTo>
                            <a:pt x="55" y="9"/>
                          </a:lnTo>
                          <a:lnTo>
                            <a:pt x="71" y="2"/>
                          </a:lnTo>
                          <a:lnTo>
                            <a:pt x="69" y="8"/>
                          </a:lnTo>
                          <a:lnTo>
                            <a:pt x="77" y="3"/>
                          </a:lnTo>
                          <a:lnTo>
                            <a:pt x="75" y="13"/>
                          </a:lnTo>
                          <a:lnTo>
                            <a:pt x="70" y="19"/>
                          </a:lnTo>
                          <a:lnTo>
                            <a:pt x="61" y="21"/>
                          </a:lnTo>
                          <a:lnTo>
                            <a:pt x="48" y="21"/>
                          </a:lnTo>
                          <a:lnTo>
                            <a:pt x="42" y="19"/>
                          </a:lnTo>
                          <a:lnTo>
                            <a:pt x="36" y="18"/>
                          </a:lnTo>
                          <a:lnTo>
                            <a:pt x="30" y="15"/>
                          </a:lnTo>
                          <a:lnTo>
                            <a:pt x="21" y="13"/>
                          </a:lnTo>
                          <a:lnTo>
                            <a:pt x="11" y="9"/>
                          </a:lnTo>
                          <a:lnTo>
                            <a:pt x="0" y="14"/>
                          </a:lnTo>
                          <a:close/>
                        </a:path>
                      </a:pathLst>
                    </a:custGeom>
                    <a:solidFill>
                      <a:srgbClr val="3F1F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85" name="Freeform 277"/>
                    <p:cNvSpPr/>
                    <p:nvPr/>
                  </p:nvSpPr>
                  <p:spPr bwMode="auto">
                    <a:xfrm>
                      <a:off x="4887" y="2308"/>
                      <a:ext cx="18" cy="5"/>
                    </a:xfrm>
                    <a:custGeom>
                      <a:avLst/>
                      <a:gdLst>
                        <a:gd name="T0" fmla="*/ 0 w 110"/>
                        <a:gd name="T1" fmla="*/ 20 h 24"/>
                        <a:gd name="T2" fmla="*/ 8 w 110"/>
                        <a:gd name="T3" fmla="*/ 11 h 24"/>
                        <a:gd name="T4" fmla="*/ 21 w 110"/>
                        <a:gd name="T5" fmla="*/ 8 h 24"/>
                        <a:gd name="T6" fmla="*/ 34 w 110"/>
                        <a:gd name="T7" fmla="*/ 4 h 24"/>
                        <a:gd name="T8" fmla="*/ 49 w 110"/>
                        <a:gd name="T9" fmla="*/ 4 h 24"/>
                        <a:gd name="T10" fmla="*/ 63 w 110"/>
                        <a:gd name="T11" fmla="*/ 5 h 24"/>
                        <a:gd name="T12" fmla="*/ 71 w 110"/>
                        <a:gd name="T13" fmla="*/ 0 h 24"/>
                        <a:gd name="T14" fmla="*/ 73 w 110"/>
                        <a:gd name="T15" fmla="*/ 8 h 24"/>
                        <a:gd name="T16" fmla="*/ 89 w 110"/>
                        <a:gd name="T17" fmla="*/ 3 h 24"/>
                        <a:gd name="T18" fmla="*/ 84 w 110"/>
                        <a:gd name="T19" fmla="*/ 12 h 24"/>
                        <a:gd name="T20" fmla="*/ 96 w 110"/>
                        <a:gd name="T21" fmla="*/ 10 h 24"/>
                        <a:gd name="T22" fmla="*/ 107 w 110"/>
                        <a:gd name="T23" fmla="*/ 4 h 24"/>
                        <a:gd name="T24" fmla="*/ 98 w 110"/>
                        <a:gd name="T25" fmla="*/ 20 h 24"/>
                        <a:gd name="T26" fmla="*/ 109 w 110"/>
                        <a:gd name="T27" fmla="*/ 14 h 24"/>
                        <a:gd name="T28" fmla="*/ 110 w 110"/>
                        <a:gd name="T29" fmla="*/ 21 h 24"/>
                        <a:gd name="T30" fmla="*/ 94 w 110"/>
                        <a:gd name="T31" fmla="*/ 24 h 24"/>
                        <a:gd name="T32" fmla="*/ 82 w 110"/>
                        <a:gd name="T33" fmla="*/ 21 h 24"/>
                        <a:gd name="T34" fmla="*/ 72 w 110"/>
                        <a:gd name="T35" fmla="*/ 16 h 24"/>
                        <a:gd name="T36" fmla="*/ 59 w 110"/>
                        <a:gd name="T37" fmla="*/ 15 h 24"/>
                        <a:gd name="T38" fmla="*/ 47 w 110"/>
                        <a:gd name="T39" fmla="*/ 15 h 24"/>
                        <a:gd name="T40" fmla="*/ 34 w 110"/>
                        <a:gd name="T41" fmla="*/ 15 h 24"/>
                        <a:gd name="T42" fmla="*/ 24 w 110"/>
                        <a:gd name="T43" fmla="*/ 11 h 24"/>
                        <a:gd name="T44" fmla="*/ 16 w 110"/>
                        <a:gd name="T45" fmla="*/ 11 h 24"/>
                        <a:gd name="T46" fmla="*/ 0 w 110"/>
                        <a:gd name="T47" fmla="*/ 20 h 2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</a:cxnLst>
                      <a:rect l="0" t="0" r="r" b="b"/>
                      <a:pathLst>
                        <a:path w="110" h="24">
                          <a:moveTo>
                            <a:pt x="0" y="20"/>
                          </a:moveTo>
                          <a:lnTo>
                            <a:pt x="8" y="11"/>
                          </a:lnTo>
                          <a:lnTo>
                            <a:pt x="21" y="8"/>
                          </a:lnTo>
                          <a:lnTo>
                            <a:pt x="34" y="4"/>
                          </a:lnTo>
                          <a:lnTo>
                            <a:pt x="49" y="4"/>
                          </a:lnTo>
                          <a:lnTo>
                            <a:pt x="63" y="5"/>
                          </a:lnTo>
                          <a:lnTo>
                            <a:pt x="71" y="0"/>
                          </a:lnTo>
                          <a:lnTo>
                            <a:pt x="73" y="8"/>
                          </a:lnTo>
                          <a:lnTo>
                            <a:pt x="89" y="3"/>
                          </a:lnTo>
                          <a:lnTo>
                            <a:pt x="84" y="12"/>
                          </a:lnTo>
                          <a:lnTo>
                            <a:pt x="96" y="10"/>
                          </a:lnTo>
                          <a:lnTo>
                            <a:pt x="107" y="4"/>
                          </a:lnTo>
                          <a:lnTo>
                            <a:pt x="98" y="20"/>
                          </a:lnTo>
                          <a:lnTo>
                            <a:pt x="109" y="14"/>
                          </a:lnTo>
                          <a:lnTo>
                            <a:pt x="110" y="21"/>
                          </a:lnTo>
                          <a:lnTo>
                            <a:pt x="94" y="24"/>
                          </a:lnTo>
                          <a:lnTo>
                            <a:pt x="82" y="21"/>
                          </a:lnTo>
                          <a:lnTo>
                            <a:pt x="72" y="16"/>
                          </a:lnTo>
                          <a:lnTo>
                            <a:pt x="59" y="15"/>
                          </a:lnTo>
                          <a:lnTo>
                            <a:pt x="47" y="15"/>
                          </a:lnTo>
                          <a:lnTo>
                            <a:pt x="34" y="15"/>
                          </a:lnTo>
                          <a:lnTo>
                            <a:pt x="24" y="11"/>
                          </a:lnTo>
                          <a:lnTo>
                            <a:pt x="16" y="11"/>
                          </a:lnTo>
                          <a:lnTo>
                            <a:pt x="0" y="20"/>
                          </a:lnTo>
                          <a:close/>
                        </a:path>
                      </a:pathLst>
                    </a:custGeom>
                    <a:solidFill>
                      <a:srgbClr val="3F1F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274" name="Group 278"/>
                  <p:cNvGrpSpPr/>
                  <p:nvPr/>
                </p:nvGrpSpPr>
                <p:grpSpPr bwMode="auto">
                  <a:xfrm>
                    <a:off x="4889" y="2310"/>
                    <a:ext cx="17" cy="11"/>
                    <a:chOff x="4889" y="2310"/>
                    <a:chExt cx="17" cy="11"/>
                  </a:xfrm>
                </p:grpSpPr>
                <p:sp>
                  <p:nvSpPr>
                    <p:cNvPr id="280" name="Freeform 279"/>
                    <p:cNvSpPr/>
                    <p:nvPr/>
                  </p:nvSpPr>
                  <p:spPr bwMode="auto">
                    <a:xfrm>
                      <a:off x="4889" y="2315"/>
                      <a:ext cx="11" cy="5"/>
                    </a:xfrm>
                    <a:custGeom>
                      <a:avLst/>
                      <a:gdLst>
                        <a:gd name="T0" fmla="*/ 0 w 64"/>
                        <a:gd name="T1" fmla="*/ 0 h 22"/>
                        <a:gd name="T2" fmla="*/ 12 w 64"/>
                        <a:gd name="T3" fmla="*/ 10 h 22"/>
                        <a:gd name="T4" fmla="*/ 26 w 64"/>
                        <a:gd name="T5" fmla="*/ 21 h 22"/>
                        <a:gd name="T6" fmla="*/ 45 w 64"/>
                        <a:gd name="T7" fmla="*/ 22 h 22"/>
                        <a:gd name="T8" fmla="*/ 58 w 64"/>
                        <a:gd name="T9" fmla="*/ 9 h 22"/>
                        <a:gd name="T10" fmla="*/ 64 w 64"/>
                        <a:gd name="T11" fmla="*/ 7 h 22"/>
                        <a:gd name="T12" fmla="*/ 61 w 64"/>
                        <a:gd name="T13" fmla="*/ 0 h 22"/>
                        <a:gd name="T14" fmla="*/ 0 w 64"/>
                        <a:gd name="T15" fmla="*/ 0 h 2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</a:cxnLst>
                      <a:rect l="0" t="0" r="r" b="b"/>
                      <a:pathLst>
                        <a:path w="64" h="22">
                          <a:moveTo>
                            <a:pt x="0" y="0"/>
                          </a:moveTo>
                          <a:lnTo>
                            <a:pt x="12" y="10"/>
                          </a:lnTo>
                          <a:lnTo>
                            <a:pt x="26" y="21"/>
                          </a:lnTo>
                          <a:lnTo>
                            <a:pt x="45" y="22"/>
                          </a:lnTo>
                          <a:lnTo>
                            <a:pt x="58" y="9"/>
                          </a:lnTo>
                          <a:lnTo>
                            <a:pt x="64" y="7"/>
                          </a:lnTo>
                          <a:lnTo>
                            <a:pt x="61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81" name="Freeform 280"/>
                    <p:cNvSpPr/>
                    <p:nvPr/>
                  </p:nvSpPr>
                  <p:spPr bwMode="auto">
                    <a:xfrm>
                      <a:off x="4889" y="2310"/>
                      <a:ext cx="17" cy="11"/>
                    </a:xfrm>
                    <a:custGeom>
                      <a:avLst/>
                      <a:gdLst>
                        <a:gd name="T0" fmla="*/ 25 w 98"/>
                        <a:gd name="T1" fmla="*/ 0 h 56"/>
                        <a:gd name="T2" fmla="*/ 43 w 98"/>
                        <a:gd name="T3" fmla="*/ 4 h 56"/>
                        <a:gd name="T4" fmla="*/ 55 w 98"/>
                        <a:gd name="T5" fmla="*/ 6 h 56"/>
                        <a:gd name="T6" fmla="*/ 68 w 98"/>
                        <a:gd name="T7" fmla="*/ 11 h 56"/>
                        <a:gd name="T8" fmla="*/ 75 w 98"/>
                        <a:gd name="T9" fmla="*/ 15 h 56"/>
                        <a:gd name="T10" fmla="*/ 81 w 98"/>
                        <a:gd name="T11" fmla="*/ 16 h 56"/>
                        <a:gd name="T12" fmla="*/ 92 w 98"/>
                        <a:gd name="T13" fmla="*/ 17 h 56"/>
                        <a:gd name="T14" fmla="*/ 98 w 98"/>
                        <a:gd name="T15" fmla="*/ 20 h 56"/>
                        <a:gd name="T16" fmla="*/ 98 w 98"/>
                        <a:gd name="T17" fmla="*/ 33 h 56"/>
                        <a:gd name="T18" fmla="*/ 93 w 98"/>
                        <a:gd name="T19" fmla="*/ 41 h 56"/>
                        <a:gd name="T20" fmla="*/ 89 w 98"/>
                        <a:gd name="T21" fmla="*/ 47 h 56"/>
                        <a:gd name="T22" fmla="*/ 86 w 98"/>
                        <a:gd name="T23" fmla="*/ 52 h 56"/>
                        <a:gd name="T24" fmla="*/ 77 w 98"/>
                        <a:gd name="T25" fmla="*/ 56 h 56"/>
                        <a:gd name="T26" fmla="*/ 69 w 98"/>
                        <a:gd name="T27" fmla="*/ 56 h 56"/>
                        <a:gd name="T28" fmla="*/ 63 w 98"/>
                        <a:gd name="T29" fmla="*/ 53 h 56"/>
                        <a:gd name="T30" fmla="*/ 64 w 98"/>
                        <a:gd name="T31" fmla="*/ 47 h 56"/>
                        <a:gd name="T32" fmla="*/ 63 w 98"/>
                        <a:gd name="T33" fmla="*/ 38 h 56"/>
                        <a:gd name="T34" fmla="*/ 57 w 98"/>
                        <a:gd name="T35" fmla="*/ 38 h 56"/>
                        <a:gd name="T36" fmla="*/ 49 w 98"/>
                        <a:gd name="T37" fmla="*/ 30 h 56"/>
                        <a:gd name="T38" fmla="*/ 50 w 98"/>
                        <a:gd name="T39" fmla="*/ 37 h 56"/>
                        <a:gd name="T40" fmla="*/ 45 w 98"/>
                        <a:gd name="T41" fmla="*/ 47 h 56"/>
                        <a:gd name="T42" fmla="*/ 34 w 98"/>
                        <a:gd name="T43" fmla="*/ 49 h 56"/>
                        <a:gd name="T44" fmla="*/ 22 w 98"/>
                        <a:gd name="T45" fmla="*/ 47 h 56"/>
                        <a:gd name="T46" fmla="*/ 19 w 98"/>
                        <a:gd name="T47" fmla="*/ 40 h 56"/>
                        <a:gd name="T48" fmla="*/ 16 w 98"/>
                        <a:gd name="T49" fmla="*/ 32 h 56"/>
                        <a:gd name="T50" fmla="*/ 16 w 98"/>
                        <a:gd name="T51" fmla="*/ 27 h 56"/>
                        <a:gd name="T52" fmla="*/ 0 w 98"/>
                        <a:gd name="T53" fmla="*/ 27 h 56"/>
                        <a:gd name="T54" fmla="*/ 6 w 98"/>
                        <a:gd name="T55" fmla="*/ 23 h 56"/>
                        <a:gd name="T56" fmla="*/ 55 w 98"/>
                        <a:gd name="T57" fmla="*/ 23 h 56"/>
                        <a:gd name="T58" fmla="*/ 56 w 98"/>
                        <a:gd name="T59" fmla="*/ 11 h 56"/>
                        <a:gd name="T60" fmla="*/ 45 w 98"/>
                        <a:gd name="T61" fmla="*/ 10 h 56"/>
                        <a:gd name="T62" fmla="*/ 25 w 98"/>
                        <a:gd name="T63" fmla="*/ 0 h 5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</a:cxnLst>
                      <a:rect l="0" t="0" r="r" b="b"/>
                      <a:pathLst>
                        <a:path w="98" h="56">
                          <a:moveTo>
                            <a:pt x="25" y="0"/>
                          </a:moveTo>
                          <a:lnTo>
                            <a:pt x="43" y="4"/>
                          </a:lnTo>
                          <a:lnTo>
                            <a:pt x="55" y="6"/>
                          </a:lnTo>
                          <a:lnTo>
                            <a:pt x="68" y="11"/>
                          </a:lnTo>
                          <a:lnTo>
                            <a:pt x="75" y="15"/>
                          </a:lnTo>
                          <a:lnTo>
                            <a:pt x="81" y="16"/>
                          </a:lnTo>
                          <a:lnTo>
                            <a:pt x="92" y="17"/>
                          </a:lnTo>
                          <a:lnTo>
                            <a:pt x="98" y="20"/>
                          </a:lnTo>
                          <a:lnTo>
                            <a:pt x="98" y="33"/>
                          </a:lnTo>
                          <a:lnTo>
                            <a:pt x="93" y="41"/>
                          </a:lnTo>
                          <a:lnTo>
                            <a:pt x="89" y="47"/>
                          </a:lnTo>
                          <a:lnTo>
                            <a:pt x="86" y="52"/>
                          </a:lnTo>
                          <a:lnTo>
                            <a:pt x="77" y="56"/>
                          </a:lnTo>
                          <a:lnTo>
                            <a:pt x="69" y="56"/>
                          </a:lnTo>
                          <a:lnTo>
                            <a:pt x="63" y="53"/>
                          </a:lnTo>
                          <a:lnTo>
                            <a:pt x="64" y="47"/>
                          </a:lnTo>
                          <a:lnTo>
                            <a:pt x="63" y="38"/>
                          </a:lnTo>
                          <a:lnTo>
                            <a:pt x="57" y="38"/>
                          </a:lnTo>
                          <a:lnTo>
                            <a:pt x="49" y="30"/>
                          </a:lnTo>
                          <a:lnTo>
                            <a:pt x="50" y="37"/>
                          </a:lnTo>
                          <a:lnTo>
                            <a:pt x="45" y="47"/>
                          </a:lnTo>
                          <a:lnTo>
                            <a:pt x="34" y="49"/>
                          </a:lnTo>
                          <a:lnTo>
                            <a:pt x="22" y="47"/>
                          </a:lnTo>
                          <a:lnTo>
                            <a:pt x="19" y="40"/>
                          </a:lnTo>
                          <a:lnTo>
                            <a:pt x="16" y="32"/>
                          </a:lnTo>
                          <a:lnTo>
                            <a:pt x="16" y="27"/>
                          </a:lnTo>
                          <a:lnTo>
                            <a:pt x="0" y="27"/>
                          </a:lnTo>
                          <a:lnTo>
                            <a:pt x="6" y="23"/>
                          </a:lnTo>
                          <a:lnTo>
                            <a:pt x="55" y="23"/>
                          </a:lnTo>
                          <a:lnTo>
                            <a:pt x="56" y="11"/>
                          </a:lnTo>
                          <a:lnTo>
                            <a:pt x="45" y="10"/>
                          </a:lnTo>
                          <a:lnTo>
                            <a:pt x="25" y="0"/>
                          </a:lnTo>
                          <a:close/>
                        </a:path>
                      </a:pathLst>
                    </a:custGeom>
                    <a:solidFill>
                      <a:srgbClr val="5F3F1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82" name="Oval 28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894" y="2315"/>
                      <a:ext cx="3" cy="5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83" name="Oval 28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896" y="2315"/>
                      <a:ext cx="2" cy="3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275" name="Group 283"/>
                  <p:cNvGrpSpPr/>
                  <p:nvPr/>
                </p:nvGrpSpPr>
                <p:grpSpPr bwMode="auto">
                  <a:xfrm>
                    <a:off x="4910" y="2314"/>
                    <a:ext cx="12" cy="8"/>
                    <a:chOff x="4910" y="2314"/>
                    <a:chExt cx="12" cy="8"/>
                  </a:xfrm>
                </p:grpSpPr>
                <p:sp>
                  <p:nvSpPr>
                    <p:cNvPr id="276" name="Freeform 284"/>
                    <p:cNvSpPr/>
                    <p:nvPr/>
                  </p:nvSpPr>
                  <p:spPr bwMode="auto">
                    <a:xfrm>
                      <a:off x="4912" y="2317"/>
                      <a:ext cx="8" cy="5"/>
                    </a:xfrm>
                    <a:custGeom>
                      <a:avLst/>
                      <a:gdLst>
                        <a:gd name="T0" fmla="*/ 50 w 50"/>
                        <a:gd name="T1" fmla="*/ 0 h 22"/>
                        <a:gd name="T2" fmla="*/ 48 w 50"/>
                        <a:gd name="T3" fmla="*/ 11 h 22"/>
                        <a:gd name="T4" fmla="*/ 39 w 50"/>
                        <a:gd name="T5" fmla="*/ 21 h 22"/>
                        <a:gd name="T6" fmla="*/ 19 w 50"/>
                        <a:gd name="T7" fmla="*/ 22 h 22"/>
                        <a:gd name="T8" fmla="*/ 6 w 50"/>
                        <a:gd name="T9" fmla="*/ 7 h 22"/>
                        <a:gd name="T10" fmla="*/ 0 w 50"/>
                        <a:gd name="T11" fmla="*/ 7 h 22"/>
                        <a:gd name="T12" fmla="*/ 4 w 50"/>
                        <a:gd name="T13" fmla="*/ 0 h 22"/>
                        <a:gd name="T14" fmla="*/ 50 w 50"/>
                        <a:gd name="T15" fmla="*/ 0 h 2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</a:cxnLst>
                      <a:rect l="0" t="0" r="r" b="b"/>
                      <a:pathLst>
                        <a:path w="50" h="22">
                          <a:moveTo>
                            <a:pt x="50" y="0"/>
                          </a:moveTo>
                          <a:lnTo>
                            <a:pt x="48" y="11"/>
                          </a:lnTo>
                          <a:lnTo>
                            <a:pt x="39" y="21"/>
                          </a:lnTo>
                          <a:lnTo>
                            <a:pt x="19" y="22"/>
                          </a:lnTo>
                          <a:lnTo>
                            <a:pt x="6" y="7"/>
                          </a:lnTo>
                          <a:lnTo>
                            <a:pt x="0" y="7"/>
                          </a:lnTo>
                          <a:lnTo>
                            <a:pt x="4" y="0"/>
                          </a:lnTo>
                          <a:lnTo>
                            <a:pt x="50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77" name="Freeform 285"/>
                    <p:cNvSpPr/>
                    <p:nvPr/>
                  </p:nvSpPr>
                  <p:spPr bwMode="auto">
                    <a:xfrm>
                      <a:off x="4910" y="2314"/>
                      <a:ext cx="12" cy="8"/>
                    </a:xfrm>
                    <a:custGeom>
                      <a:avLst/>
                      <a:gdLst>
                        <a:gd name="T0" fmla="*/ 47 w 70"/>
                        <a:gd name="T1" fmla="*/ 0 h 40"/>
                        <a:gd name="T2" fmla="*/ 28 w 70"/>
                        <a:gd name="T3" fmla="*/ 1 h 40"/>
                        <a:gd name="T4" fmla="*/ 18 w 70"/>
                        <a:gd name="T5" fmla="*/ 3 h 40"/>
                        <a:gd name="T6" fmla="*/ 7 w 70"/>
                        <a:gd name="T7" fmla="*/ 7 h 40"/>
                        <a:gd name="T8" fmla="*/ 0 w 70"/>
                        <a:gd name="T9" fmla="*/ 17 h 40"/>
                        <a:gd name="T10" fmla="*/ 4 w 70"/>
                        <a:gd name="T11" fmla="*/ 35 h 40"/>
                        <a:gd name="T12" fmla="*/ 15 w 70"/>
                        <a:gd name="T13" fmla="*/ 34 h 40"/>
                        <a:gd name="T14" fmla="*/ 22 w 70"/>
                        <a:gd name="T15" fmla="*/ 23 h 40"/>
                        <a:gd name="T16" fmla="*/ 29 w 70"/>
                        <a:gd name="T17" fmla="*/ 22 h 40"/>
                        <a:gd name="T18" fmla="*/ 25 w 70"/>
                        <a:gd name="T19" fmla="*/ 29 h 40"/>
                        <a:gd name="T20" fmla="*/ 29 w 70"/>
                        <a:gd name="T21" fmla="*/ 39 h 40"/>
                        <a:gd name="T22" fmla="*/ 37 w 70"/>
                        <a:gd name="T23" fmla="*/ 40 h 40"/>
                        <a:gd name="T24" fmla="*/ 46 w 70"/>
                        <a:gd name="T25" fmla="*/ 40 h 40"/>
                        <a:gd name="T26" fmla="*/ 53 w 70"/>
                        <a:gd name="T27" fmla="*/ 34 h 40"/>
                        <a:gd name="T28" fmla="*/ 54 w 70"/>
                        <a:gd name="T29" fmla="*/ 27 h 40"/>
                        <a:gd name="T30" fmla="*/ 59 w 70"/>
                        <a:gd name="T31" fmla="*/ 26 h 40"/>
                        <a:gd name="T32" fmla="*/ 70 w 70"/>
                        <a:gd name="T33" fmla="*/ 21 h 40"/>
                        <a:gd name="T34" fmla="*/ 61 w 70"/>
                        <a:gd name="T35" fmla="*/ 18 h 40"/>
                        <a:gd name="T36" fmla="*/ 55 w 70"/>
                        <a:gd name="T37" fmla="*/ 16 h 40"/>
                        <a:gd name="T38" fmla="*/ 41 w 70"/>
                        <a:gd name="T39" fmla="*/ 16 h 40"/>
                        <a:gd name="T40" fmla="*/ 36 w 70"/>
                        <a:gd name="T41" fmla="*/ 17 h 40"/>
                        <a:gd name="T42" fmla="*/ 47 w 70"/>
                        <a:gd name="T43" fmla="*/ 0 h 4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</a:cxnLst>
                      <a:rect l="0" t="0" r="r" b="b"/>
                      <a:pathLst>
                        <a:path w="70" h="40">
                          <a:moveTo>
                            <a:pt x="47" y="0"/>
                          </a:moveTo>
                          <a:lnTo>
                            <a:pt x="28" y="1"/>
                          </a:lnTo>
                          <a:lnTo>
                            <a:pt x="18" y="3"/>
                          </a:lnTo>
                          <a:lnTo>
                            <a:pt x="7" y="7"/>
                          </a:lnTo>
                          <a:lnTo>
                            <a:pt x="0" y="17"/>
                          </a:lnTo>
                          <a:lnTo>
                            <a:pt x="4" y="35"/>
                          </a:lnTo>
                          <a:lnTo>
                            <a:pt x="15" y="34"/>
                          </a:lnTo>
                          <a:lnTo>
                            <a:pt x="22" y="23"/>
                          </a:lnTo>
                          <a:lnTo>
                            <a:pt x="29" y="22"/>
                          </a:lnTo>
                          <a:lnTo>
                            <a:pt x="25" y="29"/>
                          </a:lnTo>
                          <a:lnTo>
                            <a:pt x="29" y="39"/>
                          </a:lnTo>
                          <a:lnTo>
                            <a:pt x="37" y="40"/>
                          </a:lnTo>
                          <a:lnTo>
                            <a:pt x="46" y="40"/>
                          </a:lnTo>
                          <a:lnTo>
                            <a:pt x="53" y="34"/>
                          </a:lnTo>
                          <a:lnTo>
                            <a:pt x="54" y="27"/>
                          </a:lnTo>
                          <a:lnTo>
                            <a:pt x="59" y="26"/>
                          </a:lnTo>
                          <a:lnTo>
                            <a:pt x="70" y="21"/>
                          </a:lnTo>
                          <a:lnTo>
                            <a:pt x="61" y="18"/>
                          </a:lnTo>
                          <a:lnTo>
                            <a:pt x="55" y="16"/>
                          </a:lnTo>
                          <a:lnTo>
                            <a:pt x="41" y="16"/>
                          </a:lnTo>
                          <a:lnTo>
                            <a:pt x="36" y="17"/>
                          </a:lnTo>
                          <a:lnTo>
                            <a:pt x="47" y="0"/>
                          </a:lnTo>
                          <a:close/>
                        </a:path>
                      </a:pathLst>
                    </a:custGeom>
                    <a:solidFill>
                      <a:srgbClr val="5F3F1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78" name="Oval 28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916" y="2317"/>
                      <a:ext cx="3" cy="5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79" name="Oval 28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918" y="2318"/>
                      <a:ext cx="2" cy="2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</p:grpSp>
          <p:grpSp>
            <p:nvGrpSpPr>
              <p:cNvPr id="244" name="Group 288"/>
              <p:cNvGrpSpPr/>
              <p:nvPr/>
            </p:nvGrpSpPr>
            <p:grpSpPr bwMode="auto">
              <a:xfrm>
                <a:off x="4981" y="2517"/>
                <a:ext cx="120" cy="72"/>
                <a:chOff x="4981" y="2517"/>
                <a:chExt cx="120" cy="72"/>
              </a:xfrm>
            </p:grpSpPr>
            <p:sp>
              <p:nvSpPr>
                <p:cNvPr id="245" name="Freeform 289"/>
                <p:cNvSpPr/>
                <p:nvPr/>
              </p:nvSpPr>
              <p:spPr bwMode="auto">
                <a:xfrm>
                  <a:off x="5031" y="2517"/>
                  <a:ext cx="70" cy="60"/>
                </a:xfrm>
                <a:custGeom>
                  <a:avLst/>
                  <a:gdLst>
                    <a:gd name="T0" fmla="*/ 355 w 420"/>
                    <a:gd name="T1" fmla="*/ 0 h 299"/>
                    <a:gd name="T2" fmla="*/ 148 w 420"/>
                    <a:gd name="T3" fmla="*/ 100 h 299"/>
                    <a:gd name="T4" fmla="*/ 112 w 420"/>
                    <a:gd name="T5" fmla="*/ 116 h 299"/>
                    <a:gd name="T6" fmla="*/ 52 w 420"/>
                    <a:gd name="T7" fmla="*/ 127 h 299"/>
                    <a:gd name="T8" fmla="*/ 25 w 420"/>
                    <a:gd name="T9" fmla="*/ 129 h 299"/>
                    <a:gd name="T10" fmla="*/ 0 w 420"/>
                    <a:gd name="T11" fmla="*/ 155 h 299"/>
                    <a:gd name="T12" fmla="*/ 0 w 420"/>
                    <a:gd name="T13" fmla="*/ 299 h 299"/>
                    <a:gd name="T14" fmla="*/ 34 w 420"/>
                    <a:gd name="T15" fmla="*/ 291 h 299"/>
                    <a:gd name="T16" fmla="*/ 55 w 420"/>
                    <a:gd name="T17" fmla="*/ 291 h 299"/>
                    <a:gd name="T18" fmla="*/ 114 w 420"/>
                    <a:gd name="T19" fmla="*/ 247 h 299"/>
                    <a:gd name="T20" fmla="*/ 153 w 420"/>
                    <a:gd name="T21" fmla="*/ 185 h 299"/>
                    <a:gd name="T22" fmla="*/ 236 w 420"/>
                    <a:gd name="T23" fmla="*/ 171 h 299"/>
                    <a:gd name="T24" fmla="*/ 420 w 420"/>
                    <a:gd name="T25" fmla="*/ 127 h 299"/>
                    <a:gd name="T26" fmla="*/ 411 w 420"/>
                    <a:gd name="T27" fmla="*/ 65 h 299"/>
                    <a:gd name="T28" fmla="*/ 383 w 420"/>
                    <a:gd name="T29" fmla="*/ 18 h 299"/>
                    <a:gd name="T30" fmla="*/ 355 w 420"/>
                    <a:gd name="T31" fmla="*/ 0 h 2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420" h="299">
                      <a:moveTo>
                        <a:pt x="355" y="0"/>
                      </a:moveTo>
                      <a:lnTo>
                        <a:pt x="148" y="100"/>
                      </a:lnTo>
                      <a:lnTo>
                        <a:pt x="112" y="116"/>
                      </a:lnTo>
                      <a:lnTo>
                        <a:pt x="52" y="127"/>
                      </a:lnTo>
                      <a:lnTo>
                        <a:pt x="25" y="129"/>
                      </a:lnTo>
                      <a:lnTo>
                        <a:pt x="0" y="155"/>
                      </a:lnTo>
                      <a:lnTo>
                        <a:pt x="0" y="299"/>
                      </a:lnTo>
                      <a:lnTo>
                        <a:pt x="34" y="291"/>
                      </a:lnTo>
                      <a:lnTo>
                        <a:pt x="55" y="291"/>
                      </a:lnTo>
                      <a:lnTo>
                        <a:pt x="114" y="247"/>
                      </a:lnTo>
                      <a:lnTo>
                        <a:pt x="153" y="185"/>
                      </a:lnTo>
                      <a:lnTo>
                        <a:pt x="236" y="171"/>
                      </a:lnTo>
                      <a:lnTo>
                        <a:pt x="420" y="127"/>
                      </a:lnTo>
                      <a:lnTo>
                        <a:pt x="411" y="65"/>
                      </a:lnTo>
                      <a:lnTo>
                        <a:pt x="383" y="18"/>
                      </a:lnTo>
                      <a:lnTo>
                        <a:pt x="355" y="0"/>
                      </a:lnTo>
                      <a:close/>
                    </a:path>
                  </a:pathLst>
                </a:custGeom>
                <a:solidFill>
                  <a:srgbClr val="FF9F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3655"/>
                </a:p>
              </p:txBody>
            </p:sp>
            <p:grpSp>
              <p:nvGrpSpPr>
                <p:cNvPr id="246" name="Group 290"/>
                <p:cNvGrpSpPr/>
                <p:nvPr/>
              </p:nvGrpSpPr>
              <p:grpSpPr bwMode="auto">
                <a:xfrm>
                  <a:off x="4981" y="2534"/>
                  <a:ext cx="81" cy="55"/>
                  <a:chOff x="4981" y="2534"/>
                  <a:chExt cx="81" cy="55"/>
                </a:xfrm>
              </p:grpSpPr>
              <p:grpSp>
                <p:nvGrpSpPr>
                  <p:cNvPr id="254" name="Group 291"/>
                  <p:cNvGrpSpPr/>
                  <p:nvPr/>
                </p:nvGrpSpPr>
                <p:grpSpPr bwMode="auto">
                  <a:xfrm>
                    <a:off x="4981" y="2534"/>
                    <a:ext cx="81" cy="55"/>
                    <a:chOff x="4981" y="2534"/>
                    <a:chExt cx="81" cy="55"/>
                  </a:xfrm>
                </p:grpSpPr>
                <p:sp>
                  <p:nvSpPr>
                    <p:cNvPr id="259" name="Freeform 292"/>
                    <p:cNvSpPr/>
                    <p:nvPr/>
                  </p:nvSpPr>
                  <p:spPr bwMode="auto">
                    <a:xfrm>
                      <a:off x="4995" y="2534"/>
                      <a:ext cx="67" cy="55"/>
                    </a:xfrm>
                    <a:custGeom>
                      <a:avLst/>
                      <a:gdLst>
                        <a:gd name="T0" fmla="*/ 25 w 403"/>
                        <a:gd name="T1" fmla="*/ 63 h 277"/>
                        <a:gd name="T2" fmla="*/ 96 w 403"/>
                        <a:gd name="T3" fmla="*/ 63 h 277"/>
                        <a:gd name="T4" fmla="*/ 221 w 403"/>
                        <a:gd name="T5" fmla="*/ 0 h 277"/>
                        <a:gd name="T6" fmla="*/ 250 w 403"/>
                        <a:gd name="T7" fmla="*/ 7 h 277"/>
                        <a:gd name="T8" fmla="*/ 297 w 403"/>
                        <a:gd name="T9" fmla="*/ 39 h 277"/>
                        <a:gd name="T10" fmla="*/ 341 w 403"/>
                        <a:gd name="T11" fmla="*/ 82 h 277"/>
                        <a:gd name="T12" fmla="*/ 385 w 403"/>
                        <a:gd name="T13" fmla="*/ 129 h 277"/>
                        <a:gd name="T14" fmla="*/ 403 w 403"/>
                        <a:gd name="T15" fmla="*/ 166 h 277"/>
                        <a:gd name="T16" fmla="*/ 399 w 403"/>
                        <a:gd name="T17" fmla="*/ 181 h 277"/>
                        <a:gd name="T18" fmla="*/ 387 w 403"/>
                        <a:gd name="T19" fmla="*/ 190 h 277"/>
                        <a:gd name="T20" fmla="*/ 371 w 403"/>
                        <a:gd name="T21" fmla="*/ 186 h 277"/>
                        <a:gd name="T22" fmla="*/ 353 w 403"/>
                        <a:gd name="T23" fmla="*/ 175 h 277"/>
                        <a:gd name="T24" fmla="*/ 378 w 403"/>
                        <a:gd name="T25" fmla="*/ 205 h 277"/>
                        <a:gd name="T26" fmla="*/ 374 w 403"/>
                        <a:gd name="T27" fmla="*/ 228 h 277"/>
                        <a:gd name="T28" fmla="*/ 356 w 403"/>
                        <a:gd name="T29" fmla="*/ 238 h 277"/>
                        <a:gd name="T30" fmla="*/ 330 w 403"/>
                        <a:gd name="T31" fmla="*/ 232 h 277"/>
                        <a:gd name="T32" fmla="*/ 309 w 403"/>
                        <a:gd name="T33" fmla="*/ 220 h 277"/>
                        <a:gd name="T34" fmla="*/ 291 w 403"/>
                        <a:gd name="T35" fmla="*/ 210 h 277"/>
                        <a:gd name="T36" fmla="*/ 309 w 403"/>
                        <a:gd name="T37" fmla="*/ 234 h 277"/>
                        <a:gd name="T38" fmla="*/ 310 w 403"/>
                        <a:gd name="T39" fmla="*/ 254 h 277"/>
                        <a:gd name="T40" fmla="*/ 298 w 403"/>
                        <a:gd name="T41" fmla="*/ 265 h 277"/>
                        <a:gd name="T42" fmla="*/ 282 w 403"/>
                        <a:gd name="T43" fmla="*/ 268 h 277"/>
                        <a:gd name="T44" fmla="*/ 269 w 403"/>
                        <a:gd name="T45" fmla="*/ 262 h 277"/>
                        <a:gd name="T46" fmla="*/ 257 w 403"/>
                        <a:gd name="T47" fmla="*/ 253 h 277"/>
                        <a:gd name="T48" fmla="*/ 254 w 403"/>
                        <a:gd name="T49" fmla="*/ 268 h 277"/>
                        <a:gd name="T50" fmla="*/ 240 w 403"/>
                        <a:gd name="T51" fmla="*/ 277 h 277"/>
                        <a:gd name="T52" fmla="*/ 221 w 403"/>
                        <a:gd name="T53" fmla="*/ 275 h 277"/>
                        <a:gd name="T54" fmla="*/ 203 w 403"/>
                        <a:gd name="T55" fmla="*/ 264 h 277"/>
                        <a:gd name="T56" fmla="*/ 190 w 403"/>
                        <a:gd name="T57" fmla="*/ 258 h 277"/>
                        <a:gd name="T58" fmla="*/ 168 w 403"/>
                        <a:gd name="T59" fmla="*/ 258 h 277"/>
                        <a:gd name="T60" fmla="*/ 146 w 403"/>
                        <a:gd name="T61" fmla="*/ 253 h 277"/>
                        <a:gd name="T62" fmla="*/ 113 w 403"/>
                        <a:gd name="T63" fmla="*/ 246 h 277"/>
                        <a:gd name="T64" fmla="*/ 79 w 403"/>
                        <a:gd name="T65" fmla="*/ 236 h 277"/>
                        <a:gd name="T66" fmla="*/ 60 w 403"/>
                        <a:gd name="T67" fmla="*/ 232 h 277"/>
                        <a:gd name="T68" fmla="*/ 29 w 403"/>
                        <a:gd name="T69" fmla="*/ 228 h 277"/>
                        <a:gd name="T70" fmla="*/ 0 w 403"/>
                        <a:gd name="T71" fmla="*/ 225 h 277"/>
                        <a:gd name="T72" fmla="*/ 25 w 403"/>
                        <a:gd name="T73" fmla="*/ 63 h 27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</a:cxnLst>
                      <a:rect l="0" t="0" r="r" b="b"/>
                      <a:pathLst>
                        <a:path w="403" h="277">
                          <a:moveTo>
                            <a:pt x="25" y="63"/>
                          </a:moveTo>
                          <a:lnTo>
                            <a:pt x="96" y="63"/>
                          </a:lnTo>
                          <a:lnTo>
                            <a:pt x="221" y="0"/>
                          </a:lnTo>
                          <a:lnTo>
                            <a:pt x="250" y="7"/>
                          </a:lnTo>
                          <a:lnTo>
                            <a:pt x="297" y="39"/>
                          </a:lnTo>
                          <a:lnTo>
                            <a:pt x="341" y="82"/>
                          </a:lnTo>
                          <a:lnTo>
                            <a:pt x="385" y="129"/>
                          </a:lnTo>
                          <a:lnTo>
                            <a:pt x="403" y="166"/>
                          </a:lnTo>
                          <a:lnTo>
                            <a:pt x="399" y="181"/>
                          </a:lnTo>
                          <a:lnTo>
                            <a:pt x="387" y="190"/>
                          </a:lnTo>
                          <a:lnTo>
                            <a:pt x="371" y="186"/>
                          </a:lnTo>
                          <a:lnTo>
                            <a:pt x="353" y="175"/>
                          </a:lnTo>
                          <a:lnTo>
                            <a:pt x="378" y="205"/>
                          </a:lnTo>
                          <a:lnTo>
                            <a:pt x="374" y="228"/>
                          </a:lnTo>
                          <a:lnTo>
                            <a:pt x="356" y="238"/>
                          </a:lnTo>
                          <a:lnTo>
                            <a:pt x="330" y="232"/>
                          </a:lnTo>
                          <a:lnTo>
                            <a:pt x="309" y="220"/>
                          </a:lnTo>
                          <a:lnTo>
                            <a:pt x="291" y="210"/>
                          </a:lnTo>
                          <a:lnTo>
                            <a:pt x="309" y="234"/>
                          </a:lnTo>
                          <a:lnTo>
                            <a:pt x="310" y="254"/>
                          </a:lnTo>
                          <a:lnTo>
                            <a:pt x="298" y="265"/>
                          </a:lnTo>
                          <a:lnTo>
                            <a:pt x="282" y="268"/>
                          </a:lnTo>
                          <a:lnTo>
                            <a:pt x="269" y="262"/>
                          </a:lnTo>
                          <a:lnTo>
                            <a:pt x="257" y="253"/>
                          </a:lnTo>
                          <a:lnTo>
                            <a:pt x="254" y="268"/>
                          </a:lnTo>
                          <a:lnTo>
                            <a:pt x="240" y="277"/>
                          </a:lnTo>
                          <a:lnTo>
                            <a:pt x="221" y="275"/>
                          </a:lnTo>
                          <a:lnTo>
                            <a:pt x="203" y="264"/>
                          </a:lnTo>
                          <a:lnTo>
                            <a:pt x="190" y="258"/>
                          </a:lnTo>
                          <a:lnTo>
                            <a:pt x="168" y="258"/>
                          </a:lnTo>
                          <a:lnTo>
                            <a:pt x="146" y="253"/>
                          </a:lnTo>
                          <a:lnTo>
                            <a:pt x="113" y="246"/>
                          </a:lnTo>
                          <a:lnTo>
                            <a:pt x="79" y="236"/>
                          </a:lnTo>
                          <a:lnTo>
                            <a:pt x="60" y="232"/>
                          </a:lnTo>
                          <a:lnTo>
                            <a:pt x="29" y="228"/>
                          </a:lnTo>
                          <a:lnTo>
                            <a:pt x="0" y="225"/>
                          </a:lnTo>
                          <a:lnTo>
                            <a:pt x="25" y="63"/>
                          </a:lnTo>
                          <a:close/>
                        </a:path>
                      </a:pathLst>
                    </a:custGeom>
                    <a:solidFill>
                      <a:srgbClr val="FF9F9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grpSp>
                  <p:nvGrpSpPr>
                    <p:cNvPr id="260" name="Group 293"/>
                    <p:cNvGrpSpPr/>
                    <p:nvPr/>
                  </p:nvGrpSpPr>
                  <p:grpSpPr bwMode="auto">
                    <a:xfrm>
                      <a:off x="4981" y="2544"/>
                      <a:ext cx="21" cy="44"/>
                      <a:chOff x="4981" y="2544"/>
                      <a:chExt cx="21" cy="44"/>
                    </a:xfrm>
                  </p:grpSpPr>
                  <p:sp>
                    <p:nvSpPr>
                      <p:cNvPr id="261" name="Freeform 294"/>
                      <p:cNvSpPr/>
                      <p:nvPr/>
                    </p:nvSpPr>
                    <p:spPr bwMode="auto">
                      <a:xfrm>
                        <a:off x="4983" y="2545"/>
                        <a:ext cx="19" cy="40"/>
                      </a:xfrm>
                      <a:custGeom>
                        <a:avLst/>
                        <a:gdLst>
                          <a:gd name="T0" fmla="*/ 33 w 113"/>
                          <a:gd name="T1" fmla="*/ 0 h 203"/>
                          <a:gd name="T2" fmla="*/ 113 w 113"/>
                          <a:gd name="T3" fmla="*/ 10 h 203"/>
                          <a:gd name="T4" fmla="*/ 98 w 113"/>
                          <a:gd name="T5" fmla="*/ 176 h 203"/>
                          <a:gd name="T6" fmla="*/ 0 w 113"/>
                          <a:gd name="T7" fmla="*/ 203 h 203"/>
                          <a:gd name="T8" fmla="*/ 33 w 113"/>
                          <a:gd name="T9" fmla="*/ 0 h 20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113" h="203">
                            <a:moveTo>
                              <a:pt x="33" y="0"/>
                            </a:moveTo>
                            <a:lnTo>
                              <a:pt x="113" y="10"/>
                            </a:lnTo>
                            <a:lnTo>
                              <a:pt x="98" y="176"/>
                            </a:lnTo>
                            <a:lnTo>
                              <a:pt x="0" y="203"/>
                            </a:lnTo>
                            <a:lnTo>
                              <a:pt x="33" y="0"/>
                            </a:lnTo>
                            <a:close/>
                          </a:path>
                        </a:pathLst>
                      </a:custGeom>
                      <a:solidFill>
                        <a:srgbClr val="7F7F7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  <p:sp>
                    <p:nvSpPr>
                      <p:cNvPr id="262" name="Freeform 295"/>
                      <p:cNvSpPr/>
                      <p:nvPr/>
                    </p:nvSpPr>
                    <p:spPr bwMode="auto">
                      <a:xfrm>
                        <a:off x="4981" y="2544"/>
                        <a:ext cx="20" cy="44"/>
                      </a:xfrm>
                      <a:custGeom>
                        <a:avLst/>
                        <a:gdLst>
                          <a:gd name="T0" fmla="*/ 43 w 123"/>
                          <a:gd name="T1" fmla="*/ 0 h 221"/>
                          <a:gd name="T2" fmla="*/ 123 w 123"/>
                          <a:gd name="T3" fmla="*/ 9 h 221"/>
                          <a:gd name="T4" fmla="*/ 103 w 123"/>
                          <a:gd name="T5" fmla="*/ 221 h 221"/>
                          <a:gd name="T6" fmla="*/ 0 w 123"/>
                          <a:gd name="T7" fmla="*/ 212 h 221"/>
                          <a:gd name="T8" fmla="*/ 43 w 123"/>
                          <a:gd name="T9" fmla="*/ 0 h 221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123" h="221">
                            <a:moveTo>
                              <a:pt x="43" y="0"/>
                            </a:moveTo>
                            <a:lnTo>
                              <a:pt x="123" y="9"/>
                            </a:lnTo>
                            <a:lnTo>
                              <a:pt x="103" y="221"/>
                            </a:lnTo>
                            <a:lnTo>
                              <a:pt x="0" y="212"/>
                            </a:lnTo>
                            <a:lnTo>
                              <a:pt x="43" y="0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 sz="3655"/>
                      </a:p>
                    </p:txBody>
                  </p:sp>
                </p:grpSp>
              </p:grpSp>
              <p:grpSp>
                <p:nvGrpSpPr>
                  <p:cNvPr id="255" name="Group 296"/>
                  <p:cNvGrpSpPr/>
                  <p:nvPr/>
                </p:nvGrpSpPr>
                <p:grpSpPr bwMode="auto">
                  <a:xfrm>
                    <a:off x="5029" y="2558"/>
                    <a:ext cx="25" cy="26"/>
                    <a:chOff x="5029" y="2558"/>
                    <a:chExt cx="25" cy="26"/>
                  </a:xfrm>
                </p:grpSpPr>
                <p:sp>
                  <p:nvSpPr>
                    <p:cNvPr id="256" name="Freeform 297"/>
                    <p:cNvSpPr/>
                    <p:nvPr/>
                  </p:nvSpPr>
                  <p:spPr bwMode="auto">
                    <a:xfrm>
                      <a:off x="5045" y="2558"/>
                      <a:ext cx="9" cy="10"/>
                    </a:xfrm>
                    <a:custGeom>
                      <a:avLst/>
                      <a:gdLst>
                        <a:gd name="T0" fmla="*/ 52 w 52"/>
                        <a:gd name="T1" fmla="*/ 54 h 54"/>
                        <a:gd name="T2" fmla="*/ 0 w 52"/>
                        <a:gd name="T3" fmla="*/ 0 h 54"/>
                        <a:gd name="T4" fmla="*/ 41 w 52"/>
                        <a:gd name="T5" fmla="*/ 54 h 54"/>
                        <a:gd name="T6" fmla="*/ 52 w 52"/>
                        <a:gd name="T7" fmla="*/ 54 h 5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</a:cxnLst>
                      <a:rect l="0" t="0" r="r" b="b"/>
                      <a:pathLst>
                        <a:path w="52" h="54">
                          <a:moveTo>
                            <a:pt x="52" y="54"/>
                          </a:moveTo>
                          <a:lnTo>
                            <a:pt x="0" y="0"/>
                          </a:lnTo>
                          <a:lnTo>
                            <a:pt x="41" y="54"/>
                          </a:lnTo>
                          <a:lnTo>
                            <a:pt x="52" y="54"/>
                          </a:lnTo>
                          <a:close/>
                        </a:path>
                      </a:pathLst>
                    </a:custGeom>
                    <a:solidFill>
                      <a:srgbClr val="BF7F3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57" name="Freeform 298"/>
                    <p:cNvSpPr/>
                    <p:nvPr/>
                  </p:nvSpPr>
                  <p:spPr bwMode="auto">
                    <a:xfrm>
                      <a:off x="5034" y="2565"/>
                      <a:ext cx="12" cy="12"/>
                    </a:xfrm>
                    <a:custGeom>
                      <a:avLst/>
                      <a:gdLst>
                        <a:gd name="T0" fmla="*/ 0 w 69"/>
                        <a:gd name="T1" fmla="*/ 0 h 58"/>
                        <a:gd name="T2" fmla="*/ 39 w 69"/>
                        <a:gd name="T3" fmla="*/ 32 h 58"/>
                        <a:gd name="T4" fmla="*/ 69 w 69"/>
                        <a:gd name="T5" fmla="*/ 54 h 58"/>
                        <a:gd name="T6" fmla="*/ 58 w 69"/>
                        <a:gd name="T7" fmla="*/ 58 h 58"/>
                        <a:gd name="T8" fmla="*/ 30 w 69"/>
                        <a:gd name="T9" fmla="*/ 34 h 58"/>
                        <a:gd name="T10" fmla="*/ 0 w 69"/>
                        <a:gd name="T11" fmla="*/ 0 h 5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69" h="58">
                          <a:moveTo>
                            <a:pt x="0" y="0"/>
                          </a:moveTo>
                          <a:lnTo>
                            <a:pt x="39" y="32"/>
                          </a:lnTo>
                          <a:lnTo>
                            <a:pt x="69" y="54"/>
                          </a:lnTo>
                          <a:lnTo>
                            <a:pt x="58" y="58"/>
                          </a:lnTo>
                          <a:lnTo>
                            <a:pt x="30" y="34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F7F3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58" name="Freeform 299"/>
                    <p:cNvSpPr/>
                    <p:nvPr/>
                  </p:nvSpPr>
                  <p:spPr bwMode="auto">
                    <a:xfrm>
                      <a:off x="5029" y="2578"/>
                      <a:ext cx="8" cy="6"/>
                    </a:xfrm>
                    <a:custGeom>
                      <a:avLst/>
                      <a:gdLst>
                        <a:gd name="T0" fmla="*/ 48 w 48"/>
                        <a:gd name="T1" fmla="*/ 29 h 29"/>
                        <a:gd name="T2" fmla="*/ 0 w 48"/>
                        <a:gd name="T3" fmla="*/ 2 h 29"/>
                        <a:gd name="T4" fmla="*/ 11 w 48"/>
                        <a:gd name="T5" fmla="*/ 0 h 29"/>
                        <a:gd name="T6" fmla="*/ 48 w 48"/>
                        <a:gd name="T7" fmla="*/ 29 h 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</a:cxnLst>
                      <a:rect l="0" t="0" r="r" b="b"/>
                      <a:pathLst>
                        <a:path w="48" h="29">
                          <a:moveTo>
                            <a:pt x="48" y="29"/>
                          </a:moveTo>
                          <a:lnTo>
                            <a:pt x="0" y="2"/>
                          </a:lnTo>
                          <a:lnTo>
                            <a:pt x="11" y="0"/>
                          </a:lnTo>
                          <a:lnTo>
                            <a:pt x="48" y="29"/>
                          </a:lnTo>
                          <a:close/>
                        </a:path>
                      </a:pathLst>
                    </a:custGeom>
                    <a:solidFill>
                      <a:srgbClr val="BF7F3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  <p:grpSp>
              <p:nvGrpSpPr>
                <p:cNvPr id="247" name="Group 300"/>
                <p:cNvGrpSpPr/>
                <p:nvPr/>
              </p:nvGrpSpPr>
              <p:grpSpPr bwMode="auto">
                <a:xfrm>
                  <a:off x="5016" y="2519"/>
                  <a:ext cx="48" cy="49"/>
                  <a:chOff x="5016" y="2519"/>
                  <a:chExt cx="48" cy="49"/>
                </a:xfrm>
              </p:grpSpPr>
              <p:grpSp>
                <p:nvGrpSpPr>
                  <p:cNvPr id="248" name="Group 301"/>
                  <p:cNvGrpSpPr/>
                  <p:nvPr/>
                </p:nvGrpSpPr>
                <p:grpSpPr bwMode="auto">
                  <a:xfrm>
                    <a:off x="5016" y="2519"/>
                    <a:ext cx="48" cy="49"/>
                    <a:chOff x="5016" y="2519"/>
                    <a:chExt cx="48" cy="49"/>
                  </a:xfrm>
                </p:grpSpPr>
                <p:sp>
                  <p:nvSpPr>
                    <p:cNvPr id="252" name="Freeform 302"/>
                    <p:cNvSpPr/>
                    <p:nvPr/>
                  </p:nvSpPr>
                  <p:spPr bwMode="auto">
                    <a:xfrm>
                      <a:off x="5016" y="2519"/>
                      <a:ext cx="44" cy="49"/>
                    </a:xfrm>
                    <a:custGeom>
                      <a:avLst/>
                      <a:gdLst>
                        <a:gd name="T0" fmla="*/ 104 w 262"/>
                        <a:gd name="T1" fmla="*/ 15 h 244"/>
                        <a:gd name="T2" fmla="*/ 118 w 262"/>
                        <a:gd name="T3" fmla="*/ 11 h 244"/>
                        <a:gd name="T4" fmla="*/ 137 w 262"/>
                        <a:gd name="T5" fmla="*/ 17 h 244"/>
                        <a:gd name="T6" fmla="*/ 165 w 262"/>
                        <a:gd name="T7" fmla="*/ 0 h 244"/>
                        <a:gd name="T8" fmla="*/ 179 w 262"/>
                        <a:gd name="T9" fmla="*/ 5 h 244"/>
                        <a:gd name="T10" fmla="*/ 192 w 262"/>
                        <a:gd name="T11" fmla="*/ 24 h 244"/>
                        <a:gd name="T12" fmla="*/ 210 w 262"/>
                        <a:gd name="T13" fmla="*/ 30 h 244"/>
                        <a:gd name="T14" fmla="*/ 229 w 262"/>
                        <a:gd name="T15" fmla="*/ 36 h 244"/>
                        <a:gd name="T16" fmla="*/ 246 w 262"/>
                        <a:gd name="T17" fmla="*/ 83 h 244"/>
                        <a:gd name="T18" fmla="*/ 258 w 262"/>
                        <a:gd name="T19" fmla="*/ 157 h 244"/>
                        <a:gd name="T20" fmla="*/ 245 w 262"/>
                        <a:gd name="T21" fmla="*/ 176 h 244"/>
                        <a:gd name="T22" fmla="*/ 227 w 262"/>
                        <a:gd name="T23" fmla="*/ 161 h 244"/>
                        <a:gd name="T24" fmla="*/ 221 w 262"/>
                        <a:gd name="T25" fmla="*/ 141 h 244"/>
                        <a:gd name="T26" fmla="*/ 204 w 262"/>
                        <a:gd name="T27" fmla="*/ 100 h 244"/>
                        <a:gd name="T28" fmla="*/ 195 w 262"/>
                        <a:gd name="T29" fmla="*/ 73 h 244"/>
                        <a:gd name="T30" fmla="*/ 188 w 262"/>
                        <a:gd name="T31" fmla="*/ 153 h 244"/>
                        <a:gd name="T32" fmla="*/ 189 w 262"/>
                        <a:gd name="T33" fmla="*/ 228 h 244"/>
                        <a:gd name="T34" fmla="*/ 170 w 262"/>
                        <a:gd name="T35" fmla="*/ 244 h 244"/>
                        <a:gd name="T36" fmla="*/ 152 w 262"/>
                        <a:gd name="T37" fmla="*/ 236 h 244"/>
                        <a:gd name="T38" fmla="*/ 141 w 262"/>
                        <a:gd name="T39" fmla="*/ 205 h 244"/>
                        <a:gd name="T40" fmla="*/ 137 w 262"/>
                        <a:gd name="T41" fmla="*/ 105 h 244"/>
                        <a:gd name="T42" fmla="*/ 128 w 262"/>
                        <a:gd name="T43" fmla="*/ 90 h 244"/>
                        <a:gd name="T44" fmla="*/ 113 w 262"/>
                        <a:gd name="T45" fmla="*/ 123 h 244"/>
                        <a:gd name="T46" fmla="*/ 117 w 262"/>
                        <a:gd name="T47" fmla="*/ 167 h 244"/>
                        <a:gd name="T48" fmla="*/ 121 w 262"/>
                        <a:gd name="T49" fmla="*/ 212 h 244"/>
                        <a:gd name="T50" fmla="*/ 109 w 262"/>
                        <a:gd name="T51" fmla="*/ 229 h 244"/>
                        <a:gd name="T52" fmla="*/ 87 w 262"/>
                        <a:gd name="T53" fmla="*/ 231 h 244"/>
                        <a:gd name="T54" fmla="*/ 74 w 262"/>
                        <a:gd name="T55" fmla="*/ 199 h 244"/>
                        <a:gd name="T56" fmla="*/ 74 w 262"/>
                        <a:gd name="T57" fmla="*/ 98 h 244"/>
                        <a:gd name="T58" fmla="*/ 57 w 262"/>
                        <a:gd name="T59" fmla="*/ 115 h 244"/>
                        <a:gd name="T60" fmla="*/ 48 w 262"/>
                        <a:gd name="T61" fmla="*/ 145 h 244"/>
                        <a:gd name="T62" fmla="*/ 41 w 262"/>
                        <a:gd name="T63" fmla="*/ 188 h 244"/>
                        <a:gd name="T64" fmla="*/ 29 w 262"/>
                        <a:gd name="T65" fmla="*/ 202 h 244"/>
                        <a:gd name="T66" fmla="*/ 6 w 262"/>
                        <a:gd name="T67" fmla="*/ 199 h 244"/>
                        <a:gd name="T68" fmla="*/ 1 w 262"/>
                        <a:gd name="T69" fmla="*/ 160 h 244"/>
                        <a:gd name="T70" fmla="*/ 14 w 262"/>
                        <a:gd name="T71" fmla="*/ 103 h 244"/>
                        <a:gd name="T72" fmla="*/ 55 w 262"/>
                        <a:gd name="T73" fmla="*/ 25 h 244"/>
                        <a:gd name="T74" fmla="*/ 70 w 262"/>
                        <a:gd name="T75" fmla="*/ 24 h 244"/>
                        <a:gd name="T76" fmla="*/ 91 w 262"/>
                        <a:gd name="T77" fmla="*/ 33 h 24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</a:cxnLst>
                      <a:rect l="0" t="0" r="r" b="b"/>
                      <a:pathLst>
                        <a:path w="262" h="244">
                          <a:moveTo>
                            <a:pt x="91" y="33"/>
                          </a:moveTo>
                          <a:lnTo>
                            <a:pt x="104" y="15"/>
                          </a:lnTo>
                          <a:lnTo>
                            <a:pt x="110" y="10"/>
                          </a:lnTo>
                          <a:lnTo>
                            <a:pt x="118" y="11"/>
                          </a:lnTo>
                          <a:lnTo>
                            <a:pt x="127" y="15"/>
                          </a:lnTo>
                          <a:lnTo>
                            <a:pt x="137" y="17"/>
                          </a:lnTo>
                          <a:lnTo>
                            <a:pt x="159" y="3"/>
                          </a:lnTo>
                          <a:lnTo>
                            <a:pt x="165" y="0"/>
                          </a:lnTo>
                          <a:lnTo>
                            <a:pt x="174" y="1"/>
                          </a:lnTo>
                          <a:lnTo>
                            <a:pt x="179" y="5"/>
                          </a:lnTo>
                          <a:lnTo>
                            <a:pt x="186" y="12"/>
                          </a:lnTo>
                          <a:lnTo>
                            <a:pt x="192" y="24"/>
                          </a:lnTo>
                          <a:lnTo>
                            <a:pt x="201" y="27"/>
                          </a:lnTo>
                          <a:lnTo>
                            <a:pt x="210" y="30"/>
                          </a:lnTo>
                          <a:lnTo>
                            <a:pt x="222" y="32"/>
                          </a:lnTo>
                          <a:lnTo>
                            <a:pt x="229" y="36"/>
                          </a:lnTo>
                          <a:lnTo>
                            <a:pt x="237" y="59"/>
                          </a:lnTo>
                          <a:lnTo>
                            <a:pt x="246" y="83"/>
                          </a:lnTo>
                          <a:lnTo>
                            <a:pt x="262" y="113"/>
                          </a:lnTo>
                          <a:lnTo>
                            <a:pt x="258" y="157"/>
                          </a:lnTo>
                          <a:lnTo>
                            <a:pt x="258" y="173"/>
                          </a:lnTo>
                          <a:lnTo>
                            <a:pt x="245" y="176"/>
                          </a:lnTo>
                          <a:lnTo>
                            <a:pt x="235" y="171"/>
                          </a:lnTo>
                          <a:lnTo>
                            <a:pt x="227" y="161"/>
                          </a:lnTo>
                          <a:lnTo>
                            <a:pt x="223" y="151"/>
                          </a:lnTo>
                          <a:lnTo>
                            <a:pt x="221" y="141"/>
                          </a:lnTo>
                          <a:lnTo>
                            <a:pt x="219" y="126"/>
                          </a:lnTo>
                          <a:lnTo>
                            <a:pt x="204" y="100"/>
                          </a:lnTo>
                          <a:lnTo>
                            <a:pt x="201" y="92"/>
                          </a:lnTo>
                          <a:lnTo>
                            <a:pt x="195" y="73"/>
                          </a:lnTo>
                          <a:lnTo>
                            <a:pt x="186" y="113"/>
                          </a:lnTo>
                          <a:lnTo>
                            <a:pt x="188" y="153"/>
                          </a:lnTo>
                          <a:lnTo>
                            <a:pt x="188" y="213"/>
                          </a:lnTo>
                          <a:lnTo>
                            <a:pt x="189" y="228"/>
                          </a:lnTo>
                          <a:lnTo>
                            <a:pt x="182" y="240"/>
                          </a:lnTo>
                          <a:lnTo>
                            <a:pt x="170" y="244"/>
                          </a:lnTo>
                          <a:lnTo>
                            <a:pt x="159" y="242"/>
                          </a:lnTo>
                          <a:lnTo>
                            <a:pt x="152" y="236"/>
                          </a:lnTo>
                          <a:lnTo>
                            <a:pt x="146" y="224"/>
                          </a:lnTo>
                          <a:lnTo>
                            <a:pt x="141" y="205"/>
                          </a:lnTo>
                          <a:lnTo>
                            <a:pt x="141" y="145"/>
                          </a:lnTo>
                          <a:lnTo>
                            <a:pt x="137" y="105"/>
                          </a:lnTo>
                          <a:lnTo>
                            <a:pt x="139" y="68"/>
                          </a:lnTo>
                          <a:lnTo>
                            <a:pt x="128" y="90"/>
                          </a:lnTo>
                          <a:lnTo>
                            <a:pt x="118" y="108"/>
                          </a:lnTo>
                          <a:lnTo>
                            <a:pt x="113" y="123"/>
                          </a:lnTo>
                          <a:lnTo>
                            <a:pt x="115" y="141"/>
                          </a:lnTo>
                          <a:lnTo>
                            <a:pt x="117" y="167"/>
                          </a:lnTo>
                          <a:lnTo>
                            <a:pt x="121" y="202"/>
                          </a:lnTo>
                          <a:lnTo>
                            <a:pt x="121" y="212"/>
                          </a:lnTo>
                          <a:lnTo>
                            <a:pt x="117" y="220"/>
                          </a:lnTo>
                          <a:lnTo>
                            <a:pt x="109" y="229"/>
                          </a:lnTo>
                          <a:lnTo>
                            <a:pt x="98" y="234"/>
                          </a:lnTo>
                          <a:lnTo>
                            <a:pt x="87" y="231"/>
                          </a:lnTo>
                          <a:lnTo>
                            <a:pt x="81" y="220"/>
                          </a:lnTo>
                          <a:lnTo>
                            <a:pt x="74" y="199"/>
                          </a:lnTo>
                          <a:lnTo>
                            <a:pt x="69" y="126"/>
                          </a:lnTo>
                          <a:lnTo>
                            <a:pt x="74" y="98"/>
                          </a:lnTo>
                          <a:lnTo>
                            <a:pt x="63" y="106"/>
                          </a:lnTo>
                          <a:lnTo>
                            <a:pt x="57" y="115"/>
                          </a:lnTo>
                          <a:lnTo>
                            <a:pt x="51" y="131"/>
                          </a:lnTo>
                          <a:lnTo>
                            <a:pt x="48" y="145"/>
                          </a:lnTo>
                          <a:lnTo>
                            <a:pt x="44" y="163"/>
                          </a:lnTo>
                          <a:lnTo>
                            <a:pt x="41" y="188"/>
                          </a:lnTo>
                          <a:lnTo>
                            <a:pt x="37" y="197"/>
                          </a:lnTo>
                          <a:lnTo>
                            <a:pt x="29" y="202"/>
                          </a:lnTo>
                          <a:lnTo>
                            <a:pt x="17" y="203"/>
                          </a:lnTo>
                          <a:lnTo>
                            <a:pt x="6" y="199"/>
                          </a:lnTo>
                          <a:lnTo>
                            <a:pt x="0" y="192"/>
                          </a:lnTo>
                          <a:lnTo>
                            <a:pt x="1" y="160"/>
                          </a:lnTo>
                          <a:lnTo>
                            <a:pt x="8" y="127"/>
                          </a:lnTo>
                          <a:lnTo>
                            <a:pt x="14" y="103"/>
                          </a:lnTo>
                          <a:lnTo>
                            <a:pt x="30" y="67"/>
                          </a:lnTo>
                          <a:lnTo>
                            <a:pt x="55" y="25"/>
                          </a:lnTo>
                          <a:lnTo>
                            <a:pt x="62" y="24"/>
                          </a:lnTo>
                          <a:lnTo>
                            <a:pt x="70" y="24"/>
                          </a:lnTo>
                          <a:lnTo>
                            <a:pt x="80" y="27"/>
                          </a:lnTo>
                          <a:lnTo>
                            <a:pt x="91" y="33"/>
                          </a:lnTo>
                          <a:close/>
                        </a:path>
                      </a:pathLst>
                    </a:custGeom>
                    <a:solidFill>
                      <a:srgbClr val="FF9F7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53" name="Freeform 303"/>
                    <p:cNvSpPr/>
                    <p:nvPr/>
                  </p:nvSpPr>
                  <p:spPr bwMode="auto">
                    <a:xfrm>
                      <a:off x="5054" y="2525"/>
                      <a:ext cx="10" cy="14"/>
                    </a:xfrm>
                    <a:custGeom>
                      <a:avLst/>
                      <a:gdLst>
                        <a:gd name="T0" fmla="*/ 0 w 61"/>
                        <a:gd name="T1" fmla="*/ 29 h 73"/>
                        <a:gd name="T2" fmla="*/ 5 w 61"/>
                        <a:gd name="T3" fmla="*/ 20 h 73"/>
                        <a:gd name="T4" fmla="*/ 15 w 61"/>
                        <a:gd name="T5" fmla="*/ 5 h 73"/>
                        <a:gd name="T6" fmla="*/ 25 w 61"/>
                        <a:gd name="T7" fmla="*/ 0 h 73"/>
                        <a:gd name="T8" fmla="*/ 38 w 61"/>
                        <a:gd name="T9" fmla="*/ 2 h 73"/>
                        <a:gd name="T10" fmla="*/ 47 w 61"/>
                        <a:gd name="T11" fmla="*/ 6 h 73"/>
                        <a:gd name="T12" fmla="*/ 59 w 61"/>
                        <a:gd name="T13" fmla="*/ 15 h 73"/>
                        <a:gd name="T14" fmla="*/ 61 w 61"/>
                        <a:gd name="T15" fmla="*/ 24 h 73"/>
                        <a:gd name="T16" fmla="*/ 61 w 61"/>
                        <a:gd name="T17" fmla="*/ 37 h 73"/>
                        <a:gd name="T18" fmla="*/ 59 w 61"/>
                        <a:gd name="T19" fmla="*/ 46 h 73"/>
                        <a:gd name="T20" fmla="*/ 55 w 61"/>
                        <a:gd name="T21" fmla="*/ 56 h 73"/>
                        <a:gd name="T22" fmla="*/ 42 w 61"/>
                        <a:gd name="T23" fmla="*/ 62 h 73"/>
                        <a:gd name="T24" fmla="*/ 18 w 61"/>
                        <a:gd name="T25" fmla="*/ 73 h 73"/>
                        <a:gd name="T26" fmla="*/ 0 w 61"/>
                        <a:gd name="T27" fmla="*/ 29 h 7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</a:cxnLst>
                      <a:rect l="0" t="0" r="r" b="b"/>
                      <a:pathLst>
                        <a:path w="61" h="73">
                          <a:moveTo>
                            <a:pt x="0" y="29"/>
                          </a:moveTo>
                          <a:lnTo>
                            <a:pt x="5" y="20"/>
                          </a:lnTo>
                          <a:lnTo>
                            <a:pt x="15" y="5"/>
                          </a:lnTo>
                          <a:lnTo>
                            <a:pt x="25" y="0"/>
                          </a:lnTo>
                          <a:lnTo>
                            <a:pt x="38" y="2"/>
                          </a:lnTo>
                          <a:lnTo>
                            <a:pt x="47" y="6"/>
                          </a:lnTo>
                          <a:lnTo>
                            <a:pt x="59" y="15"/>
                          </a:lnTo>
                          <a:lnTo>
                            <a:pt x="61" y="24"/>
                          </a:lnTo>
                          <a:lnTo>
                            <a:pt x="61" y="37"/>
                          </a:lnTo>
                          <a:lnTo>
                            <a:pt x="59" y="46"/>
                          </a:lnTo>
                          <a:lnTo>
                            <a:pt x="55" y="56"/>
                          </a:lnTo>
                          <a:lnTo>
                            <a:pt x="42" y="62"/>
                          </a:lnTo>
                          <a:lnTo>
                            <a:pt x="18" y="73"/>
                          </a:lnTo>
                          <a:lnTo>
                            <a:pt x="0" y="29"/>
                          </a:lnTo>
                          <a:close/>
                        </a:path>
                      </a:pathLst>
                    </a:custGeom>
                    <a:solidFill>
                      <a:srgbClr val="FF9F7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249" name="Group 304"/>
                  <p:cNvGrpSpPr/>
                  <p:nvPr/>
                </p:nvGrpSpPr>
                <p:grpSpPr bwMode="auto">
                  <a:xfrm>
                    <a:off x="5016" y="2519"/>
                    <a:ext cx="48" cy="48"/>
                    <a:chOff x="5016" y="2519"/>
                    <a:chExt cx="48" cy="48"/>
                  </a:xfrm>
                </p:grpSpPr>
                <p:sp>
                  <p:nvSpPr>
                    <p:cNvPr id="250" name="Freeform 305"/>
                    <p:cNvSpPr/>
                    <p:nvPr/>
                  </p:nvSpPr>
                  <p:spPr bwMode="auto">
                    <a:xfrm>
                      <a:off x="5016" y="2519"/>
                      <a:ext cx="43" cy="48"/>
                    </a:xfrm>
                    <a:custGeom>
                      <a:avLst/>
                      <a:gdLst>
                        <a:gd name="T0" fmla="*/ 103 w 261"/>
                        <a:gd name="T1" fmla="*/ 15 h 244"/>
                        <a:gd name="T2" fmla="*/ 118 w 261"/>
                        <a:gd name="T3" fmla="*/ 12 h 244"/>
                        <a:gd name="T4" fmla="*/ 137 w 261"/>
                        <a:gd name="T5" fmla="*/ 18 h 244"/>
                        <a:gd name="T6" fmla="*/ 164 w 261"/>
                        <a:gd name="T7" fmla="*/ 0 h 244"/>
                        <a:gd name="T8" fmla="*/ 179 w 261"/>
                        <a:gd name="T9" fmla="*/ 5 h 244"/>
                        <a:gd name="T10" fmla="*/ 192 w 261"/>
                        <a:gd name="T11" fmla="*/ 24 h 244"/>
                        <a:gd name="T12" fmla="*/ 210 w 261"/>
                        <a:gd name="T13" fmla="*/ 30 h 244"/>
                        <a:gd name="T14" fmla="*/ 229 w 261"/>
                        <a:gd name="T15" fmla="*/ 36 h 244"/>
                        <a:gd name="T16" fmla="*/ 246 w 261"/>
                        <a:gd name="T17" fmla="*/ 83 h 244"/>
                        <a:gd name="T18" fmla="*/ 258 w 261"/>
                        <a:gd name="T19" fmla="*/ 157 h 244"/>
                        <a:gd name="T20" fmla="*/ 245 w 261"/>
                        <a:gd name="T21" fmla="*/ 176 h 244"/>
                        <a:gd name="T22" fmla="*/ 227 w 261"/>
                        <a:gd name="T23" fmla="*/ 161 h 244"/>
                        <a:gd name="T24" fmla="*/ 221 w 261"/>
                        <a:gd name="T25" fmla="*/ 141 h 244"/>
                        <a:gd name="T26" fmla="*/ 204 w 261"/>
                        <a:gd name="T27" fmla="*/ 101 h 244"/>
                        <a:gd name="T28" fmla="*/ 194 w 261"/>
                        <a:gd name="T29" fmla="*/ 73 h 244"/>
                        <a:gd name="T30" fmla="*/ 187 w 261"/>
                        <a:gd name="T31" fmla="*/ 154 h 244"/>
                        <a:gd name="T32" fmla="*/ 188 w 261"/>
                        <a:gd name="T33" fmla="*/ 228 h 244"/>
                        <a:gd name="T34" fmla="*/ 169 w 261"/>
                        <a:gd name="T35" fmla="*/ 244 h 244"/>
                        <a:gd name="T36" fmla="*/ 151 w 261"/>
                        <a:gd name="T37" fmla="*/ 237 h 244"/>
                        <a:gd name="T38" fmla="*/ 141 w 261"/>
                        <a:gd name="T39" fmla="*/ 206 h 244"/>
                        <a:gd name="T40" fmla="*/ 137 w 261"/>
                        <a:gd name="T41" fmla="*/ 105 h 244"/>
                        <a:gd name="T42" fmla="*/ 127 w 261"/>
                        <a:gd name="T43" fmla="*/ 91 h 244"/>
                        <a:gd name="T44" fmla="*/ 113 w 261"/>
                        <a:gd name="T45" fmla="*/ 123 h 244"/>
                        <a:gd name="T46" fmla="*/ 117 w 261"/>
                        <a:gd name="T47" fmla="*/ 167 h 244"/>
                        <a:gd name="T48" fmla="*/ 120 w 261"/>
                        <a:gd name="T49" fmla="*/ 212 h 244"/>
                        <a:gd name="T50" fmla="*/ 108 w 261"/>
                        <a:gd name="T51" fmla="*/ 229 h 244"/>
                        <a:gd name="T52" fmla="*/ 87 w 261"/>
                        <a:gd name="T53" fmla="*/ 232 h 244"/>
                        <a:gd name="T54" fmla="*/ 74 w 261"/>
                        <a:gd name="T55" fmla="*/ 199 h 244"/>
                        <a:gd name="T56" fmla="*/ 74 w 261"/>
                        <a:gd name="T57" fmla="*/ 98 h 244"/>
                        <a:gd name="T58" fmla="*/ 57 w 261"/>
                        <a:gd name="T59" fmla="*/ 115 h 244"/>
                        <a:gd name="T60" fmla="*/ 47 w 261"/>
                        <a:gd name="T61" fmla="*/ 145 h 244"/>
                        <a:gd name="T62" fmla="*/ 40 w 261"/>
                        <a:gd name="T63" fmla="*/ 188 h 244"/>
                        <a:gd name="T64" fmla="*/ 28 w 261"/>
                        <a:gd name="T65" fmla="*/ 202 h 244"/>
                        <a:gd name="T66" fmla="*/ 6 w 261"/>
                        <a:gd name="T67" fmla="*/ 199 h 244"/>
                        <a:gd name="T68" fmla="*/ 1 w 261"/>
                        <a:gd name="T69" fmla="*/ 160 h 244"/>
                        <a:gd name="T70" fmla="*/ 14 w 261"/>
                        <a:gd name="T71" fmla="*/ 103 h 244"/>
                        <a:gd name="T72" fmla="*/ 55 w 261"/>
                        <a:gd name="T73" fmla="*/ 25 h 244"/>
                        <a:gd name="T74" fmla="*/ 70 w 261"/>
                        <a:gd name="T75" fmla="*/ 24 h 244"/>
                        <a:gd name="T76" fmla="*/ 90 w 261"/>
                        <a:gd name="T77" fmla="*/ 34 h 24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</a:cxnLst>
                      <a:rect l="0" t="0" r="r" b="b"/>
                      <a:pathLst>
                        <a:path w="261" h="244">
                          <a:moveTo>
                            <a:pt x="90" y="34"/>
                          </a:moveTo>
                          <a:lnTo>
                            <a:pt x="103" y="15"/>
                          </a:lnTo>
                          <a:lnTo>
                            <a:pt x="109" y="10"/>
                          </a:lnTo>
                          <a:lnTo>
                            <a:pt x="118" y="12"/>
                          </a:lnTo>
                          <a:lnTo>
                            <a:pt x="126" y="15"/>
                          </a:lnTo>
                          <a:lnTo>
                            <a:pt x="137" y="18"/>
                          </a:lnTo>
                          <a:lnTo>
                            <a:pt x="158" y="3"/>
                          </a:lnTo>
                          <a:lnTo>
                            <a:pt x="164" y="0"/>
                          </a:lnTo>
                          <a:lnTo>
                            <a:pt x="174" y="2"/>
                          </a:lnTo>
                          <a:lnTo>
                            <a:pt x="179" y="5"/>
                          </a:lnTo>
                          <a:lnTo>
                            <a:pt x="186" y="13"/>
                          </a:lnTo>
                          <a:lnTo>
                            <a:pt x="192" y="24"/>
                          </a:lnTo>
                          <a:lnTo>
                            <a:pt x="200" y="28"/>
                          </a:lnTo>
                          <a:lnTo>
                            <a:pt x="210" y="30"/>
                          </a:lnTo>
                          <a:lnTo>
                            <a:pt x="222" y="33"/>
                          </a:lnTo>
                          <a:lnTo>
                            <a:pt x="229" y="36"/>
                          </a:lnTo>
                          <a:lnTo>
                            <a:pt x="236" y="60"/>
                          </a:lnTo>
                          <a:lnTo>
                            <a:pt x="246" y="83"/>
                          </a:lnTo>
                          <a:lnTo>
                            <a:pt x="261" y="113"/>
                          </a:lnTo>
                          <a:lnTo>
                            <a:pt x="258" y="157"/>
                          </a:lnTo>
                          <a:lnTo>
                            <a:pt x="258" y="173"/>
                          </a:lnTo>
                          <a:lnTo>
                            <a:pt x="245" y="176"/>
                          </a:lnTo>
                          <a:lnTo>
                            <a:pt x="235" y="171"/>
                          </a:lnTo>
                          <a:lnTo>
                            <a:pt x="227" y="161"/>
                          </a:lnTo>
                          <a:lnTo>
                            <a:pt x="223" y="151"/>
                          </a:lnTo>
                          <a:lnTo>
                            <a:pt x="221" y="141"/>
                          </a:lnTo>
                          <a:lnTo>
                            <a:pt x="218" y="127"/>
                          </a:lnTo>
                          <a:lnTo>
                            <a:pt x="204" y="101"/>
                          </a:lnTo>
                          <a:lnTo>
                            <a:pt x="200" y="92"/>
                          </a:lnTo>
                          <a:lnTo>
                            <a:pt x="194" y="73"/>
                          </a:lnTo>
                          <a:lnTo>
                            <a:pt x="186" y="113"/>
                          </a:lnTo>
                          <a:lnTo>
                            <a:pt x="187" y="154"/>
                          </a:lnTo>
                          <a:lnTo>
                            <a:pt x="187" y="213"/>
                          </a:lnTo>
                          <a:lnTo>
                            <a:pt x="188" y="228"/>
                          </a:lnTo>
                          <a:lnTo>
                            <a:pt x="181" y="240"/>
                          </a:lnTo>
                          <a:lnTo>
                            <a:pt x="169" y="244"/>
                          </a:lnTo>
                          <a:lnTo>
                            <a:pt x="158" y="243"/>
                          </a:lnTo>
                          <a:lnTo>
                            <a:pt x="151" y="237"/>
                          </a:lnTo>
                          <a:lnTo>
                            <a:pt x="145" y="224"/>
                          </a:lnTo>
                          <a:lnTo>
                            <a:pt x="141" y="206"/>
                          </a:lnTo>
                          <a:lnTo>
                            <a:pt x="141" y="145"/>
                          </a:lnTo>
                          <a:lnTo>
                            <a:pt x="137" y="105"/>
                          </a:lnTo>
                          <a:lnTo>
                            <a:pt x="138" y="68"/>
                          </a:lnTo>
                          <a:lnTo>
                            <a:pt x="127" y="91"/>
                          </a:lnTo>
                          <a:lnTo>
                            <a:pt x="118" y="108"/>
                          </a:lnTo>
                          <a:lnTo>
                            <a:pt x="113" y="123"/>
                          </a:lnTo>
                          <a:lnTo>
                            <a:pt x="114" y="141"/>
                          </a:lnTo>
                          <a:lnTo>
                            <a:pt x="117" y="167"/>
                          </a:lnTo>
                          <a:lnTo>
                            <a:pt x="120" y="202"/>
                          </a:lnTo>
                          <a:lnTo>
                            <a:pt x="120" y="212"/>
                          </a:lnTo>
                          <a:lnTo>
                            <a:pt x="117" y="220"/>
                          </a:lnTo>
                          <a:lnTo>
                            <a:pt x="108" y="229"/>
                          </a:lnTo>
                          <a:lnTo>
                            <a:pt x="98" y="234"/>
                          </a:lnTo>
                          <a:lnTo>
                            <a:pt x="87" y="232"/>
                          </a:lnTo>
                          <a:lnTo>
                            <a:pt x="81" y="220"/>
                          </a:lnTo>
                          <a:lnTo>
                            <a:pt x="74" y="199"/>
                          </a:lnTo>
                          <a:lnTo>
                            <a:pt x="69" y="127"/>
                          </a:lnTo>
                          <a:lnTo>
                            <a:pt x="74" y="98"/>
                          </a:lnTo>
                          <a:lnTo>
                            <a:pt x="63" y="107"/>
                          </a:lnTo>
                          <a:lnTo>
                            <a:pt x="57" y="115"/>
                          </a:lnTo>
                          <a:lnTo>
                            <a:pt x="51" y="131"/>
                          </a:lnTo>
                          <a:lnTo>
                            <a:pt x="47" y="145"/>
                          </a:lnTo>
                          <a:lnTo>
                            <a:pt x="44" y="164"/>
                          </a:lnTo>
                          <a:lnTo>
                            <a:pt x="40" y="188"/>
                          </a:lnTo>
                          <a:lnTo>
                            <a:pt x="37" y="197"/>
                          </a:lnTo>
                          <a:lnTo>
                            <a:pt x="28" y="202"/>
                          </a:lnTo>
                          <a:lnTo>
                            <a:pt x="16" y="203"/>
                          </a:lnTo>
                          <a:lnTo>
                            <a:pt x="6" y="199"/>
                          </a:lnTo>
                          <a:lnTo>
                            <a:pt x="0" y="192"/>
                          </a:lnTo>
                          <a:lnTo>
                            <a:pt x="1" y="160"/>
                          </a:lnTo>
                          <a:lnTo>
                            <a:pt x="8" y="128"/>
                          </a:lnTo>
                          <a:lnTo>
                            <a:pt x="14" y="103"/>
                          </a:lnTo>
                          <a:lnTo>
                            <a:pt x="29" y="67"/>
                          </a:lnTo>
                          <a:lnTo>
                            <a:pt x="55" y="25"/>
                          </a:lnTo>
                          <a:lnTo>
                            <a:pt x="62" y="24"/>
                          </a:lnTo>
                          <a:lnTo>
                            <a:pt x="70" y="24"/>
                          </a:lnTo>
                          <a:lnTo>
                            <a:pt x="80" y="28"/>
                          </a:lnTo>
                          <a:lnTo>
                            <a:pt x="90" y="34"/>
                          </a:lnTo>
                          <a:close/>
                        </a:path>
                      </a:pathLst>
                    </a:custGeom>
                    <a:solidFill>
                      <a:srgbClr val="FF9F7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51" name="Freeform 306"/>
                    <p:cNvSpPr/>
                    <p:nvPr/>
                  </p:nvSpPr>
                  <p:spPr bwMode="auto">
                    <a:xfrm>
                      <a:off x="5054" y="2524"/>
                      <a:ext cx="10" cy="15"/>
                    </a:xfrm>
                    <a:custGeom>
                      <a:avLst/>
                      <a:gdLst>
                        <a:gd name="T0" fmla="*/ 0 w 61"/>
                        <a:gd name="T1" fmla="*/ 28 h 73"/>
                        <a:gd name="T2" fmla="*/ 5 w 61"/>
                        <a:gd name="T3" fmla="*/ 19 h 73"/>
                        <a:gd name="T4" fmla="*/ 14 w 61"/>
                        <a:gd name="T5" fmla="*/ 5 h 73"/>
                        <a:gd name="T6" fmla="*/ 25 w 61"/>
                        <a:gd name="T7" fmla="*/ 0 h 73"/>
                        <a:gd name="T8" fmla="*/ 38 w 61"/>
                        <a:gd name="T9" fmla="*/ 1 h 73"/>
                        <a:gd name="T10" fmla="*/ 46 w 61"/>
                        <a:gd name="T11" fmla="*/ 6 h 73"/>
                        <a:gd name="T12" fmla="*/ 58 w 61"/>
                        <a:gd name="T13" fmla="*/ 14 h 73"/>
                        <a:gd name="T14" fmla="*/ 61 w 61"/>
                        <a:gd name="T15" fmla="*/ 23 h 73"/>
                        <a:gd name="T16" fmla="*/ 61 w 61"/>
                        <a:gd name="T17" fmla="*/ 37 h 73"/>
                        <a:gd name="T18" fmla="*/ 58 w 61"/>
                        <a:gd name="T19" fmla="*/ 45 h 73"/>
                        <a:gd name="T20" fmla="*/ 55 w 61"/>
                        <a:gd name="T21" fmla="*/ 55 h 73"/>
                        <a:gd name="T22" fmla="*/ 42 w 61"/>
                        <a:gd name="T23" fmla="*/ 61 h 73"/>
                        <a:gd name="T24" fmla="*/ 18 w 61"/>
                        <a:gd name="T25" fmla="*/ 73 h 73"/>
                        <a:gd name="T26" fmla="*/ 0 w 61"/>
                        <a:gd name="T27" fmla="*/ 28 h 7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</a:cxnLst>
                      <a:rect l="0" t="0" r="r" b="b"/>
                      <a:pathLst>
                        <a:path w="61" h="73">
                          <a:moveTo>
                            <a:pt x="0" y="28"/>
                          </a:moveTo>
                          <a:lnTo>
                            <a:pt x="5" y="19"/>
                          </a:lnTo>
                          <a:lnTo>
                            <a:pt x="14" y="5"/>
                          </a:lnTo>
                          <a:lnTo>
                            <a:pt x="25" y="0"/>
                          </a:lnTo>
                          <a:lnTo>
                            <a:pt x="38" y="1"/>
                          </a:lnTo>
                          <a:lnTo>
                            <a:pt x="46" y="6"/>
                          </a:lnTo>
                          <a:lnTo>
                            <a:pt x="58" y="14"/>
                          </a:lnTo>
                          <a:lnTo>
                            <a:pt x="61" y="23"/>
                          </a:lnTo>
                          <a:lnTo>
                            <a:pt x="61" y="37"/>
                          </a:lnTo>
                          <a:lnTo>
                            <a:pt x="58" y="45"/>
                          </a:lnTo>
                          <a:lnTo>
                            <a:pt x="55" y="55"/>
                          </a:lnTo>
                          <a:lnTo>
                            <a:pt x="42" y="61"/>
                          </a:lnTo>
                          <a:lnTo>
                            <a:pt x="18" y="73"/>
                          </a:lnTo>
                          <a:lnTo>
                            <a:pt x="0" y="28"/>
                          </a:lnTo>
                          <a:close/>
                        </a:path>
                      </a:pathLst>
                    </a:custGeom>
                    <a:solidFill>
                      <a:srgbClr val="FF9F7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</p:grpSp>
        </p:grpSp>
        <p:grpSp>
          <p:nvGrpSpPr>
            <p:cNvPr id="8" name="Group 307"/>
            <p:cNvGrpSpPr/>
            <p:nvPr/>
          </p:nvGrpSpPr>
          <p:grpSpPr bwMode="auto">
            <a:xfrm>
              <a:off x="9963015" y="8487278"/>
              <a:ext cx="3926691" cy="1761637"/>
              <a:chOff x="546" y="2289"/>
              <a:chExt cx="708" cy="452"/>
            </a:xfrm>
          </p:grpSpPr>
          <p:grpSp>
            <p:nvGrpSpPr>
              <p:cNvPr id="139" name="Group 308"/>
              <p:cNvGrpSpPr/>
              <p:nvPr/>
            </p:nvGrpSpPr>
            <p:grpSpPr bwMode="auto">
              <a:xfrm>
                <a:off x="1071" y="2289"/>
                <a:ext cx="76" cy="358"/>
                <a:chOff x="1071" y="2289"/>
                <a:chExt cx="76" cy="358"/>
              </a:xfrm>
            </p:grpSpPr>
            <p:sp>
              <p:nvSpPr>
                <p:cNvPr id="239" name="Freeform 309"/>
                <p:cNvSpPr/>
                <p:nvPr/>
              </p:nvSpPr>
              <p:spPr bwMode="auto">
                <a:xfrm>
                  <a:off x="1071" y="2289"/>
                  <a:ext cx="27" cy="358"/>
                </a:xfrm>
                <a:custGeom>
                  <a:avLst/>
                  <a:gdLst>
                    <a:gd name="T0" fmla="*/ 42 w 161"/>
                    <a:gd name="T1" fmla="*/ 0 h 1791"/>
                    <a:gd name="T2" fmla="*/ 42 w 161"/>
                    <a:gd name="T3" fmla="*/ 284 h 1791"/>
                    <a:gd name="T4" fmla="*/ 29 w 161"/>
                    <a:gd name="T5" fmla="*/ 284 h 1791"/>
                    <a:gd name="T6" fmla="*/ 29 w 161"/>
                    <a:gd name="T7" fmla="*/ 569 h 1791"/>
                    <a:gd name="T8" fmla="*/ 17 w 161"/>
                    <a:gd name="T9" fmla="*/ 569 h 1791"/>
                    <a:gd name="T10" fmla="*/ 17 w 161"/>
                    <a:gd name="T11" fmla="*/ 836 h 1791"/>
                    <a:gd name="T12" fmla="*/ 8 w 161"/>
                    <a:gd name="T13" fmla="*/ 836 h 1791"/>
                    <a:gd name="T14" fmla="*/ 8 w 161"/>
                    <a:gd name="T15" fmla="*/ 1195 h 1791"/>
                    <a:gd name="T16" fmla="*/ 0 w 161"/>
                    <a:gd name="T17" fmla="*/ 1195 h 1791"/>
                    <a:gd name="T18" fmla="*/ 0 w 161"/>
                    <a:gd name="T19" fmla="*/ 1791 h 1791"/>
                    <a:gd name="T20" fmla="*/ 88 w 161"/>
                    <a:gd name="T21" fmla="*/ 1791 h 1791"/>
                    <a:gd name="T22" fmla="*/ 161 w 161"/>
                    <a:gd name="T23" fmla="*/ 1190 h 1791"/>
                    <a:gd name="T24" fmla="*/ 161 w 161"/>
                    <a:gd name="T25" fmla="*/ 835 h 1791"/>
                    <a:gd name="T26" fmla="*/ 153 w 161"/>
                    <a:gd name="T27" fmla="*/ 835 h 1791"/>
                    <a:gd name="T28" fmla="*/ 153 w 161"/>
                    <a:gd name="T29" fmla="*/ 569 h 1791"/>
                    <a:gd name="T30" fmla="*/ 143 w 161"/>
                    <a:gd name="T31" fmla="*/ 569 h 1791"/>
                    <a:gd name="T32" fmla="*/ 143 w 161"/>
                    <a:gd name="T33" fmla="*/ 284 h 1791"/>
                    <a:gd name="T34" fmla="*/ 130 w 161"/>
                    <a:gd name="T35" fmla="*/ 284 h 1791"/>
                    <a:gd name="T36" fmla="*/ 130 w 161"/>
                    <a:gd name="T37" fmla="*/ 0 h 1791"/>
                    <a:gd name="T38" fmla="*/ 42 w 161"/>
                    <a:gd name="T39" fmla="*/ 0 h 17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61" h="1791">
                      <a:moveTo>
                        <a:pt x="42" y="0"/>
                      </a:moveTo>
                      <a:lnTo>
                        <a:pt x="42" y="284"/>
                      </a:lnTo>
                      <a:lnTo>
                        <a:pt x="29" y="284"/>
                      </a:lnTo>
                      <a:lnTo>
                        <a:pt x="29" y="569"/>
                      </a:lnTo>
                      <a:lnTo>
                        <a:pt x="17" y="569"/>
                      </a:lnTo>
                      <a:lnTo>
                        <a:pt x="17" y="836"/>
                      </a:lnTo>
                      <a:lnTo>
                        <a:pt x="8" y="836"/>
                      </a:lnTo>
                      <a:lnTo>
                        <a:pt x="8" y="1195"/>
                      </a:lnTo>
                      <a:lnTo>
                        <a:pt x="0" y="1195"/>
                      </a:lnTo>
                      <a:lnTo>
                        <a:pt x="0" y="1791"/>
                      </a:lnTo>
                      <a:lnTo>
                        <a:pt x="88" y="1791"/>
                      </a:lnTo>
                      <a:lnTo>
                        <a:pt x="161" y="1190"/>
                      </a:lnTo>
                      <a:lnTo>
                        <a:pt x="161" y="835"/>
                      </a:lnTo>
                      <a:lnTo>
                        <a:pt x="153" y="835"/>
                      </a:lnTo>
                      <a:lnTo>
                        <a:pt x="153" y="569"/>
                      </a:lnTo>
                      <a:lnTo>
                        <a:pt x="143" y="569"/>
                      </a:lnTo>
                      <a:lnTo>
                        <a:pt x="143" y="284"/>
                      </a:lnTo>
                      <a:lnTo>
                        <a:pt x="130" y="284"/>
                      </a:lnTo>
                      <a:lnTo>
                        <a:pt x="130" y="0"/>
                      </a:lnTo>
                      <a:lnTo>
                        <a:pt x="4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w="3175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 sz="3655"/>
                </a:p>
              </p:txBody>
            </p:sp>
            <p:sp>
              <p:nvSpPr>
                <p:cNvPr id="240" name="Freeform 310"/>
                <p:cNvSpPr/>
                <p:nvPr/>
              </p:nvSpPr>
              <p:spPr bwMode="auto">
                <a:xfrm>
                  <a:off x="1119" y="2289"/>
                  <a:ext cx="28" cy="358"/>
                </a:xfrm>
                <a:custGeom>
                  <a:avLst/>
                  <a:gdLst>
                    <a:gd name="T0" fmla="*/ 41 w 169"/>
                    <a:gd name="T1" fmla="*/ 0 h 1791"/>
                    <a:gd name="T2" fmla="*/ 41 w 169"/>
                    <a:gd name="T3" fmla="*/ 284 h 1791"/>
                    <a:gd name="T4" fmla="*/ 28 w 169"/>
                    <a:gd name="T5" fmla="*/ 284 h 1791"/>
                    <a:gd name="T6" fmla="*/ 28 w 169"/>
                    <a:gd name="T7" fmla="*/ 569 h 1791"/>
                    <a:gd name="T8" fmla="*/ 16 w 169"/>
                    <a:gd name="T9" fmla="*/ 569 h 1791"/>
                    <a:gd name="T10" fmla="*/ 16 w 169"/>
                    <a:gd name="T11" fmla="*/ 836 h 1791"/>
                    <a:gd name="T12" fmla="*/ 8 w 169"/>
                    <a:gd name="T13" fmla="*/ 836 h 1791"/>
                    <a:gd name="T14" fmla="*/ 8 w 169"/>
                    <a:gd name="T15" fmla="*/ 1195 h 1791"/>
                    <a:gd name="T16" fmla="*/ 0 w 169"/>
                    <a:gd name="T17" fmla="*/ 1195 h 1791"/>
                    <a:gd name="T18" fmla="*/ 0 w 169"/>
                    <a:gd name="T19" fmla="*/ 1791 h 1791"/>
                    <a:gd name="T20" fmla="*/ 169 w 169"/>
                    <a:gd name="T21" fmla="*/ 1791 h 1791"/>
                    <a:gd name="T22" fmla="*/ 169 w 169"/>
                    <a:gd name="T23" fmla="*/ 1193 h 1791"/>
                    <a:gd name="T24" fmla="*/ 161 w 169"/>
                    <a:gd name="T25" fmla="*/ 1193 h 1791"/>
                    <a:gd name="T26" fmla="*/ 160 w 169"/>
                    <a:gd name="T27" fmla="*/ 835 h 1791"/>
                    <a:gd name="T28" fmla="*/ 151 w 169"/>
                    <a:gd name="T29" fmla="*/ 835 h 1791"/>
                    <a:gd name="T30" fmla="*/ 151 w 169"/>
                    <a:gd name="T31" fmla="*/ 569 h 1791"/>
                    <a:gd name="T32" fmla="*/ 140 w 169"/>
                    <a:gd name="T33" fmla="*/ 569 h 1791"/>
                    <a:gd name="T34" fmla="*/ 140 w 169"/>
                    <a:gd name="T35" fmla="*/ 284 h 1791"/>
                    <a:gd name="T36" fmla="*/ 128 w 169"/>
                    <a:gd name="T37" fmla="*/ 284 h 1791"/>
                    <a:gd name="T38" fmla="*/ 128 w 169"/>
                    <a:gd name="T39" fmla="*/ 0 h 1791"/>
                    <a:gd name="T40" fmla="*/ 41 w 169"/>
                    <a:gd name="T41" fmla="*/ 0 h 17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69" h="1791">
                      <a:moveTo>
                        <a:pt x="41" y="0"/>
                      </a:moveTo>
                      <a:lnTo>
                        <a:pt x="41" y="284"/>
                      </a:lnTo>
                      <a:lnTo>
                        <a:pt x="28" y="284"/>
                      </a:lnTo>
                      <a:lnTo>
                        <a:pt x="28" y="569"/>
                      </a:lnTo>
                      <a:lnTo>
                        <a:pt x="16" y="569"/>
                      </a:lnTo>
                      <a:lnTo>
                        <a:pt x="16" y="836"/>
                      </a:lnTo>
                      <a:lnTo>
                        <a:pt x="8" y="836"/>
                      </a:lnTo>
                      <a:lnTo>
                        <a:pt x="8" y="1195"/>
                      </a:lnTo>
                      <a:lnTo>
                        <a:pt x="0" y="1195"/>
                      </a:lnTo>
                      <a:lnTo>
                        <a:pt x="0" y="1791"/>
                      </a:lnTo>
                      <a:lnTo>
                        <a:pt x="169" y="1791"/>
                      </a:lnTo>
                      <a:lnTo>
                        <a:pt x="169" y="1193"/>
                      </a:lnTo>
                      <a:lnTo>
                        <a:pt x="161" y="1193"/>
                      </a:lnTo>
                      <a:lnTo>
                        <a:pt x="160" y="835"/>
                      </a:lnTo>
                      <a:lnTo>
                        <a:pt x="151" y="835"/>
                      </a:lnTo>
                      <a:lnTo>
                        <a:pt x="151" y="569"/>
                      </a:lnTo>
                      <a:lnTo>
                        <a:pt x="140" y="569"/>
                      </a:lnTo>
                      <a:lnTo>
                        <a:pt x="140" y="284"/>
                      </a:lnTo>
                      <a:lnTo>
                        <a:pt x="128" y="284"/>
                      </a:lnTo>
                      <a:lnTo>
                        <a:pt x="128" y="0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w="3175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 sz="3655"/>
                </a:p>
              </p:txBody>
            </p:sp>
          </p:grpSp>
          <p:grpSp>
            <p:nvGrpSpPr>
              <p:cNvPr id="140" name="Group 311"/>
              <p:cNvGrpSpPr/>
              <p:nvPr/>
            </p:nvGrpSpPr>
            <p:grpSpPr bwMode="auto">
              <a:xfrm>
                <a:off x="1130" y="2574"/>
                <a:ext cx="124" cy="153"/>
                <a:chOff x="1130" y="2574"/>
                <a:chExt cx="124" cy="153"/>
              </a:xfrm>
            </p:grpSpPr>
            <p:grpSp>
              <p:nvGrpSpPr>
                <p:cNvPr id="228" name="Group 312"/>
                <p:cNvGrpSpPr/>
                <p:nvPr/>
              </p:nvGrpSpPr>
              <p:grpSpPr bwMode="auto">
                <a:xfrm>
                  <a:off x="1130" y="2574"/>
                  <a:ext cx="124" cy="153"/>
                  <a:chOff x="1130" y="2574"/>
                  <a:chExt cx="124" cy="153"/>
                </a:xfrm>
              </p:grpSpPr>
              <p:grpSp>
                <p:nvGrpSpPr>
                  <p:cNvPr id="233" name="Group 313"/>
                  <p:cNvGrpSpPr/>
                  <p:nvPr/>
                </p:nvGrpSpPr>
                <p:grpSpPr bwMode="auto">
                  <a:xfrm>
                    <a:off x="1161" y="2574"/>
                    <a:ext cx="35" cy="74"/>
                    <a:chOff x="1161" y="2574"/>
                    <a:chExt cx="35" cy="74"/>
                  </a:xfrm>
                </p:grpSpPr>
                <p:sp>
                  <p:nvSpPr>
                    <p:cNvPr id="237" name="Rectangle 31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68" y="2574"/>
                      <a:ext cx="21" cy="16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38" name="Rectangle 31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61" y="2586"/>
                      <a:ext cx="35" cy="62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234" name="Group 316"/>
                  <p:cNvGrpSpPr/>
                  <p:nvPr/>
                </p:nvGrpSpPr>
                <p:grpSpPr bwMode="auto">
                  <a:xfrm>
                    <a:off x="1130" y="2644"/>
                    <a:ext cx="124" cy="83"/>
                    <a:chOff x="1130" y="2644"/>
                    <a:chExt cx="124" cy="83"/>
                  </a:xfrm>
                </p:grpSpPr>
                <p:sp>
                  <p:nvSpPr>
                    <p:cNvPr id="235" name="Rectangle 31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34" y="2653"/>
                      <a:ext cx="116" cy="74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36" name="Rectangle 31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30" y="2644"/>
                      <a:ext cx="124" cy="12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  <p:grpSp>
              <p:nvGrpSpPr>
                <p:cNvPr id="229" name="Group 319"/>
                <p:cNvGrpSpPr/>
                <p:nvPr/>
              </p:nvGrpSpPr>
              <p:grpSpPr bwMode="auto">
                <a:xfrm>
                  <a:off x="1143" y="2664"/>
                  <a:ext cx="94" cy="50"/>
                  <a:chOff x="1143" y="2664"/>
                  <a:chExt cx="94" cy="50"/>
                </a:xfrm>
              </p:grpSpPr>
              <p:sp>
                <p:nvSpPr>
                  <p:cNvPr id="230" name="Rectangle 320"/>
                  <p:cNvSpPr>
                    <a:spLocks noChangeArrowheads="1"/>
                  </p:cNvSpPr>
                  <p:nvPr/>
                </p:nvSpPr>
                <p:spPr bwMode="auto">
                  <a:xfrm>
                    <a:off x="1143" y="2664"/>
                    <a:ext cx="23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231" name="Rectangle 321"/>
                  <p:cNvSpPr>
                    <a:spLocks noChangeArrowheads="1"/>
                  </p:cNvSpPr>
                  <p:nvPr/>
                </p:nvSpPr>
                <p:spPr bwMode="auto">
                  <a:xfrm>
                    <a:off x="1214" y="2664"/>
                    <a:ext cx="23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232" name="Rectangle 322"/>
                  <p:cNvSpPr>
                    <a:spLocks noChangeArrowheads="1"/>
                  </p:cNvSpPr>
                  <p:nvPr/>
                </p:nvSpPr>
                <p:spPr bwMode="auto">
                  <a:xfrm>
                    <a:off x="1179" y="2664"/>
                    <a:ext cx="23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</p:grpSp>
          <p:grpSp>
            <p:nvGrpSpPr>
              <p:cNvPr id="141" name="Group 323"/>
              <p:cNvGrpSpPr/>
              <p:nvPr/>
            </p:nvGrpSpPr>
            <p:grpSpPr bwMode="auto">
              <a:xfrm>
                <a:off x="546" y="2618"/>
                <a:ext cx="124" cy="109"/>
                <a:chOff x="546" y="2618"/>
                <a:chExt cx="124" cy="109"/>
              </a:xfrm>
            </p:grpSpPr>
            <p:grpSp>
              <p:nvGrpSpPr>
                <p:cNvPr id="219" name="Group 324"/>
                <p:cNvGrpSpPr/>
                <p:nvPr/>
              </p:nvGrpSpPr>
              <p:grpSpPr bwMode="auto">
                <a:xfrm>
                  <a:off x="546" y="2618"/>
                  <a:ext cx="124" cy="109"/>
                  <a:chOff x="546" y="2618"/>
                  <a:chExt cx="124" cy="109"/>
                </a:xfrm>
              </p:grpSpPr>
              <p:sp>
                <p:nvSpPr>
                  <p:cNvPr id="224" name="Rectangle 325"/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618"/>
                    <a:ext cx="38" cy="30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grpSp>
                <p:nvGrpSpPr>
                  <p:cNvPr id="225" name="Group 326"/>
                  <p:cNvGrpSpPr/>
                  <p:nvPr/>
                </p:nvGrpSpPr>
                <p:grpSpPr bwMode="auto">
                  <a:xfrm>
                    <a:off x="546" y="2644"/>
                    <a:ext cx="124" cy="83"/>
                    <a:chOff x="546" y="2644"/>
                    <a:chExt cx="124" cy="83"/>
                  </a:xfrm>
                </p:grpSpPr>
                <p:sp>
                  <p:nvSpPr>
                    <p:cNvPr id="226" name="Rectangle 32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50" y="2653"/>
                      <a:ext cx="116" cy="74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27" name="Rectangle 32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6" y="2644"/>
                      <a:ext cx="124" cy="12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  <p:grpSp>
              <p:nvGrpSpPr>
                <p:cNvPr id="220" name="Group 329"/>
                <p:cNvGrpSpPr/>
                <p:nvPr/>
              </p:nvGrpSpPr>
              <p:grpSpPr bwMode="auto">
                <a:xfrm>
                  <a:off x="558" y="2664"/>
                  <a:ext cx="98" cy="50"/>
                  <a:chOff x="558" y="2664"/>
                  <a:chExt cx="98" cy="50"/>
                </a:xfrm>
              </p:grpSpPr>
              <p:sp>
                <p:nvSpPr>
                  <p:cNvPr id="221" name="Rectangle 330"/>
                  <p:cNvSpPr>
                    <a:spLocks noChangeArrowheads="1"/>
                  </p:cNvSpPr>
                  <p:nvPr/>
                </p:nvSpPr>
                <p:spPr bwMode="auto">
                  <a:xfrm>
                    <a:off x="629" y="2664"/>
                    <a:ext cx="27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222" name="Rectangle 331"/>
                  <p:cNvSpPr>
                    <a:spLocks noChangeArrowheads="1"/>
                  </p:cNvSpPr>
                  <p:nvPr/>
                </p:nvSpPr>
                <p:spPr bwMode="auto">
                  <a:xfrm>
                    <a:off x="558" y="2664"/>
                    <a:ext cx="27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223" name="Rectangle 332"/>
                  <p:cNvSpPr>
                    <a:spLocks noChangeArrowheads="1"/>
                  </p:cNvSpPr>
                  <p:nvPr/>
                </p:nvSpPr>
                <p:spPr bwMode="auto">
                  <a:xfrm>
                    <a:off x="594" y="2664"/>
                    <a:ext cx="27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</p:grpSp>
          <p:grpSp>
            <p:nvGrpSpPr>
              <p:cNvPr id="142" name="Group 333"/>
              <p:cNvGrpSpPr/>
              <p:nvPr/>
            </p:nvGrpSpPr>
            <p:grpSpPr bwMode="auto">
              <a:xfrm>
                <a:off x="654" y="2479"/>
                <a:ext cx="488" cy="262"/>
                <a:chOff x="654" y="2479"/>
                <a:chExt cx="488" cy="262"/>
              </a:xfrm>
            </p:grpSpPr>
            <p:grpSp>
              <p:nvGrpSpPr>
                <p:cNvPr id="143" name="Group 334"/>
                <p:cNvGrpSpPr/>
                <p:nvPr/>
              </p:nvGrpSpPr>
              <p:grpSpPr bwMode="auto">
                <a:xfrm>
                  <a:off x="654" y="2479"/>
                  <a:ext cx="488" cy="262"/>
                  <a:chOff x="654" y="2479"/>
                  <a:chExt cx="488" cy="262"/>
                </a:xfrm>
              </p:grpSpPr>
              <p:sp>
                <p:nvSpPr>
                  <p:cNvPr id="214" name="Rectangle 335"/>
                  <p:cNvSpPr>
                    <a:spLocks noChangeArrowheads="1"/>
                  </p:cNvSpPr>
                  <p:nvPr/>
                </p:nvSpPr>
                <p:spPr bwMode="auto">
                  <a:xfrm>
                    <a:off x="662" y="2522"/>
                    <a:ext cx="471" cy="219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215" name="Rectangle 336"/>
                  <p:cNvSpPr>
                    <a:spLocks noChangeArrowheads="1"/>
                  </p:cNvSpPr>
                  <p:nvPr/>
                </p:nvSpPr>
                <p:spPr bwMode="auto">
                  <a:xfrm>
                    <a:off x="780" y="2486"/>
                    <a:ext cx="34" cy="26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216" name="Rectangle 337"/>
                  <p:cNvSpPr>
                    <a:spLocks noChangeArrowheads="1"/>
                  </p:cNvSpPr>
                  <p:nvPr/>
                </p:nvSpPr>
                <p:spPr bwMode="auto">
                  <a:xfrm>
                    <a:off x="866" y="2479"/>
                    <a:ext cx="46" cy="36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217" name="Rectangle 338"/>
                  <p:cNvSpPr>
                    <a:spLocks noChangeArrowheads="1"/>
                  </p:cNvSpPr>
                  <p:nvPr/>
                </p:nvSpPr>
                <p:spPr bwMode="auto">
                  <a:xfrm>
                    <a:off x="654" y="2510"/>
                    <a:ext cx="488" cy="17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218" name="Rectangle 339"/>
                  <p:cNvSpPr>
                    <a:spLocks noChangeArrowheads="1"/>
                  </p:cNvSpPr>
                  <p:nvPr/>
                </p:nvSpPr>
                <p:spPr bwMode="auto">
                  <a:xfrm>
                    <a:off x="662" y="2629"/>
                    <a:ext cx="471" cy="8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  <p:grpSp>
              <p:nvGrpSpPr>
                <p:cNvPr id="144" name="Group 340"/>
                <p:cNvGrpSpPr/>
                <p:nvPr/>
              </p:nvGrpSpPr>
              <p:grpSpPr bwMode="auto">
                <a:xfrm>
                  <a:off x="670" y="2542"/>
                  <a:ext cx="449" cy="178"/>
                  <a:chOff x="670" y="2542"/>
                  <a:chExt cx="449" cy="178"/>
                </a:xfrm>
              </p:grpSpPr>
              <p:grpSp>
                <p:nvGrpSpPr>
                  <p:cNvPr id="149" name="Group 341"/>
                  <p:cNvGrpSpPr/>
                  <p:nvPr/>
                </p:nvGrpSpPr>
                <p:grpSpPr bwMode="auto">
                  <a:xfrm>
                    <a:off x="736" y="2649"/>
                    <a:ext cx="57" cy="71"/>
                    <a:chOff x="736" y="2649"/>
                    <a:chExt cx="57" cy="71"/>
                  </a:xfrm>
                </p:grpSpPr>
                <p:sp>
                  <p:nvSpPr>
                    <p:cNvPr id="210" name="Rectangle 34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39" y="2649"/>
                      <a:ext cx="51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11" name="Rectangle 34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36" y="2715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12" name="Line 34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64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13" name="Line 34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38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150" name="Group 346"/>
                  <p:cNvGrpSpPr/>
                  <p:nvPr/>
                </p:nvGrpSpPr>
                <p:grpSpPr bwMode="auto">
                  <a:xfrm>
                    <a:off x="801" y="2649"/>
                    <a:ext cx="57" cy="71"/>
                    <a:chOff x="801" y="2649"/>
                    <a:chExt cx="57" cy="71"/>
                  </a:xfrm>
                </p:grpSpPr>
                <p:sp>
                  <p:nvSpPr>
                    <p:cNvPr id="206" name="Rectangle 34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04" y="2649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07" name="Rectangle 34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01" y="2715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08" name="Line 34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29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09" name="Line 35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04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151" name="Group 351"/>
                  <p:cNvGrpSpPr/>
                  <p:nvPr/>
                </p:nvGrpSpPr>
                <p:grpSpPr bwMode="auto">
                  <a:xfrm>
                    <a:off x="1061" y="2649"/>
                    <a:ext cx="57" cy="71"/>
                    <a:chOff x="1061" y="2649"/>
                    <a:chExt cx="57" cy="71"/>
                  </a:xfrm>
                </p:grpSpPr>
                <p:sp>
                  <p:nvSpPr>
                    <p:cNvPr id="202" name="Rectangle 35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63" y="2649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03" name="Rectangle 35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61" y="2715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04" name="Line 35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89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05" name="Line 35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63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152" name="Group 356"/>
                  <p:cNvGrpSpPr/>
                  <p:nvPr/>
                </p:nvGrpSpPr>
                <p:grpSpPr bwMode="auto">
                  <a:xfrm>
                    <a:off x="670" y="2649"/>
                    <a:ext cx="58" cy="71"/>
                    <a:chOff x="670" y="2649"/>
                    <a:chExt cx="58" cy="71"/>
                  </a:xfrm>
                </p:grpSpPr>
                <p:sp>
                  <p:nvSpPr>
                    <p:cNvPr id="198" name="Rectangle 35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3" y="2649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99" name="Rectangle 35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0" y="2715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00" name="Line 35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99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201" name="Line 36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3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153" name="Group 361"/>
                  <p:cNvGrpSpPr/>
                  <p:nvPr/>
                </p:nvGrpSpPr>
                <p:grpSpPr bwMode="auto">
                  <a:xfrm>
                    <a:off x="867" y="2542"/>
                    <a:ext cx="58" cy="71"/>
                    <a:chOff x="867" y="2542"/>
                    <a:chExt cx="58" cy="71"/>
                  </a:xfrm>
                </p:grpSpPr>
                <p:sp>
                  <p:nvSpPr>
                    <p:cNvPr id="194" name="Rectangle 36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70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95" name="Rectangle 36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67" y="2608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96" name="Line 36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96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97" name="Line 36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70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154" name="Group 366"/>
                  <p:cNvGrpSpPr/>
                  <p:nvPr/>
                </p:nvGrpSpPr>
                <p:grpSpPr bwMode="auto">
                  <a:xfrm>
                    <a:off x="931" y="2649"/>
                    <a:ext cx="57" cy="71"/>
                    <a:chOff x="931" y="2649"/>
                    <a:chExt cx="57" cy="71"/>
                  </a:xfrm>
                </p:grpSpPr>
                <p:sp>
                  <p:nvSpPr>
                    <p:cNvPr id="190" name="Rectangle 36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4" y="2649"/>
                      <a:ext cx="51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91" name="Rectangle 36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1" y="2715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92" name="Line 36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59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93" name="Line 37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33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155" name="Group 371"/>
                  <p:cNvGrpSpPr/>
                  <p:nvPr/>
                </p:nvGrpSpPr>
                <p:grpSpPr bwMode="auto">
                  <a:xfrm>
                    <a:off x="996" y="2649"/>
                    <a:ext cx="57" cy="71"/>
                    <a:chOff x="996" y="2649"/>
                    <a:chExt cx="57" cy="71"/>
                  </a:xfrm>
                </p:grpSpPr>
                <p:sp>
                  <p:nvSpPr>
                    <p:cNvPr id="186" name="Rectangle 37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98" y="2649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87" name="Rectangle 37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96" y="2715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88" name="Line 37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24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89" name="Line 37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98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156" name="Group 376"/>
                  <p:cNvGrpSpPr/>
                  <p:nvPr/>
                </p:nvGrpSpPr>
                <p:grpSpPr bwMode="auto">
                  <a:xfrm>
                    <a:off x="736" y="2542"/>
                    <a:ext cx="58" cy="71"/>
                    <a:chOff x="736" y="2542"/>
                    <a:chExt cx="58" cy="71"/>
                  </a:xfrm>
                </p:grpSpPr>
                <p:sp>
                  <p:nvSpPr>
                    <p:cNvPr id="182" name="Rectangle 37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39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83" name="Rectangle 37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36" y="2608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84" name="Line 37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65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85" name="Line 38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39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157" name="Group 381"/>
                  <p:cNvGrpSpPr/>
                  <p:nvPr/>
                </p:nvGrpSpPr>
                <p:grpSpPr bwMode="auto">
                  <a:xfrm>
                    <a:off x="802" y="2542"/>
                    <a:ext cx="57" cy="71"/>
                    <a:chOff x="802" y="2542"/>
                    <a:chExt cx="57" cy="71"/>
                  </a:xfrm>
                </p:grpSpPr>
                <p:sp>
                  <p:nvSpPr>
                    <p:cNvPr id="178" name="Rectangle 38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05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79" name="Rectangle 38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02" y="2608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80" name="Line 38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30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81" name="Line 38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04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158" name="Group 386"/>
                  <p:cNvGrpSpPr/>
                  <p:nvPr/>
                </p:nvGrpSpPr>
                <p:grpSpPr bwMode="auto">
                  <a:xfrm>
                    <a:off x="1061" y="2542"/>
                    <a:ext cx="58" cy="71"/>
                    <a:chOff x="1061" y="2542"/>
                    <a:chExt cx="58" cy="71"/>
                  </a:xfrm>
                </p:grpSpPr>
                <p:sp>
                  <p:nvSpPr>
                    <p:cNvPr id="174" name="Rectangle 38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64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75" name="Rectangle 3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61" y="2608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76" name="Line 38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90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77" name="Line 39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64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159" name="Group 391"/>
                  <p:cNvGrpSpPr/>
                  <p:nvPr/>
                </p:nvGrpSpPr>
                <p:grpSpPr bwMode="auto">
                  <a:xfrm>
                    <a:off x="671" y="2542"/>
                    <a:ext cx="58" cy="71"/>
                    <a:chOff x="671" y="2542"/>
                    <a:chExt cx="58" cy="71"/>
                  </a:xfrm>
                </p:grpSpPr>
                <p:sp>
                  <p:nvSpPr>
                    <p:cNvPr id="170" name="Rectangle 39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4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71" name="Rectangle 39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1" y="2608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72" name="Line 39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99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73" name="Line 39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4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160" name="Group 396"/>
                  <p:cNvGrpSpPr/>
                  <p:nvPr/>
                </p:nvGrpSpPr>
                <p:grpSpPr bwMode="auto">
                  <a:xfrm>
                    <a:off x="931" y="2542"/>
                    <a:ext cx="58" cy="71"/>
                    <a:chOff x="931" y="2542"/>
                    <a:chExt cx="58" cy="71"/>
                  </a:xfrm>
                </p:grpSpPr>
                <p:sp>
                  <p:nvSpPr>
                    <p:cNvPr id="166" name="Rectangle 39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4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67" name="Rectangle 39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1" y="2608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68" name="Line 39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60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69" name="Line 40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34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161" name="Group 401"/>
                  <p:cNvGrpSpPr/>
                  <p:nvPr/>
                </p:nvGrpSpPr>
                <p:grpSpPr bwMode="auto">
                  <a:xfrm>
                    <a:off x="997" y="2542"/>
                    <a:ext cx="57" cy="71"/>
                    <a:chOff x="997" y="2542"/>
                    <a:chExt cx="57" cy="71"/>
                  </a:xfrm>
                </p:grpSpPr>
                <p:sp>
                  <p:nvSpPr>
                    <p:cNvPr id="162" name="Rectangle 40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99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63" name="Rectangle 40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97" y="2608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64" name="Line 40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25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65" name="Line 40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99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  <p:grpSp>
              <p:nvGrpSpPr>
                <p:cNvPr id="145" name="Group 406"/>
                <p:cNvGrpSpPr/>
                <p:nvPr/>
              </p:nvGrpSpPr>
              <p:grpSpPr bwMode="auto">
                <a:xfrm>
                  <a:off x="868" y="2643"/>
                  <a:ext cx="54" cy="97"/>
                  <a:chOff x="868" y="2643"/>
                  <a:chExt cx="54" cy="97"/>
                </a:xfrm>
              </p:grpSpPr>
              <p:sp>
                <p:nvSpPr>
                  <p:cNvPr id="146" name="Rectangle 407"/>
                  <p:cNvSpPr>
                    <a:spLocks noChangeArrowheads="1"/>
                  </p:cNvSpPr>
                  <p:nvPr/>
                </p:nvSpPr>
                <p:spPr bwMode="auto">
                  <a:xfrm>
                    <a:off x="868" y="2643"/>
                    <a:ext cx="54" cy="97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147" name="Rectangle 408"/>
                  <p:cNvSpPr>
                    <a:spLocks noChangeArrowheads="1"/>
                  </p:cNvSpPr>
                  <p:nvPr/>
                </p:nvSpPr>
                <p:spPr bwMode="auto">
                  <a:xfrm>
                    <a:off x="874" y="2653"/>
                    <a:ext cx="41" cy="81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148" name="Oval 409"/>
                  <p:cNvSpPr>
                    <a:spLocks noChangeArrowheads="1"/>
                  </p:cNvSpPr>
                  <p:nvPr/>
                </p:nvSpPr>
                <p:spPr bwMode="auto">
                  <a:xfrm>
                    <a:off x="908" y="2693"/>
                    <a:ext cx="2" cy="3"/>
                  </a:xfrm>
                  <a:prstGeom prst="ellipse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</p:grpSp>
        </p:grpSp>
        <p:grpSp>
          <p:nvGrpSpPr>
            <p:cNvPr id="9" name="Group 410"/>
            <p:cNvGrpSpPr/>
            <p:nvPr/>
          </p:nvGrpSpPr>
          <p:grpSpPr bwMode="auto">
            <a:xfrm>
              <a:off x="16245720" y="8487278"/>
              <a:ext cx="3641114" cy="1761637"/>
              <a:chOff x="546" y="2289"/>
              <a:chExt cx="708" cy="452"/>
            </a:xfrm>
          </p:grpSpPr>
          <p:grpSp>
            <p:nvGrpSpPr>
              <p:cNvPr id="37" name="Group 411"/>
              <p:cNvGrpSpPr/>
              <p:nvPr/>
            </p:nvGrpSpPr>
            <p:grpSpPr bwMode="auto">
              <a:xfrm>
                <a:off x="1071" y="2289"/>
                <a:ext cx="76" cy="358"/>
                <a:chOff x="1071" y="2289"/>
                <a:chExt cx="76" cy="358"/>
              </a:xfrm>
            </p:grpSpPr>
            <p:sp>
              <p:nvSpPr>
                <p:cNvPr id="137" name="Freeform 412"/>
                <p:cNvSpPr/>
                <p:nvPr/>
              </p:nvSpPr>
              <p:spPr bwMode="auto">
                <a:xfrm>
                  <a:off x="1071" y="2289"/>
                  <a:ext cx="27" cy="358"/>
                </a:xfrm>
                <a:custGeom>
                  <a:avLst/>
                  <a:gdLst>
                    <a:gd name="T0" fmla="*/ 42 w 161"/>
                    <a:gd name="T1" fmla="*/ 0 h 1791"/>
                    <a:gd name="T2" fmla="*/ 42 w 161"/>
                    <a:gd name="T3" fmla="*/ 284 h 1791"/>
                    <a:gd name="T4" fmla="*/ 29 w 161"/>
                    <a:gd name="T5" fmla="*/ 284 h 1791"/>
                    <a:gd name="T6" fmla="*/ 29 w 161"/>
                    <a:gd name="T7" fmla="*/ 569 h 1791"/>
                    <a:gd name="T8" fmla="*/ 17 w 161"/>
                    <a:gd name="T9" fmla="*/ 569 h 1791"/>
                    <a:gd name="T10" fmla="*/ 17 w 161"/>
                    <a:gd name="T11" fmla="*/ 836 h 1791"/>
                    <a:gd name="T12" fmla="*/ 8 w 161"/>
                    <a:gd name="T13" fmla="*/ 836 h 1791"/>
                    <a:gd name="T14" fmla="*/ 8 w 161"/>
                    <a:gd name="T15" fmla="*/ 1195 h 1791"/>
                    <a:gd name="T16" fmla="*/ 0 w 161"/>
                    <a:gd name="T17" fmla="*/ 1195 h 1791"/>
                    <a:gd name="T18" fmla="*/ 0 w 161"/>
                    <a:gd name="T19" fmla="*/ 1791 h 1791"/>
                    <a:gd name="T20" fmla="*/ 88 w 161"/>
                    <a:gd name="T21" fmla="*/ 1791 h 1791"/>
                    <a:gd name="T22" fmla="*/ 161 w 161"/>
                    <a:gd name="T23" fmla="*/ 1190 h 1791"/>
                    <a:gd name="T24" fmla="*/ 161 w 161"/>
                    <a:gd name="T25" fmla="*/ 835 h 1791"/>
                    <a:gd name="T26" fmla="*/ 153 w 161"/>
                    <a:gd name="T27" fmla="*/ 835 h 1791"/>
                    <a:gd name="T28" fmla="*/ 153 w 161"/>
                    <a:gd name="T29" fmla="*/ 569 h 1791"/>
                    <a:gd name="T30" fmla="*/ 143 w 161"/>
                    <a:gd name="T31" fmla="*/ 569 h 1791"/>
                    <a:gd name="T32" fmla="*/ 143 w 161"/>
                    <a:gd name="T33" fmla="*/ 284 h 1791"/>
                    <a:gd name="T34" fmla="*/ 130 w 161"/>
                    <a:gd name="T35" fmla="*/ 284 h 1791"/>
                    <a:gd name="T36" fmla="*/ 130 w 161"/>
                    <a:gd name="T37" fmla="*/ 0 h 1791"/>
                    <a:gd name="T38" fmla="*/ 42 w 161"/>
                    <a:gd name="T39" fmla="*/ 0 h 17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61" h="1791">
                      <a:moveTo>
                        <a:pt x="42" y="0"/>
                      </a:moveTo>
                      <a:lnTo>
                        <a:pt x="42" y="284"/>
                      </a:lnTo>
                      <a:lnTo>
                        <a:pt x="29" y="284"/>
                      </a:lnTo>
                      <a:lnTo>
                        <a:pt x="29" y="569"/>
                      </a:lnTo>
                      <a:lnTo>
                        <a:pt x="17" y="569"/>
                      </a:lnTo>
                      <a:lnTo>
                        <a:pt x="17" y="836"/>
                      </a:lnTo>
                      <a:lnTo>
                        <a:pt x="8" y="836"/>
                      </a:lnTo>
                      <a:lnTo>
                        <a:pt x="8" y="1195"/>
                      </a:lnTo>
                      <a:lnTo>
                        <a:pt x="0" y="1195"/>
                      </a:lnTo>
                      <a:lnTo>
                        <a:pt x="0" y="1791"/>
                      </a:lnTo>
                      <a:lnTo>
                        <a:pt x="88" y="1791"/>
                      </a:lnTo>
                      <a:lnTo>
                        <a:pt x="161" y="1190"/>
                      </a:lnTo>
                      <a:lnTo>
                        <a:pt x="161" y="835"/>
                      </a:lnTo>
                      <a:lnTo>
                        <a:pt x="153" y="835"/>
                      </a:lnTo>
                      <a:lnTo>
                        <a:pt x="153" y="569"/>
                      </a:lnTo>
                      <a:lnTo>
                        <a:pt x="143" y="569"/>
                      </a:lnTo>
                      <a:lnTo>
                        <a:pt x="143" y="284"/>
                      </a:lnTo>
                      <a:lnTo>
                        <a:pt x="130" y="284"/>
                      </a:lnTo>
                      <a:lnTo>
                        <a:pt x="130" y="0"/>
                      </a:lnTo>
                      <a:lnTo>
                        <a:pt x="42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w="3175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 sz="3655"/>
                </a:p>
              </p:txBody>
            </p:sp>
            <p:sp>
              <p:nvSpPr>
                <p:cNvPr id="138" name="Freeform 413"/>
                <p:cNvSpPr/>
                <p:nvPr/>
              </p:nvSpPr>
              <p:spPr bwMode="auto">
                <a:xfrm>
                  <a:off x="1119" y="2289"/>
                  <a:ext cx="28" cy="358"/>
                </a:xfrm>
                <a:custGeom>
                  <a:avLst/>
                  <a:gdLst>
                    <a:gd name="T0" fmla="*/ 41 w 169"/>
                    <a:gd name="T1" fmla="*/ 0 h 1791"/>
                    <a:gd name="T2" fmla="*/ 41 w 169"/>
                    <a:gd name="T3" fmla="*/ 284 h 1791"/>
                    <a:gd name="T4" fmla="*/ 28 w 169"/>
                    <a:gd name="T5" fmla="*/ 284 h 1791"/>
                    <a:gd name="T6" fmla="*/ 28 w 169"/>
                    <a:gd name="T7" fmla="*/ 569 h 1791"/>
                    <a:gd name="T8" fmla="*/ 16 w 169"/>
                    <a:gd name="T9" fmla="*/ 569 h 1791"/>
                    <a:gd name="T10" fmla="*/ 16 w 169"/>
                    <a:gd name="T11" fmla="*/ 836 h 1791"/>
                    <a:gd name="T12" fmla="*/ 8 w 169"/>
                    <a:gd name="T13" fmla="*/ 836 h 1791"/>
                    <a:gd name="T14" fmla="*/ 8 w 169"/>
                    <a:gd name="T15" fmla="*/ 1195 h 1791"/>
                    <a:gd name="T16" fmla="*/ 0 w 169"/>
                    <a:gd name="T17" fmla="*/ 1195 h 1791"/>
                    <a:gd name="T18" fmla="*/ 0 w 169"/>
                    <a:gd name="T19" fmla="*/ 1791 h 1791"/>
                    <a:gd name="T20" fmla="*/ 169 w 169"/>
                    <a:gd name="T21" fmla="*/ 1791 h 1791"/>
                    <a:gd name="T22" fmla="*/ 169 w 169"/>
                    <a:gd name="T23" fmla="*/ 1193 h 1791"/>
                    <a:gd name="T24" fmla="*/ 161 w 169"/>
                    <a:gd name="T25" fmla="*/ 1193 h 1791"/>
                    <a:gd name="T26" fmla="*/ 160 w 169"/>
                    <a:gd name="T27" fmla="*/ 835 h 1791"/>
                    <a:gd name="T28" fmla="*/ 151 w 169"/>
                    <a:gd name="T29" fmla="*/ 835 h 1791"/>
                    <a:gd name="T30" fmla="*/ 151 w 169"/>
                    <a:gd name="T31" fmla="*/ 569 h 1791"/>
                    <a:gd name="T32" fmla="*/ 140 w 169"/>
                    <a:gd name="T33" fmla="*/ 569 h 1791"/>
                    <a:gd name="T34" fmla="*/ 140 w 169"/>
                    <a:gd name="T35" fmla="*/ 284 h 1791"/>
                    <a:gd name="T36" fmla="*/ 128 w 169"/>
                    <a:gd name="T37" fmla="*/ 284 h 1791"/>
                    <a:gd name="T38" fmla="*/ 128 w 169"/>
                    <a:gd name="T39" fmla="*/ 0 h 1791"/>
                    <a:gd name="T40" fmla="*/ 41 w 169"/>
                    <a:gd name="T41" fmla="*/ 0 h 17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69" h="1791">
                      <a:moveTo>
                        <a:pt x="41" y="0"/>
                      </a:moveTo>
                      <a:lnTo>
                        <a:pt x="41" y="284"/>
                      </a:lnTo>
                      <a:lnTo>
                        <a:pt x="28" y="284"/>
                      </a:lnTo>
                      <a:lnTo>
                        <a:pt x="28" y="569"/>
                      </a:lnTo>
                      <a:lnTo>
                        <a:pt x="16" y="569"/>
                      </a:lnTo>
                      <a:lnTo>
                        <a:pt x="16" y="836"/>
                      </a:lnTo>
                      <a:lnTo>
                        <a:pt x="8" y="836"/>
                      </a:lnTo>
                      <a:lnTo>
                        <a:pt x="8" y="1195"/>
                      </a:lnTo>
                      <a:lnTo>
                        <a:pt x="0" y="1195"/>
                      </a:lnTo>
                      <a:lnTo>
                        <a:pt x="0" y="1791"/>
                      </a:lnTo>
                      <a:lnTo>
                        <a:pt x="169" y="1791"/>
                      </a:lnTo>
                      <a:lnTo>
                        <a:pt x="169" y="1193"/>
                      </a:lnTo>
                      <a:lnTo>
                        <a:pt x="161" y="1193"/>
                      </a:lnTo>
                      <a:lnTo>
                        <a:pt x="160" y="835"/>
                      </a:lnTo>
                      <a:lnTo>
                        <a:pt x="151" y="835"/>
                      </a:lnTo>
                      <a:lnTo>
                        <a:pt x="151" y="569"/>
                      </a:lnTo>
                      <a:lnTo>
                        <a:pt x="140" y="569"/>
                      </a:lnTo>
                      <a:lnTo>
                        <a:pt x="140" y="284"/>
                      </a:lnTo>
                      <a:lnTo>
                        <a:pt x="128" y="284"/>
                      </a:lnTo>
                      <a:lnTo>
                        <a:pt x="128" y="0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w="3175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zh-CN" altLang="en-US" sz="3655"/>
                </a:p>
              </p:txBody>
            </p:sp>
          </p:grpSp>
          <p:grpSp>
            <p:nvGrpSpPr>
              <p:cNvPr id="38" name="Group 414"/>
              <p:cNvGrpSpPr/>
              <p:nvPr/>
            </p:nvGrpSpPr>
            <p:grpSpPr bwMode="auto">
              <a:xfrm>
                <a:off x="1130" y="2574"/>
                <a:ext cx="124" cy="153"/>
                <a:chOff x="1130" y="2574"/>
                <a:chExt cx="124" cy="153"/>
              </a:xfrm>
            </p:grpSpPr>
            <p:grpSp>
              <p:nvGrpSpPr>
                <p:cNvPr id="126" name="Group 415"/>
                <p:cNvGrpSpPr/>
                <p:nvPr/>
              </p:nvGrpSpPr>
              <p:grpSpPr bwMode="auto">
                <a:xfrm>
                  <a:off x="1130" y="2574"/>
                  <a:ext cx="124" cy="153"/>
                  <a:chOff x="1130" y="2574"/>
                  <a:chExt cx="124" cy="153"/>
                </a:xfrm>
              </p:grpSpPr>
              <p:grpSp>
                <p:nvGrpSpPr>
                  <p:cNvPr id="131" name="Group 416"/>
                  <p:cNvGrpSpPr/>
                  <p:nvPr/>
                </p:nvGrpSpPr>
                <p:grpSpPr bwMode="auto">
                  <a:xfrm>
                    <a:off x="1161" y="2574"/>
                    <a:ext cx="35" cy="74"/>
                    <a:chOff x="1161" y="2574"/>
                    <a:chExt cx="35" cy="74"/>
                  </a:xfrm>
                </p:grpSpPr>
                <p:sp>
                  <p:nvSpPr>
                    <p:cNvPr id="135" name="Rectangle 41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68" y="2574"/>
                      <a:ext cx="21" cy="16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36" name="Rectangle 41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61" y="2586"/>
                      <a:ext cx="35" cy="62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132" name="Group 419"/>
                  <p:cNvGrpSpPr/>
                  <p:nvPr/>
                </p:nvGrpSpPr>
                <p:grpSpPr bwMode="auto">
                  <a:xfrm>
                    <a:off x="1130" y="2644"/>
                    <a:ext cx="124" cy="83"/>
                    <a:chOff x="1130" y="2644"/>
                    <a:chExt cx="124" cy="83"/>
                  </a:xfrm>
                </p:grpSpPr>
                <p:sp>
                  <p:nvSpPr>
                    <p:cNvPr id="133" name="Rectangle 42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34" y="2653"/>
                      <a:ext cx="116" cy="74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34" name="Rectangle 42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30" y="2644"/>
                      <a:ext cx="124" cy="12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  <p:grpSp>
              <p:nvGrpSpPr>
                <p:cNvPr id="127" name="Group 422"/>
                <p:cNvGrpSpPr/>
                <p:nvPr/>
              </p:nvGrpSpPr>
              <p:grpSpPr bwMode="auto">
                <a:xfrm>
                  <a:off x="1143" y="2664"/>
                  <a:ext cx="94" cy="50"/>
                  <a:chOff x="1143" y="2664"/>
                  <a:chExt cx="94" cy="50"/>
                </a:xfrm>
              </p:grpSpPr>
              <p:sp>
                <p:nvSpPr>
                  <p:cNvPr id="128" name="Rectangle 423"/>
                  <p:cNvSpPr>
                    <a:spLocks noChangeArrowheads="1"/>
                  </p:cNvSpPr>
                  <p:nvPr/>
                </p:nvSpPr>
                <p:spPr bwMode="auto">
                  <a:xfrm>
                    <a:off x="1143" y="2664"/>
                    <a:ext cx="23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129" name="Rectangle 424"/>
                  <p:cNvSpPr>
                    <a:spLocks noChangeArrowheads="1"/>
                  </p:cNvSpPr>
                  <p:nvPr/>
                </p:nvSpPr>
                <p:spPr bwMode="auto">
                  <a:xfrm>
                    <a:off x="1214" y="2664"/>
                    <a:ext cx="23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130" name="Rectangle 425"/>
                  <p:cNvSpPr>
                    <a:spLocks noChangeArrowheads="1"/>
                  </p:cNvSpPr>
                  <p:nvPr/>
                </p:nvSpPr>
                <p:spPr bwMode="auto">
                  <a:xfrm>
                    <a:off x="1179" y="2664"/>
                    <a:ext cx="23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</p:grpSp>
          <p:grpSp>
            <p:nvGrpSpPr>
              <p:cNvPr id="39" name="Group 426"/>
              <p:cNvGrpSpPr/>
              <p:nvPr/>
            </p:nvGrpSpPr>
            <p:grpSpPr bwMode="auto">
              <a:xfrm>
                <a:off x="546" y="2618"/>
                <a:ext cx="124" cy="109"/>
                <a:chOff x="546" y="2618"/>
                <a:chExt cx="124" cy="109"/>
              </a:xfrm>
            </p:grpSpPr>
            <p:grpSp>
              <p:nvGrpSpPr>
                <p:cNvPr id="117" name="Group 427"/>
                <p:cNvGrpSpPr/>
                <p:nvPr/>
              </p:nvGrpSpPr>
              <p:grpSpPr bwMode="auto">
                <a:xfrm>
                  <a:off x="546" y="2618"/>
                  <a:ext cx="124" cy="109"/>
                  <a:chOff x="546" y="2618"/>
                  <a:chExt cx="124" cy="109"/>
                </a:xfrm>
              </p:grpSpPr>
              <p:sp>
                <p:nvSpPr>
                  <p:cNvPr id="122" name="Rectangle 428"/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618"/>
                    <a:ext cx="38" cy="30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grpSp>
                <p:nvGrpSpPr>
                  <p:cNvPr id="123" name="Group 429"/>
                  <p:cNvGrpSpPr/>
                  <p:nvPr/>
                </p:nvGrpSpPr>
                <p:grpSpPr bwMode="auto">
                  <a:xfrm>
                    <a:off x="546" y="2644"/>
                    <a:ext cx="124" cy="83"/>
                    <a:chOff x="546" y="2644"/>
                    <a:chExt cx="124" cy="83"/>
                  </a:xfrm>
                </p:grpSpPr>
                <p:sp>
                  <p:nvSpPr>
                    <p:cNvPr id="124" name="Rectangle 43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50" y="2653"/>
                      <a:ext cx="116" cy="74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25" name="Rectangle 43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6" y="2644"/>
                      <a:ext cx="124" cy="12"/>
                    </a:xfrm>
                    <a:prstGeom prst="rect">
                      <a:avLst/>
                    </a:prstGeom>
                    <a:solidFill>
                      <a:srgbClr val="C0C0C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  <p:grpSp>
              <p:nvGrpSpPr>
                <p:cNvPr id="118" name="Group 432"/>
                <p:cNvGrpSpPr/>
                <p:nvPr/>
              </p:nvGrpSpPr>
              <p:grpSpPr bwMode="auto">
                <a:xfrm>
                  <a:off x="558" y="2664"/>
                  <a:ext cx="98" cy="50"/>
                  <a:chOff x="558" y="2664"/>
                  <a:chExt cx="98" cy="50"/>
                </a:xfrm>
              </p:grpSpPr>
              <p:sp>
                <p:nvSpPr>
                  <p:cNvPr id="119" name="Rectangle 433"/>
                  <p:cNvSpPr>
                    <a:spLocks noChangeArrowheads="1"/>
                  </p:cNvSpPr>
                  <p:nvPr/>
                </p:nvSpPr>
                <p:spPr bwMode="auto">
                  <a:xfrm>
                    <a:off x="629" y="2664"/>
                    <a:ext cx="27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120" name="Rectangle 434"/>
                  <p:cNvSpPr>
                    <a:spLocks noChangeArrowheads="1"/>
                  </p:cNvSpPr>
                  <p:nvPr/>
                </p:nvSpPr>
                <p:spPr bwMode="auto">
                  <a:xfrm>
                    <a:off x="558" y="2664"/>
                    <a:ext cx="27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121" name="Rectangle 435"/>
                  <p:cNvSpPr>
                    <a:spLocks noChangeArrowheads="1"/>
                  </p:cNvSpPr>
                  <p:nvPr/>
                </p:nvSpPr>
                <p:spPr bwMode="auto">
                  <a:xfrm>
                    <a:off x="594" y="2664"/>
                    <a:ext cx="27" cy="50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</p:grpSp>
          <p:grpSp>
            <p:nvGrpSpPr>
              <p:cNvPr id="40" name="Group 436"/>
              <p:cNvGrpSpPr/>
              <p:nvPr/>
            </p:nvGrpSpPr>
            <p:grpSpPr bwMode="auto">
              <a:xfrm>
                <a:off x="654" y="2479"/>
                <a:ext cx="488" cy="262"/>
                <a:chOff x="654" y="2479"/>
                <a:chExt cx="488" cy="262"/>
              </a:xfrm>
            </p:grpSpPr>
            <p:grpSp>
              <p:nvGrpSpPr>
                <p:cNvPr id="41" name="Group 437"/>
                <p:cNvGrpSpPr/>
                <p:nvPr/>
              </p:nvGrpSpPr>
              <p:grpSpPr bwMode="auto">
                <a:xfrm>
                  <a:off x="654" y="2479"/>
                  <a:ext cx="488" cy="262"/>
                  <a:chOff x="654" y="2479"/>
                  <a:chExt cx="488" cy="262"/>
                </a:xfrm>
              </p:grpSpPr>
              <p:sp>
                <p:nvSpPr>
                  <p:cNvPr id="112" name="Rectangle 438"/>
                  <p:cNvSpPr>
                    <a:spLocks noChangeArrowheads="1"/>
                  </p:cNvSpPr>
                  <p:nvPr/>
                </p:nvSpPr>
                <p:spPr bwMode="auto">
                  <a:xfrm>
                    <a:off x="662" y="2522"/>
                    <a:ext cx="471" cy="219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113" name="Rectangle 439"/>
                  <p:cNvSpPr>
                    <a:spLocks noChangeArrowheads="1"/>
                  </p:cNvSpPr>
                  <p:nvPr/>
                </p:nvSpPr>
                <p:spPr bwMode="auto">
                  <a:xfrm>
                    <a:off x="780" y="2486"/>
                    <a:ext cx="34" cy="26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114" name="Rectangle 440"/>
                  <p:cNvSpPr>
                    <a:spLocks noChangeArrowheads="1"/>
                  </p:cNvSpPr>
                  <p:nvPr/>
                </p:nvSpPr>
                <p:spPr bwMode="auto">
                  <a:xfrm>
                    <a:off x="866" y="2479"/>
                    <a:ext cx="46" cy="36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115" name="Rectangle 441"/>
                  <p:cNvSpPr>
                    <a:spLocks noChangeArrowheads="1"/>
                  </p:cNvSpPr>
                  <p:nvPr/>
                </p:nvSpPr>
                <p:spPr bwMode="auto">
                  <a:xfrm>
                    <a:off x="654" y="2510"/>
                    <a:ext cx="488" cy="17"/>
                  </a:xfrm>
                  <a:prstGeom prst="rect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116" name="Rectangle 442"/>
                  <p:cNvSpPr>
                    <a:spLocks noChangeArrowheads="1"/>
                  </p:cNvSpPr>
                  <p:nvPr/>
                </p:nvSpPr>
                <p:spPr bwMode="auto">
                  <a:xfrm>
                    <a:off x="662" y="2629"/>
                    <a:ext cx="471" cy="8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  <p:grpSp>
              <p:nvGrpSpPr>
                <p:cNvPr id="42" name="Group 443"/>
                <p:cNvGrpSpPr/>
                <p:nvPr/>
              </p:nvGrpSpPr>
              <p:grpSpPr bwMode="auto">
                <a:xfrm>
                  <a:off x="670" y="2542"/>
                  <a:ext cx="449" cy="178"/>
                  <a:chOff x="670" y="2542"/>
                  <a:chExt cx="449" cy="178"/>
                </a:xfrm>
              </p:grpSpPr>
              <p:grpSp>
                <p:nvGrpSpPr>
                  <p:cNvPr id="47" name="Group 444"/>
                  <p:cNvGrpSpPr/>
                  <p:nvPr/>
                </p:nvGrpSpPr>
                <p:grpSpPr bwMode="auto">
                  <a:xfrm>
                    <a:off x="736" y="2649"/>
                    <a:ext cx="57" cy="71"/>
                    <a:chOff x="736" y="2649"/>
                    <a:chExt cx="57" cy="71"/>
                  </a:xfrm>
                </p:grpSpPr>
                <p:sp>
                  <p:nvSpPr>
                    <p:cNvPr id="108" name="Rectangle 44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39" y="2649"/>
                      <a:ext cx="51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09" name="Rectangle 44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36" y="2715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10" name="Line 44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64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11" name="Line 44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38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48" name="Group 449"/>
                  <p:cNvGrpSpPr/>
                  <p:nvPr/>
                </p:nvGrpSpPr>
                <p:grpSpPr bwMode="auto">
                  <a:xfrm>
                    <a:off x="801" y="2649"/>
                    <a:ext cx="57" cy="71"/>
                    <a:chOff x="801" y="2649"/>
                    <a:chExt cx="57" cy="71"/>
                  </a:xfrm>
                </p:grpSpPr>
                <p:sp>
                  <p:nvSpPr>
                    <p:cNvPr id="104" name="Rectangle 45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04" y="2649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05" name="Rectangle 45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01" y="2715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06" name="Line 45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29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07" name="Line 45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04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49" name="Group 454"/>
                  <p:cNvGrpSpPr/>
                  <p:nvPr/>
                </p:nvGrpSpPr>
                <p:grpSpPr bwMode="auto">
                  <a:xfrm>
                    <a:off x="1061" y="2649"/>
                    <a:ext cx="57" cy="71"/>
                    <a:chOff x="1061" y="2649"/>
                    <a:chExt cx="57" cy="71"/>
                  </a:xfrm>
                </p:grpSpPr>
                <p:sp>
                  <p:nvSpPr>
                    <p:cNvPr id="100" name="Rectangle 45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63" y="2649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01" name="Rectangle 45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61" y="2715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02" name="Line 45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89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103" name="Line 45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63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50" name="Group 459"/>
                  <p:cNvGrpSpPr/>
                  <p:nvPr/>
                </p:nvGrpSpPr>
                <p:grpSpPr bwMode="auto">
                  <a:xfrm>
                    <a:off x="670" y="2649"/>
                    <a:ext cx="58" cy="71"/>
                    <a:chOff x="670" y="2649"/>
                    <a:chExt cx="58" cy="71"/>
                  </a:xfrm>
                </p:grpSpPr>
                <p:sp>
                  <p:nvSpPr>
                    <p:cNvPr id="96" name="Rectangle 46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3" y="2649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97" name="Rectangle 46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0" y="2715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98" name="Line 46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99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99" name="Line 46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3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51" name="Group 464"/>
                  <p:cNvGrpSpPr/>
                  <p:nvPr/>
                </p:nvGrpSpPr>
                <p:grpSpPr bwMode="auto">
                  <a:xfrm>
                    <a:off x="867" y="2542"/>
                    <a:ext cx="58" cy="71"/>
                    <a:chOff x="867" y="2542"/>
                    <a:chExt cx="58" cy="71"/>
                  </a:xfrm>
                </p:grpSpPr>
                <p:sp>
                  <p:nvSpPr>
                    <p:cNvPr id="92" name="Rectangle 46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70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93" name="Rectangle 46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67" y="2608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94" name="Line 46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96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95" name="Line 46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70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52" name="Group 469"/>
                  <p:cNvGrpSpPr/>
                  <p:nvPr/>
                </p:nvGrpSpPr>
                <p:grpSpPr bwMode="auto">
                  <a:xfrm>
                    <a:off x="931" y="2649"/>
                    <a:ext cx="57" cy="71"/>
                    <a:chOff x="931" y="2649"/>
                    <a:chExt cx="57" cy="71"/>
                  </a:xfrm>
                </p:grpSpPr>
                <p:sp>
                  <p:nvSpPr>
                    <p:cNvPr id="88" name="Rectangle 47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4" y="2649"/>
                      <a:ext cx="51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89" name="Rectangle 47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1" y="2715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90" name="Line 47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59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91" name="Line 47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33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53" name="Group 474"/>
                  <p:cNvGrpSpPr/>
                  <p:nvPr/>
                </p:nvGrpSpPr>
                <p:grpSpPr bwMode="auto">
                  <a:xfrm>
                    <a:off x="996" y="2649"/>
                    <a:ext cx="57" cy="71"/>
                    <a:chOff x="996" y="2649"/>
                    <a:chExt cx="57" cy="71"/>
                  </a:xfrm>
                </p:grpSpPr>
                <p:sp>
                  <p:nvSpPr>
                    <p:cNvPr id="84" name="Rectangle 47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98" y="2649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85" name="Rectangle 47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96" y="2715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86" name="Line 47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24" y="2649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87" name="Line 47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98" y="2682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54" name="Group 479"/>
                  <p:cNvGrpSpPr/>
                  <p:nvPr/>
                </p:nvGrpSpPr>
                <p:grpSpPr bwMode="auto">
                  <a:xfrm>
                    <a:off x="736" y="2542"/>
                    <a:ext cx="58" cy="71"/>
                    <a:chOff x="736" y="2542"/>
                    <a:chExt cx="58" cy="71"/>
                  </a:xfrm>
                </p:grpSpPr>
                <p:sp>
                  <p:nvSpPr>
                    <p:cNvPr id="80" name="Rectangle 48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39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81" name="Rectangle 48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36" y="2608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82" name="Line 48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65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83" name="Line 48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39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55" name="Group 484"/>
                  <p:cNvGrpSpPr/>
                  <p:nvPr/>
                </p:nvGrpSpPr>
                <p:grpSpPr bwMode="auto">
                  <a:xfrm>
                    <a:off x="802" y="2542"/>
                    <a:ext cx="57" cy="71"/>
                    <a:chOff x="802" y="2542"/>
                    <a:chExt cx="57" cy="71"/>
                  </a:xfrm>
                </p:grpSpPr>
                <p:sp>
                  <p:nvSpPr>
                    <p:cNvPr id="76" name="Rectangle 48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05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77" name="Rectangle 48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02" y="2608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78" name="Line 48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30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79" name="Line 48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804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56" name="Group 489"/>
                  <p:cNvGrpSpPr/>
                  <p:nvPr/>
                </p:nvGrpSpPr>
                <p:grpSpPr bwMode="auto">
                  <a:xfrm>
                    <a:off x="1061" y="2542"/>
                    <a:ext cx="58" cy="71"/>
                    <a:chOff x="1061" y="2542"/>
                    <a:chExt cx="58" cy="71"/>
                  </a:xfrm>
                </p:grpSpPr>
                <p:sp>
                  <p:nvSpPr>
                    <p:cNvPr id="72" name="Rectangle 49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64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73" name="Rectangle 49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61" y="2608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74" name="Line 49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90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75" name="Line 49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64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57" name="Group 494"/>
                  <p:cNvGrpSpPr/>
                  <p:nvPr/>
                </p:nvGrpSpPr>
                <p:grpSpPr bwMode="auto">
                  <a:xfrm>
                    <a:off x="671" y="2542"/>
                    <a:ext cx="58" cy="71"/>
                    <a:chOff x="671" y="2542"/>
                    <a:chExt cx="58" cy="71"/>
                  </a:xfrm>
                </p:grpSpPr>
                <p:sp>
                  <p:nvSpPr>
                    <p:cNvPr id="68" name="Rectangle 49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4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9" name="Rectangle 49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1" y="2608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70" name="Line 49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99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71" name="Line 49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4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58" name="Group 499"/>
                  <p:cNvGrpSpPr/>
                  <p:nvPr/>
                </p:nvGrpSpPr>
                <p:grpSpPr bwMode="auto">
                  <a:xfrm>
                    <a:off x="931" y="2542"/>
                    <a:ext cx="58" cy="71"/>
                    <a:chOff x="931" y="2542"/>
                    <a:chExt cx="58" cy="71"/>
                  </a:xfrm>
                </p:grpSpPr>
                <p:sp>
                  <p:nvSpPr>
                    <p:cNvPr id="64" name="Rectangle 50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4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5" name="Rectangle 50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1" y="2608"/>
                      <a:ext cx="58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6" name="Line 50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60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7" name="Line 50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34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  <p:grpSp>
                <p:nvGrpSpPr>
                  <p:cNvPr id="59" name="Group 504"/>
                  <p:cNvGrpSpPr/>
                  <p:nvPr/>
                </p:nvGrpSpPr>
                <p:grpSpPr bwMode="auto">
                  <a:xfrm>
                    <a:off x="997" y="2542"/>
                    <a:ext cx="57" cy="71"/>
                    <a:chOff x="997" y="2542"/>
                    <a:chExt cx="57" cy="71"/>
                  </a:xfrm>
                </p:grpSpPr>
                <p:sp>
                  <p:nvSpPr>
                    <p:cNvPr id="60" name="Rectangle 50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99" y="2542"/>
                      <a:ext cx="52" cy="6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1" name="Rectangle 50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97" y="2608"/>
                      <a:ext cx="5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317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2" name="Line 50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25" y="2542"/>
                      <a:ext cx="1" cy="63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  <p:sp>
                  <p:nvSpPr>
                    <p:cNvPr id="63" name="Line 50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99" y="2575"/>
                      <a:ext cx="52" cy="1"/>
                    </a:xfrm>
                    <a:prstGeom prst="line">
                      <a:avLst/>
                    </a:prstGeom>
                    <a:noFill/>
                    <a:ln w="3175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 sz="3655"/>
                    </a:p>
                  </p:txBody>
                </p:sp>
              </p:grpSp>
            </p:grpSp>
            <p:grpSp>
              <p:nvGrpSpPr>
                <p:cNvPr id="43" name="Group 509"/>
                <p:cNvGrpSpPr/>
                <p:nvPr/>
              </p:nvGrpSpPr>
              <p:grpSpPr bwMode="auto">
                <a:xfrm>
                  <a:off x="868" y="2643"/>
                  <a:ext cx="54" cy="97"/>
                  <a:chOff x="868" y="2643"/>
                  <a:chExt cx="54" cy="97"/>
                </a:xfrm>
              </p:grpSpPr>
              <p:sp>
                <p:nvSpPr>
                  <p:cNvPr id="44" name="Rectangle 510"/>
                  <p:cNvSpPr>
                    <a:spLocks noChangeArrowheads="1"/>
                  </p:cNvSpPr>
                  <p:nvPr/>
                </p:nvSpPr>
                <p:spPr bwMode="auto">
                  <a:xfrm>
                    <a:off x="868" y="2643"/>
                    <a:ext cx="54" cy="97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45" name="Rectangle 511"/>
                  <p:cNvSpPr>
                    <a:spLocks noChangeArrowheads="1"/>
                  </p:cNvSpPr>
                  <p:nvPr/>
                </p:nvSpPr>
                <p:spPr bwMode="auto">
                  <a:xfrm>
                    <a:off x="874" y="2653"/>
                    <a:ext cx="41" cy="81"/>
                  </a:xfrm>
                  <a:prstGeom prst="rect">
                    <a:avLst/>
                  </a:prstGeom>
                  <a:solidFill>
                    <a:srgbClr val="808080"/>
                  </a:solidFill>
                  <a:ln w="317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  <p:sp>
                <p:nvSpPr>
                  <p:cNvPr id="46" name="Oval 512"/>
                  <p:cNvSpPr>
                    <a:spLocks noChangeArrowheads="1"/>
                  </p:cNvSpPr>
                  <p:nvPr/>
                </p:nvSpPr>
                <p:spPr bwMode="auto">
                  <a:xfrm>
                    <a:off x="908" y="2693"/>
                    <a:ext cx="2" cy="3"/>
                  </a:xfrm>
                  <a:prstGeom prst="ellipse">
                    <a:avLst/>
                  </a:prstGeom>
                  <a:solidFill>
                    <a:srgbClr val="C0C0C0"/>
                  </a:solidFill>
                  <a:ln w="3175">
                    <a:solidFill>
                      <a:srgbClr val="000000"/>
                    </a:solidFill>
                    <a:round/>
                  </a:ln>
                </p:spPr>
                <p:txBody>
                  <a:bodyPr/>
                  <a:lstStyle/>
                  <a:p>
                    <a:endParaRPr lang="zh-CN" altLang="en-US" sz="3655"/>
                  </a:p>
                </p:txBody>
              </p:sp>
            </p:grpSp>
          </p:grpSp>
        </p:grpSp>
        <p:sp>
          <p:nvSpPr>
            <p:cNvPr id="10" name="Line 513"/>
            <p:cNvSpPr>
              <a:spLocks noChangeShapeType="1"/>
            </p:cNvSpPr>
            <p:nvPr/>
          </p:nvSpPr>
          <p:spPr bwMode="auto">
            <a:xfrm>
              <a:off x="8249548" y="9912423"/>
              <a:ext cx="1713466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11" name="Line 514"/>
            <p:cNvSpPr>
              <a:spLocks noChangeShapeType="1"/>
            </p:cNvSpPr>
            <p:nvPr/>
          </p:nvSpPr>
          <p:spPr bwMode="auto">
            <a:xfrm>
              <a:off x="14246677" y="9912423"/>
              <a:ext cx="1713466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12" name="Line 515"/>
            <p:cNvSpPr>
              <a:spLocks noChangeShapeType="1"/>
            </p:cNvSpPr>
            <p:nvPr/>
          </p:nvSpPr>
          <p:spPr bwMode="auto">
            <a:xfrm>
              <a:off x="20243807" y="9912423"/>
              <a:ext cx="8281749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13" name="Text Box 516"/>
            <p:cNvSpPr txBox="1">
              <a:spLocks noChangeArrowheads="1"/>
            </p:cNvSpPr>
            <p:nvPr/>
          </p:nvSpPr>
          <p:spPr bwMode="auto">
            <a:xfrm>
              <a:off x="19101494" y="5161940"/>
              <a:ext cx="3461204" cy="6549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3655"/>
                <a:t>单个的用户需求</a:t>
              </a:r>
              <a:endParaRPr lang="zh-CN" altLang="en-US" sz="3655"/>
            </a:p>
          </p:txBody>
        </p:sp>
        <p:sp>
          <p:nvSpPr>
            <p:cNvPr id="14" name="Text Box 517"/>
            <p:cNvSpPr txBox="1">
              <a:spLocks noChangeArrowheads="1"/>
            </p:cNvSpPr>
            <p:nvPr/>
          </p:nvSpPr>
          <p:spPr bwMode="auto">
            <a:xfrm>
              <a:off x="12819294" y="5577664"/>
              <a:ext cx="3140850" cy="110497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5485" dirty="0"/>
                <a:t>Internet</a:t>
              </a:r>
              <a:endParaRPr lang="en-US" altLang="zh-CN" sz="5485" dirty="0"/>
            </a:p>
          </p:txBody>
        </p:sp>
        <p:sp>
          <p:nvSpPr>
            <p:cNvPr id="15" name="Text Box 518"/>
            <p:cNvSpPr txBox="1">
              <a:spLocks noChangeArrowheads="1"/>
            </p:cNvSpPr>
            <p:nvPr/>
          </p:nvSpPr>
          <p:spPr bwMode="auto">
            <a:xfrm>
              <a:off x="5964929" y="5161940"/>
              <a:ext cx="2056973" cy="6549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3655"/>
                <a:t>用户需求</a:t>
              </a:r>
              <a:endParaRPr lang="zh-CN" altLang="en-US" sz="3655"/>
            </a:p>
          </p:txBody>
        </p:sp>
        <p:sp>
          <p:nvSpPr>
            <p:cNvPr id="16" name="Text Box 519"/>
            <p:cNvSpPr txBox="1">
              <a:spLocks noChangeArrowheads="1"/>
            </p:cNvSpPr>
            <p:nvPr/>
          </p:nvSpPr>
          <p:spPr bwMode="auto">
            <a:xfrm>
              <a:off x="14371618" y="8987069"/>
              <a:ext cx="1120820" cy="6549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3655" dirty="0"/>
                <a:t>拉动</a:t>
              </a:r>
              <a:endParaRPr lang="zh-CN" altLang="en-US" sz="3655" dirty="0"/>
            </a:p>
          </p:txBody>
        </p:sp>
        <p:sp>
          <p:nvSpPr>
            <p:cNvPr id="17" name="Text Box 520"/>
            <p:cNvSpPr txBox="1">
              <a:spLocks noChangeArrowheads="1"/>
            </p:cNvSpPr>
            <p:nvPr/>
          </p:nvSpPr>
          <p:spPr bwMode="auto">
            <a:xfrm>
              <a:off x="15388987" y="7299658"/>
              <a:ext cx="1120820" cy="6549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3655"/>
                <a:t>拉动</a:t>
              </a:r>
              <a:endParaRPr lang="zh-CN" altLang="en-US" sz="3655"/>
            </a:p>
          </p:txBody>
        </p:sp>
        <p:sp>
          <p:nvSpPr>
            <p:cNvPr id="18" name="Text Box 521"/>
            <p:cNvSpPr txBox="1">
              <a:spLocks noChangeArrowheads="1"/>
            </p:cNvSpPr>
            <p:nvPr/>
          </p:nvSpPr>
          <p:spPr bwMode="auto">
            <a:xfrm>
              <a:off x="8755259" y="9086038"/>
              <a:ext cx="1120820" cy="6549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3655" dirty="0"/>
                <a:t>拉动</a:t>
              </a:r>
              <a:endParaRPr lang="zh-CN" altLang="en-US" sz="3655" dirty="0"/>
            </a:p>
          </p:txBody>
        </p:sp>
        <p:sp>
          <p:nvSpPr>
            <p:cNvPr id="19" name="Text Box 522"/>
            <p:cNvSpPr txBox="1">
              <a:spLocks noChangeArrowheads="1"/>
            </p:cNvSpPr>
            <p:nvPr/>
          </p:nvSpPr>
          <p:spPr bwMode="auto">
            <a:xfrm>
              <a:off x="21984044" y="12418474"/>
              <a:ext cx="1120820" cy="6549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3655" dirty="0"/>
                <a:t>四天</a:t>
              </a:r>
              <a:endParaRPr lang="zh-CN" altLang="en-US" sz="3655" dirty="0"/>
            </a:p>
          </p:txBody>
        </p:sp>
        <p:sp>
          <p:nvSpPr>
            <p:cNvPr id="20" name="Text Box 523"/>
            <p:cNvSpPr txBox="1">
              <a:spLocks noChangeArrowheads="1"/>
            </p:cNvSpPr>
            <p:nvPr/>
          </p:nvSpPr>
          <p:spPr bwMode="auto">
            <a:xfrm>
              <a:off x="13887452" y="12438267"/>
              <a:ext cx="1120820" cy="6549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3655"/>
                <a:t>一天</a:t>
              </a:r>
              <a:endParaRPr lang="zh-CN" altLang="en-US" sz="3655"/>
            </a:p>
          </p:txBody>
        </p:sp>
        <p:sp>
          <p:nvSpPr>
            <p:cNvPr id="21" name="Text Box 524"/>
            <p:cNvSpPr txBox="1">
              <a:spLocks noChangeArrowheads="1"/>
            </p:cNvSpPr>
            <p:nvPr/>
          </p:nvSpPr>
          <p:spPr bwMode="auto">
            <a:xfrm>
              <a:off x="7604747" y="12438267"/>
              <a:ext cx="2056973" cy="6549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3655"/>
                <a:t>几个星期</a:t>
              </a:r>
              <a:endParaRPr lang="zh-CN" altLang="en-US" sz="3655"/>
            </a:p>
          </p:txBody>
        </p:sp>
        <p:sp>
          <p:nvSpPr>
            <p:cNvPr id="22" name="Line 525"/>
            <p:cNvSpPr>
              <a:spLocks noChangeShapeType="1"/>
            </p:cNvSpPr>
            <p:nvPr/>
          </p:nvSpPr>
          <p:spPr bwMode="auto">
            <a:xfrm>
              <a:off x="5605704" y="13388362"/>
              <a:ext cx="59971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23" name="Line 526"/>
            <p:cNvSpPr>
              <a:spLocks noChangeShapeType="1"/>
            </p:cNvSpPr>
            <p:nvPr/>
          </p:nvSpPr>
          <p:spPr bwMode="auto">
            <a:xfrm>
              <a:off x="5605703" y="12913314"/>
              <a:ext cx="0" cy="11876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24" name="Line 527"/>
            <p:cNvSpPr>
              <a:spLocks noChangeShapeType="1"/>
            </p:cNvSpPr>
            <p:nvPr/>
          </p:nvSpPr>
          <p:spPr bwMode="auto">
            <a:xfrm>
              <a:off x="11602832" y="12913314"/>
              <a:ext cx="0" cy="11876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25" name="Line 528"/>
            <p:cNvSpPr>
              <a:spLocks noChangeShapeType="1"/>
            </p:cNvSpPr>
            <p:nvPr/>
          </p:nvSpPr>
          <p:spPr bwMode="auto">
            <a:xfrm>
              <a:off x="11602833" y="13388362"/>
              <a:ext cx="59971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26" name="Line 529"/>
            <p:cNvSpPr>
              <a:spLocks noChangeShapeType="1"/>
            </p:cNvSpPr>
            <p:nvPr/>
          </p:nvSpPr>
          <p:spPr bwMode="auto">
            <a:xfrm>
              <a:off x="11602832" y="12913314"/>
              <a:ext cx="0" cy="11876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27" name="Line 530"/>
            <p:cNvSpPr>
              <a:spLocks noChangeShapeType="1"/>
            </p:cNvSpPr>
            <p:nvPr/>
          </p:nvSpPr>
          <p:spPr bwMode="auto">
            <a:xfrm>
              <a:off x="17599961" y="12913314"/>
              <a:ext cx="0" cy="11876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28" name="Line 531"/>
            <p:cNvSpPr>
              <a:spLocks noChangeShapeType="1"/>
            </p:cNvSpPr>
            <p:nvPr/>
          </p:nvSpPr>
          <p:spPr bwMode="auto">
            <a:xfrm>
              <a:off x="17711423" y="13388362"/>
              <a:ext cx="113974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 dirty="0"/>
            </a:p>
          </p:txBody>
        </p:sp>
        <p:sp>
          <p:nvSpPr>
            <p:cNvPr id="29" name="Line 532"/>
            <p:cNvSpPr>
              <a:spLocks noChangeShapeType="1"/>
            </p:cNvSpPr>
            <p:nvPr/>
          </p:nvSpPr>
          <p:spPr bwMode="auto">
            <a:xfrm>
              <a:off x="17599961" y="12913314"/>
              <a:ext cx="0" cy="11876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30" name="Line 533"/>
            <p:cNvSpPr>
              <a:spLocks noChangeShapeType="1"/>
            </p:cNvSpPr>
            <p:nvPr/>
          </p:nvSpPr>
          <p:spPr bwMode="auto">
            <a:xfrm>
              <a:off x="29108911" y="12913314"/>
              <a:ext cx="0" cy="11876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31" name="Freeform 534"/>
            <p:cNvSpPr/>
            <p:nvPr/>
          </p:nvSpPr>
          <p:spPr bwMode="auto">
            <a:xfrm>
              <a:off x="16245722" y="6112035"/>
              <a:ext cx="13707723" cy="2612766"/>
            </a:xfrm>
            <a:custGeom>
              <a:avLst/>
              <a:gdLst>
                <a:gd name="T0" fmla="*/ 1056 w 1056"/>
                <a:gd name="T1" fmla="*/ 336 h 336"/>
                <a:gd name="T2" fmla="*/ 1056 w 1056"/>
                <a:gd name="T3" fmla="*/ 0 h 336"/>
                <a:gd name="T4" fmla="*/ 0 w 1056"/>
                <a:gd name="T5" fmla="*/ 0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56" h="336">
                  <a:moveTo>
                    <a:pt x="1056" y="336"/>
                  </a:moveTo>
                  <a:lnTo>
                    <a:pt x="1056" y="0"/>
                  </a:lnTo>
                  <a:lnTo>
                    <a:pt x="0" y="0"/>
                  </a:lnTo>
                </a:path>
              </a:pathLst>
            </a:custGeom>
            <a:noFill/>
            <a:ln w="76200" cap="flat">
              <a:solidFill>
                <a:schemeClr val="tx1"/>
              </a:solidFill>
              <a:prstDash val="dash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32" name="Freeform 535"/>
            <p:cNvSpPr/>
            <p:nvPr/>
          </p:nvSpPr>
          <p:spPr bwMode="auto">
            <a:xfrm>
              <a:off x="4537041" y="6112035"/>
              <a:ext cx="7710594" cy="3325339"/>
            </a:xfrm>
            <a:custGeom>
              <a:avLst/>
              <a:gdLst>
                <a:gd name="T0" fmla="*/ 1392 w 1392"/>
                <a:gd name="T1" fmla="*/ 0 h 576"/>
                <a:gd name="T2" fmla="*/ 0 w 1392"/>
                <a:gd name="T3" fmla="*/ 0 h 576"/>
                <a:gd name="T4" fmla="*/ 0 w 1392"/>
                <a:gd name="T5" fmla="*/ 576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92" h="576">
                  <a:moveTo>
                    <a:pt x="1392" y="0"/>
                  </a:moveTo>
                  <a:lnTo>
                    <a:pt x="0" y="0"/>
                  </a:lnTo>
                  <a:lnTo>
                    <a:pt x="0" y="576"/>
                  </a:lnTo>
                </a:path>
              </a:pathLst>
            </a:custGeom>
            <a:noFill/>
            <a:ln w="76200" cap="flat">
              <a:solidFill>
                <a:schemeClr val="tx1"/>
              </a:solidFill>
              <a:prstDash val="dash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33" name="AutoShape 536"/>
            <p:cNvSpPr>
              <a:spLocks noChangeArrowheads="1"/>
            </p:cNvSpPr>
            <p:nvPr/>
          </p:nvSpPr>
          <p:spPr bwMode="auto">
            <a:xfrm rot="10742710">
              <a:off x="7107238" y="9199852"/>
              <a:ext cx="1427888" cy="1187621"/>
            </a:xfrm>
            <a:prstGeom prst="triangle">
              <a:avLst>
                <a:gd name="adj" fmla="val 50000"/>
              </a:avLst>
            </a:prstGeom>
            <a:noFill/>
            <a:ln w="127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3655"/>
            </a:p>
          </p:txBody>
        </p:sp>
        <p:sp>
          <p:nvSpPr>
            <p:cNvPr id="34" name="Text Box 537"/>
            <p:cNvSpPr txBox="1">
              <a:spLocks noChangeArrowheads="1"/>
            </p:cNvSpPr>
            <p:nvPr/>
          </p:nvSpPr>
          <p:spPr bwMode="auto">
            <a:xfrm>
              <a:off x="22802105" y="9066245"/>
              <a:ext cx="1120820" cy="6549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3655" dirty="0"/>
                <a:t>拉动</a:t>
              </a:r>
              <a:endParaRPr lang="zh-CN" altLang="en-US" sz="3655" dirty="0"/>
            </a:p>
          </p:txBody>
        </p:sp>
        <p:sp>
          <p:nvSpPr>
            <p:cNvPr id="35" name="Freeform 538"/>
            <p:cNvSpPr/>
            <p:nvPr/>
          </p:nvSpPr>
          <p:spPr bwMode="auto">
            <a:xfrm>
              <a:off x="8535126" y="6824609"/>
              <a:ext cx="9138482" cy="2375242"/>
            </a:xfrm>
            <a:custGeom>
              <a:avLst/>
              <a:gdLst>
                <a:gd name="T0" fmla="*/ 0 w 1536"/>
                <a:gd name="T1" fmla="*/ 480 h 480"/>
                <a:gd name="T2" fmla="*/ 816 w 1536"/>
                <a:gd name="T3" fmla="*/ 0 h 480"/>
                <a:gd name="T4" fmla="*/ 1536 w 1536"/>
                <a:gd name="T5" fmla="*/ 432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6" h="480">
                  <a:moveTo>
                    <a:pt x="0" y="480"/>
                  </a:moveTo>
                  <a:lnTo>
                    <a:pt x="816" y="0"/>
                  </a:lnTo>
                  <a:lnTo>
                    <a:pt x="1536" y="432"/>
                  </a:lnTo>
                </a:path>
              </a:pathLst>
            </a:custGeom>
            <a:noFill/>
            <a:ln w="762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36" name="Line 539"/>
            <p:cNvSpPr>
              <a:spLocks noChangeShapeType="1"/>
            </p:cNvSpPr>
            <p:nvPr/>
          </p:nvSpPr>
          <p:spPr bwMode="auto">
            <a:xfrm flipH="1">
              <a:off x="12247635" y="6684213"/>
              <a:ext cx="798044" cy="2515639"/>
            </a:xfrm>
            <a:prstGeom prst="line">
              <a:avLst/>
            </a:prstGeom>
            <a:noFill/>
            <a:ln w="76200" cap="flat">
              <a:solidFill>
                <a:schemeClr val="tx1"/>
              </a:solidFill>
              <a:prstDash val="dash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3655"/>
            </a:p>
          </p:txBody>
        </p:sp>
        <p:sp>
          <p:nvSpPr>
            <p:cNvPr id="541" name="Text Box 622"/>
            <p:cNvSpPr txBox="1">
              <a:spLocks noChangeArrowheads="1"/>
            </p:cNvSpPr>
            <p:nvPr/>
          </p:nvSpPr>
          <p:spPr bwMode="auto">
            <a:xfrm>
              <a:off x="3323032" y="10712454"/>
              <a:ext cx="2993127" cy="6549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3655" dirty="0"/>
                <a:t>原材料供应商</a:t>
              </a:r>
              <a:endParaRPr lang="zh-CN" altLang="en-US" sz="3655" dirty="0"/>
            </a:p>
          </p:txBody>
        </p:sp>
        <p:sp>
          <p:nvSpPr>
            <p:cNvPr id="542" name="Text Box 622"/>
            <p:cNvSpPr txBox="1">
              <a:spLocks noChangeArrowheads="1"/>
            </p:cNvSpPr>
            <p:nvPr/>
          </p:nvSpPr>
          <p:spPr bwMode="auto">
            <a:xfrm>
              <a:off x="11167430" y="10712454"/>
              <a:ext cx="1588897" cy="6549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3655" dirty="0"/>
                <a:t>生产商</a:t>
              </a:r>
              <a:endParaRPr lang="zh-CN" altLang="en-US" sz="3655" dirty="0"/>
            </a:p>
          </p:txBody>
        </p:sp>
        <p:sp>
          <p:nvSpPr>
            <p:cNvPr id="543" name="Text Box 622"/>
            <p:cNvSpPr txBox="1">
              <a:spLocks noChangeArrowheads="1"/>
            </p:cNvSpPr>
            <p:nvPr/>
          </p:nvSpPr>
          <p:spPr bwMode="auto">
            <a:xfrm>
              <a:off x="17718716" y="10752513"/>
              <a:ext cx="1588897" cy="6549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3655" dirty="0"/>
                <a:t>分销商</a:t>
              </a:r>
              <a:endParaRPr lang="zh-CN" altLang="en-US" sz="3655" dirty="0"/>
            </a:p>
          </p:txBody>
        </p:sp>
        <p:sp>
          <p:nvSpPr>
            <p:cNvPr id="545" name="文本框 544"/>
            <p:cNvSpPr txBox="1"/>
            <p:nvPr/>
          </p:nvSpPr>
          <p:spPr>
            <a:xfrm>
              <a:off x="11809492" y="14813861"/>
              <a:ext cx="10577392" cy="9596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5635" dirty="0"/>
                <a:t>“定制化”供应链</a:t>
              </a:r>
              <a:endParaRPr lang="zh-CN" altLang="en-US" sz="5635" dirty="0"/>
            </a:p>
          </p:txBody>
        </p:sp>
      </p:grpSp>
      <p:sp>
        <p:nvSpPr>
          <p:cNvPr id="546" name="文本框 545"/>
          <p:cNvSpPr txBox="1"/>
          <p:nvPr/>
        </p:nvSpPr>
        <p:spPr>
          <a:xfrm>
            <a:off x="2724992" y="15504443"/>
            <a:ext cx="3029259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以下哪类产品属于定制化供应链？</a:t>
            </a:r>
            <a:endParaRPr lang="en-US" altLang="zh-CN" sz="6000" dirty="0">
              <a:solidFill>
                <a:schemeClr val="accent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sz="6000" dirty="0">
              <a:solidFill>
                <a:schemeClr val="accent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6000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 Dell </a:t>
            </a:r>
            <a:r>
              <a:rPr lang="zh-CN" altLang="en-US" sz="6000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电脑     </a:t>
            </a:r>
            <a:r>
              <a:rPr lang="en-US" altLang="zh-CN" sz="6000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 </a:t>
            </a:r>
            <a:r>
              <a:rPr lang="zh-CN" altLang="en-US" sz="6000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电视机     </a:t>
            </a:r>
            <a:r>
              <a:rPr lang="en-US" altLang="zh-CN" sz="6000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 </a:t>
            </a:r>
            <a:r>
              <a:rPr lang="zh-CN" altLang="en-US" sz="6000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板卡     </a:t>
            </a:r>
            <a:r>
              <a:rPr lang="en-US" altLang="zh-CN" sz="6000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 </a:t>
            </a:r>
            <a:r>
              <a:rPr lang="zh-CN" altLang="en-US" sz="6000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矿泉水</a:t>
            </a:r>
            <a:r>
              <a:rPr lang="en-US" altLang="zh-CN" sz="6000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sz="6000" dirty="0">
              <a:solidFill>
                <a:schemeClr val="accent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47" name="文本框 546"/>
          <p:cNvSpPr txBox="1"/>
          <p:nvPr/>
        </p:nvSpPr>
        <p:spPr>
          <a:xfrm>
            <a:off x="27260162" y="5694492"/>
            <a:ext cx="5646744" cy="821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/>
              <a:t>特点：</a:t>
            </a:r>
            <a:endParaRPr lang="en-US" altLang="zh-CN" sz="4800" dirty="0"/>
          </a:p>
          <a:p>
            <a:pPr algn="ctr"/>
            <a:endParaRPr lang="en-US" altLang="zh-CN" sz="4800" dirty="0"/>
          </a:p>
          <a:p>
            <a:pPr algn="ctr"/>
            <a:r>
              <a:rPr lang="zh-CN" altLang="en-US" sz="4800" dirty="0"/>
              <a:t>反应快</a:t>
            </a:r>
            <a:endParaRPr lang="en-US" altLang="zh-CN" sz="4800" dirty="0"/>
          </a:p>
          <a:p>
            <a:pPr algn="ctr"/>
            <a:endParaRPr lang="en-US" altLang="zh-CN" sz="4800" dirty="0"/>
          </a:p>
          <a:p>
            <a:pPr algn="ctr"/>
            <a:r>
              <a:rPr lang="zh-CN" altLang="en-US" sz="4800" dirty="0"/>
              <a:t>定制化</a:t>
            </a:r>
            <a:endParaRPr lang="en-US" altLang="zh-CN" sz="4800" dirty="0"/>
          </a:p>
          <a:p>
            <a:pPr algn="ctr"/>
            <a:endParaRPr lang="en-US" altLang="zh-CN" sz="4800" dirty="0"/>
          </a:p>
          <a:p>
            <a:pPr algn="ctr"/>
            <a:r>
              <a:rPr lang="zh-CN" altLang="en-US" sz="4800" dirty="0"/>
              <a:t>牛</a:t>
            </a:r>
            <a:r>
              <a:rPr lang="zh-CN" altLang="en-US" sz="4800"/>
              <a:t>鞭效应小</a:t>
            </a:r>
            <a:endParaRPr lang="en-US" altLang="zh-CN" sz="4800" dirty="0"/>
          </a:p>
          <a:p>
            <a:pPr algn="ctr"/>
            <a:endParaRPr lang="en-US" altLang="zh-CN" sz="4800" dirty="0"/>
          </a:p>
          <a:p>
            <a:pPr algn="ctr"/>
            <a:endParaRPr lang="en-US" altLang="zh-CN" sz="4800" dirty="0"/>
          </a:p>
          <a:p>
            <a:pPr algn="ctr"/>
            <a:endParaRPr lang="en-US" altLang="zh-CN" sz="4800" dirty="0"/>
          </a:p>
          <a:p>
            <a:pPr algn="ctr"/>
            <a:endParaRPr lang="zh-CN" altLang="en-US" sz="4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供应链管理全景图</a:t>
            </a:r>
            <a:endParaRPr lang="zh-CN" altLang="en-US" dirty="0"/>
          </a:p>
        </p:txBody>
      </p:sp>
      <p:sp>
        <p:nvSpPr>
          <p:cNvPr id="6" name="等腰三角形 5"/>
          <p:cNvSpPr/>
          <p:nvPr/>
        </p:nvSpPr>
        <p:spPr>
          <a:xfrm>
            <a:off x="5115311" y="2963989"/>
            <a:ext cx="27776244" cy="1106277"/>
          </a:xfrm>
          <a:prstGeom prst="triangl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marL="0" marR="0" lvl="0" indent="0" algn="ctr" defTabSz="550481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2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供应链绩效改进</a:t>
            </a:r>
            <a:endParaRPr kumimoji="0" lang="zh-CN" altLang="en-US" sz="42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115305" y="4414674"/>
            <a:ext cx="27776248" cy="16594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550481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22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668453" y="4691239"/>
            <a:ext cx="3217490" cy="1106277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51219" tIns="175609" rIns="351219" bIns="175609" numCol="1" spcCol="0" rtlCol="0" fromWordArt="0" anchor="ctr" anchorCtr="0" forceAA="0" compatLnSpc="1">
            <a:noAutofit/>
          </a:bodyPr>
          <a:lstStyle/>
          <a:p>
            <a:pPr marL="0" marR="0" lvl="0" indent="0" algn="ctr" defTabSz="550481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2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降本率</a:t>
            </a:r>
            <a:endParaRPr kumimoji="0" lang="zh-CN" altLang="en-US" sz="42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402132" y="4676048"/>
            <a:ext cx="6862596" cy="1106277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51219" tIns="175609" rIns="351219" bIns="175609" numCol="1" spcCol="0" rtlCol="0" fromWordArt="0" anchor="ctr" anchorCtr="0" forceAA="0" compatLnSpc="1">
            <a:noAutofit/>
          </a:bodyPr>
          <a:lstStyle/>
          <a:p>
            <a:pPr marL="0" marR="0" lvl="0" indent="0" algn="ctr" defTabSz="550481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2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OTDC(</a:t>
            </a:r>
            <a:r>
              <a:rPr kumimoji="0" lang="zh-CN" altLang="en-US" sz="42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承诺交付达成率</a:t>
            </a:r>
            <a:r>
              <a:rPr kumimoji="0" lang="en-US" altLang="zh-CN" sz="42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)</a:t>
            </a:r>
            <a:endParaRPr kumimoji="0" lang="zh-CN" altLang="en-US" sz="42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2210862" y="4691239"/>
            <a:ext cx="5306553" cy="1106277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51219" tIns="175609" rIns="351219" bIns="175609" numCol="1" spcCol="0" rtlCol="0" fromWordArt="0" anchor="ctr" anchorCtr="0" forceAA="0" compatLnSpc="1">
            <a:noAutofit/>
          </a:bodyPr>
          <a:lstStyle/>
          <a:p>
            <a:pPr marL="0" marR="0" lvl="0" indent="0" algn="ctr" defTabSz="550481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2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LT(</a:t>
            </a:r>
            <a:r>
              <a:rPr kumimoji="0" lang="zh-CN" altLang="en-US" sz="42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订单交付周期</a:t>
            </a:r>
            <a:r>
              <a:rPr kumimoji="0" lang="en-US" altLang="zh-CN" sz="42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)</a:t>
            </a:r>
            <a:endParaRPr kumimoji="0" lang="zh-CN" altLang="en-US" sz="42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115297" y="6467693"/>
            <a:ext cx="27776248" cy="347836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550481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22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115293" y="10222624"/>
            <a:ext cx="27776248" cy="347836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550481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08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115293" y="13818021"/>
            <a:ext cx="27638898" cy="57294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550481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08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5" name="矩形: 圆角 24"/>
          <p:cNvSpPr/>
          <p:nvPr/>
        </p:nvSpPr>
        <p:spPr>
          <a:xfrm>
            <a:off x="5945022" y="6835960"/>
            <a:ext cx="26154670" cy="964034"/>
          </a:xfrm>
          <a:prstGeom prst="round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51219" tIns="175609" rIns="351219" bIns="175609" numCol="1" spcCol="0" rtlCol="0" fromWordArt="0" anchor="ctr" anchorCtr="0" forceAA="0" compatLnSpc="1">
            <a:noAutofit/>
          </a:bodyPr>
          <a:lstStyle/>
          <a:p>
            <a:pPr marL="0" marR="0" lvl="0" indent="0" algn="ctr" defTabSz="550481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2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供应链计划（</a:t>
            </a:r>
            <a:r>
              <a:rPr kumimoji="0" lang="en-US" altLang="zh-CN" sz="42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S&amp;OP</a:t>
            </a:r>
            <a:r>
              <a:rPr kumimoji="0" lang="zh-CN" altLang="en-US" sz="42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计划）</a:t>
            </a:r>
            <a:endParaRPr kumimoji="0" lang="zh-CN" altLang="en-US" sz="42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5945020" y="8380211"/>
            <a:ext cx="3595400" cy="1197581"/>
          </a:xfrm>
          <a:prstGeom prst="round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51219" tIns="175609" rIns="351219" bIns="175609" numCol="1" spcCol="0" rtlCol="0" fromWordArt="0" anchor="ctr" anchorCtr="0" forceAA="0" compatLnSpc="1">
            <a:noAutofit/>
          </a:bodyPr>
          <a:lstStyle/>
          <a:p>
            <a:pPr marL="0" marR="0" lvl="0" indent="0" algn="ctr" defTabSz="550481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2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寻源管理</a:t>
            </a:r>
            <a:endParaRPr kumimoji="0" lang="zh-CN" altLang="en-US" sz="42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10597874" y="8380215"/>
            <a:ext cx="3595400" cy="1197581"/>
          </a:xfrm>
          <a:prstGeom prst="round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51219" tIns="175609" rIns="351219" bIns="175609" numCol="1" spcCol="0" rtlCol="0" fromWordArt="0" anchor="ctr" anchorCtr="0" forceAA="0" compatLnSpc="1">
            <a:noAutofit/>
          </a:bodyPr>
          <a:lstStyle/>
          <a:p>
            <a:pPr marL="0" marR="0" lvl="0" indent="0" algn="ctr" defTabSz="550481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2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采购管理</a:t>
            </a:r>
            <a:endParaRPr kumimoji="0" lang="zh-CN" altLang="en-US" sz="42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30" name="矩形: 圆角 29"/>
          <p:cNvSpPr/>
          <p:nvPr/>
        </p:nvSpPr>
        <p:spPr>
          <a:xfrm>
            <a:off x="15170920" y="8394111"/>
            <a:ext cx="3595400" cy="1197581"/>
          </a:xfrm>
          <a:prstGeom prst="round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51219" tIns="175609" rIns="351219" bIns="175609" numCol="1" spcCol="0" rtlCol="0" fromWordArt="0" anchor="ctr" anchorCtr="0" forceAA="0" compatLnSpc="1">
            <a:noAutofit/>
          </a:bodyPr>
          <a:lstStyle/>
          <a:p>
            <a:pPr marL="0" marR="0" lvl="0" indent="0" algn="ctr" defTabSz="550481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2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生产计划</a:t>
            </a:r>
            <a:endParaRPr kumimoji="0" lang="zh-CN" altLang="en-US" sz="42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31" name="矩形: 圆角 30"/>
          <p:cNvSpPr/>
          <p:nvPr/>
        </p:nvSpPr>
        <p:spPr>
          <a:xfrm>
            <a:off x="19636719" y="8409514"/>
            <a:ext cx="3595400" cy="1197581"/>
          </a:xfrm>
          <a:prstGeom prst="round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51219" tIns="175609" rIns="351219" bIns="175609" numCol="1" spcCol="0" rtlCol="0" fromWordArt="0" anchor="ctr" anchorCtr="0" forceAA="0" compatLnSpc="1">
            <a:noAutofit/>
          </a:bodyPr>
          <a:lstStyle/>
          <a:p>
            <a:pPr marL="0" marR="0" lvl="0" indent="0" algn="ctr" defTabSz="550481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2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制造管理</a:t>
            </a:r>
            <a:endParaRPr kumimoji="0" lang="zh-CN" altLang="en-US" sz="42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32" name="矩形: 圆角 31"/>
          <p:cNvSpPr/>
          <p:nvPr/>
        </p:nvSpPr>
        <p:spPr>
          <a:xfrm>
            <a:off x="24012108" y="8418298"/>
            <a:ext cx="3595400" cy="1197581"/>
          </a:xfrm>
          <a:prstGeom prst="round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51219" tIns="175609" rIns="351219" bIns="175609" numCol="1" spcCol="0" rtlCol="0" fromWordArt="0" anchor="ctr" anchorCtr="0" forceAA="0" compatLnSpc="1">
            <a:noAutofit/>
          </a:bodyPr>
          <a:lstStyle/>
          <a:p>
            <a:pPr marL="0" marR="0" lvl="0" indent="0" algn="ctr" defTabSz="550481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2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库存管理</a:t>
            </a:r>
            <a:endParaRPr kumimoji="0" lang="zh-CN" altLang="en-US" sz="42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33" name="矩形: 圆角 32"/>
          <p:cNvSpPr/>
          <p:nvPr/>
        </p:nvSpPr>
        <p:spPr>
          <a:xfrm>
            <a:off x="28504291" y="8380215"/>
            <a:ext cx="3595400" cy="1197581"/>
          </a:xfrm>
          <a:prstGeom prst="round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51219" tIns="175609" rIns="351219" bIns="175609" numCol="1" spcCol="0" rtlCol="0" fromWordArt="0" anchor="ctr" anchorCtr="0" forceAA="0" compatLnSpc="1">
            <a:noAutofit/>
          </a:bodyPr>
          <a:lstStyle/>
          <a:p>
            <a:pPr marL="0" marR="0" lvl="0" indent="0" algn="ctr" defTabSz="550481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2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物流管理</a:t>
            </a:r>
            <a:endParaRPr kumimoji="0" lang="zh-CN" altLang="en-US" sz="42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cxnSp>
        <p:nvCxnSpPr>
          <p:cNvPr id="35" name="直接箭头连接符 34"/>
          <p:cNvCxnSpPr>
            <a:stCxn id="26" idx="3"/>
            <a:endCxn id="29" idx="1"/>
          </p:cNvCxnSpPr>
          <p:nvPr/>
        </p:nvCxnSpPr>
        <p:spPr>
          <a:xfrm>
            <a:off x="9540420" y="8979003"/>
            <a:ext cx="1057454" cy="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>
            <a:stCxn id="29" idx="3"/>
            <a:endCxn id="30" idx="1"/>
          </p:cNvCxnSpPr>
          <p:nvPr/>
        </p:nvCxnSpPr>
        <p:spPr>
          <a:xfrm>
            <a:off x="14193274" y="8979005"/>
            <a:ext cx="977647" cy="138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>
            <a:stCxn id="30" idx="3"/>
            <a:endCxn id="31" idx="1"/>
          </p:cNvCxnSpPr>
          <p:nvPr/>
        </p:nvCxnSpPr>
        <p:spPr>
          <a:xfrm>
            <a:off x="18766320" y="8992902"/>
            <a:ext cx="870399" cy="154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>
            <a:stCxn id="31" idx="3"/>
            <a:endCxn id="32" idx="1"/>
          </p:cNvCxnSpPr>
          <p:nvPr/>
        </p:nvCxnSpPr>
        <p:spPr>
          <a:xfrm>
            <a:off x="23232119" y="9008306"/>
            <a:ext cx="779990" cy="87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>
            <a:endCxn id="33" idx="1"/>
          </p:cNvCxnSpPr>
          <p:nvPr/>
        </p:nvCxnSpPr>
        <p:spPr>
          <a:xfrm flipV="1">
            <a:off x="27607506" y="8979007"/>
            <a:ext cx="896783" cy="292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6" name="LegendRectangle1"/>
          <p:cNvSpPr>
            <a:spLocks noChangeArrowheads="1"/>
          </p:cNvSpPr>
          <p:nvPr/>
        </p:nvSpPr>
        <p:spPr bwMode="gray">
          <a:xfrm>
            <a:off x="5759227" y="10687867"/>
            <a:ext cx="3783373" cy="868501"/>
          </a:xfrm>
          <a:prstGeom prst="rect">
            <a:avLst/>
          </a:prstGeom>
          <a:solidFill>
            <a:schemeClr val="bg1"/>
          </a:solidFill>
          <a:ln w="9525">
            <a:solidFill>
              <a:srgbClr val="808080"/>
            </a:solidFill>
            <a:prstDash val="solid"/>
            <a:miter lim="800000"/>
          </a:ln>
          <a:effectLst/>
        </p:spPr>
        <p:txBody>
          <a:bodyPr vert="horz" wrap="square" lIns="179174" tIns="179174" rIns="179174" bIns="179174" numCol="1" rtlCol="0" anchor="ctr" anchorCtr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50647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45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需求管理</a:t>
            </a:r>
            <a:endParaRPr kumimoji="0" lang="en-US" sz="345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47" name="LegendRectangle1"/>
          <p:cNvSpPr>
            <a:spLocks noChangeArrowheads="1"/>
          </p:cNvSpPr>
          <p:nvPr/>
        </p:nvSpPr>
        <p:spPr bwMode="gray">
          <a:xfrm>
            <a:off x="10296805" y="10671564"/>
            <a:ext cx="3858641" cy="901100"/>
          </a:xfrm>
          <a:prstGeom prst="rect">
            <a:avLst/>
          </a:prstGeom>
          <a:solidFill>
            <a:schemeClr val="bg1"/>
          </a:solidFill>
          <a:ln w="9525">
            <a:solidFill>
              <a:srgbClr val="808080"/>
            </a:solidFill>
            <a:prstDash val="solid"/>
            <a:miter lim="800000"/>
          </a:ln>
          <a:effectLst/>
        </p:spPr>
        <p:txBody>
          <a:bodyPr vert="horz" wrap="square" lIns="179174" tIns="179174" rIns="179174" bIns="179174" numCol="1" rtlCol="0" anchor="ctr" anchorCtr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50647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45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主生产计划</a:t>
            </a:r>
            <a:endParaRPr kumimoji="0" lang="en-US" sz="345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48" name="LegendRectangle1"/>
          <p:cNvSpPr>
            <a:spLocks noChangeArrowheads="1"/>
          </p:cNvSpPr>
          <p:nvPr/>
        </p:nvSpPr>
        <p:spPr bwMode="gray">
          <a:xfrm>
            <a:off x="14622547" y="10684247"/>
            <a:ext cx="3790602" cy="828098"/>
          </a:xfrm>
          <a:prstGeom prst="rect">
            <a:avLst/>
          </a:prstGeom>
          <a:solidFill>
            <a:schemeClr val="bg1"/>
          </a:solidFill>
          <a:ln w="9525">
            <a:solidFill>
              <a:srgbClr val="808080"/>
            </a:solidFill>
            <a:prstDash val="solid"/>
            <a:miter lim="800000"/>
          </a:ln>
          <a:effectLst/>
        </p:spPr>
        <p:txBody>
          <a:bodyPr vert="horz" wrap="square" lIns="179047" tIns="179047" rIns="179047" bIns="179047" numCol="1" rtlCol="0" anchor="ctr" anchorCtr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50647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45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物料需求计划</a:t>
            </a:r>
            <a:endParaRPr kumimoji="0" lang="en-US" sz="345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50" name="LegendRectangle1"/>
          <p:cNvSpPr>
            <a:spLocks noChangeArrowheads="1"/>
          </p:cNvSpPr>
          <p:nvPr/>
        </p:nvSpPr>
        <p:spPr bwMode="gray">
          <a:xfrm>
            <a:off x="19153281" y="10744589"/>
            <a:ext cx="2169343" cy="828075"/>
          </a:xfrm>
          <a:prstGeom prst="rect">
            <a:avLst/>
          </a:prstGeom>
          <a:solidFill>
            <a:schemeClr val="bg1"/>
          </a:solidFill>
          <a:ln w="9525">
            <a:solidFill>
              <a:srgbClr val="808080"/>
            </a:solidFill>
            <a:prstDash val="solid"/>
            <a:miter lim="800000"/>
          </a:ln>
          <a:effectLst/>
        </p:spPr>
        <p:txBody>
          <a:bodyPr vert="horz" wrap="square" lIns="179047" tIns="179047" rIns="179047" bIns="179047" numCol="1" rtlCol="0" anchor="ctr" anchorCtr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50647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45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寻源认证</a:t>
            </a:r>
            <a:endParaRPr kumimoji="0" lang="en-US" sz="345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52" name="LegendRectangle1"/>
          <p:cNvSpPr>
            <a:spLocks noChangeArrowheads="1"/>
          </p:cNvSpPr>
          <p:nvPr/>
        </p:nvSpPr>
        <p:spPr bwMode="gray">
          <a:xfrm>
            <a:off x="22310898" y="10737813"/>
            <a:ext cx="2810286" cy="828075"/>
          </a:xfrm>
          <a:prstGeom prst="rect">
            <a:avLst/>
          </a:prstGeom>
          <a:solidFill>
            <a:schemeClr val="bg1"/>
          </a:solidFill>
          <a:ln w="9525">
            <a:solidFill>
              <a:srgbClr val="808080"/>
            </a:solidFill>
            <a:prstDash val="solid"/>
            <a:miter lim="800000"/>
          </a:ln>
          <a:effectLst/>
        </p:spPr>
        <p:txBody>
          <a:bodyPr vert="horz" wrap="square" lIns="179047" tIns="179047" rIns="179047" bIns="179047" numCol="1" rtlCol="0" anchor="ctr" anchorCtr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50647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45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合同管理</a:t>
            </a:r>
            <a:endParaRPr kumimoji="0" lang="en-US" sz="345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53" name="LegendRectangle1"/>
          <p:cNvSpPr>
            <a:spLocks noChangeArrowheads="1"/>
          </p:cNvSpPr>
          <p:nvPr/>
        </p:nvSpPr>
        <p:spPr bwMode="gray">
          <a:xfrm>
            <a:off x="25909136" y="10706131"/>
            <a:ext cx="3085983" cy="857124"/>
          </a:xfrm>
          <a:prstGeom prst="rect">
            <a:avLst/>
          </a:prstGeom>
          <a:solidFill>
            <a:schemeClr val="bg1"/>
          </a:solidFill>
          <a:ln w="9525">
            <a:solidFill>
              <a:srgbClr val="808080"/>
            </a:solidFill>
            <a:prstDash val="solid"/>
            <a:miter lim="800000"/>
          </a:ln>
          <a:effectLst/>
        </p:spPr>
        <p:txBody>
          <a:bodyPr vert="horz" wrap="square" lIns="179047" tIns="179047" rIns="179047" bIns="179047" numCol="1" rtlCol="0" anchor="ctr" anchorCtr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50647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45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采购价格管理</a:t>
            </a:r>
            <a:endParaRPr kumimoji="0" lang="en-US" sz="345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54" name="LegendRectangle1"/>
          <p:cNvSpPr>
            <a:spLocks noChangeArrowheads="1"/>
          </p:cNvSpPr>
          <p:nvPr/>
        </p:nvSpPr>
        <p:spPr bwMode="gray">
          <a:xfrm>
            <a:off x="5769878" y="12344757"/>
            <a:ext cx="3805082" cy="1022905"/>
          </a:xfrm>
          <a:prstGeom prst="rect">
            <a:avLst/>
          </a:prstGeom>
          <a:solidFill>
            <a:schemeClr val="bg1"/>
          </a:solidFill>
          <a:ln w="9525">
            <a:solidFill>
              <a:srgbClr val="808080"/>
            </a:solidFill>
            <a:prstDash val="solid"/>
            <a:miter lim="800000"/>
          </a:ln>
          <a:effectLst/>
        </p:spPr>
        <p:txBody>
          <a:bodyPr vert="horz" wrap="square" lIns="179174" tIns="179174" rIns="179174" bIns="179174" numCol="1" rtlCol="0" anchor="ctr" anchorCtr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50647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45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供应商关系管理</a:t>
            </a:r>
            <a:endParaRPr kumimoji="0" lang="en-US" sz="345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55" name="LegendRectangle1"/>
          <p:cNvSpPr>
            <a:spLocks noChangeArrowheads="1"/>
          </p:cNvSpPr>
          <p:nvPr/>
        </p:nvSpPr>
        <p:spPr bwMode="gray">
          <a:xfrm>
            <a:off x="10323585" y="12361054"/>
            <a:ext cx="3805082" cy="994896"/>
          </a:xfrm>
          <a:prstGeom prst="rect">
            <a:avLst/>
          </a:prstGeom>
          <a:solidFill>
            <a:schemeClr val="bg1"/>
          </a:solidFill>
          <a:ln w="9525">
            <a:solidFill>
              <a:srgbClr val="808080"/>
            </a:solidFill>
            <a:prstDash val="solid"/>
            <a:miter lim="800000"/>
          </a:ln>
          <a:effectLst/>
        </p:spPr>
        <p:txBody>
          <a:bodyPr vert="horz" wrap="square" lIns="179174" tIns="179174" rIns="179174" bIns="179174" numCol="1" rtlCol="0" anchor="ctr" anchorCtr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50647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45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采购执行监控</a:t>
            </a:r>
            <a:endParaRPr kumimoji="0" lang="en-US" sz="345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56" name="LegendRectangle1"/>
          <p:cNvSpPr>
            <a:spLocks noChangeArrowheads="1"/>
          </p:cNvSpPr>
          <p:nvPr/>
        </p:nvSpPr>
        <p:spPr bwMode="gray">
          <a:xfrm>
            <a:off x="14608066" y="12361056"/>
            <a:ext cx="3805082" cy="965663"/>
          </a:xfrm>
          <a:prstGeom prst="rect">
            <a:avLst/>
          </a:prstGeom>
          <a:solidFill>
            <a:schemeClr val="bg1"/>
          </a:solidFill>
          <a:ln w="9525">
            <a:solidFill>
              <a:srgbClr val="808080"/>
            </a:solidFill>
            <a:prstDash val="solid"/>
            <a:miter lim="800000"/>
          </a:ln>
          <a:effectLst/>
        </p:spPr>
        <p:txBody>
          <a:bodyPr vert="horz" wrap="square" lIns="179174" tIns="179174" rIns="179174" bIns="179174" numCol="1" rtlCol="0" anchor="ctr" anchorCtr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50647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45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供应商绩效考评</a:t>
            </a:r>
            <a:endParaRPr kumimoji="0" lang="en-US" sz="345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57" name="LegendRectangle1"/>
          <p:cNvSpPr>
            <a:spLocks noChangeArrowheads="1"/>
          </p:cNvSpPr>
          <p:nvPr/>
        </p:nvSpPr>
        <p:spPr bwMode="gray">
          <a:xfrm>
            <a:off x="19120218" y="12361056"/>
            <a:ext cx="2202406" cy="965663"/>
          </a:xfrm>
          <a:prstGeom prst="rect">
            <a:avLst/>
          </a:prstGeom>
          <a:solidFill>
            <a:schemeClr val="bg1"/>
          </a:solidFill>
          <a:ln w="9525">
            <a:solidFill>
              <a:srgbClr val="808080"/>
            </a:solidFill>
            <a:prstDash val="solid"/>
            <a:miter lim="800000"/>
          </a:ln>
          <a:effectLst/>
        </p:spPr>
        <p:txBody>
          <a:bodyPr vert="horz" wrap="square" lIns="179174" tIns="179174" rIns="179174" bIns="179174" numCol="1" rtlCol="0" anchor="ctr" anchorCtr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50647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45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生产排程</a:t>
            </a:r>
            <a:endParaRPr kumimoji="0" lang="en-US" sz="345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58" name="LegendRectangle1"/>
          <p:cNvSpPr>
            <a:spLocks noChangeArrowheads="1"/>
          </p:cNvSpPr>
          <p:nvPr/>
        </p:nvSpPr>
        <p:spPr bwMode="gray">
          <a:xfrm>
            <a:off x="22333854" y="12344759"/>
            <a:ext cx="2787328" cy="965663"/>
          </a:xfrm>
          <a:prstGeom prst="rect">
            <a:avLst/>
          </a:prstGeom>
          <a:solidFill>
            <a:schemeClr val="bg1"/>
          </a:solidFill>
          <a:ln w="9525">
            <a:solidFill>
              <a:srgbClr val="808080"/>
            </a:solidFill>
            <a:prstDash val="solid"/>
            <a:miter lim="800000"/>
          </a:ln>
          <a:effectLst/>
        </p:spPr>
        <p:txBody>
          <a:bodyPr vert="horz" wrap="square" lIns="179174" tIns="179174" rIns="179174" bIns="179174" numCol="1" rtlCol="0" anchor="ctr" anchorCtr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50647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45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制造管理</a:t>
            </a:r>
            <a:endParaRPr kumimoji="0" lang="en-US" sz="345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5322508" y="14040081"/>
            <a:ext cx="4016785" cy="103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550481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614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SRM</a:t>
            </a:r>
            <a:endParaRPr kumimoji="0" lang="zh-CN" altLang="en-US" sz="614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6" name="LegendRectangle1"/>
          <p:cNvSpPr>
            <a:spLocks noChangeArrowheads="1"/>
          </p:cNvSpPr>
          <p:nvPr/>
        </p:nvSpPr>
        <p:spPr bwMode="gray">
          <a:xfrm>
            <a:off x="25909138" y="12351646"/>
            <a:ext cx="3271467" cy="861757"/>
          </a:xfrm>
          <a:prstGeom prst="rect">
            <a:avLst/>
          </a:prstGeom>
          <a:solidFill>
            <a:schemeClr val="bg1"/>
          </a:solidFill>
          <a:ln w="9525">
            <a:solidFill>
              <a:srgbClr val="808080"/>
            </a:solidFill>
            <a:prstDash val="solid"/>
            <a:miter lim="800000"/>
          </a:ln>
          <a:effectLst/>
        </p:spPr>
        <p:txBody>
          <a:bodyPr vert="horz" wrap="square" lIns="179174" tIns="179174" rIns="179174" bIns="179174" numCol="1" rtlCol="0" anchor="ctr" anchorCtr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50647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45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采购质量管理</a:t>
            </a:r>
            <a:endParaRPr kumimoji="0" lang="en-US" sz="345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67" name="LegendRectangle1"/>
          <p:cNvSpPr>
            <a:spLocks noChangeArrowheads="1"/>
          </p:cNvSpPr>
          <p:nvPr/>
        </p:nvSpPr>
        <p:spPr bwMode="gray">
          <a:xfrm>
            <a:off x="29822945" y="10684251"/>
            <a:ext cx="2794230" cy="828098"/>
          </a:xfrm>
          <a:prstGeom prst="rect">
            <a:avLst/>
          </a:prstGeom>
          <a:solidFill>
            <a:schemeClr val="bg1"/>
          </a:solidFill>
          <a:ln w="9525">
            <a:solidFill>
              <a:srgbClr val="808080"/>
            </a:solidFill>
            <a:prstDash val="solid"/>
            <a:miter lim="800000"/>
          </a:ln>
          <a:effectLst/>
        </p:spPr>
        <p:txBody>
          <a:bodyPr vert="horz" wrap="square" lIns="179174" tIns="179174" rIns="179174" bIns="179174" numCol="1" rtlCol="0" anchor="ctr" anchorCtr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50647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45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仓库管理</a:t>
            </a:r>
            <a:endParaRPr kumimoji="0" lang="en-US" sz="345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44" name="LegendRectangle1"/>
          <p:cNvSpPr>
            <a:spLocks noChangeArrowheads="1"/>
          </p:cNvSpPr>
          <p:nvPr/>
        </p:nvSpPr>
        <p:spPr bwMode="gray">
          <a:xfrm>
            <a:off x="29749503" y="12351648"/>
            <a:ext cx="2867674" cy="835834"/>
          </a:xfrm>
          <a:prstGeom prst="rect">
            <a:avLst/>
          </a:prstGeom>
          <a:solidFill>
            <a:schemeClr val="bg1"/>
          </a:solidFill>
          <a:ln w="9525">
            <a:solidFill>
              <a:srgbClr val="808080"/>
            </a:solidFill>
            <a:prstDash val="solid"/>
            <a:miter lim="800000"/>
          </a:ln>
          <a:effectLst/>
        </p:spPr>
        <p:txBody>
          <a:bodyPr vert="horz" wrap="square" lIns="179174" tIns="179174" rIns="179174" bIns="179174" numCol="1" rtlCol="0" anchor="ctr" anchorCtr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50647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45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物流管理</a:t>
            </a:r>
            <a:endParaRPr kumimoji="0" lang="en-US" sz="345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45" name="LegendRectangle1"/>
          <p:cNvSpPr>
            <a:spLocks noChangeArrowheads="1"/>
          </p:cNvSpPr>
          <p:nvPr/>
        </p:nvSpPr>
        <p:spPr bwMode="gray">
          <a:xfrm>
            <a:off x="5193441" y="15276285"/>
            <a:ext cx="3783373" cy="549593"/>
          </a:xfrm>
          <a:prstGeom prst="rect">
            <a:avLst/>
          </a:prstGeom>
          <a:solidFill>
            <a:schemeClr val="bg1"/>
          </a:solidFill>
          <a:ln w="9525">
            <a:solidFill>
              <a:srgbClr val="808080"/>
            </a:solidFill>
            <a:prstDash val="solid"/>
            <a:miter lim="800000"/>
          </a:ln>
          <a:effectLst/>
        </p:spPr>
        <p:txBody>
          <a:bodyPr vert="horz" wrap="square" lIns="179047" tIns="179047" rIns="179047" bIns="179047" numCol="1" rtlCol="0" anchor="ctr" anchorCtr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50647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45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供应商基础数据</a:t>
            </a:r>
            <a:endParaRPr kumimoji="0" lang="en-US" sz="345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62" name="LegendRectangle1"/>
          <p:cNvSpPr>
            <a:spLocks noChangeArrowheads="1"/>
          </p:cNvSpPr>
          <p:nvPr/>
        </p:nvSpPr>
        <p:spPr bwMode="gray">
          <a:xfrm>
            <a:off x="5193441" y="16974488"/>
            <a:ext cx="3783373" cy="595474"/>
          </a:xfrm>
          <a:prstGeom prst="rect">
            <a:avLst/>
          </a:prstGeom>
          <a:solidFill>
            <a:schemeClr val="bg1"/>
          </a:solidFill>
          <a:ln w="9525">
            <a:solidFill>
              <a:srgbClr val="808080"/>
            </a:solidFill>
            <a:prstDash val="solid"/>
            <a:miter lim="800000"/>
          </a:ln>
          <a:effectLst/>
        </p:spPr>
        <p:txBody>
          <a:bodyPr vert="horz" wrap="square" lIns="179047" tIns="179047" rIns="179047" bIns="179047" numCol="1" rtlCol="0" anchor="ctr" anchorCtr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50647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45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价格与配额管理</a:t>
            </a:r>
            <a:endParaRPr kumimoji="0" lang="en-US" sz="345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70" name="LegendRectangle1"/>
          <p:cNvSpPr>
            <a:spLocks noChangeArrowheads="1"/>
          </p:cNvSpPr>
          <p:nvPr/>
        </p:nvSpPr>
        <p:spPr bwMode="gray">
          <a:xfrm>
            <a:off x="5177615" y="16111713"/>
            <a:ext cx="3783373" cy="549593"/>
          </a:xfrm>
          <a:prstGeom prst="rect">
            <a:avLst/>
          </a:prstGeom>
          <a:solidFill>
            <a:schemeClr val="bg1"/>
          </a:solidFill>
          <a:ln w="9525">
            <a:solidFill>
              <a:srgbClr val="808080"/>
            </a:solidFill>
            <a:prstDash val="solid"/>
            <a:miter lim="800000"/>
          </a:ln>
          <a:effectLst/>
        </p:spPr>
        <p:txBody>
          <a:bodyPr vert="horz" wrap="square" lIns="179047" tIns="179047" rIns="179047" bIns="179047" numCol="1" rtlCol="0" anchor="ctr" anchorCtr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50647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45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采购寻源管理</a:t>
            </a:r>
            <a:endParaRPr kumimoji="0" lang="en-US" sz="345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71" name="LegendRectangle1"/>
          <p:cNvSpPr>
            <a:spLocks noChangeArrowheads="1"/>
          </p:cNvSpPr>
          <p:nvPr/>
        </p:nvSpPr>
        <p:spPr bwMode="gray">
          <a:xfrm>
            <a:off x="5193440" y="17882937"/>
            <a:ext cx="3783373" cy="549593"/>
          </a:xfrm>
          <a:prstGeom prst="rect">
            <a:avLst/>
          </a:prstGeom>
          <a:solidFill>
            <a:schemeClr val="bg1"/>
          </a:solidFill>
          <a:ln w="9525">
            <a:solidFill>
              <a:srgbClr val="808080"/>
            </a:solidFill>
            <a:prstDash val="solid"/>
            <a:miter lim="800000"/>
          </a:ln>
          <a:effectLst/>
        </p:spPr>
        <p:txBody>
          <a:bodyPr vert="horz" wrap="square" lIns="179047" tIns="179047" rIns="179047" bIns="179047" numCol="1" rtlCol="0" anchor="ctr" anchorCtr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50647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45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供应商交货协同</a:t>
            </a:r>
            <a:endParaRPr kumimoji="0" lang="en-US" sz="345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72" name="LegendRectangle1"/>
          <p:cNvSpPr>
            <a:spLocks noChangeArrowheads="1"/>
          </p:cNvSpPr>
          <p:nvPr/>
        </p:nvSpPr>
        <p:spPr bwMode="gray">
          <a:xfrm>
            <a:off x="5193440" y="18684640"/>
            <a:ext cx="3783373" cy="549593"/>
          </a:xfrm>
          <a:prstGeom prst="rect">
            <a:avLst/>
          </a:prstGeom>
          <a:solidFill>
            <a:schemeClr val="bg1"/>
          </a:solidFill>
          <a:ln w="9525">
            <a:solidFill>
              <a:srgbClr val="808080"/>
            </a:solidFill>
            <a:prstDash val="solid"/>
            <a:miter lim="800000"/>
          </a:ln>
          <a:effectLst/>
        </p:spPr>
        <p:txBody>
          <a:bodyPr vert="horz" wrap="square" lIns="179047" tIns="179047" rIns="179047" bIns="179047" numCol="1" rtlCol="0" anchor="ctr" anchorCtr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50647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45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供应商绩效管理</a:t>
            </a:r>
            <a:endParaRPr kumimoji="0" lang="en-US" sz="345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91" name="LegendRectangle1"/>
          <p:cNvSpPr>
            <a:spLocks noChangeArrowheads="1"/>
          </p:cNvSpPr>
          <p:nvPr/>
        </p:nvSpPr>
        <p:spPr bwMode="gray">
          <a:xfrm>
            <a:off x="22212191" y="15440123"/>
            <a:ext cx="2509549" cy="595474"/>
          </a:xfrm>
          <a:prstGeom prst="rect">
            <a:avLst/>
          </a:prstGeom>
          <a:solidFill>
            <a:schemeClr val="bg1"/>
          </a:solidFill>
          <a:ln w="9525">
            <a:solidFill>
              <a:srgbClr val="808080"/>
            </a:solidFill>
            <a:prstDash val="solid"/>
            <a:miter lim="800000"/>
          </a:ln>
          <a:effectLst/>
        </p:spPr>
        <p:txBody>
          <a:bodyPr vert="horz" wrap="square" lIns="179047" tIns="179047" rIns="179047" bIns="179047" numCol="1" rtlCol="0" anchor="ctr" anchorCtr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50647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45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工单管理</a:t>
            </a:r>
            <a:endParaRPr kumimoji="0" lang="en-US" sz="345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92" name="LegendRectangle1"/>
          <p:cNvSpPr>
            <a:spLocks noChangeArrowheads="1"/>
          </p:cNvSpPr>
          <p:nvPr/>
        </p:nvSpPr>
        <p:spPr bwMode="gray">
          <a:xfrm>
            <a:off x="22222312" y="16266286"/>
            <a:ext cx="2509549" cy="645183"/>
          </a:xfrm>
          <a:prstGeom prst="rect">
            <a:avLst/>
          </a:prstGeom>
          <a:solidFill>
            <a:schemeClr val="bg1"/>
          </a:solidFill>
          <a:ln w="9525">
            <a:solidFill>
              <a:srgbClr val="808080"/>
            </a:solidFill>
            <a:prstDash val="solid"/>
            <a:miter lim="800000"/>
          </a:ln>
          <a:effectLst/>
        </p:spPr>
        <p:txBody>
          <a:bodyPr vert="horz" wrap="square" lIns="179047" tIns="179047" rIns="179047" bIns="179047" numCol="1" rtlCol="0" anchor="ctr" anchorCtr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50647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45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生产过程管理</a:t>
            </a:r>
            <a:endParaRPr kumimoji="0" lang="en-US" sz="345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93" name="LegendRectangle1"/>
          <p:cNvSpPr>
            <a:spLocks noChangeArrowheads="1"/>
          </p:cNvSpPr>
          <p:nvPr/>
        </p:nvSpPr>
        <p:spPr bwMode="gray">
          <a:xfrm>
            <a:off x="22212191" y="17138329"/>
            <a:ext cx="2509549" cy="645183"/>
          </a:xfrm>
          <a:prstGeom prst="rect">
            <a:avLst/>
          </a:prstGeom>
          <a:solidFill>
            <a:schemeClr val="bg1"/>
          </a:solidFill>
          <a:ln w="9525">
            <a:solidFill>
              <a:srgbClr val="808080"/>
            </a:solidFill>
            <a:prstDash val="solid"/>
            <a:miter lim="800000"/>
          </a:ln>
          <a:effectLst/>
        </p:spPr>
        <p:txBody>
          <a:bodyPr vert="horz" wrap="square" lIns="179047" tIns="179047" rIns="179047" bIns="179047" numCol="1" rtlCol="0" anchor="ctr" anchorCtr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50647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45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仓库管理</a:t>
            </a:r>
            <a:endParaRPr kumimoji="0" lang="en-US" sz="345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94" name="LegendRectangle1"/>
          <p:cNvSpPr>
            <a:spLocks noChangeArrowheads="1"/>
          </p:cNvSpPr>
          <p:nvPr/>
        </p:nvSpPr>
        <p:spPr bwMode="gray">
          <a:xfrm>
            <a:off x="22212191" y="17946869"/>
            <a:ext cx="2509549" cy="645183"/>
          </a:xfrm>
          <a:prstGeom prst="rect">
            <a:avLst/>
          </a:prstGeom>
          <a:solidFill>
            <a:schemeClr val="bg1"/>
          </a:solidFill>
          <a:ln w="9525">
            <a:solidFill>
              <a:srgbClr val="808080"/>
            </a:solidFill>
            <a:prstDash val="solid"/>
            <a:miter lim="800000"/>
          </a:ln>
          <a:effectLst/>
        </p:spPr>
        <p:txBody>
          <a:bodyPr vert="horz" wrap="square" lIns="179047" tIns="179047" rIns="179047" bIns="179047" numCol="1" rtlCol="0" anchor="ctr" anchorCtr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50647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45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备料管理</a:t>
            </a:r>
            <a:endParaRPr kumimoji="0" lang="en-US" sz="345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95" name="LegendRectangle1"/>
          <p:cNvSpPr>
            <a:spLocks noChangeArrowheads="1"/>
          </p:cNvSpPr>
          <p:nvPr/>
        </p:nvSpPr>
        <p:spPr bwMode="gray">
          <a:xfrm>
            <a:off x="25147297" y="15477256"/>
            <a:ext cx="3110738" cy="600494"/>
          </a:xfrm>
          <a:prstGeom prst="rect">
            <a:avLst/>
          </a:prstGeom>
          <a:solidFill>
            <a:schemeClr val="bg1"/>
          </a:solidFill>
          <a:ln w="9525">
            <a:solidFill>
              <a:srgbClr val="808080"/>
            </a:solidFill>
            <a:prstDash val="solid"/>
            <a:miter lim="800000"/>
          </a:ln>
          <a:effectLst/>
        </p:spPr>
        <p:txBody>
          <a:bodyPr vert="horz" wrap="square" lIns="179047" tIns="179047" rIns="179047" bIns="179047" numCol="1" rtlCol="0" anchor="ctr" anchorCtr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50647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45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研发质量管理</a:t>
            </a:r>
            <a:endParaRPr kumimoji="0" lang="en-US" sz="345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96" name="LegendRectangle1"/>
          <p:cNvSpPr>
            <a:spLocks noChangeArrowheads="1"/>
          </p:cNvSpPr>
          <p:nvPr/>
        </p:nvSpPr>
        <p:spPr bwMode="gray">
          <a:xfrm>
            <a:off x="25147297" y="16296328"/>
            <a:ext cx="3110738" cy="563774"/>
          </a:xfrm>
          <a:prstGeom prst="rect">
            <a:avLst/>
          </a:prstGeom>
          <a:solidFill>
            <a:schemeClr val="bg1"/>
          </a:solidFill>
          <a:ln w="9525">
            <a:solidFill>
              <a:srgbClr val="808080"/>
            </a:solidFill>
            <a:prstDash val="solid"/>
            <a:miter lim="800000"/>
          </a:ln>
          <a:effectLst/>
        </p:spPr>
        <p:txBody>
          <a:bodyPr vert="horz" wrap="square" lIns="179047" tIns="179047" rIns="179047" bIns="179047" numCol="1" rtlCol="0" anchor="ctr" anchorCtr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50647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45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供应质量管理</a:t>
            </a:r>
            <a:endParaRPr kumimoji="0" lang="en-US" sz="345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97" name="LegendRectangle1"/>
          <p:cNvSpPr>
            <a:spLocks noChangeArrowheads="1"/>
          </p:cNvSpPr>
          <p:nvPr/>
        </p:nvSpPr>
        <p:spPr bwMode="gray">
          <a:xfrm>
            <a:off x="25147299" y="17121079"/>
            <a:ext cx="3110734" cy="658604"/>
          </a:xfrm>
          <a:prstGeom prst="rect">
            <a:avLst/>
          </a:prstGeom>
          <a:solidFill>
            <a:schemeClr val="bg1"/>
          </a:solidFill>
          <a:ln w="9525">
            <a:solidFill>
              <a:srgbClr val="808080"/>
            </a:solidFill>
            <a:prstDash val="solid"/>
            <a:miter lim="800000"/>
          </a:ln>
          <a:effectLst/>
        </p:spPr>
        <p:txBody>
          <a:bodyPr vert="horz" wrap="square" lIns="179047" tIns="179047" rIns="179047" bIns="179047" numCol="1" rtlCol="0" anchor="ctr" anchorCtr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50647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45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制程质量管理</a:t>
            </a:r>
            <a:endParaRPr kumimoji="0" lang="en-US" sz="345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98" name="LegendRectangle1"/>
          <p:cNvSpPr>
            <a:spLocks noChangeArrowheads="1"/>
          </p:cNvSpPr>
          <p:nvPr/>
        </p:nvSpPr>
        <p:spPr bwMode="gray">
          <a:xfrm>
            <a:off x="25147299" y="17998261"/>
            <a:ext cx="3110734" cy="595474"/>
          </a:xfrm>
          <a:prstGeom prst="rect">
            <a:avLst/>
          </a:prstGeom>
          <a:solidFill>
            <a:schemeClr val="bg1"/>
          </a:solidFill>
          <a:ln w="9525">
            <a:solidFill>
              <a:srgbClr val="808080"/>
            </a:solidFill>
            <a:prstDash val="solid"/>
            <a:miter lim="800000"/>
          </a:ln>
          <a:effectLst/>
        </p:spPr>
        <p:txBody>
          <a:bodyPr vert="horz" wrap="square" lIns="179047" tIns="179047" rIns="179047" bIns="179047" numCol="1" rtlCol="0" anchor="ctr" anchorCtr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50647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45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售后质量管理</a:t>
            </a:r>
            <a:endParaRPr kumimoji="0" lang="en-US" sz="345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99" name="LegendRectangle1"/>
          <p:cNvSpPr>
            <a:spLocks noChangeArrowheads="1"/>
          </p:cNvSpPr>
          <p:nvPr/>
        </p:nvSpPr>
        <p:spPr bwMode="gray">
          <a:xfrm>
            <a:off x="25147299" y="18727721"/>
            <a:ext cx="3110734" cy="621688"/>
          </a:xfrm>
          <a:prstGeom prst="rect">
            <a:avLst/>
          </a:prstGeom>
          <a:solidFill>
            <a:schemeClr val="bg1"/>
          </a:solidFill>
          <a:ln w="9525">
            <a:solidFill>
              <a:srgbClr val="808080"/>
            </a:solidFill>
            <a:prstDash val="solid"/>
            <a:miter lim="800000"/>
          </a:ln>
          <a:effectLst/>
        </p:spPr>
        <p:txBody>
          <a:bodyPr vert="horz" wrap="square" lIns="179047" tIns="179047" rIns="179047" bIns="179047" numCol="1" rtlCol="0" anchor="ctr" anchorCtr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50647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45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统计过程管理</a:t>
            </a:r>
            <a:endParaRPr kumimoji="0" lang="en-US" sz="345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00" name="LegendRectangle1"/>
          <p:cNvSpPr>
            <a:spLocks noChangeArrowheads="1"/>
          </p:cNvSpPr>
          <p:nvPr/>
        </p:nvSpPr>
        <p:spPr bwMode="gray">
          <a:xfrm>
            <a:off x="22207041" y="18753930"/>
            <a:ext cx="2509549" cy="595474"/>
          </a:xfrm>
          <a:prstGeom prst="rect">
            <a:avLst/>
          </a:prstGeom>
          <a:solidFill>
            <a:schemeClr val="bg1"/>
          </a:solidFill>
          <a:ln w="9525">
            <a:solidFill>
              <a:srgbClr val="808080"/>
            </a:solidFill>
            <a:prstDash val="solid"/>
            <a:miter lim="800000"/>
          </a:ln>
          <a:effectLst/>
        </p:spPr>
        <p:txBody>
          <a:bodyPr vert="horz" wrap="square" lIns="179047" tIns="179047" rIns="179047" bIns="179047" numCol="1" rtlCol="0" anchor="ctr" anchorCtr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50647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45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设备管理</a:t>
            </a:r>
            <a:endParaRPr kumimoji="0" lang="en-US" sz="345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86" name="LegendRectangle1"/>
          <p:cNvSpPr>
            <a:spLocks noChangeArrowheads="1"/>
          </p:cNvSpPr>
          <p:nvPr/>
        </p:nvSpPr>
        <p:spPr bwMode="gray">
          <a:xfrm>
            <a:off x="17955621" y="15346686"/>
            <a:ext cx="3783373" cy="549593"/>
          </a:xfrm>
          <a:prstGeom prst="rect">
            <a:avLst/>
          </a:prstGeom>
          <a:solidFill>
            <a:schemeClr val="bg1"/>
          </a:solidFill>
          <a:ln w="9525">
            <a:solidFill>
              <a:srgbClr val="808080"/>
            </a:solidFill>
            <a:prstDash val="solid"/>
            <a:miter lim="800000"/>
          </a:ln>
          <a:effectLst/>
        </p:spPr>
        <p:txBody>
          <a:bodyPr vert="horz" wrap="square" lIns="179047" tIns="179047" rIns="179047" bIns="179047" numCol="1" rtlCol="0" anchor="ctr" anchorCtr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50647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45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库存管理</a:t>
            </a:r>
            <a:endParaRPr kumimoji="0" lang="en-US" sz="345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87" name="LegendRectangle1"/>
          <p:cNvSpPr>
            <a:spLocks noChangeArrowheads="1"/>
          </p:cNvSpPr>
          <p:nvPr/>
        </p:nvSpPr>
        <p:spPr bwMode="gray">
          <a:xfrm>
            <a:off x="17934896" y="16128854"/>
            <a:ext cx="3783373" cy="549593"/>
          </a:xfrm>
          <a:prstGeom prst="rect">
            <a:avLst/>
          </a:prstGeom>
          <a:solidFill>
            <a:schemeClr val="bg1"/>
          </a:solidFill>
          <a:ln w="9525">
            <a:solidFill>
              <a:srgbClr val="808080"/>
            </a:solidFill>
            <a:prstDash val="solid"/>
            <a:miter lim="800000"/>
          </a:ln>
          <a:effectLst/>
        </p:spPr>
        <p:txBody>
          <a:bodyPr vert="horz" wrap="square" lIns="179047" tIns="179047" rIns="179047" bIns="179047" numCol="1" rtlCol="0" anchor="ctr" anchorCtr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50647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45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呆料监控</a:t>
            </a:r>
            <a:endParaRPr kumimoji="0" lang="en-US" sz="345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88" name="LegendRectangle1"/>
          <p:cNvSpPr>
            <a:spLocks noChangeArrowheads="1"/>
          </p:cNvSpPr>
          <p:nvPr/>
        </p:nvSpPr>
        <p:spPr bwMode="gray">
          <a:xfrm>
            <a:off x="17934896" y="17048437"/>
            <a:ext cx="3783373" cy="549593"/>
          </a:xfrm>
          <a:prstGeom prst="rect">
            <a:avLst/>
          </a:prstGeom>
          <a:solidFill>
            <a:schemeClr val="bg1"/>
          </a:solidFill>
          <a:ln w="9525">
            <a:solidFill>
              <a:srgbClr val="808080"/>
            </a:solidFill>
            <a:prstDash val="solid"/>
            <a:miter lim="800000"/>
          </a:ln>
          <a:effectLst/>
        </p:spPr>
        <p:txBody>
          <a:bodyPr vert="horz" wrap="square" lIns="179047" tIns="179047" rIns="179047" bIns="179047" numCol="1" rtlCol="0" anchor="ctr" anchorCtr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50647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45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费用管理</a:t>
            </a:r>
            <a:endParaRPr kumimoji="0" lang="en-US" sz="345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89" name="LegendRectangle1"/>
          <p:cNvSpPr>
            <a:spLocks noChangeArrowheads="1"/>
          </p:cNvSpPr>
          <p:nvPr/>
        </p:nvSpPr>
        <p:spPr bwMode="gray">
          <a:xfrm>
            <a:off x="17934896" y="17862488"/>
            <a:ext cx="3783373" cy="549593"/>
          </a:xfrm>
          <a:prstGeom prst="rect">
            <a:avLst/>
          </a:prstGeom>
          <a:solidFill>
            <a:schemeClr val="bg1"/>
          </a:solidFill>
          <a:ln w="9525">
            <a:solidFill>
              <a:srgbClr val="808080"/>
            </a:solidFill>
            <a:prstDash val="solid"/>
            <a:miter lim="800000"/>
          </a:ln>
          <a:effectLst/>
        </p:spPr>
        <p:txBody>
          <a:bodyPr vert="horz" wrap="square" lIns="179047" tIns="179047" rIns="179047" bIns="179047" numCol="1" rtlCol="0" anchor="ctr" anchorCtr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50647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45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工单管理</a:t>
            </a:r>
            <a:endParaRPr kumimoji="0" lang="en-US" sz="345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90" name="LegendRectangle1"/>
          <p:cNvSpPr>
            <a:spLocks noChangeArrowheads="1"/>
          </p:cNvSpPr>
          <p:nvPr/>
        </p:nvSpPr>
        <p:spPr bwMode="gray">
          <a:xfrm>
            <a:off x="17904790" y="18618161"/>
            <a:ext cx="3783373" cy="549593"/>
          </a:xfrm>
          <a:prstGeom prst="rect">
            <a:avLst/>
          </a:prstGeom>
          <a:solidFill>
            <a:schemeClr val="bg1"/>
          </a:solidFill>
          <a:ln w="9525">
            <a:solidFill>
              <a:srgbClr val="808080"/>
            </a:solidFill>
            <a:prstDash val="solid"/>
            <a:miter lim="800000"/>
          </a:ln>
          <a:effectLst/>
        </p:spPr>
        <p:txBody>
          <a:bodyPr vert="horz" wrap="square" lIns="179047" tIns="179047" rIns="179047" bIns="179047" numCol="1" rtlCol="0" anchor="ctr" anchorCtr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350647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45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rPr>
              <a:t>更改单管理</a:t>
            </a:r>
            <a:endParaRPr kumimoji="0" lang="en-US" sz="345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17838914" y="13965443"/>
            <a:ext cx="4016785" cy="103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550481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614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EBS</a:t>
            </a:r>
            <a:endParaRPr kumimoji="0" lang="zh-CN" altLang="en-US" sz="614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23217802" y="14077013"/>
            <a:ext cx="4016785" cy="103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550481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614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MES</a:t>
            </a:r>
            <a:endParaRPr kumimoji="0" lang="zh-CN" altLang="en-US" sz="614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188290" y="14094593"/>
            <a:ext cx="4016785" cy="5254811"/>
          </a:xfrm>
          <a:prstGeom prst="rect">
            <a:avLst/>
          </a:prstGeom>
          <a:noFill/>
          <a:ln w="22225" cap="rnd">
            <a:solidFill>
              <a:srgbClr val="FF0000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0481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083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9445608" y="14018438"/>
            <a:ext cx="8072963" cy="5377924"/>
            <a:chOff x="9847992" y="13971483"/>
            <a:chExt cx="8072963" cy="5377924"/>
          </a:xfrm>
        </p:grpSpPr>
        <p:sp>
          <p:nvSpPr>
            <p:cNvPr id="75" name="LegendRectangle1"/>
            <p:cNvSpPr>
              <a:spLocks noChangeArrowheads="1"/>
            </p:cNvSpPr>
            <p:nvPr/>
          </p:nvSpPr>
          <p:spPr bwMode="gray">
            <a:xfrm>
              <a:off x="9915792" y="15323640"/>
              <a:ext cx="3783373" cy="54959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vert="horz" wrap="square" lIns="179047" tIns="179047" rIns="179047" bIns="179047" numCol="1" rtlCol="0" anchor="ctr" anchorCtr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350647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45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楷体" panose="02010609060101010101" pitchFamily="49" charset="-122"/>
                  <a:cs typeface="+mn-cs"/>
                </a:rPr>
                <a:t>预测管理</a:t>
              </a:r>
              <a:endParaRPr kumimoji="0" lang="en-US" sz="345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76" name="LegendRectangle1"/>
            <p:cNvSpPr>
              <a:spLocks noChangeArrowheads="1"/>
            </p:cNvSpPr>
            <p:nvPr/>
          </p:nvSpPr>
          <p:spPr bwMode="gray">
            <a:xfrm>
              <a:off x="9925913" y="16149800"/>
              <a:ext cx="3783373" cy="59547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vert="horz" wrap="square" lIns="179047" tIns="179047" rIns="179047" bIns="179047" numCol="1" rtlCol="0" anchor="ctr" anchorCtr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350647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45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楷体" panose="02010609060101010101" pitchFamily="49" charset="-122"/>
                  <a:cs typeface="+mn-cs"/>
                </a:rPr>
                <a:t>供需平衡</a:t>
              </a:r>
              <a:endParaRPr kumimoji="0" lang="en-US" sz="345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77" name="LegendRectangle1"/>
            <p:cNvSpPr>
              <a:spLocks noChangeArrowheads="1"/>
            </p:cNvSpPr>
            <p:nvPr/>
          </p:nvSpPr>
          <p:spPr bwMode="gray">
            <a:xfrm>
              <a:off x="9915792" y="17021843"/>
              <a:ext cx="3783373" cy="59547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vert="horz" wrap="square" lIns="179047" tIns="179047" rIns="179047" bIns="179047" numCol="1" rtlCol="0" anchor="ctr" anchorCtr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350647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45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楷体" panose="02010609060101010101" pitchFamily="49" charset="-122"/>
                  <a:cs typeface="+mn-cs"/>
                </a:rPr>
                <a:t>订单交货承诺</a:t>
              </a:r>
              <a:endParaRPr kumimoji="0" lang="en-US" sz="345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78" name="LegendRectangle1"/>
            <p:cNvSpPr>
              <a:spLocks noChangeArrowheads="1"/>
            </p:cNvSpPr>
            <p:nvPr/>
          </p:nvSpPr>
          <p:spPr bwMode="gray">
            <a:xfrm>
              <a:off x="9915792" y="17830383"/>
              <a:ext cx="3783373" cy="59547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vert="horz" wrap="square" lIns="179047" tIns="179047" rIns="179047" bIns="179047" numCol="1" rtlCol="0" anchor="ctr" anchorCtr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350647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45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楷体" panose="02010609060101010101" pitchFamily="49" charset="-122"/>
                  <a:cs typeface="+mn-cs"/>
                </a:rPr>
                <a:t>物料需求计划</a:t>
              </a:r>
              <a:endParaRPr kumimoji="0" lang="en-US" sz="345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79" name="LegendRectangle1"/>
            <p:cNvSpPr>
              <a:spLocks noChangeArrowheads="1"/>
            </p:cNvSpPr>
            <p:nvPr/>
          </p:nvSpPr>
          <p:spPr bwMode="gray">
            <a:xfrm>
              <a:off x="14073867" y="15365976"/>
              <a:ext cx="3783373" cy="54959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vert="horz" wrap="square" lIns="179047" tIns="179047" rIns="179047" bIns="179047" numCol="1" rtlCol="0" anchor="ctr" anchorCtr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350647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45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楷体" panose="02010609060101010101" pitchFamily="49" charset="-122"/>
                  <a:cs typeface="+mn-cs"/>
                </a:rPr>
                <a:t>齐套模拟</a:t>
              </a:r>
              <a:endParaRPr kumimoji="0" lang="en-US" sz="345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80" name="LegendRectangle1"/>
            <p:cNvSpPr>
              <a:spLocks noChangeArrowheads="1"/>
            </p:cNvSpPr>
            <p:nvPr/>
          </p:nvSpPr>
          <p:spPr bwMode="gray">
            <a:xfrm>
              <a:off x="14053141" y="16148143"/>
              <a:ext cx="3783373" cy="54959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vert="horz" wrap="square" lIns="179047" tIns="179047" rIns="179047" bIns="179047" numCol="1" rtlCol="0" anchor="ctr" anchorCtr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350647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45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楷体" panose="02010609060101010101" pitchFamily="49" charset="-122"/>
                  <a:cs typeface="+mn-cs"/>
                </a:rPr>
                <a:t>交期调整模拟</a:t>
              </a:r>
              <a:endParaRPr kumimoji="0" lang="en-US" sz="345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81" name="LegendRectangle1"/>
            <p:cNvSpPr>
              <a:spLocks noChangeArrowheads="1"/>
            </p:cNvSpPr>
            <p:nvPr/>
          </p:nvSpPr>
          <p:spPr bwMode="gray">
            <a:xfrm>
              <a:off x="14053141" y="17067726"/>
              <a:ext cx="3783373" cy="54959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vert="horz" wrap="square" lIns="179047" tIns="179047" rIns="179047" bIns="179047" numCol="1" rtlCol="0" anchor="ctr" anchorCtr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350647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45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楷体" panose="02010609060101010101" pitchFamily="49" charset="-122"/>
                  <a:cs typeface="+mn-cs"/>
                </a:rPr>
                <a:t>订单操作模式</a:t>
              </a:r>
              <a:endParaRPr kumimoji="0" lang="en-US" sz="345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82" name="LegendRectangle1"/>
            <p:cNvSpPr>
              <a:spLocks noChangeArrowheads="1"/>
            </p:cNvSpPr>
            <p:nvPr/>
          </p:nvSpPr>
          <p:spPr bwMode="gray">
            <a:xfrm>
              <a:off x="14053141" y="17881778"/>
              <a:ext cx="3783373" cy="54959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vert="horz" wrap="square" lIns="179047" tIns="179047" rIns="179047" bIns="179047" numCol="1" rtlCol="0" anchor="ctr" anchorCtr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350647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45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楷体" panose="02010609060101010101" pitchFamily="49" charset="-122"/>
                  <a:cs typeface="+mn-cs"/>
                </a:rPr>
                <a:t>工厂建模</a:t>
              </a:r>
              <a:endParaRPr kumimoji="0" lang="en-US" sz="345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83" name="LegendRectangle1"/>
            <p:cNvSpPr>
              <a:spLocks noChangeArrowheads="1"/>
            </p:cNvSpPr>
            <p:nvPr/>
          </p:nvSpPr>
          <p:spPr bwMode="gray">
            <a:xfrm>
              <a:off x="14023036" y="18637451"/>
              <a:ext cx="3783373" cy="54959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vert="horz" wrap="square" lIns="179047" tIns="179047" rIns="179047" bIns="179047" numCol="1" rtlCol="0" anchor="ctr" anchorCtr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350647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45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楷体" panose="02010609060101010101" pitchFamily="49" charset="-122"/>
                  <a:cs typeface="+mn-cs"/>
                </a:rPr>
                <a:t>日生产计划排程</a:t>
              </a:r>
              <a:endParaRPr kumimoji="0" lang="en-US" sz="345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84" name="LegendRectangle1"/>
            <p:cNvSpPr>
              <a:spLocks noChangeArrowheads="1"/>
            </p:cNvSpPr>
            <p:nvPr/>
          </p:nvSpPr>
          <p:spPr bwMode="gray">
            <a:xfrm>
              <a:off x="9910641" y="18637447"/>
              <a:ext cx="3783373" cy="54959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vert="horz" wrap="square" lIns="179047" tIns="179047" rIns="179047" bIns="179047" numCol="1" rtlCol="0" anchor="ctr" anchorCtr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350647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45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楷体" panose="02010609060101010101" pitchFamily="49" charset="-122"/>
                  <a:cs typeface="+mn-cs"/>
                </a:rPr>
                <a:t>主生产计划排产</a:t>
              </a:r>
              <a:endParaRPr kumimoji="0" lang="en-US" sz="345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101" name="文本框 100"/>
            <p:cNvSpPr txBox="1"/>
            <p:nvPr/>
          </p:nvSpPr>
          <p:spPr>
            <a:xfrm>
              <a:off x="11971004" y="13971483"/>
              <a:ext cx="4016785" cy="10381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0481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145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  <a:cs typeface="+mn-cs"/>
                </a:rPr>
                <a:t>APS</a:t>
              </a:r>
              <a:endParaRPr kumimoji="0" lang="zh-CN" altLang="en-US" sz="614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4" name="矩形 103"/>
            <p:cNvSpPr/>
            <p:nvPr/>
          </p:nvSpPr>
          <p:spPr>
            <a:xfrm>
              <a:off x="9847992" y="14094596"/>
              <a:ext cx="8072963" cy="5254811"/>
            </a:xfrm>
            <a:prstGeom prst="rect">
              <a:avLst/>
            </a:prstGeom>
            <a:noFill/>
            <a:ln w="22225" cap="rnd">
              <a:solidFill>
                <a:srgbClr val="FF0000"/>
              </a:solidFill>
              <a:prstDash val="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50481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83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105" name="矩形 104"/>
          <p:cNvSpPr/>
          <p:nvPr/>
        </p:nvSpPr>
        <p:spPr>
          <a:xfrm>
            <a:off x="17710065" y="14094593"/>
            <a:ext cx="4301512" cy="5254811"/>
          </a:xfrm>
          <a:prstGeom prst="rect">
            <a:avLst/>
          </a:prstGeom>
          <a:noFill/>
          <a:ln w="22225" cap="rnd">
            <a:solidFill>
              <a:srgbClr val="FF0000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0481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083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22211329" y="14094593"/>
            <a:ext cx="6199544" cy="5254811"/>
          </a:xfrm>
          <a:prstGeom prst="rect">
            <a:avLst/>
          </a:prstGeom>
          <a:noFill/>
          <a:ln w="22225" cap="rnd">
            <a:solidFill>
              <a:srgbClr val="FF0000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0481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083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7" name="五边形 6"/>
          <p:cNvSpPr/>
          <p:nvPr/>
        </p:nvSpPr>
        <p:spPr>
          <a:xfrm>
            <a:off x="1143557" y="4691242"/>
            <a:ext cx="3671953" cy="1063945"/>
          </a:xfrm>
          <a:prstGeom prst="homePlate">
            <a:avLst/>
          </a:prstGeom>
          <a:solidFill>
            <a:srgbClr val="4472C4">
              <a:lumMod val="40000"/>
              <a:lumOff val="60000"/>
            </a:srgb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wrap="none" lIns="313516" tIns="156758" rIns="313516" bIns="156758" spcCol="0" rtlCol="0" anchor="ctr"/>
          <a:lstStyle/>
          <a:p>
            <a:pPr marL="0" marR="0" lvl="0" indent="0" algn="ctr" defTabSz="35121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61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5</a:t>
            </a:r>
            <a:r>
              <a:rPr kumimoji="0" lang="zh-CN" altLang="en-US" sz="461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个绩效指标</a:t>
            </a:r>
            <a:endParaRPr kumimoji="0" lang="zh-CN" altLang="en-US" sz="461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08" name="五边形 6"/>
          <p:cNvSpPr/>
          <p:nvPr/>
        </p:nvSpPr>
        <p:spPr>
          <a:xfrm>
            <a:off x="1154311" y="7748924"/>
            <a:ext cx="3671953" cy="1063945"/>
          </a:xfrm>
          <a:prstGeom prst="homePlate">
            <a:avLst/>
          </a:prstGeom>
          <a:solidFill>
            <a:srgbClr val="4472C4">
              <a:lumMod val="40000"/>
              <a:lumOff val="60000"/>
            </a:srgb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wrap="none" lIns="313516" tIns="156758" rIns="313516" bIns="156758" spcCol="0" rtlCol="0" anchor="ctr"/>
          <a:lstStyle/>
          <a:p>
            <a:pPr marL="0" marR="0" lvl="0" indent="0" algn="ctr" defTabSz="35121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61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7</a:t>
            </a:r>
            <a:r>
              <a:rPr kumimoji="0" lang="zh-CN" altLang="en-US" sz="461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个业务模块</a:t>
            </a:r>
            <a:endParaRPr kumimoji="0" lang="zh-CN" altLang="en-US" sz="461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09" name="五边形 6"/>
          <p:cNvSpPr/>
          <p:nvPr/>
        </p:nvSpPr>
        <p:spPr>
          <a:xfrm>
            <a:off x="1143557" y="11270589"/>
            <a:ext cx="3560595" cy="1063945"/>
          </a:xfrm>
          <a:prstGeom prst="homePlate">
            <a:avLst/>
          </a:prstGeom>
          <a:solidFill>
            <a:srgbClr val="4472C4">
              <a:lumMod val="40000"/>
              <a:lumOff val="60000"/>
            </a:srgb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wrap="none" lIns="313516" tIns="156758" rIns="313516" bIns="156758" spcCol="0" rtlCol="0" anchor="ctr"/>
          <a:lstStyle/>
          <a:p>
            <a:pPr marL="0" marR="0" lvl="0" indent="0" algn="ctr" defTabSz="35121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61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14</a:t>
            </a:r>
            <a:r>
              <a:rPr kumimoji="0" lang="zh-CN" altLang="en-US" sz="461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个主要流程</a:t>
            </a:r>
            <a:endParaRPr kumimoji="0" lang="zh-CN" altLang="en-US" sz="461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10" name="五边形 6"/>
          <p:cNvSpPr/>
          <p:nvPr/>
        </p:nvSpPr>
        <p:spPr>
          <a:xfrm>
            <a:off x="1154311" y="16296328"/>
            <a:ext cx="3502144" cy="1063945"/>
          </a:xfrm>
          <a:prstGeom prst="homePlate">
            <a:avLst/>
          </a:prstGeom>
          <a:solidFill>
            <a:srgbClr val="4472C4">
              <a:lumMod val="40000"/>
              <a:lumOff val="60000"/>
            </a:srgb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wrap="none" lIns="313516" tIns="156758" rIns="313516" bIns="156758" spcCol="0" rtlCol="0" anchor="ctr"/>
          <a:lstStyle/>
          <a:p>
            <a:pPr marL="0" marR="0" lvl="0" indent="0" algn="ctr" defTabSz="35121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61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5</a:t>
            </a:r>
            <a:r>
              <a:rPr kumimoji="0" lang="zh-CN" altLang="en-US" sz="461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大系统支撑</a:t>
            </a:r>
            <a:endParaRPr kumimoji="0" lang="zh-CN" altLang="en-US" sz="461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27758384" y="4619859"/>
            <a:ext cx="5071220" cy="1106277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51219" tIns="175609" rIns="351219" bIns="175609" numCol="1" spcCol="0" rtlCol="0" fromWordArt="0" anchor="ctr" anchorCtr="0" forceAA="0" compatLnSpc="1">
            <a:noAutofit/>
          </a:bodyPr>
          <a:lstStyle/>
          <a:p>
            <a:pPr marL="0" marR="0" lvl="0" indent="0" algn="ctr" defTabSz="550481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2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E&amp;O</a:t>
            </a:r>
            <a:r>
              <a:rPr kumimoji="0" lang="zh-CN" altLang="en-US" sz="42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呆废物资比</a:t>
            </a:r>
            <a:endParaRPr kumimoji="0" lang="zh-CN" altLang="en-US" sz="42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16806109" y="4646719"/>
            <a:ext cx="5006139" cy="1106277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51219" tIns="175609" rIns="351219" bIns="175609" numCol="1" spcCol="0" rtlCol="0" fromWordArt="0" anchor="ctr" anchorCtr="0" forceAA="0" compatLnSpc="1">
            <a:noAutofit/>
          </a:bodyPr>
          <a:lstStyle/>
          <a:p>
            <a:pPr marL="0" marR="0" lvl="0" indent="0" algn="ctr" defTabSz="550481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2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ITO(</a:t>
            </a:r>
            <a:r>
              <a:rPr kumimoji="0" lang="zh-CN" altLang="en-US" sz="42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库存周转率</a:t>
            </a:r>
            <a:r>
              <a:rPr kumimoji="0" lang="en-US" altLang="zh-CN" sz="42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)</a:t>
            </a:r>
            <a:endParaRPr kumimoji="0" lang="zh-CN" altLang="en-US" sz="42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cxnSp>
        <p:nvCxnSpPr>
          <p:cNvPr id="122" name="直接箭头连接符 121"/>
          <p:cNvCxnSpPr>
            <a:endCxn id="26" idx="0"/>
          </p:cNvCxnSpPr>
          <p:nvPr/>
        </p:nvCxnSpPr>
        <p:spPr>
          <a:xfrm>
            <a:off x="7742720" y="7799992"/>
            <a:ext cx="0" cy="580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直接箭头连接符 124"/>
          <p:cNvCxnSpPr>
            <a:stCxn id="33" idx="0"/>
          </p:cNvCxnSpPr>
          <p:nvPr/>
        </p:nvCxnSpPr>
        <p:spPr>
          <a:xfrm flipV="1">
            <a:off x="30301991" y="7799994"/>
            <a:ext cx="0" cy="580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3" name="组合 112"/>
          <p:cNvGrpSpPr/>
          <p:nvPr/>
        </p:nvGrpSpPr>
        <p:grpSpPr>
          <a:xfrm>
            <a:off x="28793861" y="14108694"/>
            <a:ext cx="3990212" cy="5202311"/>
            <a:chOff x="18188377" y="13965443"/>
            <a:chExt cx="4091067" cy="5202311"/>
          </a:xfrm>
        </p:grpSpPr>
        <p:sp>
          <p:nvSpPr>
            <p:cNvPr id="114" name="LegendRectangle1"/>
            <p:cNvSpPr>
              <a:spLocks noChangeArrowheads="1"/>
            </p:cNvSpPr>
            <p:nvPr/>
          </p:nvSpPr>
          <p:spPr bwMode="gray">
            <a:xfrm>
              <a:off x="18188377" y="15346686"/>
              <a:ext cx="3783373" cy="54959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vert="horz" wrap="square" lIns="179047" tIns="179047" rIns="179047" bIns="179047" numCol="1" rtlCol="0" anchor="ctr" anchorCtr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350647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45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楷体" panose="02010609060101010101" pitchFamily="49" charset="-122"/>
                  <a:cs typeface="+mn-cs"/>
                </a:rPr>
                <a:t>派单管理</a:t>
              </a:r>
              <a:endParaRPr kumimoji="0" lang="en-US" sz="345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115" name="LegendRectangle1"/>
            <p:cNvSpPr>
              <a:spLocks noChangeArrowheads="1"/>
            </p:cNvSpPr>
            <p:nvPr/>
          </p:nvSpPr>
          <p:spPr bwMode="gray">
            <a:xfrm>
              <a:off x="18188377" y="16128854"/>
              <a:ext cx="3783373" cy="54959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vert="horz" wrap="square" lIns="179047" tIns="179047" rIns="179047" bIns="179047" numCol="1" rtlCol="0" anchor="ctr" anchorCtr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350647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45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楷体" panose="02010609060101010101" pitchFamily="49" charset="-122"/>
                  <a:cs typeface="+mn-cs"/>
                </a:rPr>
                <a:t>运输监控</a:t>
              </a:r>
              <a:endParaRPr kumimoji="0" lang="en-US" sz="345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116" name="LegendRectangle1"/>
            <p:cNvSpPr>
              <a:spLocks noChangeArrowheads="1"/>
            </p:cNvSpPr>
            <p:nvPr/>
          </p:nvSpPr>
          <p:spPr bwMode="gray">
            <a:xfrm>
              <a:off x="18188377" y="17048437"/>
              <a:ext cx="3783373" cy="54959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vert="horz" wrap="square" lIns="179047" tIns="179047" rIns="179047" bIns="179047" numCol="1" rtlCol="0" anchor="ctr" anchorCtr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350647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45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楷体" panose="02010609060101010101" pitchFamily="49" charset="-122"/>
                  <a:cs typeface="+mn-cs"/>
                </a:rPr>
                <a:t>仓储管理</a:t>
              </a:r>
              <a:endParaRPr kumimoji="0" lang="en-US" sz="345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117" name="LegendRectangle1"/>
            <p:cNvSpPr>
              <a:spLocks noChangeArrowheads="1"/>
            </p:cNvSpPr>
            <p:nvPr/>
          </p:nvSpPr>
          <p:spPr bwMode="gray">
            <a:xfrm>
              <a:off x="18188377" y="17862488"/>
              <a:ext cx="3783373" cy="54959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vert="horz" wrap="square" lIns="179047" tIns="179047" rIns="179047" bIns="179047" numCol="1" rtlCol="0" anchor="ctr" anchorCtr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350647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45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楷体" panose="02010609060101010101" pitchFamily="49" charset="-122"/>
                  <a:cs typeface="+mn-cs"/>
                </a:rPr>
                <a:t>运输网络规划</a:t>
              </a:r>
              <a:endParaRPr kumimoji="0" lang="en-US" sz="345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118" name="LegendRectangle1"/>
            <p:cNvSpPr>
              <a:spLocks noChangeArrowheads="1"/>
            </p:cNvSpPr>
            <p:nvPr/>
          </p:nvSpPr>
          <p:spPr bwMode="gray">
            <a:xfrm>
              <a:off x="18188377" y="18618161"/>
              <a:ext cx="3783373" cy="54959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8080"/>
              </a:solidFill>
              <a:prstDash val="solid"/>
              <a:miter lim="800000"/>
            </a:ln>
            <a:effectLst/>
          </p:spPr>
          <p:txBody>
            <a:bodyPr vert="horz" wrap="square" lIns="179047" tIns="179047" rIns="179047" bIns="179047" numCol="1" rtlCol="0" anchor="ctr" anchorCtr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350647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455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楷体" panose="02010609060101010101" pitchFamily="49" charset="-122"/>
                  <a:cs typeface="+mn-cs"/>
                </a:rPr>
                <a:t>物流商绩效考核</a:t>
              </a:r>
              <a:endParaRPr kumimoji="0" lang="en-US" sz="3455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119" name="文本框 118"/>
            <p:cNvSpPr txBox="1"/>
            <p:nvPr/>
          </p:nvSpPr>
          <p:spPr>
            <a:xfrm>
              <a:off x="18262659" y="13965443"/>
              <a:ext cx="4016785" cy="10381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550481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145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黑体" panose="02010609060101010101" pitchFamily="49" charset="-122"/>
                  <a:cs typeface="+mn-cs"/>
                </a:rPr>
                <a:t>TMS</a:t>
              </a:r>
              <a:endParaRPr kumimoji="0" lang="zh-CN" altLang="en-US" sz="614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129" name="矩形 128"/>
          <p:cNvSpPr/>
          <p:nvPr/>
        </p:nvSpPr>
        <p:spPr>
          <a:xfrm>
            <a:off x="28596691" y="14051041"/>
            <a:ext cx="4016785" cy="5254811"/>
          </a:xfrm>
          <a:prstGeom prst="rect">
            <a:avLst/>
          </a:prstGeom>
          <a:noFill/>
          <a:ln w="22225" cap="rnd">
            <a:solidFill>
              <a:srgbClr val="FF0000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0481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083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>
          <a:xfrm>
            <a:off x="1647531" y="574284"/>
            <a:ext cx="22049716" cy="2024334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供应链管理的主要内容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3" name="图示 2"/>
          <p:cNvGraphicFramePr/>
          <p:nvPr/>
        </p:nvGraphicFramePr>
        <p:xfrm>
          <a:off x="4008469" y="2963542"/>
          <a:ext cx="26828331" cy="157651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>
          <a:xfrm>
            <a:off x="1647531" y="574284"/>
            <a:ext cx="22049716" cy="2024334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供应链管理的主要内容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3" name="图示 2"/>
          <p:cNvGraphicFramePr/>
          <p:nvPr/>
        </p:nvGraphicFramePr>
        <p:xfrm>
          <a:off x="4008469" y="2963542"/>
          <a:ext cx="26828331" cy="157651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7310" dirty="0">
                <a:solidFill>
                  <a:srgbClr val="595959"/>
                </a:solidFill>
                <a:ea typeface="方正兰亭黑_GBK" panose="02000000000000000000" pitchFamily="2" charset="-122"/>
              </a:rPr>
              <a:t>供应链管理提升路径</a:t>
            </a:r>
            <a:endParaRPr lang="zh-CN" altLang="en-US" sz="7310" dirty="0">
              <a:solidFill>
                <a:srgbClr val="595959"/>
              </a:solidFill>
              <a:ea typeface="方正兰亭黑_GBK" panose="02000000000000000000" pitchFamily="2" charset="-122"/>
            </a:endParaRPr>
          </a:p>
        </p:txBody>
      </p:sp>
      <p:sp>
        <p:nvSpPr>
          <p:cNvPr id="35" name="Rectangle 12"/>
          <p:cNvSpPr>
            <a:spLocks noChangeArrowheads="1"/>
          </p:cNvSpPr>
          <p:nvPr/>
        </p:nvSpPr>
        <p:spPr bwMode="auto">
          <a:xfrm>
            <a:off x="897791" y="16272594"/>
            <a:ext cx="6612007" cy="64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203195" tIns="101594" rIns="203195" bIns="101594">
            <a:spAutoFit/>
          </a:bodyPr>
          <a:lstStyle/>
          <a:p>
            <a:pPr algn="just" defTabSz="3512185">
              <a:defRPr/>
            </a:pPr>
            <a:endParaRPr lang="zh-CN" altLang="en-US" sz="288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  <a:cs typeface="Arial Unicode MS" panose="020B0604020202020204" charset="-122"/>
            </a:endParaRPr>
          </a:p>
        </p:txBody>
      </p:sp>
      <p:cxnSp>
        <p:nvCxnSpPr>
          <p:cNvPr id="36" name="Straight Connector 57"/>
          <p:cNvCxnSpPr/>
          <p:nvPr/>
        </p:nvCxnSpPr>
        <p:spPr>
          <a:xfrm>
            <a:off x="1675607" y="18565789"/>
            <a:ext cx="33041368" cy="80488"/>
          </a:xfrm>
          <a:prstGeom prst="line">
            <a:avLst/>
          </a:prstGeom>
          <a:ln w="19050">
            <a:solidFill>
              <a:srgbClr val="2D63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稻壳儿小白白(http://dwz.cn/Wu2UP)"/>
          <p:cNvSpPr>
            <a:spLocks noEditPoints="1"/>
          </p:cNvSpPr>
          <p:nvPr/>
        </p:nvSpPr>
        <p:spPr bwMode="auto">
          <a:xfrm>
            <a:off x="13459103" y="11698444"/>
            <a:ext cx="664530" cy="349298"/>
          </a:xfrm>
          <a:custGeom>
            <a:avLst/>
            <a:gdLst>
              <a:gd name="T0" fmla="*/ 1464294685 w 51"/>
              <a:gd name="T1" fmla="*/ 1416490403 h 31"/>
              <a:gd name="T2" fmla="*/ 354979319 w 51"/>
              <a:gd name="T3" fmla="*/ 1416490403 h 31"/>
              <a:gd name="T4" fmla="*/ 310608569 w 51"/>
              <a:gd name="T5" fmla="*/ 1325106324 h 31"/>
              <a:gd name="T6" fmla="*/ 310608569 w 51"/>
              <a:gd name="T7" fmla="*/ 1142331406 h 31"/>
              <a:gd name="T8" fmla="*/ 310608569 w 51"/>
              <a:gd name="T9" fmla="*/ 639702073 h 31"/>
              <a:gd name="T10" fmla="*/ 88748160 w 51"/>
              <a:gd name="T11" fmla="*/ 639702073 h 31"/>
              <a:gd name="T12" fmla="*/ 0 w 51"/>
              <a:gd name="T13" fmla="*/ 548317994 h 31"/>
              <a:gd name="T14" fmla="*/ 0 w 51"/>
              <a:gd name="T15" fmla="*/ 502622574 h 31"/>
              <a:gd name="T16" fmla="*/ 399350068 w 51"/>
              <a:gd name="T17" fmla="*/ 45695419 h 31"/>
              <a:gd name="T18" fmla="*/ 443727479 w 51"/>
              <a:gd name="T19" fmla="*/ 0 h 31"/>
              <a:gd name="T20" fmla="*/ 532468978 w 51"/>
              <a:gd name="T21" fmla="*/ 45695419 h 31"/>
              <a:gd name="T22" fmla="*/ 887454958 w 51"/>
              <a:gd name="T23" fmla="*/ 502622574 h 31"/>
              <a:gd name="T24" fmla="*/ 931825707 w 51"/>
              <a:gd name="T25" fmla="*/ 548317994 h 31"/>
              <a:gd name="T26" fmla="*/ 843077547 w 51"/>
              <a:gd name="T27" fmla="*/ 639702073 h 31"/>
              <a:gd name="T28" fmla="*/ 621217138 w 51"/>
              <a:gd name="T29" fmla="*/ 639702073 h 31"/>
              <a:gd name="T30" fmla="*/ 621217138 w 51"/>
              <a:gd name="T31" fmla="*/ 1096635987 h 31"/>
              <a:gd name="T32" fmla="*/ 1286805026 w 51"/>
              <a:gd name="T33" fmla="*/ 1096635987 h 31"/>
              <a:gd name="T34" fmla="*/ 1331175775 w 51"/>
              <a:gd name="T35" fmla="*/ 1142331406 h 31"/>
              <a:gd name="T36" fmla="*/ 1508665435 w 51"/>
              <a:gd name="T37" fmla="*/ 1370794984 h 31"/>
              <a:gd name="T38" fmla="*/ 1508665435 w 51"/>
              <a:gd name="T39" fmla="*/ 1370794984 h 31"/>
              <a:gd name="T40" fmla="*/ 1464294685 w 51"/>
              <a:gd name="T41" fmla="*/ 1416490403 h 31"/>
              <a:gd name="T42" fmla="*/ 2147483646 w 51"/>
              <a:gd name="T43" fmla="*/ 913867829 h 31"/>
              <a:gd name="T44" fmla="*/ 1863651415 w 51"/>
              <a:gd name="T45" fmla="*/ 1416490403 h 31"/>
              <a:gd name="T46" fmla="*/ 1819274004 w 51"/>
              <a:gd name="T47" fmla="*/ 1416490403 h 31"/>
              <a:gd name="T48" fmla="*/ 1774903254 w 51"/>
              <a:gd name="T49" fmla="*/ 1416490403 h 31"/>
              <a:gd name="T50" fmla="*/ 1375546525 w 51"/>
              <a:gd name="T51" fmla="*/ 913867829 h 31"/>
              <a:gd name="T52" fmla="*/ 1375546525 w 51"/>
              <a:gd name="T53" fmla="*/ 868172410 h 31"/>
              <a:gd name="T54" fmla="*/ 1464294685 w 51"/>
              <a:gd name="T55" fmla="*/ 776788331 h 31"/>
              <a:gd name="T56" fmla="*/ 1686155094 w 51"/>
              <a:gd name="T57" fmla="*/ 776788331 h 31"/>
              <a:gd name="T58" fmla="*/ 1686155094 w 51"/>
              <a:gd name="T59" fmla="*/ 319854416 h 31"/>
              <a:gd name="T60" fmla="*/ 976196457 w 51"/>
              <a:gd name="T61" fmla="*/ 319854416 h 31"/>
              <a:gd name="T62" fmla="*/ 976196457 w 51"/>
              <a:gd name="T63" fmla="*/ 319854416 h 31"/>
              <a:gd name="T64" fmla="*/ 754336048 w 51"/>
              <a:gd name="T65" fmla="*/ 91384079 h 31"/>
              <a:gd name="T66" fmla="*/ 754336048 w 51"/>
              <a:gd name="T67" fmla="*/ 45695419 h 31"/>
              <a:gd name="T68" fmla="*/ 798706798 w 51"/>
              <a:gd name="T69" fmla="*/ 0 h 31"/>
              <a:gd name="T70" fmla="*/ 1952392914 w 51"/>
              <a:gd name="T71" fmla="*/ 0 h 31"/>
              <a:gd name="T72" fmla="*/ 1996763663 w 51"/>
              <a:gd name="T73" fmla="*/ 91384079 h 31"/>
              <a:gd name="T74" fmla="*/ 1996763663 w 51"/>
              <a:gd name="T75" fmla="*/ 274158997 h 31"/>
              <a:gd name="T76" fmla="*/ 1996763663 w 51"/>
              <a:gd name="T77" fmla="*/ 776788331 h 31"/>
              <a:gd name="T78" fmla="*/ 2147483646 w 51"/>
              <a:gd name="T79" fmla="*/ 776788331 h 31"/>
              <a:gd name="T80" fmla="*/ 2147483646 w 51"/>
              <a:gd name="T81" fmla="*/ 868172410 h 31"/>
              <a:gd name="T82" fmla="*/ 2147483646 w 51"/>
              <a:gd name="T83" fmla="*/ 913867829 h 31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51"/>
              <a:gd name="T127" fmla="*/ 0 h 31"/>
              <a:gd name="T128" fmla="*/ 51 w 51"/>
              <a:gd name="T129" fmla="*/ 31 h 31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51" h="31">
                <a:moveTo>
                  <a:pt x="33" y="31"/>
                </a:moveTo>
                <a:cubicBezTo>
                  <a:pt x="8" y="31"/>
                  <a:pt x="8" y="31"/>
                  <a:pt x="8" y="31"/>
                </a:cubicBezTo>
                <a:cubicBezTo>
                  <a:pt x="7" y="31"/>
                  <a:pt x="7" y="30"/>
                  <a:pt x="7" y="29"/>
                </a:cubicBezTo>
                <a:cubicBezTo>
                  <a:pt x="7" y="25"/>
                  <a:pt x="7" y="25"/>
                  <a:pt x="7" y="25"/>
                </a:cubicBezTo>
                <a:cubicBezTo>
                  <a:pt x="7" y="14"/>
                  <a:pt x="7" y="14"/>
                  <a:pt x="7" y="14"/>
                </a:cubicBezTo>
                <a:cubicBezTo>
                  <a:pt x="2" y="14"/>
                  <a:pt x="2" y="14"/>
                  <a:pt x="2" y="14"/>
                </a:cubicBezTo>
                <a:cubicBezTo>
                  <a:pt x="1" y="14"/>
                  <a:pt x="0" y="13"/>
                  <a:pt x="0" y="12"/>
                </a:cubicBezTo>
                <a:cubicBezTo>
                  <a:pt x="0" y="12"/>
                  <a:pt x="0" y="12"/>
                  <a:pt x="0" y="11"/>
                </a:cubicBezTo>
                <a:cubicBezTo>
                  <a:pt x="9" y="1"/>
                  <a:pt x="9" y="1"/>
                  <a:pt x="9" y="1"/>
                </a:cubicBezTo>
                <a:cubicBezTo>
                  <a:pt x="9" y="1"/>
                  <a:pt x="10" y="0"/>
                  <a:pt x="10" y="0"/>
                </a:cubicBezTo>
                <a:cubicBezTo>
                  <a:pt x="11" y="0"/>
                  <a:pt x="11" y="1"/>
                  <a:pt x="12" y="1"/>
                </a:cubicBezTo>
                <a:cubicBezTo>
                  <a:pt x="20" y="11"/>
                  <a:pt x="20" y="11"/>
                  <a:pt x="20" y="11"/>
                </a:cubicBezTo>
                <a:cubicBezTo>
                  <a:pt x="20" y="12"/>
                  <a:pt x="21" y="12"/>
                  <a:pt x="21" y="12"/>
                </a:cubicBezTo>
                <a:cubicBezTo>
                  <a:pt x="21" y="13"/>
                  <a:pt x="20" y="14"/>
                  <a:pt x="19" y="14"/>
                </a:cubicBezTo>
                <a:cubicBezTo>
                  <a:pt x="14" y="14"/>
                  <a:pt x="14" y="14"/>
                  <a:pt x="14" y="14"/>
                </a:cubicBezTo>
                <a:cubicBezTo>
                  <a:pt x="14" y="24"/>
                  <a:pt x="14" y="24"/>
                  <a:pt x="14" y="24"/>
                </a:cubicBezTo>
                <a:cubicBezTo>
                  <a:pt x="29" y="24"/>
                  <a:pt x="29" y="24"/>
                  <a:pt x="29" y="24"/>
                </a:cubicBezTo>
                <a:cubicBezTo>
                  <a:pt x="29" y="24"/>
                  <a:pt x="30" y="24"/>
                  <a:pt x="30" y="25"/>
                </a:cubicBezTo>
                <a:cubicBezTo>
                  <a:pt x="34" y="30"/>
                  <a:pt x="34" y="30"/>
                  <a:pt x="34" y="30"/>
                </a:cubicBezTo>
                <a:cubicBezTo>
                  <a:pt x="34" y="30"/>
                  <a:pt x="34" y="30"/>
                  <a:pt x="34" y="30"/>
                </a:cubicBezTo>
                <a:cubicBezTo>
                  <a:pt x="34" y="31"/>
                  <a:pt x="34" y="31"/>
                  <a:pt x="33" y="31"/>
                </a:cubicBezTo>
                <a:close/>
                <a:moveTo>
                  <a:pt x="51" y="20"/>
                </a:moveTo>
                <a:cubicBezTo>
                  <a:pt x="42" y="31"/>
                  <a:pt x="42" y="31"/>
                  <a:pt x="42" y="31"/>
                </a:cubicBezTo>
                <a:cubicBezTo>
                  <a:pt x="42" y="31"/>
                  <a:pt x="42" y="31"/>
                  <a:pt x="41" y="31"/>
                </a:cubicBezTo>
                <a:cubicBezTo>
                  <a:pt x="41" y="31"/>
                  <a:pt x="40" y="31"/>
                  <a:pt x="40" y="31"/>
                </a:cubicBezTo>
                <a:cubicBezTo>
                  <a:pt x="31" y="20"/>
                  <a:pt x="31" y="20"/>
                  <a:pt x="31" y="20"/>
                </a:cubicBezTo>
                <a:cubicBezTo>
                  <a:pt x="31" y="20"/>
                  <a:pt x="31" y="20"/>
                  <a:pt x="31" y="19"/>
                </a:cubicBezTo>
                <a:cubicBezTo>
                  <a:pt x="31" y="18"/>
                  <a:pt x="32" y="17"/>
                  <a:pt x="33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7"/>
                  <a:pt x="38" y="7"/>
                  <a:pt x="38" y="7"/>
                </a:cubicBezTo>
                <a:cubicBezTo>
                  <a:pt x="22" y="7"/>
                  <a:pt x="22" y="7"/>
                  <a:pt x="22" y="7"/>
                </a:cubicBezTo>
                <a:cubicBezTo>
                  <a:pt x="22" y="7"/>
                  <a:pt x="22" y="7"/>
                  <a:pt x="22" y="7"/>
                </a:cubicBezTo>
                <a:cubicBezTo>
                  <a:pt x="17" y="2"/>
                  <a:pt x="17" y="2"/>
                  <a:pt x="17" y="2"/>
                </a:cubicBezTo>
                <a:cubicBezTo>
                  <a:pt x="17" y="2"/>
                  <a:pt x="17" y="1"/>
                  <a:pt x="17" y="1"/>
                </a:cubicBezTo>
                <a:cubicBezTo>
                  <a:pt x="17" y="1"/>
                  <a:pt x="18" y="0"/>
                  <a:pt x="18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45" y="0"/>
                  <a:pt x="45" y="1"/>
                  <a:pt x="45" y="2"/>
                </a:cubicBezTo>
                <a:cubicBezTo>
                  <a:pt x="45" y="6"/>
                  <a:pt x="45" y="6"/>
                  <a:pt x="45" y="6"/>
                </a:cubicBezTo>
                <a:cubicBezTo>
                  <a:pt x="45" y="17"/>
                  <a:pt x="45" y="17"/>
                  <a:pt x="45" y="17"/>
                </a:cubicBezTo>
                <a:cubicBezTo>
                  <a:pt x="50" y="17"/>
                  <a:pt x="50" y="17"/>
                  <a:pt x="50" y="17"/>
                </a:cubicBezTo>
                <a:cubicBezTo>
                  <a:pt x="51" y="17"/>
                  <a:pt x="51" y="18"/>
                  <a:pt x="51" y="19"/>
                </a:cubicBezTo>
                <a:cubicBezTo>
                  <a:pt x="51" y="20"/>
                  <a:pt x="51" y="20"/>
                  <a:pt x="51" y="2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263414" tIns="131707" rIns="263414" bIns="131707"/>
          <a:lstStyle/>
          <a:p>
            <a:pPr defTabSz="3512185">
              <a:defRPr/>
            </a:pPr>
            <a:endParaRPr lang="en-US" sz="288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" name="Freeform 99"/>
          <p:cNvSpPr/>
          <p:nvPr/>
        </p:nvSpPr>
        <p:spPr>
          <a:xfrm rot="21245312">
            <a:off x="-19512" y="7465821"/>
            <a:ext cx="35058436" cy="3441453"/>
          </a:xfrm>
          <a:custGeom>
            <a:avLst/>
            <a:gdLst>
              <a:gd name="connsiteX0" fmla="*/ 0 w 3805518"/>
              <a:gd name="connsiteY0" fmla="*/ 1210235 h 1210235"/>
              <a:gd name="connsiteX1" fmla="*/ 1156447 w 3805518"/>
              <a:gd name="connsiteY1" fmla="*/ 1143000 h 1210235"/>
              <a:gd name="connsiteX2" fmla="*/ 2164976 w 3805518"/>
              <a:gd name="connsiteY2" fmla="*/ 914400 h 1210235"/>
              <a:gd name="connsiteX3" fmla="*/ 2958353 w 3805518"/>
              <a:gd name="connsiteY3" fmla="*/ 537882 h 1210235"/>
              <a:gd name="connsiteX4" fmla="*/ 3523129 w 3805518"/>
              <a:gd name="connsiteY4" fmla="*/ 188258 h 1210235"/>
              <a:gd name="connsiteX5" fmla="*/ 3805518 w 3805518"/>
              <a:gd name="connsiteY5" fmla="*/ 0 h 121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05518" h="1210235">
                <a:moveTo>
                  <a:pt x="0" y="1210235"/>
                </a:moveTo>
                <a:cubicBezTo>
                  <a:pt x="397809" y="1201270"/>
                  <a:pt x="795618" y="1192306"/>
                  <a:pt x="1156447" y="1143000"/>
                </a:cubicBezTo>
                <a:cubicBezTo>
                  <a:pt x="1517276" y="1093694"/>
                  <a:pt x="1864658" y="1015253"/>
                  <a:pt x="2164976" y="914400"/>
                </a:cubicBezTo>
                <a:cubicBezTo>
                  <a:pt x="2465294" y="813547"/>
                  <a:pt x="2731994" y="658906"/>
                  <a:pt x="2958353" y="537882"/>
                </a:cubicBezTo>
                <a:cubicBezTo>
                  <a:pt x="3184712" y="416858"/>
                  <a:pt x="3381935" y="277905"/>
                  <a:pt x="3523129" y="188258"/>
                </a:cubicBezTo>
                <a:cubicBezTo>
                  <a:pt x="3664323" y="98611"/>
                  <a:pt x="3734920" y="49305"/>
                  <a:pt x="3805518" y="0"/>
                </a:cubicBezTo>
              </a:path>
            </a:pathLst>
          </a:custGeom>
          <a:noFill/>
          <a:ln w="19050">
            <a:solidFill>
              <a:srgbClr val="92D05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512185">
              <a:defRPr/>
            </a:pPr>
            <a:endParaRPr lang="en-US" sz="288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9" name="Straight Connector 3"/>
          <p:cNvCxnSpPr/>
          <p:nvPr/>
        </p:nvCxnSpPr>
        <p:spPr>
          <a:xfrm>
            <a:off x="18943850" y="6258505"/>
            <a:ext cx="70732" cy="12307282"/>
          </a:xfrm>
          <a:prstGeom prst="line">
            <a:avLst/>
          </a:prstGeom>
          <a:ln w="12700">
            <a:solidFill>
              <a:srgbClr val="2D639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"/>
          <p:cNvCxnSpPr/>
          <p:nvPr/>
        </p:nvCxnSpPr>
        <p:spPr>
          <a:xfrm>
            <a:off x="9726801" y="7919478"/>
            <a:ext cx="24390" cy="10646311"/>
          </a:xfrm>
          <a:prstGeom prst="line">
            <a:avLst/>
          </a:prstGeom>
          <a:ln w="12700">
            <a:solidFill>
              <a:srgbClr val="2D639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3"/>
          <p:cNvCxnSpPr/>
          <p:nvPr/>
        </p:nvCxnSpPr>
        <p:spPr>
          <a:xfrm flipH="1">
            <a:off x="27236507" y="5153633"/>
            <a:ext cx="165853" cy="13412156"/>
          </a:xfrm>
          <a:prstGeom prst="line">
            <a:avLst/>
          </a:prstGeom>
          <a:ln w="12700">
            <a:solidFill>
              <a:srgbClr val="2D639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/>
          <p:cNvGrpSpPr/>
          <p:nvPr/>
        </p:nvGrpSpPr>
        <p:grpSpPr>
          <a:xfrm>
            <a:off x="397560" y="9017034"/>
            <a:ext cx="9604850" cy="9129242"/>
            <a:chOff x="66" y="3236"/>
            <a:chExt cx="3938" cy="3743"/>
          </a:xfrm>
        </p:grpSpPr>
        <p:sp>
          <p:nvSpPr>
            <p:cNvPr id="43" name="Rectangle 6"/>
            <p:cNvSpPr>
              <a:spLocks noChangeArrowheads="1"/>
            </p:cNvSpPr>
            <p:nvPr/>
          </p:nvSpPr>
          <p:spPr bwMode="blackWhite">
            <a:xfrm>
              <a:off x="987" y="3236"/>
              <a:ext cx="2096" cy="7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defTabSz="3512185">
                <a:spcBef>
                  <a:spcPct val="20000"/>
                </a:spcBef>
                <a:buSzPct val="100000"/>
                <a:defRPr/>
              </a:pPr>
              <a:r>
                <a:rPr lang="zh-CN" altLang="en-US" sz="6145" b="1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 Unicode MS" panose="020B0604020202020204" charset="-122"/>
                  <a:sym typeface="+mn-ea"/>
                </a:rPr>
                <a:t>初级供应链</a:t>
              </a:r>
              <a:endParaRPr lang="zh-CN" altLang="en-US" sz="6145" b="1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 Unicode MS" panose="020B0604020202020204" charset="-122"/>
                <a:sym typeface="+mn-ea"/>
              </a:endParaRPr>
            </a:p>
            <a:p>
              <a:pPr algn="ctr" defTabSz="3512185">
                <a:spcBef>
                  <a:spcPct val="20000"/>
                </a:spcBef>
                <a:buSzPct val="100000"/>
                <a:defRPr/>
              </a:pPr>
              <a:r>
                <a:rPr lang="zh-CN" altLang="en-US" sz="5375" dirty="0">
                  <a:solidFill>
                    <a:schemeClr val="accent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Arial Unicode MS" panose="020B0604020202020204" charset="-122"/>
                </a:rPr>
                <a:t>（供应链</a:t>
              </a:r>
              <a:r>
                <a:rPr lang="en-US" altLang="zh-CN" sz="5375" dirty="0">
                  <a:solidFill>
                    <a:schemeClr val="accent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Arial Unicode MS" panose="020B0604020202020204" charset="-122"/>
                </a:rPr>
                <a:t>1.0</a:t>
              </a:r>
              <a:r>
                <a:rPr lang="zh-CN" altLang="en-US" sz="5375" dirty="0">
                  <a:solidFill>
                    <a:schemeClr val="accent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Arial Unicode MS" panose="020B0604020202020204" charset="-122"/>
                </a:rPr>
                <a:t>）</a:t>
              </a:r>
              <a:endParaRPr lang="zh-CN" altLang="en-US" sz="5375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 Unicode MS" panose="020B0604020202020204" charset="-122"/>
              </a:endParaRPr>
            </a:p>
          </p:txBody>
        </p:sp>
        <p:sp>
          <p:nvSpPr>
            <p:cNvPr id="44" name="Freeform 5"/>
            <p:cNvSpPr/>
            <p:nvPr/>
          </p:nvSpPr>
          <p:spPr bwMode="blackWhite">
            <a:xfrm>
              <a:off x="66" y="4862"/>
              <a:ext cx="3826" cy="2117"/>
            </a:xfrm>
            <a:custGeom>
              <a:avLst/>
              <a:gdLst>
                <a:gd name="T0" fmla="*/ 0 w 647"/>
                <a:gd name="T1" fmla="*/ 2147483647 h 548"/>
                <a:gd name="T2" fmla="*/ 0 w 647"/>
                <a:gd name="T3" fmla="*/ 2147483647 h 548"/>
                <a:gd name="T4" fmla="*/ 2147483647 w 647"/>
                <a:gd name="T5" fmla="*/ 2147483647 h 548"/>
                <a:gd name="T6" fmla="*/ 2147483647 w 647"/>
                <a:gd name="T7" fmla="*/ 0 h 548"/>
                <a:gd name="T8" fmla="*/ 2147483647 w 647"/>
                <a:gd name="T9" fmla="*/ 2147483647 h 548"/>
                <a:gd name="T10" fmla="*/ 2147483647 w 647"/>
                <a:gd name="T11" fmla="*/ 2147483647 h 548"/>
                <a:gd name="T12" fmla="*/ 2147483647 w 647"/>
                <a:gd name="T13" fmla="*/ 2147483647 h 548"/>
                <a:gd name="T14" fmla="*/ 2147483647 w 647"/>
                <a:gd name="T15" fmla="*/ 2147483647 h 548"/>
                <a:gd name="T16" fmla="*/ 2147483647 w 647"/>
                <a:gd name="T17" fmla="*/ 2147483647 h 548"/>
                <a:gd name="T18" fmla="*/ 2147483647 w 647"/>
                <a:gd name="T19" fmla="*/ 2147483647 h 548"/>
                <a:gd name="T20" fmla="*/ 2147483647 w 647"/>
                <a:gd name="T21" fmla="*/ 2147483647 h 548"/>
                <a:gd name="T22" fmla="*/ 0 w 647"/>
                <a:gd name="T23" fmla="*/ 2147483647 h 54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47"/>
                <a:gd name="T37" fmla="*/ 0 h 548"/>
                <a:gd name="T38" fmla="*/ 647 w 647"/>
                <a:gd name="T39" fmla="*/ 548 h 54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47" h="548">
                  <a:moveTo>
                    <a:pt x="0" y="78"/>
                  </a:moveTo>
                  <a:lnTo>
                    <a:pt x="0" y="547"/>
                  </a:lnTo>
                  <a:lnTo>
                    <a:pt x="646" y="546"/>
                  </a:lnTo>
                  <a:lnTo>
                    <a:pt x="646" y="0"/>
                  </a:lnTo>
                  <a:lnTo>
                    <a:pt x="582" y="10"/>
                  </a:lnTo>
                  <a:lnTo>
                    <a:pt x="490" y="24"/>
                  </a:lnTo>
                  <a:lnTo>
                    <a:pt x="414" y="34"/>
                  </a:lnTo>
                  <a:lnTo>
                    <a:pt x="348" y="42"/>
                  </a:lnTo>
                  <a:lnTo>
                    <a:pt x="278" y="50"/>
                  </a:lnTo>
                  <a:lnTo>
                    <a:pt x="192" y="58"/>
                  </a:lnTo>
                  <a:lnTo>
                    <a:pt x="82" y="70"/>
                  </a:lnTo>
                  <a:lnTo>
                    <a:pt x="0" y="78"/>
                  </a:lnTo>
                </a:path>
              </a:pathLst>
            </a:custGeom>
            <a:solidFill>
              <a:srgbClr val="D9D9D9"/>
            </a:solidFill>
            <a:ln w="12700" cap="rnd">
              <a:solidFill>
                <a:srgbClr val="FFFFFF"/>
              </a:solidFill>
              <a:round/>
            </a:ln>
          </p:spPr>
          <p:txBody>
            <a:bodyPr lIns="0" tIns="0" rIns="0" bIns="0"/>
            <a:lstStyle/>
            <a:p>
              <a:pPr defTabSz="3512185">
                <a:defRPr/>
              </a:pPr>
              <a:endParaRPr lang="zh-CN" altLang="en-US" sz="2880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 Unicode MS" panose="020B0604020202020204" charset="-122"/>
              </a:endParaRPr>
            </a:p>
          </p:txBody>
        </p:sp>
        <p:sp>
          <p:nvSpPr>
            <p:cNvPr id="45" name="Rectangle 12"/>
            <p:cNvSpPr>
              <a:spLocks noChangeArrowheads="1"/>
            </p:cNvSpPr>
            <p:nvPr/>
          </p:nvSpPr>
          <p:spPr bwMode="auto">
            <a:xfrm>
              <a:off x="66" y="5184"/>
              <a:ext cx="3938" cy="16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203195" tIns="101594" rIns="203195" bIns="101594">
              <a:spAutoFit/>
            </a:bodyPr>
            <a:lstStyle/>
            <a:p>
              <a:pPr defTabSz="3512185">
                <a:lnSpc>
                  <a:spcPct val="150000"/>
                </a:lnSpc>
              </a:pPr>
              <a:r>
                <a:rPr lang="en-US" altLang="zh-CN" sz="4225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1</a:t>
              </a:r>
              <a:r>
                <a:rPr lang="zh-CN" altLang="en-US" sz="4225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、供需结构</a:t>
              </a:r>
              <a:r>
                <a:rPr lang="zh-CN" altLang="en-US" sz="4225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不平衡</a:t>
              </a:r>
              <a:r>
                <a:rPr lang="zh-CN" altLang="en-US" sz="4225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，</a:t>
              </a:r>
              <a:r>
                <a:rPr lang="zh-CN" altLang="en-US" sz="4225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计划性不足</a:t>
              </a:r>
              <a:endParaRPr lang="en-US" altLang="zh-CN" sz="4225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defTabSz="3512185">
                <a:lnSpc>
                  <a:spcPct val="150000"/>
                </a:lnSpc>
              </a:pPr>
              <a:r>
                <a:rPr lang="en-US" altLang="zh-CN" sz="4225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2</a:t>
              </a:r>
              <a:r>
                <a:rPr lang="zh-CN" altLang="en-US" sz="4225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、企业内部数据不共享，运营</a:t>
              </a:r>
              <a:r>
                <a:rPr lang="zh-CN" altLang="en-US" sz="4225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成本高</a:t>
              </a:r>
              <a:endParaRPr lang="en-US" altLang="zh-CN" sz="4225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defTabSz="3512185">
                <a:lnSpc>
                  <a:spcPct val="150000"/>
                </a:lnSpc>
              </a:pPr>
              <a:r>
                <a:rPr lang="en-US" altLang="zh-CN" sz="4225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3</a:t>
              </a:r>
              <a:r>
                <a:rPr lang="zh-CN" altLang="en-US" sz="4225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、市场变化反应不灵敏，库存</a:t>
              </a:r>
              <a:r>
                <a:rPr lang="zh-CN" altLang="en-US" sz="4225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水位高</a:t>
              </a:r>
              <a:endParaRPr lang="en-US" altLang="zh-CN" sz="4225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defTabSz="3512185">
                <a:lnSpc>
                  <a:spcPct val="150000"/>
                </a:lnSpc>
              </a:pPr>
              <a:r>
                <a:rPr lang="en-US" altLang="zh-CN" sz="4225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4</a:t>
              </a:r>
              <a:r>
                <a:rPr lang="zh-CN" altLang="en-US" sz="4225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、不能满足发展需要，客户</a:t>
              </a:r>
              <a:r>
                <a:rPr lang="zh-CN" altLang="en-US" sz="4225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满意度低</a:t>
              </a:r>
              <a:endParaRPr lang="zh-CN" altLang="en-US" sz="4225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Arial Unicode MS" panose="020B0604020202020204" charset="-122"/>
                <a:sym typeface="+mn-ea"/>
              </a:endParaRPr>
            </a:p>
          </p:txBody>
        </p:sp>
      </p:grpSp>
      <p:sp>
        <p:nvSpPr>
          <p:cNvPr id="46" name="Rectangle 12"/>
          <p:cNvSpPr>
            <a:spLocks noChangeArrowheads="1"/>
          </p:cNvSpPr>
          <p:nvPr/>
        </p:nvSpPr>
        <p:spPr bwMode="auto">
          <a:xfrm>
            <a:off x="20417014" y="14317021"/>
            <a:ext cx="7399979" cy="11087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203195" tIns="101594" rIns="203195" bIns="101594">
            <a:spAutoFit/>
          </a:bodyPr>
          <a:lstStyle/>
          <a:p>
            <a:pPr defTabSz="3512185">
              <a:lnSpc>
                <a:spcPct val="200000"/>
              </a:lnSpc>
            </a:pPr>
            <a:endParaRPr lang="zh-CN" altLang="en-US" sz="3455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  <a:cs typeface="Arial Unicode MS" panose="020B0604020202020204" charset="-122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9943874" y="6804846"/>
            <a:ext cx="9004852" cy="11341431"/>
            <a:chOff x="4077" y="2346"/>
            <a:chExt cx="3692" cy="4650"/>
          </a:xfrm>
        </p:grpSpPr>
        <p:sp>
          <p:nvSpPr>
            <p:cNvPr id="48" name="Freeform 4"/>
            <p:cNvSpPr/>
            <p:nvPr/>
          </p:nvSpPr>
          <p:spPr bwMode="blackWhite">
            <a:xfrm>
              <a:off x="4077" y="4153"/>
              <a:ext cx="3692" cy="2843"/>
            </a:xfrm>
            <a:custGeom>
              <a:avLst/>
              <a:gdLst>
                <a:gd name="T0" fmla="*/ 0 w 640"/>
                <a:gd name="T1" fmla="*/ 2147483647 h 705"/>
                <a:gd name="T2" fmla="*/ 0 w 640"/>
                <a:gd name="T3" fmla="*/ 2147483647 h 705"/>
                <a:gd name="T4" fmla="*/ 2147483647 w 640"/>
                <a:gd name="T5" fmla="*/ 2147483647 h 705"/>
                <a:gd name="T6" fmla="*/ 2147483647 w 640"/>
                <a:gd name="T7" fmla="*/ 0 h 705"/>
                <a:gd name="T8" fmla="*/ 2147483647 w 640"/>
                <a:gd name="T9" fmla="*/ 2147483647 h 705"/>
                <a:gd name="T10" fmla="*/ 2147483647 w 640"/>
                <a:gd name="T11" fmla="*/ 2147483647 h 705"/>
                <a:gd name="T12" fmla="*/ 2147483647 w 640"/>
                <a:gd name="T13" fmla="*/ 2147483647 h 705"/>
                <a:gd name="T14" fmla="*/ 2147483647 w 640"/>
                <a:gd name="T15" fmla="*/ 2147483647 h 705"/>
                <a:gd name="T16" fmla="*/ 2147483647 w 640"/>
                <a:gd name="T17" fmla="*/ 2147483647 h 705"/>
                <a:gd name="T18" fmla="*/ 2147483647 w 640"/>
                <a:gd name="T19" fmla="*/ 2147483647 h 705"/>
                <a:gd name="T20" fmla="*/ 2147483647 w 640"/>
                <a:gd name="T21" fmla="*/ 2147483647 h 705"/>
                <a:gd name="T22" fmla="*/ 0 w 640"/>
                <a:gd name="T23" fmla="*/ 2147483647 h 70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40"/>
                <a:gd name="T37" fmla="*/ 0 h 705"/>
                <a:gd name="T38" fmla="*/ 640 w 640"/>
                <a:gd name="T39" fmla="*/ 705 h 70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40" h="705">
                  <a:moveTo>
                    <a:pt x="0" y="159"/>
                  </a:moveTo>
                  <a:lnTo>
                    <a:pt x="0" y="704"/>
                  </a:lnTo>
                  <a:lnTo>
                    <a:pt x="639" y="704"/>
                  </a:lnTo>
                  <a:lnTo>
                    <a:pt x="639" y="0"/>
                  </a:lnTo>
                  <a:lnTo>
                    <a:pt x="599" y="16"/>
                  </a:lnTo>
                  <a:lnTo>
                    <a:pt x="556" y="33"/>
                  </a:lnTo>
                  <a:lnTo>
                    <a:pt x="493" y="54"/>
                  </a:lnTo>
                  <a:lnTo>
                    <a:pt x="403" y="78"/>
                  </a:lnTo>
                  <a:lnTo>
                    <a:pt x="308" y="101"/>
                  </a:lnTo>
                  <a:lnTo>
                    <a:pt x="218" y="119"/>
                  </a:lnTo>
                  <a:lnTo>
                    <a:pt x="112" y="138"/>
                  </a:lnTo>
                  <a:lnTo>
                    <a:pt x="0" y="159"/>
                  </a:lnTo>
                </a:path>
              </a:pathLst>
            </a:custGeom>
            <a:solidFill>
              <a:srgbClr val="9CBBFB"/>
            </a:solidFill>
            <a:ln w="12700" cap="rnd">
              <a:solidFill>
                <a:srgbClr val="FFFFFF"/>
              </a:solidFill>
              <a:round/>
            </a:ln>
          </p:spPr>
          <p:txBody>
            <a:bodyPr lIns="0" tIns="0" rIns="0" bIns="0" anchor="b"/>
            <a:lstStyle/>
            <a:p>
              <a:pPr defTabSz="3512185">
                <a:lnSpc>
                  <a:spcPct val="200000"/>
                </a:lnSpc>
              </a:pPr>
              <a:endParaRPr lang="en-US" altLang="zh-CN" sz="3840" b="1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 Unicode MS" panose="020B0604020202020204" charset="-122"/>
              </a:endParaRPr>
            </a:p>
          </p:txBody>
        </p:sp>
        <p:sp>
          <p:nvSpPr>
            <p:cNvPr id="49" name="Rectangle 7"/>
            <p:cNvSpPr>
              <a:spLocks noChangeArrowheads="1"/>
            </p:cNvSpPr>
            <p:nvPr/>
          </p:nvSpPr>
          <p:spPr bwMode="blackWhite">
            <a:xfrm>
              <a:off x="4692" y="2346"/>
              <a:ext cx="2461" cy="7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defTabSz="3512185">
                <a:spcBef>
                  <a:spcPct val="20000"/>
                </a:spcBef>
                <a:buSzPct val="100000"/>
                <a:defRPr/>
              </a:pPr>
              <a:r>
                <a:rPr lang="zh-CN" altLang="en-US" sz="6145" b="1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 Unicode MS" panose="020B0604020202020204" charset="-122"/>
                  <a:sym typeface="+mn-ea"/>
                </a:rPr>
                <a:t>内部集成供应链</a:t>
              </a:r>
              <a:endParaRPr lang="zh-CN" altLang="en-US" sz="6145" b="1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 Unicode MS" panose="020B0604020202020204" charset="-122"/>
                <a:sym typeface="+mn-ea"/>
              </a:endParaRPr>
            </a:p>
            <a:p>
              <a:pPr algn="ctr" defTabSz="3512185">
                <a:spcBef>
                  <a:spcPct val="20000"/>
                </a:spcBef>
                <a:buSzPct val="100000"/>
                <a:defRPr/>
              </a:pPr>
              <a:r>
                <a:rPr lang="zh-CN" altLang="en-US" sz="5375" dirty="0">
                  <a:solidFill>
                    <a:schemeClr val="accent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（供应链</a:t>
              </a:r>
              <a:r>
                <a:rPr lang="en-US" altLang="zh-CN" sz="5375" dirty="0">
                  <a:solidFill>
                    <a:schemeClr val="accent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2.0</a:t>
              </a:r>
              <a:r>
                <a:rPr lang="zh-CN" altLang="en-US" sz="5375" dirty="0">
                  <a:solidFill>
                    <a:schemeClr val="accent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）</a:t>
              </a:r>
              <a:endParaRPr lang="zh-CN" altLang="en-US" sz="5375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0" name="Rectangle 12"/>
            <p:cNvSpPr>
              <a:spLocks noChangeArrowheads="1"/>
            </p:cNvSpPr>
            <p:nvPr/>
          </p:nvSpPr>
          <p:spPr bwMode="auto">
            <a:xfrm>
              <a:off x="4099" y="4802"/>
              <a:ext cx="3647" cy="20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203195" tIns="101594" rIns="203195" bIns="101594">
              <a:spAutoFit/>
            </a:bodyPr>
            <a:lstStyle/>
            <a:p>
              <a:pPr defTabSz="3512185">
                <a:lnSpc>
                  <a:spcPct val="150000"/>
                </a:lnSpc>
              </a:pPr>
              <a:r>
                <a:rPr lang="en-US" altLang="zh-CN" sz="4225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1</a:t>
              </a:r>
              <a:r>
                <a:rPr lang="zh-CN" altLang="en-US" sz="4225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、实现端到端计划</a:t>
              </a:r>
              <a:r>
                <a:rPr lang="zh-CN" altLang="en-US" sz="4225" b="1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内部集成与协同</a:t>
              </a:r>
              <a:endParaRPr lang="zh-CN" altLang="en-US" sz="4225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+mn-ea"/>
              </a:endParaRPr>
            </a:p>
            <a:p>
              <a:pPr defTabSz="3512185">
                <a:lnSpc>
                  <a:spcPct val="150000"/>
                </a:lnSpc>
              </a:pPr>
              <a:r>
                <a:rPr lang="en-US" altLang="zh-CN" sz="4225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2</a:t>
              </a:r>
              <a:r>
                <a:rPr lang="zh-CN" altLang="en-US" sz="4225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、建立</a:t>
              </a:r>
              <a:r>
                <a:rPr lang="zh-CN" altLang="en-US" sz="4225" b="1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全面可视化</a:t>
              </a:r>
              <a:r>
                <a:rPr lang="zh-CN" altLang="en-US" sz="4225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订单交付管理</a:t>
              </a:r>
              <a:endParaRPr lang="zh-CN" altLang="en-US" sz="4225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+mn-ea"/>
              </a:endParaRPr>
            </a:p>
            <a:p>
              <a:pPr defTabSz="3512185">
                <a:lnSpc>
                  <a:spcPct val="150000"/>
                </a:lnSpc>
              </a:pPr>
              <a:r>
                <a:rPr lang="en-US" altLang="zh-CN" sz="4225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3</a:t>
              </a:r>
              <a:r>
                <a:rPr lang="zh-CN" altLang="en-US" sz="4225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、实现</a:t>
              </a:r>
              <a:r>
                <a:rPr lang="zh-CN" altLang="en-US" sz="4225" b="1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可承诺</a:t>
              </a:r>
              <a:r>
                <a:rPr lang="zh-CN" altLang="en-US" sz="4225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的供应能力</a:t>
              </a:r>
              <a:r>
                <a:rPr lang="zh-CN" altLang="en-US" sz="4225" b="1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（</a:t>
              </a:r>
              <a:r>
                <a:rPr lang="en-US" altLang="zh-CN" sz="4225" b="1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ATP</a:t>
              </a:r>
              <a:r>
                <a:rPr lang="zh-CN" altLang="en-US" sz="4225" b="1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）</a:t>
              </a:r>
              <a:endParaRPr lang="zh-CN" altLang="en-US" sz="4225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+mn-ea"/>
              </a:endParaRPr>
            </a:p>
            <a:p>
              <a:pPr defTabSz="3512185">
                <a:lnSpc>
                  <a:spcPct val="150000"/>
                </a:lnSpc>
              </a:pPr>
              <a:r>
                <a:rPr lang="en-US" altLang="zh-CN" sz="4225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4</a:t>
              </a:r>
              <a:r>
                <a:rPr lang="zh-CN" altLang="en-US" sz="4225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、提升订单交付达成率</a:t>
              </a:r>
              <a:r>
                <a:rPr lang="zh-CN" altLang="en-US" sz="4225" b="1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（</a:t>
              </a:r>
              <a:r>
                <a:rPr lang="en-US" altLang="zh-CN" sz="4225" b="1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OTD</a:t>
              </a:r>
              <a:r>
                <a:rPr lang="zh-CN" altLang="en-US" sz="4225" b="1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）</a:t>
              </a:r>
              <a:endParaRPr lang="zh-CN" altLang="en-US" sz="4225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+mn-ea"/>
              </a:endParaRPr>
            </a:p>
            <a:p>
              <a:pPr defTabSz="3512185">
                <a:lnSpc>
                  <a:spcPct val="150000"/>
                </a:lnSpc>
              </a:pPr>
              <a:r>
                <a:rPr lang="en-US" altLang="zh-CN" sz="4225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5</a:t>
              </a:r>
              <a:r>
                <a:rPr lang="zh-CN" altLang="en-US" sz="4225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、提升供应链整体</a:t>
              </a:r>
              <a:r>
                <a:rPr lang="zh-CN" altLang="en-US" sz="4225" b="1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运作效率</a:t>
              </a:r>
              <a:endParaRPr lang="zh-CN" altLang="en-US" sz="4225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Arial Unicode MS" panose="020B0604020202020204" charset="-122"/>
                <a:sym typeface="+mn-ea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18943848" y="5152480"/>
            <a:ext cx="8453634" cy="12993798"/>
            <a:chOff x="5001" y="2065"/>
            <a:chExt cx="3466" cy="5293"/>
          </a:xfrm>
        </p:grpSpPr>
        <p:sp>
          <p:nvSpPr>
            <p:cNvPr id="52" name="Freeform 3"/>
            <p:cNvSpPr/>
            <p:nvPr/>
          </p:nvSpPr>
          <p:spPr bwMode="blackWhite">
            <a:xfrm>
              <a:off x="5072" y="3807"/>
              <a:ext cx="3329" cy="3551"/>
            </a:xfrm>
            <a:custGeom>
              <a:avLst/>
              <a:gdLst>
                <a:gd name="T0" fmla="*/ 0 w 634"/>
                <a:gd name="T1" fmla="*/ 555217 h 1246"/>
                <a:gd name="T2" fmla="*/ 0 w 634"/>
                <a:gd name="T3" fmla="*/ 2569686 h 1246"/>
                <a:gd name="T4" fmla="*/ 1778721 w 634"/>
                <a:gd name="T5" fmla="*/ 2569686 h 1246"/>
                <a:gd name="T6" fmla="*/ 1781536 w 634"/>
                <a:gd name="T7" fmla="*/ 0 h 1246"/>
                <a:gd name="T8" fmla="*/ 1607041 w 634"/>
                <a:gd name="T9" fmla="*/ 70176 h 1246"/>
                <a:gd name="T10" fmla="*/ 1432546 w 634"/>
                <a:gd name="T11" fmla="*/ 136224 h 1246"/>
                <a:gd name="T12" fmla="*/ 1224278 w 634"/>
                <a:gd name="T13" fmla="*/ 206400 h 1246"/>
                <a:gd name="T14" fmla="*/ 1010381 w 634"/>
                <a:gd name="T15" fmla="*/ 276577 h 1246"/>
                <a:gd name="T16" fmla="*/ 723309 w 634"/>
                <a:gd name="T17" fmla="*/ 363265 h 1246"/>
                <a:gd name="T18" fmla="*/ 470010 w 634"/>
                <a:gd name="T19" fmla="*/ 437569 h 1246"/>
                <a:gd name="T20" fmla="*/ 194196 w 634"/>
                <a:gd name="T21" fmla="*/ 507745 h 1246"/>
                <a:gd name="T22" fmla="*/ 0 w 634"/>
                <a:gd name="T23" fmla="*/ 555217 h 124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34"/>
                <a:gd name="T37" fmla="*/ 0 h 1246"/>
                <a:gd name="T38" fmla="*/ 634 w 634"/>
                <a:gd name="T39" fmla="*/ 1246 h 124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34" h="1246">
                  <a:moveTo>
                    <a:pt x="0" y="269"/>
                  </a:moveTo>
                  <a:lnTo>
                    <a:pt x="0" y="1245"/>
                  </a:lnTo>
                  <a:lnTo>
                    <a:pt x="632" y="1245"/>
                  </a:lnTo>
                  <a:lnTo>
                    <a:pt x="633" y="0"/>
                  </a:lnTo>
                  <a:lnTo>
                    <a:pt x="571" y="34"/>
                  </a:lnTo>
                  <a:lnTo>
                    <a:pt x="509" y="66"/>
                  </a:lnTo>
                  <a:lnTo>
                    <a:pt x="435" y="100"/>
                  </a:lnTo>
                  <a:lnTo>
                    <a:pt x="359" y="134"/>
                  </a:lnTo>
                  <a:lnTo>
                    <a:pt x="257" y="176"/>
                  </a:lnTo>
                  <a:lnTo>
                    <a:pt x="167" y="212"/>
                  </a:lnTo>
                  <a:lnTo>
                    <a:pt x="69" y="246"/>
                  </a:lnTo>
                  <a:lnTo>
                    <a:pt x="0" y="269"/>
                  </a:lnTo>
                </a:path>
              </a:pathLst>
            </a:custGeom>
            <a:solidFill>
              <a:srgbClr val="92D050"/>
            </a:solidFill>
            <a:ln w="12700" cap="rnd">
              <a:solidFill>
                <a:srgbClr val="FFFFFF"/>
              </a:solidFill>
              <a:round/>
            </a:ln>
          </p:spPr>
          <p:txBody>
            <a:bodyPr lIns="0" tIns="0" rIns="0" bIns="0"/>
            <a:lstStyle/>
            <a:p>
              <a:pPr marL="1097280" indent="-1097280" defTabSz="3512185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endParaRPr lang="en-US" sz="2880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 Unicode MS" panose="020B0604020202020204" charset="-122"/>
              </a:endParaRPr>
            </a:p>
          </p:txBody>
        </p:sp>
        <p:sp>
          <p:nvSpPr>
            <p:cNvPr id="53" name="Rectangle 7"/>
            <p:cNvSpPr>
              <a:spLocks noChangeArrowheads="1"/>
            </p:cNvSpPr>
            <p:nvPr/>
          </p:nvSpPr>
          <p:spPr bwMode="blackWhite">
            <a:xfrm>
              <a:off x="5601" y="2065"/>
              <a:ext cx="2251" cy="7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defTabSz="3512185">
                <a:spcBef>
                  <a:spcPct val="20000"/>
                </a:spcBef>
                <a:buSzPct val="100000"/>
                <a:defRPr/>
              </a:pPr>
              <a:r>
                <a:rPr lang="zh-CN" altLang="en-US" sz="6145" b="1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 Unicode MS" panose="020B0604020202020204" charset="-122"/>
                  <a:sym typeface="+mn-ea"/>
                </a:rPr>
                <a:t>全面协同供应链</a:t>
              </a:r>
              <a:endParaRPr lang="zh-CN" altLang="en-US" sz="6145" b="1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 Unicode MS" panose="020B0604020202020204" charset="-122"/>
                <a:sym typeface="+mn-ea"/>
              </a:endParaRPr>
            </a:p>
            <a:p>
              <a:pPr algn="ctr" defTabSz="3512185">
                <a:spcBef>
                  <a:spcPct val="20000"/>
                </a:spcBef>
                <a:buSzPct val="100000"/>
                <a:defRPr/>
              </a:pPr>
              <a:r>
                <a:rPr lang="zh-CN" altLang="en-US" sz="5375" dirty="0">
                  <a:solidFill>
                    <a:schemeClr val="accent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（供应链</a:t>
              </a:r>
              <a:r>
                <a:rPr lang="en-US" altLang="zh-CN" sz="5375" dirty="0">
                  <a:solidFill>
                    <a:schemeClr val="accent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3.0</a:t>
              </a:r>
              <a:r>
                <a:rPr lang="zh-CN" altLang="en-US" sz="5375" dirty="0">
                  <a:solidFill>
                    <a:schemeClr val="accent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）</a:t>
              </a:r>
              <a:endParaRPr lang="zh-CN" altLang="en-US" sz="5375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4" name="Rectangle 12"/>
            <p:cNvSpPr>
              <a:spLocks noChangeArrowheads="1"/>
            </p:cNvSpPr>
            <p:nvPr/>
          </p:nvSpPr>
          <p:spPr bwMode="auto">
            <a:xfrm>
              <a:off x="5001" y="4688"/>
              <a:ext cx="3466" cy="2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203195" tIns="101594" rIns="203195" bIns="101594">
              <a:spAutoFit/>
            </a:bodyPr>
            <a:lstStyle/>
            <a:p>
              <a:pPr defTabSz="3512185">
                <a:lnSpc>
                  <a:spcPct val="150000"/>
                </a:lnSpc>
              </a:pPr>
              <a:r>
                <a:rPr lang="en-US" altLang="zh-CN" sz="4225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1</a:t>
              </a:r>
              <a:r>
                <a:rPr lang="zh-CN" altLang="en-US" sz="4225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、</a:t>
              </a:r>
              <a:r>
                <a:rPr lang="zh-CN" altLang="en-US" sz="4225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微软雅黑" pitchFamily="34" charset="-122"/>
                  <a:sym typeface="+mn-ea"/>
                </a:rPr>
                <a:t>以客户为中心，</a:t>
              </a:r>
              <a:r>
                <a:rPr lang="zh-CN" altLang="en-US" sz="4610" b="1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微软雅黑" pitchFamily="34" charset="-122"/>
                  <a:sym typeface="+mn-ea"/>
                </a:rPr>
                <a:t>灵活</a:t>
              </a:r>
              <a:r>
                <a:rPr lang="zh-CN" altLang="en-US" sz="4225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微软雅黑" pitchFamily="34" charset="-122"/>
                  <a:sym typeface="+mn-ea"/>
                </a:rPr>
                <a:t>定制服务</a:t>
              </a:r>
              <a:endParaRPr lang="en-US" altLang="zh-CN" sz="4225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defTabSz="3512185">
                <a:lnSpc>
                  <a:spcPct val="150000"/>
                </a:lnSpc>
              </a:pPr>
              <a:r>
                <a:rPr lang="en-US" altLang="zh-CN" sz="4225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2</a:t>
              </a:r>
              <a:r>
                <a:rPr lang="zh-CN" altLang="en-US" sz="4225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、实现与客户、供应商</a:t>
              </a:r>
              <a:r>
                <a:rPr lang="zh-CN" altLang="en-US" sz="4610" b="1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全面协同</a:t>
              </a:r>
              <a:r>
                <a:rPr lang="zh-CN" altLang="en-US" sz="4225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的整体解决方案</a:t>
              </a:r>
              <a:endParaRPr lang="zh-CN" altLang="en-US" sz="4225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+mn-ea"/>
              </a:endParaRPr>
            </a:p>
            <a:p>
              <a:pPr defTabSz="3512185">
                <a:lnSpc>
                  <a:spcPct val="150000"/>
                </a:lnSpc>
              </a:pPr>
              <a:r>
                <a:rPr lang="en-US" altLang="zh-CN" sz="4225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3</a:t>
              </a:r>
              <a:r>
                <a:rPr lang="zh-CN" altLang="en-US" sz="4225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、面向</a:t>
              </a:r>
              <a:r>
                <a:rPr lang="zh-CN" altLang="en-US" sz="4610" b="1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全球化、集团化、多样化</a:t>
              </a:r>
              <a:r>
                <a:rPr lang="zh-CN" altLang="en-US" sz="4225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的供应链能力建设</a:t>
              </a:r>
              <a:endParaRPr lang="zh-CN" altLang="en-US" sz="422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Arial Unicode MS" panose="020B0604020202020204" charset="-122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27395045" y="4045733"/>
            <a:ext cx="7319491" cy="14098104"/>
            <a:chOff x="11209" y="1214"/>
            <a:chExt cx="3001" cy="5667"/>
          </a:xfrm>
        </p:grpSpPr>
        <p:sp>
          <p:nvSpPr>
            <p:cNvPr id="56" name="Freeform 3"/>
            <p:cNvSpPr/>
            <p:nvPr/>
          </p:nvSpPr>
          <p:spPr bwMode="blackWhite">
            <a:xfrm>
              <a:off x="11223" y="2323"/>
              <a:ext cx="2987" cy="4558"/>
            </a:xfrm>
            <a:custGeom>
              <a:avLst/>
              <a:gdLst>
                <a:gd name="T0" fmla="*/ 0 w 634"/>
                <a:gd name="T1" fmla="*/ 555217 h 1246"/>
                <a:gd name="T2" fmla="*/ 0 w 634"/>
                <a:gd name="T3" fmla="*/ 2569686 h 1246"/>
                <a:gd name="T4" fmla="*/ 1778721 w 634"/>
                <a:gd name="T5" fmla="*/ 2569686 h 1246"/>
                <a:gd name="T6" fmla="*/ 1781536 w 634"/>
                <a:gd name="T7" fmla="*/ 0 h 1246"/>
                <a:gd name="T8" fmla="*/ 1607041 w 634"/>
                <a:gd name="T9" fmla="*/ 70176 h 1246"/>
                <a:gd name="T10" fmla="*/ 1432546 w 634"/>
                <a:gd name="T11" fmla="*/ 136224 h 1246"/>
                <a:gd name="T12" fmla="*/ 1224278 w 634"/>
                <a:gd name="T13" fmla="*/ 206400 h 1246"/>
                <a:gd name="T14" fmla="*/ 1010381 w 634"/>
                <a:gd name="T15" fmla="*/ 276577 h 1246"/>
                <a:gd name="T16" fmla="*/ 723309 w 634"/>
                <a:gd name="T17" fmla="*/ 363265 h 1246"/>
                <a:gd name="T18" fmla="*/ 470010 w 634"/>
                <a:gd name="T19" fmla="*/ 437569 h 1246"/>
                <a:gd name="T20" fmla="*/ 194196 w 634"/>
                <a:gd name="T21" fmla="*/ 507745 h 1246"/>
                <a:gd name="T22" fmla="*/ 0 w 634"/>
                <a:gd name="T23" fmla="*/ 555217 h 124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34"/>
                <a:gd name="T37" fmla="*/ 0 h 1246"/>
                <a:gd name="T38" fmla="*/ 634 w 634"/>
                <a:gd name="T39" fmla="*/ 1246 h 124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34" h="1246">
                  <a:moveTo>
                    <a:pt x="0" y="269"/>
                  </a:moveTo>
                  <a:lnTo>
                    <a:pt x="0" y="1245"/>
                  </a:lnTo>
                  <a:lnTo>
                    <a:pt x="632" y="1245"/>
                  </a:lnTo>
                  <a:lnTo>
                    <a:pt x="633" y="0"/>
                  </a:lnTo>
                  <a:lnTo>
                    <a:pt x="571" y="34"/>
                  </a:lnTo>
                  <a:lnTo>
                    <a:pt x="509" y="66"/>
                  </a:lnTo>
                  <a:lnTo>
                    <a:pt x="435" y="100"/>
                  </a:lnTo>
                  <a:lnTo>
                    <a:pt x="359" y="134"/>
                  </a:lnTo>
                  <a:lnTo>
                    <a:pt x="257" y="176"/>
                  </a:lnTo>
                  <a:lnTo>
                    <a:pt x="167" y="212"/>
                  </a:lnTo>
                  <a:lnTo>
                    <a:pt x="69" y="246"/>
                  </a:lnTo>
                  <a:lnTo>
                    <a:pt x="0" y="269"/>
                  </a:lnTo>
                </a:path>
              </a:pathLst>
            </a:custGeom>
            <a:solidFill>
              <a:srgbClr val="92D050"/>
            </a:solidFill>
            <a:ln w="12700" cap="rnd">
              <a:solidFill>
                <a:srgbClr val="FFFFFF"/>
              </a:solidFill>
              <a:round/>
            </a:ln>
          </p:spPr>
          <p:txBody>
            <a:bodyPr lIns="0" tIns="0" rIns="0" bIns="0"/>
            <a:lstStyle/>
            <a:p>
              <a:pPr defTabSz="3512185">
                <a:defRPr/>
              </a:pPr>
              <a:endParaRPr lang="en-US" sz="2880" kern="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 Unicode MS" panose="020B0604020202020204" charset="-122"/>
              </a:endParaRPr>
            </a:p>
          </p:txBody>
        </p:sp>
        <p:sp>
          <p:nvSpPr>
            <p:cNvPr id="57" name="Rectangle 7"/>
            <p:cNvSpPr>
              <a:spLocks noChangeArrowheads="1"/>
            </p:cNvSpPr>
            <p:nvPr/>
          </p:nvSpPr>
          <p:spPr bwMode="blackWhite">
            <a:xfrm>
              <a:off x="11613" y="1214"/>
              <a:ext cx="2207" cy="7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ctr" defTabSz="3512185">
                <a:spcBef>
                  <a:spcPct val="20000"/>
                </a:spcBef>
                <a:buSzPct val="100000"/>
                <a:defRPr/>
              </a:pPr>
              <a:r>
                <a:rPr lang="zh-CN" altLang="en-US" sz="6145" b="1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Arial Unicode MS" panose="020B0604020202020204" charset="-122"/>
                  <a:sym typeface="+mn-ea"/>
                </a:rPr>
                <a:t>数字化供应链</a:t>
              </a:r>
              <a:endParaRPr lang="zh-CN" altLang="en-US" sz="6145" b="1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Arial Unicode MS" panose="020B0604020202020204" charset="-122"/>
                <a:sym typeface="+mn-ea"/>
              </a:endParaRPr>
            </a:p>
            <a:p>
              <a:pPr algn="ctr" defTabSz="3512185">
                <a:spcBef>
                  <a:spcPct val="20000"/>
                </a:spcBef>
                <a:buSzPct val="100000"/>
                <a:defRPr/>
              </a:pPr>
              <a:r>
                <a:rPr lang="zh-CN" altLang="en-US" sz="5375" dirty="0">
                  <a:solidFill>
                    <a:schemeClr val="accent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（供应链</a:t>
              </a:r>
              <a:r>
                <a:rPr lang="en-US" altLang="zh-CN" sz="5375" dirty="0">
                  <a:solidFill>
                    <a:schemeClr val="accent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4.0</a:t>
              </a:r>
              <a:r>
                <a:rPr lang="zh-CN" altLang="en-US" sz="5375" dirty="0">
                  <a:solidFill>
                    <a:schemeClr val="accent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）</a:t>
              </a:r>
              <a:endParaRPr lang="zh-CN" altLang="en-US" sz="5375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8" name="Rectangle 12"/>
            <p:cNvSpPr>
              <a:spLocks noChangeArrowheads="1"/>
            </p:cNvSpPr>
            <p:nvPr/>
          </p:nvSpPr>
          <p:spPr bwMode="auto">
            <a:xfrm>
              <a:off x="11209" y="3705"/>
              <a:ext cx="2988" cy="2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203195" tIns="101594" rIns="203195" bIns="101594">
              <a:spAutoFit/>
            </a:bodyPr>
            <a:lstStyle/>
            <a:p>
              <a:pPr defTabSz="3512185"/>
              <a:r>
                <a:rPr lang="en-US" altLang="zh-CN" sz="4225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1</a:t>
              </a:r>
              <a:r>
                <a:rPr lang="zh-CN" altLang="en-US" sz="4225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、</a:t>
              </a:r>
              <a:r>
                <a:rPr lang="zh-CN" altLang="en-US" sz="5375" b="1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数字化、智能化</a:t>
              </a:r>
              <a:r>
                <a:rPr lang="zh-CN" altLang="en-US" sz="4225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的供应链服务建设</a:t>
              </a:r>
              <a:endParaRPr lang="zh-CN" altLang="en-US" sz="4225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+mn-ea"/>
              </a:endParaRPr>
            </a:p>
            <a:p>
              <a:pPr defTabSz="3512185"/>
              <a:endParaRPr lang="en-US" altLang="zh-CN" sz="4225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+mn-ea"/>
              </a:endParaRPr>
            </a:p>
            <a:p>
              <a:pPr defTabSz="3512185"/>
              <a:r>
                <a:rPr lang="en-US" altLang="zh-CN" sz="4225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2</a:t>
              </a:r>
              <a:r>
                <a:rPr lang="zh-CN" altLang="en-US" sz="4225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、</a:t>
              </a:r>
              <a:r>
                <a:rPr lang="zh-CN" altLang="en-US" sz="5375" b="1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智能分析</a:t>
              </a:r>
              <a:r>
                <a:rPr lang="zh-CN" altLang="en-US" sz="4225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+mn-ea"/>
                </a:rPr>
                <a:t>平台建设</a:t>
              </a:r>
              <a:endParaRPr lang="zh-CN" altLang="en-US" sz="4225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+mn-ea"/>
              </a:endParaRPr>
            </a:p>
            <a:p>
              <a:pPr defTabSz="3512185"/>
              <a:endParaRPr lang="zh-CN" altLang="en-US" sz="4225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endParaRPr>
            </a:p>
            <a:p>
              <a:pPr defTabSz="3512185">
                <a:lnSpc>
                  <a:spcPct val="150000"/>
                </a:lnSpc>
              </a:pPr>
              <a:r>
                <a:rPr lang="en-US" altLang="zh-CN" sz="4225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微软雅黑" pitchFamily="34" charset="-122"/>
                  <a:sym typeface="+mn-ea"/>
                </a:rPr>
                <a:t>3</a:t>
              </a:r>
              <a:r>
                <a:rPr lang="zh-CN" altLang="en-US" sz="4225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微软雅黑" pitchFamily="34" charset="-122"/>
                  <a:sym typeface="+mn-ea"/>
                </a:rPr>
                <a:t>、</a:t>
              </a:r>
              <a:r>
                <a:rPr lang="zh-CN" altLang="en-US" sz="5375" b="1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微软雅黑" pitchFamily="34" charset="-122"/>
                  <a:sym typeface="+mn-ea"/>
                </a:rPr>
                <a:t>自动化柔性</a:t>
              </a:r>
              <a:r>
                <a:rPr lang="zh-CN" altLang="en-US" sz="4225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微软雅黑" pitchFamily="34" charset="-122"/>
                  <a:sym typeface="+mn-ea"/>
                </a:rPr>
                <a:t>生产制造</a:t>
              </a:r>
              <a:endParaRPr lang="zh-CN" altLang="en-US" sz="4225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endParaRPr>
            </a:p>
            <a:p>
              <a:pPr defTabSz="3512185">
                <a:lnSpc>
                  <a:spcPct val="150000"/>
                </a:lnSpc>
              </a:pPr>
              <a:endParaRPr lang="zh-CN" altLang="en-US" sz="4225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  <a:sym typeface="+mn-ea"/>
              </a:endParaRPr>
            </a:p>
            <a:p>
              <a:pPr defTabSz="3512185">
                <a:lnSpc>
                  <a:spcPct val="150000"/>
                </a:lnSpc>
              </a:pPr>
              <a:r>
                <a:rPr lang="en-US" altLang="zh-CN" sz="4225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微软雅黑" pitchFamily="34" charset="-122"/>
                </a:rPr>
                <a:t>4</a:t>
              </a:r>
              <a:r>
                <a:rPr lang="zh-CN" altLang="en-US" sz="4225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微软雅黑" pitchFamily="34" charset="-122"/>
                </a:rPr>
                <a:t>、更多期待</a:t>
              </a:r>
              <a:r>
                <a:rPr lang="en-US" altLang="zh-CN" sz="4225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cs typeface="微软雅黑" pitchFamily="34" charset="-122"/>
                </a:rPr>
                <a:t>.......</a:t>
              </a:r>
              <a:endParaRPr lang="en-US" altLang="zh-CN" sz="4225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endParaRPr>
            </a:p>
          </p:txBody>
        </p:sp>
      </p:grpSp>
      <p:cxnSp>
        <p:nvCxnSpPr>
          <p:cNvPr id="59" name="Straight Connector 3"/>
          <p:cNvCxnSpPr/>
          <p:nvPr/>
        </p:nvCxnSpPr>
        <p:spPr>
          <a:xfrm>
            <a:off x="34875509" y="4875585"/>
            <a:ext cx="4878" cy="13690204"/>
          </a:xfrm>
          <a:prstGeom prst="line">
            <a:avLst/>
          </a:prstGeom>
          <a:ln w="12700">
            <a:solidFill>
              <a:srgbClr val="2D639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3"/>
          <p:cNvCxnSpPr/>
          <p:nvPr/>
        </p:nvCxnSpPr>
        <p:spPr>
          <a:xfrm>
            <a:off x="9726801" y="7919478"/>
            <a:ext cx="24390" cy="10646311"/>
          </a:xfrm>
          <a:prstGeom prst="line">
            <a:avLst/>
          </a:prstGeom>
          <a:ln w="12700">
            <a:solidFill>
              <a:srgbClr val="2D639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7310" dirty="0">
                <a:solidFill>
                  <a:srgbClr val="595959"/>
                </a:solidFill>
                <a:ea typeface="方正兰亭黑_GBK" panose="02000000000000000000" pitchFamily="2" charset="-122"/>
              </a:rPr>
              <a:t>最佳实践：华为的供应链发展之路</a:t>
            </a:r>
            <a:endParaRPr lang="zh-CN" altLang="en-US" sz="7310" dirty="0">
              <a:solidFill>
                <a:srgbClr val="595959"/>
              </a:solidFill>
              <a:ea typeface="方正兰亭黑_GBK" panose="02000000000000000000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5653" y="3541691"/>
            <a:ext cx="31315827" cy="145960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058531" y="3530343"/>
            <a:ext cx="21694711" cy="1286407"/>
          </a:xfrm>
        </p:spPr>
        <p:txBody>
          <a:bodyPr>
            <a:normAutofit/>
          </a:bodyPr>
          <a:p>
            <a:r>
              <a:rPr lang="zh-CN" altLang="en-US"/>
              <a:t>数字化供应链</a:t>
            </a:r>
            <a:r>
              <a:rPr lang="zh-CN" altLang="en-US"/>
              <a:t>愿景：</a:t>
            </a:r>
            <a:r>
              <a:rPr lang="zh-CN" altLang="en-US"/>
              <a:t>可靠、透明、协同、</a:t>
            </a:r>
            <a:r>
              <a:rPr lang="zh-CN" altLang="en-US"/>
              <a:t>高效</a:t>
            </a:r>
            <a:endParaRPr lang="zh-CN" altLang="en-US"/>
          </a:p>
        </p:txBody>
      </p:sp>
      <p:grpSp>
        <p:nvGrpSpPr>
          <p:cNvPr id="6" name="组合 7"/>
          <p:cNvGrpSpPr/>
          <p:nvPr/>
        </p:nvGrpSpPr>
        <p:grpSpPr>
          <a:xfrm>
            <a:off x="11114630" y="12512438"/>
            <a:ext cx="1685247" cy="1284675"/>
            <a:chOff x="2366154" y="4571087"/>
            <a:chExt cx="1008000" cy="768405"/>
          </a:xfrm>
        </p:grpSpPr>
        <p:pic>
          <p:nvPicPr>
            <p:cNvPr id="8" name="Picture 41"/>
            <p:cNvPicPr>
              <a:picLocks noChangeAspect="1" noChangeArrowheads="1"/>
            </p:cNvPicPr>
            <p:nvPr/>
          </p:nvPicPr>
          <p:blipFill>
            <a:blip r:embed="rId1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2653380" y="4571087"/>
              <a:ext cx="432903" cy="43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TextBox 47"/>
            <p:cNvSpPr txBox="1">
              <a:spLocks noChangeArrowheads="1"/>
            </p:cNvSpPr>
            <p:nvPr/>
          </p:nvSpPr>
          <p:spPr bwMode="auto">
            <a:xfrm>
              <a:off x="2366154" y="5033362"/>
              <a:ext cx="1008000" cy="306130"/>
            </a:xfrm>
            <a:prstGeom prst="rect">
              <a:avLst/>
            </a:prstGeom>
            <a:noFill/>
            <a:ln>
              <a:noFill/>
            </a:ln>
          </p:spPr>
          <p:txBody>
            <a:bodyPr lIns="152872" tIns="76435" rIns="152872" bIns="76435" anchor="ctr">
              <a:spAutoFit/>
            </a:bodyPr>
            <a:lstStyle/>
            <a:p>
              <a:pPr algn="ctr" defTabSz="835660" hangingPunct="0"/>
              <a:r>
                <a:rPr lang="zh-CN" altLang="en-US" sz="2340" kern="0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cs typeface="Calibri" panose="020F0502020204030204"/>
                  <a:sym typeface="Calibri" panose="020F0502020204030204"/>
                </a:rPr>
                <a:t>模块暂存</a:t>
              </a:r>
              <a:endParaRPr lang="en-US" altLang="zh-CN" sz="2340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2" name="组合 10"/>
          <p:cNvGrpSpPr/>
          <p:nvPr/>
        </p:nvGrpSpPr>
        <p:grpSpPr>
          <a:xfrm>
            <a:off x="14347710" y="12592321"/>
            <a:ext cx="1805623" cy="1325903"/>
            <a:chOff x="4670232" y="4620707"/>
            <a:chExt cx="1080000" cy="793064"/>
          </a:xfrm>
        </p:grpSpPr>
        <p:sp>
          <p:nvSpPr>
            <p:cNvPr id="13" name="TextBox 47"/>
            <p:cNvSpPr txBox="1">
              <a:spLocks noChangeArrowheads="1"/>
            </p:cNvSpPr>
            <p:nvPr/>
          </p:nvSpPr>
          <p:spPr bwMode="auto">
            <a:xfrm>
              <a:off x="4670232" y="5107641"/>
              <a:ext cx="1080000" cy="306130"/>
            </a:xfrm>
            <a:prstGeom prst="rect">
              <a:avLst/>
            </a:prstGeom>
            <a:noFill/>
            <a:ln>
              <a:noFill/>
            </a:ln>
          </p:spPr>
          <p:txBody>
            <a:bodyPr lIns="152872" tIns="76435" rIns="152872" bIns="76435" anchor="ctr">
              <a:spAutoFit/>
            </a:bodyPr>
            <a:lstStyle/>
            <a:p>
              <a:pPr algn="ctr" defTabSz="835660" hangingPunct="0"/>
              <a:r>
                <a:rPr lang="zh-CN" altLang="en-US" sz="2340" kern="0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cs typeface="Calibri" panose="020F0502020204030204"/>
                  <a:sym typeface="Calibri" panose="020F0502020204030204"/>
                </a:rPr>
                <a:t>模块暂存</a:t>
              </a:r>
              <a:endParaRPr lang="en-US" altLang="zh-CN" sz="2340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14" name="Picture 41"/>
            <p:cNvPicPr>
              <a:picLocks noChangeAspect="1" noChangeArrowheads="1"/>
            </p:cNvPicPr>
            <p:nvPr/>
          </p:nvPicPr>
          <p:blipFill>
            <a:blip r:embed="rId2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4994000" y="4620707"/>
              <a:ext cx="431845" cy="432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" name="组合 8"/>
          <p:cNvGrpSpPr/>
          <p:nvPr/>
        </p:nvGrpSpPr>
        <p:grpSpPr>
          <a:xfrm>
            <a:off x="18956203" y="12610242"/>
            <a:ext cx="1745437" cy="1307984"/>
            <a:chOff x="7776340" y="4631425"/>
            <a:chExt cx="1044000" cy="782346"/>
          </a:xfrm>
        </p:grpSpPr>
        <p:sp>
          <p:nvSpPr>
            <p:cNvPr id="17" name="TextBox 47"/>
            <p:cNvSpPr txBox="1">
              <a:spLocks noChangeArrowheads="1"/>
            </p:cNvSpPr>
            <p:nvPr/>
          </p:nvSpPr>
          <p:spPr bwMode="auto">
            <a:xfrm>
              <a:off x="7776340" y="5107641"/>
              <a:ext cx="1044000" cy="306130"/>
            </a:xfrm>
            <a:prstGeom prst="rect">
              <a:avLst/>
            </a:prstGeom>
            <a:noFill/>
            <a:ln>
              <a:noFill/>
            </a:ln>
          </p:spPr>
          <p:txBody>
            <a:bodyPr lIns="152872" tIns="76435" rIns="152872" bIns="76435" anchor="ctr">
              <a:spAutoFit/>
            </a:bodyPr>
            <a:lstStyle/>
            <a:p>
              <a:pPr algn="ctr" defTabSz="835660" hangingPunct="0"/>
              <a:r>
                <a:rPr lang="zh-CN" altLang="en-US" sz="2340" kern="0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cs typeface="Calibri" panose="020F0502020204030204"/>
                  <a:sym typeface="Calibri" panose="020F0502020204030204"/>
                </a:rPr>
                <a:t>成品暂存</a:t>
              </a:r>
              <a:endParaRPr lang="en-US" altLang="zh-CN" sz="2340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28" name="Picture 41"/>
            <p:cNvPicPr>
              <a:picLocks noChangeAspect="1" noChangeArrowheads="1"/>
            </p:cNvPicPr>
            <p:nvPr/>
          </p:nvPicPr>
          <p:blipFill>
            <a:blip r:embed="rId2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8095557" y="4631425"/>
              <a:ext cx="431843" cy="432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" name="组合 6"/>
          <p:cNvGrpSpPr/>
          <p:nvPr/>
        </p:nvGrpSpPr>
        <p:grpSpPr>
          <a:xfrm>
            <a:off x="9633898" y="12557404"/>
            <a:ext cx="1839933" cy="1239711"/>
            <a:chOff x="1359458" y="4597981"/>
            <a:chExt cx="1100523" cy="741510"/>
          </a:xfrm>
        </p:grpSpPr>
        <p:sp>
          <p:nvSpPr>
            <p:cNvPr id="31" name="TextBox 47"/>
            <p:cNvSpPr txBox="1">
              <a:spLocks noChangeArrowheads="1"/>
            </p:cNvSpPr>
            <p:nvPr/>
          </p:nvSpPr>
          <p:spPr bwMode="auto">
            <a:xfrm>
              <a:off x="1359458" y="5033361"/>
              <a:ext cx="1100523" cy="306130"/>
            </a:xfrm>
            <a:prstGeom prst="rect">
              <a:avLst/>
            </a:prstGeom>
            <a:noFill/>
            <a:ln>
              <a:noFill/>
            </a:ln>
          </p:spPr>
          <p:txBody>
            <a:bodyPr lIns="152872" tIns="76435" rIns="152872" bIns="76435" anchor="ctr">
              <a:spAutoFit/>
            </a:bodyPr>
            <a:lstStyle/>
            <a:p>
              <a:pPr algn="ctr" defTabSz="835660" hangingPunct="0"/>
              <a:r>
                <a:rPr lang="zh-CN" altLang="en-US" sz="2340" kern="0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cs typeface="Calibri" panose="020F0502020204030204"/>
                  <a:sym typeface="Calibri" panose="020F0502020204030204"/>
                </a:rPr>
                <a:t>模块制造</a:t>
              </a:r>
              <a:endParaRPr lang="zh-CN" altLang="en-US" sz="2340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endParaRPr>
            </a:p>
          </p:txBody>
        </p:sp>
        <p:pic>
          <p:nvPicPr>
            <p:cNvPr id="32" name="Picture 38"/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1710453" y="4597981"/>
              <a:ext cx="431845" cy="432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" name="圆角矩形 513"/>
          <p:cNvSpPr/>
          <p:nvPr/>
        </p:nvSpPr>
        <p:spPr>
          <a:xfrm>
            <a:off x="15876049" y="6324028"/>
            <a:ext cx="2915590" cy="915402"/>
          </a:xfrm>
          <a:prstGeom prst="roundRect">
            <a:avLst/>
          </a:prstGeom>
          <a:solidFill>
            <a:srgbClr val="4F81BD">
              <a:alpha val="7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52872" tIns="76435" rIns="152872" bIns="76435" anchor="ctr"/>
          <a:lstStyle/>
          <a:p>
            <a:pPr algn="ctr" defTabSz="696595" hangingPunct="0"/>
            <a:r>
              <a:rPr lang="zh-CN" altLang="en-US" sz="2515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数字化</a:t>
            </a:r>
            <a:endParaRPr lang="en-US" altLang="zh-CN" sz="2515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Calibri" panose="020F0502020204030204"/>
            </a:endParaRPr>
          </a:p>
          <a:p>
            <a:pPr algn="ctr" defTabSz="696595" hangingPunct="0"/>
            <a:r>
              <a:rPr lang="zh-CN" altLang="en-US" sz="2515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制造平台</a:t>
            </a:r>
            <a:endParaRPr lang="en-US" altLang="zh-CN" sz="2515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4" name="圆角矩形 513"/>
          <p:cNvSpPr/>
          <p:nvPr/>
        </p:nvSpPr>
        <p:spPr>
          <a:xfrm>
            <a:off x="28582086" y="6673267"/>
            <a:ext cx="1865810" cy="915402"/>
          </a:xfrm>
          <a:prstGeom prst="roundRect">
            <a:avLst/>
          </a:prstGeom>
          <a:solidFill>
            <a:srgbClr val="92D050">
              <a:alpha val="71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52872" tIns="76435" rIns="152872" bIns="76435" anchor="ctr"/>
          <a:lstStyle/>
          <a:p>
            <a:pPr algn="ctr" defTabSz="696595" hangingPunct="0"/>
            <a:r>
              <a:rPr lang="zh-CN" altLang="en-US" sz="2515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客户</a:t>
            </a:r>
            <a:endParaRPr lang="en-US" altLang="zh-CN" sz="2515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35" name="直接箭头连接符 84"/>
          <p:cNvCxnSpPr/>
          <p:nvPr/>
        </p:nvCxnSpPr>
        <p:spPr>
          <a:xfrm flipH="1">
            <a:off x="19081160" y="7044063"/>
            <a:ext cx="3009373" cy="0"/>
          </a:xfrm>
          <a:prstGeom prst="straightConnector1">
            <a:avLst/>
          </a:prstGeom>
          <a:ln w="127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87"/>
          <p:cNvCxnSpPr/>
          <p:nvPr/>
        </p:nvCxnSpPr>
        <p:spPr>
          <a:xfrm>
            <a:off x="16818992" y="9966999"/>
            <a:ext cx="0" cy="601876"/>
          </a:xfrm>
          <a:prstGeom prst="straightConnector1">
            <a:avLst/>
          </a:prstGeom>
          <a:ln w="127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106"/>
          <p:cNvCxnSpPr/>
          <p:nvPr/>
        </p:nvCxnSpPr>
        <p:spPr>
          <a:xfrm flipH="1">
            <a:off x="12573741" y="7032914"/>
            <a:ext cx="3189934" cy="0"/>
          </a:xfrm>
          <a:prstGeom prst="straightConnector1">
            <a:avLst/>
          </a:prstGeom>
          <a:ln w="127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107"/>
          <p:cNvCxnSpPr/>
          <p:nvPr/>
        </p:nvCxnSpPr>
        <p:spPr>
          <a:xfrm>
            <a:off x="12573741" y="7266528"/>
            <a:ext cx="3189934" cy="0"/>
          </a:xfrm>
          <a:prstGeom prst="straightConnector1">
            <a:avLst/>
          </a:prstGeom>
          <a:ln w="127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108"/>
          <p:cNvSpPr/>
          <p:nvPr/>
        </p:nvSpPr>
        <p:spPr>
          <a:xfrm>
            <a:off x="12618434" y="7459672"/>
            <a:ext cx="2936821" cy="490090"/>
          </a:xfrm>
          <a:prstGeom prst="rect">
            <a:avLst/>
          </a:prstGeom>
          <a:solidFill>
            <a:sysClr val="window" lastClr="FFFFFF">
              <a:lumMod val="50000"/>
              <a:alpha val="71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52872" tIns="76435" rIns="152872" bIns="76435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595" hangingPunct="0"/>
            <a:r>
              <a:rPr lang="zh-CN" altLang="en-US" sz="2010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实时在线确认交期</a:t>
            </a:r>
            <a:endParaRPr lang="en-US" altLang="zh-CN" sz="2010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50" name="直接箭头连接符 114"/>
          <p:cNvCxnSpPr/>
          <p:nvPr/>
        </p:nvCxnSpPr>
        <p:spPr>
          <a:xfrm>
            <a:off x="19081160" y="7277678"/>
            <a:ext cx="3009373" cy="0"/>
          </a:xfrm>
          <a:prstGeom prst="straightConnector1">
            <a:avLst/>
          </a:prstGeom>
          <a:ln w="127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115"/>
          <p:cNvSpPr/>
          <p:nvPr/>
        </p:nvSpPr>
        <p:spPr>
          <a:xfrm>
            <a:off x="19109776" y="7458733"/>
            <a:ext cx="2936821" cy="500266"/>
          </a:xfrm>
          <a:prstGeom prst="rect">
            <a:avLst/>
          </a:prstGeom>
          <a:solidFill>
            <a:sysClr val="window" lastClr="FFFFFF">
              <a:lumMod val="50000"/>
              <a:alpha val="71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52872" tIns="76435" rIns="152872" bIns="76435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595" hangingPunct="0"/>
            <a:r>
              <a:rPr lang="zh-CN" altLang="en-US" sz="2010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实时在线确认交期</a:t>
            </a:r>
            <a:endParaRPr lang="en-US" altLang="zh-CN" sz="2010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52" name="直接箭头连接符 116"/>
          <p:cNvCxnSpPr/>
          <p:nvPr/>
        </p:nvCxnSpPr>
        <p:spPr>
          <a:xfrm>
            <a:off x="13248742" y="13202092"/>
            <a:ext cx="911496" cy="0"/>
          </a:xfrm>
          <a:prstGeom prst="straightConnector1">
            <a:avLst/>
          </a:prstGeom>
          <a:ln w="127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117"/>
          <p:cNvCxnSpPr/>
          <p:nvPr/>
        </p:nvCxnSpPr>
        <p:spPr>
          <a:xfrm>
            <a:off x="21619450" y="13182580"/>
            <a:ext cx="1194422" cy="0"/>
          </a:xfrm>
          <a:prstGeom prst="straightConnector1">
            <a:avLst/>
          </a:prstGeom>
          <a:ln w="127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118"/>
          <p:cNvSpPr/>
          <p:nvPr/>
        </p:nvSpPr>
        <p:spPr>
          <a:xfrm>
            <a:off x="25564897" y="12427294"/>
            <a:ext cx="2671673" cy="574728"/>
          </a:xfrm>
          <a:prstGeom prst="rect">
            <a:avLst/>
          </a:prstGeom>
          <a:solidFill>
            <a:sysClr val="window" lastClr="FFFFFF">
              <a:lumMod val="50000"/>
              <a:alpha val="71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52872" tIns="76435" rIns="152872" bIns="76435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595" hangingPunct="0"/>
            <a:r>
              <a:rPr lang="zh-CN" altLang="en-US" sz="2010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成品智慧物流</a:t>
            </a:r>
            <a:endParaRPr lang="en-US" altLang="zh-CN" sz="2010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5" name="矩形 119"/>
          <p:cNvSpPr/>
          <p:nvPr/>
        </p:nvSpPr>
        <p:spPr>
          <a:xfrm>
            <a:off x="12656897" y="11016294"/>
            <a:ext cx="1504687" cy="902811"/>
          </a:xfrm>
          <a:prstGeom prst="rect">
            <a:avLst/>
          </a:prstGeom>
          <a:solidFill>
            <a:sysClr val="window" lastClr="FFFFFF">
              <a:lumMod val="50000"/>
              <a:alpha val="71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52872" tIns="76435" rIns="152872" bIns="76435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595" hangingPunct="0"/>
            <a:r>
              <a:rPr lang="zh-CN" altLang="en-US" sz="2340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模块</a:t>
            </a:r>
            <a:endParaRPr lang="en-US" altLang="zh-CN" sz="2340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Calibri" panose="020F0502020204030204"/>
            </a:endParaRPr>
          </a:p>
          <a:p>
            <a:pPr algn="ctr" defTabSz="696595" hangingPunct="0"/>
            <a:r>
              <a:rPr lang="zh-CN" altLang="en-US" sz="2340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智慧物流</a:t>
            </a:r>
            <a:endParaRPr lang="en-US" altLang="zh-CN" sz="2340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56" name="组合 9"/>
          <p:cNvGrpSpPr/>
          <p:nvPr/>
        </p:nvGrpSpPr>
        <p:grpSpPr>
          <a:xfrm>
            <a:off x="15973677" y="12610234"/>
            <a:ext cx="3009373" cy="1314172"/>
            <a:chOff x="5777246" y="4631425"/>
            <a:chExt cx="1800000" cy="786048"/>
          </a:xfrm>
        </p:grpSpPr>
        <p:pic>
          <p:nvPicPr>
            <p:cNvPr id="57" name="Picture 38"/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6471113" y="4631425"/>
              <a:ext cx="432903" cy="43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" name="矩形 124"/>
            <p:cNvSpPr/>
            <p:nvPr/>
          </p:nvSpPr>
          <p:spPr>
            <a:xfrm>
              <a:off x="5777246" y="5110486"/>
              <a:ext cx="1800000" cy="306987"/>
            </a:xfrm>
            <a:prstGeom prst="rect">
              <a:avLst/>
            </a:prstGeom>
            <a:solidFill>
              <a:sysClr val="window" lastClr="FFFFFF">
                <a:lumMod val="50000"/>
                <a:alpha val="71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52872" tIns="76435" rIns="152872" bIns="76435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96595" hangingPunct="0"/>
              <a:r>
                <a:rPr lang="zh-CN" altLang="en-US" sz="2340" kern="0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cs typeface="Calibri" panose="020F0502020204030204"/>
                  <a:sym typeface="Calibri" panose="020F0502020204030204"/>
                </a:rPr>
                <a:t>数字化制造执行系统</a:t>
              </a:r>
              <a:endParaRPr lang="en-US" altLang="zh-CN" sz="2340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59" name="矩形 125"/>
          <p:cNvSpPr/>
          <p:nvPr/>
        </p:nvSpPr>
        <p:spPr>
          <a:xfrm>
            <a:off x="4899961" y="14086203"/>
            <a:ext cx="25548565" cy="403276"/>
          </a:xfrm>
          <a:prstGeom prst="rect">
            <a:avLst/>
          </a:prstGeom>
          <a:solidFill>
            <a:sysClr val="window" lastClr="FFFFFF">
              <a:lumMod val="50000"/>
              <a:alpha val="71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52872" tIns="76435" rIns="152872" bIns="76435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595" hangingPunct="0"/>
            <a:r>
              <a:rPr lang="zh-CN" altLang="en-US" sz="2680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完善的基础数据管理</a:t>
            </a:r>
            <a:r>
              <a:rPr lang="en-US" altLang="zh-CN" sz="2680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+</a:t>
            </a:r>
            <a:r>
              <a:rPr lang="zh-CN" altLang="en-US" sz="2680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统一的工业管理逻辑</a:t>
            </a:r>
            <a:r>
              <a:rPr lang="en-US" altLang="zh-CN" sz="2680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+</a:t>
            </a:r>
            <a:r>
              <a:rPr lang="zh-CN" altLang="en-US" sz="2680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供应链全过程数字化上线</a:t>
            </a:r>
            <a:endParaRPr lang="zh-CN" altLang="en-US" sz="2680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" name="矩形 126"/>
          <p:cNvSpPr/>
          <p:nvPr/>
        </p:nvSpPr>
        <p:spPr>
          <a:xfrm>
            <a:off x="4895806" y="14665779"/>
            <a:ext cx="25553369" cy="400657"/>
          </a:xfrm>
          <a:prstGeom prst="rect">
            <a:avLst/>
          </a:prstGeom>
          <a:solidFill>
            <a:sysClr val="window" lastClr="FFFFFF">
              <a:lumMod val="50000"/>
              <a:alpha val="71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52872" tIns="76435" rIns="152872" bIns="76435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595" hangingPunct="0"/>
            <a:r>
              <a:rPr lang="zh-CN" altLang="en-US" sz="2680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“互联</a:t>
            </a:r>
            <a:r>
              <a:rPr lang="en-US" altLang="zh-CN" sz="2680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-</a:t>
            </a:r>
            <a:r>
              <a:rPr lang="zh-CN" altLang="en-US" sz="2680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互通</a:t>
            </a:r>
            <a:r>
              <a:rPr lang="en-US" altLang="zh-CN" sz="2680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-</a:t>
            </a:r>
            <a:r>
              <a:rPr lang="zh-CN" altLang="en-US" sz="2680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互动”</a:t>
            </a:r>
            <a:r>
              <a:rPr lang="en-US" altLang="zh-CN" sz="2680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-</a:t>
            </a:r>
            <a:r>
              <a:rPr lang="zh-CN" altLang="en-US" sz="2680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精益数字化改进</a:t>
            </a:r>
            <a:endParaRPr lang="zh-CN" altLang="en-US" sz="2680" kern="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1" name="矩形 129"/>
          <p:cNvSpPr/>
          <p:nvPr/>
        </p:nvSpPr>
        <p:spPr>
          <a:xfrm>
            <a:off x="4895806" y="15259315"/>
            <a:ext cx="25553369" cy="447794"/>
          </a:xfrm>
          <a:prstGeom prst="rect">
            <a:avLst/>
          </a:prstGeom>
          <a:solidFill>
            <a:srgbClr val="7FA4C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52872" tIns="76435" rIns="152872" bIns="76435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595" hangingPunct="0"/>
            <a:r>
              <a:rPr lang="zh-CN" altLang="en-US" sz="268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供应链端到端数字化协同优化</a:t>
            </a:r>
            <a:endParaRPr lang="zh-CN" altLang="en-US" sz="2680" b="1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2" name="矩形 1"/>
          <p:cNvSpPr/>
          <p:nvPr/>
        </p:nvSpPr>
        <p:spPr>
          <a:xfrm>
            <a:off x="14347710" y="12323482"/>
            <a:ext cx="6353929" cy="1670911"/>
          </a:xfrm>
          <a:prstGeom prst="rect">
            <a:avLst/>
          </a:prstGeom>
          <a:noFill/>
          <a:ln w="12700" cap="flat">
            <a:solidFill>
              <a:srgbClr val="00B0F0"/>
            </a:solidFill>
            <a:prstDash val="dash"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rgbClr val="000000"/>
          </a:fontRef>
        </p:style>
        <p:txBody>
          <a:bodyPr rot="0" spcFirstLastPara="1" vertOverflow="overflow" horzOverflow="overflow" vert="horz" wrap="square" lIns="84931" tIns="84931" rIns="84931" bIns="84931" numCol="1" spcCol="38100" rtlCol="0" anchor="ctr">
            <a:noAutofit/>
          </a:bodyPr>
          <a:lstStyle/>
          <a:p>
            <a:pPr algn="ctr" defTabSz="628650" latinLnBrk="1" hangingPunct="0"/>
            <a:endParaRPr lang="zh-CN" altLang="en-US" sz="5345" kern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Helvetica Light"/>
            </a:endParaRPr>
          </a:p>
        </p:txBody>
      </p:sp>
      <p:sp>
        <p:nvSpPr>
          <p:cNvPr id="63" name="圆角矩形 513"/>
          <p:cNvSpPr/>
          <p:nvPr/>
        </p:nvSpPr>
        <p:spPr>
          <a:xfrm>
            <a:off x="9043999" y="6309955"/>
            <a:ext cx="2912050" cy="842626"/>
          </a:xfrm>
          <a:prstGeom prst="roundRect">
            <a:avLst/>
          </a:prstGeom>
          <a:solidFill>
            <a:srgbClr val="4F81BD">
              <a:alpha val="7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52872" tIns="76435" rIns="152872" bIns="76435" anchor="ctr"/>
          <a:lstStyle/>
          <a:p>
            <a:pPr algn="ctr" defTabSz="696595" hangingPunct="0"/>
            <a:r>
              <a:rPr lang="zh-CN" altLang="en-US" sz="2515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数字化</a:t>
            </a:r>
            <a:endParaRPr lang="en-US" altLang="zh-CN" sz="2515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Calibri" panose="020F0502020204030204"/>
            </a:endParaRPr>
          </a:p>
          <a:p>
            <a:pPr algn="ctr" defTabSz="696595" hangingPunct="0"/>
            <a:r>
              <a:rPr lang="zh-CN" altLang="en-US" sz="2515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供应平台</a:t>
            </a:r>
            <a:endParaRPr lang="zh-CN" altLang="en-US" sz="2515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4" name="矩形 135"/>
          <p:cNvSpPr/>
          <p:nvPr/>
        </p:nvSpPr>
        <p:spPr>
          <a:xfrm>
            <a:off x="16133047" y="12011437"/>
            <a:ext cx="2407497" cy="555718"/>
          </a:xfrm>
          <a:prstGeom prst="rect">
            <a:avLst/>
          </a:prstGeom>
          <a:solidFill>
            <a:sysClr val="window" lastClr="FFFFFF">
              <a:lumMod val="50000"/>
              <a:alpha val="71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52872" tIns="76435" rIns="152872" bIns="76435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595" hangingPunct="0"/>
            <a:r>
              <a:rPr lang="zh-CN" altLang="en-US" sz="2680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制造单元</a:t>
            </a:r>
            <a:endParaRPr lang="zh-CN" altLang="en-US" sz="2680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65" name="组合 28684"/>
          <p:cNvGrpSpPr/>
          <p:nvPr/>
        </p:nvGrpSpPr>
        <p:grpSpPr>
          <a:xfrm>
            <a:off x="28653407" y="12100001"/>
            <a:ext cx="1723170" cy="1766529"/>
            <a:chOff x="10525872" y="4459906"/>
            <a:chExt cx="1030682" cy="1056617"/>
          </a:xfrm>
        </p:grpSpPr>
        <p:pic>
          <p:nvPicPr>
            <p:cNvPr id="66" name="图片 81"/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20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02591" y="4459906"/>
              <a:ext cx="677245" cy="647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" name="TextBox 47"/>
            <p:cNvSpPr txBox="1">
              <a:spLocks noChangeArrowheads="1"/>
            </p:cNvSpPr>
            <p:nvPr/>
          </p:nvSpPr>
          <p:spPr bwMode="auto">
            <a:xfrm>
              <a:off x="10525872" y="5178869"/>
              <a:ext cx="1030682" cy="337654"/>
            </a:xfrm>
            <a:prstGeom prst="rect">
              <a:avLst/>
            </a:prstGeom>
            <a:noFill/>
            <a:ln>
              <a:noFill/>
            </a:ln>
          </p:spPr>
          <p:txBody>
            <a:bodyPr lIns="152872" tIns="76435" rIns="152872" bIns="76435" anchor="ctr">
              <a:spAutoFit/>
            </a:bodyPr>
            <a:lstStyle/>
            <a:p>
              <a:pPr algn="ctr" defTabSz="835660" hangingPunct="0"/>
              <a:r>
                <a:rPr lang="zh-CN" altLang="en-US" sz="2680" ker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cs typeface="Calibri" panose="020F0502020204030204"/>
                  <a:sym typeface="Calibri" panose="020F0502020204030204"/>
                </a:rPr>
                <a:t>客户</a:t>
              </a:r>
              <a:endParaRPr lang="zh-CN" altLang="en-US" sz="2680" ker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68" name="矩形 2"/>
          <p:cNvSpPr/>
          <p:nvPr/>
        </p:nvSpPr>
        <p:spPr>
          <a:xfrm>
            <a:off x="12618434" y="6379619"/>
            <a:ext cx="2936821" cy="450978"/>
          </a:xfrm>
          <a:prstGeom prst="rect">
            <a:avLst/>
          </a:prstGeom>
          <a:solidFill>
            <a:sysClr val="window" lastClr="FFFFFF">
              <a:lumMod val="50000"/>
              <a:alpha val="71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52872" tIns="76435" rIns="152872" bIns="76435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595" hangingPunct="0"/>
            <a:r>
              <a:rPr lang="zh-CN" altLang="en-US" sz="2010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需求发布与实时更新</a:t>
            </a:r>
            <a:endParaRPr lang="zh-CN" altLang="en-US" sz="2010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9" name="矩形 3"/>
          <p:cNvSpPr/>
          <p:nvPr/>
        </p:nvSpPr>
        <p:spPr>
          <a:xfrm>
            <a:off x="19081160" y="6408560"/>
            <a:ext cx="2915590" cy="433187"/>
          </a:xfrm>
          <a:prstGeom prst="rect">
            <a:avLst/>
          </a:prstGeom>
          <a:solidFill>
            <a:sysClr val="window" lastClr="FFFFFF">
              <a:lumMod val="50000"/>
              <a:alpha val="71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52872" tIns="76435" rIns="152872" bIns="76435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595" hangingPunct="0"/>
            <a:r>
              <a:rPr lang="zh-CN" altLang="en-US" sz="2010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需求发布与实时更新</a:t>
            </a:r>
            <a:endParaRPr lang="zh-CN" altLang="en-US" sz="2010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0" name="圆角矩形 513"/>
          <p:cNvSpPr/>
          <p:nvPr/>
        </p:nvSpPr>
        <p:spPr>
          <a:xfrm>
            <a:off x="16133047" y="10619846"/>
            <a:ext cx="2407497" cy="740305"/>
          </a:xfrm>
          <a:prstGeom prst="roundRect">
            <a:avLst/>
          </a:prstGeom>
          <a:solidFill>
            <a:schemeClr val="bg1">
              <a:lumMod val="65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52872" tIns="76435" rIns="152872" bIns="76435" anchor="ctr"/>
          <a:lstStyle/>
          <a:p>
            <a:pPr algn="ctr" defTabSz="696595" hangingPunct="0"/>
            <a:r>
              <a:rPr lang="zh-CN" altLang="en-US" sz="2515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工厂制造</a:t>
            </a:r>
            <a:endParaRPr lang="zh-CN" altLang="en-US" sz="2515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71" name="直接箭头连接符 57"/>
          <p:cNvCxnSpPr/>
          <p:nvPr/>
        </p:nvCxnSpPr>
        <p:spPr>
          <a:xfrm>
            <a:off x="16818992" y="11429642"/>
            <a:ext cx="0" cy="541687"/>
          </a:xfrm>
          <a:prstGeom prst="straightConnector1">
            <a:avLst/>
          </a:prstGeom>
          <a:ln w="127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矩形 59"/>
          <p:cNvSpPr/>
          <p:nvPr/>
        </p:nvSpPr>
        <p:spPr>
          <a:xfrm>
            <a:off x="8335586" y="12286804"/>
            <a:ext cx="4539553" cy="1648934"/>
          </a:xfrm>
          <a:prstGeom prst="rect">
            <a:avLst/>
          </a:prstGeom>
          <a:noFill/>
          <a:ln w="12700" cap="flat">
            <a:solidFill>
              <a:srgbClr val="00B0F0"/>
            </a:solidFill>
            <a:prstDash val="dash"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rgbClr val="000000"/>
          </a:fontRef>
        </p:style>
        <p:txBody>
          <a:bodyPr rot="0" spcFirstLastPara="1" vertOverflow="overflow" horzOverflow="overflow" vert="horz" wrap="square" lIns="84931" tIns="84931" rIns="84931" bIns="84931" numCol="1" spcCol="38100" rtlCol="0" anchor="ctr">
            <a:noAutofit/>
          </a:bodyPr>
          <a:lstStyle/>
          <a:p>
            <a:pPr algn="ctr" defTabSz="628650" latinLnBrk="1" hangingPunct="0"/>
            <a:endParaRPr lang="zh-CN" altLang="en-US" sz="5345" kern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Helvetica Light"/>
            </a:endParaRPr>
          </a:p>
        </p:txBody>
      </p:sp>
      <p:sp>
        <p:nvSpPr>
          <p:cNvPr id="73" name="圆角矩形 64"/>
          <p:cNvSpPr/>
          <p:nvPr/>
        </p:nvSpPr>
        <p:spPr>
          <a:xfrm>
            <a:off x="9306849" y="10139211"/>
            <a:ext cx="2407497" cy="740305"/>
          </a:xfrm>
          <a:prstGeom prst="roundRect">
            <a:avLst/>
          </a:prstGeom>
          <a:solidFill>
            <a:schemeClr val="bg1">
              <a:lumMod val="65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52872" tIns="76435" rIns="152872" bIns="76435" anchor="ctr"/>
          <a:lstStyle/>
          <a:p>
            <a:pPr algn="ctr" defTabSz="696595" hangingPunct="0"/>
            <a:r>
              <a:rPr lang="zh-CN" altLang="en-US" sz="2515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供应模块工厂</a:t>
            </a:r>
            <a:endParaRPr lang="zh-CN" altLang="en-US" sz="2515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74" name="直接箭头连接符 66"/>
          <p:cNvCxnSpPr/>
          <p:nvPr/>
        </p:nvCxnSpPr>
        <p:spPr>
          <a:xfrm>
            <a:off x="10019988" y="7956588"/>
            <a:ext cx="5290" cy="2046373"/>
          </a:xfrm>
          <a:prstGeom prst="straightConnector1">
            <a:avLst/>
          </a:prstGeom>
          <a:ln w="127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69"/>
          <p:cNvCxnSpPr/>
          <p:nvPr/>
        </p:nvCxnSpPr>
        <p:spPr>
          <a:xfrm>
            <a:off x="10025278" y="10838588"/>
            <a:ext cx="0" cy="1324126"/>
          </a:xfrm>
          <a:prstGeom prst="straightConnector1">
            <a:avLst/>
          </a:prstGeom>
          <a:ln w="127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矩形 74"/>
          <p:cNvSpPr/>
          <p:nvPr/>
        </p:nvSpPr>
        <p:spPr>
          <a:xfrm>
            <a:off x="9301562" y="7188758"/>
            <a:ext cx="2407497" cy="662061"/>
          </a:xfrm>
          <a:prstGeom prst="rect">
            <a:avLst/>
          </a:prstGeom>
          <a:solidFill>
            <a:sysClr val="window" lastClr="FFFFFF">
              <a:lumMod val="50000"/>
              <a:alpha val="71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52872" tIns="76435" rIns="152872" bIns="76435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595" hangingPunct="0"/>
            <a:r>
              <a:rPr lang="zh-CN" altLang="en-US" sz="2010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模块生产计划</a:t>
            </a:r>
            <a:endParaRPr lang="en-US" altLang="zh-CN" sz="2010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77" name="直接箭头连接符 80"/>
          <p:cNvCxnSpPr/>
          <p:nvPr/>
        </p:nvCxnSpPr>
        <p:spPr>
          <a:xfrm flipV="1">
            <a:off x="17856188" y="9966999"/>
            <a:ext cx="0" cy="601876"/>
          </a:xfrm>
          <a:prstGeom prst="straightConnector1">
            <a:avLst/>
          </a:prstGeom>
          <a:ln w="12700">
            <a:solidFill>
              <a:srgbClr val="92D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85"/>
          <p:cNvCxnSpPr/>
          <p:nvPr/>
        </p:nvCxnSpPr>
        <p:spPr>
          <a:xfrm flipV="1">
            <a:off x="17904378" y="11384887"/>
            <a:ext cx="0" cy="541687"/>
          </a:xfrm>
          <a:prstGeom prst="straightConnector1">
            <a:avLst/>
          </a:prstGeom>
          <a:ln w="12700">
            <a:solidFill>
              <a:srgbClr val="92D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91"/>
          <p:cNvCxnSpPr/>
          <p:nvPr/>
        </p:nvCxnSpPr>
        <p:spPr>
          <a:xfrm flipV="1">
            <a:off x="10973377" y="7980378"/>
            <a:ext cx="0" cy="2046373"/>
          </a:xfrm>
          <a:prstGeom prst="straightConnector1">
            <a:avLst/>
          </a:prstGeom>
          <a:ln w="12700">
            <a:solidFill>
              <a:srgbClr val="92D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92"/>
          <p:cNvCxnSpPr/>
          <p:nvPr/>
        </p:nvCxnSpPr>
        <p:spPr>
          <a:xfrm flipV="1">
            <a:off x="10973377" y="10871456"/>
            <a:ext cx="0" cy="1324126"/>
          </a:xfrm>
          <a:prstGeom prst="straightConnector1">
            <a:avLst/>
          </a:prstGeom>
          <a:ln w="12700">
            <a:solidFill>
              <a:srgbClr val="92D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28672"/>
          <p:cNvSpPr txBox="1"/>
          <p:nvPr/>
        </p:nvSpPr>
        <p:spPr>
          <a:xfrm>
            <a:off x="8964074" y="8780306"/>
            <a:ext cx="885790" cy="7867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rgbClr val="000000"/>
          </a:fontRef>
        </p:style>
        <p:txBody>
          <a:bodyPr rot="0" spcFirstLastPara="1" vertOverflow="overflow" horzOverflow="overflow" vert="horz" wrap="square" lIns="84931" tIns="84931" rIns="84931" bIns="84931" numCol="1" spcCol="38100" rtlCol="0" anchor="ctr">
            <a:spAutoFit/>
          </a:bodyPr>
          <a:lstStyle/>
          <a:p>
            <a:pPr algn="ctr" defTabSz="628650" latinLnBrk="1" hangingPunct="0"/>
            <a:r>
              <a:rPr lang="zh-CN" altLang="en-US" sz="201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Helvetica Light"/>
              </a:rPr>
              <a:t>指标</a:t>
            </a:r>
            <a:endParaRPr lang="en-US" altLang="zh-CN" sz="2010" b="1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Helvetica Light"/>
            </a:endParaRPr>
          </a:p>
          <a:p>
            <a:pPr algn="ctr" defTabSz="628650" latinLnBrk="1" hangingPunct="0"/>
            <a:r>
              <a:rPr lang="zh-CN" altLang="en-US" sz="201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分解</a:t>
            </a:r>
            <a:endParaRPr lang="zh-CN" altLang="en-US" sz="2010" b="1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Helvetica Light"/>
            </a:endParaRPr>
          </a:p>
        </p:txBody>
      </p:sp>
      <p:sp>
        <p:nvSpPr>
          <p:cNvPr id="82" name="TextBox 94"/>
          <p:cNvSpPr txBox="1"/>
          <p:nvPr/>
        </p:nvSpPr>
        <p:spPr>
          <a:xfrm>
            <a:off x="11151409" y="8756753"/>
            <a:ext cx="885790" cy="7867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rgbClr val="000000"/>
          </a:fontRef>
        </p:style>
        <p:txBody>
          <a:bodyPr rot="0" spcFirstLastPara="1" vertOverflow="overflow" horzOverflow="overflow" vert="horz" wrap="square" lIns="84931" tIns="84931" rIns="84931" bIns="84931" numCol="1" spcCol="38100" rtlCol="0" anchor="ctr">
            <a:spAutoFit/>
          </a:bodyPr>
          <a:lstStyle/>
          <a:p>
            <a:pPr algn="ctr" defTabSz="628650" latinLnBrk="1" hangingPunct="0"/>
            <a:r>
              <a:rPr lang="zh-CN" altLang="en-US" sz="201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数据</a:t>
            </a:r>
            <a:endParaRPr lang="en-US" altLang="zh-CN" sz="2010" b="1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Calibri" panose="020F0502020204030204"/>
            </a:endParaRPr>
          </a:p>
          <a:p>
            <a:pPr algn="ctr" defTabSz="628650" latinLnBrk="1" hangingPunct="0"/>
            <a:r>
              <a:rPr lang="zh-CN" altLang="en-US" sz="201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Helvetica Light"/>
              </a:rPr>
              <a:t>采集</a:t>
            </a:r>
            <a:endParaRPr lang="en-US" altLang="zh-CN" sz="2010" b="1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Helvetica Light"/>
            </a:endParaRPr>
          </a:p>
        </p:txBody>
      </p:sp>
      <p:sp>
        <p:nvSpPr>
          <p:cNvPr id="83" name="TextBox 95"/>
          <p:cNvSpPr txBox="1"/>
          <p:nvPr/>
        </p:nvSpPr>
        <p:spPr>
          <a:xfrm>
            <a:off x="8964074" y="11087953"/>
            <a:ext cx="885790" cy="7867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rgbClr val="000000"/>
          </a:fontRef>
        </p:style>
        <p:txBody>
          <a:bodyPr rot="0" spcFirstLastPara="1" vertOverflow="overflow" horzOverflow="overflow" vert="horz" wrap="square" lIns="84931" tIns="84931" rIns="84931" bIns="84931" numCol="1" spcCol="38100" rtlCol="0" anchor="ctr">
            <a:spAutoFit/>
          </a:bodyPr>
          <a:lstStyle/>
          <a:p>
            <a:pPr algn="ctr" defTabSz="628650" latinLnBrk="1" hangingPunct="0"/>
            <a:r>
              <a:rPr lang="zh-CN" altLang="en-US" sz="201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Helvetica Light"/>
              </a:rPr>
              <a:t>指标</a:t>
            </a:r>
            <a:endParaRPr lang="en-US" altLang="zh-CN" sz="2010" b="1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Helvetica Light"/>
            </a:endParaRPr>
          </a:p>
          <a:p>
            <a:pPr algn="ctr" defTabSz="628650" latinLnBrk="1" hangingPunct="0"/>
            <a:r>
              <a:rPr lang="zh-CN" altLang="en-US" sz="201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分解</a:t>
            </a:r>
            <a:endParaRPr lang="zh-CN" altLang="en-US" sz="2010" b="1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Helvetica Light"/>
            </a:endParaRPr>
          </a:p>
        </p:txBody>
      </p:sp>
      <p:sp>
        <p:nvSpPr>
          <p:cNvPr id="84" name="TextBox 96"/>
          <p:cNvSpPr txBox="1"/>
          <p:nvPr/>
        </p:nvSpPr>
        <p:spPr>
          <a:xfrm>
            <a:off x="11151409" y="11064400"/>
            <a:ext cx="885790" cy="7867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rgbClr val="000000"/>
          </a:fontRef>
        </p:style>
        <p:txBody>
          <a:bodyPr rot="0" spcFirstLastPara="1" vertOverflow="overflow" horzOverflow="overflow" vert="horz" wrap="square" lIns="84931" tIns="84931" rIns="84931" bIns="84931" numCol="1" spcCol="38100" rtlCol="0" anchor="ctr">
            <a:spAutoFit/>
          </a:bodyPr>
          <a:lstStyle/>
          <a:p>
            <a:pPr algn="ctr" defTabSz="628650" latinLnBrk="1" hangingPunct="0"/>
            <a:r>
              <a:rPr lang="zh-CN" altLang="en-US" sz="201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数据</a:t>
            </a:r>
            <a:endParaRPr lang="en-US" altLang="zh-CN" sz="2010" b="1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Calibri" panose="020F0502020204030204"/>
            </a:endParaRPr>
          </a:p>
          <a:p>
            <a:pPr algn="ctr" defTabSz="628650" latinLnBrk="1" hangingPunct="0"/>
            <a:r>
              <a:rPr lang="zh-CN" altLang="en-US" sz="201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Helvetica Light"/>
              </a:rPr>
              <a:t>采集</a:t>
            </a:r>
            <a:endParaRPr lang="en-US" altLang="zh-CN" sz="2010" b="1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Helvetica Light"/>
            </a:endParaRPr>
          </a:p>
        </p:txBody>
      </p:sp>
      <p:sp>
        <p:nvSpPr>
          <p:cNvPr id="85" name="TextBox 97"/>
          <p:cNvSpPr txBox="1"/>
          <p:nvPr/>
        </p:nvSpPr>
        <p:spPr>
          <a:xfrm>
            <a:off x="15764035" y="9865685"/>
            <a:ext cx="885790" cy="7867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rgbClr val="000000"/>
          </a:fontRef>
        </p:style>
        <p:txBody>
          <a:bodyPr rot="0" spcFirstLastPara="1" vertOverflow="overflow" horzOverflow="overflow" vert="horz" wrap="square" lIns="84931" tIns="84931" rIns="84931" bIns="84931" numCol="1" spcCol="38100" rtlCol="0" anchor="ctr">
            <a:spAutoFit/>
          </a:bodyPr>
          <a:lstStyle/>
          <a:p>
            <a:pPr algn="ctr" defTabSz="628650" latinLnBrk="1" hangingPunct="0"/>
            <a:r>
              <a:rPr lang="zh-CN" altLang="en-US" sz="201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Helvetica Light"/>
              </a:rPr>
              <a:t>指标</a:t>
            </a:r>
            <a:endParaRPr lang="en-US" altLang="zh-CN" sz="2010" b="1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Helvetica Light"/>
            </a:endParaRPr>
          </a:p>
          <a:p>
            <a:pPr algn="ctr" defTabSz="628650" latinLnBrk="1" hangingPunct="0"/>
            <a:r>
              <a:rPr lang="zh-CN" altLang="en-US" sz="201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分解</a:t>
            </a:r>
            <a:endParaRPr lang="zh-CN" altLang="en-US" sz="2010" b="1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Helvetica Light"/>
            </a:endParaRPr>
          </a:p>
        </p:txBody>
      </p:sp>
      <p:sp>
        <p:nvSpPr>
          <p:cNvPr id="86" name="TextBox 98"/>
          <p:cNvSpPr txBox="1"/>
          <p:nvPr/>
        </p:nvSpPr>
        <p:spPr>
          <a:xfrm>
            <a:off x="17951370" y="9842130"/>
            <a:ext cx="885790" cy="7867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rgbClr val="000000"/>
          </a:fontRef>
        </p:style>
        <p:txBody>
          <a:bodyPr rot="0" spcFirstLastPara="1" vertOverflow="overflow" horzOverflow="overflow" vert="horz" wrap="square" lIns="84931" tIns="84931" rIns="84931" bIns="84931" numCol="1" spcCol="38100" rtlCol="0" anchor="ctr">
            <a:spAutoFit/>
          </a:bodyPr>
          <a:lstStyle/>
          <a:p>
            <a:pPr algn="ctr" defTabSz="628650" latinLnBrk="1" hangingPunct="0"/>
            <a:r>
              <a:rPr lang="zh-CN" altLang="en-US" sz="201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数据</a:t>
            </a:r>
            <a:endParaRPr lang="en-US" altLang="zh-CN" sz="2010" b="1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Calibri" panose="020F0502020204030204"/>
            </a:endParaRPr>
          </a:p>
          <a:p>
            <a:pPr algn="ctr" defTabSz="628650" latinLnBrk="1" hangingPunct="0"/>
            <a:r>
              <a:rPr lang="zh-CN" altLang="en-US" sz="201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Helvetica Light"/>
              </a:rPr>
              <a:t>采集</a:t>
            </a:r>
            <a:endParaRPr lang="en-US" altLang="zh-CN" sz="2010" b="1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Helvetica Light"/>
            </a:endParaRPr>
          </a:p>
        </p:txBody>
      </p:sp>
      <p:sp>
        <p:nvSpPr>
          <p:cNvPr id="87" name="TextBox 99"/>
          <p:cNvSpPr txBox="1"/>
          <p:nvPr/>
        </p:nvSpPr>
        <p:spPr>
          <a:xfrm>
            <a:off x="15824659" y="11315964"/>
            <a:ext cx="885790" cy="7867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rgbClr val="000000"/>
          </a:fontRef>
        </p:style>
        <p:txBody>
          <a:bodyPr rot="0" spcFirstLastPara="1" vertOverflow="overflow" horzOverflow="overflow" vert="horz" wrap="square" lIns="84931" tIns="84931" rIns="84931" bIns="84931" numCol="1" spcCol="38100" rtlCol="0" anchor="ctr">
            <a:spAutoFit/>
          </a:bodyPr>
          <a:lstStyle/>
          <a:p>
            <a:pPr algn="ctr" defTabSz="628650" latinLnBrk="1" hangingPunct="0"/>
            <a:r>
              <a:rPr lang="zh-CN" altLang="en-US" sz="201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Helvetica Light"/>
              </a:rPr>
              <a:t>指标</a:t>
            </a:r>
            <a:endParaRPr lang="en-US" altLang="zh-CN" sz="2010" b="1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Helvetica Light"/>
            </a:endParaRPr>
          </a:p>
          <a:p>
            <a:pPr algn="ctr" defTabSz="628650" latinLnBrk="1" hangingPunct="0"/>
            <a:r>
              <a:rPr lang="zh-CN" altLang="en-US" sz="201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分解</a:t>
            </a:r>
            <a:endParaRPr lang="zh-CN" altLang="en-US" sz="2010" b="1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Helvetica Light"/>
            </a:endParaRPr>
          </a:p>
        </p:txBody>
      </p:sp>
      <p:sp>
        <p:nvSpPr>
          <p:cNvPr id="88" name="TextBox 100"/>
          <p:cNvSpPr txBox="1"/>
          <p:nvPr/>
        </p:nvSpPr>
        <p:spPr>
          <a:xfrm>
            <a:off x="18011996" y="11292411"/>
            <a:ext cx="885790" cy="7867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rgbClr val="000000"/>
          </a:fontRef>
        </p:style>
        <p:txBody>
          <a:bodyPr rot="0" spcFirstLastPara="1" vertOverflow="overflow" horzOverflow="overflow" vert="horz" wrap="square" lIns="84931" tIns="84931" rIns="84931" bIns="84931" numCol="1" spcCol="38100" rtlCol="0" anchor="ctr">
            <a:spAutoFit/>
          </a:bodyPr>
          <a:lstStyle/>
          <a:p>
            <a:pPr algn="ctr" defTabSz="628650" latinLnBrk="1" hangingPunct="0"/>
            <a:r>
              <a:rPr lang="zh-CN" altLang="en-US" sz="201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数据</a:t>
            </a:r>
            <a:endParaRPr lang="en-US" altLang="zh-CN" sz="2010" b="1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Calibri" panose="020F0502020204030204"/>
            </a:endParaRPr>
          </a:p>
          <a:p>
            <a:pPr algn="ctr" defTabSz="628650" latinLnBrk="1" hangingPunct="0"/>
            <a:r>
              <a:rPr lang="zh-CN" altLang="en-US" sz="201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Helvetica Light"/>
              </a:rPr>
              <a:t>采集</a:t>
            </a:r>
            <a:endParaRPr lang="en-US" altLang="zh-CN" sz="2010" b="1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Helvetica Light"/>
            </a:endParaRPr>
          </a:p>
        </p:txBody>
      </p:sp>
      <p:grpSp>
        <p:nvGrpSpPr>
          <p:cNvPr id="89" name="组合 4"/>
          <p:cNvGrpSpPr/>
          <p:nvPr/>
        </p:nvGrpSpPr>
        <p:grpSpPr>
          <a:xfrm>
            <a:off x="8334708" y="12562612"/>
            <a:ext cx="1685247" cy="1284675"/>
            <a:chOff x="456672" y="4571087"/>
            <a:chExt cx="1008000" cy="768405"/>
          </a:xfrm>
        </p:grpSpPr>
        <p:pic>
          <p:nvPicPr>
            <p:cNvPr id="90" name="Picture 41"/>
            <p:cNvPicPr>
              <a:picLocks noChangeAspect="1" noChangeArrowheads="1"/>
            </p:cNvPicPr>
            <p:nvPr/>
          </p:nvPicPr>
          <p:blipFill>
            <a:blip r:embed="rId1" cstate="print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743898" y="4571087"/>
              <a:ext cx="432903" cy="43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" name="TextBox 47"/>
            <p:cNvSpPr txBox="1">
              <a:spLocks noChangeArrowheads="1"/>
            </p:cNvSpPr>
            <p:nvPr/>
          </p:nvSpPr>
          <p:spPr bwMode="auto">
            <a:xfrm>
              <a:off x="456672" y="5033362"/>
              <a:ext cx="1008000" cy="306130"/>
            </a:xfrm>
            <a:prstGeom prst="rect">
              <a:avLst/>
            </a:prstGeom>
            <a:noFill/>
            <a:ln>
              <a:noFill/>
            </a:ln>
          </p:spPr>
          <p:txBody>
            <a:bodyPr lIns="152872" tIns="76435" rIns="152872" bIns="76435" anchor="ctr">
              <a:spAutoFit/>
            </a:bodyPr>
            <a:lstStyle/>
            <a:p>
              <a:pPr algn="ctr" defTabSz="835660" hangingPunct="0"/>
              <a:r>
                <a:rPr lang="zh-CN" altLang="en-US" sz="2340" kern="0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  <a:cs typeface="Calibri" panose="020F0502020204030204"/>
                  <a:sym typeface="Calibri" panose="020F0502020204030204"/>
                </a:rPr>
                <a:t>原材料库</a:t>
              </a:r>
              <a:endParaRPr lang="en-US" altLang="zh-CN" sz="2340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92" name="圆角矩形 513"/>
          <p:cNvSpPr/>
          <p:nvPr/>
        </p:nvSpPr>
        <p:spPr>
          <a:xfrm>
            <a:off x="22450612" y="6530484"/>
            <a:ext cx="2915590" cy="915402"/>
          </a:xfrm>
          <a:prstGeom prst="roundRect">
            <a:avLst/>
          </a:prstGeom>
          <a:solidFill>
            <a:srgbClr val="4F81BD">
              <a:alpha val="7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52872" tIns="76435" rIns="152872" bIns="76435" anchor="ctr"/>
          <a:lstStyle/>
          <a:p>
            <a:pPr algn="ctr" defTabSz="696595" hangingPunct="0"/>
            <a:r>
              <a:rPr lang="zh-CN" altLang="en-US" sz="2515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数字化</a:t>
            </a:r>
            <a:endParaRPr lang="en-US" altLang="zh-CN" sz="2515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Calibri" panose="020F0502020204030204"/>
            </a:endParaRPr>
          </a:p>
          <a:p>
            <a:pPr algn="ctr" defTabSz="696595" hangingPunct="0"/>
            <a:r>
              <a:rPr lang="zh-CN" altLang="en-US" sz="2515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物流平台</a:t>
            </a:r>
            <a:endParaRPr lang="en-US" altLang="zh-CN" sz="2515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93" name="图片 90"/>
          <p:cNvPicPr>
            <a:picLocks noChangeAspect="1"/>
          </p:cNvPicPr>
          <p:nvPr/>
        </p:nvPicPr>
        <p:blipFill rotWithShape="1">
          <a:blip r:embed="rId7" cstate="email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56966" t="75293" r="31368" b="7737"/>
          <a:stretch>
            <a:fillRect/>
          </a:stretch>
        </p:blipFill>
        <p:spPr>
          <a:xfrm flipH="1">
            <a:off x="23006379" y="12421721"/>
            <a:ext cx="2197442" cy="1413045"/>
          </a:xfrm>
          <a:prstGeom prst="rect">
            <a:avLst/>
          </a:prstGeom>
        </p:spPr>
      </p:pic>
      <p:cxnSp>
        <p:nvCxnSpPr>
          <p:cNvPr id="94" name="直接箭头连接符 101"/>
          <p:cNvCxnSpPr/>
          <p:nvPr/>
        </p:nvCxnSpPr>
        <p:spPr>
          <a:xfrm>
            <a:off x="25388229" y="13202711"/>
            <a:ext cx="3193856" cy="0"/>
          </a:xfrm>
          <a:prstGeom prst="straightConnector1">
            <a:avLst/>
          </a:prstGeom>
          <a:ln w="127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102"/>
          <p:cNvCxnSpPr/>
          <p:nvPr/>
        </p:nvCxnSpPr>
        <p:spPr>
          <a:xfrm>
            <a:off x="23753079" y="7457885"/>
            <a:ext cx="0" cy="4935371"/>
          </a:xfrm>
          <a:prstGeom prst="straightConnector1">
            <a:avLst/>
          </a:prstGeom>
          <a:ln w="127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箭头连接符 103"/>
          <p:cNvCxnSpPr/>
          <p:nvPr/>
        </p:nvCxnSpPr>
        <p:spPr>
          <a:xfrm flipV="1">
            <a:off x="24198654" y="7478523"/>
            <a:ext cx="0" cy="4935371"/>
          </a:xfrm>
          <a:prstGeom prst="straightConnector1">
            <a:avLst/>
          </a:prstGeom>
          <a:ln w="12700">
            <a:solidFill>
              <a:srgbClr val="92D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104"/>
          <p:cNvSpPr txBox="1"/>
          <p:nvPr/>
        </p:nvSpPr>
        <p:spPr>
          <a:xfrm>
            <a:off x="22813942" y="9603460"/>
            <a:ext cx="885790" cy="7867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rgbClr val="000000"/>
          </a:fontRef>
        </p:style>
        <p:txBody>
          <a:bodyPr rot="0" spcFirstLastPara="1" vertOverflow="overflow" horzOverflow="overflow" vert="horz" wrap="square" lIns="84931" tIns="84931" rIns="84931" bIns="84931" numCol="1" spcCol="38100" rtlCol="0" anchor="ctr">
            <a:spAutoFit/>
          </a:bodyPr>
          <a:lstStyle/>
          <a:p>
            <a:pPr algn="ctr" defTabSz="628650" latinLnBrk="1" hangingPunct="0"/>
            <a:r>
              <a:rPr lang="zh-CN" altLang="en-US" sz="201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任务下达</a:t>
            </a:r>
            <a:endParaRPr lang="en-US" altLang="zh-CN" sz="2010" b="1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Helvetica Light"/>
            </a:endParaRPr>
          </a:p>
        </p:txBody>
      </p:sp>
      <p:sp>
        <p:nvSpPr>
          <p:cNvPr id="98" name="TextBox 105"/>
          <p:cNvSpPr txBox="1"/>
          <p:nvPr/>
        </p:nvSpPr>
        <p:spPr>
          <a:xfrm>
            <a:off x="24247507" y="9600544"/>
            <a:ext cx="885790" cy="7867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rgbClr val="000000"/>
          </a:fontRef>
        </p:style>
        <p:txBody>
          <a:bodyPr rot="0" spcFirstLastPara="1" vertOverflow="overflow" horzOverflow="overflow" vert="horz" wrap="square" lIns="84931" tIns="84931" rIns="84931" bIns="84931" numCol="1" spcCol="38100" rtlCol="0" anchor="ctr">
            <a:spAutoFit/>
          </a:bodyPr>
          <a:lstStyle/>
          <a:p>
            <a:pPr algn="ctr" defTabSz="628650" latinLnBrk="1" hangingPunct="0"/>
            <a:r>
              <a:rPr lang="zh-CN" altLang="en-US" sz="201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数据</a:t>
            </a:r>
            <a:endParaRPr lang="en-US" altLang="zh-CN" sz="2010" b="1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Calibri" panose="020F0502020204030204"/>
            </a:endParaRPr>
          </a:p>
          <a:p>
            <a:pPr algn="ctr" defTabSz="628650" latinLnBrk="1" hangingPunct="0"/>
            <a:r>
              <a:rPr lang="zh-CN" altLang="en-US" sz="201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Helvetica Light"/>
              </a:rPr>
              <a:t>采集</a:t>
            </a:r>
            <a:endParaRPr lang="en-US" altLang="zh-CN" sz="2010" b="1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Helvetica Light"/>
            </a:endParaRPr>
          </a:p>
        </p:txBody>
      </p:sp>
      <p:sp>
        <p:nvSpPr>
          <p:cNvPr id="99" name="圆角矩形 513"/>
          <p:cNvSpPr/>
          <p:nvPr/>
        </p:nvSpPr>
        <p:spPr>
          <a:xfrm>
            <a:off x="16144868" y="9195254"/>
            <a:ext cx="2437226" cy="740305"/>
          </a:xfrm>
          <a:prstGeom prst="roundRect">
            <a:avLst/>
          </a:prstGeom>
          <a:solidFill>
            <a:schemeClr val="bg1">
              <a:lumMod val="65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52872" tIns="76435" rIns="152872" bIns="76435" anchor="ctr"/>
          <a:lstStyle/>
          <a:p>
            <a:pPr algn="ctr" defTabSz="696595" hangingPunct="0"/>
            <a:r>
              <a:rPr lang="zh-CN" altLang="en-US" sz="2515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产品线</a:t>
            </a:r>
            <a:r>
              <a:rPr lang="en-US" altLang="zh-CN" sz="2515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/</a:t>
            </a:r>
            <a:r>
              <a:rPr lang="zh-CN" altLang="en-US" sz="2515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供应链</a:t>
            </a:r>
            <a:endParaRPr lang="zh-CN" altLang="en-US" sz="2515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0" name="矩形 112"/>
          <p:cNvSpPr/>
          <p:nvPr/>
        </p:nvSpPr>
        <p:spPr>
          <a:xfrm>
            <a:off x="25564897" y="7418394"/>
            <a:ext cx="2671673" cy="532289"/>
          </a:xfrm>
          <a:prstGeom prst="rect">
            <a:avLst/>
          </a:prstGeom>
          <a:solidFill>
            <a:sysClr val="window" lastClr="FFFFFF">
              <a:lumMod val="50000"/>
              <a:alpha val="71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52872" tIns="76435" rIns="152872" bIns="76435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595" hangingPunct="0"/>
            <a:r>
              <a:rPr lang="zh-CN" altLang="en-US" sz="2010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实时在线确认交期</a:t>
            </a:r>
            <a:endParaRPr lang="en-US" altLang="zh-CN" sz="2010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1" name="矩形 113"/>
          <p:cNvSpPr/>
          <p:nvPr/>
        </p:nvSpPr>
        <p:spPr>
          <a:xfrm>
            <a:off x="25564897" y="6390769"/>
            <a:ext cx="2671673" cy="593795"/>
          </a:xfrm>
          <a:prstGeom prst="rect">
            <a:avLst/>
          </a:prstGeom>
          <a:solidFill>
            <a:sysClr val="window" lastClr="FFFFFF">
              <a:lumMod val="50000"/>
              <a:alpha val="71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52872" tIns="76435" rIns="152872" bIns="76435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595" hangingPunct="0"/>
            <a:r>
              <a:rPr lang="zh-CN" altLang="en-US" sz="2010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需求发布与实时更新</a:t>
            </a:r>
            <a:endParaRPr lang="zh-CN" altLang="en-US" sz="2010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02" name="直接箭头连接符 120"/>
          <p:cNvCxnSpPr/>
          <p:nvPr/>
        </p:nvCxnSpPr>
        <p:spPr>
          <a:xfrm>
            <a:off x="16879618" y="8572191"/>
            <a:ext cx="0" cy="601876"/>
          </a:xfrm>
          <a:prstGeom prst="straightConnector1">
            <a:avLst/>
          </a:prstGeom>
          <a:ln w="127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21"/>
          <p:cNvCxnSpPr/>
          <p:nvPr/>
        </p:nvCxnSpPr>
        <p:spPr>
          <a:xfrm flipV="1">
            <a:off x="17916814" y="8572191"/>
            <a:ext cx="0" cy="601876"/>
          </a:xfrm>
          <a:prstGeom prst="straightConnector1">
            <a:avLst/>
          </a:prstGeom>
          <a:ln w="12700">
            <a:solidFill>
              <a:srgbClr val="92D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22"/>
          <p:cNvSpPr txBox="1"/>
          <p:nvPr/>
        </p:nvSpPr>
        <p:spPr>
          <a:xfrm>
            <a:off x="15824659" y="8470879"/>
            <a:ext cx="885790" cy="7867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rgbClr val="000000"/>
          </a:fontRef>
        </p:style>
        <p:txBody>
          <a:bodyPr rot="0" spcFirstLastPara="1" vertOverflow="overflow" horzOverflow="overflow" vert="horz" wrap="square" lIns="84931" tIns="84931" rIns="84931" bIns="84931" numCol="1" spcCol="38100" rtlCol="0" anchor="ctr">
            <a:spAutoFit/>
          </a:bodyPr>
          <a:lstStyle/>
          <a:p>
            <a:pPr algn="ctr" defTabSz="628650" latinLnBrk="1" hangingPunct="0"/>
            <a:r>
              <a:rPr lang="zh-CN" altLang="en-US" sz="201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Helvetica Light"/>
              </a:rPr>
              <a:t>指标</a:t>
            </a:r>
            <a:endParaRPr lang="en-US" altLang="zh-CN" sz="2010" b="1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Helvetica Light"/>
            </a:endParaRPr>
          </a:p>
          <a:p>
            <a:pPr algn="ctr" defTabSz="628650" latinLnBrk="1" hangingPunct="0"/>
            <a:r>
              <a:rPr lang="zh-CN" altLang="en-US" sz="201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分解</a:t>
            </a:r>
            <a:endParaRPr lang="zh-CN" altLang="en-US" sz="2010" b="1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Helvetica Light"/>
            </a:endParaRPr>
          </a:p>
        </p:txBody>
      </p:sp>
      <p:sp>
        <p:nvSpPr>
          <p:cNvPr id="105" name="TextBox 123"/>
          <p:cNvSpPr txBox="1"/>
          <p:nvPr/>
        </p:nvSpPr>
        <p:spPr>
          <a:xfrm>
            <a:off x="18011996" y="8447322"/>
            <a:ext cx="885790" cy="7867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rgbClr val="000000"/>
          </a:fontRef>
        </p:style>
        <p:txBody>
          <a:bodyPr rot="0" spcFirstLastPara="1" vertOverflow="overflow" horzOverflow="overflow" vert="horz" wrap="square" lIns="84931" tIns="84931" rIns="84931" bIns="84931" numCol="1" spcCol="38100" rtlCol="0" anchor="ctr">
            <a:spAutoFit/>
          </a:bodyPr>
          <a:lstStyle/>
          <a:p>
            <a:pPr algn="ctr" defTabSz="628650" latinLnBrk="1" hangingPunct="0"/>
            <a:r>
              <a:rPr lang="zh-CN" altLang="en-US" sz="201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数据</a:t>
            </a:r>
            <a:endParaRPr lang="en-US" altLang="zh-CN" sz="2010" b="1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Calibri" panose="020F0502020204030204"/>
            </a:endParaRPr>
          </a:p>
          <a:p>
            <a:pPr algn="ctr" defTabSz="628650" latinLnBrk="1" hangingPunct="0"/>
            <a:r>
              <a:rPr lang="zh-CN" altLang="en-US" sz="2010" b="1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Helvetica Light"/>
              </a:rPr>
              <a:t>采集</a:t>
            </a:r>
            <a:endParaRPr lang="en-US" altLang="zh-CN" sz="2010" b="1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Helvetica Light"/>
            </a:endParaRPr>
          </a:p>
        </p:txBody>
      </p:sp>
      <p:sp>
        <p:nvSpPr>
          <p:cNvPr id="106" name="矩形 131"/>
          <p:cNvSpPr/>
          <p:nvPr/>
        </p:nvSpPr>
        <p:spPr>
          <a:xfrm>
            <a:off x="16133047" y="7659719"/>
            <a:ext cx="2407497" cy="361126"/>
          </a:xfrm>
          <a:prstGeom prst="rect">
            <a:avLst/>
          </a:prstGeom>
          <a:solidFill>
            <a:sysClr val="window" lastClr="FFFFFF">
              <a:lumMod val="50000"/>
              <a:alpha val="71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52872" tIns="76435" rIns="152872" bIns="76435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595" hangingPunct="0"/>
            <a:r>
              <a:rPr lang="zh-CN" altLang="en-US" sz="2010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在线产能规划</a:t>
            </a:r>
            <a:endParaRPr lang="en-US" altLang="zh-CN" sz="2010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7" name="矩形 132"/>
          <p:cNvSpPr/>
          <p:nvPr/>
        </p:nvSpPr>
        <p:spPr>
          <a:xfrm>
            <a:off x="16133047" y="7266076"/>
            <a:ext cx="2407497" cy="361126"/>
          </a:xfrm>
          <a:prstGeom prst="rect">
            <a:avLst/>
          </a:prstGeom>
          <a:solidFill>
            <a:sysClr val="window" lastClr="FFFFFF">
              <a:lumMod val="50000"/>
              <a:alpha val="71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52872" tIns="76435" rIns="152872" bIns="76435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595" hangingPunct="0"/>
            <a:r>
              <a:rPr lang="zh-CN" altLang="en-US" sz="2010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在线订单评审</a:t>
            </a:r>
            <a:endParaRPr lang="en-US" altLang="zh-CN" sz="2010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8" name="矩形 134"/>
          <p:cNvSpPr/>
          <p:nvPr/>
        </p:nvSpPr>
        <p:spPr>
          <a:xfrm>
            <a:off x="16130095" y="8055822"/>
            <a:ext cx="2407497" cy="396437"/>
          </a:xfrm>
          <a:prstGeom prst="rect">
            <a:avLst/>
          </a:prstGeom>
          <a:solidFill>
            <a:sysClr val="window" lastClr="FFFFFF">
              <a:lumMod val="50000"/>
              <a:alpha val="71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52872" tIns="76435" rIns="152872" bIns="76435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595" hangingPunct="0"/>
            <a:r>
              <a:rPr lang="zh-CN" altLang="en-US" sz="2010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在线资源检查</a:t>
            </a:r>
            <a:endParaRPr lang="en-US" altLang="zh-CN" sz="2010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219" name="直接箭头连接符 84"/>
          <p:cNvCxnSpPr/>
          <p:nvPr/>
        </p:nvCxnSpPr>
        <p:spPr>
          <a:xfrm flipH="1">
            <a:off x="25396047" y="7044063"/>
            <a:ext cx="3009373" cy="0"/>
          </a:xfrm>
          <a:prstGeom prst="straightConnector1">
            <a:avLst/>
          </a:prstGeom>
          <a:ln w="127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接箭头连接符 114"/>
          <p:cNvCxnSpPr/>
          <p:nvPr/>
        </p:nvCxnSpPr>
        <p:spPr>
          <a:xfrm>
            <a:off x="25396047" y="7277678"/>
            <a:ext cx="3009373" cy="0"/>
          </a:xfrm>
          <a:prstGeom prst="straightConnector1">
            <a:avLst/>
          </a:prstGeom>
          <a:ln w="127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圆角矩形 513"/>
          <p:cNvSpPr/>
          <p:nvPr/>
        </p:nvSpPr>
        <p:spPr>
          <a:xfrm>
            <a:off x="4336859" y="6671873"/>
            <a:ext cx="1865810" cy="915402"/>
          </a:xfrm>
          <a:prstGeom prst="roundRect">
            <a:avLst/>
          </a:prstGeom>
          <a:solidFill>
            <a:srgbClr val="92D050">
              <a:alpha val="71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52872" tIns="76435" rIns="152872" bIns="76435" anchor="ctr"/>
          <a:p>
            <a:pPr algn="ctr" defTabSz="696595" hangingPunct="0"/>
            <a:r>
              <a:rPr lang="zh-CN" altLang="en-US" sz="2515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客户</a:t>
            </a:r>
            <a:endParaRPr lang="en-US" altLang="zh-CN" sz="2515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0" name="矩形 112"/>
          <p:cNvSpPr/>
          <p:nvPr/>
        </p:nvSpPr>
        <p:spPr>
          <a:xfrm>
            <a:off x="6292478" y="7447662"/>
            <a:ext cx="2671673" cy="532289"/>
          </a:xfrm>
          <a:prstGeom prst="rect">
            <a:avLst/>
          </a:prstGeom>
          <a:solidFill>
            <a:sysClr val="window" lastClr="FFFFFF">
              <a:lumMod val="50000"/>
              <a:alpha val="71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52872" tIns="76435" rIns="152872" bIns="76435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595" hangingPunct="0"/>
            <a:r>
              <a:rPr lang="zh-CN" altLang="en-US" sz="2010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实时在线确认交期</a:t>
            </a:r>
            <a:endParaRPr lang="en-US" altLang="zh-CN" sz="2010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1" name="矩形 113"/>
          <p:cNvSpPr/>
          <p:nvPr/>
        </p:nvSpPr>
        <p:spPr>
          <a:xfrm>
            <a:off x="6292478" y="6420037"/>
            <a:ext cx="2671673" cy="593795"/>
          </a:xfrm>
          <a:prstGeom prst="rect">
            <a:avLst/>
          </a:prstGeom>
          <a:solidFill>
            <a:sysClr val="window" lastClr="FFFFFF">
              <a:lumMod val="50000"/>
              <a:alpha val="71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52872" tIns="76435" rIns="152872" bIns="76435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96595" hangingPunct="0"/>
            <a:r>
              <a:rPr lang="zh-CN" altLang="en-US" sz="2010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Calibri" panose="020F0502020204030204"/>
                <a:sym typeface="Calibri" panose="020F0502020204030204"/>
              </a:rPr>
              <a:t>需求发布与实时更新</a:t>
            </a:r>
            <a:endParaRPr lang="zh-CN" altLang="en-US" sz="2010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12" name="直接箭头连接符 84"/>
          <p:cNvCxnSpPr/>
          <p:nvPr/>
        </p:nvCxnSpPr>
        <p:spPr>
          <a:xfrm flipH="1">
            <a:off x="6124024" y="7073887"/>
            <a:ext cx="2840410" cy="0"/>
          </a:xfrm>
          <a:prstGeom prst="straightConnector1">
            <a:avLst/>
          </a:prstGeom>
          <a:ln w="127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箭头连接符 114"/>
          <p:cNvCxnSpPr/>
          <p:nvPr/>
        </p:nvCxnSpPr>
        <p:spPr>
          <a:xfrm>
            <a:off x="6124024" y="7306639"/>
            <a:ext cx="2840410" cy="0"/>
          </a:xfrm>
          <a:prstGeom prst="straightConnector1">
            <a:avLst/>
          </a:prstGeom>
          <a:ln w="127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数字化</a:t>
            </a:r>
            <a:r>
              <a:rPr lang="zh-CN" altLang="en-US"/>
              <a:t>供应链能力</a:t>
            </a:r>
            <a:r>
              <a:rPr lang="zh-CN" altLang="en-US"/>
              <a:t>矩阵</a:t>
            </a:r>
            <a:endParaRPr lang="zh-CN" altLang="en-US"/>
          </a:p>
        </p:txBody>
      </p:sp>
      <p:sp>
        <p:nvSpPr>
          <p:cNvPr id="38" name="btfpRowHeaderBoxText829040"/>
          <p:cNvSpPr txBox="1"/>
          <p:nvPr/>
        </p:nvSpPr>
        <p:spPr bwMode="gray">
          <a:xfrm>
            <a:off x="4697547" y="5612567"/>
            <a:ext cx="1180484" cy="1372818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79093" tIns="79093" rIns="395468" bIns="79093" rtlCol="0" anchor="ctr" anchorCtr="0">
            <a:noAutofit/>
          </a:bodyPr>
          <a:p>
            <a:pPr algn="ctr" fontAlgn="base">
              <a:spcAft>
                <a:spcPct val="0"/>
              </a:spcAft>
              <a:defRPr/>
            </a:pPr>
            <a:r>
              <a:rPr kumimoji="1" lang="zh-CN" altLang="en-US" sz="2635" b="1" dirty="0">
                <a:solidFill>
                  <a:srgbClr val="000000"/>
                </a:solidFill>
                <a:latin typeface="Bosch Office Sans" pitchFamily="34" charset="0"/>
              </a:rPr>
              <a:t>运营</a:t>
            </a:r>
            <a:endParaRPr kumimoji="1" lang="zh-CN" altLang="en-US" sz="2635" b="1" dirty="0">
              <a:solidFill>
                <a:srgbClr val="000000"/>
              </a:solidFill>
              <a:latin typeface="Bosch Office Sans" pitchFamily="34" charset="0"/>
            </a:endParaRPr>
          </a:p>
        </p:txBody>
      </p:sp>
      <p:cxnSp>
        <p:nvCxnSpPr>
          <p:cNvPr id="39" name="btfpRowHeaderBoxLine829040"/>
          <p:cNvCxnSpPr/>
          <p:nvPr/>
        </p:nvCxnSpPr>
        <p:spPr bwMode="gray">
          <a:xfrm>
            <a:off x="6084064" y="5577614"/>
            <a:ext cx="0" cy="1413421"/>
          </a:xfrm>
          <a:prstGeom prst="line">
            <a:avLst/>
          </a:prstGeom>
          <a:ln>
            <a:tailEnd type="none" w="med" len="lg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</p:cxnSp>
      <p:sp>
        <p:nvSpPr>
          <p:cNvPr id="40" name="btfpRowHeaderBoxText829040"/>
          <p:cNvSpPr txBox="1"/>
          <p:nvPr/>
        </p:nvSpPr>
        <p:spPr bwMode="gray">
          <a:xfrm>
            <a:off x="4678850" y="7575545"/>
            <a:ext cx="1168285" cy="135716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79093" tIns="79093" rIns="395468" bIns="79093" rtlCol="0" anchor="ctr" anchorCtr="0">
            <a:noAutofit/>
          </a:bodyPr>
          <a:p>
            <a:pPr algn="ctr" fontAlgn="base">
              <a:spcAft>
                <a:spcPct val="0"/>
              </a:spcAft>
              <a:defRPr/>
            </a:pPr>
            <a:r>
              <a:rPr kumimoji="1" lang="zh-CN" altLang="en-US" sz="2635" b="1" dirty="0">
                <a:solidFill>
                  <a:srgbClr val="000000"/>
                </a:solidFill>
                <a:latin typeface="Bosch Office Sans" pitchFamily="34" charset="0"/>
              </a:rPr>
              <a:t>采购</a:t>
            </a:r>
            <a:endParaRPr kumimoji="1" lang="zh-CN" altLang="en-US" sz="2635" b="1" dirty="0">
              <a:solidFill>
                <a:srgbClr val="000000"/>
              </a:solidFill>
              <a:latin typeface="Bosch Office Sans" pitchFamily="34" charset="0"/>
            </a:endParaRPr>
          </a:p>
        </p:txBody>
      </p:sp>
      <p:cxnSp>
        <p:nvCxnSpPr>
          <p:cNvPr id="41" name="btfpRowHeaderBoxLine829040"/>
          <p:cNvCxnSpPr/>
          <p:nvPr/>
        </p:nvCxnSpPr>
        <p:spPr bwMode="gray">
          <a:xfrm>
            <a:off x="6083397" y="7308409"/>
            <a:ext cx="0" cy="1532963"/>
          </a:xfrm>
          <a:prstGeom prst="line">
            <a:avLst/>
          </a:prstGeom>
          <a:ln>
            <a:tailEnd type="none" w="med" len="lg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</p:cxnSp>
      <p:sp>
        <p:nvSpPr>
          <p:cNvPr id="42" name="btfpRowHeaderBoxText829040"/>
          <p:cNvSpPr txBox="1"/>
          <p:nvPr/>
        </p:nvSpPr>
        <p:spPr bwMode="gray">
          <a:xfrm>
            <a:off x="4679429" y="11205582"/>
            <a:ext cx="1193028" cy="98815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79093" tIns="79093" rIns="395468" bIns="79093" rtlCol="0" anchor="ctr" anchorCtr="0">
            <a:noAutofit/>
          </a:bodyPr>
          <a:p>
            <a:pPr algn="ctr" fontAlgn="base">
              <a:spcAft>
                <a:spcPct val="0"/>
              </a:spcAft>
              <a:defRPr/>
            </a:pPr>
            <a:r>
              <a:rPr kumimoji="1" lang="zh-CN" altLang="en-US" sz="2635" b="1" dirty="0">
                <a:solidFill>
                  <a:srgbClr val="000000"/>
                </a:solidFill>
                <a:latin typeface="Bosch Office Sans" pitchFamily="34" charset="0"/>
              </a:rPr>
              <a:t>生产</a:t>
            </a:r>
            <a:endParaRPr kumimoji="1" lang="zh-CN" altLang="en-US" sz="2635" b="1" dirty="0">
              <a:solidFill>
                <a:srgbClr val="000000"/>
              </a:solidFill>
              <a:latin typeface="Bosch Office Sans" pitchFamily="34" charset="0"/>
            </a:endParaRPr>
          </a:p>
        </p:txBody>
      </p:sp>
      <p:cxnSp>
        <p:nvCxnSpPr>
          <p:cNvPr id="43" name="btfpRowHeaderBoxLine829040"/>
          <p:cNvCxnSpPr/>
          <p:nvPr/>
        </p:nvCxnSpPr>
        <p:spPr bwMode="gray">
          <a:xfrm>
            <a:off x="6083397" y="9212390"/>
            <a:ext cx="0" cy="1518922"/>
          </a:xfrm>
          <a:prstGeom prst="line">
            <a:avLst/>
          </a:prstGeom>
          <a:ln>
            <a:tailEnd type="none" w="med" len="lg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</p:cxnSp>
      <p:cxnSp>
        <p:nvCxnSpPr>
          <p:cNvPr id="44" name="btfpRowHeaderBoxLine829040"/>
          <p:cNvCxnSpPr/>
          <p:nvPr/>
        </p:nvCxnSpPr>
        <p:spPr bwMode="gray">
          <a:xfrm>
            <a:off x="6083397" y="11059586"/>
            <a:ext cx="0" cy="1723686"/>
          </a:xfrm>
          <a:prstGeom prst="line">
            <a:avLst/>
          </a:prstGeom>
          <a:ln>
            <a:tailEnd type="none" w="med" len="lg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</p:cxnSp>
      <p:sp>
        <p:nvSpPr>
          <p:cNvPr id="45" name="btfpRowHeaderBoxText829040"/>
          <p:cNvSpPr txBox="1"/>
          <p:nvPr/>
        </p:nvSpPr>
        <p:spPr bwMode="gray">
          <a:xfrm>
            <a:off x="4704516" y="9566563"/>
            <a:ext cx="1167941" cy="98815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79093" tIns="79093" rIns="395468" bIns="79093" rtlCol="0" anchor="ctr" anchorCtr="0">
            <a:noAutofit/>
          </a:bodyPr>
          <a:p>
            <a:pPr algn="ctr" fontAlgn="base">
              <a:spcAft>
                <a:spcPct val="0"/>
              </a:spcAft>
              <a:defRPr/>
            </a:pPr>
            <a:r>
              <a:rPr kumimoji="1" lang="zh-CN" altLang="en-US" sz="2635" b="1" dirty="0">
                <a:solidFill>
                  <a:srgbClr val="000000"/>
                </a:solidFill>
                <a:latin typeface="Bosch Office Sans" pitchFamily="34" charset="0"/>
              </a:rPr>
              <a:t>计划</a:t>
            </a:r>
            <a:endParaRPr kumimoji="1" lang="zh-CN" altLang="en-US" sz="2635" b="1" dirty="0">
              <a:solidFill>
                <a:srgbClr val="000000"/>
              </a:solidFill>
              <a:latin typeface="Bosch Office Sans" pitchFamily="34" charset="0"/>
            </a:endParaRPr>
          </a:p>
        </p:txBody>
      </p:sp>
      <p:sp>
        <p:nvSpPr>
          <p:cNvPr id="46" name="Rectangle 33"/>
          <p:cNvSpPr/>
          <p:nvPr/>
        </p:nvSpPr>
        <p:spPr bwMode="gray">
          <a:xfrm>
            <a:off x="6475940" y="15924732"/>
            <a:ext cx="3278039" cy="56167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200696" tIns="100348" rIns="200696" bIns="100348" numCol="1" spcCol="0" rtlCol="0" fromWordArt="0" anchor="ctr" anchorCtr="0" forceAA="0" compatLnSpc="0">
            <a:noAutofit/>
          </a:bodyPr>
          <a:p>
            <a:pPr lvl="0" algn="ctr"/>
            <a:r>
              <a:rPr lang="zh-CN" altLang="en-US" sz="2415" b="1" dirty="0">
                <a:solidFill>
                  <a:srgbClr val="000000"/>
                </a:solidFill>
                <a:latin typeface="Bosch Office Sans"/>
                <a:sym typeface="+mn-ea"/>
              </a:rPr>
              <a:t>2022 Q4</a:t>
            </a:r>
            <a:endParaRPr lang="zh-CN" altLang="en-US" sz="2415" b="1" dirty="0">
              <a:solidFill>
                <a:srgbClr val="000000"/>
              </a:solidFill>
              <a:latin typeface="Bosch Office Sans"/>
              <a:sym typeface="+mn-ea"/>
            </a:endParaRPr>
          </a:p>
        </p:txBody>
      </p:sp>
      <p:cxnSp>
        <p:nvCxnSpPr>
          <p:cNvPr id="48" name="btfpRowHeaderBoxLine829040"/>
          <p:cNvCxnSpPr/>
          <p:nvPr/>
        </p:nvCxnSpPr>
        <p:spPr bwMode="gray">
          <a:xfrm>
            <a:off x="6083397" y="13032044"/>
            <a:ext cx="0" cy="1272137"/>
          </a:xfrm>
          <a:prstGeom prst="line">
            <a:avLst/>
          </a:prstGeom>
          <a:ln>
            <a:tailEnd type="none" w="med" len="lg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</p:cxnSp>
      <p:sp>
        <p:nvSpPr>
          <p:cNvPr id="49" name="btfpRowHeaderBoxText829040"/>
          <p:cNvSpPr txBox="1"/>
          <p:nvPr/>
        </p:nvSpPr>
        <p:spPr bwMode="gray">
          <a:xfrm>
            <a:off x="4721241" y="13227876"/>
            <a:ext cx="1209753" cy="98815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79093" tIns="79093" rIns="395468" bIns="79093" rtlCol="0" anchor="t">
            <a:noAutofit/>
          </a:bodyPr>
          <a:p>
            <a:pPr algn="ctr" fontAlgn="base">
              <a:spcAft>
                <a:spcPct val="0"/>
              </a:spcAft>
              <a:defRPr/>
            </a:pPr>
            <a:r>
              <a:rPr kumimoji="1" lang="zh-CN" altLang="en-US" sz="2635" b="1" dirty="0">
                <a:solidFill>
                  <a:srgbClr val="000000"/>
                </a:solidFill>
                <a:latin typeface="Bosch Office Sans" pitchFamily="34" charset="0"/>
              </a:rPr>
              <a:t>物流</a:t>
            </a:r>
            <a:endParaRPr kumimoji="1" lang="zh-CN" altLang="en-US" sz="2635" b="1" dirty="0">
              <a:solidFill>
                <a:srgbClr val="000000"/>
              </a:solidFill>
              <a:latin typeface="Bosch Office Sans" pitchFamily="34" charset="0"/>
            </a:endParaRPr>
          </a:p>
        </p:txBody>
      </p:sp>
      <p:sp>
        <p:nvSpPr>
          <p:cNvPr id="52" name="Chevron 20"/>
          <p:cNvSpPr/>
          <p:nvPr/>
        </p:nvSpPr>
        <p:spPr>
          <a:xfrm>
            <a:off x="6424372" y="8211863"/>
            <a:ext cx="3365844" cy="629963"/>
          </a:xfrm>
          <a:prstGeom prst="chevron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lvl="0" algn="ctr"/>
            <a:r>
              <a:rPr lang="zh-CN" altLang="en-US" sz="2415" b="1" dirty="0">
                <a:solidFill>
                  <a:srgbClr val="000000"/>
                </a:solidFill>
                <a:latin typeface="Bosch Office Sans"/>
                <a:sym typeface="+mn-ea"/>
              </a:rPr>
              <a:t>集采</a:t>
            </a:r>
            <a:endParaRPr lang="zh-CN" altLang="en-US" sz="2415" b="1" dirty="0">
              <a:solidFill>
                <a:srgbClr val="000000"/>
              </a:solidFill>
              <a:latin typeface="Bosch Office Sans"/>
              <a:sym typeface="+mn-ea"/>
            </a:endParaRPr>
          </a:p>
        </p:txBody>
      </p:sp>
      <p:sp>
        <p:nvSpPr>
          <p:cNvPr id="53" name="Chevron 21"/>
          <p:cNvSpPr/>
          <p:nvPr/>
        </p:nvSpPr>
        <p:spPr>
          <a:xfrm>
            <a:off x="16705875" y="8210469"/>
            <a:ext cx="6951896" cy="629963"/>
          </a:xfrm>
          <a:prstGeom prst="chevron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lvl="0" algn="ctr"/>
            <a:r>
              <a:rPr lang="zh-CN" altLang="en-US" sz="2415" b="1" dirty="0">
                <a:solidFill>
                  <a:srgbClr val="000000"/>
                </a:solidFill>
                <a:latin typeface="Bosch Office Sans"/>
                <a:sym typeface="+mn-ea"/>
              </a:rPr>
              <a:t>采购风险预警</a:t>
            </a:r>
            <a:endParaRPr lang="zh-CN" altLang="en-US" sz="2415" b="1" dirty="0">
              <a:solidFill>
                <a:srgbClr val="000000"/>
              </a:solidFill>
              <a:latin typeface="Bosch Office Sans"/>
              <a:sym typeface="+mn-ea"/>
            </a:endParaRPr>
          </a:p>
        </p:txBody>
      </p:sp>
      <p:cxnSp>
        <p:nvCxnSpPr>
          <p:cNvPr id="56" name="btfpRowHeaderBoxLine829040"/>
          <p:cNvCxnSpPr/>
          <p:nvPr/>
        </p:nvCxnSpPr>
        <p:spPr bwMode="gray">
          <a:xfrm>
            <a:off x="6083397" y="14677674"/>
            <a:ext cx="7" cy="882342"/>
          </a:xfrm>
          <a:prstGeom prst="line">
            <a:avLst/>
          </a:prstGeom>
          <a:ln>
            <a:tailEnd type="none" w="med" len="lg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</p:cxnSp>
      <p:sp>
        <p:nvSpPr>
          <p:cNvPr id="57" name="Chevron 26"/>
          <p:cNvSpPr/>
          <p:nvPr/>
        </p:nvSpPr>
        <p:spPr>
          <a:xfrm>
            <a:off x="6402072" y="7414652"/>
            <a:ext cx="3353300" cy="641113"/>
          </a:xfrm>
          <a:prstGeom prst="chevron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lvl="0" algn="ctr"/>
            <a:r>
              <a:rPr lang="zh-CN" altLang="en-US" sz="2415" b="1" dirty="0">
                <a:solidFill>
                  <a:srgbClr val="000000"/>
                </a:solidFill>
                <a:latin typeface="Bosch Office Sans"/>
                <a:sym typeface="+mn-ea"/>
              </a:rPr>
              <a:t>VMI</a:t>
            </a:r>
            <a:endParaRPr lang="zh-CN" altLang="en-US" sz="2415" b="1" dirty="0">
              <a:solidFill>
                <a:srgbClr val="000000"/>
              </a:solidFill>
              <a:latin typeface="Bosch Office Sans"/>
              <a:sym typeface="+mn-ea"/>
            </a:endParaRPr>
          </a:p>
        </p:txBody>
      </p:sp>
      <p:sp>
        <p:nvSpPr>
          <p:cNvPr id="59" name="Chevron 29"/>
          <p:cNvSpPr/>
          <p:nvPr/>
        </p:nvSpPr>
        <p:spPr>
          <a:xfrm>
            <a:off x="6507995" y="13031361"/>
            <a:ext cx="17184619" cy="547734"/>
          </a:xfrm>
          <a:prstGeom prst="chevron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lvl="0" algn="ctr"/>
            <a:r>
              <a:rPr lang="zh-CN" altLang="en-US" sz="2415" b="1" dirty="0">
                <a:solidFill>
                  <a:srgbClr val="000000"/>
                </a:solidFill>
                <a:latin typeface="Bosch Office Sans"/>
                <a:sym typeface="+mn-ea"/>
              </a:rPr>
              <a:t>物流出货过程线上化</a:t>
            </a:r>
            <a:endParaRPr lang="zh-CN" altLang="en-US" sz="2415" b="1" dirty="0">
              <a:solidFill>
                <a:srgbClr val="000000"/>
              </a:solidFill>
              <a:latin typeface="Bosch Office Sans"/>
              <a:sym typeface="+mn-ea"/>
            </a:endParaRPr>
          </a:p>
        </p:txBody>
      </p:sp>
      <p:sp>
        <p:nvSpPr>
          <p:cNvPr id="63" name="Chevron 41"/>
          <p:cNvSpPr/>
          <p:nvPr/>
        </p:nvSpPr>
        <p:spPr>
          <a:xfrm>
            <a:off x="6507995" y="5615355"/>
            <a:ext cx="6774893" cy="603483"/>
          </a:xfrm>
          <a:prstGeom prst="chevron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15" b="1" kern="0" dirty="0">
                <a:solidFill>
                  <a:srgbClr val="000000"/>
                </a:solidFill>
                <a:latin typeface="Bosch Office Sans"/>
              </a:rPr>
              <a:t>运营指标可视</a:t>
            </a:r>
            <a:endParaRPr lang="zh-CN" altLang="en-US" sz="2415" b="1" kern="0" dirty="0">
              <a:solidFill>
                <a:srgbClr val="000000"/>
              </a:solidFill>
              <a:latin typeface="Bosch Office Sans"/>
            </a:endParaRPr>
          </a:p>
        </p:txBody>
      </p:sp>
      <p:sp>
        <p:nvSpPr>
          <p:cNvPr id="64" name="Chevron 47"/>
          <p:cNvSpPr/>
          <p:nvPr/>
        </p:nvSpPr>
        <p:spPr>
          <a:xfrm>
            <a:off x="6507995" y="9212557"/>
            <a:ext cx="3239015" cy="632751"/>
          </a:xfrm>
          <a:prstGeom prst="chevron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lvl="0" algn="ctr"/>
            <a:r>
              <a:rPr lang="zh-CN" altLang="en-US" sz="2415" b="1" dirty="0">
                <a:solidFill>
                  <a:srgbClr val="000000"/>
                </a:solidFill>
                <a:latin typeface="Bosch Office Sans"/>
                <a:sym typeface="+mn-ea"/>
              </a:rPr>
              <a:t>订单交期承诺</a:t>
            </a:r>
            <a:endParaRPr lang="zh-CN" altLang="en-US" sz="2415" b="1" dirty="0">
              <a:solidFill>
                <a:srgbClr val="000000"/>
              </a:solidFill>
              <a:latin typeface="Bosch Office Sans"/>
              <a:sym typeface="+mn-ea"/>
            </a:endParaRPr>
          </a:p>
        </p:txBody>
      </p:sp>
      <p:sp>
        <p:nvSpPr>
          <p:cNvPr id="65" name="Chevron 48"/>
          <p:cNvSpPr/>
          <p:nvPr/>
        </p:nvSpPr>
        <p:spPr>
          <a:xfrm>
            <a:off x="6424372" y="14788847"/>
            <a:ext cx="23657075" cy="632751"/>
          </a:xfrm>
          <a:prstGeom prst="chevron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lvl="0" algn="ctr"/>
            <a:r>
              <a:rPr lang="zh-CN" altLang="en-US" sz="2415" b="1" dirty="0">
                <a:solidFill>
                  <a:srgbClr val="000000"/>
                </a:solidFill>
                <a:latin typeface="Bosch Office Sans"/>
                <a:sym typeface="+mn-ea"/>
              </a:rPr>
              <a:t>数据基建</a:t>
            </a:r>
            <a:endParaRPr lang="zh-CN" altLang="en-US" sz="2415" b="1" dirty="0">
              <a:solidFill>
                <a:srgbClr val="000000"/>
              </a:solidFill>
              <a:latin typeface="Bosch Office Sans"/>
              <a:sym typeface="+mn-ea"/>
            </a:endParaRPr>
          </a:p>
        </p:txBody>
      </p:sp>
      <p:sp>
        <p:nvSpPr>
          <p:cNvPr id="47" name="Chevron 41"/>
          <p:cNvSpPr/>
          <p:nvPr/>
        </p:nvSpPr>
        <p:spPr>
          <a:xfrm>
            <a:off x="19351164" y="6437652"/>
            <a:ext cx="10737251" cy="547734"/>
          </a:xfrm>
          <a:prstGeom prst="chevron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lvl="0" algn="ctr"/>
            <a:r>
              <a:rPr lang="zh-CN" altLang="en-US" sz="2415" b="1" dirty="0">
                <a:solidFill>
                  <a:srgbClr val="000000"/>
                </a:solidFill>
                <a:latin typeface="Bosch Office Sans"/>
                <a:sym typeface="+mn-ea"/>
              </a:rPr>
              <a:t>订单操作可视-“红黄绿”</a:t>
            </a:r>
            <a:endParaRPr lang="zh-CN" altLang="en-US" sz="2415" b="1" dirty="0">
              <a:solidFill>
                <a:srgbClr val="000000"/>
              </a:solidFill>
              <a:latin typeface="Bosch Office Sans"/>
              <a:sym typeface="+mn-ea"/>
            </a:endParaRPr>
          </a:p>
        </p:txBody>
      </p:sp>
      <p:sp>
        <p:nvSpPr>
          <p:cNvPr id="67" name="Chevron 20"/>
          <p:cNvSpPr/>
          <p:nvPr/>
        </p:nvSpPr>
        <p:spPr>
          <a:xfrm>
            <a:off x="16693641" y="9209348"/>
            <a:ext cx="4173012" cy="632114"/>
          </a:xfrm>
          <a:prstGeom prst="chevron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lvl="0" algn="ctr"/>
            <a:r>
              <a:rPr lang="zh-CN" altLang="en-US" sz="2415" b="1" dirty="0">
                <a:solidFill>
                  <a:srgbClr val="000000"/>
                </a:solidFill>
                <a:latin typeface="Bosch Office Sans"/>
                <a:sym typeface="+mn-ea"/>
              </a:rPr>
              <a:t>要货预测拉通</a:t>
            </a:r>
            <a:endParaRPr lang="zh-CN" altLang="en-US" sz="2415" b="1" dirty="0">
              <a:solidFill>
                <a:srgbClr val="000000"/>
              </a:solidFill>
              <a:latin typeface="Bosch Office Sans"/>
              <a:sym typeface="+mn-ea"/>
            </a:endParaRPr>
          </a:p>
        </p:txBody>
      </p:sp>
      <p:sp>
        <p:nvSpPr>
          <p:cNvPr id="72" name="Chevron 23"/>
          <p:cNvSpPr/>
          <p:nvPr/>
        </p:nvSpPr>
        <p:spPr>
          <a:xfrm>
            <a:off x="6551201" y="11959587"/>
            <a:ext cx="10157462" cy="649475"/>
          </a:xfrm>
          <a:prstGeom prst="chevron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lvl="0" algn="ctr"/>
            <a:r>
              <a:rPr lang="zh-CN" altLang="en-US" sz="2415" b="1" dirty="0">
                <a:solidFill>
                  <a:srgbClr val="000000"/>
                </a:solidFill>
                <a:latin typeface="Bosch Office Sans"/>
                <a:sym typeface="+mn-ea"/>
              </a:rPr>
              <a:t>账实一致</a:t>
            </a:r>
            <a:endParaRPr lang="zh-CN" altLang="en-US" sz="2415" b="1" dirty="0">
              <a:solidFill>
                <a:srgbClr val="000000"/>
              </a:solidFill>
              <a:latin typeface="Bosch Office Sans"/>
              <a:sym typeface="+mn-ea"/>
            </a:endParaRPr>
          </a:p>
        </p:txBody>
      </p:sp>
      <p:sp>
        <p:nvSpPr>
          <p:cNvPr id="73" name="Chevron 23"/>
          <p:cNvSpPr/>
          <p:nvPr/>
        </p:nvSpPr>
        <p:spPr>
          <a:xfrm>
            <a:off x="16705875" y="7414652"/>
            <a:ext cx="10353977" cy="649475"/>
          </a:xfrm>
          <a:prstGeom prst="chevron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lvl="0" algn="ctr"/>
            <a:r>
              <a:rPr lang="zh-CN" altLang="en-US" sz="2415" b="1" dirty="0">
                <a:solidFill>
                  <a:srgbClr val="000000"/>
                </a:solidFill>
                <a:latin typeface="Bosch Office Sans"/>
                <a:sym typeface="+mn-ea"/>
              </a:rPr>
              <a:t>采购可视</a:t>
            </a:r>
            <a:endParaRPr lang="zh-CN" altLang="en-US" sz="2415" b="1" dirty="0">
              <a:solidFill>
                <a:srgbClr val="000000"/>
              </a:solidFill>
              <a:latin typeface="Bosch Office Sans"/>
              <a:sym typeface="+mn-ea"/>
            </a:endParaRPr>
          </a:p>
        </p:txBody>
      </p:sp>
      <p:sp>
        <p:nvSpPr>
          <p:cNvPr id="74" name="Chevron 23"/>
          <p:cNvSpPr/>
          <p:nvPr/>
        </p:nvSpPr>
        <p:spPr>
          <a:xfrm>
            <a:off x="15189503" y="11158196"/>
            <a:ext cx="10380458" cy="653657"/>
          </a:xfrm>
          <a:prstGeom prst="chevron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lvl="0" algn="ctr"/>
            <a:r>
              <a:rPr lang="zh-CN" altLang="en-US" sz="2415" b="1" dirty="0">
                <a:solidFill>
                  <a:srgbClr val="000000"/>
                </a:solidFill>
                <a:latin typeface="Bosch Office Sans"/>
                <a:sym typeface="+mn-ea"/>
              </a:rPr>
              <a:t>生产过程可视</a:t>
            </a:r>
            <a:endParaRPr lang="zh-CN" altLang="en-US" sz="2415" b="1" dirty="0">
              <a:solidFill>
                <a:srgbClr val="000000"/>
              </a:solidFill>
              <a:latin typeface="Bosch Office Sans"/>
              <a:sym typeface="+mn-ea"/>
            </a:endParaRPr>
          </a:p>
        </p:txBody>
      </p:sp>
      <p:sp>
        <p:nvSpPr>
          <p:cNvPr id="81" name="Chevron 26"/>
          <p:cNvSpPr/>
          <p:nvPr/>
        </p:nvSpPr>
        <p:spPr>
          <a:xfrm>
            <a:off x="9753979" y="7414652"/>
            <a:ext cx="7016008" cy="649475"/>
          </a:xfrm>
          <a:prstGeom prst="chevron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lvl="0" algn="ctr"/>
            <a:r>
              <a:rPr lang="zh-CN" altLang="en-US" sz="2415" b="1" dirty="0">
                <a:solidFill>
                  <a:srgbClr val="000000"/>
                </a:solidFill>
                <a:latin typeface="Bosch Office Sans"/>
                <a:sym typeface="+mn-ea"/>
              </a:rPr>
              <a:t>JIT</a:t>
            </a:r>
            <a:endParaRPr lang="zh-CN" altLang="en-US" sz="2415" b="1" dirty="0">
              <a:solidFill>
                <a:srgbClr val="000000"/>
              </a:solidFill>
              <a:latin typeface="Bosch Office Sans"/>
              <a:sym typeface="+mn-ea"/>
            </a:endParaRPr>
          </a:p>
        </p:txBody>
      </p:sp>
      <p:sp>
        <p:nvSpPr>
          <p:cNvPr id="82" name="Chevron 47"/>
          <p:cNvSpPr/>
          <p:nvPr/>
        </p:nvSpPr>
        <p:spPr>
          <a:xfrm>
            <a:off x="16693332" y="11927531"/>
            <a:ext cx="6964440" cy="652263"/>
          </a:xfrm>
          <a:prstGeom prst="chevron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lvl="0" algn="ctr"/>
            <a:r>
              <a:rPr lang="zh-CN" altLang="en-US" sz="2415" b="1" dirty="0">
                <a:solidFill>
                  <a:srgbClr val="000000"/>
                </a:solidFill>
                <a:latin typeface="Bosch Office Sans"/>
                <a:sym typeface="+mn-ea"/>
              </a:rPr>
              <a:t>生产过程监控与分析</a:t>
            </a:r>
            <a:endParaRPr lang="zh-CN" altLang="en-US" sz="2415" b="1" dirty="0">
              <a:solidFill>
                <a:srgbClr val="000000"/>
              </a:solidFill>
              <a:latin typeface="Bosch Office Sans"/>
              <a:sym typeface="+mn-ea"/>
            </a:endParaRPr>
          </a:p>
        </p:txBody>
      </p:sp>
      <p:sp>
        <p:nvSpPr>
          <p:cNvPr id="60" name="btfpRowHeaderBoxText829040"/>
          <p:cNvSpPr txBox="1"/>
          <p:nvPr/>
        </p:nvSpPr>
        <p:spPr bwMode="gray">
          <a:xfrm>
            <a:off x="4742147" y="14677349"/>
            <a:ext cx="1167941" cy="98815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79093" tIns="79093" rIns="395468" bIns="79093" rtlCol="0" anchor="t">
            <a:noAutofit/>
          </a:bodyPr>
          <a:p>
            <a:pPr algn="ctr" fontAlgn="base">
              <a:spcAft>
                <a:spcPct val="0"/>
              </a:spcAft>
              <a:defRPr/>
            </a:pPr>
            <a:r>
              <a:rPr kumimoji="1" lang="zh-CN" altLang="en-US" sz="2635" b="1" dirty="0">
                <a:solidFill>
                  <a:srgbClr val="000000"/>
                </a:solidFill>
                <a:latin typeface="Bosch Office Sans" pitchFamily="34" charset="0"/>
              </a:rPr>
              <a:t>数据</a:t>
            </a:r>
            <a:endParaRPr kumimoji="1" lang="zh-CN" altLang="en-US" sz="2635" b="1" dirty="0">
              <a:solidFill>
                <a:srgbClr val="000000"/>
              </a:solidFill>
              <a:latin typeface="Bosch Office Sans" pitchFamily="34" charset="0"/>
            </a:endParaRPr>
          </a:p>
        </p:txBody>
      </p:sp>
      <p:sp>
        <p:nvSpPr>
          <p:cNvPr id="83" name="Chevron 47"/>
          <p:cNvSpPr/>
          <p:nvPr/>
        </p:nvSpPr>
        <p:spPr>
          <a:xfrm>
            <a:off x="12767211" y="9212557"/>
            <a:ext cx="3938665" cy="629963"/>
          </a:xfrm>
          <a:prstGeom prst="chevron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lvl="0" algn="ctr"/>
            <a:r>
              <a:rPr lang="zh-CN" altLang="en-US" sz="2415" b="1" dirty="0">
                <a:solidFill>
                  <a:srgbClr val="000000"/>
                </a:solidFill>
                <a:latin typeface="Bosch Office Sans"/>
                <a:sym typeface="+mn-ea"/>
              </a:rPr>
              <a:t>PSI 自动化</a:t>
            </a:r>
            <a:endParaRPr lang="zh-CN" altLang="en-US" sz="2415" b="1" dirty="0">
              <a:solidFill>
                <a:srgbClr val="000000"/>
              </a:solidFill>
              <a:latin typeface="Bosch Office Sans"/>
              <a:sym typeface="+mn-ea"/>
            </a:endParaRPr>
          </a:p>
        </p:txBody>
      </p:sp>
      <p:sp>
        <p:nvSpPr>
          <p:cNvPr id="84" name="Chevron 47"/>
          <p:cNvSpPr/>
          <p:nvPr/>
        </p:nvSpPr>
        <p:spPr>
          <a:xfrm>
            <a:off x="27121176" y="13031361"/>
            <a:ext cx="2801386" cy="632751"/>
          </a:xfrm>
          <a:prstGeom prst="chevron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lvl="0" algn="ctr"/>
            <a:r>
              <a:rPr lang="zh-CN" altLang="en-US" sz="2415" b="1" dirty="0">
                <a:solidFill>
                  <a:srgbClr val="000000"/>
                </a:solidFill>
                <a:latin typeface="Bosch Office Sans"/>
                <a:sym typeface="+mn-ea"/>
              </a:rPr>
              <a:t>下线直发</a:t>
            </a:r>
            <a:endParaRPr lang="zh-CN" altLang="en-US" sz="2415" b="1" dirty="0">
              <a:solidFill>
                <a:srgbClr val="000000"/>
              </a:solidFill>
              <a:latin typeface="Bosch Office Sans"/>
              <a:sym typeface="+mn-ea"/>
            </a:endParaRPr>
          </a:p>
        </p:txBody>
      </p:sp>
      <p:sp>
        <p:nvSpPr>
          <p:cNvPr id="2" name="Chevron 41"/>
          <p:cNvSpPr/>
          <p:nvPr/>
        </p:nvSpPr>
        <p:spPr>
          <a:xfrm>
            <a:off x="13459892" y="5615355"/>
            <a:ext cx="10305197" cy="604876"/>
          </a:xfrm>
          <a:prstGeom prst="chevron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lvl="0" algn="ctr"/>
            <a:r>
              <a:rPr lang="zh-CN" altLang="en-US" sz="2415" b="1" dirty="0">
                <a:solidFill>
                  <a:srgbClr val="000000"/>
                </a:solidFill>
                <a:latin typeface="Bosch Office Sans"/>
                <a:sym typeface="+mn-ea"/>
              </a:rPr>
              <a:t>过程指标可视</a:t>
            </a:r>
            <a:endParaRPr lang="zh-CN" altLang="en-US" sz="2415" b="1" dirty="0">
              <a:solidFill>
                <a:srgbClr val="000000"/>
              </a:solidFill>
              <a:latin typeface="Bosch Office Sans"/>
              <a:sym typeface="+mn-ea"/>
            </a:endParaRPr>
          </a:p>
        </p:txBody>
      </p:sp>
      <p:sp>
        <p:nvSpPr>
          <p:cNvPr id="3" name="Rectangle 33"/>
          <p:cNvSpPr/>
          <p:nvPr/>
        </p:nvSpPr>
        <p:spPr bwMode="gray">
          <a:xfrm>
            <a:off x="9951888" y="15924732"/>
            <a:ext cx="3278039" cy="56167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200696" tIns="100348" rIns="200696" bIns="100348" numCol="1" spcCol="0" rtlCol="0" fromWordArt="0" anchor="ctr" anchorCtr="0" forceAA="0" compatLnSpc="0">
            <a:noAutofit/>
          </a:bodyPr>
          <a:p>
            <a:pPr lvl="0" algn="ctr"/>
            <a:r>
              <a:rPr lang="zh-CN" altLang="en-US" sz="2415" b="1" dirty="0">
                <a:solidFill>
                  <a:srgbClr val="000000"/>
                </a:solidFill>
                <a:latin typeface="Bosch Office Sans"/>
                <a:sym typeface="+mn-ea"/>
              </a:rPr>
              <a:t>2023 Q1</a:t>
            </a:r>
            <a:endParaRPr lang="zh-CN" altLang="en-US" sz="2415" b="1" dirty="0">
              <a:solidFill>
                <a:srgbClr val="000000"/>
              </a:solidFill>
              <a:latin typeface="Bosch Office Sans"/>
              <a:sym typeface="+mn-ea"/>
            </a:endParaRPr>
          </a:p>
        </p:txBody>
      </p:sp>
      <p:sp>
        <p:nvSpPr>
          <p:cNvPr id="5" name="Rectangle 33"/>
          <p:cNvSpPr/>
          <p:nvPr/>
        </p:nvSpPr>
        <p:spPr bwMode="gray">
          <a:xfrm>
            <a:off x="13427836" y="15924732"/>
            <a:ext cx="3278039" cy="56167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200696" tIns="100348" rIns="200696" bIns="100348" numCol="1" spcCol="0" rtlCol="0" fromWordArt="0" anchor="ctr" anchorCtr="0" forceAA="0" compatLnSpc="0">
            <a:noAutofit/>
          </a:bodyPr>
          <a:p>
            <a:pPr lvl="0" algn="ctr"/>
            <a:r>
              <a:rPr lang="zh-CN" altLang="en-US" sz="2415" b="1" dirty="0">
                <a:solidFill>
                  <a:srgbClr val="000000"/>
                </a:solidFill>
                <a:latin typeface="Bosch Office Sans"/>
                <a:sym typeface="+mn-ea"/>
              </a:rPr>
              <a:t>2023 Q2</a:t>
            </a:r>
            <a:endParaRPr lang="zh-CN" altLang="en-US" sz="2415" b="1" dirty="0">
              <a:solidFill>
                <a:srgbClr val="000000"/>
              </a:solidFill>
              <a:latin typeface="Bosch Office Sans"/>
              <a:sym typeface="+mn-ea"/>
            </a:endParaRPr>
          </a:p>
        </p:txBody>
      </p:sp>
      <p:sp>
        <p:nvSpPr>
          <p:cNvPr id="6" name="Rectangle 33"/>
          <p:cNvSpPr/>
          <p:nvPr/>
        </p:nvSpPr>
        <p:spPr bwMode="gray">
          <a:xfrm>
            <a:off x="16881484" y="15924732"/>
            <a:ext cx="3278039" cy="56167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200696" tIns="100348" rIns="200696" bIns="100348" numCol="1" spcCol="0" rtlCol="0" fromWordArt="0" anchor="ctr" anchorCtr="0" forceAA="0" compatLnSpc="0">
            <a:noAutofit/>
          </a:bodyPr>
          <a:p>
            <a:pPr lvl="0" algn="ctr"/>
            <a:r>
              <a:rPr lang="zh-CN" altLang="en-US" sz="2415" b="1" dirty="0">
                <a:solidFill>
                  <a:srgbClr val="000000"/>
                </a:solidFill>
                <a:latin typeface="Bosch Office Sans"/>
                <a:sym typeface="+mn-ea"/>
              </a:rPr>
              <a:t>2023 Q3</a:t>
            </a:r>
            <a:endParaRPr lang="zh-CN" altLang="en-US" sz="2415" b="1" dirty="0">
              <a:solidFill>
                <a:srgbClr val="000000"/>
              </a:solidFill>
              <a:latin typeface="Bosch Office Sans"/>
              <a:sym typeface="+mn-ea"/>
            </a:endParaRPr>
          </a:p>
        </p:txBody>
      </p:sp>
      <p:sp>
        <p:nvSpPr>
          <p:cNvPr id="7" name="Rectangle 33"/>
          <p:cNvSpPr/>
          <p:nvPr/>
        </p:nvSpPr>
        <p:spPr bwMode="gray">
          <a:xfrm>
            <a:off x="20379732" y="15924732"/>
            <a:ext cx="3278039" cy="56167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200696" tIns="100348" rIns="200696" bIns="100348" numCol="1" spcCol="0" rtlCol="0" fromWordArt="0" anchor="ctr" anchorCtr="0" forceAA="0" compatLnSpc="0">
            <a:noAutofit/>
          </a:bodyPr>
          <a:p>
            <a:pPr lvl="0" algn="ctr"/>
            <a:r>
              <a:rPr lang="zh-CN" altLang="en-US" sz="2415" b="1" dirty="0">
                <a:solidFill>
                  <a:srgbClr val="000000"/>
                </a:solidFill>
                <a:latin typeface="Bosch Office Sans"/>
                <a:sym typeface="+mn-ea"/>
              </a:rPr>
              <a:t>2023 Q4</a:t>
            </a:r>
            <a:endParaRPr lang="zh-CN" altLang="en-US" sz="2415" b="1" dirty="0">
              <a:solidFill>
                <a:srgbClr val="000000"/>
              </a:solidFill>
              <a:latin typeface="Bosch Office Sans"/>
              <a:sym typeface="+mn-ea"/>
            </a:endParaRPr>
          </a:p>
        </p:txBody>
      </p:sp>
      <p:sp>
        <p:nvSpPr>
          <p:cNvPr id="8" name="Rectangle 33"/>
          <p:cNvSpPr/>
          <p:nvPr/>
        </p:nvSpPr>
        <p:spPr bwMode="gray">
          <a:xfrm>
            <a:off x="23811081" y="15924732"/>
            <a:ext cx="3278039" cy="56167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200696" tIns="100348" rIns="200696" bIns="100348" numCol="1" spcCol="0" rtlCol="0" fromWordArt="0" anchor="ctr" anchorCtr="0" forceAA="0" compatLnSpc="0">
            <a:noAutofit/>
          </a:bodyPr>
          <a:p>
            <a:pPr lvl="0" algn="ctr"/>
            <a:r>
              <a:rPr lang="zh-CN" altLang="en-US" sz="2415" b="1" dirty="0">
                <a:solidFill>
                  <a:srgbClr val="000000"/>
                </a:solidFill>
                <a:latin typeface="Bosch Office Sans"/>
                <a:sym typeface="+mn-ea"/>
              </a:rPr>
              <a:t>2024</a:t>
            </a:r>
            <a:endParaRPr lang="zh-CN" altLang="en-US" sz="2415" b="1" dirty="0">
              <a:solidFill>
                <a:srgbClr val="000000"/>
              </a:solidFill>
              <a:latin typeface="Bosch Office Sans"/>
              <a:sym typeface="+mn-ea"/>
            </a:endParaRPr>
          </a:p>
        </p:txBody>
      </p:sp>
      <p:sp>
        <p:nvSpPr>
          <p:cNvPr id="9" name="Rectangle 33"/>
          <p:cNvSpPr/>
          <p:nvPr/>
        </p:nvSpPr>
        <p:spPr bwMode="gray">
          <a:xfrm>
            <a:off x="27287029" y="15912189"/>
            <a:ext cx="2801386" cy="560277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200696" tIns="100348" rIns="200696" bIns="100348" numCol="1" spcCol="0" rtlCol="0" fromWordArt="0" anchor="ctr" anchorCtr="0" forceAA="0" compatLnSpc="0">
            <a:noAutofit/>
          </a:bodyPr>
          <a:p>
            <a:pPr lvl="0" algn="ctr"/>
            <a:r>
              <a:rPr lang="zh-CN" altLang="en-US" sz="2415" b="1" dirty="0">
                <a:solidFill>
                  <a:srgbClr val="000000"/>
                </a:solidFill>
                <a:latin typeface="Bosch Office Sans"/>
                <a:sym typeface="+mn-ea"/>
              </a:rPr>
              <a:t>2025</a:t>
            </a:r>
            <a:endParaRPr lang="zh-CN" altLang="en-US" sz="2415" b="1" dirty="0">
              <a:solidFill>
                <a:srgbClr val="000000"/>
              </a:solidFill>
              <a:latin typeface="Bosch Office Sans"/>
              <a:sym typeface="+mn-ea"/>
            </a:endParaRPr>
          </a:p>
        </p:txBody>
      </p:sp>
      <p:sp>
        <p:nvSpPr>
          <p:cNvPr id="10" name="Chevron 23"/>
          <p:cNvSpPr/>
          <p:nvPr/>
        </p:nvSpPr>
        <p:spPr>
          <a:xfrm>
            <a:off x="23844531" y="5615355"/>
            <a:ext cx="3276646" cy="632751"/>
          </a:xfrm>
          <a:prstGeom prst="chevron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lvl="0" algn="ctr"/>
            <a:r>
              <a:rPr lang="zh-CN" altLang="en-US" sz="2415" b="1" dirty="0">
                <a:solidFill>
                  <a:srgbClr val="000000"/>
                </a:solidFill>
                <a:latin typeface="Bosch Office Sans"/>
                <a:sym typeface="+mn-ea"/>
              </a:rPr>
              <a:t>数据分析</a:t>
            </a:r>
            <a:endParaRPr lang="zh-CN" altLang="en-US" sz="2415" b="1" dirty="0">
              <a:solidFill>
                <a:srgbClr val="000000"/>
              </a:solidFill>
              <a:latin typeface="Bosch Office Sans"/>
              <a:sym typeface="+mn-ea"/>
            </a:endParaRPr>
          </a:p>
        </p:txBody>
      </p:sp>
      <p:sp>
        <p:nvSpPr>
          <p:cNvPr id="11" name="Chevron 23"/>
          <p:cNvSpPr/>
          <p:nvPr/>
        </p:nvSpPr>
        <p:spPr>
          <a:xfrm>
            <a:off x="27319697" y="5614790"/>
            <a:ext cx="2802474" cy="632114"/>
          </a:xfrm>
          <a:prstGeom prst="chevron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lvl="0" algn="ctr"/>
            <a:r>
              <a:rPr lang="zh-CN" altLang="en-US" sz="2415" b="1" dirty="0">
                <a:solidFill>
                  <a:srgbClr val="000000"/>
                </a:solidFill>
                <a:latin typeface="Bosch Office Sans"/>
                <a:sym typeface="+mn-ea"/>
              </a:rPr>
              <a:t>数据运营</a:t>
            </a:r>
            <a:endParaRPr lang="zh-CN" altLang="en-US" sz="2415" b="1" dirty="0">
              <a:solidFill>
                <a:srgbClr val="000000"/>
              </a:solidFill>
              <a:latin typeface="Bosch Office Sans"/>
              <a:sym typeface="+mn-ea"/>
            </a:endParaRPr>
          </a:p>
        </p:txBody>
      </p:sp>
      <p:sp>
        <p:nvSpPr>
          <p:cNvPr id="12" name="Chevron 26"/>
          <p:cNvSpPr/>
          <p:nvPr/>
        </p:nvSpPr>
        <p:spPr>
          <a:xfrm>
            <a:off x="9790216" y="8192351"/>
            <a:ext cx="7016008" cy="649475"/>
          </a:xfrm>
          <a:prstGeom prst="chevron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lvl="0" algn="ctr"/>
            <a:r>
              <a:rPr lang="zh-CN" altLang="en-US" sz="2415" b="1" dirty="0">
                <a:solidFill>
                  <a:srgbClr val="000000"/>
                </a:solidFill>
                <a:latin typeface="Bosch Office Sans"/>
                <a:sym typeface="+mn-ea"/>
              </a:rPr>
              <a:t>采购协同自动化</a:t>
            </a:r>
            <a:endParaRPr lang="zh-CN" altLang="en-US" sz="2415" b="1" dirty="0">
              <a:solidFill>
                <a:srgbClr val="000000"/>
              </a:solidFill>
              <a:latin typeface="Bosch Office Sans"/>
              <a:sym typeface="+mn-ea"/>
            </a:endParaRPr>
          </a:p>
        </p:txBody>
      </p:sp>
      <p:sp>
        <p:nvSpPr>
          <p:cNvPr id="13" name="Chevron 23"/>
          <p:cNvSpPr/>
          <p:nvPr/>
        </p:nvSpPr>
        <p:spPr>
          <a:xfrm>
            <a:off x="23812475" y="8210469"/>
            <a:ext cx="5994408" cy="649475"/>
          </a:xfrm>
          <a:prstGeom prst="chevron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lvl="0" algn="ctr"/>
            <a:r>
              <a:rPr lang="zh-CN" altLang="en-US" sz="2415" b="1" dirty="0">
                <a:solidFill>
                  <a:srgbClr val="000000"/>
                </a:solidFill>
                <a:latin typeface="Bosch Office Sans"/>
                <a:sym typeface="+mn-ea"/>
              </a:rPr>
              <a:t>采购过程控制</a:t>
            </a:r>
            <a:endParaRPr lang="zh-CN" altLang="en-US" sz="2415" b="1" dirty="0">
              <a:solidFill>
                <a:srgbClr val="000000"/>
              </a:solidFill>
              <a:latin typeface="Bosch Office Sans"/>
              <a:sym typeface="+mn-ea"/>
            </a:endParaRPr>
          </a:p>
        </p:txBody>
      </p:sp>
      <p:sp>
        <p:nvSpPr>
          <p:cNvPr id="14" name="Chevron 47"/>
          <p:cNvSpPr/>
          <p:nvPr/>
        </p:nvSpPr>
        <p:spPr>
          <a:xfrm>
            <a:off x="9734467" y="9209769"/>
            <a:ext cx="3239015" cy="632751"/>
          </a:xfrm>
          <a:prstGeom prst="chevron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lvl="0" algn="ctr"/>
            <a:r>
              <a:rPr lang="zh-CN" altLang="en-US" sz="2415" b="1" dirty="0">
                <a:solidFill>
                  <a:srgbClr val="000000"/>
                </a:solidFill>
                <a:latin typeface="Bosch Office Sans"/>
                <a:sym typeface="+mn-ea"/>
              </a:rPr>
              <a:t>MPS主计划</a:t>
            </a:r>
            <a:endParaRPr lang="zh-CN" altLang="en-US" sz="2415" b="1" dirty="0">
              <a:solidFill>
                <a:srgbClr val="000000"/>
              </a:solidFill>
              <a:latin typeface="Bosch Office Sans"/>
              <a:sym typeface="+mn-ea"/>
            </a:endParaRPr>
          </a:p>
        </p:txBody>
      </p:sp>
      <p:sp>
        <p:nvSpPr>
          <p:cNvPr id="15" name="Chevron 47"/>
          <p:cNvSpPr/>
          <p:nvPr/>
        </p:nvSpPr>
        <p:spPr>
          <a:xfrm>
            <a:off x="9734467" y="9921962"/>
            <a:ext cx="6958865" cy="641113"/>
          </a:xfrm>
          <a:prstGeom prst="chevron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lvl="0" algn="ctr"/>
            <a:r>
              <a:rPr lang="zh-CN" altLang="en-US" sz="2415" b="1" dirty="0">
                <a:solidFill>
                  <a:srgbClr val="000000"/>
                </a:solidFill>
                <a:latin typeface="Bosch Office Sans"/>
                <a:sym typeface="+mn-ea"/>
              </a:rPr>
              <a:t>物料需求管理</a:t>
            </a:r>
            <a:endParaRPr lang="zh-CN" altLang="en-US" sz="2415" b="1" dirty="0">
              <a:solidFill>
                <a:srgbClr val="000000"/>
              </a:solidFill>
              <a:latin typeface="Bosch Office Sans"/>
              <a:sym typeface="+mn-ea"/>
            </a:endParaRPr>
          </a:p>
        </p:txBody>
      </p:sp>
      <p:sp>
        <p:nvSpPr>
          <p:cNvPr id="16" name="Chevron 47"/>
          <p:cNvSpPr/>
          <p:nvPr/>
        </p:nvSpPr>
        <p:spPr>
          <a:xfrm>
            <a:off x="6551201" y="9930325"/>
            <a:ext cx="3239015" cy="632751"/>
          </a:xfrm>
          <a:prstGeom prst="chevron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lvl="0" algn="ctr"/>
            <a:r>
              <a:rPr lang="zh-CN" altLang="en-US" sz="2415" b="1" dirty="0">
                <a:solidFill>
                  <a:srgbClr val="000000"/>
                </a:solidFill>
                <a:latin typeface="Bosch Office Sans"/>
                <a:sym typeface="+mn-ea"/>
              </a:rPr>
              <a:t>D+3/W+1排产</a:t>
            </a:r>
            <a:endParaRPr lang="zh-CN" altLang="en-US" sz="2415" b="1" dirty="0">
              <a:solidFill>
                <a:srgbClr val="000000"/>
              </a:solidFill>
              <a:latin typeface="Bosch Office Sans"/>
              <a:sym typeface="+mn-ea"/>
            </a:endParaRPr>
          </a:p>
        </p:txBody>
      </p:sp>
      <p:sp>
        <p:nvSpPr>
          <p:cNvPr id="17" name="Chevron 23"/>
          <p:cNvSpPr/>
          <p:nvPr/>
        </p:nvSpPr>
        <p:spPr>
          <a:xfrm>
            <a:off x="16771380" y="9931718"/>
            <a:ext cx="10317740" cy="632751"/>
          </a:xfrm>
          <a:prstGeom prst="chevron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lvl="0" algn="ctr"/>
            <a:r>
              <a:rPr lang="zh-CN" altLang="en-US" sz="2415" b="1" dirty="0">
                <a:solidFill>
                  <a:srgbClr val="000000"/>
                </a:solidFill>
                <a:latin typeface="Bosch Office Sans"/>
                <a:sym typeface="+mn-ea"/>
              </a:rPr>
              <a:t>计划快速联动反应</a:t>
            </a:r>
            <a:endParaRPr lang="zh-CN" altLang="en-US" sz="2415" b="1" dirty="0">
              <a:solidFill>
                <a:srgbClr val="000000"/>
              </a:solidFill>
              <a:latin typeface="Bosch Office Sans"/>
              <a:sym typeface="+mn-ea"/>
            </a:endParaRPr>
          </a:p>
        </p:txBody>
      </p:sp>
      <p:sp>
        <p:nvSpPr>
          <p:cNvPr id="18" name="Chevron 47"/>
          <p:cNvSpPr/>
          <p:nvPr/>
        </p:nvSpPr>
        <p:spPr>
          <a:xfrm>
            <a:off x="26882849" y="9926143"/>
            <a:ext cx="3239015" cy="632751"/>
          </a:xfrm>
          <a:prstGeom prst="chevron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lvl="0" algn="ctr"/>
            <a:r>
              <a:rPr lang="zh-CN" altLang="en-US" sz="2415" b="1" dirty="0">
                <a:solidFill>
                  <a:srgbClr val="000000"/>
                </a:solidFill>
                <a:latin typeface="Bosch Office Sans"/>
                <a:sym typeface="+mn-ea"/>
              </a:rPr>
              <a:t>智能方案推荐</a:t>
            </a:r>
            <a:endParaRPr lang="zh-CN" altLang="en-US" sz="2415" b="1" dirty="0">
              <a:solidFill>
                <a:srgbClr val="000000"/>
              </a:solidFill>
              <a:latin typeface="Bosch Office Sans"/>
              <a:sym typeface="+mn-ea"/>
            </a:endParaRPr>
          </a:p>
        </p:txBody>
      </p:sp>
      <p:sp>
        <p:nvSpPr>
          <p:cNvPr id="19" name="Chevron 23"/>
          <p:cNvSpPr/>
          <p:nvPr/>
        </p:nvSpPr>
        <p:spPr>
          <a:xfrm>
            <a:off x="6551201" y="11158196"/>
            <a:ext cx="8680114" cy="653657"/>
          </a:xfrm>
          <a:prstGeom prst="chevron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lvl="0" algn="ctr"/>
            <a:r>
              <a:rPr lang="zh-CN" altLang="en-US" sz="2415" b="1" dirty="0">
                <a:solidFill>
                  <a:srgbClr val="000000"/>
                </a:solidFill>
                <a:latin typeface="Bosch Office Sans"/>
                <a:sym typeface="+mn-ea"/>
              </a:rPr>
              <a:t>关键节点控制与追溯</a:t>
            </a:r>
            <a:endParaRPr lang="zh-CN" altLang="en-US" sz="2415" b="1" dirty="0">
              <a:solidFill>
                <a:srgbClr val="000000"/>
              </a:solidFill>
              <a:latin typeface="Bosch Office Sans"/>
              <a:sym typeface="+mn-ea"/>
            </a:endParaRPr>
          </a:p>
        </p:txBody>
      </p:sp>
      <p:sp>
        <p:nvSpPr>
          <p:cNvPr id="20" name="Chevron 23"/>
          <p:cNvSpPr/>
          <p:nvPr/>
        </p:nvSpPr>
        <p:spPr>
          <a:xfrm>
            <a:off x="23657772" y="11947044"/>
            <a:ext cx="6464093" cy="663413"/>
          </a:xfrm>
          <a:prstGeom prst="chevron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lvl="0" algn="ctr"/>
            <a:r>
              <a:rPr lang="zh-CN" altLang="en-US" sz="2415" b="1" dirty="0">
                <a:solidFill>
                  <a:srgbClr val="000000"/>
                </a:solidFill>
                <a:latin typeface="Bosch Office Sans"/>
                <a:sym typeface="+mn-ea"/>
              </a:rPr>
              <a:t>数据驱动效率提升</a:t>
            </a:r>
            <a:endParaRPr lang="zh-CN" altLang="en-US" sz="2415" b="1" dirty="0">
              <a:solidFill>
                <a:srgbClr val="000000"/>
              </a:solidFill>
              <a:latin typeface="Bosch Office Sans"/>
              <a:sym typeface="+mn-ea"/>
            </a:endParaRPr>
          </a:p>
        </p:txBody>
      </p:sp>
      <p:sp>
        <p:nvSpPr>
          <p:cNvPr id="21" name="Chevron 29"/>
          <p:cNvSpPr/>
          <p:nvPr/>
        </p:nvSpPr>
        <p:spPr>
          <a:xfrm>
            <a:off x="6475940" y="13668293"/>
            <a:ext cx="6753988" cy="547734"/>
          </a:xfrm>
          <a:prstGeom prst="chevron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lvl="0" algn="ctr"/>
            <a:r>
              <a:rPr lang="zh-CN" altLang="en-US" sz="2415" b="1" dirty="0">
                <a:solidFill>
                  <a:srgbClr val="000000"/>
                </a:solidFill>
                <a:latin typeface="Bosch Office Sans"/>
                <a:sym typeface="+mn-ea"/>
              </a:rPr>
              <a:t>进出口报关线上化</a:t>
            </a:r>
            <a:endParaRPr lang="zh-CN" altLang="en-US" sz="2415" b="1" dirty="0">
              <a:solidFill>
                <a:srgbClr val="000000"/>
              </a:solidFill>
              <a:latin typeface="Bosch Office Sans"/>
              <a:sym typeface="+mn-ea"/>
            </a:endParaRPr>
          </a:p>
        </p:txBody>
      </p:sp>
      <p:sp>
        <p:nvSpPr>
          <p:cNvPr id="22" name="Chevron 29"/>
          <p:cNvSpPr/>
          <p:nvPr/>
        </p:nvSpPr>
        <p:spPr>
          <a:xfrm>
            <a:off x="13203446" y="13668293"/>
            <a:ext cx="6753988" cy="547734"/>
          </a:xfrm>
          <a:prstGeom prst="chevron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lvl="0" algn="ctr"/>
            <a:r>
              <a:rPr lang="zh-CN" altLang="en-US" sz="2415" b="1" dirty="0">
                <a:solidFill>
                  <a:srgbClr val="000000"/>
                </a:solidFill>
                <a:latin typeface="Bosch Office Sans"/>
                <a:sym typeface="+mn-ea"/>
              </a:rPr>
              <a:t>合规控制</a:t>
            </a:r>
            <a:endParaRPr lang="zh-CN" altLang="en-US" sz="2415" b="1" dirty="0">
              <a:solidFill>
                <a:srgbClr val="000000"/>
              </a:solidFill>
              <a:latin typeface="Bosch Office Sans"/>
              <a:sym typeface="+mn-ea"/>
            </a:endParaRPr>
          </a:p>
        </p:txBody>
      </p:sp>
      <p:sp>
        <p:nvSpPr>
          <p:cNvPr id="23" name="Chevron 47"/>
          <p:cNvSpPr/>
          <p:nvPr/>
        </p:nvSpPr>
        <p:spPr>
          <a:xfrm>
            <a:off x="23642441" y="12988156"/>
            <a:ext cx="3446680" cy="632751"/>
          </a:xfrm>
          <a:prstGeom prst="chevron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lvl="0" algn="ctr"/>
            <a:r>
              <a:rPr lang="zh-CN" altLang="en-US" sz="2415" b="1" dirty="0">
                <a:solidFill>
                  <a:srgbClr val="000000"/>
                </a:solidFill>
                <a:latin typeface="Bosch Office Sans"/>
                <a:sym typeface="+mn-ea"/>
              </a:rPr>
              <a:t>分级自动补货</a:t>
            </a:r>
            <a:endParaRPr lang="zh-CN" altLang="en-US" sz="2415" b="1" dirty="0">
              <a:solidFill>
                <a:srgbClr val="000000"/>
              </a:solidFill>
              <a:latin typeface="Bosch Office Sans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订单交付全流程</a:t>
            </a:r>
            <a:r>
              <a:rPr lang="zh-CN" altLang="en-US">
                <a:sym typeface="+mn-ea"/>
              </a:rPr>
              <a:t>在线可视</a:t>
            </a:r>
            <a:endParaRPr lang="zh-CN" altLang="en-US"/>
          </a:p>
        </p:txBody>
      </p:sp>
      <p:sp>
        <p:nvSpPr>
          <p:cNvPr id="121" name="TextBox 34"/>
          <p:cNvSpPr txBox="1"/>
          <p:nvPr/>
        </p:nvSpPr>
        <p:spPr>
          <a:xfrm>
            <a:off x="21784302" y="6268051"/>
            <a:ext cx="4533734" cy="47752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rgbClr val="000000"/>
          </a:fontRef>
        </p:style>
        <p:txBody>
          <a:bodyPr rot="0" spcFirstLastPara="1" vertOverflow="overflow" horzOverflow="overflow" vert="horz" wrap="square" lIns="84929" tIns="84929" rIns="84929" bIns="84929" numCol="1" spcCol="38100" rtlCol="0" anchor="ctr">
            <a:spAutoFit/>
          </a:bodyPr>
          <a:lstStyle/>
          <a:p>
            <a:pPr defTabSz="1650365" latinLnBrk="1"/>
            <a:r>
              <a:rPr lang="zh-CN" altLang="en-US" sz="201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未达成规划但对客户无影响</a:t>
            </a:r>
            <a:endParaRPr lang="zh-CN" altLang="en-US" sz="201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graphicFrame>
        <p:nvGraphicFramePr>
          <p:cNvPr id="81" name="表格 2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304519" y="11597095"/>
          <a:ext cx="23667720" cy="30099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944620"/>
                <a:gridCol w="3944620"/>
                <a:gridCol w="3944620"/>
                <a:gridCol w="3944620"/>
                <a:gridCol w="3944620"/>
                <a:gridCol w="3944620"/>
              </a:tblGrid>
              <a:tr h="1082040">
                <a:tc>
                  <a:txBody>
                    <a:bodyPr/>
                    <a:lstStyle/>
                    <a:p>
                      <a:r>
                        <a:rPr lang="zh-CN" altLang="en-US" sz="2930" b="1" dirty="0">
                          <a:solidFill>
                            <a:schemeClr val="accent6"/>
                          </a:solidFill>
                        </a:rPr>
                        <a:t>时间节点</a:t>
                      </a:r>
                      <a:endParaRPr lang="zh-CN" altLang="en-US" sz="2930" b="1" dirty="0">
                        <a:solidFill>
                          <a:schemeClr val="accent6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52875" marR="152875" marT="76437" marB="76437" anchor="ctr"/>
                </a:tc>
                <a:tc>
                  <a:txBody>
                    <a:bodyPr/>
                    <a:lstStyle/>
                    <a:p>
                      <a:r>
                        <a:rPr lang="zh-CN" altLang="en-US" sz="2930" b="1" dirty="0">
                          <a:solidFill>
                            <a:schemeClr val="accent6"/>
                          </a:solidFill>
                        </a:rPr>
                        <a:t>原材料入库</a:t>
                      </a:r>
                      <a:endParaRPr lang="zh-CN" altLang="en-US" sz="2930" b="1" dirty="0">
                        <a:solidFill>
                          <a:schemeClr val="accent6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52875" marR="152875" marT="76437" marB="76437" anchor="ctr"/>
                </a:tc>
                <a:tc>
                  <a:txBody>
                    <a:bodyPr/>
                    <a:lstStyle/>
                    <a:p>
                      <a:r>
                        <a:rPr lang="zh-CN" altLang="en-US" sz="2930" b="1" dirty="0">
                          <a:solidFill>
                            <a:schemeClr val="accent6"/>
                          </a:solidFill>
                        </a:rPr>
                        <a:t>订单生产</a:t>
                      </a:r>
                      <a:endParaRPr lang="zh-CN" altLang="en-US" sz="2930" b="1" dirty="0">
                        <a:solidFill>
                          <a:schemeClr val="accent6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52875" marR="152875" marT="76437" marB="76437" anchor="ctr"/>
                </a:tc>
                <a:tc>
                  <a:txBody>
                    <a:bodyPr/>
                    <a:lstStyle/>
                    <a:p>
                      <a:r>
                        <a:rPr lang="zh-CN" altLang="en-US" sz="2930" b="1" dirty="0">
                          <a:solidFill>
                            <a:schemeClr val="accent6"/>
                          </a:solidFill>
                        </a:rPr>
                        <a:t>成品入库</a:t>
                      </a:r>
                      <a:endParaRPr lang="zh-CN" altLang="en-US" sz="2930" b="1" dirty="0">
                        <a:solidFill>
                          <a:schemeClr val="accent6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52875" marR="152875" marT="76437" marB="76437" anchor="ctr"/>
                </a:tc>
                <a:tc>
                  <a:txBody>
                    <a:bodyPr/>
                    <a:lstStyle/>
                    <a:p>
                      <a:r>
                        <a:rPr lang="zh-CN" altLang="en-US" sz="2930" b="1" dirty="0">
                          <a:solidFill>
                            <a:schemeClr val="accent6"/>
                          </a:solidFill>
                        </a:rPr>
                        <a:t>成品发货</a:t>
                      </a:r>
                      <a:endParaRPr lang="zh-CN" altLang="en-US" sz="2930" b="1" dirty="0">
                        <a:solidFill>
                          <a:schemeClr val="accent6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52875" marR="152875" marT="76437" marB="76437" anchor="ctr"/>
                </a:tc>
                <a:tc>
                  <a:txBody>
                    <a:bodyPr/>
                    <a:lstStyle/>
                    <a:p>
                      <a:r>
                        <a:rPr lang="zh-CN" altLang="en-US" sz="2930" b="1" dirty="0">
                          <a:solidFill>
                            <a:schemeClr val="accent6"/>
                          </a:solidFill>
                        </a:rPr>
                        <a:t>客户需求满足</a:t>
                      </a:r>
                      <a:endParaRPr lang="zh-CN" altLang="en-US" sz="2930" b="1" dirty="0">
                        <a:solidFill>
                          <a:schemeClr val="accent6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52875" marR="152875" marT="76437" marB="76437" anchor="ctr"/>
                </a:tc>
              </a:tr>
              <a:tr h="642620">
                <a:tc>
                  <a:txBody>
                    <a:bodyPr/>
                    <a:lstStyle/>
                    <a:p>
                      <a:r>
                        <a:rPr lang="zh-CN" altLang="en-US" sz="2930" b="1" dirty="0">
                          <a:solidFill>
                            <a:schemeClr val="accent6"/>
                          </a:solidFill>
                        </a:rPr>
                        <a:t>预计时间</a:t>
                      </a:r>
                      <a:endParaRPr lang="zh-CN" altLang="en-US" sz="2930" b="1" dirty="0">
                        <a:solidFill>
                          <a:schemeClr val="accent6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52875" marR="152875" marT="76437" marB="76437" anchor="ctr"/>
                </a:tc>
                <a:tc>
                  <a:txBody>
                    <a:bodyPr/>
                    <a:lstStyle/>
                    <a:p>
                      <a:r>
                        <a:rPr lang="en-US" altLang="zh-CN" sz="2930" b="1" dirty="0">
                          <a:solidFill>
                            <a:schemeClr val="accent6"/>
                          </a:solidFill>
                        </a:rPr>
                        <a:t>20-08-20</a:t>
                      </a:r>
                      <a:endParaRPr lang="zh-CN" altLang="en-US" sz="2930" b="1" dirty="0">
                        <a:solidFill>
                          <a:schemeClr val="accent6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52875" marR="152875" marT="76437" marB="76437" anchor="ctr"/>
                </a:tc>
                <a:tc>
                  <a:txBody>
                    <a:bodyPr/>
                    <a:lstStyle/>
                    <a:p>
                      <a:r>
                        <a:rPr lang="en-US" altLang="zh-CN" sz="2930" b="1" dirty="0">
                          <a:solidFill>
                            <a:schemeClr val="accent6"/>
                          </a:solidFill>
                        </a:rPr>
                        <a:t>20-08-23</a:t>
                      </a:r>
                      <a:endParaRPr lang="zh-CN" altLang="en-US" sz="2930" b="1" dirty="0">
                        <a:solidFill>
                          <a:schemeClr val="accent6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52875" marR="152875" marT="76437" marB="76437" anchor="ctr"/>
                </a:tc>
                <a:tc>
                  <a:txBody>
                    <a:bodyPr/>
                    <a:lstStyle/>
                    <a:p>
                      <a:r>
                        <a:rPr lang="en-US" altLang="zh-CN" sz="2930" b="1" dirty="0">
                          <a:solidFill>
                            <a:schemeClr val="accent6"/>
                          </a:solidFill>
                        </a:rPr>
                        <a:t>20-08-24</a:t>
                      </a:r>
                      <a:endParaRPr lang="zh-CN" altLang="en-US" sz="2930" b="1" dirty="0">
                        <a:solidFill>
                          <a:schemeClr val="accent6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52875" marR="152875" marT="76437" marB="76437" anchor="ctr"/>
                </a:tc>
                <a:tc>
                  <a:txBody>
                    <a:bodyPr/>
                    <a:lstStyle/>
                    <a:p>
                      <a:r>
                        <a:rPr lang="en-US" altLang="zh-CN" sz="2930" b="1" dirty="0">
                          <a:solidFill>
                            <a:schemeClr val="accent6"/>
                          </a:solidFill>
                        </a:rPr>
                        <a:t>20-08-25</a:t>
                      </a:r>
                      <a:endParaRPr lang="zh-CN" altLang="en-US" sz="2930" b="1" dirty="0">
                        <a:solidFill>
                          <a:schemeClr val="accent6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52875" marR="152875" marT="76437" marB="76437" anchor="ctr"/>
                </a:tc>
                <a:tc>
                  <a:txBody>
                    <a:bodyPr/>
                    <a:lstStyle/>
                    <a:p>
                      <a:r>
                        <a:rPr lang="en-US" altLang="zh-CN" sz="2930" b="1" dirty="0">
                          <a:solidFill>
                            <a:schemeClr val="accent6"/>
                          </a:solidFill>
                        </a:rPr>
                        <a:t>20-08-26</a:t>
                      </a:r>
                      <a:endParaRPr lang="zh-CN" altLang="en-US" sz="2930" b="1" dirty="0">
                        <a:solidFill>
                          <a:schemeClr val="accent6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52875" marR="152875" marT="76437" marB="76437" anchor="ctr"/>
                </a:tc>
              </a:tr>
              <a:tr h="642620">
                <a:tc>
                  <a:txBody>
                    <a:bodyPr/>
                    <a:lstStyle/>
                    <a:p>
                      <a:r>
                        <a:rPr lang="zh-CN" altLang="en-US" sz="2930" b="1" dirty="0">
                          <a:solidFill>
                            <a:schemeClr val="accent6"/>
                          </a:solidFill>
                        </a:rPr>
                        <a:t>实际时间</a:t>
                      </a:r>
                      <a:endParaRPr lang="zh-CN" altLang="en-US" sz="2930" b="1" dirty="0">
                        <a:solidFill>
                          <a:schemeClr val="accent6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52875" marR="152875" marT="76437" marB="76437" anchor="ctr"/>
                </a:tc>
                <a:tc>
                  <a:txBody>
                    <a:bodyPr/>
                    <a:lstStyle/>
                    <a:p>
                      <a:r>
                        <a:rPr lang="en-US" altLang="zh-CN" sz="2930" b="1" dirty="0">
                          <a:solidFill>
                            <a:schemeClr val="accent6"/>
                          </a:solidFill>
                        </a:rPr>
                        <a:t>20-08-20</a:t>
                      </a:r>
                      <a:endParaRPr lang="zh-CN" altLang="en-US" sz="2930" b="1" dirty="0">
                        <a:solidFill>
                          <a:schemeClr val="accent6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52875" marR="152875" marT="76437" marB="76437" anchor="ctr"/>
                </a:tc>
                <a:tc>
                  <a:txBody>
                    <a:bodyPr/>
                    <a:lstStyle/>
                    <a:p>
                      <a:r>
                        <a:rPr lang="en-US" altLang="zh-CN" sz="2930" b="1" dirty="0">
                          <a:solidFill>
                            <a:schemeClr val="accent6"/>
                          </a:solidFill>
                        </a:rPr>
                        <a:t>20-08-24</a:t>
                      </a:r>
                      <a:endParaRPr lang="zh-CN" altLang="en-US" sz="2930" b="1" dirty="0">
                        <a:solidFill>
                          <a:schemeClr val="accent6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52875" marR="152875" marT="76437" marB="76437" anchor="ctr"/>
                </a:tc>
                <a:tc>
                  <a:txBody>
                    <a:bodyPr/>
                    <a:lstStyle/>
                    <a:p>
                      <a:r>
                        <a:rPr lang="en-US" altLang="zh-CN" sz="2930" b="1" dirty="0">
                          <a:solidFill>
                            <a:schemeClr val="accent6"/>
                          </a:solidFill>
                        </a:rPr>
                        <a:t>20-08-25</a:t>
                      </a:r>
                      <a:endParaRPr lang="zh-CN" altLang="en-US" sz="2930" b="1" dirty="0">
                        <a:solidFill>
                          <a:schemeClr val="accent6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52875" marR="152875" marT="76437" marB="76437" anchor="ctr"/>
                </a:tc>
                <a:tc>
                  <a:txBody>
                    <a:bodyPr/>
                    <a:lstStyle/>
                    <a:p>
                      <a:r>
                        <a:rPr lang="en-US" altLang="zh-CN" sz="2930" b="1" dirty="0">
                          <a:solidFill>
                            <a:schemeClr val="accent6"/>
                          </a:solidFill>
                        </a:rPr>
                        <a:t>20-08-25</a:t>
                      </a:r>
                      <a:endParaRPr lang="zh-CN" altLang="en-US" sz="2930" b="1" dirty="0">
                        <a:solidFill>
                          <a:schemeClr val="accent6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52875" marR="152875" marT="76437" marB="76437" anchor="ctr"/>
                </a:tc>
                <a:tc>
                  <a:txBody>
                    <a:bodyPr/>
                    <a:lstStyle/>
                    <a:p>
                      <a:r>
                        <a:rPr lang="en-US" altLang="zh-CN" sz="2930" b="1" dirty="0">
                          <a:solidFill>
                            <a:schemeClr val="accent6"/>
                          </a:solidFill>
                        </a:rPr>
                        <a:t>20-08-26</a:t>
                      </a:r>
                      <a:endParaRPr lang="zh-CN" altLang="en-US" sz="2930" b="1" dirty="0">
                        <a:solidFill>
                          <a:schemeClr val="accent6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52875" marR="152875" marT="76437" marB="76437" anchor="ctr"/>
                </a:tc>
              </a:tr>
              <a:tr h="642620">
                <a:tc>
                  <a:txBody>
                    <a:bodyPr/>
                    <a:lstStyle/>
                    <a:p>
                      <a:r>
                        <a:rPr lang="zh-CN" altLang="en-US" sz="2930" b="1" dirty="0">
                          <a:solidFill>
                            <a:schemeClr val="accent6"/>
                          </a:solidFill>
                        </a:rPr>
                        <a:t>订单状态</a:t>
                      </a:r>
                      <a:endParaRPr lang="zh-CN" altLang="en-US" sz="2930" b="1" dirty="0">
                        <a:solidFill>
                          <a:schemeClr val="accent6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52875" marR="152875" marT="76437" marB="76437" anchor="ctr"/>
                </a:tc>
                <a:tc>
                  <a:txBody>
                    <a:bodyPr/>
                    <a:lstStyle/>
                    <a:p>
                      <a:endParaRPr lang="zh-CN" altLang="en-US" sz="2930" b="1" dirty="0">
                        <a:solidFill>
                          <a:schemeClr val="accent6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52875" marR="152875" marT="76437" marB="76437" anchor="ctr"/>
                </a:tc>
                <a:tc>
                  <a:txBody>
                    <a:bodyPr/>
                    <a:lstStyle/>
                    <a:p>
                      <a:endParaRPr lang="zh-CN" altLang="en-US" sz="2930" b="1" dirty="0">
                        <a:solidFill>
                          <a:schemeClr val="accent6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52875" marR="152875" marT="76437" marB="76437" anchor="ctr"/>
                </a:tc>
                <a:tc>
                  <a:txBody>
                    <a:bodyPr/>
                    <a:lstStyle/>
                    <a:p>
                      <a:endParaRPr lang="zh-CN" altLang="en-US" sz="2930" b="1" dirty="0">
                        <a:solidFill>
                          <a:schemeClr val="accent6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52875" marR="152875" marT="76437" marB="76437" anchor="ctr"/>
                </a:tc>
                <a:tc>
                  <a:txBody>
                    <a:bodyPr/>
                    <a:lstStyle/>
                    <a:p>
                      <a:endParaRPr lang="zh-CN" altLang="en-US" sz="2930" b="1" dirty="0">
                        <a:solidFill>
                          <a:schemeClr val="accent6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52875" marR="152875" marT="76437" marB="76437" anchor="ctr"/>
                </a:tc>
                <a:tc>
                  <a:txBody>
                    <a:bodyPr/>
                    <a:lstStyle/>
                    <a:p>
                      <a:endParaRPr lang="zh-CN" altLang="en-US" sz="2930" b="1" dirty="0">
                        <a:solidFill>
                          <a:schemeClr val="accent6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152875" marR="152875" marT="76437" marB="76437" anchor="ctr"/>
                </a:tc>
              </a:tr>
            </a:tbl>
          </a:graphicData>
        </a:graphic>
      </p:graphicFrame>
      <p:grpSp>
        <p:nvGrpSpPr>
          <p:cNvPr id="53" name="组合 52"/>
          <p:cNvGrpSpPr/>
          <p:nvPr/>
        </p:nvGrpSpPr>
        <p:grpSpPr>
          <a:xfrm>
            <a:off x="12098920" y="13905630"/>
            <a:ext cx="16553262" cy="722536"/>
            <a:chOff x="9528506" y="9848558"/>
            <a:chExt cx="16405609" cy="2929450"/>
          </a:xfrm>
        </p:grpSpPr>
        <p:sp>
          <p:nvSpPr>
            <p:cNvPr id="82" name="椭圆 23"/>
            <p:cNvSpPr/>
            <p:nvPr/>
          </p:nvSpPr>
          <p:spPr>
            <a:xfrm>
              <a:off x="17569725" y="10038486"/>
              <a:ext cx="509378" cy="2531081"/>
            </a:xfrm>
            <a:prstGeom prst="ellipse">
              <a:avLst/>
            </a:prstGeom>
            <a:solidFill>
              <a:srgbClr val="FFC000"/>
            </a:solidFill>
            <a:ln w="1270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rgbClr val="000000"/>
            </a:fontRef>
          </p:style>
          <p:txBody>
            <a:bodyPr rot="0" spcFirstLastPara="1" vertOverflow="overflow" horzOverflow="overflow" vert="horz" wrap="square" lIns="84929" tIns="84929" rIns="84929" bIns="84929" numCol="1" spcCol="38100" rtlCol="0" anchor="ctr">
              <a:spAutoFit/>
            </a:bodyPr>
            <a:lstStyle/>
            <a:p>
              <a:pPr algn="ctr" defTabSz="1650365" latinLnBrk="1"/>
              <a:endParaRPr lang="zh-CN" altLang="en-US" sz="1755" dirty="0">
                <a:solidFill>
                  <a:srgbClr val="FFFFFF"/>
                </a:solidFill>
                <a:ea typeface="微软雅黑" pitchFamily="34" charset="-122"/>
                <a:sym typeface="Helvetica Light"/>
              </a:endParaRPr>
            </a:p>
          </p:txBody>
        </p:sp>
        <p:sp>
          <p:nvSpPr>
            <p:cNvPr id="83" name="椭圆 24"/>
            <p:cNvSpPr/>
            <p:nvPr/>
          </p:nvSpPr>
          <p:spPr>
            <a:xfrm>
              <a:off x="13567077" y="9955028"/>
              <a:ext cx="449686" cy="2723725"/>
            </a:xfrm>
            <a:prstGeom prst="ellipse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rgbClr val="000000"/>
            </a:fontRef>
          </p:style>
          <p:txBody>
            <a:bodyPr rot="0" spcFirstLastPara="1" vertOverflow="overflow" horzOverflow="overflow" vert="horz" wrap="square" lIns="84929" tIns="84929" rIns="84929" bIns="84929" numCol="1" spcCol="38100" rtlCol="0" anchor="ctr">
              <a:spAutoFit/>
            </a:bodyPr>
            <a:lstStyle/>
            <a:p>
              <a:pPr algn="ctr" defTabSz="1650365" latinLnBrk="1"/>
              <a:endParaRPr lang="zh-CN" altLang="en-US" sz="1975" dirty="0">
                <a:solidFill>
                  <a:srgbClr val="FFFFFF"/>
                </a:solidFill>
                <a:ea typeface="微软雅黑" pitchFamily="34" charset="-122"/>
                <a:sym typeface="Helvetica Light"/>
              </a:endParaRPr>
            </a:p>
          </p:txBody>
        </p:sp>
        <p:sp>
          <p:nvSpPr>
            <p:cNvPr id="84" name="椭圆 25"/>
            <p:cNvSpPr/>
            <p:nvPr/>
          </p:nvSpPr>
          <p:spPr>
            <a:xfrm>
              <a:off x="9528506" y="9860515"/>
              <a:ext cx="449686" cy="2917493"/>
            </a:xfrm>
            <a:prstGeom prst="ellipse">
              <a:avLst/>
            </a:prstGeom>
            <a:solidFill>
              <a:srgbClr val="00B050"/>
            </a:solidFill>
            <a:ln w="1270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rgbClr val="000000"/>
            </a:fontRef>
          </p:style>
          <p:txBody>
            <a:bodyPr rot="0" spcFirstLastPara="1" vertOverflow="overflow" horzOverflow="overflow" vert="horz" wrap="square" lIns="84929" tIns="84929" rIns="84929" bIns="84929" numCol="1" spcCol="38100" rtlCol="0" anchor="ctr">
              <a:spAutoFit/>
            </a:bodyPr>
            <a:lstStyle/>
            <a:p>
              <a:pPr algn="ctr" defTabSz="1650365" latinLnBrk="1"/>
              <a:endParaRPr lang="zh-CN" altLang="en-US" sz="2195" dirty="0">
                <a:solidFill>
                  <a:srgbClr val="FFFFFF"/>
                </a:solidFill>
                <a:ea typeface="微软雅黑" pitchFamily="34" charset="-122"/>
                <a:sym typeface="Helvetica Light"/>
              </a:endParaRPr>
            </a:p>
          </p:txBody>
        </p:sp>
        <p:sp>
          <p:nvSpPr>
            <p:cNvPr id="85" name="椭圆 26"/>
            <p:cNvSpPr/>
            <p:nvPr/>
          </p:nvSpPr>
          <p:spPr>
            <a:xfrm>
              <a:off x="21388899" y="9848558"/>
              <a:ext cx="509378" cy="2917493"/>
            </a:xfrm>
            <a:prstGeom prst="ellipse">
              <a:avLst/>
            </a:prstGeom>
            <a:solidFill>
              <a:srgbClr val="00B050"/>
            </a:solidFill>
            <a:ln w="1270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rgbClr val="000000"/>
            </a:fontRef>
          </p:style>
          <p:txBody>
            <a:bodyPr rot="0" spcFirstLastPara="1" vertOverflow="overflow" horzOverflow="overflow" vert="horz" wrap="square" lIns="84929" tIns="84929" rIns="84929" bIns="84929" numCol="1" spcCol="38100" rtlCol="0" anchor="ctr">
              <a:spAutoFit/>
            </a:bodyPr>
            <a:lstStyle/>
            <a:p>
              <a:pPr algn="ctr" defTabSz="1650365" latinLnBrk="1"/>
              <a:endParaRPr lang="zh-CN" altLang="en-US" sz="2195" dirty="0">
                <a:solidFill>
                  <a:srgbClr val="FFFFFF"/>
                </a:solidFill>
                <a:ea typeface="微软雅黑" pitchFamily="34" charset="-122"/>
                <a:sym typeface="Helvetica Light"/>
              </a:endParaRPr>
            </a:p>
          </p:txBody>
        </p:sp>
        <p:sp>
          <p:nvSpPr>
            <p:cNvPr id="86" name="椭圆 27"/>
            <p:cNvSpPr/>
            <p:nvPr/>
          </p:nvSpPr>
          <p:spPr>
            <a:xfrm>
              <a:off x="25484429" y="10041102"/>
              <a:ext cx="449686" cy="2531081"/>
            </a:xfrm>
            <a:prstGeom prst="ellipse">
              <a:avLst/>
            </a:prstGeom>
            <a:solidFill>
              <a:srgbClr val="00B050"/>
            </a:solidFill>
            <a:ln w="1270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rgbClr val="000000"/>
            </a:fontRef>
          </p:style>
          <p:txBody>
            <a:bodyPr rot="0" spcFirstLastPara="1" vertOverflow="overflow" horzOverflow="overflow" vert="horz" wrap="square" lIns="84929" tIns="84929" rIns="84929" bIns="84929" numCol="1" spcCol="38100" rtlCol="0" anchor="ctr">
              <a:spAutoFit/>
            </a:bodyPr>
            <a:lstStyle/>
            <a:p>
              <a:pPr algn="ctr" defTabSz="1650365" latinLnBrk="1"/>
              <a:endParaRPr lang="zh-CN" altLang="en-US" sz="1755" dirty="0">
                <a:solidFill>
                  <a:srgbClr val="FFFFFF"/>
                </a:solidFill>
                <a:ea typeface="微软雅黑" pitchFamily="34" charset="-122"/>
                <a:sym typeface="Helvetica Light"/>
              </a:endParaRPr>
            </a:p>
          </p:txBody>
        </p:sp>
      </p:grpSp>
      <p:sp>
        <p:nvSpPr>
          <p:cNvPr id="91" name="矩形 37"/>
          <p:cNvSpPr/>
          <p:nvPr/>
        </p:nvSpPr>
        <p:spPr>
          <a:xfrm>
            <a:off x="5304519" y="6678218"/>
            <a:ext cx="23662636" cy="945239"/>
          </a:xfrm>
          <a:prstGeom prst="rect">
            <a:avLst/>
          </a:prstGeom>
          <a:gradFill flip="none" rotWithShape="1">
            <a:gsLst>
              <a:gs pos="9000">
                <a:schemeClr val="tx1">
                  <a:lumMod val="50000"/>
                  <a:lumOff val="50000"/>
                  <a:alpha val="34000"/>
                </a:schemeClr>
              </a:gs>
              <a:gs pos="100000">
                <a:schemeClr val="tx1">
                  <a:lumMod val="65000"/>
                  <a:lumOff val="35000"/>
                  <a:alpha val="0"/>
                </a:schemeClr>
              </a:gs>
            </a:gsLst>
            <a:lin ang="162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203881" tIns="101939" rIns="203881" bIns="101939" numCol="1" spcCol="0" rtlCol="0" fromWordArt="0" anchor="ctr" anchorCtr="0" forceAA="0" compatLnSpc="1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675" b="1" dirty="0">
                <a:solidFill>
                  <a:schemeClr val="accent6"/>
                </a:solidFill>
                <a:ea typeface="微软雅黑" pitchFamily="34" charset="-122"/>
                <a:cs typeface="+mn-ea"/>
                <a:sym typeface="Helvetica Light"/>
              </a:rPr>
              <a:t>数字化控制平台</a:t>
            </a:r>
            <a:endParaRPr lang="zh-CN" altLang="en-US" sz="3675" b="1" dirty="0">
              <a:solidFill>
                <a:schemeClr val="accent6"/>
              </a:solidFill>
              <a:ea typeface="微软雅黑" pitchFamily="34" charset="-122"/>
              <a:cs typeface="+mn-ea"/>
              <a:sym typeface="Helvetica Light"/>
            </a:endParaRPr>
          </a:p>
        </p:txBody>
      </p:sp>
      <p:sp>
        <p:nvSpPr>
          <p:cNvPr id="93" name="椭圆 41"/>
          <p:cNvSpPr/>
          <p:nvPr/>
        </p:nvSpPr>
        <p:spPr>
          <a:xfrm>
            <a:off x="25304457" y="6237760"/>
            <a:ext cx="427873" cy="618602"/>
          </a:xfrm>
          <a:prstGeom prst="ellipse">
            <a:avLst/>
          </a:prstGeom>
          <a:solidFill>
            <a:srgbClr val="FF0000">
              <a:alpha val="78000"/>
            </a:srgb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rgbClr val="000000"/>
          </a:fontRef>
        </p:style>
        <p:txBody>
          <a:bodyPr rot="0" spcFirstLastPara="1" vertOverflow="overflow" horzOverflow="overflow" vert="horz" wrap="square" lIns="84929" tIns="84929" rIns="84929" bIns="84929" numCol="1" spcCol="38100" rtlCol="0" anchor="ctr">
            <a:spAutoFit/>
          </a:bodyPr>
          <a:lstStyle/>
          <a:p>
            <a:pPr algn="ctr" defTabSz="1650365" latinLnBrk="1"/>
            <a:endParaRPr lang="zh-CN" altLang="en-US" sz="1755" dirty="0">
              <a:solidFill>
                <a:srgbClr val="FFFFFF"/>
              </a:solidFill>
              <a:ea typeface="微软雅黑" pitchFamily="34" charset="-122"/>
              <a:sym typeface="Helvetica Light"/>
            </a:endParaRPr>
          </a:p>
        </p:txBody>
      </p:sp>
      <p:sp>
        <p:nvSpPr>
          <p:cNvPr id="94" name="TextBox 44"/>
          <p:cNvSpPr txBox="1"/>
          <p:nvPr/>
        </p:nvSpPr>
        <p:spPr>
          <a:xfrm>
            <a:off x="25943970" y="6244123"/>
            <a:ext cx="4996396" cy="47752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rgbClr val="000000"/>
          </a:fontRef>
        </p:style>
        <p:txBody>
          <a:bodyPr rot="0" spcFirstLastPara="1" vertOverflow="overflow" horzOverflow="overflow" vert="horz" wrap="square" lIns="84929" tIns="84929" rIns="84929" bIns="84929" numCol="1" spcCol="38100" rtlCol="0" anchor="ctr">
            <a:spAutoFit/>
          </a:bodyPr>
          <a:lstStyle/>
          <a:p>
            <a:pPr defTabSz="1650365" latinLnBrk="1"/>
            <a:r>
              <a:rPr lang="zh-CN" altLang="en-US" sz="201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未</a:t>
            </a:r>
            <a:r>
              <a:rPr lang="zh-CN" altLang="en-US" sz="201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  <a:sym typeface="Helvetica Light"/>
              </a:rPr>
              <a:t>达成规划</a:t>
            </a:r>
            <a:r>
              <a:rPr lang="zh-CN" altLang="en-US" sz="201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对客户有影响</a:t>
            </a:r>
            <a:endParaRPr lang="zh-CN" altLang="en-US" sz="201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sp>
        <p:nvSpPr>
          <p:cNvPr id="113" name="矩形 60"/>
          <p:cNvSpPr/>
          <p:nvPr/>
        </p:nvSpPr>
        <p:spPr>
          <a:xfrm>
            <a:off x="12959056" y="14934788"/>
            <a:ext cx="4326335" cy="686202"/>
          </a:xfrm>
          <a:prstGeom prst="rect">
            <a:avLst/>
          </a:prstGeom>
          <a:gradFill flip="none" rotWithShape="1">
            <a:gsLst>
              <a:gs pos="9000">
                <a:schemeClr val="tx1">
                  <a:lumMod val="50000"/>
                  <a:lumOff val="50000"/>
                  <a:alpha val="34000"/>
                </a:schemeClr>
              </a:gs>
              <a:gs pos="100000">
                <a:schemeClr val="tx1">
                  <a:lumMod val="65000"/>
                  <a:lumOff val="35000"/>
                  <a:alpha val="0"/>
                </a:schemeClr>
              </a:gs>
            </a:gsLst>
            <a:lin ang="162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203881" tIns="101939" rIns="203881" bIns="101939" numCol="1" spcCol="0" rtlCol="0" fromWordArt="0" anchor="ctr" anchorCtr="0" forceAA="0" compatLnSpc="1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130" dirty="0">
                <a:solidFill>
                  <a:schemeClr val="accent6"/>
                </a:solidFill>
                <a:ea typeface="微软雅黑" pitchFamily="34" charset="-122"/>
                <a:cs typeface="+mn-ea"/>
              </a:rPr>
              <a:t>过程监控</a:t>
            </a:r>
            <a:endParaRPr lang="zh-CN" altLang="en-US" sz="3130" dirty="0">
              <a:solidFill>
                <a:schemeClr val="accent6"/>
              </a:solidFill>
              <a:ea typeface="微软雅黑" pitchFamily="34" charset="-122"/>
              <a:cs typeface="+mn-ea"/>
              <a:sym typeface="Helvetica Light"/>
            </a:endParaRPr>
          </a:p>
        </p:txBody>
      </p:sp>
      <p:sp>
        <p:nvSpPr>
          <p:cNvPr id="114" name="矩形 61"/>
          <p:cNvSpPr/>
          <p:nvPr/>
        </p:nvSpPr>
        <p:spPr>
          <a:xfrm>
            <a:off x="18520310" y="15018534"/>
            <a:ext cx="3849139" cy="686202"/>
          </a:xfrm>
          <a:prstGeom prst="rect">
            <a:avLst/>
          </a:prstGeom>
          <a:gradFill flip="none" rotWithShape="1">
            <a:gsLst>
              <a:gs pos="9000">
                <a:schemeClr val="tx1">
                  <a:lumMod val="50000"/>
                  <a:lumOff val="50000"/>
                  <a:alpha val="34000"/>
                </a:schemeClr>
              </a:gs>
              <a:gs pos="100000">
                <a:schemeClr val="tx1">
                  <a:lumMod val="65000"/>
                  <a:lumOff val="35000"/>
                  <a:alpha val="0"/>
                </a:schemeClr>
              </a:gs>
            </a:gsLst>
            <a:lin ang="162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203881" tIns="101939" rIns="203881" bIns="101939" numCol="1" spcCol="0" rtlCol="0" fromWordArt="0" anchor="ctr" anchorCtr="0" forceAA="0" compatLnSpc="1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130" dirty="0">
                <a:solidFill>
                  <a:schemeClr val="accent6"/>
                </a:solidFill>
                <a:ea typeface="微软雅黑" pitchFamily="34" charset="-122"/>
                <a:cs typeface="+mn-ea"/>
              </a:rPr>
              <a:t>异常处理</a:t>
            </a:r>
            <a:r>
              <a:rPr lang="en-US" altLang="zh-CN" sz="3130" dirty="0">
                <a:solidFill>
                  <a:schemeClr val="accent6"/>
                </a:solidFill>
                <a:ea typeface="微软雅黑" pitchFamily="34" charset="-122"/>
                <a:cs typeface="+mn-ea"/>
              </a:rPr>
              <a:t>&amp;</a:t>
            </a:r>
            <a:r>
              <a:rPr lang="zh-CN" altLang="en-US" sz="3130" dirty="0">
                <a:solidFill>
                  <a:schemeClr val="accent6"/>
                </a:solidFill>
                <a:ea typeface="微软雅黑" pitchFamily="34" charset="-122"/>
                <a:cs typeface="+mn-ea"/>
              </a:rPr>
              <a:t>调整</a:t>
            </a:r>
            <a:endParaRPr lang="zh-CN" altLang="en-US" sz="3130" dirty="0">
              <a:solidFill>
                <a:schemeClr val="accent6"/>
              </a:solidFill>
              <a:ea typeface="微软雅黑" pitchFamily="34" charset="-122"/>
              <a:cs typeface="+mn-ea"/>
              <a:sym typeface="Helvetica Light"/>
            </a:endParaRPr>
          </a:p>
        </p:txBody>
      </p:sp>
      <p:sp>
        <p:nvSpPr>
          <p:cNvPr id="115" name="矩形 62"/>
          <p:cNvSpPr/>
          <p:nvPr/>
        </p:nvSpPr>
        <p:spPr>
          <a:xfrm>
            <a:off x="7870813" y="14934790"/>
            <a:ext cx="3849139" cy="686202"/>
          </a:xfrm>
          <a:prstGeom prst="rect">
            <a:avLst/>
          </a:prstGeom>
          <a:gradFill flip="none" rotWithShape="1">
            <a:gsLst>
              <a:gs pos="9000">
                <a:schemeClr val="tx1">
                  <a:lumMod val="50000"/>
                  <a:lumOff val="50000"/>
                  <a:alpha val="34000"/>
                </a:schemeClr>
              </a:gs>
              <a:gs pos="100000">
                <a:schemeClr val="tx1">
                  <a:lumMod val="65000"/>
                  <a:lumOff val="35000"/>
                  <a:alpha val="0"/>
                </a:schemeClr>
              </a:gs>
            </a:gsLst>
            <a:lin ang="162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203881" tIns="101939" rIns="203881" bIns="101939" numCol="1" spcCol="0" rtlCol="0" fromWordArt="0" anchor="ctr" anchorCtr="0" forceAA="0" compatLnSpc="1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130" dirty="0">
                <a:solidFill>
                  <a:schemeClr val="accent6"/>
                </a:solidFill>
                <a:ea typeface="微软雅黑" pitchFamily="34" charset="-122"/>
                <a:cs typeface="+mn-ea"/>
              </a:rPr>
              <a:t>实时规划</a:t>
            </a:r>
            <a:endParaRPr lang="zh-CN" altLang="en-US" sz="3130" dirty="0">
              <a:solidFill>
                <a:schemeClr val="accent6"/>
              </a:solidFill>
              <a:ea typeface="微软雅黑" pitchFamily="34" charset="-122"/>
              <a:cs typeface="+mn-ea"/>
              <a:sym typeface="Helvetica Light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23608553" y="15051417"/>
            <a:ext cx="3849139" cy="686202"/>
          </a:xfrm>
          <a:prstGeom prst="rect">
            <a:avLst/>
          </a:prstGeom>
          <a:gradFill flip="none" rotWithShape="1">
            <a:gsLst>
              <a:gs pos="9000">
                <a:schemeClr val="tx1">
                  <a:lumMod val="50000"/>
                  <a:lumOff val="50000"/>
                  <a:alpha val="34000"/>
                </a:schemeClr>
              </a:gs>
              <a:gs pos="100000">
                <a:schemeClr val="tx1">
                  <a:lumMod val="65000"/>
                  <a:lumOff val="35000"/>
                  <a:alpha val="0"/>
                </a:schemeClr>
              </a:gs>
            </a:gsLst>
            <a:lin ang="162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203881" tIns="101939" rIns="203881" bIns="101939" numCol="1" spcCol="0" rtlCol="0" fromWordArt="0" anchor="ctr" anchorCtr="0" forceAA="0" compatLnSpc="1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130" dirty="0">
                <a:solidFill>
                  <a:schemeClr val="accent6"/>
                </a:solidFill>
                <a:ea typeface="微软雅黑" pitchFamily="34" charset="-122"/>
                <a:cs typeface="+mn-ea"/>
                <a:sym typeface="Helvetica Light"/>
              </a:rPr>
              <a:t>持续优化</a:t>
            </a:r>
            <a:endParaRPr lang="zh-CN" altLang="en-US" sz="3130" dirty="0">
              <a:solidFill>
                <a:schemeClr val="accent6"/>
              </a:solidFill>
              <a:ea typeface="微软雅黑" pitchFamily="34" charset="-122"/>
              <a:cs typeface="+mn-ea"/>
              <a:sym typeface="Helvetica Light"/>
            </a:endParaRPr>
          </a:p>
        </p:txBody>
      </p:sp>
      <p:sp>
        <p:nvSpPr>
          <p:cNvPr id="118" name="TextBox 21"/>
          <p:cNvSpPr txBox="1"/>
          <p:nvPr/>
        </p:nvSpPr>
        <p:spPr>
          <a:xfrm>
            <a:off x="5574300" y="6698458"/>
            <a:ext cx="4760690" cy="8623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rgbClr val="000000"/>
          </a:fontRef>
        </p:style>
        <p:txBody>
          <a:bodyPr rot="0" spcFirstLastPara="1" vertOverflow="overflow" horzOverflow="overflow" vert="horz" wrap="square" lIns="84929" tIns="84929" rIns="84929" bIns="84929" numCol="1" spcCol="38100" rtlCol="0" anchor="ctr">
            <a:spAutoFit/>
          </a:bodyPr>
          <a:lstStyle/>
          <a:p>
            <a:pPr marL="914400" indent="-914400" defTabSz="1650365" latinLnBrk="1">
              <a:buFont typeface="Wingdings" panose="05000000000000000000" pitchFamily="2" charset="2"/>
              <a:buChar char="Ø"/>
            </a:pPr>
            <a:r>
              <a:rPr lang="zh-CN" altLang="en-US" sz="451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  <a:sym typeface="Helvetica Light"/>
              </a:rPr>
              <a:t>执行跟踪</a:t>
            </a:r>
            <a:endParaRPr lang="zh-CN" altLang="en-US" sz="451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sp>
        <p:nvSpPr>
          <p:cNvPr id="119" name="椭圆 28"/>
          <p:cNvSpPr/>
          <p:nvPr/>
        </p:nvSpPr>
        <p:spPr>
          <a:xfrm>
            <a:off x="19081478" y="6284739"/>
            <a:ext cx="510103" cy="620808"/>
          </a:xfrm>
          <a:prstGeom prst="ellipse">
            <a:avLst/>
          </a:prstGeom>
          <a:solidFill>
            <a:srgbClr val="00B050">
              <a:alpha val="79000"/>
            </a:srgb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rgbClr val="000000"/>
          </a:fontRef>
        </p:style>
        <p:txBody>
          <a:bodyPr rot="0" spcFirstLastPara="1" vertOverflow="overflow" horzOverflow="overflow" vert="horz" wrap="square" lIns="84929" tIns="84929" rIns="84929" bIns="84929" numCol="1" spcCol="38100" rtlCol="0" anchor="ctr">
            <a:spAutoFit/>
          </a:bodyPr>
          <a:lstStyle/>
          <a:p>
            <a:pPr algn="ctr" defTabSz="1650365" latinLnBrk="1"/>
            <a:endParaRPr lang="zh-CN" altLang="en-US" sz="1755" dirty="0">
              <a:solidFill>
                <a:srgbClr val="FFFFFF"/>
              </a:solidFill>
              <a:ea typeface="微软雅黑" pitchFamily="34" charset="-122"/>
              <a:sym typeface="Helvetica Light"/>
            </a:endParaRPr>
          </a:p>
        </p:txBody>
      </p:sp>
      <p:sp>
        <p:nvSpPr>
          <p:cNvPr id="120" name="椭圆 29"/>
          <p:cNvSpPr/>
          <p:nvPr/>
        </p:nvSpPr>
        <p:spPr>
          <a:xfrm>
            <a:off x="21230601" y="6223823"/>
            <a:ext cx="415330" cy="618602"/>
          </a:xfrm>
          <a:prstGeom prst="ellipse">
            <a:avLst/>
          </a:prstGeom>
          <a:solidFill>
            <a:srgbClr val="FFC000">
              <a:alpha val="76000"/>
            </a:srgb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rgbClr val="000000"/>
          </a:fontRef>
        </p:style>
        <p:txBody>
          <a:bodyPr rot="0" spcFirstLastPara="1" vertOverflow="overflow" horzOverflow="overflow" vert="horz" wrap="square" lIns="84929" tIns="84929" rIns="84929" bIns="84929" numCol="1" spcCol="38100" rtlCol="0" anchor="ctr">
            <a:spAutoFit/>
          </a:bodyPr>
          <a:lstStyle/>
          <a:p>
            <a:pPr algn="ctr" defTabSz="1650365" latinLnBrk="1"/>
            <a:endParaRPr lang="zh-CN" altLang="en-US" sz="1755" dirty="0">
              <a:solidFill>
                <a:srgbClr val="FFFFFF"/>
              </a:solidFill>
              <a:ea typeface="微软雅黑" pitchFamily="34" charset="-122"/>
              <a:sym typeface="Helvetica Light"/>
            </a:endParaRPr>
          </a:p>
        </p:txBody>
      </p:sp>
      <p:sp>
        <p:nvSpPr>
          <p:cNvPr id="122" name="TextBox 35"/>
          <p:cNvSpPr txBox="1"/>
          <p:nvPr/>
        </p:nvSpPr>
        <p:spPr>
          <a:xfrm>
            <a:off x="19590982" y="6244398"/>
            <a:ext cx="1581188" cy="47752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rgbClr val="000000"/>
          </a:fontRef>
        </p:style>
        <p:txBody>
          <a:bodyPr rot="0" spcFirstLastPara="1" vertOverflow="overflow" horzOverflow="overflow" vert="horz" wrap="square" lIns="84929" tIns="84929" rIns="84929" bIns="84929" numCol="1" spcCol="38100" rtlCol="0" anchor="ctr">
            <a:spAutoFit/>
          </a:bodyPr>
          <a:lstStyle/>
          <a:p>
            <a:pPr algn="ctr" defTabSz="1650365" latinLnBrk="1"/>
            <a:r>
              <a:rPr lang="zh-CN" altLang="en-US" sz="201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  <a:sym typeface="Helvetica Light"/>
              </a:rPr>
              <a:t>达成规划</a:t>
            </a:r>
            <a:endParaRPr lang="zh-CN" altLang="en-US" sz="201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  <a:sym typeface="Helvetica Light"/>
            </a:endParaRPr>
          </a:p>
        </p:txBody>
      </p:sp>
      <p:grpSp>
        <p:nvGrpSpPr>
          <p:cNvPr id="137" name="组合 136"/>
          <p:cNvGrpSpPr/>
          <p:nvPr/>
        </p:nvGrpSpPr>
        <p:grpSpPr>
          <a:xfrm>
            <a:off x="5504493" y="7746498"/>
            <a:ext cx="24814704" cy="3781720"/>
            <a:chOff x="4427736" y="3606413"/>
            <a:chExt cx="25042942" cy="4522885"/>
          </a:xfrm>
        </p:grpSpPr>
        <p:grpSp>
          <p:nvGrpSpPr>
            <p:cNvPr id="8" name="组合 7"/>
            <p:cNvGrpSpPr/>
            <p:nvPr/>
          </p:nvGrpSpPr>
          <p:grpSpPr>
            <a:xfrm>
              <a:off x="5254211" y="5999235"/>
              <a:ext cx="2922052" cy="2085559"/>
              <a:chOff x="5288143" y="5999235"/>
              <a:chExt cx="2437835" cy="2085559"/>
            </a:xfrm>
          </p:grpSpPr>
          <p:sp>
            <p:nvSpPr>
              <p:cNvPr id="63" name="Freeform 12"/>
              <p:cNvSpPr>
                <a:spLocks noEditPoints="1"/>
              </p:cNvSpPr>
              <p:nvPr/>
            </p:nvSpPr>
            <p:spPr bwMode="auto">
              <a:xfrm>
                <a:off x="5771978" y="5999235"/>
                <a:ext cx="1470163" cy="1328228"/>
              </a:xfrm>
              <a:custGeom>
                <a:avLst/>
                <a:gdLst>
                  <a:gd name="T0" fmla="*/ 361 w 467"/>
                  <a:gd name="T1" fmla="*/ 362 h 553"/>
                  <a:gd name="T2" fmla="*/ 306 w 467"/>
                  <a:gd name="T3" fmla="*/ 314 h 553"/>
                  <a:gd name="T4" fmla="*/ 357 w 467"/>
                  <a:gd name="T5" fmla="*/ 191 h 553"/>
                  <a:gd name="T6" fmla="*/ 394 w 467"/>
                  <a:gd name="T7" fmla="*/ 154 h 553"/>
                  <a:gd name="T8" fmla="*/ 340 w 467"/>
                  <a:gd name="T9" fmla="*/ 55 h 553"/>
                  <a:gd name="T10" fmla="*/ 233 w 467"/>
                  <a:gd name="T11" fmla="*/ 0 h 553"/>
                  <a:gd name="T12" fmla="*/ 127 w 467"/>
                  <a:gd name="T13" fmla="*/ 55 h 553"/>
                  <a:gd name="T14" fmla="*/ 73 w 467"/>
                  <a:gd name="T15" fmla="*/ 154 h 553"/>
                  <a:gd name="T16" fmla="*/ 110 w 467"/>
                  <a:gd name="T17" fmla="*/ 191 h 553"/>
                  <a:gd name="T18" fmla="*/ 161 w 467"/>
                  <a:gd name="T19" fmla="*/ 314 h 553"/>
                  <a:gd name="T20" fmla="*/ 106 w 467"/>
                  <a:gd name="T21" fmla="*/ 362 h 553"/>
                  <a:gd name="T22" fmla="*/ 4 w 467"/>
                  <a:gd name="T23" fmla="*/ 480 h 553"/>
                  <a:gd name="T24" fmla="*/ 227 w 467"/>
                  <a:gd name="T25" fmla="*/ 542 h 553"/>
                  <a:gd name="T26" fmla="*/ 233 w 467"/>
                  <a:gd name="T27" fmla="*/ 542 h 553"/>
                  <a:gd name="T28" fmla="*/ 234 w 467"/>
                  <a:gd name="T29" fmla="*/ 542 h 553"/>
                  <a:gd name="T30" fmla="*/ 240 w 467"/>
                  <a:gd name="T31" fmla="*/ 542 h 553"/>
                  <a:gd name="T32" fmla="*/ 463 w 467"/>
                  <a:gd name="T33" fmla="*/ 480 h 553"/>
                  <a:gd name="T34" fmla="*/ 105 w 467"/>
                  <a:gd name="T35" fmla="*/ 163 h 553"/>
                  <a:gd name="T36" fmla="*/ 124 w 467"/>
                  <a:gd name="T37" fmla="*/ 139 h 553"/>
                  <a:gd name="T38" fmla="*/ 233 w 467"/>
                  <a:gd name="T39" fmla="*/ 29 h 553"/>
                  <a:gd name="T40" fmla="*/ 343 w 467"/>
                  <a:gd name="T41" fmla="*/ 139 h 553"/>
                  <a:gd name="T42" fmla="*/ 362 w 467"/>
                  <a:gd name="T43" fmla="*/ 163 h 553"/>
                  <a:gd name="T44" fmla="*/ 105 w 467"/>
                  <a:gd name="T45" fmla="*/ 163 h 553"/>
                  <a:gd name="T46" fmla="*/ 32 w 467"/>
                  <a:gd name="T47" fmla="*/ 469 h 553"/>
                  <a:gd name="T48" fmla="*/ 96 w 467"/>
                  <a:gd name="T49" fmla="*/ 399 h 553"/>
                  <a:gd name="T50" fmla="*/ 105 w 467"/>
                  <a:gd name="T51" fmla="*/ 524 h 553"/>
                  <a:gd name="T52" fmla="*/ 242 w 467"/>
                  <a:gd name="T53" fmla="*/ 512 h 553"/>
                  <a:gd name="T54" fmla="*/ 225 w 467"/>
                  <a:gd name="T55" fmla="*/ 512 h 553"/>
                  <a:gd name="T56" fmla="*/ 139 w 467"/>
                  <a:gd name="T57" fmla="*/ 379 h 553"/>
                  <a:gd name="T58" fmla="*/ 191 w 467"/>
                  <a:gd name="T59" fmla="*/ 336 h 553"/>
                  <a:gd name="T60" fmla="*/ 186 w 467"/>
                  <a:gd name="T61" fmla="*/ 299 h 553"/>
                  <a:gd name="T62" fmla="*/ 149 w 467"/>
                  <a:gd name="T63" fmla="*/ 244 h 553"/>
                  <a:gd name="T64" fmla="*/ 233 w 467"/>
                  <a:gd name="T65" fmla="*/ 198 h 553"/>
                  <a:gd name="T66" fmla="*/ 326 w 467"/>
                  <a:gd name="T67" fmla="*/ 198 h 553"/>
                  <a:gd name="T68" fmla="*/ 314 w 467"/>
                  <a:gd name="T69" fmla="*/ 254 h 553"/>
                  <a:gd name="T70" fmla="*/ 275 w 467"/>
                  <a:gd name="T71" fmla="*/ 322 h 553"/>
                  <a:gd name="T72" fmla="*/ 326 w 467"/>
                  <a:gd name="T73" fmla="*/ 378 h 553"/>
                  <a:gd name="T74" fmla="*/ 308 w 467"/>
                  <a:gd name="T75" fmla="*/ 516 h 553"/>
                  <a:gd name="T76" fmla="*/ 362 w 467"/>
                  <a:gd name="T77" fmla="*/ 524 h 553"/>
                  <a:gd name="T78" fmla="*/ 371 w 467"/>
                  <a:gd name="T79" fmla="*/ 399 h 553"/>
                  <a:gd name="T80" fmla="*/ 435 w 467"/>
                  <a:gd name="T81" fmla="*/ 469 h 5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467" h="553">
                    <a:moveTo>
                      <a:pt x="434" y="409"/>
                    </a:moveTo>
                    <a:cubicBezTo>
                      <a:pt x="417" y="395"/>
                      <a:pt x="377" y="370"/>
                      <a:pt x="361" y="362"/>
                    </a:cubicBezTo>
                    <a:cubicBezTo>
                      <a:pt x="342" y="352"/>
                      <a:pt x="308" y="340"/>
                      <a:pt x="306" y="335"/>
                    </a:cubicBezTo>
                    <a:cubicBezTo>
                      <a:pt x="304" y="329"/>
                      <a:pt x="304" y="326"/>
                      <a:pt x="306" y="314"/>
                    </a:cubicBezTo>
                    <a:cubicBezTo>
                      <a:pt x="315" y="305"/>
                      <a:pt x="338" y="277"/>
                      <a:pt x="345" y="259"/>
                    </a:cubicBezTo>
                    <a:cubicBezTo>
                      <a:pt x="351" y="241"/>
                      <a:pt x="357" y="206"/>
                      <a:pt x="357" y="191"/>
                    </a:cubicBezTo>
                    <a:cubicBezTo>
                      <a:pt x="374" y="191"/>
                      <a:pt x="404" y="191"/>
                      <a:pt x="404" y="191"/>
                    </a:cubicBezTo>
                    <a:cubicBezTo>
                      <a:pt x="404" y="191"/>
                      <a:pt x="401" y="167"/>
                      <a:pt x="394" y="154"/>
                    </a:cubicBezTo>
                    <a:cubicBezTo>
                      <a:pt x="387" y="142"/>
                      <a:pt x="376" y="131"/>
                      <a:pt x="373" y="129"/>
                    </a:cubicBezTo>
                    <a:cubicBezTo>
                      <a:pt x="373" y="117"/>
                      <a:pt x="366" y="80"/>
                      <a:pt x="340" y="55"/>
                    </a:cubicBezTo>
                    <a:cubicBezTo>
                      <a:pt x="310" y="25"/>
                      <a:pt x="265" y="0"/>
                      <a:pt x="234" y="0"/>
                    </a:cubicBezTo>
                    <a:cubicBezTo>
                      <a:pt x="234" y="0"/>
                      <a:pt x="234" y="0"/>
                      <a:pt x="233" y="0"/>
                    </a:cubicBezTo>
                    <a:cubicBezTo>
                      <a:pt x="233" y="0"/>
                      <a:pt x="233" y="0"/>
                      <a:pt x="233" y="0"/>
                    </a:cubicBezTo>
                    <a:cubicBezTo>
                      <a:pt x="202" y="0"/>
                      <a:pt x="157" y="25"/>
                      <a:pt x="127" y="55"/>
                    </a:cubicBezTo>
                    <a:cubicBezTo>
                      <a:pt x="101" y="80"/>
                      <a:pt x="94" y="117"/>
                      <a:pt x="94" y="129"/>
                    </a:cubicBezTo>
                    <a:cubicBezTo>
                      <a:pt x="91" y="131"/>
                      <a:pt x="80" y="142"/>
                      <a:pt x="73" y="154"/>
                    </a:cubicBezTo>
                    <a:cubicBezTo>
                      <a:pt x="65" y="167"/>
                      <a:pt x="63" y="191"/>
                      <a:pt x="63" y="191"/>
                    </a:cubicBezTo>
                    <a:cubicBezTo>
                      <a:pt x="63" y="191"/>
                      <a:pt x="93" y="191"/>
                      <a:pt x="110" y="191"/>
                    </a:cubicBezTo>
                    <a:cubicBezTo>
                      <a:pt x="110" y="206"/>
                      <a:pt x="116" y="241"/>
                      <a:pt x="122" y="259"/>
                    </a:cubicBezTo>
                    <a:cubicBezTo>
                      <a:pt x="129" y="277"/>
                      <a:pt x="152" y="305"/>
                      <a:pt x="161" y="314"/>
                    </a:cubicBezTo>
                    <a:cubicBezTo>
                      <a:pt x="163" y="326"/>
                      <a:pt x="163" y="330"/>
                      <a:pt x="161" y="335"/>
                    </a:cubicBezTo>
                    <a:cubicBezTo>
                      <a:pt x="159" y="340"/>
                      <a:pt x="124" y="352"/>
                      <a:pt x="106" y="362"/>
                    </a:cubicBezTo>
                    <a:cubicBezTo>
                      <a:pt x="90" y="370"/>
                      <a:pt x="50" y="395"/>
                      <a:pt x="32" y="409"/>
                    </a:cubicBezTo>
                    <a:cubicBezTo>
                      <a:pt x="8" y="429"/>
                      <a:pt x="0" y="456"/>
                      <a:pt x="4" y="480"/>
                    </a:cubicBezTo>
                    <a:cubicBezTo>
                      <a:pt x="11" y="521"/>
                      <a:pt x="85" y="550"/>
                      <a:pt x="102" y="553"/>
                    </a:cubicBezTo>
                    <a:cubicBezTo>
                      <a:pt x="108" y="549"/>
                      <a:pt x="202" y="540"/>
                      <a:pt x="227" y="542"/>
                    </a:cubicBezTo>
                    <a:cubicBezTo>
                      <a:pt x="229" y="542"/>
                      <a:pt x="231" y="542"/>
                      <a:pt x="233" y="542"/>
                    </a:cubicBezTo>
                    <a:cubicBezTo>
                      <a:pt x="233" y="542"/>
                      <a:pt x="233" y="542"/>
                      <a:pt x="233" y="542"/>
                    </a:cubicBezTo>
                    <a:cubicBezTo>
                      <a:pt x="233" y="542"/>
                      <a:pt x="233" y="542"/>
                      <a:pt x="233" y="542"/>
                    </a:cubicBezTo>
                    <a:cubicBezTo>
                      <a:pt x="233" y="542"/>
                      <a:pt x="233" y="542"/>
                      <a:pt x="234" y="542"/>
                    </a:cubicBezTo>
                    <a:cubicBezTo>
                      <a:pt x="234" y="542"/>
                      <a:pt x="234" y="542"/>
                      <a:pt x="234" y="542"/>
                    </a:cubicBezTo>
                    <a:cubicBezTo>
                      <a:pt x="236" y="542"/>
                      <a:pt x="238" y="542"/>
                      <a:pt x="240" y="542"/>
                    </a:cubicBezTo>
                    <a:cubicBezTo>
                      <a:pt x="265" y="540"/>
                      <a:pt x="359" y="549"/>
                      <a:pt x="365" y="553"/>
                    </a:cubicBezTo>
                    <a:cubicBezTo>
                      <a:pt x="382" y="550"/>
                      <a:pt x="456" y="521"/>
                      <a:pt x="463" y="480"/>
                    </a:cubicBezTo>
                    <a:cubicBezTo>
                      <a:pt x="467" y="456"/>
                      <a:pt x="459" y="429"/>
                      <a:pt x="434" y="409"/>
                    </a:cubicBezTo>
                    <a:close/>
                    <a:moveTo>
                      <a:pt x="105" y="163"/>
                    </a:moveTo>
                    <a:cubicBezTo>
                      <a:pt x="105" y="161"/>
                      <a:pt x="106" y="158"/>
                      <a:pt x="108" y="153"/>
                    </a:cubicBezTo>
                    <a:cubicBezTo>
                      <a:pt x="115" y="142"/>
                      <a:pt x="121" y="140"/>
                      <a:pt x="124" y="139"/>
                    </a:cubicBezTo>
                    <a:cubicBezTo>
                      <a:pt x="124" y="128"/>
                      <a:pt x="122" y="101"/>
                      <a:pt x="146" y="77"/>
                    </a:cubicBezTo>
                    <a:cubicBezTo>
                      <a:pt x="172" y="51"/>
                      <a:pt x="204" y="29"/>
                      <a:pt x="233" y="29"/>
                    </a:cubicBezTo>
                    <a:cubicBezTo>
                      <a:pt x="261" y="29"/>
                      <a:pt x="295" y="51"/>
                      <a:pt x="321" y="77"/>
                    </a:cubicBezTo>
                    <a:cubicBezTo>
                      <a:pt x="345" y="101"/>
                      <a:pt x="343" y="128"/>
                      <a:pt x="343" y="139"/>
                    </a:cubicBezTo>
                    <a:cubicBezTo>
                      <a:pt x="346" y="140"/>
                      <a:pt x="352" y="142"/>
                      <a:pt x="358" y="153"/>
                    </a:cubicBezTo>
                    <a:cubicBezTo>
                      <a:pt x="361" y="158"/>
                      <a:pt x="362" y="161"/>
                      <a:pt x="362" y="163"/>
                    </a:cubicBezTo>
                    <a:cubicBezTo>
                      <a:pt x="360" y="163"/>
                      <a:pt x="293" y="163"/>
                      <a:pt x="233" y="163"/>
                    </a:cubicBezTo>
                    <a:cubicBezTo>
                      <a:pt x="173" y="163"/>
                      <a:pt x="107" y="163"/>
                      <a:pt x="105" y="163"/>
                    </a:cubicBezTo>
                    <a:close/>
                    <a:moveTo>
                      <a:pt x="105" y="524"/>
                    </a:moveTo>
                    <a:cubicBezTo>
                      <a:pt x="89" y="521"/>
                      <a:pt x="39" y="506"/>
                      <a:pt x="32" y="469"/>
                    </a:cubicBezTo>
                    <a:cubicBezTo>
                      <a:pt x="28" y="447"/>
                      <a:pt x="54" y="427"/>
                      <a:pt x="69" y="416"/>
                    </a:cubicBezTo>
                    <a:cubicBezTo>
                      <a:pt x="77" y="410"/>
                      <a:pt x="85" y="405"/>
                      <a:pt x="96" y="399"/>
                    </a:cubicBezTo>
                    <a:cubicBezTo>
                      <a:pt x="117" y="521"/>
                      <a:pt x="117" y="521"/>
                      <a:pt x="117" y="521"/>
                    </a:cubicBezTo>
                    <a:cubicBezTo>
                      <a:pt x="112" y="522"/>
                      <a:pt x="106" y="523"/>
                      <a:pt x="105" y="524"/>
                    </a:cubicBezTo>
                    <a:close/>
                    <a:moveTo>
                      <a:pt x="308" y="516"/>
                    </a:moveTo>
                    <a:cubicBezTo>
                      <a:pt x="283" y="513"/>
                      <a:pt x="254" y="513"/>
                      <a:pt x="242" y="512"/>
                    </a:cubicBezTo>
                    <a:cubicBezTo>
                      <a:pt x="240" y="512"/>
                      <a:pt x="237" y="512"/>
                      <a:pt x="233" y="512"/>
                    </a:cubicBezTo>
                    <a:cubicBezTo>
                      <a:pt x="230" y="512"/>
                      <a:pt x="227" y="512"/>
                      <a:pt x="225" y="512"/>
                    </a:cubicBezTo>
                    <a:cubicBezTo>
                      <a:pt x="213" y="513"/>
                      <a:pt x="184" y="513"/>
                      <a:pt x="159" y="516"/>
                    </a:cubicBezTo>
                    <a:cubicBezTo>
                      <a:pt x="139" y="379"/>
                      <a:pt x="139" y="379"/>
                      <a:pt x="139" y="379"/>
                    </a:cubicBezTo>
                    <a:cubicBezTo>
                      <a:pt x="140" y="378"/>
                      <a:pt x="140" y="378"/>
                      <a:pt x="141" y="378"/>
                    </a:cubicBezTo>
                    <a:cubicBezTo>
                      <a:pt x="158" y="369"/>
                      <a:pt x="183" y="366"/>
                      <a:pt x="191" y="336"/>
                    </a:cubicBezTo>
                    <a:cubicBezTo>
                      <a:pt x="193" y="331"/>
                      <a:pt x="193" y="327"/>
                      <a:pt x="192" y="322"/>
                    </a:cubicBezTo>
                    <a:cubicBezTo>
                      <a:pt x="191" y="315"/>
                      <a:pt x="189" y="308"/>
                      <a:pt x="186" y="299"/>
                    </a:cubicBezTo>
                    <a:cubicBezTo>
                      <a:pt x="177" y="291"/>
                      <a:pt x="162" y="271"/>
                      <a:pt x="153" y="254"/>
                    </a:cubicBezTo>
                    <a:cubicBezTo>
                      <a:pt x="149" y="244"/>
                      <a:pt x="149" y="244"/>
                      <a:pt x="149" y="244"/>
                    </a:cubicBezTo>
                    <a:cubicBezTo>
                      <a:pt x="145" y="236"/>
                      <a:pt x="142" y="216"/>
                      <a:pt x="140" y="198"/>
                    </a:cubicBezTo>
                    <a:cubicBezTo>
                      <a:pt x="233" y="198"/>
                      <a:pt x="233" y="198"/>
                      <a:pt x="233" y="198"/>
                    </a:cubicBezTo>
                    <a:cubicBezTo>
                      <a:pt x="234" y="198"/>
                      <a:pt x="234" y="198"/>
                      <a:pt x="234" y="198"/>
                    </a:cubicBezTo>
                    <a:cubicBezTo>
                      <a:pt x="326" y="198"/>
                      <a:pt x="326" y="198"/>
                      <a:pt x="326" y="198"/>
                    </a:cubicBezTo>
                    <a:cubicBezTo>
                      <a:pt x="324" y="216"/>
                      <a:pt x="322" y="236"/>
                      <a:pt x="318" y="244"/>
                    </a:cubicBezTo>
                    <a:cubicBezTo>
                      <a:pt x="314" y="254"/>
                      <a:pt x="314" y="254"/>
                      <a:pt x="314" y="254"/>
                    </a:cubicBezTo>
                    <a:cubicBezTo>
                      <a:pt x="305" y="271"/>
                      <a:pt x="290" y="291"/>
                      <a:pt x="281" y="299"/>
                    </a:cubicBezTo>
                    <a:cubicBezTo>
                      <a:pt x="278" y="308"/>
                      <a:pt x="275" y="315"/>
                      <a:pt x="275" y="322"/>
                    </a:cubicBezTo>
                    <a:cubicBezTo>
                      <a:pt x="274" y="327"/>
                      <a:pt x="274" y="331"/>
                      <a:pt x="275" y="336"/>
                    </a:cubicBezTo>
                    <a:cubicBezTo>
                      <a:pt x="284" y="366"/>
                      <a:pt x="309" y="369"/>
                      <a:pt x="326" y="378"/>
                    </a:cubicBezTo>
                    <a:cubicBezTo>
                      <a:pt x="326" y="378"/>
                      <a:pt x="327" y="378"/>
                      <a:pt x="328" y="379"/>
                    </a:cubicBezTo>
                    <a:cubicBezTo>
                      <a:pt x="308" y="516"/>
                      <a:pt x="308" y="516"/>
                      <a:pt x="308" y="516"/>
                    </a:cubicBezTo>
                    <a:close/>
                    <a:moveTo>
                      <a:pt x="435" y="469"/>
                    </a:moveTo>
                    <a:cubicBezTo>
                      <a:pt x="427" y="506"/>
                      <a:pt x="377" y="521"/>
                      <a:pt x="362" y="524"/>
                    </a:cubicBezTo>
                    <a:cubicBezTo>
                      <a:pt x="361" y="523"/>
                      <a:pt x="354" y="522"/>
                      <a:pt x="350" y="521"/>
                    </a:cubicBezTo>
                    <a:cubicBezTo>
                      <a:pt x="371" y="399"/>
                      <a:pt x="371" y="399"/>
                      <a:pt x="371" y="399"/>
                    </a:cubicBezTo>
                    <a:cubicBezTo>
                      <a:pt x="382" y="405"/>
                      <a:pt x="390" y="410"/>
                      <a:pt x="398" y="416"/>
                    </a:cubicBezTo>
                    <a:cubicBezTo>
                      <a:pt x="413" y="427"/>
                      <a:pt x="439" y="447"/>
                      <a:pt x="435" y="469"/>
                    </a:cubicBez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vert="horz" wrap="square" lIns="152875" tIns="76437" rIns="152875" bIns="76437" numCol="1" anchor="t" anchorCtr="0" compatLnSpc="1"/>
              <a:lstStyle/>
              <a:p>
                <a:endParaRPr lang="zh-CN" altLang="en-US" sz="3005" dirty="0">
                  <a:solidFill>
                    <a:schemeClr val="accent6"/>
                  </a:solidFill>
                  <a:ea typeface="微软雅黑" pitchFamily="34" charset="-122"/>
                </a:endParaRPr>
              </a:p>
            </p:txBody>
          </p:sp>
          <p:sp>
            <p:nvSpPr>
              <p:cNvPr id="65" name="TextBox 2"/>
              <p:cNvSpPr txBox="1"/>
              <p:nvPr/>
            </p:nvSpPr>
            <p:spPr>
              <a:xfrm>
                <a:off x="5288143" y="7329140"/>
                <a:ext cx="2437835" cy="7556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>
                <a:srgbClr val="000000"/>
              </a:fontRef>
            </p:style>
            <p:txBody>
              <a:bodyPr rot="0" spcFirstLastPara="1" vertOverflow="overflow" horzOverflow="overflow" vert="horz" wrap="square" lIns="84929" tIns="84929" rIns="84929" bIns="84929" numCol="1" spcCol="38100" rtlCol="0" anchor="ctr">
                <a:spAutoFit/>
              </a:bodyPr>
              <a:lstStyle/>
              <a:p>
                <a:pPr algn="ctr" defTabSz="1650365" latinLnBrk="1"/>
                <a:r>
                  <a:rPr lang="zh-CN" altLang="en-US" sz="3005" b="1" dirty="0">
                    <a:solidFill>
                      <a:schemeClr val="accent6"/>
                    </a:solidFill>
                    <a:latin typeface="微软雅黑" pitchFamily="34" charset="-122"/>
                    <a:ea typeface="微软雅黑" pitchFamily="34" charset="-122"/>
                  </a:rPr>
                  <a:t>模块商</a:t>
                </a:r>
                <a:endParaRPr lang="zh-CN" altLang="en-US" sz="3005" b="1" dirty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  <a:sym typeface="Helvetica Light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17267106" y="5970245"/>
              <a:ext cx="3936144" cy="2049012"/>
              <a:chOff x="17304967" y="5970245"/>
              <a:chExt cx="3283880" cy="2049012"/>
            </a:xfrm>
          </p:grpSpPr>
          <p:pic>
            <p:nvPicPr>
              <p:cNvPr id="69" name="Picture 41"/>
              <p:cNvPicPr>
                <a:picLocks noChangeAspect="1" noChangeArrowheads="1"/>
              </p:cNvPicPr>
              <p:nvPr/>
            </p:nvPicPr>
            <p:blipFill>
              <a:blip r:embed="rId2" cstate="print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</a:blip>
              <a:srcRect/>
              <a:stretch>
                <a:fillRect/>
              </a:stretch>
            </p:blipFill>
            <p:spPr bwMode="auto">
              <a:xfrm>
                <a:off x="18339023" y="5970245"/>
                <a:ext cx="1298104" cy="129539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0" name="TextBox 47"/>
              <p:cNvSpPr txBox="1">
                <a:spLocks noChangeArrowheads="1"/>
              </p:cNvSpPr>
              <p:nvPr/>
            </p:nvSpPr>
            <p:spPr bwMode="auto">
              <a:xfrm>
                <a:off x="17304967" y="7283349"/>
                <a:ext cx="3283880" cy="7359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152872" tIns="76435" rIns="152872" bIns="76435" anchor="ctr">
                <a:spAutoFit/>
              </a:bodyPr>
              <a:lstStyle/>
              <a:p>
                <a:pPr algn="ctr"/>
                <a:r>
                  <a:rPr lang="zh-CN" altLang="en-US" sz="3005" b="1" dirty="0">
                    <a:solidFill>
                      <a:schemeClr val="accent6"/>
                    </a:solidFill>
                    <a:latin typeface="微软雅黑" pitchFamily="34" charset="-122"/>
                    <a:ea typeface="微软雅黑" pitchFamily="34" charset="-122"/>
                  </a:rPr>
                  <a:t>成品库仓储</a:t>
                </a:r>
                <a:endParaRPr lang="zh-CN" altLang="en-US" sz="3005" b="1" dirty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9289526" y="5839420"/>
              <a:ext cx="3941217" cy="2106375"/>
              <a:chOff x="9337062" y="5839420"/>
              <a:chExt cx="3288112" cy="2106375"/>
            </a:xfrm>
          </p:grpSpPr>
          <p:sp>
            <p:nvSpPr>
              <p:cNvPr id="73" name="TextBox 47"/>
              <p:cNvSpPr txBox="1">
                <a:spLocks noChangeArrowheads="1"/>
              </p:cNvSpPr>
              <p:nvPr/>
            </p:nvSpPr>
            <p:spPr bwMode="auto">
              <a:xfrm>
                <a:off x="9337062" y="7209887"/>
                <a:ext cx="3288112" cy="7359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152872" tIns="76435" rIns="152872" bIns="76435" anchor="ctr">
                <a:spAutoFit/>
              </a:bodyPr>
              <a:lstStyle/>
              <a:p>
                <a:pPr algn="ctr"/>
                <a:r>
                  <a:rPr lang="zh-CN" altLang="en-US" sz="3005" b="1" dirty="0">
                    <a:solidFill>
                      <a:schemeClr val="accent6"/>
                    </a:solidFill>
                    <a:latin typeface="微软雅黑" pitchFamily="34" charset="-122"/>
                    <a:ea typeface="微软雅黑" pitchFamily="34" charset="-122"/>
                  </a:rPr>
                  <a:t>原材料仓储</a:t>
                </a:r>
                <a:endParaRPr lang="zh-CN" altLang="en-US" sz="3005" b="1" dirty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pic>
            <p:nvPicPr>
              <p:cNvPr id="74" name="Picture 41"/>
              <p:cNvPicPr>
                <a:picLocks noChangeAspect="1" noChangeArrowheads="1"/>
              </p:cNvPicPr>
              <p:nvPr/>
            </p:nvPicPr>
            <p:blipFill>
              <a:blip r:embed="rId3" cstate="print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</a:blip>
              <a:srcRect/>
              <a:stretch>
                <a:fillRect/>
              </a:stretch>
            </p:blipFill>
            <p:spPr bwMode="auto">
              <a:xfrm>
                <a:off x="10356947" y="5839420"/>
                <a:ext cx="1294934" cy="129540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" name="组合 10"/>
            <p:cNvGrpSpPr/>
            <p:nvPr/>
          </p:nvGrpSpPr>
          <p:grpSpPr>
            <a:xfrm>
              <a:off x="26122062" y="5966972"/>
              <a:ext cx="2470235" cy="2032601"/>
              <a:chOff x="26029986" y="5966972"/>
              <a:chExt cx="2060888" cy="2032601"/>
            </a:xfrm>
          </p:grpSpPr>
          <p:pic>
            <p:nvPicPr>
              <p:cNvPr id="76" name="图片 81"/>
              <p:cNvPicPr>
                <a:picLocks noChangeAspect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26383340" y="5966972"/>
                <a:ext cx="1354177" cy="129540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7" name="TextBox 47"/>
              <p:cNvSpPr txBox="1">
                <a:spLocks noChangeArrowheads="1"/>
              </p:cNvSpPr>
              <p:nvPr/>
            </p:nvSpPr>
            <p:spPr bwMode="auto">
              <a:xfrm>
                <a:off x="26029986" y="7263665"/>
                <a:ext cx="2060888" cy="7359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152872" tIns="76435" rIns="152872" bIns="76435" anchor="ctr">
                <a:spAutoFit/>
              </a:bodyPr>
              <a:lstStyle/>
              <a:p>
                <a:pPr algn="ctr"/>
                <a:r>
                  <a:rPr lang="zh-CN" altLang="en-US" sz="3005" b="1" dirty="0">
                    <a:solidFill>
                      <a:schemeClr val="accent6"/>
                    </a:solidFill>
                    <a:latin typeface="微软雅黑" pitchFamily="34" charset="-122"/>
                    <a:ea typeface="微软雅黑" pitchFamily="34" charset="-122"/>
                  </a:rPr>
                  <a:t>客户</a:t>
                </a:r>
                <a:endParaRPr lang="zh-CN" altLang="en-US" sz="3005" b="1" dirty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13905779" y="5991366"/>
              <a:ext cx="2637619" cy="1999906"/>
              <a:chOff x="13861682" y="5991366"/>
              <a:chExt cx="2200536" cy="1999906"/>
            </a:xfrm>
          </p:grpSpPr>
          <p:sp>
            <p:nvSpPr>
              <p:cNvPr id="79" name="TextBox 47"/>
              <p:cNvSpPr txBox="1">
                <a:spLocks noChangeArrowheads="1"/>
              </p:cNvSpPr>
              <p:nvPr/>
            </p:nvSpPr>
            <p:spPr bwMode="auto">
              <a:xfrm>
                <a:off x="13861682" y="7255364"/>
                <a:ext cx="2200536" cy="7359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152872" tIns="76435" rIns="152872" bIns="76435" anchor="ctr">
                <a:spAutoFit/>
              </a:bodyPr>
              <a:lstStyle/>
              <a:p>
                <a:pPr algn="ctr"/>
                <a:r>
                  <a:rPr lang="zh-CN" altLang="en-US" sz="3005" b="1" dirty="0">
                    <a:solidFill>
                      <a:schemeClr val="accent6"/>
                    </a:solidFill>
                    <a:latin typeface="微软雅黑" pitchFamily="34" charset="-122"/>
                    <a:ea typeface="微软雅黑" pitchFamily="34" charset="-122"/>
                  </a:rPr>
                  <a:t>生产制造</a:t>
                </a:r>
                <a:endParaRPr lang="zh-CN" altLang="en-US" sz="3005" b="1" dirty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pic>
            <p:nvPicPr>
              <p:cNvPr id="80" name="Picture 38"/>
              <p:cNvPicPr>
                <a:picLocks noChangeAspect="1" noChangeArrowheads="1"/>
              </p:cNvPicPr>
              <p:nvPr/>
            </p:nvPicPr>
            <p:blipFill>
              <a:blip r:embed="rId5" cstate="print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</a:blip>
              <a:srcRect/>
              <a:stretch>
                <a:fillRect/>
              </a:stretch>
            </p:blipFill>
            <p:spPr bwMode="auto">
              <a:xfrm>
                <a:off x="14349898" y="5991366"/>
                <a:ext cx="1294934" cy="12954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87" name="右箭头 31"/>
            <p:cNvSpPr/>
            <p:nvPr/>
          </p:nvSpPr>
          <p:spPr>
            <a:xfrm>
              <a:off x="8214110" y="5662072"/>
              <a:ext cx="1646884" cy="2363251"/>
            </a:xfrm>
            <a:prstGeom prst="rightArrow">
              <a:avLst/>
            </a:prstGeom>
            <a:gradFill flip="none" rotWithShape="1">
              <a:gsLst>
                <a:gs pos="9000">
                  <a:schemeClr val="tx1">
                    <a:lumMod val="50000"/>
                    <a:lumOff val="50000"/>
                    <a:alpha val="34000"/>
                  </a:schemeClr>
                </a:gs>
                <a:gs pos="100000">
                  <a:schemeClr val="tx1">
                    <a:lumMod val="65000"/>
                    <a:lumOff val="35000"/>
                    <a:alpha val="0"/>
                  </a:schemeClr>
                </a:gs>
              </a:gsLst>
              <a:lin ang="108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203881" tIns="101939" rIns="203881" bIns="101939" numCol="1" spcCol="0" rtlCol="0" fromWordArt="0" anchor="ctr" anchorCtr="0" forceAA="0" compatLnSpc="1">
              <a:no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565" dirty="0">
                <a:solidFill>
                  <a:schemeClr val="accent6"/>
                </a:solidFill>
                <a:ea typeface="微软雅黑" pitchFamily="34" charset="-122"/>
                <a:cs typeface="+mn-ea"/>
                <a:sym typeface="Helvetica Light"/>
              </a:endParaRPr>
            </a:p>
          </p:txBody>
        </p:sp>
        <p:sp>
          <p:nvSpPr>
            <p:cNvPr id="88" name="右箭头 38"/>
            <p:cNvSpPr/>
            <p:nvPr/>
          </p:nvSpPr>
          <p:spPr>
            <a:xfrm>
              <a:off x="16482034" y="5763369"/>
              <a:ext cx="1646884" cy="2363251"/>
            </a:xfrm>
            <a:prstGeom prst="rightArrow">
              <a:avLst/>
            </a:prstGeom>
            <a:gradFill flip="none" rotWithShape="1">
              <a:gsLst>
                <a:gs pos="9000">
                  <a:schemeClr val="tx1">
                    <a:lumMod val="50000"/>
                    <a:lumOff val="50000"/>
                    <a:alpha val="34000"/>
                  </a:schemeClr>
                </a:gs>
                <a:gs pos="100000">
                  <a:schemeClr val="tx1">
                    <a:lumMod val="65000"/>
                    <a:lumOff val="35000"/>
                    <a:alpha val="0"/>
                  </a:schemeClr>
                </a:gs>
              </a:gsLst>
              <a:lin ang="108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203881" tIns="101939" rIns="203881" bIns="101939" numCol="1" spcCol="0" rtlCol="0" fromWordArt="0" anchor="ctr" anchorCtr="0" forceAA="0" compatLnSpc="1">
              <a:no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565" dirty="0">
                <a:solidFill>
                  <a:schemeClr val="accent6"/>
                </a:solidFill>
                <a:ea typeface="微软雅黑" pitchFamily="34" charset="-122"/>
                <a:cs typeface="+mn-ea"/>
                <a:sym typeface="Helvetica Light"/>
              </a:endParaRPr>
            </a:p>
          </p:txBody>
        </p:sp>
        <p:sp>
          <p:nvSpPr>
            <p:cNvPr id="89" name="右箭头 39"/>
            <p:cNvSpPr/>
            <p:nvPr/>
          </p:nvSpPr>
          <p:spPr>
            <a:xfrm>
              <a:off x="24459793" y="5694913"/>
              <a:ext cx="1646884" cy="2363251"/>
            </a:xfrm>
            <a:prstGeom prst="rightArrow">
              <a:avLst/>
            </a:prstGeom>
            <a:gradFill flip="none" rotWithShape="1">
              <a:gsLst>
                <a:gs pos="9000">
                  <a:schemeClr val="tx1">
                    <a:lumMod val="50000"/>
                    <a:lumOff val="50000"/>
                    <a:alpha val="34000"/>
                  </a:schemeClr>
                </a:gs>
                <a:gs pos="100000">
                  <a:schemeClr val="tx1">
                    <a:lumMod val="65000"/>
                    <a:lumOff val="35000"/>
                    <a:alpha val="0"/>
                  </a:schemeClr>
                </a:gs>
              </a:gsLst>
              <a:lin ang="108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203881" tIns="101939" rIns="203881" bIns="101939" numCol="1" spcCol="0" rtlCol="0" fromWordArt="0" anchor="ctr" anchorCtr="0" forceAA="0" compatLnSpc="1">
              <a:no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565" dirty="0">
                <a:solidFill>
                  <a:schemeClr val="accent6"/>
                </a:solidFill>
                <a:ea typeface="微软雅黑" pitchFamily="34" charset="-122"/>
                <a:cs typeface="+mn-ea"/>
                <a:sym typeface="Helvetica Light"/>
              </a:endParaRPr>
            </a:p>
          </p:txBody>
        </p:sp>
        <p:sp>
          <p:nvSpPr>
            <p:cNvPr id="90" name="右箭头 40"/>
            <p:cNvSpPr/>
            <p:nvPr/>
          </p:nvSpPr>
          <p:spPr>
            <a:xfrm>
              <a:off x="12628414" y="5766047"/>
              <a:ext cx="1646884" cy="2363251"/>
            </a:xfrm>
            <a:prstGeom prst="rightArrow">
              <a:avLst/>
            </a:prstGeom>
            <a:gradFill flip="none" rotWithShape="1">
              <a:gsLst>
                <a:gs pos="9000">
                  <a:schemeClr val="tx1">
                    <a:lumMod val="50000"/>
                    <a:lumOff val="50000"/>
                    <a:alpha val="34000"/>
                  </a:schemeClr>
                </a:gs>
                <a:gs pos="100000">
                  <a:schemeClr val="tx1">
                    <a:lumMod val="65000"/>
                    <a:lumOff val="35000"/>
                    <a:alpha val="0"/>
                  </a:schemeClr>
                </a:gs>
              </a:gsLst>
              <a:lin ang="108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203881" tIns="101939" rIns="203881" bIns="101939" numCol="1" spcCol="0" rtlCol="0" fromWordArt="0" anchor="ctr" anchorCtr="0" forceAA="0" compatLnSpc="1">
              <a:no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565" dirty="0">
                <a:solidFill>
                  <a:schemeClr val="accent6"/>
                </a:solidFill>
                <a:ea typeface="微软雅黑" pitchFamily="34" charset="-122"/>
                <a:cs typeface="+mn-ea"/>
                <a:sym typeface="Helvetica Light"/>
              </a:endParaRPr>
            </a:p>
          </p:txBody>
        </p:sp>
        <p:cxnSp>
          <p:nvCxnSpPr>
            <p:cNvPr id="92" name="直接箭头连接符 42"/>
            <p:cNvCxnSpPr/>
            <p:nvPr/>
          </p:nvCxnSpPr>
          <p:spPr>
            <a:xfrm flipV="1">
              <a:off x="11552571" y="3606418"/>
              <a:ext cx="0" cy="2015533"/>
            </a:xfrm>
            <a:prstGeom prst="straightConnector1">
              <a:avLst/>
            </a:prstGeom>
            <a:noFill/>
            <a:ln w="25400" cap="flat">
              <a:solidFill>
                <a:srgbClr val="00B050"/>
              </a:solidFill>
              <a:prstDash val="dash"/>
              <a:miter lim="400000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rgbClr val="000000"/>
            </a:fontRef>
          </p:style>
        </p:cxnSp>
        <p:cxnSp>
          <p:nvCxnSpPr>
            <p:cNvPr id="95" name="直接箭头连接符 43"/>
            <p:cNvCxnSpPr/>
            <p:nvPr/>
          </p:nvCxnSpPr>
          <p:spPr>
            <a:xfrm>
              <a:off x="10994064" y="3751959"/>
              <a:ext cx="0" cy="2015533"/>
            </a:xfrm>
            <a:prstGeom prst="straightConnector1">
              <a:avLst/>
            </a:prstGeom>
            <a:noFill/>
            <a:ln w="25400" cap="flat">
              <a:solidFill>
                <a:srgbClr val="0070C0"/>
              </a:solidFill>
              <a:prstDash val="dash"/>
              <a:miter lim="400000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rgbClr val="000000"/>
            </a:fontRef>
          </p:style>
        </p:cxnSp>
        <p:cxnSp>
          <p:nvCxnSpPr>
            <p:cNvPr id="96" name="直接箭头连接符 45"/>
            <p:cNvCxnSpPr/>
            <p:nvPr/>
          </p:nvCxnSpPr>
          <p:spPr>
            <a:xfrm flipV="1">
              <a:off x="15484797" y="3606418"/>
              <a:ext cx="0" cy="2015533"/>
            </a:xfrm>
            <a:prstGeom prst="straightConnector1">
              <a:avLst/>
            </a:prstGeom>
            <a:noFill/>
            <a:ln w="25400" cap="flat">
              <a:solidFill>
                <a:srgbClr val="FF0000"/>
              </a:solidFill>
              <a:prstDash val="dash"/>
              <a:miter lim="400000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rgbClr val="000000"/>
            </a:fontRef>
          </p:style>
        </p:cxnSp>
        <p:cxnSp>
          <p:nvCxnSpPr>
            <p:cNvPr id="97" name="直接箭头连接符 46"/>
            <p:cNvCxnSpPr/>
            <p:nvPr/>
          </p:nvCxnSpPr>
          <p:spPr>
            <a:xfrm>
              <a:off x="14926290" y="3751959"/>
              <a:ext cx="0" cy="2015533"/>
            </a:xfrm>
            <a:prstGeom prst="straightConnector1">
              <a:avLst/>
            </a:prstGeom>
            <a:noFill/>
            <a:ln w="25400" cap="flat">
              <a:solidFill>
                <a:srgbClr val="0070C0"/>
              </a:solidFill>
              <a:prstDash val="dash"/>
              <a:miter lim="400000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rgbClr val="000000"/>
            </a:fontRef>
          </p:style>
        </p:cxnSp>
        <p:cxnSp>
          <p:nvCxnSpPr>
            <p:cNvPr id="98" name="直接箭头连接符 47"/>
            <p:cNvCxnSpPr/>
            <p:nvPr/>
          </p:nvCxnSpPr>
          <p:spPr>
            <a:xfrm flipV="1">
              <a:off x="19496256" y="3606415"/>
              <a:ext cx="0" cy="2015533"/>
            </a:xfrm>
            <a:prstGeom prst="straightConnector1">
              <a:avLst/>
            </a:prstGeom>
            <a:noFill/>
            <a:ln w="25400" cap="flat">
              <a:solidFill>
                <a:srgbClr val="FFC000"/>
              </a:solidFill>
              <a:prstDash val="dash"/>
              <a:miter lim="400000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rgbClr val="000000"/>
            </a:fontRef>
          </p:style>
        </p:cxnSp>
        <p:cxnSp>
          <p:nvCxnSpPr>
            <p:cNvPr id="99" name="直接箭头连接符 48"/>
            <p:cNvCxnSpPr/>
            <p:nvPr/>
          </p:nvCxnSpPr>
          <p:spPr>
            <a:xfrm>
              <a:off x="18969578" y="3751954"/>
              <a:ext cx="0" cy="2015533"/>
            </a:xfrm>
            <a:prstGeom prst="straightConnector1">
              <a:avLst/>
            </a:prstGeom>
            <a:noFill/>
            <a:ln w="28575" cap="flat">
              <a:solidFill>
                <a:srgbClr val="FFC000"/>
              </a:solidFill>
              <a:prstDash val="dash"/>
              <a:miter lim="400000"/>
              <a:tailEnd type="arrow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rgbClr val="000000"/>
            </a:fontRef>
          </p:style>
        </p:cxnSp>
        <p:cxnSp>
          <p:nvCxnSpPr>
            <p:cNvPr id="100" name="直接箭头连接符 49"/>
            <p:cNvCxnSpPr/>
            <p:nvPr/>
          </p:nvCxnSpPr>
          <p:spPr>
            <a:xfrm flipV="1">
              <a:off x="23416546" y="3606415"/>
              <a:ext cx="0" cy="2015533"/>
            </a:xfrm>
            <a:prstGeom prst="straightConnector1">
              <a:avLst/>
            </a:prstGeom>
            <a:noFill/>
            <a:ln w="25400" cap="flat">
              <a:solidFill>
                <a:srgbClr val="00B050"/>
              </a:solidFill>
              <a:prstDash val="dash"/>
              <a:miter lim="400000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rgbClr val="000000"/>
            </a:fontRef>
          </p:style>
        </p:cxnSp>
        <p:cxnSp>
          <p:nvCxnSpPr>
            <p:cNvPr id="101" name="直接箭头连接符 50"/>
            <p:cNvCxnSpPr/>
            <p:nvPr/>
          </p:nvCxnSpPr>
          <p:spPr>
            <a:xfrm>
              <a:off x="22911811" y="3751956"/>
              <a:ext cx="0" cy="2015533"/>
            </a:xfrm>
            <a:prstGeom prst="straightConnector1">
              <a:avLst/>
            </a:prstGeom>
            <a:noFill/>
            <a:ln w="25400" cap="flat">
              <a:solidFill>
                <a:srgbClr val="0070C0"/>
              </a:solidFill>
              <a:prstDash val="dash"/>
              <a:miter lim="400000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rgbClr val="000000"/>
            </a:fontRef>
          </p:style>
        </p:cxnSp>
        <p:cxnSp>
          <p:nvCxnSpPr>
            <p:cNvPr id="102" name="直接箭头连接符 51"/>
            <p:cNvCxnSpPr/>
            <p:nvPr/>
          </p:nvCxnSpPr>
          <p:spPr>
            <a:xfrm flipV="1">
              <a:off x="27507223" y="3606413"/>
              <a:ext cx="0" cy="2015533"/>
            </a:xfrm>
            <a:prstGeom prst="straightConnector1">
              <a:avLst/>
            </a:prstGeom>
            <a:noFill/>
            <a:ln w="25400" cap="flat">
              <a:solidFill>
                <a:srgbClr val="00B050"/>
              </a:solidFill>
              <a:prstDash val="dash"/>
              <a:miter lim="400000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rgbClr val="000000"/>
            </a:fontRef>
          </p:style>
        </p:cxnSp>
        <p:cxnSp>
          <p:nvCxnSpPr>
            <p:cNvPr id="103" name="直接箭头连接符 52"/>
            <p:cNvCxnSpPr/>
            <p:nvPr/>
          </p:nvCxnSpPr>
          <p:spPr>
            <a:xfrm>
              <a:off x="27110044" y="3751954"/>
              <a:ext cx="0" cy="2015533"/>
            </a:xfrm>
            <a:prstGeom prst="straightConnector1">
              <a:avLst/>
            </a:prstGeom>
            <a:noFill/>
            <a:ln w="25400" cap="flat">
              <a:solidFill>
                <a:srgbClr val="0070C0"/>
              </a:solidFill>
              <a:prstDash val="dash"/>
              <a:miter lim="400000"/>
              <a:tailEnd type="arrow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rgbClr val="000000"/>
            </a:fontRef>
          </p:style>
        </p:cxnSp>
        <p:sp>
          <p:nvSpPr>
            <p:cNvPr id="104" name="右箭头 53"/>
            <p:cNvSpPr/>
            <p:nvPr/>
          </p:nvSpPr>
          <p:spPr>
            <a:xfrm>
              <a:off x="20433793" y="5694913"/>
              <a:ext cx="1646884" cy="2363251"/>
            </a:xfrm>
            <a:prstGeom prst="rightArrow">
              <a:avLst/>
            </a:prstGeom>
            <a:gradFill flip="none" rotWithShape="1">
              <a:gsLst>
                <a:gs pos="9000">
                  <a:schemeClr val="tx1">
                    <a:lumMod val="50000"/>
                    <a:lumOff val="50000"/>
                    <a:alpha val="34000"/>
                  </a:schemeClr>
                </a:gs>
                <a:gs pos="100000">
                  <a:schemeClr val="tx1">
                    <a:lumMod val="65000"/>
                    <a:lumOff val="35000"/>
                    <a:alpha val="0"/>
                  </a:schemeClr>
                </a:gs>
              </a:gsLst>
              <a:lin ang="108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203881" tIns="101939" rIns="203881" bIns="101939" numCol="1" spcCol="0" rtlCol="0" fromWordArt="0" anchor="ctr" anchorCtr="0" forceAA="0" compatLnSpc="1">
              <a:no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3565" dirty="0">
                <a:solidFill>
                  <a:schemeClr val="accent6"/>
                </a:solidFill>
                <a:ea typeface="微软雅黑" pitchFamily="34" charset="-122"/>
                <a:cs typeface="+mn-ea"/>
                <a:sym typeface="Helvetica Light"/>
              </a:endParaRPr>
            </a:p>
          </p:txBody>
        </p:sp>
        <p:sp>
          <p:nvSpPr>
            <p:cNvPr id="105" name="TextBox 47"/>
            <p:cNvSpPr txBox="1">
              <a:spLocks noChangeArrowheads="1"/>
            </p:cNvSpPr>
            <p:nvPr/>
          </p:nvSpPr>
          <p:spPr bwMode="auto">
            <a:xfrm>
              <a:off x="21275727" y="7288061"/>
              <a:ext cx="3936144" cy="7359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52872" tIns="76435" rIns="152872" bIns="76435" anchor="ctr">
              <a:spAutoFit/>
            </a:bodyPr>
            <a:lstStyle/>
            <a:p>
              <a:pPr algn="ctr"/>
              <a:r>
                <a:rPr lang="zh-CN" altLang="en-US" sz="3005" b="1" dirty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成品物流</a:t>
              </a:r>
              <a:endParaRPr lang="zh-CN" altLang="en-US" sz="3005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6" name="TextBox 17"/>
            <p:cNvSpPr txBox="1"/>
            <p:nvPr/>
          </p:nvSpPr>
          <p:spPr>
            <a:xfrm>
              <a:off x="4427736" y="3777360"/>
              <a:ext cx="5188974" cy="1061713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rgbClr val="000000"/>
            </a:fontRef>
          </p:style>
          <p:txBody>
            <a:bodyPr rot="0" spcFirstLastPara="1" vertOverflow="overflow" horzOverflow="overflow" vert="horz" wrap="square" lIns="84929" tIns="84929" rIns="84929" bIns="84929" numCol="1" spcCol="38100" rtlCol="0" anchor="ctr">
              <a:spAutoFit/>
            </a:bodyPr>
            <a:lstStyle/>
            <a:p>
              <a:pPr algn="ctr" defTabSz="1650365" latinLnBrk="1"/>
              <a:r>
                <a:rPr lang="zh-CN" altLang="en-US" sz="2340" b="1" dirty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依据执行预测对实际时间节点进行进度跟进检查</a:t>
              </a:r>
              <a:endParaRPr lang="zh-CN" altLang="en-US" sz="234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  <a:sym typeface="Helvetica Light"/>
              </a:endParaRPr>
            </a:p>
          </p:txBody>
        </p:sp>
        <p:sp>
          <p:nvSpPr>
            <p:cNvPr id="107" name="TextBox 55"/>
            <p:cNvSpPr txBox="1"/>
            <p:nvPr/>
          </p:nvSpPr>
          <p:spPr>
            <a:xfrm>
              <a:off x="11871375" y="4309063"/>
              <a:ext cx="3451244" cy="1061713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rgbClr val="000000"/>
            </a:fontRef>
          </p:style>
          <p:txBody>
            <a:bodyPr rot="0" spcFirstLastPara="1" vertOverflow="overflow" horzOverflow="overflow" vert="horz" wrap="square" lIns="84929" tIns="84929" rIns="84929" bIns="84929" numCol="1" spcCol="38100" rtlCol="0" anchor="ctr">
              <a:spAutoFit/>
            </a:bodyPr>
            <a:lstStyle/>
            <a:p>
              <a:pPr algn="ctr" defTabSz="1650365" latinLnBrk="1"/>
              <a:r>
                <a:rPr lang="zh-CN" altLang="en-US" sz="2340" b="1" dirty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原材料仓储到位</a:t>
              </a:r>
              <a:endParaRPr lang="en-US" altLang="zh-CN" sz="234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defTabSz="1650365" latinLnBrk="1"/>
              <a:r>
                <a:rPr lang="zh-CN" altLang="en-US" sz="2340" b="1" dirty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生产按计划进行</a:t>
              </a:r>
              <a:endParaRPr lang="en-US" altLang="zh-CN" sz="234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8" name="TextBox 58"/>
            <p:cNvSpPr txBox="1"/>
            <p:nvPr/>
          </p:nvSpPr>
          <p:spPr>
            <a:xfrm>
              <a:off x="15450432" y="4701735"/>
              <a:ext cx="3710087" cy="1061713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rgbClr val="000000"/>
            </a:fontRef>
          </p:style>
          <p:txBody>
            <a:bodyPr rot="0" spcFirstLastPara="1" vertOverflow="overflow" horzOverflow="overflow" vert="horz" wrap="square" lIns="84929" tIns="84929" rIns="84929" bIns="84929" numCol="1" spcCol="38100" rtlCol="0" anchor="ctr">
              <a:spAutoFit/>
            </a:bodyPr>
            <a:lstStyle/>
            <a:p>
              <a:pPr algn="ctr" defTabSz="1650365" latinLnBrk="1"/>
              <a:r>
                <a:rPr lang="zh-CN" altLang="en-US" sz="2340" b="1" dirty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生产制造拖期</a:t>
              </a:r>
              <a:endParaRPr lang="en-US" altLang="zh-CN" sz="234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defTabSz="1650365" latinLnBrk="1"/>
              <a:r>
                <a:rPr lang="zh-CN" altLang="en-US" sz="2340" b="1" dirty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异常通知</a:t>
              </a:r>
              <a:r>
                <a:rPr lang="en-US" altLang="zh-CN" sz="2340" b="1" dirty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&amp;</a:t>
              </a:r>
              <a:r>
                <a:rPr lang="zh-CN" altLang="en-US" sz="2340" b="1" dirty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处理</a:t>
              </a:r>
              <a:endParaRPr lang="en-US" altLang="zh-CN" sz="234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9" name="TextBox 63"/>
            <p:cNvSpPr txBox="1"/>
            <p:nvPr/>
          </p:nvSpPr>
          <p:spPr>
            <a:xfrm>
              <a:off x="19846820" y="4701735"/>
              <a:ext cx="3019837" cy="1061713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rgbClr val="000000"/>
            </a:fontRef>
          </p:style>
          <p:txBody>
            <a:bodyPr rot="0" spcFirstLastPara="1" vertOverflow="overflow" horzOverflow="overflow" vert="horz" wrap="square" lIns="84929" tIns="84929" rIns="84929" bIns="84929" numCol="1" spcCol="38100" rtlCol="0" anchor="ctr">
              <a:spAutoFit/>
            </a:bodyPr>
            <a:lstStyle/>
            <a:p>
              <a:pPr algn="ctr" defTabSz="1650365" latinLnBrk="1"/>
              <a:r>
                <a:rPr lang="zh-CN" altLang="en-US" sz="2340" b="1" dirty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调节有效</a:t>
              </a:r>
              <a:endParaRPr lang="en-US" altLang="zh-CN" sz="234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defTabSz="1650365" latinLnBrk="1"/>
              <a:r>
                <a:rPr lang="zh-CN" altLang="en-US" sz="2340" b="1" dirty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整体进度可控</a:t>
              </a:r>
              <a:endParaRPr lang="en-US" altLang="zh-CN" sz="234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0" name="TextBox 64"/>
            <p:cNvSpPr txBox="1"/>
            <p:nvPr/>
          </p:nvSpPr>
          <p:spPr>
            <a:xfrm>
              <a:off x="23721596" y="4636702"/>
              <a:ext cx="2933559" cy="1061713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rgbClr val="000000"/>
            </a:fontRef>
          </p:style>
          <p:txBody>
            <a:bodyPr rot="0" spcFirstLastPara="1" vertOverflow="overflow" horzOverflow="overflow" vert="horz" wrap="square" lIns="84929" tIns="84929" rIns="84929" bIns="84929" numCol="1" spcCol="38100" rtlCol="0" anchor="ctr">
              <a:spAutoFit/>
            </a:bodyPr>
            <a:lstStyle/>
            <a:p>
              <a:pPr algn="ctr" defTabSz="1650365" latinLnBrk="1"/>
              <a:r>
                <a:rPr lang="zh-CN" altLang="en-US" sz="2340" b="1" dirty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成品按时发货</a:t>
              </a:r>
              <a:endParaRPr lang="en-US" altLang="zh-CN" sz="234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defTabSz="1650365" latinLnBrk="1"/>
              <a:r>
                <a:rPr lang="zh-CN" altLang="en-US" sz="2340" b="1" dirty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节点规划达成</a:t>
              </a:r>
              <a:endParaRPr lang="en-US" altLang="zh-CN" sz="234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1" name="TextBox 65"/>
            <p:cNvSpPr txBox="1"/>
            <p:nvPr/>
          </p:nvSpPr>
          <p:spPr>
            <a:xfrm>
              <a:off x="27313649" y="4636702"/>
              <a:ext cx="2157029" cy="1061713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rgbClr val="000000"/>
            </a:fontRef>
          </p:style>
          <p:txBody>
            <a:bodyPr rot="0" spcFirstLastPara="1" vertOverflow="overflow" horzOverflow="overflow" vert="horz" wrap="square" lIns="84929" tIns="84929" rIns="84929" bIns="84929" numCol="1" spcCol="38100" rtlCol="0" anchor="ctr">
              <a:spAutoFit/>
            </a:bodyPr>
            <a:lstStyle/>
            <a:p>
              <a:pPr algn="ctr" defTabSz="1650365" latinLnBrk="1"/>
              <a:r>
                <a:rPr lang="zh-CN" altLang="en-US" sz="2340" b="1" dirty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客户需求</a:t>
              </a:r>
              <a:endParaRPr lang="en-US" altLang="zh-CN" sz="234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defTabSz="1650365" latinLnBrk="1"/>
              <a:r>
                <a:rPr lang="zh-CN" altLang="en-US" sz="2340" b="1" dirty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按期达成</a:t>
              </a:r>
              <a:endParaRPr lang="en-US" altLang="zh-CN" sz="234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2" name="TextBox 57"/>
            <p:cNvSpPr txBox="1"/>
            <p:nvPr/>
          </p:nvSpPr>
          <p:spPr>
            <a:xfrm>
              <a:off x="15460997" y="3764887"/>
              <a:ext cx="3710087" cy="631863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rgbClr val="000000"/>
            </a:fontRef>
          </p:style>
          <p:txBody>
            <a:bodyPr rot="0" spcFirstLastPara="1" vertOverflow="overflow" horzOverflow="overflow" vert="horz" wrap="square" lIns="84929" tIns="84929" rIns="84929" bIns="84929" numCol="1" spcCol="38100" rtlCol="0" anchor="ctr">
              <a:spAutoFit/>
            </a:bodyPr>
            <a:lstStyle/>
            <a:p>
              <a:pPr algn="ctr" defTabSz="1650365" latinLnBrk="1"/>
              <a:r>
                <a:rPr lang="zh-CN" altLang="en-US" sz="2340" b="1" dirty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成品优先级调节</a:t>
              </a:r>
              <a:endParaRPr lang="en-US" altLang="zh-CN" sz="234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6" name="TextBox 70"/>
            <p:cNvSpPr txBox="1"/>
            <p:nvPr/>
          </p:nvSpPr>
          <p:spPr>
            <a:xfrm>
              <a:off x="19501694" y="3764887"/>
              <a:ext cx="3710087" cy="631863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>
              <a:srgbClr val="000000"/>
            </a:fontRef>
          </p:style>
          <p:txBody>
            <a:bodyPr rot="0" spcFirstLastPara="1" vertOverflow="overflow" horzOverflow="overflow" vert="horz" wrap="square" lIns="84929" tIns="84929" rIns="84929" bIns="84929" numCol="1" spcCol="38100" rtlCol="0" anchor="ctr">
              <a:spAutoFit/>
            </a:bodyPr>
            <a:lstStyle/>
            <a:p>
              <a:pPr algn="ctr" defTabSz="1650365" latinLnBrk="1"/>
              <a:r>
                <a:rPr lang="zh-CN" altLang="en-US" sz="2340" b="1" dirty="0">
                  <a:solidFill>
                    <a:schemeClr val="accent6"/>
                  </a:solidFill>
                  <a:latin typeface="微软雅黑" pitchFamily="34" charset="-122"/>
                  <a:ea typeface="微软雅黑" pitchFamily="34" charset="-122"/>
                </a:rPr>
                <a:t>成品物流调节</a:t>
              </a:r>
              <a:endParaRPr lang="en-US" altLang="zh-CN" sz="234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123" name="图形 122" descr="递送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2091375" y="5704506"/>
              <a:ext cx="2333482" cy="1946797"/>
            </a:xfrm>
            <a:prstGeom prst="rect">
              <a:avLst/>
            </a:prstGeom>
          </p:spPr>
        </p:pic>
      </p:grpSp>
      <p:sp>
        <p:nvSpPr>
          <p:cNvPr id="71" name="文本框 70"/>
          <p:cNvSpPr txBox="1"/>
          <p:nvPr/>
        </p:nvSpPr>
        <p:spPr>
          <a:xfrm>
            <a:off x="28651983" y="5671004"/>
            <a:ext cx="1537080" cy="354002"/>
          </a:xfrm>
          <a:prstGeom prst="rect">
            <a:avLst/>
          </a:prstGeom>
          <a:solidFill>
            <a:srgbClr val="011135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837" tIns="38837" rIns="38837" bIns="38837" numCol="1" spcCol="38100" rtlCol="0" anchor="ctr">
            <a:normAutofit fontScale="52500" lnSpcReduction="20000"/>
          </a:bodyPr>
          <a:lstStyle/>
          <a:p>
            <a:pPr marL="0" marR="0" indent="0" algn="l" defTabSz="21939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51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8" name="标题 3"/>
          <p:cNvSpPr>
            <a:spLocks noGrp="1"/>
          </p:cNvSpPr>
          <p:nvPr/>
        </p:nvSpPr>
        <p:spPr>
          <a:xfrm>
            <a:off x="6002627" y="3983368"/>
            <a:ext cx="20086200" cy="1286170"/>
          </a:xfrm>
          <a:prstGeom prst="rect">
            <a:avLst/>
          </a:prstGeom>
          <a:ln w="12700">
            <a:miter lim="400000"/>
          </a:ln>
        </p:spPr>
        <p:txBody>
          <a:bodyPr lIns="77675" tIns="77675" rIns="77675" bIns="77675" anchor="ctr">
            <a:normAutofit/>
          </a:bodyPr>
          <a:lstStyle>
            <a:lvl1pPr marL="0" marR="0" indent="0" algn="l" defTabSz="464820" rtl="0" latinLnBrk="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3300" b="0" i="0" u="none" strike="noStrike" cap="none" spc="320" baseline="0">
                <a:ln>
                  <a:noFill/>
                </a:ln>
                <a:solidFill>
                  <a:srgbClr val="00B0F0"/>
                </a:solidFill>
                <a:uFillTx/>
                <a:latin typeface="微软雅黑" pitchFamily="34" charset="-122"/>
                <a:ea typeface="微软雅黑" pitchFamily="34" charset="-122"/>
                <a:cs typeface="微软雅黑" pitchFamily="34" charset="-122"/>
                <a:sym typeface="微软雅黑" pitchFamily="34" charset="-122"/>
              </a:defRPr>
            </a:lvl1pPr>
            <a:lvl2pPr marL="0" marR="0" indent="0" algn="l" defTabSz="929005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600" b="0" i="0" u="none" strike="noStrike" cap="none" spc="320" baseline="0">
                <a:ln>
                  <a:noFill/>
                </a:ln>
                <a:solidFill>
                  <a:srgbClr val="00B0F0"/>
                </a:solidFill>
                <a:uFillTx/>
                <a:latin typeface="微软雅黑" pitchFamily="34" charset="-122"/>
                <a:ea typeface="微软雅黑" pitchFamily="34" charset="-122"/>
                <a:cs typeface="微软雅黑" pitchFamily="34" charset="-122"/>
                <a:sym typeface="微软雅黑" pitchFamily="34" charset="-122"/>
              </a:defRPr>
            </a:lvl2pPr>
            <a:lvl3pPr marL="0" marR="0" indent="0" algn="l" defTabSz="929005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600" b="0" i="0" u="none" strike="noStrike" cap="none" spc="320" baseline="0">
                <a:ln>
                  <a:noFill/>
                </a:ln>
                <a:solidFill>
                  <a:srgbClr val="00B0F0"/>
                </a:solidFill>
                <a:uFillTx/>
                <a:latin typeface="微软雅黑" pitchFamily="34" charset="-122"/>
                <a:ea typeface="微软雅黑" pitchFamily="34" charset="-122"/>
                <a:cs typeface="微软雅黑" pitchFamily="34" charset="-122"/>
                <a:sym typeface="微软雅黑" pitchFamily="34" charset="-122"/>
              </a:defRPr>
            </a:lvl3pPr>
            <a:lvl4pPr marL="0" marR="0" indent="0" algn="l" defTabSz="929005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600" b="0" i="0" u="none" strike="noStrike" cap="none" spc="320" baseline="0">
                <a:ln>
                  <a:noFill/>
                </a:ln>
                <a:solidFill>
                  <a:srgbClr val="00B0F0"/>
                </a:solidFill>
                <a:uFillTx/>
                <a:latin typeface="微软雅黑" pitchFamily="34" charset="-122"/>
                <a:ea typeface="微软雅黑" pitchFamily="34" charset="-122"/>
                <a:cs typeface="微软雅黑" pitchFamily="34" charset="-122"/>
                <a:sym typeface="微软雅黑" pitchFamily="34" charset="-122"/>
              </a:defRPr>
            </a:lvl4pPr>
            <a:lvl5pPr marL="0" marR="0" indent="0" algn="l" defTabSz="929005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600" b="0" i="0" u="none" strike="noStrike" cap="none" spc="320" baseline="0">
                <a:ln>
                  <a:noFill/>
                </a:ln>
                <a:solidFill>
                  <a:srgbClr val="00B0F0"/>
                </a:solidFill>
                <a:uFillTx/>
                <a:latin typeface="微软雅黑" pitchFamily="34" charset="-122"/>
                <a:ea typeface="微软雅黑" pitchFamily="34" charset="-122"/>
                <a:cs typeface="微软雅黑" pitchFamily="34" charset="-122"/>
                <a:sym typeface="微软雅黑" pitchFamily="34" charset="-122"/>
              </a:defRPr>
            </a:lvl5pPr>
            <a:lvl6pPr marL="0" marR="0" indent="0" algn="l" defTabSz="929005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600" b="0" i="0" u="none" strike="noStrike" cap="none" spc="320" baseline="0">
                <a:ln>
                  <a:noFill/>
                </a:ln>
                <a:solidFill>
                  <a:srgbClr val="00B0F0"/>
                </a:solidFill>
                <a:uFillTx/>
                <a:latin typeface="微软雅黑" pitchFamily="34" charset="-122"/>
                <a:ea typeface="微软雅黑" pitchFamily="34" charset="-122"/>
                <a:cs typeface="微软雅黑" pitchFamily="34" charset="-122"/>
                <a:sym typeface="微软雅黑" pitchFamily="34" charset="-122"/>
              </a:defRPr>
            </a:lvl6pPr>
            <a:lvl7pPr marL="0" marR="0" indent="0" algn="l" defTabSz="929005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600" b="0" i="0" u="none" strike="noStrike" cap="none" spc="320" baseline="0">
                <a:ln>
                  <a:noFill/>
                </a:ln>
                <a:solidFill>
                  <a:srgbClr val="00B0F0"/>
                </a:solidFill>
                <a:uFillTx/>
                <a:latin typeface="微软雅黑" pitchFamily="34" charset="-122"/>
                <a:ea typeface="微软雅黑" pitchFamily="34" charset="-122"/>
                <a:cs typeface="微软雅黑" pitchFamily="34" charset="-122"/>
                <a:sym typeface="微软雅黑" pitchFamily="34" charset="-122"/>
              </a:defRPr>
            </a:lvl7pPr>
            <a:lvl8pPr marL="0" marR="0" indent="0" algn="l" defTabSz="929005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600" b="0" i="0" u="none" strike="noStrike" cap="none" spc="320" baseline="0">
                <a:ln>
                  <a:noFill/>
                </a:ln>
                <a:solidFill>
                  <a:srgbClr val="00B0F0"/>
                </a:solidFill>
                <a:uFillTx/>
                <a:latin typeface="微软雅黑" pitchFamily="34" charset="-122"/>
                <a:ea typeface="微软雅黑" pitchFamily="34" charset="-122"/>
                <a:cs typeface="微软雅黑" pitchFamily="34" charset="-122"/>
                <a:sym typeface="微软雅黑" pitchFamily="34" charset="-122"/>
              </a:defRPr>
            </a:lvl8pPr>
            <a:lvl9pPr marL="0" marR="0" indent="0" algn="l" defTabSz="929005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600" b="0" i="0" u="none" strike="noStrike" cap="none" spc="320" baseline="0">
                <a:ln>
                  <a:noFill/>
                </a:ln>
                <a:solidFill>
                  <a:srgbClr val="00B0F0"/>
                </a:solidFill>
                <a:uFillTx/>
                <a:latin typeface="微软雅黑" pitchFamily="34" charset="-122"/>
                <a:ea typeface="微软雅黑" pitchFamily="34" charset="-122"/>
                <a:cs typeface="微软雅黑" pitchFamily="34" charset="-122"/>
                <a:sym typeface="微软雅黑" pitchFamily="34" charset="-122"/>
              </a:defRPr>
            </a:lvl9pPr>
          </a:lstStyle>
          <a:p>
            <a:endParaRPr lang="zh-CN" altLang="en-US" sz="7245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" grpId="0" bldLvl="0" animBg="1"/>
      <p:bldP spid="114" grpId="0" bldLvl="0" animBg="1"/>
      <p:bldP spid="115" grpId="0" bldLvl="0" animBg="1"/>
      <p:bldP spid="117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采购</a:t>
            </a:r>
            <a:r>
              <a:rPr lang="zh-CN" altLang="en-US"/>
              <a:t>过程全流程</a:t>
            </a:r>
            <a:r>
              <a:rPr lang="zh-CN" altLang="en-US"/>
              <a:t>可视</a:t>
            </a:r>
            <a:endParaRPr lang="zh-CN" altLang="en-US"/>
          </a:p>
        </p:txBody>
      </p:sp>
      <p:sp>
        <p:nvSpPr>
          <p:cNvPr id="70" name="五边形 58"/>
          <p:cNvSpPr/>
          <p:nvPr/>
        </p:nvSpPr>
        <p:spPr bwMode="gray">
          <a:xfrm>
            <a:off x="7109387" y="8031375"/>
            <a:ext cx="3988839" cy="1594420"/>
          </a:xfrm>
          <a:prstGeom prst="homePlate">
            <a:avLst/>
          </a:prstGeom>
          <a:solidFill>
            <a:srgbClr val="0070C0"/>
          </a:solidFill>
          <a:ln w="9525">
            <a:noFill/>
            <a:miter lim="800000"/>
          </a:ln>
          <a:effectLst/>
        </p:spPr>
        <p:txBody>
          <a:bodyPr vert="horz" wrap="square" lIns="0" tIns="102384" rIns="0" bIns="102384" numCol="1" rtlCol="0" anchor="ctr" anchorCtr="0" compatLnSpc="1">
            <a:noAutofit/>
          </a:bodyPr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950" dirty="0">
                <a:solidFill>
                  <a:srgbClr val="FFFFFF"/>
                </a:solidFill>
                <a:latin typeface="微软雅黑" charset="0"/>
                <a:ea typeface="微软雅黑" charset="0"/>
              </a:rPr>
              <a:t>供应商引入</a:t>
            </a:r>
            <a:endParaRPr lang="zh-CN" altLang="en-US" sz="3950" dirty="0">
              <a:solidFill>
                <a:srgbClr val="FFFFF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" name="五边形 58"/>
          <p:cNvSpPr/>
          <p:nvPr/>
        </p:nvSpPr>
        <p:spPr bwMode="gray">
          <a:xfrm>
            <a:off x="11489862" y="8056462"/>
            <a:ext cx="3988839" cy="1594420"/>
          </a:xfrm>
          <a:prstGeom prst="homePlate">
            <a:avLst/>
          </a:prstGeom>
          <a:solidFill>
            <a:srgbClr val="0070C0"/>
          </a:solidFill>
          <a:ln w="9525">
            <a:noFill/>
            <a:miter lim="800000"/>
          </a:ln>
          <a:effectLst/>
        </p:spPr>
        <p:txBody>
          <a:bodyPr vert="horz" wrap="square" lIns="0" tIns="102384" rIns="0" bIns="102384" numCol="1" rtlCol="0" anchor="ctr" anchorCtr="0" compatLnSpc="1">
            <a:noAutofit/>
          </a:bodyPr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950" dirty="0">
                <a:solidFill>
                  <a:srgbClr val="FFFFFF"/>
                </a:solidFill>
                <a:latin typeface="微软雅黑" charset="0"/>
                <a:ea typeface="微软雅黑" charset="0"/>
              </a:rPr>
              <a:t>寻源认证</a:t>
            </a:r>
            <a:endParaRPr lang="zh-CN" altLang="en-US" sz="3950" dirty="0">
              <a:solidFill>
                <a:srgbClr val="FFFFF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6" name="五边形 58"/>
          <p:cNvSpPr/>
          <p:nvPr/>
        </p:nvSpPr>
        <p:spPr bwMode="gray">
          <a:xfrm>
            <a:off x="15758840" y="8031375"/>
            <a:ext cx="3988839" cy="1594420"/>
          </a:xfrm>
          <a:prstGeom prst="homePlate">
            <a:avLst/>
          </a:prstGeom>
          <a:solidFill>
            <a:srgbClr val="0070C0"/>
          </a:solidFill>
          <a:ln w="9525">
            <a:noFill/>
            <a:miter lim="800000"/>
          </a:ln>
          <a:effectLst/>
        </p:spPr>
        <p:txBody>
          <a:bodyPr vert="horz" wrap="square" lIns="0" tIns="102384" rIns="0" bIns="102384" numCol="1" rtlCol="0" anchor="ctr" anchorCtr="0" compatLnSpc="1">
            <a:noAutofit/>
          </a:bodyPr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950" dirty="0">
                <a:solidFill>
                  <a:srgbClr val="FFFFFF"/>
                </a:solidFill>
                <a:latin typeface="微软雅黑" charset="0"/>
                <a:ea typeface="微软雅黑" charset="0"/>
              </a:rPr>
              <a:t>价格管理</a:t>
            </a:r>
            <a:endParaRPr lang="zh-CN" altLang="en-US" sz="3950" dirty="0">
              <a:solidFill>
                <a:srgbClr val="FFFFF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7" name="五边形 58"/>
          <p:cNvSpPr/>
          <p:nvPr/>
        </p:nvSpPr>
        <p:spPr bwMode="gray">
          <a:xfrm>
            <a:off x="20059873" y="8056462"/>
            <a:ext cx="3988839" cy="1594420"/>
          </a:xfrm>
          <a:prstGeom prst="homePlate">
            <a:avLst/>
          </a:prstGeom>
          <a:solidFill>
            <a:srgbClr val="0070C0"/>
          </a:solidFill>
          <a:ln w="9525">
            <a:noFill/>
            <a:miter lim="800000"/>
          </a:ln>
          <a:effectLst/>
        </p:spPr>
        <p:txBody>
          <a:bodyPr vert="horz" wrap="square" lIns="0" tIns="102384" rIns="0" bIns="102384" numCol="1" rtlCol="0" anchor="ctr" anchorCtr="0" compatLnSpc="1">
            <a:noAutofit/>
          </a:bodyPr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950" dirty="0">
                <a:solidFill>
                  <a:srgbClr val="FFFFFF"/>
                </a:solidFill>
                <a:latin typeface="微软雅黑" charset="0"/>
                <a:ea typeface="微软雅黑" charset="0"/>
              </a:rPr>
              <a:t>采购执行</a:t>
            </a:r>
            <a:endParaRPr lang="zh-CN" altLang="en-US" sz="3950" dirty="0">
              <a:solidFill>
                <a:srgbClr val="FFFFF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8" name="五边形 58"/>
          <p:cNvSpPr/>
          <p:nvPr/>
        </p:nvSpPr>
        <p:spPr bwMode="gray">
          <a:xfrm>
            <a:off x="24383205" y="8056462"/>
            <a:ext cx="3988839" cy="1594420"/>
          </a:xfrm>
          <a:prstGeom prst="homePlate">
            <a:avLst/>
          </a:prstGeom>
          <a:solidFill>
            <a:srgbClr val="0070C0"/>
          </a:solidFill>
          <a:ln w="9525">
            <a:noFill/>
            <a:miter lim="800000"/>
          </a:ln>
          <a:effectLst/>
        </p:spPr>
        <p:txBody>
          <a:bodyPr vert="horz" wrap="square" lIns="0" tIns="102384" rIns="0" bIns="102384" numCol="1" rtlCol="0" anchor="ctr" anchorCtr="0" compatLnSpc="1">
            <a:noAutofit/>
          </a:bodyPr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950" dirty="0">
                <a:solidFill>
                  <a:srgbClr val="FFFFFF"/>
                </a:solidFill>
                <a:latin typeface="微软雅黑" charset="0"/>
                <a:ea typeface="微软雅黑" charset="0"/>
              </a:rPr>
              <a:t>供应商</a:t>
            </a:r>
            <a:endParaRPr lang="zh-CN" altLang="en-US" sz="3950" dirty="0">
              <a:solidFill>
                <a:srgbClr val="FFFFFF"/>
              </a:solidFill>
              <a:latin typeface="微软雅黑" charset="0"/>
              <a:ea typeface="微软雅黑" charset="0"/>
            </a:endParaRPr>
          </a:p>
          <a:p>
            <a:pPr marL="0" marR="0" lvl="0" indent="0" algn="ctr" defTabSz="91376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950" dirty="0">
                <a:solidFill>
                  <a:srgbClr val="FFFFFF"/>
                </a:solidFill>
                <a:latin typeface="微软雅黑" charset="0"/>
                <a:ea typeface="微软雅黑" charset="0"/>
              </a:rPr>
              <a:t>绩效管理</a:t>
            </a:r>
            <a:endParaRPr lang="zh-CN" altLang="en-US" sz="3950" dirty="0">
              <a:solidFill>
                <a:srgbClr val="FFFFFF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9" name="圆角矩形 8"/>
          <p:cNvSpPr/>
          <p:nvPr/>
        </p:nvSpPr>
        <p:spPr bwMode="gray">
          <a:xfrm>
            <a:off x="7485693" y="5755424"/>
            <a:ext cx="3976295" cy="898952"/>
          </a:xfrm>
          <a:prstGeom prst="roundRect">
            <a:avLst/>
          </a:prstGeom>
          <a:noFill/>
          <a:ln w="9525">
            <a:solidFill>
              <a:schemeClr val="bg1"/>
            </a:solidFill>
            <a:prstDash val="dash"/>
            <a:miter lim="800000"/>
          </a:ln>
          <a:effectLst/>
        </p:spPr>
        <p:txBody>
          <a:bodyPr rot="0" vert="horz" wrap="square" lIns="0" tIns="102384" rIns="0" bIns="102384" numCol="1" spcCol="0" rtlCol="0" anchor="ctr" anchorCtr="0" forceAA="0" compatLnSpc="1">
            <a:noAutofit/>
          </a:bodyPr>
          <a:p>
            <a:pPr lvl="0" algn="ctr" defTabSz="913765" hangingPunct="1">
              <a:defRPr/>
            </a:pPr>
            <a:r>
              <a:rPr lang="zh-CN" altLang="en-US" sz="3950" dirty="0">
                <a:solidFill>
                  <a:srgbClr val="FFFFFF"/>
                </a:solidFill>
                <a:latin typeface="微软雅黑" charset="0"/>
                <a:ea typeface="微软雅黑" charset="0"/>
                <a:sym typeface="Helvetica"/>
              </a:rPr>
              <a:t>采购支出分析</a:t>
            </a:r>
            <a:endParaRPr lang="zh-CN" altLang="en-US" sz="3950" dirty="0">
              <a:solidFill>
                <a:srgbClr val="FFFFFF"/>
              </a:solidFill>
              <a:latin typeface="微软雅黑" charset="0"/>
              <a:ea typeface="微软雅黑" charset="0"/>
              <a:sym typeface="Helvetica"/>
            </a:endParaRPr>
          </a:p>
        </p:txBody>
      </p:sp>
      <p:sp>
        <p:nvSpPr>
          <p:cNvPr id="10" name="圆角矩形 9"/>
          <p:cNvSpPr/>
          <p:nvPr/>
        </p:nvSpPr>
        <p:spPr bwMode="gray">
          <a:xfrm>
            <a:off x="12712158" y="5755424"/>
            <a:ext cx="3976295" cy="898952"/>
          </a:xfrm>
          <a:prstGeom prst="roundRect">
            <a:avLst/>
          </a:prstGeom>
          <a:noFill/>
          <a:ln w="9525">
            <a:solidFill>
              <a:schemeClr val="bg1"/>
            </a:solidFill>
            <a:prstDash val="dash"/>
            <a:miter lim="800000"/>
          </a:ln>
          <a:effectLst/>
        </p:spPr>
        <p:txBody>
          <a:bodyPr rot="0" vert="horz" wrap="square" lIns="0" tIns="102384" rIns="0" bIns="102384" numCol="1" spcCol="0" rtlCol="0" anchor="ctr" anchorCtr="0" forceAA="0" compatLnSpc="1">
            <a:noAutofit/>
          </a:bodyPr>
          <a:p>
            <a:pPr lvl="0" algn="ctr" defTabSz="913765" hangingPunct="1">
              <a:defRPr/>
            </a:pPr>
            <a:r>
              <a:rPr lang="zh-CN" altLang="en-US" sz="3950" dirty="0">
                <a:solidFill>
                  <a:srgbClr val="FFFFFF"/>
                </a:solidFill>
                <a:latin typeface="微软雅黑" charset="0"/>
                <a:ea typeface="微软雅黑" charset="0"/>
                <a:sym typeface="Helvetica"/>
              </a:rPr>
              <a:t>订单趋势分析</a:t>
            </a:r>
            <a:endParaRPr lang="zh-CN" altLang="en-US" sz="3950" dirty="0">
              <a:solidFill>
                <a:srgbClr val="FFFFFF"/>
              </a:solidFill>
              <a:latin typeface="微软雅黑" charset="0"/>
              <a:ea typeface="微软雅黑" charset="0"/>
              <a:sym typeface="Helvetica"/>
            </a:endParaRPr>
          </a:p>
        </p:txBody>
      </p:sp>
      <p:sp>
        <p:nvSpPr>
          <p:cNvPr id="11" name="圆角矩形 10"/>
          <p:cNvSpPr/>
          <p:nvPr/>
        </p:nvSpPr>
        <p:spPr bwMode="gray">
          <a:xfrm>
            <a:off x="17938624" y="5781905"/>
            <a:ext cx="3976295" cy="898952"/>
          </a:xfrm>
          <a:prstGeom prst="roundRect">
            <a:avLst/>
          </a:prstGeom>
          <a:noFill/>
          <a:ln w="9525">
            <a:solidFill>
              <a:schemeClr val="bg1"/>
            </a:solidFill>
            <a:prstDash val="dash"/>
            <a:miter lim="800000"/>
          </a:ln>
          <a:effectLst/>
        </p:spPr>
        <p:txBody>
          <a:bodyPr rot="0" vert="horz" wrap="square" lIns="0" tIns="102384" rIns="0" bIns="102384" numCol="1" spcCol="0" rtlCol="0" anchor="ctr" anchorCtr="0" forceAA="0" compatLnSpc="1">
            <a:noAutofit/>
          </a:bodyPr>
          <a:p>
            <a:pPr lvl="0" algn="ctr" defTabSz="913765" hangingPunct="1">
              <a:defRPr/>
            </a:pPr>
            <a:r>
              <a:rPr lang="zh-CN" altLang="en-US" sz="3950" dirty="0">
                <a:solidFill>
                  <a:srgbClr val="FFFFFF"/>
                </a:solidFill>
                <a:latin typeface="微软雅黑" charset="0"/>
                <a:ea typeface="微软雅黑" charset="0"/>
                <a:sym typeface="Helvetica"/>
              </a:rPr>
              <a:t>综合绩效分析</a:t>
            </a:r>
            <a:endParaRPr lang="zh-CN" altLang="en-US" sz="3950" dirty="0">
              <a:solidFill>
                <a:srgbClr val="FFFFFF"/>
              </a:solidFill>
              <a:latin typeface="微软雅黑" charset="0"/>
              <a:ea typeface="微软雅黑" charset="0"/>
              <a:sym typeface="Helvetica"/>
            </a:endParaRPr>
          </a:p>
        </p:txBody>
      </p:sp>
      <p:sp>
        <p:nvSpPr>
          <p:cNvPr id="12" name="圆角矩形 11"/>
          <p:cNvSpPr/>
          <p:nvPr/>
        </p:nvSpPr>
        <p:spPr bwMode="gray">
          <a:xfrm>
            <a:off x="23227808" y="5781905"/>
            <a:ext cx="3976295" cy="898952"/>
          </a:xfrm>
          <a:prstGeom prst="roundRect">
            <a:avLst/>
          </a:prstGeom>
          <a:noFill/>
          <a:ln w="9525">
            <a:solidFill>
              <a:schemeClr val="bg1"/>
            </a:solidFill>
            <a:prstDash val="dash"/>
            <a:miter lim="800000"/>
          </a:ln>
          <a:effectLst/>
        </p:spPr>
        <p:txBody>
          <a:bodyPr rot="0" vert="horz" wrap="square" lIns="0" tIns="102384" rIns="0" bIns="102384" numCol="1" spcCol="0" rtlCol="0" anchor="ctr" anchorCtr="0" forceAA="0" compatLnSpc="1">
            <a:noAutofit/>
          </a:bodyPr>
          <a:p>
            <a:pPr lvl="0" algn="ctr" defTabSz="913765" hangingPunct="1">
              <a:defRPr/>
            </a:pPr>
            <a:r>
              <a:rPr lang="zh-CN" altLang="en-US" sz="3950" dirty="0">
                <a:solidFill>
                  <a:srgbClr val="FFFFFF"/>
                </a:solidFill>
                <a:latin typeface="微软雅黑" charset="0"/>
                <a:ea typeface="微软雅黑" charset="0"/>
                <a:sym typeface="Helvetica"/>
              </a:rPr>
              <a:t>品类供应分析</a:t>
            </a:r>
            <a:endParaRPr lang="zh-CN" altLang="en-US" sz="3950" dirty="0">
              <a:solidFill>
                <a:srgbClr val="FFFFFF"/>
              </a:solidFill>
              <a:latin typeface="微软雅黑" charset="0"/>
              <a:ea typeface="微软雅黑" charset="0"/>
              <a:sym typeface="Helvetic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109387" y="10377013"/>
            <a:ext cx="3753299" cy="380904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7675" tIns="77675" rIns="77675" bIns="77675" numCol="1" spcCol="38100" rtlCol="0" anchor="t" anchorCtr="0" forceAA="0">
            <a:normAutofit lnSpcReduction="20000"/>
          </a:bodyPr>
          <a:p>
            <a:pPr marL="285750" marR="0" indent="-285750" algn="l" defTabSz="21939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charset="0"/>
              <a:buChar char=""/>
            </a:pPr>
            <a:r>
              <a:rPr kumimoji="0" lang="zh-CN" altLang="en-US" sz="3905" b="0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楷体" charset="0"/>
                <a:ea typeface="楷体" charset="0"/>
                <a:cs typeface="+mn-cs"/>
                <a:sym typeface="Helvetica"/>
              </a:rPr>
              <a:t>供应商注册</a:t>
            </a:r>
            <a:endParaRPr kumimoji="0" lang="zh-CN" altLang="en-US" sz="3905" b="0" i="0" u="none" strike="noStrike" cap="none" spc="0" normalizeH="0" baseline="0">
              <a:ln>
                <a:noFill/>
              </a:ln>
              <a:solidFill>
                <a:schemeClr val="bg2"/>
              </a:solidFill>
              <a:effectLst/>
              <a:uFillTx/>
              <a:latin typeface="楷体" charset="0"/>
              <a:ea typeface="楷体" charset="0"/>
              <a:cs typeface="+mn-cs"/>
              <a:sym typeface="Helvetica"/>
            </a:endParaRPr>
          </a:p>
          <a:p>
            <a:pPr marL="285750" marR="0" indent="-285750" algn="l" defTabSz="21939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charset="0"/>
              <a:buChar char=""/>
            </a:pPr>
            <a:r>
              <a:rPr kumimoji="0" lang="zh-CN" altLang="en-US" sz="3905" b="0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楷体" charset="0"/>
                <a:ea typeface="楷体" charset="0"/>
                <a:cs typeface="+mn-cs"/>
                <a:sym typeface="Helvetica"/>
              </a:rPr>
              <a:t>资质审查</a:t>
            </a:r>
            <a:endParaRPr kumimoji="0" lang="zh-CN" altLang="en-US" sz="3905" b="0" i="0" u="none" strike="noStrike" cap="none" spc="0" normalizeH="0" baseline="0">
              <a:ln>
                <a:noFill/>
              </a:ln>
              <a:solidFill>
                <a:schemeClr val="bg2"/>
              </a:solidFill>
              <a:effectLst/>
              <a:uFillTx/>
              <a:latin typeface="楷体" charset="0"/>
              <a:ea typeface="楷体" charset="0"/>
              <a:cs typeface="+mn-cs"/>
              <a:sym typeface="Helvetica"/>
            </a:endParaRPr>
          </a:p>
          <a:p>
            <a:pPr marL="285750" marR="0" indent="-285750" algn="l" defTabSz="21939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charset="0"/>
              <a:buChar char=""/>
            </a:pPr>
            <a:r>
              <a:rPr kumimoji="0" lang="zh-CN" altLang="en-US" sz="3905" b="0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楷体" charset="0"/>
                <a:ea typeface="楷体" charset="0"/>
                <a:cs typeface="+mn-cs"/>
                <a:sym typeface="Helvetica"/>
              </a:rPr>
              <a:t>现场评审</a:t>
            </a:r>
            <a:endParaRPr kumimoji="0" lang="zh-CN" altLang="en-US" sz="3905" b="0" i="0" u="none" strike="noStrike" cap="none" spc="0" normalizeH="0" baseline="0">
              <a:ln>
                <a:noFill/>
              </a:ln>
              <a:solidFill>
                <a:schemeClr val="bg2"/>
              </a:solidFill>
              <a:effectLst/>
              <a:uFillTx/>
              <a:latin typeface="楷体" charset="0"/>
              <a:ea typeface="楷体" charset="0"/>
              <a:cs typeface="+mn-cs"/>
              <a:sym typeface="Helvetica"/>
            </a:endParaRPr>
          </a:p>
          <a:p>
            <a:pPr marL="285750" marR="0" indent="-285750" algn="l" defTabSz="21939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charset="0"/>
              <a:buChar char=""/>
            </a:pPr>
            <a:r>
              <a:rPr kumimoji="0" lang="zh-CN" altLang="en-US" sz="3905" b="0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楷体" charset="0"/>
                <a:ea typeface="楷体" charset="0"/>
                <a:cs typeface="+mn-cs"/>
                <a:sym typeface="Helvetica"/>
              </a:rPr>
              <a:t>合同管理</a:t>
            </a:r>
            <a:endParaRPr kumimoji="0" lang="zh-CN" altLang="en-US" sz="3905" b="0" i="0" u="none" strike="noStrike" cap="none" spc="0" normalizeH="0" baseline="0">
              <a:ln>
                <a:noFill/>
              </a:ln>
              <a:solidFill>
                <a:schemeClr val="bg2"/>
              </a:solidFill>
              <a:effectLst/>
              <a:uFillTx/>
              <a:latin typeface="楷体" charset="0"/>
              <a:ea typeface="楷体" charset="0"/>
              <a:cs typeface="+mn-cs"/>
              <a:sym typeface="Helvetica"/>
            </a:endParaRPr>
          </a:p>
          <a:p>
            <a:pPr marL="285750" marR="0" indent="-285750" algn="l" defTabSz="21939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charset="0"/>
              <a:buChar char=""/>
            </a:pPr>
            <a:r>
              <a:rPr kumimoji="0" lang="zh-CN" altLang="en-US" sz="3905" b="0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楷体" charset="0"/>
                <a:ea typeface="楷体" charset="0"/>
                <a:cs typeface="+mn-cs"/>
                <a:sym typeface="Helvetica"/>
              </a:rPr>
              <a:t>供应商生效</a:t>
            </a:r>
            <a:endParaRPr kumimoji="0" lang="zh-CN" altLang="en-US" sz="3905" b="0" i="0" u="none" strike="noStrike" cap="none" spc="0" normalizeH="0" baseline="0">
              <a:ln>
                <a:noFill/>
              </a:ln>
              <a:solidFill>
                <a:schemeClr val="bg2"/>
              </a:solidFill>
              <a:effectLst/>
              <a:uFillTx/>
              <a:latin typeface="楷体" charset="0"/>
              <a:ea typeface="楷体" charset="0"/>
              <a:cs typeface="+mn-cs"/>
              <a:sym typeface="Helvetica"/>
            </a:endParaRPr>
          </a:p>
          <a:p>
            <a:pPr marL="285750" marR="0" indent="-285750" algn="l" defTabSz="21939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charset="0"/>
              <a:buChar char=""/>
            </a:pPr>
            <a:endParaRPr kumimoji="0" lang="zh-CN" altLang="en-US" sz="3905" b="0" i="0" u="none" strike="noStrike" cap="none" spc="0" normalizeH="0" baseline="0">
              <a:ln>
                <a:noFill/>
              </a:ln>
              <a:solidFill>
                <a:schemeClr val="bg2"/>
              </a:solidFill>
              <a:effectLst/>
              <a:uFillTx/>
              <a:latin typeface="楷体" charset="0"/>
              <a:ea typeface="楷体" charset="0"/>
              <a:cs typeface="+mn-cs"/>
              <a:sym typeface="Helvetic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1435507" y="10377013"/>
            <a:ext cx="4034832" cy="380904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7675" tIns="77675" rIns="77675" bIns="77675" numCol="1" spcCol="38100" rtlCol="0" anchor="t" anchorCtr="0" forceAA="0">
            <a:normAutofit lnSpcReduction="20000"/>
          </a:bodyPr>
          <a:p>
            <a:pPr marL="285750" marR="0" indent="-285750" algn="l" defTabSz="21939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charset="0"/>
              <a:buChar char=""/>
            </a:pPr>
            <a:r>
              <a:rPr kumimoji="0" lang="zh-CN" altLang="en-US" sz="3905" b="0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楷体" charset="0"/>
                <a:ea typeface="楷体" charset="0"/>
                <a:cs typeface="+mn-cs"/>
                <a:sym typeface="Helvetica"/>
              </a:rPr>
              <a:t>新物料注册</a:t>
            </a:r>
            <a:endParaRPr kumimoji="0" lang="zh-CN" altLang="en-US" sz="3905" b="0" i="0" u="none" strike="noStrike" cap="none" spc="0" normalizeH="0" baseline="0">
              <a:ln>
                <a:noFill/>
              </a:ln>
              <a:solidFill>
                <a:schemeClr val="bg2"/>
              </a:solidFill>
              <a:effectLst/>
              <a:uFillTx/>
              <a:latin typeface="楷体" charset="0"/>
              <a:ea typeface="楷体" charset="0"/>
              <a:cs typeface="+mn-cs"/>
              <a:sym typeface="Helvetica"/>
            </a:endParaRPr>
          </a:p>
          <a:p>
            <a:pPr marL="285750" marR="0" indent="-285750" algn="l" defTabSz="21939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charset="0"/>
              <a:buChar char=""/>
            </a:pPr>
            <a:r>
              <a:rPr kumimoji="0" lang="zh-CN" altLang="en-US" sz="3905" b="0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楷体" charset="0"/>
                <a:ea typeface="楷体" charset="0"/>
                <a:cs typeface="+mn-cs"/>
                <a:sym typeface="Helvetica"/>
              </a:rPr>
              <a:t>新物料承认</a:t>
            </a:r>
            <a:endParaRPr kumimoji="0" lang="zh-CN" altLang="en-US" sz="3905" b="0" i="0" u="none" strike="noStrike" cap="none" spc="0" normalizeH="0" baseline="0">
              <a:ln>
                <a:noFill/>
              </a:ln>
              <a:solidFill>
                <a:schemeClr val="bg2"/>
              </a:solidFill>
              <a:effectLst/>
              <a:uFillTx/>
              <a:latin typeface="楷体" charset="0"/>
              <a:ea typeface="楷体" charset="0"/>
              <a:cs typeface="+mn-cs"/>
              <a:sym typeface="Helvetica"/>
            </a:endParaRPr>
          </a:p>
          <a:p>
            <a:pPr marL="285750" marR="0" indent="-285750" algn="l" defTabSz="21939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charset="0"/>
              <a:buChar char=""/>
            </a:pPr>
            <a:r>
              <a:rPr kumimoji="0" lang="zh-CN" altLang="en-US" sz="3905" b="0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楷体" charset="0"/>
                <a:ea typeface="楷体" charset="0"/>
                <a:cs typeface="+mn-cs"/>
                <a:sym typeface="Helvetica"/>
              </a:rPr>
              <a:t>样品管理</a:t>
            </a:r>
            <a:endParaRPr kumimoji="0" lang="zh-CN" altLang="en-US" sz="3905" b="0" i="0" u="none" strike="noStrike" cap="none" spc="0" normalizeH="0" baseline="0">
              <a:ln>
                <a:noFill/>
              </a:ln>
              <a:solidFill>
                <a:schemeClr val="bg2"/>
              </a:solidFill>
              <a:effectLst/>
              <a:uFillTx/>
              <a:latin typeface="楷体" charset="0"/>
              <a:ea typeface="楷体" charset="0"/>
              <a:cs typeface="+mn-cs"/>
              <a:sym typeface="Helvetica"/>
            </a:endParaRPr>
          </a:p>
          <a:p>
            <a:pPr marL="285750" marR="0" indent="-285750" algn="l" defTabSz="21939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charset="0"/>
              <a:buChar char=""/>
            </a:pPr>
            <a:r>
              <a:rPr kumimoji="0" lang="zh-CN" altLang="en-US" sz="3905" b="0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楷体" charset="0"/>
                <a:ea typeface="楷体" charset="0"/>
                <a:cs typeface="+mn-cs"/>
                <a:sym typeface="Helvetica"/>
              </a:rPr>
              <a:t>备份管理</a:t>
            </a:r>
            <a:endParaRPr kumimoji="0" lang="zh-CN" altLang="en-US" sz="3905" b="0" i="0" u="none" strike="noStrike" cap="none" spc="0" normalizeH="0" baseline="0">
              <a:ln>
                <a:noFill/>
              </a:ln>
              <a:solidFill>
                <a:schemeClr val="bg2"/>
              </a:solidFill>
              <a:effectLst/>
              <a:uFillTx/>
              <a:latin typeface="楷体" charset="0"/>
              <a:ea typeface="楷体" charset="0"/>
              <a:cs typeface="+mn-cs"/>
              <a:sym typeface="Helvetica"/>
            </a:endParaRPr>
          </a:p>
          <a:p>
            <a:pPr marL="285750" marR="0" indent="-285750" algn="l" defTabSz="21939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charset="0"/>
              <a:buChar char=""/>
            </a:pPr>
            <a:r>
              <a:rPr kumimoji="0" lang="zh-CN" altLang="en-US" sz="3905" b="0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楷体" charset="0"/>
                <a:ea typeface="楷体" charset="0"/>
                <a:cs typeface="+mn-cs"/>
                <a:sym typeface="Helvetica"/>
              </a:rPr>
              <a:t>物料状态管理</a:t>
            </a:r>
            <a:endParaRPr kumimoji="0" lang="zh-CN" altLang="en-US" sz="3905" b="0" i="0" u="none" strike="noStrike" cap="none" spc="0" normalizeH="0" baseline="0">
              <a:ln>
                <a:noFill/>
              </a:ln>
              <a:solidFill>
                <a:schemeClr val="bg2"/>
              </a:solidFill>
              <a:effectLst/>
              <a:uFillTx/>
              <a:latin typeface="楷体" charset="0"/>
              <a:ea typeface="楷体" charset="0"/>
              <a:cs typeface="+mn-cs"/>
              <a:sym typeface="Helvetica"/>
            </a:endParaRPr>
          </a:p>
          <a:p>
            <a:pPr marL="285750" marR="0" indent="-285750" algn="l" defTabSz="21939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charset="0"/>
              <a:buChar char=""/>
            </a:pPr>
            <a:endParaRPr kumimoji="0" lang="zh-CN" altLang="en-US" sz="3905" b="0" i="0" u="none" strike="noStrike" cap="none" spc="0" normalizeH="0" baseline="0">
              <a:ln>
                <a:noFill/>
              </a:ln>
              <a:solidFill>
                <a:schemeClr val="bg2"/>
              </a:solidFill>
              <a:effectLst/>
              <a:uFillTx/>
              <a:latin typeface="楷体" charset="0"/>
              <a:ea typeface="楷体" charset="0"/>
              <a:cs typeface="+mn-cs"/>
              <a:sym typeface="Helvetica"/>
            </a:endParaRPr>
          </a:p>
          <a:p>
            <a:pPr marL="285750" marR="0" indent="-285750" algn="l" defTabSz="21939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charset="0"/>
              <a:buChar char=""/>
            </a:pPr>
            <a:endParaRPr kumimoji="0" lang="zh-CN" altLang="en-US" sz="3905" b="0" i="0" u="none" strike="noStrike" cap="none" spc="0" normalizeH="0" baseline="0">
              <a:ln>
                <a:noFill/>
              </a:ln>
              <a:solidFill>
                <a:schemeClr val="bg2"/>
              </a:solidFill>
              <a:effectLst/>
              <a:uFillTx/>
              <a:latin typeface="楷体" charset="0"/>
              <a:ea typeface="楷体" charset="0"/>
              <a:cs typeface="+mn-cs"/>
              <a:sym typeface="Helvetic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5725390" y="10377013"/>
            <a:ext cx="3956783" cy="380904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7675" tIns="77675" rIns="77675" bIns="77675" numCol="1" spcCol="38100" rtlCol="0" anchor="t" anchorCtr="0" forceAA="0">
            <a:normAutofit lnSpcReduction="20000"/>
          </a:bodyPr>
          <a:p>
            <a:pPr marL="285750" marR="0" indent="-285750" algn="l" defTabSz="21939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charset="0"/>
              <a:buChar char=""/>
            </a:pPr>
            <a:r>
              <a:rPr kumimoji="0" lang="zh-CN" altLang="en-US" sz="3905" b="0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楷体" charset="0"/>
                <a:ea typeface="楷体" charset="0"/>
                <a:cs typeface="+mn-cs"/>
                <a:sym typeface="Helvetica"/>
              </a:rPr>
              <a:t>询报价管理</a:t>
            </a:r>
            <a:endParaRPr kumimoji="0" lang="zh-CN" altLang="en-US" sz="3905" b="0" i="0" u="none" strike="noStrike" cap="none" spc="0" normalizeH="0" baseline="0">
              <a:ln>
                <a:noFill/>
              </a:ln>
              <a:solidFill>
                <a:schemeClr val="bg2"/>
              </a:solidFill>
              <a:effectLst/>
              <a:uFillTx/>
              <a:latin typeface="楷体" charset="0"/>
              <a:ea typeface="楷体" charset="0"/>
              <a:cs typeface="+mn-cs"/>
              <a:sym typeface="Helvetica"/>
            </a:endParaRPr>
          </a:p>
          <a:p>
            <a:pPr marL="285750" marR="0" indent="-285750" algn="l" defTabSz="21939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charset="0"/>
              <a:buChar char=""/>
            </a:pPr>
            <a:r>
              <a:rPr kumimoji="0" lang="zh-CN" altLang="en-US" sz="3905" b="0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楷体" charset="0"/>
                <a:ea typeface="楷体" charset="0"/>
                <a:cs typeface="+mn-cs"/>
                <a:sym typeface="Helvetica"/>
              </a:rPr>
              <a:t>价格变更管理</a:t>
            </a:r>
            <a:endParaRPr kumimoji="0" lang="zh-CN" altLang="en-US" sz="3905" b="0" i="0" u="none" strike="noStrike" cap="none" spc="0" normalizeH="0" baseline="0">
              <a:ln>
                <a:noFill/>
              </a:ln>
              <a:solidFill>
                <a:schemeClr val="bg2"/>
              </a:solidFill>
              <a:effectLst/>
              <a:uFillTx/>
              <a:latin typeface="楷体" charset="0"/>
              <a:ea typeface="楷体" charset="0"/>
              <a:cs typeface="+mn-cs"/>
              <a:sym typeface="Helvetica"/>
            </a:endParaRPr>
          </a:p>
          <a:p>
            <a:pPr marL="285750" marR="0" indent="-285750" algn="l" defTabSz="21939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charset="0"/>
              <a:buChar char=""/>
            </a:pPr>
            <a:r>
              <a:rPr kumimoji="0" lang="zh-CN" altLang="en-US" sz="3905" b="0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楷体" charset="0"/>
                <a:ea typeface="楷体" charset="0"/>
                <a:cs typeface="+mn-cs"/>
                <a:sym typeface="Helvetica"/>
              </a:rPr>
              <a:t>招投标管理</a:t>
            </a:r>
            <a:endParaRPr kumimoji="0" lang="zh-CN" altLang="en-US" sz="3905" b="0" i="0" u="none" strike="noStrike" cap="none" spc="0" normalizeH="0" baseline="0">
              <a:ln>
                <a:noFill/>
              </a:ln>
              <a:solidFill>
                <a:schemeClr val="bg2"/>
              </a:solidFill>
              <a:effectLst/>
              <a:uFillTx/>
              <a:latin typeface="楷体" charset="0"/>
              <a:ea typeface="楷体" charset="0"/>
              <a:cs typeface="+mn-cs"/>
              <a:sym typeface="Helvetica"/>
            </a:endParaRPr>
          </a:p>
          <a:p>
            <a:pPr marL="285750" marR="0" indent="-285750" algn="l" defTabSz="21939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charset="0"/>
              <a:buChar char=""/>
            </a:pPr>
            <a:r>
              <a:rPr kumimoji="0" lang="zh-CN" altLang="en-US" sz="3905" b="0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楷体" charset="0"/>
                <a:ea typeface="楷体" charset="0"/>
                <a:cs typeface="+mn-cs"/>
                <a:sym typeface="Helvetica"/>
              </a:rPr>
              <a:t>成本模型</a:t>
            </a:r>
            <a:endParaRPr kumimoji="0" lang="zh-CN" altLang="en-US" sz="3905" b="0" i="0" u="none" strike="noStrike" cap="none" spc="0" normalizeH="0" baseline="0">
              <a:ln>
                <a:noFill/>
              </a:ln>
              <a:solidFill>
                <a:schemeClr val="bg2"/>
              </a:solidFill>
              <a:effectLst/>
              <a:uFillTx/>
              <a:latin typeface="楷体" charset="0"/>
              <a:ea typeface="楷体" charset="0"/>
              <a:cs typeface="+mn-cs"/>
              <a:sym typeface="Helvetica"/>
            </a:endParaRPr>
          </a:p>
          <a:p>
            <a:pPr marL="285750" marR="0" indent="-285750" algn="l" defTabSz="21939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charset="0"/>
              <a:buChar char=""/>
            </a:pPr>
            <a:endParaRPr kumimoji="0" lang="zh-CN" altLang="en-US" sz="3905" b="0" i="0" u="none" strike="noStrike" cap="none" spc="0" normalizeH="0" baseline="0">
              <a:ln>
                <a:noFill/>
              </a:ln>
              <a:solidFill>
                <a:schemeClr val="bg2"/>
              </a:solidFill>
              <a:effectLst/>
              <a:uFillTx/>
              <a:latin typeface="楷体" charset="0"/>
              <a:ea typeface="楷体" charset="0"/>
              <a:cs typeface="+mn-cs"/>
              <a:sym typeface="Helvetica"/>
            </a:endParaRPr>
          </a:p>
          <a:p>
            <a:pPr marL="285750" marR="0" indent="-285750" algn="l" defTabSz="21939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charset="0"/>
              <a:buChar char=""/>
            </a:pPr>
            <a:endParaRPr kumimoji="0" lang="zh-CN" altLang="en-US" sz="3905" b="0" i="0" u="none" strike="noStrike" cap="none" spc="0" normalizeH="0" baseline="0">
              <a:ln>
                <a:noFill/>
              </a:ln>
              <a:solidFill>
                <a:schemeClr val="bg2"/>
              </a:solidFill>
              <a:effectLst/>
              <a:uFillTx/>
              <a:latin typeface="楷体" charset="0"/>
              <a:ea typeface="楷体" charset="0"/>
              <a:cs typeface="+mn-cs"/>
              <a:sym typeface="Helvetic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0059873" y="10377013"/>
            <a:ext cx="3997201" cy="380904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7675" tIns="77675" rIns="77675" bIns="77675" numCol="1" spcCol="38100" rtlCol="0" anchor="t" anchorCtr="0" forceAA="0">
            <a:normAutofit lnSpcReduction="20000"/>
          </a:bodyPr>
          <a:p>
            <a:pPr marL="285750" marR="0" indent="-285750" algn="l" defTabSz="21939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charset="0"/>
              <a:buChar char=""/>
            </a:pPr>
            <a:r>
              <a:rPr kumimoji="0" lang="zh-CN" altLang="en-US" sz="3905" b="0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楷体" charset="0"/>
                <a:ea typeface="楷体" charset="0"/>
                <a:cs typeface="+mn-cs"/>
                <a:sym typeface="Helvetica"/>
              </a:rPr>
              <a:t>采购预测管理</a:t>
            </a:r>
            <a:endParaRPr kumimoji="0" lang="zh-CN" altLang="en-US" sz="3905" b="0" i="0" u="none" strike="noStrike" cap="none" spc="0" normalizeH="0" baseline="0">
              <a:ln>
                <a:noFill/>
              </a:ln>
              <a:solidFill>
                <a:schemeClr val="bg2"/>
              </a:solidFill>
              <a:effectLst/>
              <a:uFillTx/>
              <a:latin typeface="楷体" charset="0"/>
              <a:ea typeface="楷体" charset="0"/>
              <a:cs typeface="+mn-cs"/>
              <a:sym typeface="Helvetica"/>
            </a:endParaRPr>
          </a:p>
          <a:p>
            <a:pPr marL="285750" marR="0" indent="-285750" algn="l" defTabSz="21939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charset="0"/>
              <a:buChar char=""/>
            </a:pPr>
            <a:r>
              <a:rPr kumimoji="0" lang="zh-CN" altLang="en-US" sz="3905" b="0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楷体" charset="0"/>
                <a:ea typeface="楷体" charset="0"/>
                <a:cs typeface="+mn-cs"/>
                <a:sym typeface="Helvetica"/>
              </a:rPr>
              <a:t>采购订单管理</a:t>
            </a:r>
            <a:endParaRPr kumimoji="0" lang="zh-CN" altLang="en-US" sz="3905" b="0" i="0" u="none" strike="noStrike" cap="none" spc="0" normalizeH="0" baseline="0">
              <a:ln>
                <a:noFill/>
              </a:ln>
              <a:solidFill>
                <a:schemeClr val="bg2"/>
              </a:solidFill>
              <a:effectLst/>
              <a:uFillTx/>
              <a:latin typeface="楷体" charset="0"/>
              <a:ea typeface="楷体" charset="0"/>
              <a:cs typeface="+mn-cs"/>
              <a:sym typeface="Helvetica"/>
            </a:endParaRPr>
          </a:p>
          <a:p>
            <a:pPr marL="285750" marR="0" indent="-285750" algn="l" defTabSz="21939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charset="0"/>
              <a:buChar char=""/>
            </a:pPr>
            <a:r>
              <a:rPr kumimoji="0" lang="zh-CN" altLang="en-US" sz="3905" b="0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楷体" charset="0"/>
                <a:ea typeface="楷体" charset="0"/>
                <a:cs typeface="+mn-cs"/>
                <a:sym typeface="Helvetica"/>
              </a:rPr>
              <a:t>交货管理</a:t>
            </a:r>
            <a:endParaRPr kumimoji="0" lang="zh-CN" altLang="en-US" sz="3905" b="0" i="0" u="none" strike="noStrike" cap="none" spc="0" normalizeH="0" baseline="0">
              <a:ln>
                <a:noFill/>
              </a:ln>
              <a:solidFill>
                <a:schemeClr val="bg2"/>
              </a:solidFill>
              <a:effectLst/>
              <a:uFillTx/>
              <a:latin typeface="楷体" charset="0"/>
              <a:ea typeface="楷体" charset="0"/>
              <a:cs typeface="+mn-cs"/>
              <a:sym typeface="Helvetica"/>
            </a:endParaRPr>
          </a:p>
          <a:p>
            <a:pPr marL="285750" marR="0" indent="-285750" algn="l" defTabSz="21939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charset="0"/>
              <a:buChar char=""/>
            </a:pPr>
            <a:r>
              <a:rPr kumimoji="0" lang="en-US" altLang="zh-CN" sz="3905" b="0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楷体" charset="0"/>
                <a:ea typeface="楷体" charset="0"/>
                <a:cs typeface="+mn-cs"/>
                <a:sym typeface="Helvetica"/>
              </a:rPr>
              <a:t>VMI</a:t>
            </a:r>
            <a:r>
              <a:rPr kumimoji="0" lang="zh-CN" altLang="en-US" sz="3905" b="0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楷体" charset="0"/>
                <a:ea typeface="楷体" charset="0"/>
                <a:cs typeface="+mn-cs"/>
                <a:sym typeface="Helvetica"/>
              </a:rPr>
              <a:t>管理</a:t>
            </a:r>
            <a:endParaRPr kumimoji="0" lang="zh-CN" altLang="en-US" sz="3905" b="0" i="0" u="none" strike="noStrike" cap="none" spc="0" normalizeH="0" baseline="0">
              <a:ln>
                <a:noFill/>
              </a:ln>
              <a:solidFill>
                <a:schemeClr val="bg2"/>
              </a:solidFill>
              <a:effectLst/>
              <a:uFillTx/>
              <a:latin typeface="楷体" charset="0"/>
              <a:ea typeface="楷体" charset="0"/>
              <a:cs typeface="+mn-cs"/>
              <a:sym typeface="Helvetica"/>
            </a:endParaRPr>
          </a:p>
          <a:p>
            <a:pPr marL="285750" marR="0" indent="-285750" algn="l" defTabSz="21939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charset="0"/>
              <a:buChar char=""/>
            </a:pPr>
            <a:r>
              <a:rPr kumimoji="0" lang="zh-CN" altLang="en-US" sz="3905" b="0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楷体" charset="0"/>
                <a:ea typeface="楷体" charset="0"/>
                <a:cs typeface="+mn-cs"/>
                <a:sym typeface="Helvetica"/>
              </a:rPr>
              <a:t>对账管理</a:t>
            </a:r>
            <a:endParaRPr kumimoji="0" lang="zh-CN" altLang="en-US" sz="3905" b="0" i="0" u="none" strike="noStrike" cap="none" spc="0" normalizeH="0" baseline="0">
              <a:ln>
                <a:noFill/>
              </a:ln>
              <a:solidFill>
                <a:schemeClr val="bg2"/>
              </a:solidFill>
              <a:effectLst/>
              <a:uFillTx/>
              <a:latin typeface="楷体" charset="0"/>
              <a:ea typeface="楷体" charset="0"/>
              <a:cs typeface="+mn-cs"/>
              <a:sym typeface="Helvetica"/>
            </a:endParaRPr>
          </a:p>
          <a:p>
            <a:pPr marL="285750" marR="0" indent="-285750" algn="l" defTabSz="21939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charset="0"/>
              <a:buChar char=""/>
            </a:pPr>
            <a:r>
              <a:rPr kumimoji="0" lang="zh-CN" altLang="en-US" sz="3905" b="0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楷体" charset="0"/>
                <a:ea typeface="楷体" charset="0"/>
                <a:cs typeface="+mn-cs"/>
                <a:sym typeface="Helvetica"/>
              </a:rPr>
              <a:t>变更管理</a:t>
            </a:r>
            <a:endParaRPr kumimoji="0" lang="zh-CN" altLang="en-US" sz="3905" b="0" i="0" u="none" strike="noStrike" cap="none" spc="0" normalizeH="0" baseline="0">
              <a:ln>
                <a:noFill/>
              </a:ln>
              <a:solidFill>
                <a:schemeClr val="bg2"/>
              </a:solidFill>
              <a:effectLst/>
              <a:uFillTx/>
              <a:latin typeface="楷体" charset="0"/>
              <a:ea typeface="楷体" charset="0"/>
              <a:cs typeface="+mn-cs"/>
              <a:sym typeface="Helvetica"/>
            </a:endParaRPr>
          </a:p>
          <a:p>
            <a:pPr marL="285750" marR="0" indent="-285750" algn="l" defTabSz="21939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charset="0"/>
              <a:buChar char=""/>
            </a:pPr>
            <a:endParaRPr kumimoji="0" lang="zh-CN" altLang="en-US" sz="3905" b="0" i="0" u="none" strike="noStrike" cap="none" spc="0" normalizeH="0" baseline="0">
              <a:ln>
                <a:noFill/>
              </a:ln>
              <a:solidFill>
                <a:schemeClr val="bg2"/>
              </a:solidFill>
              <a:effectLst/>
              <a:uFillTx/>
              <a:latin typeface="楷体" charset="0"/>
              <a:ea typeface="楷体" charset="0"/>
              <a:cs typeface="+mn-cs"/>
              <a:sym typeface="Helvetica"/>
            </a:endParaRPr>
          </a:p>
          <a:p>
            <a:pPr marL="285750" marR="0" indent="-285750" algn="l" defTabSz="21939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charset="0"/>
              <a:buChar char=""/>
            </a:pPr>
            <a:endParaRPr kumimoji="0" lang="zh-CN" altLang="en-US" sz="3905" b="0" i="0" u="none" strike="noStrike" cap="none" spc="0" normalizeH="0" baseline="0">
              <a:ln>
                <a:noFill/>
              </a:ln>
              <a:solidFill>
                <a:schemeClr val="bg2"/>
              </a:solidFill>
              <a:effectLst/>
              <a:uFillTx/>
              <a:latin typeface="楷体" charset="0"/>
              <a:ea typeface="楷体" charset="0"/>
              <a:cs typeface="+mn-cs"/>
              <a:sym typeface="Helvetic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4365087" y="10377013"/>
            <a:ext cx="5404862" cy="380904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7675" tIns="77675" rIns="77675" bIns="77675" numCol="1" spcCol="38100" rtlCol="0" anchor="t" anchorCtr="0" forceAA="0">
            <a:normAutofit lnSpcReduction="20000"/>
          </a:bodyPr>
          <a:p>
            <a:pPr marL="285750" marR="0" indent="-285750" algn="l" defTabSz="21939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charset="0"/>
              <a:buChar char=""/>
            </a:pPr>
            <a:r>
              <a:rPr kumimoji="0" lang="zh-CN" altLang="en-US" sz="3905" b="0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楷体" charset="0"/>
                <a:ea typeface="楷体" charset="0"/>
                <a:cs typeface="+mn-cs"/>
                <a:sym typeface="Helvetica"/>
              </a:rPr>
              <a:t>供应商绩效评估</a:t>
            </a:r>
            <a:endParaRPr kumimoji="0" lang="zh-CN" altLang="en-US" sz="3905" b="0" i="0" u="none" strike="noStrike" cap="none" spc="0" normalizeH="0" baseline="0">
              <a:ln>
                <a:noFill/>
              </a:ln>
              <a:solidFill>
                <a:schemeClr val="bg2"/>
              </a:solidFill>
              <a:effectLst/>
              <a:uFillTx/>
              <a:latin typeface="楷体" charset="0"/>
              <a:ea typeface="楷体" charset="0"/>
              <a:cs typeface="+mn-cs"/>
              <a:sym typeface="Helvetica"/>
            </a:endParaRPr>
          </a:p>
          <a:p>
            <a:pPr marL="285750" marR="0" indent="-285750" algn="l" defTabSz="21939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charset="0"/>
              <a:buChar char=""/>
            </a:pPr>
            <a:r>
              <a:rPr kumimoji="0" lang="zh-CN" altLang="en-US" sz="3905" b="0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楷体" charset="0"/>
                <a:ea typeface="楷体" charset="0"/>
                <a:cs typeface="+mn-cs"/>
                <a:sym typeface="Helvetica"/>
              </a:rPr>
              <a:t>供应商配额管理</a:t>
            </a:r>
            <a:endParaRPr kumimoji="0" lang="zh-CN" altLang="en-US" sz="3905" b="0" i="0" u="none" strike="noStrike" cap="none" spc="0" normalizeH="0" baseline="0">
              <a:ln>
                <a:noFill/>
              </a:ln>
              <a:solidFill>
                <a:schemeClr val="bg2"/>
              </a:solidFill>
              <a:effectLst/>
              <a:uFillTx/>
              <a:latin typeface="楷体" charset="0"/>
              <a:ea typeface="楷体" charset="0"/>
              <a:cs typeface="+mn-cs"/>
              <a:sym typeface="Helvetica"/>
            </a:endParaRPr>
          </a:p>
          <a:p>
            <a:pPr marL="285750" marR="0" indent="-285750" algn="l" defTabSz="21939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charset="0"/>
              <a:buChar char=""/>
            </a:pPr>
            <a:r>
              <a:rPr kumimoji="0" lang="zh-CN" altLang="en-US" sz="3905" b="0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楷体" charset="0"/>
                <a:ea typeface="楷体" charset="0"/>
                <a:cs typeface="+mn-cs"/>
                <a:sym typeface="Helvetica"/>
              </a:rPr>
              <a:t>供应商辅导</a:t>
            </a:r>
            <a:endParaRPr kumimoji="0" lang="zh-CN" altLang="en-US" sz="3905" b="0" i="0" u="none" strike="noStrike" cap="none" spc="0" normalizeH="0" baseline="0">
              <a:ln>
                <a:noFill/>
              </a:ln>
              <a:solidFill>
                <a:schemeClr val="bg2"/>
              </a:solidFill>
              <a:effectLst/>
              <a:uFillTx/>
              <a:latin typeface="楷体" charset="0"/>
              <a:ea typeface="楷体" charset="0"/>
              <a:cs typeface="+mn-cs"/>
              <a:sym typeface="Helvetica"/>
            </a:endParaRPr>
          </a:p>
          <a:p>
            <a:pPr marL="285750" marR="0" indent="-285750" algn="l" defTabSz="21939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charset="0"/>
              <a:buChar char=""/>
            </a:pPr>
            <a:r>
              <a:rPr kumimoji="0" lang="zh-CN" altLang="en-US" sz="3905" b="0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楷体" charset="0"/>
                <a:ea typeface="楷体" charset="0"/>
                <a:cs typeface="+mn-cs"/>
                <a:sym typeface="Helvetica"/>
              </a:rPr>
              <a:t>供应商资源池管理</a:t>
            </a:r>
            <a:endParaRPr kumimoji="0" lang="zh-CN" altLang="en-US" sz="3905" b="0" i="0" u="none" strike="noStrike" cap="none" spc="0" normalizeH="0" baseline="0">
              <a:ln>
                <a:noFill/>
              </a:ln>
              <a:solidFill>
                <a:schemeClr val="bg2"/>
              </a:solidFill>
              <a:effectLst/>
              <a:uFillTx/>
              <a:latin typeface="楷体" charset="0"/>
              <a:ea typeface="楷体" charset="0"/>
              <a:cs typeface="+mn-cs"/>
              <a:sym typeface="Helvetica"/>
            </a:endParaRPr>
          </a:p>
          <a:p>
            <a:pPr marL="285750" marR="0" indent="-285750" algn="l" defTabSz="21939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charset="0"/>
              <a:buChar char=""/>
            </a:pPr>
            <a:r>
              <a:rPr kumimoji="0" lang="zh-CN" altLang="en-US" sz="3905" b="0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楷体" charset="0"/>
                <a:ea typeface="楷体" charset="0"/>
                <a:cs typeface="+mn-cs"/>
                <a:sym typeface="Helvetica"/>
              </a:rPr>
              <a:t>供应商生命周期管理</a:t>
            </a:r>
            <a:endParaRPr kumimoji="0" lang="zh-CN" altLang="en-US" sz="3905" b="0" i="0" u="none" strike="noStrike" cap="none" spc="0" normalizeH="0" baseline="0">
              <a:ln>
                <a:noFill/>
              </a:ln>
              <a:solidFill>
                <a:schemeClr val="bg2"/>
              </a:solidFill>
              <a:effectLst/>
              <a:uFillTx/>
              <a:latin typeface="楷体" charset="0"/>
              <a:ea typeface="楷体" charset="0"/>
              <a:cs typeface="+mn-cs"/>
              <a:sym typeface="Helvetica"/>
            </a:endParaRPr>
          </a:p>
          <a:p>
            <a:pPr marL="285750" marR="0" indent="-285750" algn="l" defTabSz="21939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charset="0"/>
              <a:buChar char=""/>
            </a:pPr>
            <a:endParaRPr kumimoji="0" lang="zh-CN" altLang="en-US" sz="3905" b="0" i="0" u="none" strike="noStrike" cap="none" spc="0" normalizeH="0" baseline="0">
              <a:ln>
                <a:noFill/>
              </a:ln>
              <a:solidFill>
                <a:schemeClr val="bg2"/>
              </a:solidFill>
              <a:effectLst/>
              <a:uFillTx/>
              <a:latin typeface="楷体" charset="0"/>
              <a:ea typeface="楷体" charset="0"/>
              <a:cs typeface="+mn-cs"/>
              <a:sym typeface="Helvetica"/>
            </a:endParaRPr>
          </a:p>
        </p:txBody>
      </p:sp>
      <p:sp>
        <p:nvSpPr>
          <p:cNvPr id="18" name="圆角矩形 17"/>
          <p:cNvSpPr/>
          <p:nvPr/>
        </p:nvSpPr>
        <p:spPr bwMode="gray">
          <a:xfrm>
            <a:off x="7109387" y="14032776"/>
            <a:ext cx="21262656" cy="898906"/>
          </a:xfrm>
          <a:prstGeom prst="roundRect">
            <a:avLst/>
          </a:prstGeom>
          <a:solidFill>
            <a:srgbClr val="0070C0"/>
          </a:solidFill>
          <a:ln w="9525">
            <a:noFill/>
            <a:miter lim="800000"/>
          </a:ln>
          <a:effectLst/>
        </p:spPr>
        <p:txBody>
          <a:bodyPr rot="0" vert="horz" wrap="square" lIns="0" tIns="102384" rIns="0" bIns="102384" numCol="1" spcCol="0" rtlCol="0" anchor="ctr" anchorCtr="0" forceAA="0" compatLnSpc="1">
            <a:noAutofit/>
          </a:bodyPr>
          <a:p>
            <a:pPr lvl="0" algn="ctr" defTabSz="913765" hangingPunct="1">
              <a:defRPr/>
            </a:pPr>
            <a:r>
              <a:rPr lang="zh-CN" altLang="en-US" sz="3950" dirty="0">
                <a:solidFill>
                  <a:srgbClr val="FFFFFF"/>
                </a:solidFill>
                <a:latin typeface="微软雅黑" charset="0"/>
                <a:ea typeface="微软雅黑" charset="0"/>
                <a:sym typeface="Helvetica"/>
              </a:rPr>
              <a:t>基础数据管理</a:t>
            </a:r>
            <a:endParaRPr lang="zh-CN" altLang="en-US" sz="3950" dirty="0">
              <a:solidFill>
                <a:srgbClr val="FFFFFF"/>
              </a:solidFill>
              <a:latin typeface="微软雅黑" charset="0"/>
              <a:ea typeface="微软雅黑" charset="0"/>
              <a:sym typeface="Helvetic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176286" y="15312191"/>
            <a:ext cx="4260615" cy="8195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7675" tIns="77675" rIns="77675" bIns="77675" numCol="1" spcCol="38100" rtlCol="0" anchor="ctr" forceAA="0">
            <a:normAutofit/>
          </a:bodyPr>
          <a:p>
            <a:pPr marL="285750" marR="0" indent="-285750" algn="l" defTabSz="21939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charset="0"/>
              <a:buChar char=""/>
            </a:pPr>
            <a:r>
              <a:rPr kumimoji="0" lang="zh-CN" altLang="en-US" sz="3905" b="0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楷体" charset="0"/>
                <a:ea typeface="楷体" charset="0"/>
                <a:cs typeface="+mn-cs"/>
                <a:sym typeface="Helvetica"/>
              </a:rPr>
              <a:t>物料数据</a:t>
            </a:r>
            <a:endParaRPr kumimoji="0" lang="zh-CN" altLang="en-US" sz="3905" b="0" i="0" u="none" strike="noStrike" cap="none" spc="0" normalizeH="0" baseline="0">
              <a:ln>
                <a:noFill/>
              </a:ln>
              <a:solidFill>
                <a:schemeClr val="bg2"/>
              </a:solidFill>
              <a:effectLst/>
              <a:uFillTx/>
              <a:latin typeface="楷体" charset="0"/>
              <a:ea typeface="楷体" charset="0"/>
              <a:cs typeface="+mn-cs"/>
              <a:sym typeface="Helvetic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1353277" y="15312191"/>
            <a:ext cx="4260615" cy="8195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7675" tIns="77675" rIns="77675" bIns="77675" numCol="1" spcCol="38100" rtlCol="0" anchor="ctr" forceAA="0">
            <a:normAutofit/>
          </a:bodyPr>
          <a:p>
            <a:pPr marL="285750" marR="0" indent="-285750" algn="l" defTabSz="21939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charset="0"/>
              <a:buChar char=""/>
            </a:pPr>
            <a:r>
              <a:rPr kumimoji="0" lang="zh-CN" altLang="en-US" sz="3905" b="0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楷体" charset="0"/>
                <a:ea typeface="楷体" charset="0"/>
                <a:cs typeface="+mn-cs"/>
                <a:sym typeface="Helvetica"/>
              </a:rPr>
              <a:t>品类数据</a:t>
            </a:r>
            <a:endParaRPr kumimoji="0" lang="zh-CN" altLang="en-US" sz="3905" b="0" i="0" u="none" strike="noStrike" cap="none" spc="0" normalizeH="0" baseline="0">
              <a:ln>
                <a:noFill/>
              </a:ln>
              <a:solidFill>
                <a:schemeClr val="bg2"/>
              </a:solidFill>
              <a:effectLst/>
              <a:uFillTx/>
              <a:latin typeface="楷体" charset="0"/>
              <a:ea typeface="楷体" charset="0"/>
              <a:cs typeface="+mn-cs"/>
              <a:sym typeface="Helvetic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5429921" y="15312191"/>
            <a:ext cx="4260615" cy="8195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7675" tIns="77675" rIns="77675" bIns="77675" numCol="1" spcCol="38100" rtlCol="0" anchor="ctr" forceAA="0">
            <a:normAutofit/>
          </a:bodyPr>
          <a:p>
            <a:pPr marL="285750" marR="0" indent="-285750" algn="l" defTabSz="21939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charset="0"/>
              <a:buChar char=""/>
            </a:pPr>
            <a:r>
              <a:rPr kumimoji="0" lang="zh-CN" altLang="en-US" sz="3905" b="0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楷体" charset="0"/>
                <a:ea typeface="楷体" charset="0"/>
                <a:cs typeface="+mn-cs"/>
                <a:sym typeface="Helvetica"/>
              </a:rPr>
              <a:t>供应商数据</a:t>
            </a:r>
            <a:endParaRPr kumimoji="0" lang="zh-CN" altLang="en-US" sz="3905" b="0" i="0" u="none" strike="noStrike" cap="none" spc="0" normalizeH="0" baseline="0">
              <a:ln>
                <a:noFill/>
              </a:ln>
              <a:solidFill>
                <a:schemeClr val="bg2"/>
              </a:solidFill>
              <a:effectLst/>
              <a:uFillTx/>
              <a:latin typeface="楷体" charset="0"/>
              <a:ea typeface="楷体" charset="0"/>
              <a:cs typeface="+mn-cs"/>
              <a:sym typeface="Helvetic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9747678" y="15312191"/>
            <a:ext cx="4260615" cy="8195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7675" tIns="77675" rIns="77675" bIns="77675" numCol="1" spcCol="38100" rtlCol="0" anchor="ctr" forceAA="0">
            <a:normAutofit/>
          </a:bodyPr>
          <a:p>
            <a:pPr marL="285750" marR="0" indent="-285750" algn="l" defTabSz="21939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charset="0"/>
              <a:buChar char=""/>
            </a:pPr>
            <a:r>
              <a:rPr kumimoji="0" lang="zh-CN" altLang="en-US" sz="3905" b="0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楷体" charset="0"/>
                <a:ea typeface="楷体" charset="0"/>
                <a:cs typeface="+mn-cs"/>
                <a:sym typeface="Helvetica"/>
              </a:rPr>
              <a:t>指标数据</a:t>
            </a:r>
            <a:endParaRPr kumimoji="0" lang="zh-CN" altLang="en-US" sz="3905" b="0" i="0" u="none" strike="noStrike" cap="none" spc="0" normalizeH="0" baseline="0">
              <a:ln>
                <a:noFill/>
              </a:ln>
              <a:solidFill>
                <a:schemeClr val="bg2"/>
              </a:solidFill>
              <a:effectLst/>
              <a:uFillTx/>
              <a:latin typeface="楷体" charset="0"/>
              <a:ea typeface="楷体" charset="0"/>
              <a:cs typeface="+mn-cs"/>
              <a:sym typeface="Helvetic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4111429" y="15312191"/>
            <a:ext cx="4260615" cy="8195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7675" tIns="77675" rIns="77675" bIns="77675" numCol="1" spcCol="38100" rtlCol="0" anchor="ctr" forceAA="0">
            <a:normAutofit/>
          </a:bodyPr>
          <a:p>
            <a:pPr marL="285750" marR="0" indent="-285750" algn="l" defTabSz="219392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charset="0"/>
              <a:buChar char=""/>
            </a:pPr>
            <a:r>
              <a:rPr kumimoji="0" lang="zh-CN" altLang="en-US" sz="3905" b="0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楷体" charset="0"/>
                <a:ea typeface="楷体" charset="0"/>
                <a:cs typeface="+mn-cs"/>
                <a:sym typeface="Helvetica"/>
              </a:rPr>
              <a:t>权限数据</a:t>
            </a:r>
            <a:endParaRPr kumimoji="0" lang="zh-CN" altLang="en-US" sz="3905" b="0" i="0" u="none" strike="noStrike" cap="none" spc="0" normalizeH="0" baseline="0">
              <a:ln>
                <a:noFill/>
              </a:ln>
              <a:solidFill>
                <a:schemeClr val="bg2"/>
              </a:solidFill>
              <a:effectLst/>
              <a:uFillTx/>
              <a:latin typeface="楷体" charset="0"/>
              <a:ea typeface="楷体" charset="0"/>
              <a:cs typeface="+mn-cs"/>
              <a:sym typeface="Helvetica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计划全流程在线</a:t>
            </a:r>
            <a:r>
              <a:rPr lang="zh-CN" altLang="en-US"/>
              <a:t>可视</a:t>
            </a:r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7214467" y="5522834"/>
            <a:ext cx="12975248" cy="10548223"/>
          </a:xfrm>
          <a:prstGeom prst="rect">
            <a:avLst/>
          </a:prstGeom>
          <a:noFill/>
          <a:ln w="19050" cap="flat" cmpd="sng" algn="ctr">
            <a:solidFill>
              <a:srgbClr val="4F81BD">
                <a:shade val="50000"/>
              </a:srgbClr>
            </a:solidFill>
            <a:prstDash val="sysDash"/>
          </a:ln>
          <a:effectLst/>
        </p:spPr>
        <p:txBody>
          <a:bodyPr rtlCol="0" anchor="ctr"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51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7265765" y="6292888"/>
            <a:ext cx="12900616" cy="6721050"/>
          </a:xfrm>
          <a:prstGeom prst="rect">
            <a:avLst/>
          </a:prstGeom>
        </p:spPr>
      </p:pic>
      <p:sp>
        <p:nvSpPr>
          <p:cNvPr id="37" name="矩形 36"/>
          <p:cNvSpPr/>
          <p:nvPr/>
        </p:nvSpPr>
        <p:spPr>
          <a:xfrm>
            <a:off x="20236351" y="8961115"/>
            <a:ext cx="6347641" cy="3562752"/>
          </a:xfrm>
          <a:prstGeom prst="rect">
            <a:avLst/>
          </a:prstGeom>
          <a:noFill/>
          <a:ln w="19050" cap="flat" cmpd="sng" algn="ctr">
            <a:solidFill>
              <a:srgbClr val="4F81BD">
                <a:shade val="50000"/>
              </a:srgbClr>
            </a:solidFill>
            <a:prstDash val="sysDash"/>
          </a:ln>
          <a:effectLst/>
        </p:spPr>
        <p:txBody>
          <a:bodyPr rtlCol="0" anchor="ctr"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51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49" name="文本框 1"/>
          <p:cNvSpPr txBox="1"/>
          <p:nvPr/>
        </p:nvSpPr>
        <p:spPr>
          <a:xfrm>
            <a:off x="7299039" y="5559101"/>
            <a:ext cx="2762513" cy="6959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11497" tIns="111497" rIns="111497" bIns="111497" numCol="1" spcCol="38100" rtlCol="0" anchor="ctr">
            <a:spAutoFit/>
          </a:bodyPr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075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实时状态卡片</a:t>
            </a:r>
            <a:endParaRPr kumimoji="0" lang="zh-CN" altLang="en-US" sz="3075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Neue" panose="02000503000000020004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20189715" y="5515054"/>
            <a:ext cx="6394277" cy="3298267"/>
          </a:xfrm>
          <a:prstGeom prst="rect">
            <a:avLst/>
          </a:prstGeom>
          <a:noFill/>
          <a:ln w="19050" cap="flat" cmpd="sng" algn="ctr">
            <a:solidFill>
              <a:srgbClr val="4F81BD">
                <a:shade val="50000"/>
              </a:srgbClr>
            </a:solidFill>
            <a:prstDash val="sysDash"/>
          </a:ln>
          <a:effectLst/>
        </p:spPr>
        <p:txBody>
          <a:bodyPr rtlCol="0" anchor="ctr"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51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20259726" y="12710562"/>
            <a:ext cx="6277593" cy="3360495"/>
          </a:xfrm>
          <a:prstGeom prst="rect">
            <a:avLst/>
          </a:prstGeom>
          <a:noFill/>
          <a:ln w="19050" cap="flat" cmpd="sng" algn="ctr">
            <a:solidFill>
              <a:srgbClr val="4F81BD">
                <a:shade val="50000"/>
              </a:srgbClr>
            </a:solidFill>
            <a:prstDash val="sysDash"/>
          </a:ln>
          <a:effectLst/>
        </p:spPr>
        <p:txBody>
          <a:bodyPr rtlCol="0" anchor="ctr"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51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53" name="文本框 1"/>
          <p:cNvSpPr txBox="1"/>
          <p:nvPr/>
        </p:nvSpPr>
        <p:spPr>
          <a:xfrm>
            <a:off x="20328723" y="9057386"/>
            <a:ext cx="3024188" cy="6959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11497" tIns="111497" rIns="111497" bIns="111497" numCol="1" spcCol="38100" rtlCol="0" anchor="ctr">
            <a:spAutoFit/>
          </a:bodyPr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3075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KPI</a:t>
            </a:r>
            <a:r>
              <a:rPr lang="zh-CN" altLang="en-US" sz="3075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绩效卡片</a:t>
            </a:r>
            <a:endParaRPr kumimoji="0" lang="zh-CN" altLang="en-US" sz="3075" b="1" i="0" u="none" strike="noStrike" cap="none" spc="0" normalizeH="0" baseline="0" dirty="0">
              <a:ln>
                <a:noFill/>
              </a:ln>
              <a:solidFill>
                <a:srgbClr val="0070C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Neue" panose="02000503000000020004"/>
            </a:endParaRPr>
          </a:p>
        </p:txBody>
      </p:sp>
      <p:sp>
        <p:nvSpPr>
          <p:cNvPr id="54" name="文本框 1"/>
          <p:cNvSpPr txBox="1"/>
          <p:nvPr/>
        </p:nvSpPr>
        <p:spPr>
          <a:xfrm>
            <a:off x="20336517" y="5597989"/>
            <a:ext cx="2832509" cy="6959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11497" tIns="111497" rIns="111497" bIns="111497" numCol="1" spcCol="38100" rtlCol="0" anchor="ctr">
            <a:spAutoFit/>
          </a:bodyPr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075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异常预警卡片</a:t>
            </a:r>
            <a:endParaRPr kumimoji="0" lang="zh-CN" altLang="en-US" sz="3075" b="1" i="0" u="none" strike="noStrike" cap="none" spc="0" normalizeH="0" baseline="0" dirty="0">
              <a:ln>
                <a:noFill/>
              </a:ln>
              <a:solidFill>
                <a:srgbClr val="0070C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Neue" panose="02000503000000020004"/>
            </a:endParaRPr>
          </a:p>
        </p:txBody>
      </p:sp>
      <p:sp>
        <p:nvSpPr>
          <p:cNvPr id="55" name="文本框 1"/>
          <p:cNvSpPr txBox="1"/>
          <p:nvPr/>
        </p:nvSpPr>
        <p:spPr>
          <a:xfrm>
            <a:off x="20313181" y="12762366"/>
            <a:ext cx="2832509" cy="6959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11497" tIns="111497" rIns="111497" bIns="111497" numCol="1" spcCol="38100" rtlCol="0" anchor="ctr">
            <a:spAutoFit/>
          </a:bodyPr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075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异常处理卡片</a:t>
            </a:r>
            <a:endParaRPr kumimoji="0" lang="zh-CN" altLang="en-US" sz="3075" b="1" i="0" u="none" strike="noStrike" cap="none" spc="0" normalizeH="0" baseline="0" dirty="0">
              <a:ln>
                <a:noFill/>
              </a:ln>
              <a:solidFill>
                <a:schemeClr val="bg2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Neue" panose="020005030000000200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1321713" y="9994897"/>
            <a:ext cx="2380349" cy="4927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11497" tIns="111497" rIns="111497" bIns="111497" numCol="1" spcCol="38100" rtlCol="0" anchor="ctr">
            <a:spAutoFit/>
          </a:bodyPr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755" b="1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Neue" panose="02000503000000020004"/>
              </a:rPr>
              <a:t>待发布主计划：</a:t>
            </a:r>
            <a:r>
              <a:rPr lang="en-US" altLang="zh-CN" sz="1755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kumimoji="0" lang="en-US" altLang="zh-CN" sz="1755" b="1" i="0" u="none" strike="noStrike" cap="none" spc="0" normalizeH="0" baseline="0" dirty="0">
              <a:ln>
                <a:noFill/>
              </a:ln>
              <a:solidFill>
                <a:srgbClr val="0070C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Neue" panose="02000503000000020004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3383113" y="7342265"/>
            <a:ext cx="2380349" cy="4927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11497" tIns="111497" rIns="111497" bIns="111497" numCol="1" spcCol="38100" rtlCol="0" anchor="ctr">
            <a:spAutoFit/>
          </a:bodyPr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755" b="1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Neue" panose="02000503000000020004"/>
              </a:rPr>
              <a:t>采购计划已发布：</a:t>
            </a:r>
            <a:r>
              <a:rPr lang="en-US" altLang="zh-CN" sz="1755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kumimoji="0" lang="en-US" altLang="zh-CN" sz="1755" b="1" i="0" u="none" strike="noStrike" cap="none" spc="0" normalizeH="0" baseline="0" dirty="0">
              <a:ln>
                <a:noFill/>
              </a:ln>
              <a:solidFill>
                <a:srgbClr val="0070C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Neue" panose="02000503000000020004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7152215" y="7552298"/>
            <a:ext cx="2380349" cy="4927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11497" tIns="111497" rIns="111497" bIns="111497" numCol="1" spcCol="38100" rtlCol="0" anchor="ctr">
            <a:spAutoFit/>
          </a:bodyPr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755" b="1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Neue" panose="02000503000000020004"/>
              </a:rPr>
              <a:t>销售预测未提交：</a:t>
            </a:r>
            <a:r>
              <a:rPr kumimoji="0" lang="en-US" altLang="zh-CN" sz="1755" b="1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Neue" panose="02000503000000020004"/>
              </a:rPr>
              <a:t>5</a:t>
            </a:r>
            <a:endParaRPr kumimoji="0" lang="en-US" altLang="zh-CN" sz="1755" b="1" i="0" u="none" strike="noStrike" cap="none" spc="0" normalizeH="0" baseline="0" dirty="0">
              <a:ln>
                <a:noFill/>
              </a:ln>
              <a:solidFill>
                <a:srgbClr val="0070C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Neue" panose="02000503000000020004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9999306" y="6992216"/>
            <a:ext cx="2380349" cy="492760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111497" tIns="111497" rIns="111497" bIns="111497" numCol="1" spcCol="38100" rtlCol="0" anchor="ctr">
            <a:spAutoFit/>
          </a:bodyPr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755" b="1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Neue" panose="02000503000000020004"/>
              </a:rPr>
              <a:t>待</a:t>
            </a:r>
            <a:r>
              <a:rPr kumimoji="0" lang="en-US" altLang="zh-CN" sz="1755" b="1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Neue" panose="02000503000000020004"/>
              </a:rPr>
              <a:t>S&amp;OP</a:t>
            </a:r>
            <a:r>
              <a:rPr kumimoji="0" lang="zh-CN" altLang="en-US" sz="1755" b="1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Neue" panose="02000503000000020004"/>
              </a:rPr>
              <a:t>评审：</a:t>
            </a:r>
            <a:r>
              <a:rPr kumimoji="0" lang="en-US" altLang="zh-CN" sz="1755" b="1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Neue" panose="02000503000000020004"/>
              </a:rPr>
              <a:t>5</a:t>
            </a:r>
            <a:endParaRPr kumimoji="0" lang="en-US" altLang="zh-CN" sz="1755" b="1" i="0" u="none" strike="noStrike" cap="none" spc="0" normalizeH="0" baseline="0" dirty="0">
              <a:ln>
                <a:noFill/>
              </a:ln>
              <a:solidFill>
                <a:srgbClr val="0070C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Neue" panose="02000503000000020004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7731561" y="6439906"/>
            <a:ext cx="2380349" cy="4927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11497" tIns="111497" rIns="111497" bIns="111497" numCol="1" spcCol="38100" rtlCol="0" anchor="ctr">
            <a:spAutoFit/>
          </a:bodyPr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755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供应商</a:t>
            </a:r>
            <a:r>
              <a:rPr kumimoji="0" lang="zh-CN" altLang="en-US" sz="1755" b="1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Neue" panose="02000503000000020004"/>
              </a:rPr>
              <a:t>已回复：</a:t>
            </a:r>
            <a:r>
              <a:rPr lang="en-US" altLang="zh-CN" sz="1755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kumimoji="0" lang="en-US" altLang="zh-CN" sz="1755" b="1" i="0" u="none" strike="noStrike" cap="none" spc="0" normalizeH="0" baseline="0" dirty="0">
              <a:ln>
                <a:noFill/>
              </a:ln>
              <a:solidFill>
                <a:srgbClr val="0070C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Neue" panose="02000503000000020004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8050493" y="9419234"/>
            <a:ext cx="2380349" cy="4927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11497" tIns="111497" rIns="111497" bIns="111497" numCol="1" spcCol="38100" rtlCol="0" anchor="ctr">
            <a:spAutoFit/>
          </a:bodyPr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755" b="1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Neue" panose="02000503000000020004"/>
              </a:rPr>
              <a:t>生产完成：</a:t>
            </a:r>
            <a:r>
              <a:rPr kumimoji="0" lang="en-US" altLang="zh-CN" sz="1755" b="1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Neue" panose="02000503000000020004"/>
              </a:rPr>
              <a:t>5</a:t>
            </a:r>
            <a:endParaRPr kumimoji="0" lang="en-US" altLang="zh-CN" sz="1755" b="1" i="0" u="none" strike="noStrike" cap="none" spc="0" normalizeH="0" baseline="0" dirty="0">
              <a:ln>
                <a:noFill/>
              </a:ln>
              <a:solidFill>
                <a:srgbClr val="0070C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Neue" panose="02000503000000020004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5071152" y="10477183"/>
            <a:ext cx="2380349" cy="4927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11497" tIns="111497" rIns="111497" bIns="111497" numCol="1" spcCol="38100" rtlCol="0" anchor="ctr">
            <a:spAutoFit/>
          </a:bodyPr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755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已齐套</a:t>
            </a:r>
            <a:r>
              <a:rPr kumimoji="0" lang="zh-CN" altLang="en-US" sz="1755" b="1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Neue" panose="02000503000000020004"/>
              </a:rPr>
              <a:t>：</a:t>
            </a:r>
            <a:r>
              <a:rPr lang="en-US" altLang="zh-CN" sz="1755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7</a:t>
            </a:r>
            <a:endParaRPr kumimoji="0" lang="en-US" altLang="zh-CN" sz="1755" b="1" i="0" u="none" strike="noStrike" cap="none" spc="0" normalizeH="0" baseline="0" dirty="0">
              <a:ln>
                <a:noFill/>
              </a:ln>
              <a:solidFill>
                <a:srgbClr val="0070C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Neue" panose="02000503000000020004"/>
            </a:endParaRPr>
          </a:p>
        </p:txBody>
      </p:sp>
      <p:graphicFrame>
        <p:nvGraphicFramePr>
          <p:cNvPr id="67" name="表格 66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7377827" y="13635303"/>
          <a:ext cx="12349480" cy="2259330"/>
        </p:xfrm>
        <a:graphic>
          <a:graphicData uri="http://schemas.openxmlformats.org/drawingml/2006/table">
            <a:tbl>
              <a:tblPr/>
              <a:tblGrid>
                <a:gridCol w="1437005"/>
                <a:gridCol w="1676400"/>
                <a:gridCol w="1570990"/>
                <a:gridCol w="1438275"/>
                <a:gridCol w="4124960"/>
                <a:gridCol w="2101850"/>
              </a:tblGrid>
              <a:tr h="376555">
                <a:tc>
                  <a:txBody>
                    <a:bodyPr/>
                    <a:p>
                      <a:pPr algn="ctr" fontAlgn="ctr"/>
                      <a:r>
                        <a:rPr lang="zh-CN" altLang="en-US" sz="2195" b="0" i="0" u="none" strike="noStrike" dirty="0">
                          <a:solidFill>
                            <a:srgbClr val="FFFFFF"/>
                          </a:solidFill>
                          <a:latin typeface="宋体" pitchFamily="2" charset="-122"/>
                        </a:rPr>
                        <a:t>机型</a:t>
                      </a:r>
                      <a:endParaRPr lang="zh-CN" altLang="en-US" sz="2195" b="0" i="0" u="none" strike="noStrike" dirty="0">
                        <a:solidFill>
                          <a:srgbClr val="FFFFFF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2195" b="0" i="0" u="none" strike="noStrike">
                          <a:solidFill>
                            <a:srgbClr val="FFFFFF"/>
                          </a:solidFill>
                          <a:latin typeface="宋体" pitchFamily="2" charset="-122"/>
                        </a:rPr>
                        <a:t>W1</a:t>
                      </a:r>
                      <a:r>
                        <a:rPr lang="zh-CN" altLang="en-US" sz="2195" b="0" i="0" u="none" strike="noStrike">
                          <a:solidFill>
                            <a:srgbClr val="FFFFFF"/>
                          </a:solidFill>
                          <a:latin typeface="宋体" pitchFamily="2" charset="-122"/>
                        </a:rPr>
                        <a:t>需求</a:t>
                      </a:r>
                      <a:endParaRPr lang="zh-CN" altLang="en-US" sz="2195" b="0" i="0" u="none" strike="noStrike">
                        <a:solidFill>
                          <a:srgbClr val="FFFFFF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2195" b="0" i="0" u="none" strike="noStrike">
                          <a:solidFill>
                            <a:srgbClr val="FFFFFF"/>
                          </a:solidFill>
                          <a:latin typeface="宋体" pitchFamily="2" charset="-122"/>
                        </a:rPr>
                        <a:t>W1</a:t>
                      </a:r>
                      <a:r>
                        <a:rPr lang="zh-CN" altLang="en-US" sz="2195" b="0" i="0" u="none" strike="noStrike">
                          <a:solidFill>
                            <a:srgbClr val="FFFFFF"/>
                          </a:solidFill>
                          <a:latin typeface="宋体" pitchFamily="2" charset="-122"/>
                        </a:rPr>
                        <a:t>供应</a:t>
                      </a:r>
                      <a:endParaRPr lang="zh-CN" altLang="en-US" sz="2195" b="0" i="0" u="none" strike="noStrike">
                        <a:solidFill>
                          <a:srgbClr val="FFFFFF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2195" b="0" i="0" u="none" strike="noStrike">
                          <a:solidFill>
                            <a:srgbClr val="FFFFFF"/>
                          </a:solidFill>
                          <a:latin typeface="宋体" pitchFamily="2" charset="-122"/>
                        </a:rPr>
                        <a:t>差异</a:t>
                      </a:r>
                      <a:endParaRPr lang="zh-CN" altLang="en-US" sz="2195" b="0" i="0" u="none" strike="noStrike">
                        <a:solidFill>
                          <a:srgbClr val="FFFFFF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2195" b="0" i="0" u="none" strike="noStrike">
                          <a:solidFill>
                            <a:srgbClr val="FFFFFF"/>
                          </a:solidFill>
                          <a:latin typeface="宋体" pitchFamily="2" charset="-122"/>
                        </a:rPr>
                        <a:t>差异原因</a:t>
                      </a:r>
                      <a:endParaRPr lang="zh-CN" altLang="en-US" sz="2195" b="0" i="0" u="none" strike="noStrike">
                        <a:solidFill>
                          <a:srgbClr val="FFFFFF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2195" b="0" i="0" u="none" strike="noStrike" dirty="0">
                          <a:solidFill>
                            <a:srgbClr val="FFFFFF"/>
                          </a:solidFill>
                          <a:latin typeface="宋体" pitchFamily="2" charset="-122"/>
                        </a:rPr>
                        <a:t>评审状态</a:t>
                      </a:r>
                      <a:endParaRPr lang="zh-CN" altLang="en-US" sz="2195" b="0" i="0" u="none" strike="noStrike" dirty="0">
                        <a:solidFill>
                          <a:srgbClr val="FFFFFF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376555">
                <a:tc>
                  <a:txBody>
                    <a:bodyPr/>
                    <a:p>
                      <a:pPr algn="ctr" fontAlgn="ctr"/>
                      <a:r>
                        <a:rPr lang="en-US" sz="2195" b="0" i="0" u="none" strike="noStrike" dirty="0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VXXEA</a:t>
                      </a:r>
                      <a:endParaRPr lang="en-US" sz="2195" b="0" i="0" u="none" strike="noStrike" dirty="0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195" b="0" i="0" u="none" strike="noStrike" dirty="0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1000</a:t>
                      </a:r>
                      <a:endParaRPr lang="en-US" altLang="zh-CN" sz="2195" b="0" i="0" u="none" strike="noStrike" dirty="0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195" b="0" i="0" u="none" strike="noStrike" dirty="0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800</a:t>
                      </a:r>
                      <a:endParaRPr lang="en-US" altLang="zh-CN" sz="2195" b="0" i="0" u="none" strike="noStrike" dirty="0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195" b="0" i="0" u="none" strike="noStrike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-200</a:t>
                      </a:r>
                      <a:endParaRPr lang="en-US" altLang="zh-CN" sz="2195" b="0" i="0" u="none" strike="noStrike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2195" b="0" i="0" u="none" strike="noStrike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BOE-OCW1</a:t>
                      </a:r>
                      <a:r>
                        <a:rPr lang="zh-CN" altLang="en-US" sz="2195" b="0" i="0" u="none" strike="noStrike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暂停交费</a:t>
                      </a:r>
                      <a:endParaRPr lang="zh-CN" altLang="en-US" sz="2195" b="0" i="0" u="none" strike="noStrike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2195" b="0" i="0" u="none" strike="noStrike" dirty="0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未提交</a:t>
                      </a:r>
                      <a:endParaRPr lang="zh-CN" altLang="en-US" sz="2195" b="0" i="0" u="none" strike="noStrike" dirty="0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555">
                <a:tc>
                  <a:txBody>
                    <a:bodyPr/>
                    <a:p>
                      <a:pPr algn="ctr" fontAlgn="ctr"/>
                      <a:r>
                        <a:rPr lang="en-US" sz="2195" b="0" i="0" u="none" strike="noStrike" dirty="0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VXXEA</a:t>
                      </a:r>
                      <a:endParaRPr lang="en-US" sz="2195" b="0" i="0" u="none" strike="noStrike" dirty="0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195" b="0" i="0" u="none" strike="noStrike" dirty="0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1000</a:t>
                      </a:r>
                      <a:endParaRPr lang="en-US" altLang="zh-CN" sz="2195" b="0" i="0" u="none" strike="noStrike" dirty="0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195" b="0" i="0" u="none" strike="noStrike" dirty="0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800</a:t>
                      </a:r>
                      <a:endParaRPr lang="en-US" altLang="zh-CN" sz="2195" b="0" i="0" u="none" strike="noStrike" dirty="0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195" b="0" i="0" u="none" strike="noStrike" dirty="0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-200</a:t>
                      </a:r>
                      <a:endParaRPr lang="en-US" altLang="zh-CN" sz="2195" b="0" i="0" u="none" strike="noStrike" dirty="0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2195" b="0" i="0" u="none" strike="noStrike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BOE-OCW1</a:t>
                      </a:r>
                      <a:r>
                        <a:rPr lang="zh-CN" altLang="en-US" sz="2195" b="0" i="0" u="none" strike="noStrike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暂停交费</a:t>
                      </a:r>
                      <a:endParaRPr lang="zh-CN" altLang="en-US" sz="2195" b="0" i="0" u="none" strike="noStrike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2195" b="0" i="0" u="none" strike="noStrike" dirty="0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驳回</a:t>
                      </a:r>
                      <a:endParaRPr lang="zh-CN" altLang="en-US" sz="2195" b="0" i="0" u="none" strike="noStrike" dirty="0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555">
                <a:tc>
                  <a:txBody>
                    <a:bodyPr/>
                    <a:p>
                      <a:pPr algn="ctr" fontAlgn="ctr"/>
                      <a:r>
                        <a:rPr lang="en-US" sz="2195" b="0" i="0" u="none" strike="noStrike" dirty="0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VXXEA</a:t>
                      </a:r>
                      <a:endParaRPr lang="en-US" sz="2195" b="0" i="0" u="none" strike="noStrike" dirty="0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195" b="0" i="0" u="none" strike="noStrike" dirty="0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1000</a:t>
                      </a:r>
                      <a:endParaRPr lang="en-US" altLang="zh-CN" sz="2195" b="0" i="0" u="none" strike="noStrike" dirty="0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195" b="0" i="0" u="none" strike="noStrike" dirty="0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800</a:t>
                      </a:r>
                      <a:endParaRPr lang="en-US" altLang="zh-CN" sz="2195" b="0" i="0" u="none" strike="noStrike" dirty="0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195" b="0" i="0" u="none" strike="noStrike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-200</a:t>
                      </a:r>
                      <a:endParaRPr lang="en-US" altLang="zh-CN" sz="2195" b="0" i="0" u="none" strike="noStrike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2195" b="0" i="0" u="none" strike="noStrike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BOE-OCW1</a:t>
                      </a:r>
                      <a:r>
                        <a:rPr lang="zh-CN" altLang="en-US" sz="2195" b="0" i="0" u="none" strike="noStrike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暂停交费</a:t>
                      </a:r>
                      <a:endParaRPr lang="zh-CN" altLang="en-US" sz="2195" b="0" i="0" u="none" strike="noStrike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195" b="0" i="0" u="none" strike="noStrike" dirty="0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ATP</a:t>
                      </a:r>
                      <a:r>
                        <a:rPr lang="zh-CN" altLang="en-US" sz="2195" b="0" i="0" u="none" strike="noStrike" dirty="0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未提供</a:t>
                      </a:r>
                      <a:endParaRPr lang="zh-CN" altLang="en-US" sz="2195" b="0" i="0" u="none" strike="noStrike" dirty="0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555">
                <a:tc>
                  <a:txBody>
                    <a:bodyPr/>
                    <a:p>
                      <a:pPr algn="ctr" fontAlgn="ctr"/>
                      <a:r>
                        <a:rPr lang="en-US" sz="2195" b="0" i="0" u="none" strike="noStrike" dirty="0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VXXEA</a:t>
                      </a:r>
                      <a:endParaRPr lang="en-US" sz="2195" b="0" i="0" u="none" strike="noStrike" dirty="0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195" b="0" i="0" u="none" strike="noStrike" dirty="0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1000</a:t>
                      </a:r>
                      <a:endParaRPr lang="en-US" altLang="zh-CN" sz="2195" b="0" i="0" u="none" strike="noStrike" dirty="0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195" b="0" i="0" u="none" strike="noStrike" dirty="0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800</a:t>
                      </a:r>
                      <a:endParaRPr lang="en-US" altLang="zh-CN" sz="2195" b="0" i="0" u="none" strike="noStrike" dirty="0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195" b="0" i="0" u="none" strike="noStrike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-200</a:t>
                      </a:r>
                      <a:endParaRPr lang="en-US" altLang="zh-CN" sz="2195" b="0" i="0" u="none" strike="noStrike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2195" b="0" i="0" u="none" strike="noStrike" dirty="0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BOE-OCW1</a:t>
                      </a:r>
                      <a:r>
                        <a:rPr lang="zh-CN" altLang="en-US" sz="2195" b="0" i="0" u="none" strike="noStrike" dirty="0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暂停交费</a:t>
                      </a:r>
                      <a:endParaRPr lang="zh-CN" altLang="en-US" sz="2195" b="0" i="0" u="none" strike="noStrike" dirty="0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2195" b="0" i="0" u="none" strike="noStrike" dirty="0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未提交</a:t>
                      </a:r>
                      <a:endParaRPr lang="zh-CN" altLang="en-US" sz="2195" b="0" i="0" u="none" strike="noStrike" dirty="0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555">
                <a:tc>
                  <a:txBody>
                    <a:bodyPr/>
                    <a:p>
                      <a:pPr algn="ctr" fontAlgn="ctr"/>
                      <a:r>
                        <a:rPr lang="en-US" sz="2195" b="0" i="0" u="none" strike="noStrike" dirty="0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VXXEA</a:t>
                      </a:r>
                      <a:endParaRPr lang="en-US" sz="2195" b="0" i="0" u="none" strike="noStrike" dirty="0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195" b="0" i="0" u="none" strike="noStrike" dirty="0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1000</a:t>
                      </a:r>
                      <a:endParaRPr lang="en-US" altLang="zh-CN" sz="2195" b="0" i="0" u="none" strike="noStrike" dirty="0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195" b="0" i="0" u="none" strike="noStrike" dirty="0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800</a:t>
                      </a:r>
                      <a:endParaRPr lang="en-US" altLang="zh-CN" sz="2195" b="0" i="0" u="none" strike="noStrike" dirty="0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195" b="0" i="0" u="none" strike="noStrike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-200</a:t>
                      </a:r>
                      <a:endParaRPr lang="en-US" altLang="zh-CN" sz="2195" b="0" i="0" u="none" strike="noStrike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2195" b="0" i="0" u="none" strike="noStrike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BOE-OCW1</a:t>
                      </a:r>
                      <a:r>
                        <a:rPr lang="zh-CN" altLang="en-US" sz="2195" b="0" i="0" u="none" strike="noStrike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暂停交费</a:t>
                      </a:r>
                      <a:endParaRPr lang="zh-CN" altLang="en-US" sz="2195" b="0" i="0" u="none" strike="noStrike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2195" b="0" i="0" u="none" strike="noStrike" dirty="0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未提交</a:t>
                      </a:r>
                      <a:endParaRPr lang="zh-CN" altLang="en-US" sz="2195" b="0" i="0" u="none" strike="noStrike" dirty="0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8" name="TextBox 67"/>
          <p:cNvSpPr txBox="1"/>
          <p:nvPr/>
        </p:nvSpPr>
        <p:spPr>
          <a:xfrm>
            <a:off x="21722147" y="6416576"/>
            <a:ext cx="3344956" cy="492760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111497" tIns="111497" rIns="111497" bIns="111497" numCol="1" spcCol="38100" rtlCol="0" anchor="ctr">
            <a:spAutoFit/>
          </a:bodyPr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755" b="1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Neue" panose="02000503000000020004"/>
              </a:rPr>
              <a:t>应齐套未齐套批次数：</a:t>
            </a:r>
            <a:r>
              <a:rPr lang="en-US" altLang="zh-CN" sz="1755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kumimoji="0" lang="en-US" altLang="zh-CN" sz="1755" b="1" i="0" u="none" strike="noStrike" cap="none" spc="0" normalizeH="0" baseline="0" dirty="0">
              <a:ln>
                <a:noFill/>
              </a:ln>
              <a:solidFill>
                <a:srgbClr val="0070C0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Neue" panose="02000503000000020004"/>
            </a:endParaRPr>
          </a:p>
        </p:txBody>
      </p:sp>
      <p:graphicFrame>
        <p:nvGraphicFramePr>
          <p:cNvPr id="69" name="表格 68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20399750" y="7194665"/>
          <a:ext cx="5903595" cy="1304290"/>
        </p:xfrm>
        <a:graphic>
          <a:graphicData uri="http://schemas.openxmlformats.org/drawingml/2006/table">
            <a:tbl>
              <a:tblPr/>
              <a:tblGrid>
                <a:gridCol w="1244600"/>
                <a:gridCol w="794385"/>
                <a:gridCol w="1495425"/>
                <a:gridCol w="1184275"/>
                <a:gridCol w="1184910"/>
              </a:tblGrid>
              <a:tr h="375285">
                <a:tc>
                  <a:txBody>
                    <a:bodyPr/>
                    <a:p>
                      <a:pPr algn="ctr" fontAlgn="ctr"/>
                      <a:r>
                        <a:rPr lang="zh-CN" altLang="en-US" sz="1975" b="0" i="0" u="none" strike="noStrike" dirty="0">
                          <a:solidFill>
                            <a:schemeClr val="bg2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批次</a:t>
                      </a:r>
                      <a:endParaRPr lang="zh-CN" altLang="en-US" sz="1975" b="0" i="0" u="none" strike="noStrike" dirty="0">
                        <a:solidFill>
                          <a:schemeClr val="bg2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975" b="0" i="0" u="none" strike="noStrike" dirty="0">
                          <a:solidFill>
                            <a:schemeClr val="bg2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机型</a:t>
                      </a:r>
                      <a:endParaRPr lang="zh-CN" altLang="en-US" sz="1975" b="0" i="0" u="none" strike="noStrike" dirty="0">
                        <a:solidFill>
                          <a:schemeClr val="bg2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975" b="0" i="0" u="none" strike="noStrike" dirty="0">
                          <a:solidFill>
                            <a:schemeClr val="bg2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未齐套物料</a:t>
                      </a:r>
                      <a:endParaRPr lang="zh-CN" altLang="en-US" sz="1975" b="0" i="0" u="none" strike="noStrike" dirty="0">
                        <a:solidFill>
                          <a:schemeClr val="bg2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975" b="0" i="0" u="none" strike="noStrike" dirty="0">
                          <a:solidFill>
                            <a:schemeClr val="bg2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未齐套数</a:t>
                      </a:r>
                      <a:endParaRPr lang="zh-CN" altLang="en-US" sz="1975" b="0" i="0" u="none" strike="noStrike" dirty="0">
                        <a:solidFill>
                          <a:schemeClr val="bg2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975" b="0" i="0" u="none" strike="noStrike" dirty="0">
                          <a:solidFill>
                            <a:schemeClr val="bg2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供应商</a:t>
                      </a:r>
                      <a:endParaRPr lang="zh-CN" altLang="en-US" sz="1975" b="0" i="0" u="none" strike="noStrike" dirty="0">
                        <a:solidFill>
                          <a:schemeClr val="bg2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309880">
                <a:tc>
                  <a:txBody>
                    <a:bodyPr/>
                    <a:p>
                      <a:pPr algn="ctr" fontAlgn="ctr"/>
                      <a:r>
                        <a:rPr lang="en-US" altLang="zh-CN" sz="1975" b="0" i="0" u="none" strike="noStrike" dirty="0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SR190001</a:t>
                      </a:r>
                      <a:endParaRPr lang="en-US" altLang="zh-CN" sz="1975" b="0" i="0" u="none" strike="noStrike" dirty="0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975" b="0" i="0" u="none" strike="noStrike" dirty="0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SC01</a:t>
                      </a:r>
                      <a:endParaRPr lang="en-US" altLang="zh-CN" sz="1975" b="0" i="0" u="none" strike="noStrike" dirty="0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975" b="0" i="0" u="none" strike="noStrike" dirty="0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摄像头</a:t>
                      </a:r>
                      <a:endParaRPr lang="zh-CN" altLang="en-US" sz="1975" b="0" i="0" u="none" strike="noStrike" dirty="0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975" b="0" i="0" u="none" strike="noStrike" dirty="0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80</a:t>
                      </a:r>
                      <a:endParaRPr lang="en-US" altLang="zh-CN" sz="1975" b="0" i="0" u="none" strike="noStrike" dirty="0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975" b="0" i="0" u="none" strike="noStrike" dirty="0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SY</a:t>
                      </a:r>
                      <a:endParaRPr lang="en-US" altLang="zh-CN" sz="1975" b="0" i="0" u="none" strike="noStrike" dirty="0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245">
                <a:tc>
                  <a:txBody>
                    <a:bodyPr/>
                    <a:p>
                      <a:pPr algn="ctr" fontAlgn="ctr"/>
                      <a:r>
                        <a:rPr lang="en-US" altLang="zh-CN" sz="1975" b="0" i="0" u="none" strike="noStrike" dirty="0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SR190002</a:t>
                      </a:r>
                      <a:endParaRPr lang="en-US" altLang="zh-CN" sz="1975" b="0" i="0" u="none" strike="noStrike" dirty="0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975" b="0" i="0" u="none" strike="noStrike" dirty="0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SC02</a:t>
                      </a:r>
                      <a:endParaRPr lang="en-US" altLang="zh-CN" sz="1975" b="0" i="0" u="none" strike="noStrike" dirty="0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975" b="0" i="0" u="none" strike="noStrike" dirty="0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转角</a:t>
                      </a:r>
                      <a:endParaRPr lang="zh-CN" altLang="en-US" sz="1975" b="0" i="0" u="none" strike="noStrike" dirty="0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975" b="0" i="0" u="none" strike="noStrike" dirty="0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100</a:t>
                      </a:r>
                      <a:endParaRPr lang="en-US" altLang="zh-CN" sz="1975" b="0" i="0" u="none" strike="noStrike" dirty="0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975" b="0" i="0" u="none" strike="noStrike" dirty="0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SP</a:t>
                      </a:r>
                      <a:endParaRPr lang="en-US" altLang="zh-CN" sz="1975" b="0" i="0" u="none" strike="noStrike" dirty="0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880">
                <a:tc>
                  <a:txBody>
                    <a:bodyPr/>
                    <a:p>
                      <a:pPr algn="ctr" fontAlgn="ctr"/>
                      <a:r>
                        <a:rPr lang="en-US" altLang="zh-CN" sz="1975" b="0" i="0" u="none" strike="noStrike" dirty="0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SR190003</a:t>
                      </a:r>
                      <a:endParaRPr lang="en-US" altLang="zh-CN" sz="1975" b="0" i="0" u="none" strike="noStrike" dirty="0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975" b="0" i="0" u="none" strike="noStrike" dirty="0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SC03</a:t>
                      </a:r>
                      <a:endParaRPr lang="en-US" altLang="zh-CN" sz="1975" b="0" i="0" u="none" strike="noStrike" dirty="0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975" b="0" i="0" u="none" strike="noStrike" dirty="0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支架</a:t>
                      </a:r>
                      <a:endParaRPr lang="zh-CN" altLang="en-US" sz="1975" b="0" i="0" u="none" strike="noStrike" dirty="0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975" b="0" i="0" u="none" strike="noStrike" dirty="0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50</a:t>
                      </a:r>
                      <a:endParaRPr lang="en-US" altLang="zh-CN" sz="1975" b="0" i="0" u="none" strike="noStrike" dirty="0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975" b="0" i="0" u="none" strike="noStrike" dirty="0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ST</a:t>
                      </a:r>
                      <a:endParaRPr lang="en-US" altLang="zh-CN" sz="1975" b="0" i="0" u="none" strike="noStrike" dirty="0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344080" y="6395049"/>
            <a:ext cx="1383433" cy="551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0" name="TextBox 69"/>
          <p:cNvSpPr txBox="1"/>
          <p:nvPr/>
        </p:nvSpPr>
        <p:spPr>
          <a:xfrm>
            <a:off x="7369906" y="13067796"/>
            <a:ext cx="2380349" cy="492760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111497" tIns="111497" rIns="111497" bIns="111497" numCol="1" spcCol="38100" rtlCol="0" anchor="ctr">
            <a:spAutoFit/>
          </a:bodyPr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755" b="1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Neue" panose="02000503000000020004"/>
              </a:rPr>
              <a:t>待</a:t>
            </a:r>
            <a:r>
              <a:rPr kumimoji="0" lang="en-US" altLang="zh-CN" sz="1755" b="1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Neue" panose="02000503000000020004"/>
              </a:rPr>
              <a:t>S&amp;OP</a:t>
            </a:r>
            <a:r>
              <a:rPr kumimoji="0" lang="zh-CN" altLang="en-US" sz="1755" b="1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Neue" panose="02000503000000020004"/>
              </a:rPr>
              <a:t>评审：</a:t>
            </a:r>
            <a:r>
              <a:rPr kumimoji="0" lang="en-US" altLang="zh-CN" sz="1755" b="1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Neue" panose="02000503000000020004"/>
              </a:rPr>
              <a:t>5</a:t>
            </a:r>
            <a:endParaRPr kumimoji="0" lang="en-US" altLang="zh-CN" sz="1755" b="1" i="0" u="none" strike="noStrike" cap="none" spc="0" normalizeH="0" baseline="0" dirty="0">
              <a:ln>
                <a:noFill/>
              </a:ln>
              <a:solidFill>
                <a:schemeClr val="bg2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Neue" panose="02000503000000020004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0443265" y="9896782"/>
            <a:ext cx="2710221" cy="24870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3327328" y="10470230"/>
            <a:ext cx="3111541" cy="18611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" name="右箭头 70"/>
          <p:cNvSpPr/>
          <p:nvPr/>
        </p:nvSpPr>
        <p:spPr>
          <a:xfrm>
            <a:off x="22756762" y="10692413"/>
            <a:ext cx="490073" cy="1665413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11497" tIns="111497" rIns="111497" bIns="111497" numCol="1" spcCol="38100" rtlCol="0" anchor="ctr">
            <a:spAutoFit/>
          </a:bodyPr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83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 panose="02000503000000020004"/>
            </a:endParaRPr>
          </a:p>
        </p:txBody>
      </p:sp>
      <p:graphicFrame>
        <p:nvGraphicFramePr>
          <p:cNvPr id="30" name="表格 29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20407527" y="14342211"/>
          <a:ext cx="5871845" cy="1504950"/>
        </p:xfrm>
        <a:graphic>
          <a:graphicData uri="http://schemas.openxmlformats.org/drawingml/2006/table">
            <a:tbl>
              <a:tblPr/>
              <a:tblGrid>
                <a:gridCol w="1031240"/>
                <a:gridCol w="657860"/>
                <a:gridCol w="1238885"/>
                <a:gridCol w="980440"/>
                <a:gridCol w="982345"/>
                <a:gridCol w="981075"/>
              </a:tblGrid>
              <a:tr h="645160">
                <a:tc>
                  <a:txBody>
                    <a:bodyPr/>
                    <a:p>
                      <a:pPr algn="ctr" fontAlgn="ctr"/>
                      <a:r>
                        <a:rPr lang="zh-CN" altLang="en-US" sz="1755" b="0" i="0" u="none" strike="noStrike" dirty="0">
                          <a:solidFill>
                            <a:srgbClr val="FFFFFF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批次</a:t>
                      </a:r>
                      <a:endParaRPr lang="zh-CN" altLang="en-US" sz="1755" b="0" i="0" u="none" strike="noStrike" dirty="0">
                        <a:solidFill>
                          <a:srgbClr val="FFFFFF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755" b="0" i="0" u="none" strike="noStrike" dirty="0">
                          <a:solidFill>
                            <a:srgbClr val="FFFFFF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机型</a:t>
                      </a:r>
                      <a:endParaRPr lang="zh-CN" altLang="en-US" sz="1755" b="0" i="0" u="none" strike="noStrike" dirty="0">
                        <a:solidFill>
                          <a:srgbClr val="FFFFFF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755" b="0" i="0" u="none" strike="noStrike" dirty="0">
                          <a:solidFill>
                            <a:srgbClr val="FFFFFF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未齐套</a:t>
                      </a:r>
                      <a:endParaRPr lang="en-US" altLang="zh-CN" sz="1755" b="0" i="0" u="none" strike="noStrike" dirty="0">
                        <a:solidFill>
                          <a:srgbClr val="FFFFFF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  <a:p>
                      <a:pPr algn="ctr" fontAlgn="ctr"/>
                      <a:r>
                        <a:rPr lang="zh-CN" altLang="en-US" sz="1755" b="0" i="0" u="none" strike="noStrike" dirty="0">
                          <a:solidFill>
                            <a:srgbClr val="FFFFFF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物料</a:t>
                      </a:r>
                      <a:endParaRPr lang="zh-CN" altLang="en-US" sz="1755" b="0" i="0" u="none" strike="noStrike" dirty="0">
                        <a:solidFill>
                          <a:srgbClr val="FFFFFF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755" b="0" i="0" u="none" strike="noStrike" dirty="0">
                          <a:solidFill>
                            <a:srgbClr val="FFFFFF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未齐套原因</a:t>
                      </a:r>
                      <a:endParaRPr lang="zh-CN" altLang="en-US" sz="1755" b="0" i="0" u="none" strike="noStrike" dirty="0">
                        <a:solidFill>
                          <a:srgbClr val="FFFFFF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755" b="0" i="0" u="none" strike="noStrike" dirty="0">
                          <a:solidFill>
                            <a:srgbClr val="FFFFFF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承诺齐套时间</a:t>
                      </a:r>
                      <a:endParaRPr lang="zh-CN" altLang="en-US" sz="1755" b="0" i="0" u="none" strike="noStrike" dirty="0">
                        <a:solidFill>
                          <a:srgbClr val="FFFFFF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755" b="0" i="0" u="none" strike="noStrike" dirty="0">
                          <a:solidFill>
                            <a:srgbClr val="FFFFFF"/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确认</a:t>
                      </a:r>
                      <a:endParaRPr lang="zh-CN" altLang="en-US" sz="1755" b="0" i="0" u="none" strike="noStrike" dirty="0">
                        <a:solidFill>
                          <a:srgbClr val="FFFFFF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429895">
                <a:tc>
                  <a:txBody>
                    <a:bodyPr/>
                    <a:p>
                      <a:pPr algn="ctr" fontAlgn="ctr"/>
                      <a:r>
                        <a:rPr lang="en-US" altLang="zh-CN" sz="1755" b="0" i="0" u="none" strike="noStrike" dirty="0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SR190001</a:t>
                      </a:r>
                      <a:endParaRPr lang="en-US" altLang="zh-CN" sz="1755" b="0" i="0" u="none" strike="noStrike" dirty="0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755" b="0" i="0" u="none" strike="noStrike" dirty="0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SC01</a:t>
                      </a:r>
                      <a:endParaRPr lang="en-US" altLang="zh-CN" sz="1755" b="0" i="0" u="none" strike="noStrike" dirty="0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755" b="0" i="0" u="none" strike="noStrike" dirty="0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摄像头</a:t>
                      </a:r>
                      <a:endParaRPr lang="zh-CN" altLang="en-US" sz="1755" b="0" i="0" u="none" strike="noStrike" dirty="0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755" b="0" i="0" u="none" strike="noStrike" dirty="0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XXX</a:t>
                      </a:r>
                      <a:endParaRPr lang="en-US" altLang="zh-CN" sz="1755" b="0" i="0" u="none" strike="noStrike" dirty="0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755" b="0" i="0" u="none" strike="noStrike" dirty="0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XXX</a:t>
                      </a:r>
                      <a:endParaRPr lang="en-US" altLang="zh-CN" sz="1755" b="0" i="0" u="none" strike="noStrike" dirty="0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755" b="0" i="0" u="none" strike="noStrike" dirty="0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OK</a:t>
                      </a:r>
                      <a:endParaRPr lang="en-US" altLang="zh-CN" sz="1755" b="0" i="0" u="none" strike="noStrike" dirty="0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895">
                <a:tc>
                  <a:txBody>
                    <a:bodyPr/>
                    <a:p>
                      <a:pPr algn="ctr" fontAlgn="ctr"/>
                      <a:r>
                        <a:rPr lang="en-US" altLang="zh-CN" sz="1755" b="0" i="0" u="none" strike="noStrike" dirty="0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SR190002</a:t>
                      </a:r>
                      <a:endParaRPr lang="en-US" altLang="zh-CN" sz="1755" b="0" i="0" u="none" strike="noStrike" dirty="0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755" b="0" i="0" u="none" strike="noStrike" dirty="0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SC02</a:t>
                      </a:r>
                      <a:endParaRPr lang="en-US" altLang="zh-CN" sz="1755" b="0" i="0" u="none" strike="noStrike" dirty="0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755" b="0" i="0" u="none" strike="noStrike" dirty="0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转角</a:t>
                      </a:r>
                      <a:endParaRPr lang="zh-CN" altLang="en-US" sz="1755" b="0" i="0" u="none" strike="noStrike" dirty="0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755" b="0" i="0" u="none" strike="noStrike" dirty="0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XXX</a:t>
                      </a:r>
                      <a:endParaRPr lang="en-US" altLang="zh-CN" sz="1755" b="0" i="0" u="none" strike="noStrike" dirty="0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755" b="0" i="0" u="none" strike="noStrike" dirty="0">
                          <a:solidFill>
                            <a:schemeClr val="bg2"/>
                          </a:solidFill>
                          <a:latin typeface="宋体" pitchFamily="2" charset="-122"/>
                        </a:rPr>
                        <a:t>XXX</a:t>
                      </a:r>
                      <a:endParaRPr lang="en-US" altLang="zh-CN" sz="1755" b="0" i="0" u="none" strike="noStrike" dirty="0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endParaRPr lang="en-US" altLang="zh-CN" sz="1755" b="0" i="0" u="none" strike="noStrike" dirty="0">
                        <a:solidFill>
                          <a:schemeClr val="bg2"/>
                        </a:solidFill>
                        <a:latin typeface="宋体" pitchFamily="2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0399748" y="13812753"/>
            <a:ext cx="2730409" cy="4927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11497" tIns="111497" rIns="111497" bIns="111497" numCol="1" spcCol="38100" rtlCol="0" anchor="ctr">
            <a:spAutoFit/>
          </a:bodyPr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755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待确认异常处理信息</a:t>
            </a:r>
            <a:r>
              <a:rPr kumimoji="0" lang="zh-CN" altLang="en-US" sz="1755" b="1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Neue" panose="02000503000000020004"/>
              </a:rPr>
              <a:t>：</a:t>
            </a:r>
            <a:r>
              <a:rPr lang="en-US" altLang="zh-CN" sz="1755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kumimoji="0" lang="en-US" altLang="zh-CN" sz="1755" b="1" i="0" u="none" strike="noStrike" cap="none" spc="0" normalizeH="0" baseline="0" dirty="0">
              <a:ln>
                <a:noFill/>
              </a:ln>
              <a:solidFill>
                <a:schemeClr val="bg2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Neue" panose="02000503000000020004"/>
            </a:endParaRPr>
          </a:p>
        </p:txBody>
      </p:sp>
      <p:pic>
        <p:nvPicPr>
          <p:cNvPr id="34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894547" y="9366601"/>
            <a:ext cx="1129672" cy="450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" name="TextBox 37"/>
          <p:cNvSpPr txBox="1"/>
          <p:nvPr/>
        </p:nvSpPr>
        <p:spPr>
          <a:xfrm>
            <a:off x="20407518" y="13423808"/>
            <a:ext cx="2730409" cy="4927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11497" tIns="111497" rIns="111497" bIns="111497" numCol="1" spcCol="38100" rtlCol="0" anchor="ctr">
            <a:spAutoFit/>
          </a:bodyPr>
          <a:p>
            <a:pPr defTabSz="584200"/>
            <a:r>
              <a:rPr lang="zh-CN" altLang="en-US" sz="1755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待回复异常处理信息</a:t>
            </a:r>
            <a:r>
              <a:rPr kumimoji="0" lang="zh-CN" altLang="en-US" sz="1755" b="1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微软雅黑" pitchFamily="34" charset="-122"/>
                <a:ea typeface="微软雅黑" pitchFamily="34" charset="-122"/>
                <a:sym typeface="Helvetica Neue" panose="02000503000000020004"/>
              </a:rPr>
              <a:t>：</a:t>
            </a:r>
            <a:r>
              <a:rPr lang="en-US" altLang="zh-CN" sz="1755" dirty="0">
                <a:solidFill>
                  <a:schemeClr val="bg2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kumimoji="0" lang="en-US" altLang="zh-CN" sz="1755" b="1" i="0" u="none" strike="noStrike" cap="none" spc="0" normalizeH="0" baseline="0" dirty="0">
              <a:ln>
                <a:noFill/>
              </a:ln>
              <a:solidFill>
                <a:schemeClr val="bg2"/>
              </a:solidFill>
              <a:effectLst/>
              <a:uFillTx/>
              <a:latin typeface="微软雅黑" pitchFamily="34" charset="-122"/>
              <a:ea typeface="微软雅黑" pitchFamily="34" charset="-122"/>
              <a:sym typeface="Helvetica Neue" panose="02000503000000020004"/>
            </a:endParaRP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制造全流程可视</a:t>
            </a:r>
            <a:endParaRPr lang="zh-CN" altLang="en-US"/>
          </a:p>
        </p:txBody>
      </p:sp>
      <p:grpSp>
        <p:nvGrpSpPr>
          <p:cNvPr id="127" name="组合 126"/>
          <p:cNvGrpSpPr/>
          <p:nvPr/>
        </p:nvGrpSpPr>
        <p:grpSpPr>
          <a:xfrm>
            <a:off x="5450855" y="5586783"/>
            <a:ext cx="24221533" cy="9516349"/>
            <a:chOff x="910" y="2174"/>
            <a:chExt cx="17379" cy="6828"/>
          </a:xfrm>
        </p:grpSpPr>
        <p:grpSp>
          <p:nvGrpSpPr>
            <p:cNvPr id="123" name="组合 122"/>
            <p:cNvGrpSpPr/>
            <p:nvPr/>
          </p:nvGrpSpPr>
          <p:grpSpPr>
            <a:xfrm>
              <a:off x="910" y="2174"/>
              <a:ext cx="17379" cy="4205"/>
              <a:chOff x="910" y="2174"/>
              <a:chExt cx="17379" cy="6124"/>
            </a:xfrm>
          </p:grpSpPr>
          <p:cxnSp>
            <p:nvCxnSpPr>
              <p:cNvPr id="153" name="直接箭头连接符 152"/>
              <p:cNvCxnSpPr/>
              <p:nvPr/>
            </p:nvCxnSpPr>
            <p:spPr>
              <a:xfrm>
                <a:off x="1061" y="2900"/>
                <a:ext cx="2856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rgbClr val="FFFFFF"/>
                </a:solidFill>
                <a:prstDash val="solid"/>
                <a:miter lim="800000"/>
                <a:headEnd type="triangle"/>
                <a:tailEnd type="triangle"/>
              </a:ln>
              <a:effectLst/>
            </p:spPr>
          </p:cxnSp>
          <p:sp>
            <p:nvSpPr>
              <p:cNvPr id="154" name="文本框 153"/>
              <p:cNvSpPr txBox="1"/>
              <p:nvPr/>
            </p:nvSpPr>
            <p:spPr>
              <a:xfrm>
                <a:off x="1533" y="2305"/>
                <a:ext cx="2486" cy="5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635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</a:rPr>
                  <a:t>厂外材料供应</a:t>
                </a:r>
                <a:endParaRPr kumimoji="0" lang="zh-CN" altLang="en-US" sz="2635" b="1" i="0" u="none" strike="noStrike" kern="0" cap="none" spc="0" normalizeH="0" baseline="0" noProof="0" dirty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endParaRPr>
              </a:p>
            </p:txBody>
          </p:sp>
          <p:cxnSp>
            <p:nvCxnSpPr>
              <p:cNvPr id="155" name="直接箭头连接符 154"/>
              <p:cNvCxnSpPr/>
              <p:nvPr/>
            </p:nvCxnSpPr>
            <p:spPr>
              <a:xfrm>
                <a:off x="3917" y="2900"/>
                <a:ext cx="11129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rgbClr val="FFFFFF"/>
                </a:solidFill>
                <a:prstDash val="solid"/>
                <a:miter lim="800000"/>
                <a:headEnd type="triangle"/>
                <a:tailEnd type="triangle"/>
              </a:ln>
              <a:effectLst/>
            </p:spPr>
          </p:cxnSp>
          <p:sp>
            <p:nvSpPr>
              <p:cNvPr id="156" name="文本框 155"/>
              <p:cNvSpPr txBox="1"/>
              <p:nvPr/>
            </p:nvSpPr>
            <p:spPr>
              <a:xfrm>
                <a:off x="8159" y="2306"/>
                <a:ext cx="2796" cy="5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635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</a:rPr>
                  <a:t>厂内生产执行</a:t>
                </a:r>
                <a:endParaRPr kumimoji="0" lang="zh-CN" altLang="en-US" sz="2635" b="1" i="0" u="none" strike="noStrike" kern="0" cap="none" spc="0" normalizeH="0" baseline="0" noProof="0" dirty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endParaRPr>
              </a:p>
            </p:txBody>
          </p:sp>
          <p:cxnSp>
            <p:nvCxnSpPr>
              <p:cNvPr id="157" name="直接箭头连接符 156"/>
              <p:cNvCxnSpPr/>
              <p:nvPr/>
            </p:nvCxnSpPr>
            <p:spPr>
              <a:xfrm>
                <a:off x="15046" y="2900"/>
                <a:ext cx="3007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rgbClr val="FFFFFF"/>
                </a:solidFill>
                <a:prstDash val="solid"/>
                <a:miter lim="800000"/>
                <a:headEnd type="triangle"/>
                <a:tailEnd type="triangle"/>
              </a:ln>
              <a:effectLst/>
            </p:spPr>
          </p:cxnSp>
          <p:sp>
            <p:nvSpPr>
              <p:cNvPr id="164" name="文本框 163"/>
              <p:cNvSpPr txBox="1"/>
              <p:nvPr/>
            </p:nvSpPr>
            <p:spPr>
              <a:xfrm>
                <a:off x="15576" y="2331"/>
                <a:ext cx="2477" cy="5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635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</a:rPr>
                  <a:t>厂外成品发运</a:t>
                </a:r>
                <a:endParaRPr kumimoji="0" lang="zh-CN" altLang="en-US" sz="2635" b="1" i="0" u="none" strike="noStrike" kern="0" cap="none" spc="0" normalizeH="0" baseline="0" noProof="0" dirty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endParaRPr>
              </a:p>
            </p:txBody>
          </p:sp>
          <p:cxnSp>
            <p:nvCxnSpPr>
              <p:cNvPr id="175" name="直接连接符 174"/>
              <p:cNvCxnSpPr/>
              <p:nvPr/>
            </p:nvCxnSpPr>
            <p:spPr>
              <a:xfrm>
                <a:off x="3882" y="2566"/>
                <a:ext cx="35" cy="5589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75000"/>
                  </a:srgbClr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176" name="直接连接符 175"/>
              <p:cNvCxnSpPr/>
              <p:nvPr/>
            </p:nvCxnSpPr>
            <p:spPr>
              <a:xfrm flipH="1">
                <a:off x="910" y="2629"/>
                <a:ext cx="5" cy="5526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75000"/>
                  </a:srgbClr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177" name="直接连接符 176"/>
              <p:cNvCxnSpPr/>
              <p:nvPr/>
            </p:nvCxnSpPr>
            <p:spPr>
              <a:xfrm flipH="1">
                <a:off x="15046" y="2646"/>
                <a:ext cx="75" cy="5652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75000"/>
                  </a:srgbClr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178" name="直接连接符 177"/>
              <p:cNvCxnSpPr/>
              <p:nvPr/>
            </p:nvCxnSpPr>
            <p:spPr>
              <a:xfrm flipH="1">
                <a:off x="18201" y="2743"/>
                <a:ext cx="88" cy="5555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>
                    <a:lumMod val="75000"/>
                  </a:srgbClr>
                </a:solidFill>
                <a:prstDash val="sysDot"/>
                <a:miter lim="800000"/>
              </a:ln>
              <a:effectLst/>
            </p:spPr>
          </p:cxnSp>
          <p:sp>
            <p:nvSpPr>
              <p:cNvPr id="151" name="矩形 150"/>
              <p:cNvSpPr/>
              <p:nvPr/>
            </p:nvSpPr>
            <p:spPr>
              <a:xfrm>
                <a:off x="1440" y="5354"/>
                <a:ext cx="1751" cy="467"/>
              </a:xfrm>
              <a:prstGeom prst="rect">
                <a:avLst/>
              </a:prstGeom>
              <a:solidFill>
                <a:srgbClr val="004EA2">
                  <a:lumMod val="60000"/>
                  <a:lumOff val="40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 anchorCtr="0"/>
              <a:lstStyle/>
              <a:p>
                <a:pPr algn="ctr" fontAlgn="ctr"/>
                <a:r>
                  <a:rPr lang="zh-CN" altLang="en-US" sz="263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供应商工厂</a:t>
                </a:r>
                <a:endParaRPr lang="zh-CN" altLang="en-US" sz="2635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52" name="矩形 151"/>
              <p:cNvSpPr/>
              <p:nvPr/>
            </p:nvSpPr>
            <p:spPr>
              <a:xfrm>
                <a:off x="1432" y="6901"/>
                <a:ext cx="1743" cy="456"/>
              </a:xfrm>
              <a:prstGeom prst="rect">
                <a:avLst/>
              </a:prstGeom>
              <a:solidFill>
                <a:srgbClr val="004EA2">
                  <a:lumMod val="60000"/>
                  <a:lumOff val="40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 anchorCtr="0"/>
              <a:lstStyle/>
              <a:p>
                <a:pPr algn="ctr" fontAlgn="ctr"/>
                <a:r>
                  <a:rPr lang="zh-CN" altLang="en-US" sz="263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第三方仓库</a:t>
                </a:r>
                <a:endParaRPr lang="zh-CN" altLang="en-US" sz="2635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72" name="文本框 171"/>
              <p:cNvSpPr txBox="1"/>
              <p:nvPr/>
            </p:nvSpPr>
            <p:spPr>
              <a:xfrm>
                <a:off x="1610" y="4779"/>
                <a:ext cx="1444" cy="5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635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</a:rPr>
                  <a:t>供应商</a:t>
                </a:r>
                <a:endParaRPr kumimoji="0" lang="zh-CN" altLang="en-US" sz="2635" b="0" i="0" u="none" strike="noStrike" kern="0" cap="none" spc="0" normalizeH="0" baseline="0" noProof="0" dirty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73" name="矩形 172"/>
              <p:cNvSpPr/>
              <p:nvPr/>
            </p:nvSpPr>
            <p:spPr>
              <a:xfrm>
                <a:off x="1440" y="6131"/>
                <a:ext cx="1743" cy="467"/>
              </a:xfrm>
              <a:prstGeom prst="rect">
                <a:avLst/>
              </a:prstGeom>
              <a:solidFill>
                <a:srgbClr val="004EA2">
                  <a:lumMod val="60000"/>
                  <a:lumOff val="40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 anchorCtr="0"/>
              <a:lstStyle/>
              <a:p>
                <a:pPr algn="ctr" fontAlgn="ctr"/>
                <a:r>
                  <a:rPr lang="zh-CN" altLang="en-US" sz="263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加工厂仓库</a:t>
                </a:r>
                <a:endParaRPr lang="zh-CN" altLang="en-US" sz="2635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79" name="文本框 178"/>
              <p:cNvSpPr txBox="1"/>
              <p:nvPr/>
            </p:nvSpPr>
            <p:spPr>
              <a:xfrm>
                <a:off x="15276" y="3539"/>
                <a:ext cx="1610" cy="5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algn="ctr" defTabSz="6858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800" b="0" i="0" u="none" strike="noStrike" kern="0" cap="none" spc="0" normalizeH="0" baseline="0">
                    <a:ln>
                      <a:noFill/>
                    </a:ln>
                    <a:effectLst/>
                    <a:uLnTx/>
                    <a:uFillTx/>
                    <a:latin typeface="DengXian"/>
                    <a:ea typeface="DengXian" panose="02010600030101010101" pitchFamily="2" charset="-122"/>
                  </a:defRPr>
                </a:lvl1pPr>
              </a:lstStyle>
              <a:p>
                <a:r>
                  <a:rPr lang="zh-CN" altLang="en-US" sz="263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装车发运</a:t>
                </a:r>
                <a:endParaRPr lang="zh-CN" altLang="en-US" sz="2635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09" name="矩形 208"/>
              <p:cNvSpPr/>
              <p:nvPr/>
            </p:nvSpPr>
            <p:spPr>
              <a:xfrm>
                <a:off x="15046" y="6991"/>
                <a:ext cx="2487" cy="5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defTabSz="685800"/>
                <a:r>
                  <a:rPr lang="zh-CN" altLang="en-US" sz="2635" kern="0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厂外容器回收</a:t>
                </a:r>
                <a:endParaRPr lang="zh-CN" altLang="en-US" sz="2635" kern="0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11" name="箭头: 右 210"/>
              <p:cNvSpPr/>
              <p:nvPr/>
            </p:nvSpPr>
            <p:spPr>
              <a:xfrm rot="10800000">
                <a:off x="15121" y="6354"/>
                <a:ext cx="1624" cy="547"/>
              </a:xfrm>
              <a:prstGeom prst="rightArrow">
                <a:avLst/>
              </a:prstGeom>
              <a:solidFill>
                <a:srgbClr val="FFFFFF">
                  <a:lumMod val="8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685800"/>
                <a:endParaRPr lang="zh-CN" altLang="en-US" sz="2635" kern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12" name="矩形 211"/>
              <p:cNvSpPr/>
              <p:nvPr/>
            </p:nvSpPr>
            <p:spPr>
              <a:xfrm>
                <a:off x="17069" y="4156"/>
                <a:ext cx="684" cy="3444"/>
              </a:xfrm>
              <a:prstGeom prst="rect">
                <a:avLst/>
              </a:prstGeom>
              <a:solidFill>
                <a:srgbClr val="004EA2">
                  <a:lumMod val="60000"/>
                  <a:lumOff val="40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 anchorCtr="0"/>
              <a:lstStyle/>
              <a:p>
                <a:pPr algn="ctr" fontAlgn="ctr"/>
                <a:r>
                  <a:rPr lang="zh-CN" altLang="en-US" sz="263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成品运输</a:t>
                </a:r>
                <a:endParaRPr lang="zh-CN" altLang="en-US" sz="2635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13" name="矩形 212"/>
              <p:cNvSpPr/>
              <p:nvPr/>
            </p:nvSpPr>
            <p:spPr>
              <a:xfrm>
                <a:off x="15702" y="4154"/>
                <a:ext cx="1043" cy="440"/>
              </a:xfrm>
              <a:prstGeom prst="rect">
                <a:avLst/>
              </a:prstGeom>
              <a:solidFill>
                <a:srgbClr val="004EA2">
                  <a:lumMod val="60000"/>
                  <a:lumOff val="40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 anchorCtr="0"/>
              <a:lstStyle/>
              <a:p>
                <a:pPr algn="ctr" fontAlgn="ctr"/>
                <a:r>
                  <a:rPr lang="en-US" altLang="zh-CN" sz="263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3PL</a:t>
                </a:r>
                <a:endParaRPr lang="en-US" altLang="zh-CN" sz="2635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14" name="箭头: 右 213"/>
              <p:cNvSpPr/>
              <p:nvPr/>
            </p:nvSpPr>
            <p:spPr>
              <a:xfrm>
                <a:off x="14950" y="4154"/>
                <a:ext cx="729" cy="535"/>
              </a:xfrm>
              <a:prstGeom prst="rightArrow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685800"/>
                <a:endParaRPr lang="zh-CN" altLang="en-US" sz="2635" kern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21" name="文本框 220"/>
              <p:cNvSpPr txBox="1"/>
              <p:nvPr/>
            </p:nvSpPr>
            <p:spPr>
              <a:xfrm>
                <a:off x="3191" y="3539"/>
                <a:ext cx="1188" cy="5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algn="ctr" defTabSz="6858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800" b="0" i="0" u="none" strike="noStrike" kern="0" cap="none" spc="0" normalizeH="0" baseline="0">
                    <a:ln>
                      <a:noFill/>
                    </a:ln>
                    <a:effectLst/>
                    <a:uLnTx/>
                    <a:uFillTx/>
                    <a:latin typeface="DengXian"/>
                    <a:ea typeface="DengXian" panose="02010600030101010101" pitchFamily="2" charset="-122"/>
                  </a:defRPr>
                </a:lvl1pPr>
              </a:lstStyle>
              <a:p>
                <a:r>
                  <a:rPr lang="zh-CN" altLang="en-US" sz="263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收货</a:t>
                </a:r>
                <a:endParaRPr lang="zh-CN" altLang="en-US" sz="2635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22" name="文本框 221"/>
              <p:cNvSpPr txBox="1"/>
              <p:nvPr/>
            </p:nvSpPr>
            <p:spPr>
              <a:xfrm>
                <a:off x="11054" y="3539"/>
                <a:ext cx="1814" cy="5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algn="ctr" defTabSz="6858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800" b="0" i="0" u="none" strike="noStrike" kern="0" cap="none" spc="0" normalizeH="0" baseline="0">
                    <a:ln>
                      <a:noFill/>
                    </a:ln>
                    <a:effectLst/>
                    <a:uLnTx/>
                    <a:uFillTx/>
                    <a:latin typeface="DengXian"/>
                    <a:ea typeface="DengXian" panose="02010600030101010101" pitchFamily="2" charset="-122"/>
                  </a:defRPr>
                </a:lvl1pPr>
              </a:lstStyle>
              <a:p>
                <a:r>
                  <a:rPr lang="zh-CN" altLang="en-US" sz="263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车间转运</a:t>
                </a:r>
                <a:endParaRPr lang="zh-CN" altLang="en-US" sz="2635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23" name="箭头: 右 222"/>
              <p:cNvSpPr/>
              <p:nvPr/>
            </p:nvSpPr>
            <p:spPr>
              <a:xfrm>
                <a:off x="3632" y="5939"/>
                <a:ext cx="866" cy="549"/>
              </a:xfrm>
              <a:prstGeom prst="rightArrow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635" b="0" i="0" u="none" strike="noStrike" kern="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24" name="矩形 223"/>
              <p:cNvSpPr/>
              <p:nvPr/>
            </p:nvSpPr>
            <p:spPr>
              <a:xfrm>
                <a:off x="4484" y="4023"/>
                <a:ext cx="683" cy="2574"/>
              </a:xfrm>
              <a:prstGeom prst="rect">
                <a:avLst/>
              </a:prstGeom>
              <a:solidFill>
                <a:srgbClr val="FFFFFF">
                  <a:lumMod val="85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 anchorCtr="0"/>
              <a:lstStyle/>
              <a:p>
                <a:pPr algn="ctr" fontAlgn="ctr"/>
                <a:r>
                  <a:rPr lang="zh-CN" altLang="en-US" sz="2635" dirty="0">
                    <a:solidFill>
                      <a:srgbClr val="000000"/>
                    </a:solidFill>
                    <a:latin typeface="微软雅黑" pitchFamily="34" charset="-122"/>
                    <a:ea typeface="微软雅黑" pitchFamily="34" charset="-122"/>
                  </a:rPr>
                  <a:t>材料仓</a:t>
                </a:r>
                <a:endParaRPr lang="zh-CN" altLang="en-US" sz="2635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26" name="矩形 225"/>
              <p:cNvSpPr/>
              <p:nvPr/>
            </p:nvSpPr>
            <p:spPr>
              <a:xfrm>
                <a:off x="8175" y="5536"/>
                <a:ext cx="694" cy="2090"/>
              </a:xfrm>
              <a:prstGeom prst="rect">
                <a:avLst/>
              </a:prstGeom>
              <a:solidFill>
                <a:srgbClr val="FFFFFF">
                  <a:lumMod val="85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 anchorCtr="0"/>
              <a:lstStyle/>
              <a:p>
                <a:pPr algn="ctr" fontAlgn="ctr"/>
                <a:r>
                  <a:rPr lang="zh-CN" altLang="en-US" sz="2195" dirty="0">
                    <a:solidFill>
                      <a:srgbClr val="000000"/>
                    </a:solidFill>
                    <a:latin typeface="微软雅黑" pitchFamily="34" charset="-122"/>
                    <a:ea typeface="微软雅黑" pitchFamily="34" charset="-122"/>
                  </a:rPr>
                  <a:t>板卡成品仓</a:t>
                </a:r>
                <a:endParaRPr lang="zh-CN" altLang="en-US" sz="2195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27" name="矩形 226"/>
              <p:cNvSpPr/>
              <p:nvPr/>
            </p:nvSpPr>
            <p:spPr>
              <a:xfrm>
                <a:off x="10719" y="4023"/>
                <a:ext cx="2486" cy="546"/>
              </a:xfrm>
              <a:prstGeom prst="rect">
                <a:avLst/>
              </a:prstGeom>
              <a:solidFill>
                <a:srgbClr val="004EA2">
                  <a:lumMod val="60000"/>
                  <a:lumOff val="40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 anchorCtr="0"/>
              <a:lstStyle/>
              <a:p>
                <a:pPr algn="ctr" fontAlgn="ctr"/>
                <a:r>
                  <a:rPr lang="zh-CN" altLang="en-US" sz="263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模组加工</a:t>
                </a:r>
                <a:endParaRPr lang="zh-CN" altLang="en-US" sz="2635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28" name="矩形 227"/>
              <p:cNvSpPr/>
              <p:nvPr/>
            </p:nvSpPr>
            <p:spPr>
              <a:xfrm>
                <a:off x="10723" y="4779"/>
                <a:ext cx="2486" cy="534"/>
              </a:xfrm>
              <a:prstGeom prst="rect">
                <a:avLst/>
              </a:prstGeom>
              <a:solidFill>
                <a:srgbClr val="004EA2">
                  <a:lumMod val="60000"/>
                  <a:lumOff val="40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 anchorCtr="0"/>
              <a:lstStyle/>
              <a:p>
                <a:pPr algn="ctr" fontAlgn="ctr"/>
                <a:r>
                  <a:rPr lang="zh-CN" altLang="en-US" sz="263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组装</a:t>
                </a:r>
                <a:endParaRPr lang="zh-CN" altLang="en-US" sz="2635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29" name="矩形 228"/>
              <p:cNvSpPr/>
              <p:nvPr/>
            </p:nvSpPr>
            <p:spPr>
              <a:xfrm>
                <a:off x="10719" y="5536"/>
                <a:ext cx="2486" cy="534"/>
              </a:xfrm>
              <a:prstGeom prst="rect">
                <a:avLst/>
              </a:prstGeom>
              <a:solidFill>
                <a:srgbClr val="004EA2">
                  <a:lumMod val="60000"/>
                  <a:lumOff val="40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 anchorCtr="0"/>
              <a:lstStyle/>
              <a:p>
                <a:pPr algn="ctr" fontAlgn="ctr"/>
                <a:r>
                  <a:rPr lang="zh-CN" altLang="en-US" sz="263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整机老化</a:t>
                </a:r>
                <a:endParaRPr lang="zh-CN" altLang="en-US" sz="2635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30" name="矩形 229"/>
              <p:cNvSpPr/>
              <p:nvPr/>
            </p:nvSpPr>
            <p:spPr>
              <a:xfrm>
                <a:off x="10723" y="6318"/>
                <a:ext cx="2486" cy="533"/>
              </a:xfrm>
              <a:prstGeom prst="rect">
                <a:avLst/>
              </a:prstGeom>
              <a:solidFill>
                <a:srgbClr val="004EA2">
                  <a:lumMod val="60000"/>
                  <a:lumOff val="40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 anchorCtr="0"/>
              <a:lstStyle/>
              <a:p>
                <a:pPr algn="ctr" fontAlgn="ctr"/>
                <a:r>
                  <a:rPr lang="zh-CN" altLang="en-US" sz="263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整机测试</a:t>
                </a:r>
                <a:endParaRPr lang="zh-CN" altLang="en-US" sz="2635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31" name="矩形 230"/>
              <p:cNvSpPr/>
              <p:nvPr/>
            </p:nvSpPr>
            <p:spPr>
              <a:xfrm>
                <a:off x="10723" y="7079"/>
                <a:ext cx="2486" cy="547"/>
              </a:xfrm>
              <a:prstGeom prst="rect">
                <a:avLst/>
              </a:prstGeom>
              <a:solidFill>
                <a:srgbClr val="004EA2">
                  <a:lumMod val="60000"/>
                  <a:lumOff val="40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 anchorCtr="0"/>
              <a:lstStyle/>
              <a:p>
                <a:pPr algn="ctr" fontAlgn="ctr"/>
                <a:r>
                  <a:rPr lang="zh-CN" altLang="en-US" sz="263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整机包装</a:t>
                </a:r>
                <a:endParaRPr lang="zh-CN" altLang="en-US" sz="2635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32" name="矩形 231"/>
              <p:cNvSpPr/>
              <p:nvPr/>
            </p:nvSpPr>
            <p:spPr>
              <a:xfrm>
                <a:off x="9436" y="4779"/>
                <a:ext cx="683" cy="2821"/>
              </a:xfrm>
              <a:prstGeom prst="rect">
                <a:avLst/>
              </a:prstGeom>
              <a:solidFill>
                <a:srgbClr val="FFC00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 anchorCtr="0"/>
              <a:lstStyle/>
              <a:p>
                <a:pPr algn="ctr" fontAlgn="ctr"/>
                <a:r>
                  <a:rPr lang="zh-CN" altLang="en-US" sz="263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线边缓存区</a:t>
                </a:r>
                <a:endParaRPr lang="zh-CN" altLang="en-US" sz="2635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33" name="矩形 232"/>
              <p:cNvSpPr/>
              <p:nvPr/>
            </p:nvSpPr>
            <p:spPr>
              <a:xfrm>
                <a:off x="14095" y="4154"/>
                <a:ext cx="684" cy="3461"/>
              </a:xfrm>
              <a:prstGeom prst="rect">
                <a:avLst/>
              </a:prstGeom>
              <a:solidFill>
                <a:srgbClr val="FFFFFF">
                  <a:lumMod val="85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 anchorCtr="0"/>
              <a:lstStyle/>
              <a:p>
                <a:pPr algn="ctr" fontAlgn="ctr"/>
                <a:r>
                  <a:rPr lang="zh-CN" altLang="en-US" sz="2195" dirty="0">
                    <a:solidFill>
                      <a:srgbClr val="000000"/>
                    </a:solidFill>
                    <a:latin typeface="微软雅黑" pitchFamily="34" charset="-122"/>
                    <a:ea typeface="微软雅黑" pitchFamily="34" charset="-122"/>
                  </a:rPr>
                  <a:t>整机成品仓</a:t>
                </a:r>
                <a:endParaRPr lang="zh-CN" altLang="en-US" sz="2195" dirty="0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34" name="箭头: 右 233"/>
              <p:cNvSpPr/>
              <p:nvPr/>
            </p:nvSpPr>
            <p:spPr>
              <a:xfrm>
                <a:off x="13536" y="7090"/>
                <a:ext cx="559" cy="534"/>
              </a:xfrm>
              <a:prstGeom prst="rightArrow">
                <a:avLst/>
              </a:prstGeom>
              <a:solidFill>
                <a:srgbClr val="FFFFFF">
                  <a:lumMod val="8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685800"/>
                <a:endParaRPr lang="zh-CN" altLang="en-US" sz="2635" kern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35" name="箭头: 右弧形 234"/>
              <p:cNvSpPr/>
              <p:nvPr/>
            </p:nvSpPr>
            <p:spPr>
              <a:xfrm>
                <a:off x="13428" y="4555"/>
                <a:ext cx="264" cy="298"/>
              </a:xfrm>
              <a:prstGeom prst="curvedLeftArrow">
                <a:avLst/>
              </a:prstGeom>
              <a:solidFill>
                <a:srgbClr val="004EA2">
                  <a:lumMod val="60000"/>
                  <a:lumOff val="4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685800"/>
                <a:endParaRPr lang="zh-CN" altLang="en-US" sz="2635" kern="0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39" name="矩形 238"/>
              <p:cNvSpPr/>
              <p:nvPr/>
            </p:nvSpPr>
            <p:spPr>
              <a:xfrm>
                <a:off x="5849" y="6647"/>
                <a:ext cx="1045" cy="482"/>
              </a:xfrm>
              <a:prstGeom prst="rect">
                <a:avLst/>
              </a:prstGeom>
              <a:solidFill>
                <a:srgbClr val="004EA2">
                  <a:lumMod val="60000"/>
                  <a:lumOff val="40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 anchorCtr="0"/>
              <a:lstStyle/>
              <a:p>
                <a:pPr algn="ctr" fontAlgn="ctr"/>
                <a:r>
                  <a:rPr lang="en-US" altLang="zh-CN" sz="219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SMT</a:t>
                </a:r>
                <a:endParaRPr lang="en-US" altLang="zh-CN" sz="2195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41" name="文本框 240"/>
              <p:cNvSpPr txBox="1"/>
              <p:nvPr/>
            </p:nvSpPr>
            <p:spPr>
              <a:xfrm>
                <a:off x="3361" y="5592"/>
                <a:ext cx="1137" cy="5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algn="ctr" defTabSz="6858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800" b="0" i="0" u="none" strike="noStrike" kern="0" cap="none" spc="0" normalizeH="0" baseline="0">
                    <a:ln>
                      <a:noFill/>
                    </a:ln>
                    <a:effectLst/>
                    <a:uLnTx/>
                    <a:uFillTx/>
                    <a:latin typeface="DengXian"/>
                    <a:ea typeface="DengXian" panose="02010600030101010101" pitchFamily="2" charset="-122"/>
                  </a:defRPr>
                </a:lvl1pPr>
              </a:lstStyle>
              <a:p>
                <a:r>
                  <a:rPr lang="zh-CN" altLang="en-US" sz="263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入厂</a:t>
                </a:r>
                <a:endParaRPr lang="zh-CN" altLang="en-US" sz="2635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42" name="箭头: 右 241"/>
              <p:cNvSpPr/>
              <p:nvPr/>
            </p:nvSpPr>
            <p:spPr>
              <a:xfrm>
                <a:off x="5350" y="4779"/>
                <a:ext cx="3711" cy="278"/>
              </a:xfrm>
              <a:prstGeom prst="rightArrow">
                <a:avLst/>
              </a:prstGeom>
              <a:solidFill>
                <a:srgbClr val="FFFFFF">
                  <a:lumMod val="8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685800"/>
                <a:endParaRPr lang="zh-CN" altLang="en-US" sz="2635" kern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47" name="矩形 246"/>
              <p:cNvSpPr/>
              <p:nvPr/>
            </p:nvSpPr>
            <p:spPr>
              <a:xfrm>
                <a:off x="6176" y="5536"/>
                <a:ext cx="1377" cy="595"/>
              </a:xfrm>
              <a:prstGeom prst="rect">
                <a:avLst/>
              </a:prstGeom>
              <a:solidFill>
                <a:srgbClr val="004EA2">
                  <a:lumMod val="60000"/>
                  <a:lumOff val="40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 anchorCtr="0"/>
              <a:lstStyle/>
              <a:p>
                <a:pPr algn="ctr" fontAlgn="ctr"/>
                <a:r>
                  <a:rPr lang="en-US" altLang="zh-CN" sz="175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DIP/</a:t>
                </a:r>
                <a:r>
                  <a:rPr lang="zh-CN" altLang="en-US" sz="175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测试</a:t>
                </a:r>
                <a:r>
                  <a:rPr lang="en-US" altLang="zh-CN" sz="175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/</a:t>
                </a:r>
                <a:r>
                  <a:rPr lang="zh-CN" altLang="en-US" sz="175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包装</a:t>
                </a:r>
                <a:endParaRPr lang="zh-CN" altLang="en-US" sz="1755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79" name="箭头: 右 278"/>
              <p:cNvSpPr/>
              <p:nvPr/>
            </p:nvSpPr>
            <p:spPr>
              <a:xfrm>
                <a:off x="5308" y="5523"/>
                <a:ext cx="866" cy="280"/>
              </a:xfrm>
              <a:prstGeom prst="rightArrow">
                <a:avLst/>
              </a:prstGeom>
              <a:solidFill>
                <a:srgbClr val="FFFFFF">
                  <a:lumMod val="8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685800"/>
                <a:endParaRPr lang="zh-CN" altLang="en-US" sz="2635" kern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cxnSp>
            <p:nvCxnSpPr>
              <p:cNvPr id="15" name="肘形连接符 14"/>
              <p:cNvCxnSpPr>
                <a:stCxn id="152" idx="3"/>
                <a:endCxn id="223" idx="1"/>
              </p:cNvCxnSpPr>
              <p:nvPr/>
            </p:nvCxnSpPr>
            <p:spPr>
              <a:xfrm flipV="1">
                <a:off x="3175" y="6214"/>
                <a:ext cx="457" cy="915"/>
              </a:xfrm>
              <a:prstGeom prst="bentConnector3">
                <a:avLst>
                  <a:gd name="adj1" fmla="val 50145"/>
                </a:avLst>
              </a:prstGeom>
              <a:noFill/>
              <a:ln w="6350" cap="flat" cmpd="sng" algn="ctr">
                <a:solidFill>
                  <a:srgbClr val="72717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3" name="肘形连接符 2"/>
              <p:cNvCxnSpPr>
                <a:stCxn id="173" idx="3"/>
                <a:endCxn id="223" idx="1"/>
              </p:cNvCxnSpPr>
              <p:nvPr/>
            </p:nvCxnSpPr>
            <p:spPr>
              <a:xfrm flipV="1">
                <a:off x="3183" y="6214"/>
                <a:ext cx="449" cy="151"/>
              </a:xfrm>
              <a:prstGeom prst="bentConnector3">
                <a:avLst>
                  <a:gd name="adj1" fmla="val 50147"/>
                </a:avLst>
              </a:prstGeom>
              <a:noFill/>
              <a:ln w="6350" cap="flat" cmpd="sng" algn="ctr">
                <a:solidFill>
                  <a:srgbClr val="727171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5" name="肘形连接符 4"/>
              <p:cNvCxnSpPr>
                <a:stCxn id="151" idx="3"/>
                <a:endCxn id="223" idx="1"/>
              </p:cNvCxnSpPr>
              <p:nvPr/>
            </p:nvCxnSpPr>
            <p:spPr>
              <a:xfrm>
                <a:off x="3191" y="5589"/>
                <a:ext cx="441" cy="625"/>
              </a:xfrm>
              <a:prstGeom prst="bentConnector3">
                <a:avLst>
                  <a:gd name="adj1" fmla="val 50150"/>
                </a:avLst>
              </a:prstGeom>
              <a:noFill/>
              <a:ln w="6350" cap="flat" cmpd="sng" algn="ctr">
                <a:solidFill>
                  <a:srgbClr val="727171"/>
                </a:solidFill>
                <a:prstDash val="solid"/>
                <a:miter lim="800000"/>
              </a:ln>
              <a:effectLst/>
            </p:spPr>
          </p:cxnSp>
          <p:sp>
            <p:nvSpPr>
              <p:cNvPr id="6" name="箭头: 右弧形 234"/>
              <p:cNvSpPr/>
              <p:nvPr/>
            </p:nvSpPr>
            <p:spPr>
              <a:xfrm>
                <a:off x="13428" y="5313"/>
                <a:ext cx="264" cy="298"/>
              </a:xfrm>
              <a:prstGeom prst="curvedLeftArrow">
                <a:avLst/>
              </a:prstGeom>
              <a:solidFill>
                <a:srgbClr val="004EA2">
                  <a:lumMod val="60000"/>
                  <a:lumOff val="4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algn="ctr" defTabSz="685800"/>
                <a:endParaRPr lang="zh-CN" altLang="en-US" sz="2635" kern="0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7" name="箭头: 右弧形 234"/>
              <p:cNvSpPr/>
              <p:nvPr/>
            </p:nvSpPr>
            <p:spPr>
              <a:xfrm>
                <a:off x="13428" y="6106"/>
                <a:ext cx="264" cy="298"/>
              </a:xfrm>
              <a:prstGeom prst="curvedLeftArrow">
                <a:avLst/>
              </a:prstGeom>
              <a:solidFill>
                <a:srgbClr val="004EA2">
                  <a:lumMod val="60000"/>
                  <a:lumOff val="4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algn="ctr" defTabSz="685800"/>
                <a:endParaRPr lang="zh-CN" altLang="en-US" sz="2635" kern="0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8" name="箭头: 右弧形 234"/>
              <p:cNvSpPr/>
              <p:nvPr/>
            </p:nvSpPr>
            <p:spPr>
              <a:xfrm>
                <a:off x="13428" y="6781"/>
                <a:ext cx="264" cy="298"/>
              </a:xfrm>
              <a:prstGeom prst="curvedLeftArrow">
                <a:avLst/>
              </a:prstGeom>
              <a:solidFill>
                <a:srgbClr val="004EA2">
                  <a:lumMod val="60000"/>
                  <a:lumOff val="4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algn="ctr" defTabSz="685800"/>
                <a:endParaRPr lang="zh-CN" altLang="en-US" sz="2635" kern="0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" name="箭头: 右 241"/>
              <p:cNvSpPr/>
              <p:nvPr/>
            </p:nvSpPr>
            <p:spPr>
              <a:xfrm>
                <a:off x="5350" y="4193"/>
                <a:ext cx="4991" cy="278"/>
              </a:xfrm>
              <a:prstGeom prst="rightArrow">
                <a:avLst/>
              </a:prstGeom>
              <a:solidFill>
                <a:srgbClr val="FFFFFF">
                  <a:lumMod val="8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algn="ctr" defTabSz="685800"/>
                <a:endParaRPr lang="zh-CN" altLang="en-US" sz="2635" kern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" name="箭头: 右 242"/>
              <p:cNvSpPr/>
              <p:nvPr/>
            </p:nvSpPr>
            <p:spPr>
              <a:xfrm>
                <a:off x="7634" y="5542"/>
                <a:ext cx="541" cy="279"/>
              </a:xfrm>
              <a:prstGeom prst="rightArrow">
                <a:avLst/>
              </a:prstGeom>
              <a:solidFill>
                <a:srgbClr val="FFFFFF">
                  <a:lumMod val="8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algn="ctr" defTabSz="685800"/>
                <a:endParaRPr lang="zh-CN" altLang="en-US" sz="2635" kern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2" name="箭头: 右 242"/>
              <p:cNvSpPr/>
              <p:nvPr/>
            </p:nvSpPr>
            <p:spPr>
              <a:xfrm>
                <a:off x="8951" y="5536"/>
                <a:ext cx="459" cy="279"/>
              </a:xfrm>
              <a:prstGeom prst="rightArrow">
                <a:avLst/>
              </a:prstGeom>
              <a:solidFill>
                <a:srgbClr val="FFFFFF">
                  <a:lumMod val="8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algn="ctr" defTabSz="685800"/>
                <a:endParaRPr lang="zh-CN" altLang="en-US" sz="2635" kern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1" name="箭头: 右 242"/>
              <p:cNvSpPr/>
              <p:nvPr/>
            </p:nvSpPr>
            <p:spPr>
              <a:xfrm>
                <a:off x="6595" y="6225"/>
                <a:ext cx="541" cy="279"/>
              </a:xfrm>
              <a:prstGeom prst="rightArrow">
                <a:avLst/>
              </a:prstGeom>
              <a:solidFill>
                <a:srgbClr val="FFFFFF">
                  <a:lumMod val="8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algn="ctr" defTabSz="685800"/>
                <a:endParaRPr lang="zh-CN" altLang="en-US" sz="2635" kern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2" name="箭头: 右 242"/>
              <p:cNvSpPr/>
              <p:nvPr/>
            </p:nvSpPr>
            <p:spPr>
              <a:xfrm>
                <a:off x="5308" y="6647"/>
                <a:ext cx="541" cy="279"/>
              </a:xfrm>
              <a:prstGeom prst="rightArrow">
                <a:avLst/>
              </a:prstGeom>
              <a:solidFill>
                <a:srgbClr val="FFFFFF">
                  <a:lumMod val="8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algn="ctr" defTabSz="685800"/>
                <a:endParaRPr lang="zh-CN" altLang="en-US" sz="2635" kern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7267" y="4975"/>
                <a:ext cx="1045" cy="5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algn="ctr" defTabSz="6858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800" b="0" i="0" u="none" strike="noStrike" kern="0" cap="none" spc="0" normalizeH="0" baseline="0">
                    <a:ln>
                      <a:noFill/>
                    </a:ln>
                    <a:effectLst/>
                    <a:uLnTx/>
                    <a:uFillTx/>
                    <a:latin typeface="DengXian"/>
                    <a:ea typeface="DengXian" panose="02010600030101010101" pitchFamily="2" charset="-122"/>
                  </a:defRPr>
                </a:lvl1pPr>
              </a:lstStyle>
              <a:p>
                <a:r>
                  <a:rPr lang="zh-CN" altLang="en-US" sz="263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出库</a:t>
                </a:r>
                <a:endParaRPr lang="zh-CN" altLang="en-US" sz="2635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7267" y="4370"/>
                <a:ext cx="1045" cy="5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algn="ctr" defTabSz="6858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800" b="0" i="0" u="none" strike="noStrike" kern="0" cap="none" spc="0" normalizeH="0" baseline="0">
                    <a:ln>
                      <a:noFill/>
                    </a:ln>
                    <a:effectLst/>
                    <a:uLnTx/>
                    <a:uFillTx/>
                    <a:latin typeface="DengXian"/>
                    <a:ea typeface="DengXian" panose="02010600030101010101" pitchFamily="2" charset="-122"/>
                  </a:defRPr>
                </a:lvl1pPr>
              </a:lstStyle>
              <a:p>
                <a:r>
                  <a:rPr lang="zh-CN" altLang="en-US" sz="263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出库</a:t>
                </a:r>
                <a:endParaRPr lang="zh-CN" altLang="en-US" sz="2635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5057" y="6926"/>
                <a:ext cx="1044" cy="5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algn="ctr" defTabSz="6858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800" b="0" i="0" u="none" strike="noStrike" kern="0" cap="none" spc="0" normalizeH="0" baseline="0">
                    <a:ln>
                      <a:noFill/>
                    </a:ln>
                    <a:effectLst/>
                    <a:uLnTx/>
                    <a:uFillTx/>
                    <a:latin typeface="DengXian"/>
                    <a:ea typeface="DengXian" panose="02010600030101010101" pitchFamily="2" charset="-122"/>
                  </a:defRPr>
                </a:lvl1pPr>
              </a:lstStyle>
              <a:p>
                <a:r>
                  <a:rPr lang="zh-CN" altLang="en-US" sz="263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出库</a:t>
                </a:r>
                <a:endParaRPr lang="zh-CN" altLang="en-US" sz="2635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5179" y="5821"/>
                <a:ext cx="1044" cy="5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algn="ctr" defTabSz="6858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800" b="0" i="0" u="none" strike="noStrike" kern="0" cap="none" spc="0" normalizeH="0" baseline="0">
                    <a:ln>
                      <a:noFill/>
                    </a:ln>
                    <a:effectLst/>
                    <a:uLnTx/>
                    <a:uFillTx/>
                    <a:latin typeface="DengXian"/>
                    <a:ea typeface="DengXian" panose="02010600030101010101" pitchFamily="2" charset="-122"/>
                  </a:defRPr>
                </a:lvl1pPr>
              </a:lstStyle>
              <a:p>
                <a:r>
                  <a:rPr lang="zh-CN" altLang="en-US" sz="263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出库</a:t>
                </a:r>
                <a:endParaRPr lang="zh-CN" altLang="en-US" sz="2635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8616" y="5803"/>
                <a:ext cx="1044" cy="5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algn="ctr" defTabSz="6858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800" b="0" i="0" u="none" strike="noStrike" kern="0" cap="none" spc="0" normalizeH="0" baseline="0">
                    <a:ln>
                      <a:noFill/>
                    </a:ln>
                    <a:effectLst/>
                    <a:uLnTx/>
                    <a:uFillTx/>
                    <a:latin typeface="DengXian"/>
                    <a:ea typeface="DengXian" panose="02010600030101010101" pitchFamily="2" charset="-122"/>
                  </a:defRPr>
                </a:lvl1pPr>
              </a:lstStyle>
              <a:p>
                <a:r>
                  <a:rPr lang="zh-CN" altLang="en-US" sz="263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出库</a:t>
                </a:r>
                <a:endParaRPr lang="zh-CN" altLang="en-US" sz="2635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7323" y="5803"/>
                <a:ext cx="1045" cy="5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algn="ctr" defTabSz="6858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800" b="0" i="0" u="none" strike="noStrike" kern="0" cap="none" spc="0" normalizeH="0" baseline="0">
                    <a:ln>
                      <a:noFill/>
                    </a:ln>
                    <a:effectLst/>
                    <a:uLnTx/>
                    <a:uFillTx/>
                    <a:latin typeface="DengXian"/>
                    <a:ea typeface="DengXian" panose="02010600030101010101" pitchFamily="2" charset="-122"/>
                  </a:defRPr>
                </a:lvl1pPr>
              </a:lstStyle>
              <a:p>
                <a:r>
                  <a:rPr lang="zh-CN" altLang="en-US" sz="263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入库</a:t>
                </a:r>
                <a:endParaRPr lang="zh-CN" altLang="en-US" sz="2635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3" name="箭头: 右 242"/>
              <p:cNvSpPr/>
              <p:nvPr/>
            </p:nvSpPr>
            <p:spPr>
              <a:xfrm>
                <a:off x="10182" y="4779"/>
                <a:ext cx="541" cy="280"/>
              </a:xfrm>
              <a:prstGeom prst="rightArrow">
                <a:avLst/>
              </a:prstGeom>
              <a:solidFill>
                <a:srgbClr val="FFFFFF">
                  <a:lumMod val="8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p>
                <a:pPr algn="ctr" defTabSz="685800"/>
                <a:endParaRPr lang="zh-CN" altLang="en-US" sz="2635" kern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9930" y="5105"/>
                <a:ext cx="1045" cy="5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algn="ctr" defTabSz="6858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800" b="0" i="0" u="none" strike="noStrike" kern="0" cap="none" spc="0" normalizeH="0" baseline="0">
                    <a:ln>
                      <a:noFill/>
                    </a:ln>
                    <a:effectLst/>
                    <a:uLnTx/>
                    <a:uFillTx/>
                    <a:latin typeface="DengXian"/>
                    <a:ea typeface="DengXian" panose="02010600030101010101" pitchFamily="2" charset="-122"/>
                  </a:defRPr>
                </a:lvl1pPr>
              </a:lstStyle>
              <a:p>
                <a:r>
                  <a:rPr lang="zh-CN" altLang="en-US" sz="263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出库</a:t>
                </a:r>
                <a:endParaRPr lang="zh-CN" altLang="en-US" sz="2635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13293" y="7578"/>
                <a:ext cx="1044" cy="5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algn="ctr" defTabSz="6858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800" b="0" i="0" u="none" strike="noStrike" kern="0" cap="none" spc="0" normalizeH="0" baseline="0">
                    <a:ln>
                      <a:noFill/>
                    </a:ln>
                    <a:effectLst/>
                    <a:uLnTx/>
                    <a:uFillTx/>
                    <a:latin typeface="DengXian"/>
                    <a:ea typeface="DengXian" panose="02010600030101010101" pitchFamily="2" charset="-122"/>
                  </a:defRPr>
                </a:lvl1pPr>
              </a:lstStyle>
              <a:p>
                <a:r>
                  <a:rPr lang="zh-CN" altLang="en-US" sz="263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入库</a:t>
                </a:r>
                <a:endParaRPr lang="zh-CN" altLang="en-US" sz="2635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1" name="文本框 50"/>
              <p:cNvSpPr txBox="1"/>
              <p:nvPr/>
            </p:nvSpPr>
            <p:spPr>
              <a:xfrm>
                <a:off x="15121" y="4792"/>
                <a:ext cx="1138" cy="5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algn="ctr" defTabSz="6858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800" b="0" i="0" u="none" strike="noStrike" kern="0" cap="none" spc="0" normalizeH="0" baseline="0">
                    <a:ln>
                      <a:noFill/>
                    </a:ln>
                    <a:effectLst/>
                    <a:uLnTx/>
                    <a:uFillTx/>
                    <a:latin typeface="DengXian"/>
                    <a:ea typeface="DengXian" panose="02010600030101010101" pitchFamily="2" charset="-122"/>
                  </a:defRPr>
                </a:lvl1pPr>
              </a:lstStyle>
              <a:p>
                <a:r>
                  <a:rPr lang="zh-CN" altLang="en-US" sz="263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出厂</a:t>
                </a:r>
                <a:endParaRPr lang="zh-CN" altLang="en-US" sz="2635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2" name="文本框 51"/>
              <p:cNvSpPr txBox="1"/>
              <p:nvPr/>
            </p:nvSpPr>
            <p:spPr>
              <a:xfrm>
                <a:off x="6938" y="3539"/>
                <a:ext cx="1814" cy="5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algn="ctr" defTabSz="6858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800" b="0" i="0" u="none" strike="noStrike" kern="0" cap="none" spc="0" normalizeH="0" baseline="0">
                    <a:ln>
                      <a:noFill/>
                    </a:ln>
                    <a:effectLst/>
                    <a:uLnTx/>
                    <a:uFillTx/>
                    <a:latin typeface="DengXian"/>
                    <a:ea typeface="DengXian" panose="02010600030101010101" pitchFamily="2" charset="-122"/>
                  </a:defRPr>
                </a:lvl1pPr>
              </a:lstStyle>
              <a:p>
                <a:r>
                  <a:rPr lang="zh-CN" altLang="en-US" sz="263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材料出库</a:t>
                </a:r>
                <a:endParaRPr lang="zh-CN" altLang="en-US" sz="2635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6" name="文本框 65"/>
              <p:cNvSpPr txBox="1"/>
              <p:nvPr/>
            </p:nvSpPr>
            <p:spPr>
              <a:xfrm>
                <a:off x="1061" y="2174"/>
                <a:ext cx="731" cy="5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2635" b="1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①</a:t>
                </a:r>
                <a:endParaRPr lang="zh-CN" altLang="en-US" sz="2635" b="1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8" name="文本框 67"/>
              <p:cNvSpPr txBox="1"/>
              <p:nvPr/>
            </p:nvSpPr>
            <p:spPr>
              <a:xfrm>
                <a:off x="7323" y="2174"/>
                <a:ext cx="730" cy="5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2635" b="1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②</a:t>
                </a:r>
                <a:endParaRPr lang="zh-CN" altLang="en-US" sz="2635" b="1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32" name="文本框 131"/>
              <p:cNvSpPr txBox="1"/>
              <p:nvPr/>
            </p:nvSpPr>
            <p:spPr>
              <a:xfrm>
                <a:off x="15121" y="2174"/>
                <a:ext cx="731" cy="5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2635" b="1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③</a:t>
                </a:r>
                <a:endParaRPr lang="zh-CN" altLang="en-US" sz="2635" b="1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74" name="矩形: 圆角 239"/>
              <p:cNvSpPr/>
              <p:nvPr/>
            </p:nvSpPr>
            <p:spPr>
              <a:xfrm>
                <a:off x="1061" y="3403"/>
                <a:ext cx="16995" cy="4895"/>
              </a:xfrm>
              <a:prstGeom prst="roundRect">
                <a:avLst/>
              </a:prstGeom>
              <a:noFill/>
              <a:ln w="12700" cap="flat" cmpd="sng" algn="ctr">
                <a:solidFill>
                  <a:srgbClr val="FFFFFF">
                    <a:lumMod val="75000"/>
                  </a:srgbClr>
                </a:solidFill>
                <a:prstDash val="sysDot"/>
                <a:miter lim="800000"/>
              </a:ln>
              <a:effectLst/>
            </p:spPr>
            <p:txBody>
              <a:bodyPr rtlCol="0" anchor="ctr"/>
              <a:p>
                <a:pPr algn="ctr"/>
                <a:endParaRPr lang="zh-CN" altLang="en-US" sz="2635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4484" y="6841"/>
                <a:ext cx="693" cy="785"/>
              </a:xfrm>
              <a:prstGeom prst="rect">
                <a:avLst/>
              </a:prstGeom>
              <a:solidFill>
                <a:srgbClr val="FFC00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 anchorCtr="0"/>
              <a:p>
                <a:pPr algn="ctr" fontAlgn="ctr"/>
                <a:r>
                  <a:rPr lang="zh-CN" altLang="en-US" sz="219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集配区</a:t>
                </a:r>
                <a:endParaRPr lang="zh-CN" altLang="en-US" sz="2195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cxnSp>
            <p:nvCxnSpPr>
              <p:cNvPr id="81" name="直接箭头连接符 80"/>
              <p:cNvCxnSpPr>
                <a:stCxn id="224" idx="2"/>
                <a:endCxn id="75" idx="0"/>
              </p:cNvCxnSpPr>
              <p:nvPr/>
            </p:nvCxnSpPr>
            <p:spPr>
              <a:xfrm>
                <a:off x="4826" y="6597"/>
                <a:ext cx="5" cy="244"/>
              </a:xfrm>
              <a:prstGeom prst="straightConnector1">
                <a:avLst/>
              </a:prstGeom>
              <a:noFill/>
              <a:ln w="6350" cap="flat" cmpd="sng" algn="ctr">
                <a:solidFill>
                  <a:srgbClr val="727171"/>
                </a:solidFill>
                <a:prstDash val="solid"/>
                <a:miter lim="800000"/>
                <a:tailEnd type="arrow"/>
              </a:ln>
              <a:effectLst/>
            </p:spPr>
          </p:cxnSp>
        </p:grpSp>
        <p:grpSp>
          <p:nvGrpSpPr>
            <p:cNvPr id="124" name="组合 123"/>
            <p:cNvGrpSpPr/>
            <p:nvPr/>
          </p:nvGrpSpPr>
          <p:grpSpPr>
            <a:xfrm>
              <a:off x="1358" y="6810"/>
              <a:ext cx="16152" cy="2192"/>
              <a:chOff x="1357" y="8581"/>
              <a:chExt cx="16152" cy="2192"/>
            </a:xfrm>
          </p:grpSpPr>
          <p:sp>
            <p:nvSpPr>
              <p:cNvPr id="53" name="右大括号 52"/>
              <p:cNvSpPr/>
              <p:nvPr/>
            </p:nvSpPr>
            <p:spPr>
              <a:xfrm rot="5400000">
                <a:off x="2775" y="7178"/>
                <a:ext cx="287" cy="3123"/>
              </a:xfrm>
              <a:prstGeom prst="rightBrace">
                <a:avLst/>
              </a:prstGeom>
              <a:noFill/>
              <a:ln w="6350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p>
                <a:pPr algn="ctr">
                  <a:lnSpc>
                    <a:spcPct val="150000"/>
                  </a:lnSpc>
                </a:pPr>
                <a:endParaRPr lang="zh-CN" altLang="en-US" sz="2635">
                  <a:solidFill>
                    <a:schemeClr val="bg2"/>
                  </a:solidFill>
                </a:endParaRPr>
              </a:p>
            </p:txBody>
          </p:sp>
          <p:sp>
            <p:nvSpPr>
              <p:cNvPr id="54" name="文本框 53"/>
              <p:cNvSpPr txBox="1"/>
              <p:nvPr/>
            </p:nvSpPr>
            <p:spPr>
              <a:xfrm>
                <a:off x="1533" y="8958"/>
                <a:ext cx="2772" cy="18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algn="ctr" defTabSz="6858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800" b="0" i="0" u="none" strike="noStrike" kern="0" cap="none" spc="0" normalizeH="0" baseline="0">
                    <a:ln>
                      <a:noFill/>
                    </a:ln>
                    <a:effectLst/>
                    <a:uLnTx/>
                    <a:uFillTx/>
                    <a:latin typeface="DengXian"/>
                    <a:ea typeface="DengXian" panose="02010600030101010101" pitchFamily="2" charset="-122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263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供方物流过程可视</a:t>
                </a:r>
                <a:endParaRPr lang="zh-CN" altLang="en-US" sz="2635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63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入场预约</a:t>
                </a:r>
                <a:endParaRPr lang="zh-CN" altLang="en-US" sz="2635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63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码头分配</a:t>
                </a:r>
                <a:endParaRPr lang="zh-CN" altLang="en-US" sz="2635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63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入场指引</a:t>
                </a:r>
                <a:endParaRPr lang="zh-CN" altLang="en-US" sz="2635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5" name="右大括号 54"/>
              <p:cNvSpPr/>
              <p:nvPr/>
            </p:nvSpPr>
            <p:spPr>
              <a:xfrm rot="5400000">
                <a:off x="9368" y="4095"/>
                <a:ext cx="377" cy="9348"/>
              </a:xfrm>
              <a:prstGeom prst="rightBrace">
                <a:avLst/>
              </a:prstGeom>
              <a:noFill/>
              <a:ln w="6350" cap="flat" cmpd="sng" algn="ctr">
                <a:solidFill>
                  <a:schemeClr val="bg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p>
                <a:pPr algn="ctr">
                  <a:lnSpc>
                    <a:spcPct val="150000"/>
                  </a:lnSpc>
                </a:pPr>
                <a:endParaRPr lang="zh-CN" altLang="en-US" sz="2635">
                  <a:solidFill>
                    <a:schemeClr val="bg2"/>
                  </a:solidFill>
                </a:endParaRPr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4498" y="8959"/>
                <a:ext cx="2012" cy="18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algn="ctr" defTabSz="6858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800" b="0" i="0" u="none" strike="noStrike" kern="0" cap="none" spc="0" normalizeH="0" baseline="0">
                    <a:ln>
                      <a:noFill/>
                    </a:ln>
                    <a:effectLst/>
                    <a:uLnTx/>
                    <a:uFillTx/>
                    <a:latin typeface="DengXian"/>
                    <a:ea typeface="DengXian" panose="02010600030101010101" pitchFamily="2" charset="-122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263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来料接收</a:t>
                </a:r>
                <a:endParaRPr lang="zh-CN" altLang="en-US" sz="2635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63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材料质量管理</a:t>
                </a:r>
                <a:endParaRPr lang="zh-CN" altLang="en-US" sz="2635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63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材料异常处理</a:t>
                </a:r>
                <a:endParaRPr lang="zh-CN" altLang="en-US" sz="2635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63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入库上架</a:t>
                </a:r>
                <a:endParaRPr lang="zh-CN" altLang="en-US" sz="2635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9" name="右大括号 58"/>
              <p:cNvSpPr/>
              <p:nvPr/>
            </p:nvSpPr>
            <p:spPr>
              <a:xfrm rot="5400000">
                <a:off x="15899" y="7349"/>
                <a:ext cx="362" cy="2858"/>
              </a:xfrm>
              <a:prstGeom prst="rightBrace">
                <a:avLst/>
              </a:prstGeom>
              <a:noFill/>
              <a:ln w="6350" cap="flat" cmpd="sng" algn="ctr">
                <a:solidFill>
                  <a:srgbClr val="FFFF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p>
                <a:pPr algn="ctr">
                  <a:lnSpc>
                    <a:spcPct val="150000"/>
                  </a:lnSpc>
                </a:pPr>
                <a:endParaRPr lang="zh-CN" altLang="en-US" sz="2635">
                  <a:solidFill>
                    <a:schemeClr val="bg2"/>
                  </a:solidFill>
                </a:endParaRPr>
              </a:p>
            </p:txBody>
          </p:sp>
          <p:sp>
            <p:nvSpPr>
              <p:cNvPr id="65" name="文本框 64"/>
              <p:cNvSpPr txBox="1"/>
              <p:nvPr/>
            </p:nvSpPr>
            <p:spPr>
              <a:xfrm>
                <a:off x="14964" y="8959"/>
                <a:ext cx="2234" cy="5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algn="ctr" defTabSz="6858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800" b="0" i="0" u="none" strike="noStrike" kern="0" cap="none" spc="0" normalizeH="0" baseline="0">
                    <a:ln>
                      <a:noFill/>
                    </a:ln>
                    <a:effectLst/>
                    <a:uLnTx/>
                    <a:uFillTx/>
                    <a:latin typeface="DengXian"/>
                    <a:ea typeface="DengXian" panose="02010600030101010101" pitchFamily="2" charset="-122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263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成品物流</a:t>
                </a:r>
                <a:endParaRPr lang="zh-CN" altLang="en-US" sz="2635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15" name="文本框 114"/>
              <p:cNvSpPr txBox="1"/>
              <p:nvPr/>
            </p:nvSpPr>
            <p:spPr>
              <a:xfrm>
                <a:off x="7048" y="8959"/>
                <a:ext cx="2012" cy="18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algn="ctr" defTabSz="6858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800" b="0" i="0" u="none" strike="noStrike" kern="0" cap="none" spc="0" normalizeH="0" baseline="0">
                    <a:ln>
                      <a:noFill/>
                    </a:ln>
                    <a:effectLst/>
                    <a:uLnTx/>
                    <a:uFillTx/>
                    <a:latin typeface="DengXian"/>
                    <a:ea typeface="DengXian" panose="02010600030101010101" pitchFamily="2" charset="-122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263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材料库内管理</a:t>
                </a:r>
                <a:endParaRPr lang="zh-CN" altLang="en-US" sz="2635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63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生产备料</a:t>
                </a:r>
                <a:endParaRPr lang="zh-CN" altLang="en-US" sz="2635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63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AGV</a:t>
                </a:r>
                <a:r>
                  <a:rPr lang="zh-CN" altLang="en-US" sz="263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自动配送</a:t>
                </a:r>
                <a:endParaRPr lang="zh-CN" altLang="en-US" sz="2635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63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生产领料</a:t>
                </a:r>
                <a:endParaRPr lang="zh-CN" altLang="en-US" sz="2635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16" name="文本框 115"/>
              <p:cNvSpPr txBox="1"/>
              <p:nvPr/>
            </p:nvSpPr>
            <p:spPr>
              <a:xfrm>
                <a:off x="9659" y="8959"/>
                <a:ext cx="2476" cy="18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algn="ctr" defTabSz="6858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800" b="0" i="0" u="none" strike="noStrike" kern="0" cap="none" spc="0" normalizeH="0" baseline="0">
                    <a:ln>
                      <a:noFill/>
                    </a:ln>
                    <a:effectLst/>
                    <a:uLnTx/>
                    <a:uFillTx/>
                    <a:latin typeface="DengXian"/>
                    <a:ea typeface="DengXian" panose="02010600030101010101" pitchFamily="2" charset="-122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263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车间</a:t>
                </a:r>
                <a:r>
                  <a:rPr lang="en-US" altLang="zh-CN" sz="263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JIT</a:t>
                </a:r>
                <a:r>
                  <a:rPr lang="zh-CN" altLang="en-US" sz="263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叫料</a:t>
                </a:r>
                <a:endParaRPr lang="zh-CN" altLang="en-US" sz="2635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63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生产过程</a:t>
                </a:r>
                <a:r>
                  <a:rPr lang="en-US" altLang="zh-CN" sz="263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5M1E</a:t>
                </a:r>
                <a:r>
                  <a:rPr lang="zh-CN" altLang="en-US" sz="263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管理</a:t>
                </a:r>
                <a:endParaRPr lang="zh-CN" altLang="en-US" sz="2635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63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制程质量管理</a:t>
                </a:r>
                <a:endParaRPr lang="zh-CN" altLang="en-US" sz="2635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63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制程异常管理</a:t>
                </a:r>
                <a:endParaRPr lang="zh-CN" altLang="en-US" sz="2635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18" name="文本框 117"/>
              <p:cNvSpPr txBox="1"/>
              <p:nvPr/>
            </p:nvSpPr>
            <p:spPr>
              <a:xfrm>
                <a:off x="12302" y="8959"/>
                <a:ext cx="2476" cy="9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R="0" lvl="0" indent="0" algn="ctr" defTabSz="6858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800" b="0" i="0" u="none" strike="noStrike" kern="0" cap="none" spc="0" normalizeH="0" baseline="0">
                    <a:ln>
                      <a:noFill/>
                    </a:ln>
                    <a:effectLst/>
                    <a:uLnTx/>
                    <a:uFillTx/>
                    <a:latin typeface="DengXian"/>
                    <a:ea typeface="DengXian" panose="02010600030101010101" pitchFamily="2" charset="-122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263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成品入库</a:t>
                </a:r>
                <a:endParaRPr lang="zh-CN" altLang="en-US" sz="2635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635" dirty="0">
                    <a:solidFill>
                      <a:schemeClr val="bg2"/>
                    </a:solidFill>
                    <a:latin typeface="微软雅黑" pitchFamily="34" charset="-122"/>
                    <a:ea typeface="微软雅黑" pitchFamily="34" charset="-122"/>
                  </a:rPr>
                  <a:t>生产退料</a:t>
                </a:r>
                <a:endParaRPr lang="zh-CN" altLang="en-US" sz="2635" dirty="0">
                  <a:solidFill>
                    <a:schemeClr val="bg2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供应链数字化系统</a:t>
            </a:r>
            <a:r>
              <a:rPr lang="zh-CN" altLang="en-US"/>
              <a:t>架构</a:t>
            </a:r>
            <a:endParaRPr lang="zh-CN" altLang="en-US"/>
          </a:p>
        </p:txBody>
      </p:sp>
      <p:sp>
        <p:nvSpPr>
          <p:cNvPr id="2" name="圆角矩形 1"/>
          <p:cNvSpPr/>
          <p:nvPr/>
        </p:nvSpPr>
        <p:spPr>
          <a:xfrm>
            <a:off x="11230630" y="8241828"/>
            <a:ext cx="2027869" cy="6473849"/>
          </a:xfrm>
          <a:prstGeom prst="roundRect">
            <a:avLst>
              <a:gd name="adj" fmla="val 9278"/>
            </a:avLst>
          </a:prstGeom>
          <a:solidFill>
            <a:schemeClr val="bg1"/>
          </a:solidFill>
          <a:ln w="3175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/>
        </p:spPr>
        <p:txBody>
          <a:bodyPr lIns="0" tIns="59572" rIns="0" bIns="59572" rtlCol="0" anchor="ctr">
            <a:noAutofit/>
          </a:bodyPr>
          <a:p>
            <a:pPr lvl="0" algn="ctr"/>
            <a:endParaRPr lang="en-US" altLang="zh-CN" sz="263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+mn-ea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11393695" y="9751231"/>
            <a:ext cx="1701737" cy="674563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lIns="0" tIns="59572" rIns="0" bIns="59572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2195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需求计划</a:t>
            </a:r>
            <a:endParaRPr lang="zh-CN" altLang="en-US" sz="219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8834818" y="5519884"/>
            <a:ext cx="15294729" cy="1147035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/>
        </p:spPr>
        <p:txBody>
          <a:bodyPr lIns="0" tIns="59572" rIns="0" bIns="59572" rtlCol="0" anchor="ctr"/>
          <a:p>
            <a:pPr algn="ctr"/>
            <a:r>
              <a:rPr lang="en-US" altLang="zh-CN" sz="2635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BI</a:t>
            </a:r>
            <a:r>
              <a:rPr lang="zh-CN" altLang="en-US" sz="2635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：企业运营指标分析</a:t>
            </a:r>
            <a:endParaRPr lang="zh-CN" altLang="en-US" sz="263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</p:txBody>
      </p:sp>
      <p:pic>
        <p:nvPicPr>
          <p:cNvPr id="12" name="图片 11" descr="工厂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505153" y="11772131"/>
            <a:ext cx="1282226" cy="1282226"/>
          </a:xfrm>
          <a:prstGeom prst="rect">
            <a:avLst/>
          </a:prstGeom>
        </p:spPr>
      </p:pic>
      <p:pic>
        <p:nvPicPr>
          <p:cNvPr id="13" name="图片 12" descr="供应商 (1)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438254" y="7963083"/>
            <a:ext cx="1279439" cy="101045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1668259" y="8241828"/>
            <a:ext cx="1278045" cy="497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rtlCol="0">
            <a:spAutoFit/>
          </a:bodyPr>
          <a:p>
            <a:r>
              <a:rPr lang="en-US" altLang="zh-CN" sz="2635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APS</a:t>
            </a:r>
            <a:endParaRPr lang="zh-CN" altLang="en-US" sz="263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1149794" y="8615346"/>
            <a:ext cx="2029262" cy="902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rtlCol="0">
            <a:spAutoFit/>
          </a:bodyPr>
          <a:p>
            <a:pPr algn="ctr"/>
            <a:r>
              <a:rPr lang="zh-CN" altLang="en-US" sz="2635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供应链</a:t>
            </a:r>
            <a:endParaRPr lang="zh-CN" altLang="en-US" sz="263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2635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计划平台</a:t>
            </a:r>
            <a:endParaRPr lang="zh-CN" altLang="en-US" sz="263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11378364" y="10630671"/>
            <a:ext cx="1701737" cy="673169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lIns="0" tIns="59572" rIns="0" bIns="59572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2195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主生产计划</a:t>
            </a:r>
            <a:endParaRPr lang="zh-CN" altLang="en-US" sz="219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11378364" y="11496174"/>
            <a:ext cx="1701737" cy="674563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lIns="0" tIns="59572" rIns="0" bIns="59572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2195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订单承诺</a:t>
            </a:r>
            <a:endParaRPr lang="zh-CN" altLang="en-US" sz="219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11393695" y="12432756"/>
            <a:ext cx="1701737" cy="673169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lIns="0" tIns="59572" rIns="0" bIns="59572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2195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物料计划</a:t>
            </a:r>
            <a:endParaRPr lang="zh-CN" altLang="en-US" sz="219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11230630" y="7064131"/>
            <a:ext cx="12898918" cy="961670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lIns="0" tIns="59572" rIns="0" bIns="59572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635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+mn-ea"/>
              </a:rPr>
              <a:t>PLM</a:t>
            </a:r>
            <a:r>
              <a:rPr lang="zh-CN" altLang="en-US" sz="2635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：产品研发设计平台</a:t>
            </a:r>
            <a:endParaRPr lang="zh-CN" altLang="en-US" sz="263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13457801" y="8259946"/>
            <a:ext cx="2188147" cy="6454337"/>
          </a:xfrm>
          <a:prstGeom prst="roundRect">
            <a:avLst>
              <a:gd name="adj" fmla="val 4419"/>
            </a:avLst>
          </a:prstGeom>
          <a:solidFill>
            <a:schemeClr val="bg1"/>
          </a:solidFill>
          <a:ln w="3175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/>
        </p:spPr>
        <p:txBody>
          <a:bodyPr lIns="0" tIns="59572" rIns="0" bIns="59572" rtlCol="0" anchor="ctr">
            <a:noAutofit/>
          </a:bodyPr>
          <a:p>
            <a:pPr lvl="0" algn="ctr"/>
            <a:endParaRPr lang="en-US" altLang="zh-CN" sz="263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+mn-ea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15898212" y="12778400"/>
            <a:ext cx="6218797" cy="1933095"/>
          </a:xfrm>
          <a:prstGeom prst="roundRect">
            <a:avLst>
              <a:gd name="adj" fmla="val 4419"/>
            </a:avLst>
          </a:prstGeom>
          <a:solidFill>
            <a:schemeClr val="bg1"/>
          </a:solidFill>
          <a:ln w="3175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/>
        </p:spPr>
        <p:txBody>
          <a:bodyPr lIns="0" tIns="59572" rIns="0" bIns="59572" rtlCol="0" anchor="ctr">
            <a:noAutofit/>
          </a:bodyPr>
          <a:p>
            <a:pPr lvl="0" algn="ctr"/>
            <a:endParaRPr lang="en-US" altLang="zh-CN" sz="263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+mn-ea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3991597" y="8276671"/>
            <a:ext cx="1279439" cy="565150"/>
          </a:xfrm>
          <a:prstGeom prst="rect">
            <a:avLst/>
          </a:prstGeom>
          <a:solidFill>
            <a:schemeClr val="bg1"/>
          </a:solidFill>
          <a:extLst>
            <a:ext uri="{909E8E84-426E-40DD-AFC4-6F175D3DCCD1}">
              <a14:hiddenFill xmlns:a14="http://schemas.microsoft.com/office/drawing/2010/main">
                <a:solidFill>
                  <a:srgbClr val="A5A5A5">
                    <a:lumMod val="75000"/>
                  </a:srgbClr>
                </a:solidFill>
              </a14:hiddenFill>
            </a:ext>
          </a:extLst>
        </p:spPr>
        <p:txBody>
          <a:bodyPr wrap="square" rtlCol="0">
            <a:spAutoFit/>
          </a:bodyPr>
          <a:p>
            <a:r>
              <a:rPr lang="en-US" altLang="zh-CN" sz="3075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ERP</a:t>
            </a:r>
            <a:endParaRPr lang="en-US" altLang="zh-CN" sz="307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16758140" y="12965857"/>
            <a:ext cx="4827861" cy="674370"/>
          </a:xfrm>
          <a:prstGeom prst="rect">
            <a:avLst/>
          </a:prstGeom>
          <a:solidFill>
            <a:schemeClr val="bg1"/>
          </a:solidFill>
          <a:extLst>
            <a:ext uri="{909E8E84-426E-40DD-AFC4-6F175D3DCCD1}">
              <a14:hiddenFill xmlns:a14="http://schemas.microsoft.com/office/drawing/2010/main">
                <a:solidFill>
                  <a:srgbClr val="A5A5A5">
                    <a:lumMod val="75000"/>
                  </a:srgbClr>
                </a:solidFill>
              </a14:hiddenFill>
            </a:ext>
          </a:extLst>
        </p:spPr>
        <p:txBody>
          <a:bodyPr wrap="square" lIns="200696" tIns="100348" rIns="200696" bIns="100348" rtlCol="0" anchor="t">
            <a:spAutoFit/>
          </a:bodyPr>
          <a:p>
            <a:pPr lvl="0" algn="l"/>
            <a:r>
              <a:rPr lang="en-US" altLang="zh-CN" sz="3075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+mn-ea"/>
              </a:rPr>
              <a:t>MOM 制造运营管理平台</a:t>
            </a:r>
            <a:endParaRPr lang="en-US" altLang="zh-CN" sz="307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+mn-ea"/>
            </a:endParaRPr>
          </a:p>
        </p:txBody>
      </p:sp>
      <p:sp>
        <p:nvSpPr>
          <p:cNvPr id="66" name="圆角矩形 65"/>
          <p:cNvSpPr/>
          <p:nvPr/>
        </p:nvSpPr>
        <p:spPr>
          <a:xfrm>
            <a:off x="16130964" y="13812543"/>
            <a:ext cx="1701737" cy="604876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lIns="0" tIns="59572" rIns="0" bIns="59572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195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+mn-ea"/>
              </a:rPr>
              <a:t>MES</a:t>
            </a:r>
            <a:endParaRPr lang="en-US" altLang="zh-CN" sz="219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+mn-ea"/>
            </a:endParaRPr>
          </a:p>
        </p:txBody>
      </p:sp>
      <p:sp>
        <p:nvSpPr>
          <p:cNvPr id="67" name="圆角矩形 66"/>
          <p:cNvSpPr/>
          <p:nvPr/>
        </p:nvSpPr>
        <p:spPr>
          <a:xfrm>
            <a:off x="18105871" y="13825087"/>
            <a:ext cx="1701737" cy="604876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lIns="0" tIns="59572" rIns="0" bIns="59572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195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+mn-ea"/>
              </a:rPr>
              <a:t>QMS</a:t>
            </a:r>
            <a:endParaRPr lang="en-US" altLang="zh-CN" sz="219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+mn-ea"/>
            </a:endParaRPr>
          </a:p>
        </p:txBody>
      </p:sp>
      <p:sp>
        <p:nvSpPr>
          <p:cNvPr id="69" name="圆角矩形 68"/>
          <p:cNvSpPr/>
          <p:nvPr/>
        </p:nvSpPr>
        <p:spPr>
          <a:xfrm>
            <a:off x="20137921" y="13825087"/>
            <a:ext cx="1701737" cy="604876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lIns="0" tIns="59572" rIns="0" bIns="59572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195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+mn-ea"/>
              </a:rPr>
              <a:t>WMS</a:t>
            </a:r>
            <a:endParaRPr lang="en-US" altLang="zh-CN" sz="219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+mn-ea"/>
            </a:endParaRPr>
          </a:p>
        </p:txBody>
      </p:sp>
      <p:sp>
        <p:nvSpPr>
          <p:cNvPr id="70" name="圆角矩形 69"/>
          <p:cNvSpPr/>
          <p:nvPr/>
        </p:nvSpPr>
        <p:spPr>
          <a:xfrm>
            <a:off x="13687765" y="9177017"/>
            <a:ext cx="1701737" cy="674563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lIns="0" tIns="59572" rIns="0" bIns="59572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2195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财务凭证</a:t>
            </a:r>
            <a:endParaRPr lang="zh-CN" altLang="en-US" sz="219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</p:txBody>
      </p:sp>
      <p:sp>
        <p:nvSpPr>
          <p:cNvPr id="75" name="圆角矩形 74"/>
          <p:cNvSpPr/>
          <p:nvPr/>
        </p:nvSpPr>
        <p:spPr>
          <a:xfrm>
            <a:off x="13701703" y="10176317"/>
            <a:ext cx="1701737" cy="674563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lIns="0" tIns="59572" rIns="0" bIns="59572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2195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总账管理</a:t>
            </a:r>
            <a:endParaRPr lang="zh-CN" altLang="en-US" sz="219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</p:txBody>
      </p:sp>
      <p:sp>
        <p:nvSpPr>
          <p:cNvPr id="82" name="圆角矩形 81"/>
          <p:cNvSpPr/>
          <p:nvPr/>
        </p:nvSpPr>
        <p:spPr>
          <a:xfrm>
            <a:off x="15898212" y="8241828"/>
            <a:ext cx="6220191" cy="2981176"/>
          </a:xfrm>
          <a:prstGeom prst="roundRect">
            <a:avLst>
              <a:gd name="adj" fmla="val 4419"/>
            </a:avLst>
          </a:prstGeom>
          <a:solidFill>
            <a:schemeClr val="bg1"/>
          </a:solidFill>
          <a:ln w="3175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/>
        </p:spPr>
        <p:txBody>
          <a:bodyPr lIns="0" tIns="59572" rIns="0" bIns="59572" rtlCol="0" anchor="ctr">
            <a:noAutofit/>
          </a:bodyPr>
          <a:p>
            <a:pPr lvl="0" algn="ctr"/>
            <a:endParaRPr lang="en-US" altLang="zh-CN" sz="263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+mn-ea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17100996" y="8335905"/>
            <a:ext cx="4542147" cy="674370"/>
          </a:xfrm>
          <a:prstGeom prst="rect">
            <a:avLst/>
          </a:prstGeom>
          <a:solidFill>
            <a:schemeClr val="bg1"/>
          </a:solidFill>
          <a:extLst>
            <a:ext uri="{909E8E84-426E-40DD-AFC4-6F175D3DCCD1}">
              <a14:hiddenFill xmlns:a14="http://schemas.microsoft.com/office/drawing/2010/main">
                <a:solidFill>
                  <a:srgbClr val="A5A5A5">
                    <a:lumMod val="75000"/>
                  </a:srgbClr>
                </a:solidFill>
              </a14:hiddenFill>
            </a:ext>
          </a:extLst>
        </p:spPr>
        <p:txBody>
          <a:bodyPr wrap="square" lIns="200696" tIns="100348" rIns="200696" bIns="100348" rtlCol="0" anchor="t">
            <a:spAutoFit/>
          </a:bodyPr>
          <a:p>
            <a:pPr lvl="0" algn="l"/>
            <a:r>
              <a:rPr lang="en-US" altLang="zh-CN" sz="3075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+mn-ea"/>
              </a:rPr>
              <a:t>SCM 供应链管理平台</a:t>
            </a:r>
            <a:endParaRPr lang="en-US" altLang="zh-CN" sz="307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+mn-ea"/>
            </a:endParaRPr>
          </a:p>
        </p:txBody>
      </p:sp>
      <p:sp>
        <p:nvSpPr>
          <p:cNvPr id="84" name="圆角矩形 83"/>
          <p:cNvSpPr/>
          <p:nvPr/>
        </p:nvSpPr>
        <p:spPr>
          <a:xfrm>
            <a:off x="16130964" y="9125449"/>
            <a:ext cx="1701737" cy="674563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lIns="0" tIns="59572" rIns="0" bIns="59572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2195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采购管理</a:t>
            </a:r>
            <a:endParaRPr lang="zh-CN" altLang="en-US" sz="219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</p:txBody>
      </p:sp>
      <p:sp>
        <p:nvSpPr>
          <p:cNvPr id="85" name="圆角矩形 84"/>
          <p:cNvSpPr/>
          <p:nvPr/>
        </p:nvSpPr>
        <p:spPr>
          <a:xfrm>
            <a:off x="18157439" y="9125449"/>
            <a:ext cx="1701737" cy="674563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lIns="0" tIns="59572" rIns="0" bIns="59572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2195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库存管理</a:t>
            </a:r>
            <a:endParaRPr lang="zh-CN" altLang="en-US" sz="219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</p:txBody>
      </p:sp>
      <p:sp>
        <p:nvSpPr>
          <p:cNvPr id="86" name="圆角矩形 85"/>
          <p:cNvSpPr/>
          <p:nvPr/>
        </p:nvSpPr>
        <p:spPr>
          <a:xfrm>
            <a:off x="20225726" y="9125449"/>
            <a:ext cx="1701737" cy="674563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lIns="0" tIns="59572" rIns="0" bIns="59572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2195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生产管理</a:t>
            </a:r>
            <a:endParaRPr lang="zh-CN" altLang="en-US" sz="219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</p:txBody>
      </p:sp>
      <p:sp>
        <p:nvSpPr>
          <p:cNvPr id="88" name="圆角矩形 87"/>
          <p:cNvSpPr/>
          <p:nvPr/>
        </p:nvSpPr>
        <p:spPr>
          <a:xfrm>
            <a:off x="20225726" y="10128930"/>
            <a:ext cx="1701737" cy="721949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lIns="0" tIns="59572" rIns="0" bIns="59572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2195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组织间结算</a:t>
            </a:r>
            <a:endParaRPr lang="zh-CN" altLang="en-US" sz="219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</p:txBody>
      </p:sp>
      <p:sp>
        <p:nvSpPr>
          <p:cNvPr id="89" name="圆角矩形 88"/>
          <p:cNvSpPr/>
          <p:nvPr/>
        </p:nvSpPr>
        <p:spPr>
          <a:xfrm>
            <a:off x="16143507" y="10144261"/>
            <a:ext cx="1701737" cy="698256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lIns="0" tIns="59572" rIns="0" bIns="59572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2195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供应链协同</a:t>
            </a:r>
            <a:endParaRPr lang="zh-CN" altLang="en-US" sz="219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</p:txBody>
      </p:sp>
      <p:sp>
        <p:nvSpPr>
          <p:cNvPr id="90" name="圆角矩形 89"/>
          <p:cNvSpPr/>
          <p:nvPr/>
        </p:nvSpPr>
        <p:spPr>
          <a:xfrm>
            <a:off x="8834818" y="7064131"/>
            <a:ext cx="2027869" cy="7651546"/>
          </a:xfrm>
          <a:prstGeom prst="roundRect">
            <a:avLst>
              <a:gd name="adj" fmla="val 9278"/>
            </a:avLst>
          </a:prstGeom>
          <a:solidFill>
            <a:schemeClr val="bg1"/>
          </a:solidFill>
          <a:ln w="3175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/>
        </p:spPr>
        <p:txBody>
          <a:bodyPr lIns="0" tIns="59572" rIns="0" bIns="59572" rtlCol="0" anchor="ctr"/>
          <a:p>
            <a:pPr algn="ctr"/>
            <a:endParaRPr lang="zh-CN" altLang="en-US" sz="197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8671752" y="7090612"/>
            <a:ext cx="2416718" cy="497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rtlCol="0">
            <a:spAutoFit/>
          </a:bodyPr>
          <a:p>
            <a:r>
              <a:rPr lang="zh-CN" altLang="en-US" sz="2635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客户协同平台</a:t>
            </a:r>
            <a:endParaRPr lang="zh-CN" altLang="en-US" sz="263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2" name="圆角矩形 91"/>
          <p:cNvSpPr/>
          <p:nvPr/>
        </p:nvSpPr>
        <p:spPr>
          <a:xfrm>
            <a:off x="8997883" y="7971445"/>
            <a:ext cx="1701737" cy="1552609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lIns="0" tIns="59572" rIns="0" bIns="59572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195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+mn-ea"/>
              </a:rPr>
              <a:t>CRM</a:t>
            </a:r>
            <a:endParaRPr lang="en-US" altLang="zh-CN" sz="219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2195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客户关系</a:t>
            </a:r>
            <a:endParaRPr lang="zh-CN" altLang="en-US" sz="219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  <a:p>
            <a:pPr lvl="0" algn="ctr">
              <a:buClrTx/>
              <a:buSzTx/>
              <a:buFontTx/>
            </a:pPr>
            <a:r>
              <a:rPr lang="zh-CN" altLang="en-US" sz="2195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管理系统</a:t>
            </a:r>
            <a:endParaRPr lang="zh-CN" altLang="en-US" sz="219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</p:txBody>
      </p:sp>
      <p:sp>
        <p:nvSpPr>
          <p:cNvPr id="93" name="圆角矩形 92"/>
          <p:cNvSpPr/>
          <p:nvPr/>
        </p:nvSpPr>
        <p:spPr>
          <a:xfrm>
            <a:off x="8997883" y="10130324"/>
            <a:ext cx="1701737" cy="1675256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lIns="0" tIns="59572" rIns="0" bIns="59572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219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zh-CN" sz="2195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+mn-ea"/>
              </a:rPr>
              <a:t>OMS</a:t>
            </a:r>
            <a:endParaRPr lang="en-US" altLang="zh-CN" sz="219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2195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订单管理</a:t>
            </a:r>
            <a:endParaRPr lang="zh-CN" altLang="en-US" sz="219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  <a:p>
            <a:pPr lvl="0" algn="ctr">
              <a:buClrTx/>
              <a:buSzTx/>
              <a:buFontTx/>
            </a:pPr>
            <a:r>
              <a:rPr lang="zh-CN" altLang="en-US" sz="2195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系统</a:t>
            </a:r>
            <a:endParaRPr lang="zh-CN" altLang="en-US" sz="219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  <a:p>
            <a:pPr lvl="0" algn="ctr">
              <a:buClrTx/>
              <a:buSzTx/>
              <a:buFontTx/>
            </a:pPr>
            <a:endParaRPr lang="en-US" altLang="zh-CN" sz="219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+mn-ea"/>
            </a:endParaRPr>
          </a:p>
        </p:txBody>
      </p:sp>
      <p:sp>
        <p:nvSpPr>
          <p:cNvPr id="94" name="圆角矩形 93"/>
          <p:cNvSpPr/>
          <p:nvPr/>
        </p:nvSpPr>
        <p:spPr>
          <a:xfrm>
            <a:off x="8997883" y="12434150"/>
            <a:ext cx="1701737" cy="1552609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lIns="0" tIns="59572" rIns="0" bIns="59572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195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CSM</a:t>
            </a:r>
            <a:endParaRPr lang="zh-CN" altLang="en-US" sz="219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  <a:p>
            <a:pPr lvl="0" algn="ctr">
              <a:buClrTx/>
              <a:buSzTx/>
              <a:buFontTx/>
            </a:pPr>
            <a:r>
              <a:rPr lang="zh-CN" altLang="en-US" sz="2195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+mn-ea"/>
              </a:rPr>
              <a:t>客户服务管理系统</a:t>
            </a:r>
            <a:endParaRPr lang="zh-CN" altLang="en-US" sz="219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+mn-ea"/>
            </a:endParaRPr>
          </a:p>
        </p:txBody>
      </p:sp>
      <p:pic>
        <p:nvPicPr>
          <p:cNvPr id="95" name="图片 94" descr="客户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5907997" y="9296877"/>
            <a:ext cx="1595814" cy="1595814"/>
          </a:xfrm>
          <a:prstGeom prst="rect">
            <a:avLst/>
          </a:prstGeom>
        </p:spPr>
      </p:pic>
      <p:sp>
        <p:nvSpPr>
          <p:cNvPr id="97" name="圆角矩形 96"/>
          <p:cNvSpPr/>
          <p:nvPr/>
        </p:nvSpPr>
        <p:spPr>
          <a:xfrm>
            <a:off x="13687765" y="11158893"/>
            <a:ext cx="1701737" cy="674563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lIns="0" tIns="59572" rIns="0" bIns="59572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2195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交易单据</a:t>
            </a:r>
            <a:endParaRPr lang="zh-CN" altLang="en-US" sz="219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</p:txBody>
      </p:sp>
      <p:sp>
        <p:nvSpPr>
          <p:cNvPr id="98" name="圆角矩形 97"/>
          <p:cNvSpPr/>
          <p:nvPr/>
        </p:nvSpPr>
        <p:spPr>
          <a:xfrm>
            <a:off x="13701703" y="12133106"/>
            <a:ext cx="1701737" cy="674563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lIns="0" tIns="59572" rIns="0" bIns="59572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2195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海外账务</a:t>
            </a:r>
            <a:endParaRPr lang="zh-CN" altLang="en-US" sz="219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</p:txBody>
      </p:sp>
      <p:sp>
        <p:nvSpPr>
          <p:cNvPr id="99" name="圆角矩形 98"/>
          <p:cNvSpPr/>
          <p:nvPr/>
        </p:nvSpPr>
        <p:spPr>
          <a:xfrm>
            <a:off x="22426416" y="8259946"/>
            <a:ext cx="1703131" cy="2981176"/>
          </a:xfrm>
          <a:prstGeom prst="roundRect">
            <a:avLst>
              <a:gd name="adj" fmla="val 4419"/>
            </a:avLst>
          </a:prstGeom>
          <a:solidFill>
            <a:schemeClr val="bg1"/>
          </a:solidFill>
          <a:ln w="3175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/>
        </p:spPr>
        <p:txBody>
          <a:bodyPr lIns="0" tIns="59572" rIns="0" bIns="59572" rtlCol="0" anchor="ctr">
            <a:noAutofit/>
          </a:bodyPr>
          <a:p>
            <a:pPr lvl="0" algn="ctr"/>
            <a:endParaRPr lang="en-US" altLang="zh-CN" sz="263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+mn-ea"/>
            </a:endParaRPr>
          </a:p>
        </p:txBody>
      </p:sp>
      <p:sp>
        <p:nvSpPr>
          <p:cNvPr id="100" name="圆角矩形 99"/>
          <p:cNvSpPr/>
          <p:nvPr/>
        </p:nvSpPr>
        <p:spPr>
          <a:xfrm>
            <a:off x="22426416" y="12778400"/>
            <a:ext cx="1703131" cy="1933095"/>
          </a:xfrm>
          <a:prstGeom prst="roundRect">
            <a:avLst>
              <a:gd name="adj" fmla="val 4419"/>
            </a:avLst>
          </a:prstGeom>
          <a:solidFill>
            <a:schemeClr val="bg1"/>
          </a:solidFill>
          <a:ln w="3175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/>
        </p:spPr>
        <p:txBody>
          <a:bodyPr lIns="0" tIns="59572" rIns="0" bIns="59572" rtlCol="0" anchor="ctr">
            <a:noAutofit/>
          </a:bodyPr>
          <a:p>
            <a:pPr lvl="0" algn="ctr"/>
            <a:endParaRPr lang="en-US" altLang="zh-CN" sz="263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+mn-ea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22264744" y="9023707"/>
            <a:ext cx="2026475" cy="1512570"/>
          </a:xfrm>
          <a:prstGeom prst="rect">
            <a:avLst/>
          </a:prstGeom>
          <a:solidFill>
            <a:srgbClr val="000000">
              <a:alpha val="0"/>
            </a:srgbClr>
          </a:solidFill>
          <a:extLst>
            <a:ext uri="{909E8E84-426E-40DD-AFC4-6F175D3DCCD1}">
              <a14:hiddenFill xmlns:a14="http://schemas.microsoft.com/office/drawing/2010/main">
                <a:solidFill>
                  <a:srgbClr val="A5A5A5">
                    <a:lumMod val="75000"/>
                  </a:srgbClr>
                </a:solidFill>
              </a14:hiddenFill>
            </a:ext>
          </a:extLst>
        </p:spPr>
        <p:txBody>
          <a:bodyPr wrap="square" rtlCol="0">
            <a:spAutoFit/>
          </a:bodyPr>
          <a:p>
            <a:pPr algn="ctr"/>
            <a:r>
              <a:rPr lang="en-US" altLang="zh-CN" sz="3075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SRM </a:t>
            </a:r>
            <a:r>
              <a:rPr lang="zh-CN" altLang="en-US" sz="3075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供应商</a:t>
            </a:r>
            <a:endParaRPr lang="zh-CN" altLang="en-US" sz="307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3075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协同平台</a:t>
            </a:r>
            <a:endParaRPr lang="zh-CN" altLang="en-US" sz="307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22264744" y="13054357"/>
            <a:ext cx="2026475" cy="1038860"/>
          </a:xfrm>
          <a:prstGeom prst="rect">
            <a:avLst/>
          </a:prstGeom>
          <a:solidFill>
            <a:srgbClr val="000000">
              <a:alpha val="0"/>
            </a:srgbClr>
          </a:solidFill>
          <a:extLst>
            <a:ext uri="{909E8E84-426E-40DD-AFC4-6F175D3DCCD1}">
              <a14:hiddenFill xmlns:a14="http://schemas.microsoft.com/office/drawing/2010/main">
                <a:solidFill>
                  <a:srgbClr val="A5A5A5">
                    <a:lumMod val="75000"/>
                  </a:srgbClr>
                </a:solidFill>
              </a14:hiddenFill>
            </a:ext>
          </a:extLst>
        </p:spPr>
        <p:txBody>
          <a:bodyPr wrap="square" rtlCol="0">
            <a:spAutoFit/>
          </a:bodyPr>
          <a:p>
            <a:pPr algn="ctr"/>
            <a:r>
              <a:rPr lang="zh-CN" altLang="en-US" sz="3075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工厂</a:t>
            </a:r>
            <a:endParaRPr lang="zh-CN" altLang="en-US" sz="307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3075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协同平台</a:t>
            </a:r>
            <a:endParaRPr lang="zh-CN" altLang="en-US" sz="307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3" name="圆角矩形 102"/>
          <p:cNvSpPr/>
          <p:nvPr/>
        </p:nvSpPr>
        <p:spPr>
          <a:xfrm>
            <a:off x="8836211" y="15062714"/>
            <a:ext cx="15293336" cy="1147035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/>
        </p:spPr>
        <p:txBody>
          <a:bodyPr lIns="0" tIns="59572" rIns="0" bIns="59572" rtlCol="0" anchor="ctr">
            <a:noAutofit/>
          </a:bodyPr>
          <a:p>
            <a:pPr lvl="0" algn="ctr"/>
            <a:r>
              <a:rPr lang="en-US" altLang="zh-CN" sz="2635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+mn-ea"/>
              </a:rPr>
              <a:t>CPOP</a:t>
            </a:r>
            <a:endParaRPr lang="en-US" altLang="zh-CN" sz="263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+mn-ea"/>
            </a:endParaRPr>
          </a:p>
          <a:p>
            <a:pPr lvl="0" algn="ctr"/>
            <a:r>
              <a:rPr lang="en-US" altLang="zh-CN" sz="2635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合作伙伴</a:t>
            </a:r>
            <a:r>
              <a:rPr lang="en-US" altLang="zh-CN" sz="2635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+mn-ea"/>
              </a:rPr>
              <a:t>-IT</a:t>
            </a:r>
            <a:r>
              <a:rPr lang="en-US" altLang="zh-CN" sz="2635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能力开放平台</a:t>
            </a:r>
            <a:endParaRPr lang="en-US" altLang="zh-CN" sz="263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</p:txBody>
      </p:sp>
      <p:cxnSp>
        <p:nvCxnSpPr>
          <p:cNvPr id="104" name="直接箭头连接符 103"/>
          <p:cNvCxnSpPr/>
          <p:nvPr/>
        </p:nvCxnSpPr>
        <p:spPr>
          <a:xfrm>
            <a:off x="7987433" y="10630671"/>
            <a:ext cx="483622" cy="0"/>
          </a:xfrm>
          <a:prstGeom prst="straightConnector1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  <a:miter lim="800000"/>
            <a:tailEnd type="arrow"/>
          </a:ln>
          <a:effectLst/>
        </p:spPr>
      </p:cxnSp>
      <p:sp>
        <p:nvSpPr>
          <p:cNvPr id="105" name="文本框 104"/>
          <p:cNvSpPr txBox="1"/>
          <p:nvPr/>
        </p:nvSpPr>
        <p:spPr>
          <a:xfrm>
            <a:off x="6115662" y="10892691"/>
            <a:ext cx="965200" cy="5651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075">
                <a:solidFill>
                  <a:sysClr val="window" lastClr="FFFFFF"/>
                </a:solidFill>
                <a:latin typeface="微软雅黑" pitchFamily="34" charset="-122"/>
                <a:ea typeface="微软雅黑" pitchFamily="34" charset="-122"/>
              </a:rPr>
              <a:t>客户</a:t>
            </a:r>
            <a:endParaRPr lang="zh-CN" altLang="en-US" sz="3075">
              <a:solidFill>
                <a:sysClr val="window" lastClr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27015950" y="8246009"/>
            <a:ext cx="1356360" cy="5651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075">
                <a:solidFill>
                  <a:sysClr val="window" lastClr="FFFFFF"/>
                </a:solidFill>
                <a:latin typeface="微软雅黑" pitchFamily="34" charset="-122"/>
                <a:ea typeface="微软雅黑" pitchFamily="34" charset="-122"/>
              </a:rPr>
              <a:t>供应商</a:t>
            </a:r>
            <a:endParaRPr lang="zh-CN" altLang="en-US" sz="3075">
              <a:solidFill>
                <a:sysClr val="window" lastClr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27211071" y="12137287"/>
            <a:ext cx="1181878" cy="5651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075">
                <a:solidFill>
                  <a:sysClr val="window" lastClr="FFFFFF"/>
                </a:solidFill>
                <a:latin typeface="微软雅黑" pitchFamily="34" charset="-122"/>
                <a:ea typeface="微软雅黑" pitchFamily="34" charset="-122"/>
              </a:rPr>
              <a:t>工厂</a:t>
            </a:r>
            <a:endParaRPr lang="zh-CN" altLang="en-US" sz="3075">
              <a:solidFill>
                <a:sysClr val="window" lastClr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08" name="直接箭头连接符 107"/>
          <p:cNvCxnSpPr/>
          <p:nvPr/>
        </p:nvCxnSpPr>
        <p:spPr>
          <a:xfrm>
            <a:off x="24659162" y="8519179"/>
            <a:ext cx="664806" cy="0"/>
          </a:xfrm>
          <a:prstGeom prst="straightConnector1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  <a:miter lim="800000"/>
            <a:tailEnd type="arrow"/>
          </a:ln>
          <a:effectLst/>
        </p:spPr>
      </p:cxnSp>
      <p:sp>
        <p:nvSpPr>
          <p:cNvPr id="24" name="圆角矩形 23"/>
          <p:cNvSpPr/>
          <p:nvPr/>
        </p:nvSpPr>
        <p:spPr>
          <a:xfrm>
            <a:off x="11393695" y="13360977"/>
            <a:ext cx="1701737" cy="673169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lIns="0" tIns="59572" rIns="0" bIns="59572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2195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生产排程</a:t>
            </a:r>
            <a:endParaRPr lang="zh-CN" altLang="en-US" sz="219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13687765" y="13143556"/>
            <a:ext cx="1701737" cy="674563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lIns="0" tIns="59572" rIns="0" bIns="59572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2195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成本管理</a:t>
            </a:r>
            <a:endParaRPr lang="zh-CN" altLang="en-US" sz="219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15899606" y="11427881"/>
            <a:ext cx="3772811" cy="1147035"/>
          </a:xfrm>
          <a:prstGeom prst="roundRect">
            <a:avLst>
              <a:gd name="adj" fmla="val 4419"/>
            </a:avLst>
          </a:prstGeom>
          <a:solidFill>
            <a:schemeClr val="bg1"/>
          </a:solidFill>
          <a:ln w="3175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/>
        </p:spPr>
        <p:txBody>
          <a:bodyPr lIns="0" tIns="59572" rIns="0" bIns="59572" rtlCol="0" anchor="ctr">
            <a:noAutofit/>
          </a:bodyPr>
          <a:p>
            <a:pPr lvl="0" algn="ctr"/>
            <a:endParaRPr lang="en-US" altLang="zh-CN" sz="263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6387409" y="11401401"/>
            <a:ext cx="3134486" cy="1038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A5A5A5">
                    <a:lumMod val="75000"/>
                  </a:srgbClr>
                </a:solidFill>
              </a14:hiddenFill>
            </a:ext>
          </a:extLst>
        </p:spPr>
        <p:txBody>
          <a:bodyPr wrap="square" rtlCol="0">
            <a:spAutoFit/>
          </a:bodyPr>
          <a:p>
            <a:r>
              <a:rPr lang="en-US" altLang="zh-CN" sz="3075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        TCS</a:t>
            </a:r>
            <a:endParaRPr lang="en-US" altLang="zh-CN" sz="307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3075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关务管理系统</a:t>
            </a:r>
            <a:endParaRPr lang="zh-CN" altLang="en-US" sz="307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19974855" y="11400007"/>
            <a:ext cx="4154692" cy="1147035"/>
          </a:xfrm>
          <a:prstGeom prst="roundRect">
            <a:avLst>
              <a:gd name="adj" fmla="val 4419"/>
            </a:avLst>
          </a:prstGeom>
          <a:solidFill>
            <a:schemeClr val="bg1"/>
          </a:solidFill>
          <a:ln w="3175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/>
        </p:spPr>
        <p:txBody>
          <a:bodyPr lIns="0" tIns="59572" rIns="0" bIns="59572" rtlCol="0" anchor="ctr">
            <a:noAutofit/>
          </a:bodyPr>
          <a:p>
            <a:pPr lvl="0" algn="ctr"/>
            <a:endParaRPr lang="en-US" altLang="zh-CN" sz="263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20462659" y="11482935"/>
            <a:ext cx="3604171" cy="1148080"/>
          </a:xfrm>
          <a:prstGeom prst="rect">
            <a:avLst/>
          </a:prstGeom>
          <a:solidFill>
            <a:schemeClr val="bg1"/>
          </a:solidFill>
          <a:extLst>
            <a:ext uri="{909E8E84-426E-40DD-AFC4-6F175D3DCCD1}">
              <a14:hiddenFill xmlns:a14="http://schemas.microsoft.com/office/drawing/2010/main">
                <a:solidFill>
                  <a:srgbClr val="A5A5A5">
                    <a:lumMod val="75000"/>
                  </a:srgbClr>
                </a:solidFill>
              </a14:hiddenFill>
            </a:ext>
          </a:extLst>
        </p:spPr>
        <p:txBody>
          <a:bodyPr wrap="square" lIns="200696" tIns="100348" rIns="200696" bIns="100348" rtlCol="0" anchor="t">
            <a:spAutoFit/>
          </a:bodyPr>
          <a:p>
            <a:pPr lvl="0" algn="l"/>
            <a:r>
              <a:rPr lang="en-US" altLang="zh-CN" sz="3075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+mn-ea"/>
              </a:rPr>
              <a:t>        TMS</a:t>
            </a:r>
            <a:endParaRPr lang="en-US" altLang="zh-CN" sz="307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+mn-ea"/>
            </a:endParaRPr>
          </a:p>
          <a:p>
            <a:pPr lvl="0" algn="l"/>
            <a:r>
              <a:rPr lang="en-US" altLang="zh-CN" sz="3075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+mn-ea"/>
              </a:rPr>
              <a:t>物流运输管理系统</a:t>
            </a:r>
            <a:endParaRPr lang="en-US" altLang="zh-CN" sz="307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+mn-ea"/>
            </a:endParaRPr>
          </a:p>
        </p:txBody>
      </p:sp>
      <p:cxnSp>
        <p:nvCxnSpPr>
          <p:cNvPr id="30" name="直接箭头连接符 29"/>
          <p:cNvCxnSpPr/>
          <p:nvPr/>
        </p:nvCxnSpPr>
        <p:spPr>
          <a:xfrm>
            <a:off x="24659162" y="12484324"/>
            <a:ext cx="664806" cy="0"/>
          </a:xfrm>
          <a:prstGeom prst="straightConnector1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  <a:miter lim="800000"/>
            <a:tailEnd type="arrow"/>
          </a:ln>
          <a:effectLst/>
        </p:spPr>
      </p:cxnSp>
      <p:pic>
        <p:nvPicPr>
          <p:cNvPr id="31" name="图片 30" descr="01运输中、物流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505153" y="10027188"/>
            <a:ext cx="1333794" cy="1333794"/>
          </a:xfrm>
          <a:prstGeom prst="rect">
            <a:avLst/>
          </a:prstGeom>
        </p:spPr>
      </p:pic>
      <p:sp>
        <p:nvSpPr>
          <p:cNvPr id="32" name="文本框 31"/>
          <p:cNvSpPr txBox="1"/>
          <p:nvPr/>
        </p:nvSpPr>
        <p:spPr>
          <a:xfrm>
            <a:off x="27015950" y="10351926"/>
            <a:ext cx="1836929" cy="5651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075">
                <a:solidFill>
                  <a:sysClr val="window" lastClr="FFFFFF"/>
                </a:solidFill>
                <a:latin typeface="微软雅黑" pitchFamily="34" charset="-122"/>
                <a:ea typeface="微软雅黑" pitchFamily="34" charset="-122"/>
              </a:rPr>
              <a:t>物流商</a:t>
            </a:r>
            <a:endParaRPr lang="zh-CN" altLang="en-US" sz="3075">
              <a:solidFill>
                <a:sysClr val="window" lastClr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3" name="直接箭头连接符 32"/>
          <p:cNvCxnSpPr/>
          <p:nvPr/>
        </p:nvCxnSpPr>
        <p:spPr>
          <a:xfrm>
            <a:off x="24659162" y="10619521"/>
            <a:ext cx="664806" cy="0"/>
          </a:xfrm>
          <a:prstGeom prst="straightConnector1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  <a:miter lim="800000"/>
            <a:tailEnd type="arrow"/>
          </a:ln>
          <a:effectLst/>
        </p:spPr>
      </p:cxnSp>
      <p:sp>
        <p:nvSpPr>
          <p:cNvPr id="34" name="圆角矩形 33"/>
          <p:cNvSpPr/>
          <p:nvPr/>
        </p:nvSpPr>
        <p:spPr>
          <a:xfrm>
            <a:off x="18156045" y="10152624"/>
            <a:ext cx="1701737" cy="674563"/>
          </a:xfrm>
          <a:prstGeom prst="roundRect">
            <a:avLst/>
          </a:prstGeom>
          <a:solidFill>
            <a:schemeClr val="bg1"/>
          </a:solidFill>
          <a:ln w="3175" cap="flat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lIns="0" tIns="59572" rIns="0" bIns="59572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2195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宋体" pitchFamily="2" charset="-122"/>
              </a:rPr>
              <a:t>变更管理</a:t>
            </a:r>
            <a:endParaRPr lang="zh-CN" altLang="en-US" sz="2195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宋体" pitchFamily="2" charset="-122"/>
            </a:endParaRP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7310" dirty="0">
                <a:solidFill>
                  <a:srgbClr val="595959"/>
                </a:solidFill>
                <a:ea typeface="方正兰亭黑_GBK" panose="02000000000000000000" pitchFamily="2" charset="-122"/>
              </a:rPr>
              <a:t>供应链管理的几个基本概念</a:t>
            </a:r>
            <a:endParaRPr lang="zh-CN" altLang="en-US" sz="7310" dirty="0">
              <a:solidFill>
                <a:srgbClr val="595959"/>
              </a:solidFill>
              <a:ea typeface="方正兰亭黑_GBK" panose="02000000000000000000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1353527" y="4559692"/>
            <a:ext cx="3100526" cy="15890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CN" sz="6095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MTO</a:t>
            </a:r>
            <a:r>
              <a:rPr lang="en-US" altLang="zh-CN" dirty="0">
                <a:latin typeface="+mn-ea"/>
              </a:rPr>
              <a:t> </a:t>
            </a:r>
            <a:endParaRPr lang="zh-CN" altLang="en-US" dirty="0">
              <a:latin typeface="+mn-ea"/>
            </a:endParaRPr>
          </a:p>
        </p:txBody>
      </p:sp>
      <p:sp>
        <p:nvSpPr>
          <p:cNvPr id="4" name="内容占位符 2"/>
          <p:cNvSpPr txBox="1"/>
          <p:nvPr/>
        </p:nvSpPr>
        <p:spPr>
          <a:xfrm>
            <a:off x="4783096" y="4333757"/>
            <a:ext cx="12777829" cy="1590505"/>
          </a:xfrm>
          <a:prstGeom prst="rect">
            <a:avLst/>
          </a:prstGeom>
        </p:spPr>
        <p:txBody>
          <a:bodyPr/>
          <a:lstStyle>
            <a:lvl1pPr marL="0" indent="0" algn="l" defTabSz="2633980" rtl="0" eaLnBrk="1" latinLnBrk="0" hangingPunct="1">
              <a:lnSpc>
                <a:spcPct val="150000"/>
              </a:lnSpc>
              <a:spcBef>
                <a:spcPts val="2880"/>
              </a:spcBef>
              <a:buFont typeface="Arial" panose="020B0604020202020204" pitchFamily="34" charset="0"/>
              <a:buNone/>
              <a:defRPr sz="80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1316990" indent="0" algn="l" defTabSz="2633980" rtl="0" eaLnBrk="1" latinLnBrk="0" hangingPunct="1">
              <a:lnSpc>
                <a:spcPct val="150000"/>
              </a:lnSpc>
              <a:spcBef>
                <a:spcPts val="1440"/>
              </a:spcBef>
              <a:buFont typeface="Arial" panose="020B0604020202020204" pitchFamily="34" charset="0"/>
              <a:buNone/>
              <a:defRPr sz="66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2633980" indent="0" algn="l" defTabSz="2633980" rtl="0" eaLnBrk="1" latinLnBrk="0" hangingPunct="1">
              <a:lnSpc>
                <a:spcPct val="150000"/>
              </a:lnSpc>
              <a:spcBef>
                <a:spcPts val="1440"/>
              </a:spcBef>
              <a:buFont typeface="Arial" panose="020B0604020202020204" pitchFamily="34" charset="0"/>
              <a:buNone/>
              <a:defRPr sz="54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3pPr>
            <a:lvl4pPr marL="3951605" indent="0" algn="l" defTabSz="2633980" rtl="0" eaLnBrk="1" latinLnBrk="0" hangingPunct="1">
              <a:lnSpc>
                <a:spcPct val="150000"/>
              </a:lnSpc>
              <a:spcBef>
                <a:spcPts val="1440"/>
              </a:spcBef>
              <a:buFont typeface="Arial" panose="020B0604020202020204" pitchFamily="34" charset="0"/>
              <a:buNone/>
              <a:defRPr sz="4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4pPr>
            <a:lvl5pPr marL="592709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5pPr>
            <a:lvl6pPr marL="724408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56107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87806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119505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altLang="zh-CN" sz="6095" dirty="0">
                <a:latin typeface="+mn-ea"/>
                <a:ea typeface="+mn-ea"/>
              </a:rPr>
              <a:t>Make to Order  </a:t>
            </a:r>
            <a:r>
              <a:rPr lang="zh-CN" altLang="en-US" sz="6095" dirty="0">
                <a:latin typeface="+mn-ea"/>
                <a:ea typeface="+mn-ea"/>
              </a:rPr>
              <a:t>订货型生产</a:t>
            </a:r>
            <a:r>
              <a:rPr lang="en-US" altLang="zh-CN" sz="6095" dirty="0">
                <a:latin typeface="+mn-ea"/>
                <a:ea typeface="+mn-ea"/>
              </a:rPr>
              <a:t> </a:t>
            </a:r>
            <a:endParaRPr lang="zh-CN" altLang="en-US" sz="6095" dirty="0">
              <a:latin typeface="+mn-ea"/>
              <a:ea typeface="+mn-ea"/>
            </a:endParaRPr>
          </a:p>
        </p:txBody>
      </p:sp>
      <p:sp>
        <p:nvSpPr>
          <p:cNvPr id="5" name="内容占位符 2"/>
          <p:cNvSpPr txBox="1"/>
          <p:nvPr/>
        </p:nvSpPr>
        <p:spPr>
          <a:xfrm>
            <a:off x="2040641" y="6022913"/>
            <a:ext cx="2084369" cy="1590505"/>
          </a:xfrm>
          <a:prstGeom prst="rect">
            <a:avLst/>
          </a:prstGeom>
        </p:spPr>
        <p:txBody>
          <a:bodyPr/>
          <a:lstStyle>
            <a:lvl1pPr marL="0" indent="0" algn="l" defTabSz="2633980" rtl="0" eaLnBrk="1" latinLnBrk="0" hangingPunct="1">
              <a:lnSpc>
                <a:spcPct val="150000"/>
              </a:lnSpc>
              <a:spcBef>
                <a:spcPts val="2880"/>
              </a:spcBef>
              <a:buFont typeface="Arial" panose="020B0604020202020204" pitchFamily="34" charset="0"/>
              <a:buNone/>
              <a:defRPr sz="80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1316990" indent="0" algn="l" defTabSz="2633980" rtl="0" eaLnBrk="1" latinLnBrk="0" hangingPunct="1">
              <a:lnSpc>
                <a:spcPct val="150000"/>
              </a:lnSpc>
              <a:spcBef>
                <a:spcPts val="1440"/>
              </a:spcBef>
              <a:buFont typeface="Arial" panose="020B0604020202020204" pitchFamily="34" charset="0"/>
              <a:buNone/>
              <a:defRPr sz="66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2633980" indent="0" algn="l" defTabSz="2633980" rtl="0" eaLnBrk="1" latinLnBrk="0" hangingPunct="1">
              <a:lnSpc>
                <a:spcPct val="150000"/>
              </a:lnSpc>
              <a:spcBef>
                <a:spcPts val="1440"/>
              </a:spcBef>
              <a:buFont typeface="Arial" panose="020B0604020202020204" pitchFamily="34" charset="0"/>
              <a:buNone/>
              <a:defRPr sz="54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3pPr>
            <a:lvl4pPr marL="3951605" indent="0" algn="l" defTabSz="2633980" rtl="0" eaLnBrk="1" latinLnBrk="0" hangingPunct="1">
              <a:lnSpc>
                <a:spcPct val="150000"/>
              </a:lnSpc>
              <a:spcBef>
                <a:spcPts val="1440"/>
              </a:spcBef>
              <a:buFont typeface="Arial" panose="020B0604020202020204" pitchFamily="34" charset="0"/>
              <a:buNone/>
              <a:defRPr sz="4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4pPr>
            <a:lvl5pPr marL="592709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5pPr>
            <a:lvl6pPr marL="724408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56107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87806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119505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altLang="zh-CN" sz="6095" dirty="0">
                <a:latin typeface="+mn-ea"/>
                <a:ea typeface="+mn-ea"/>
              </a:rPr>
              <a:t>MTS </a:t>
            </a:r>
            <a:endParaRPr lang="zh-CN" altLang="en-US" sz="6095" dirty="0">
              <a:latin typeface="+mn-ea"/>
              <a:ea typeface="+mn-ea"/>
            </a:endParaRPr>
          </a:p>
        </p:txBody>
      </p:sp>
      <p:sp>
        <p:nvSpPr>
          <p:cNvPr id="7" name="内容占位符 2"/>
          <p:cNvSpPr txBox="1"/>
          <p:nvPr/>
        </p:nvSpPr>
        <p:spPr>
          <a:xfrm>
            <a:off x="4754028" y="9050168"/>
            <a:ext cx="12157868" cy="1590505"/>
          </a:xfrm>
          <a:prstGeom prst="rect">
            <a:avLst/>
          </a:prstGeom>
        </p:spPr>
        <p:txBody>
          <a:bodyPr/>
          <a:lstStyle>
            <a:lvl1pPr marL="0" indent="0" algn="l" defTabSz="2633980" rtl="0" eaLnBrk="1" latinLnBrk="0" hangingPunct="1">
              <a:lnSpc>
                <a:spcPct val="150000"/>
              </a:lnSpc>
              <a:spcBef>
                <a:spcPts val="2880"/>
              </a:spcBef>
              <a:buFont typeface="Arial" panose="020B0604020202020204" pitchFamily="34" charset="0"/>
              <a:buNone/>
              <a:defRPr sz="80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1316990" indent="0" algn="l" defTabSz="2633980" rtl="0" eaLnBrk="1" latinLnBrk="0" hangingPunct="1">
              <a:lnSpc>
                <a:spcPct val="150000"/>
              </a:lnSpc>
              <a:spcBef>
                <a:spcPts val="1440"/>
              </a:spcBef>
              <a:buFont typeface="Arial" panose="020B0604020202020204" pitchFamily="34" charset="0"/>
              <a:buNone/>
              <a:defRPr sz="66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2633980" indent="0" algn="l" defTabSz="2633980" rtl="0" eaLnBrk="1" latinLnBrk="0" hangingPunct="1">
              <a:lnSpc>
                <a:spcPct val="150000"/>
              </a:lnSpc>
              <a:spcBef>
                <a:spcPts val="1440"/>
              </a:spcBef>
              <a:buFont typeface="Arial" panose="020B0604020202020204" pitchFamily="34" charset="0"/>
              <a:buNone/>
              <a:defRPr sz="54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3pPr>
            <a:lvl4pPr marL="3951605" indent="0" algn="l" defTabSz="2633980" rtl="0" eaLnBrk="1" latinLnBrk="0" hangingPunct="1">
              <a:lnSpc>
                <a:spcPct val="150000"/>
              </a:lnSpc>
              <a:spcBef>
                <a:spcPts val="1440"/>
              </a:spcBef>
              <a:buFont typeface="Arial" panose="020B0604020202020204" pitchFamily="34" charset="0"/>
              <a:buNone/>
              <a:defRPr sz="4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4pPr>
            <a:lvl5pPr marL="592709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5pPr>
            <a:lvl6pPr marL="724408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56107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87806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119505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endParaRPr lang="zh-CN" altLang="en-US" sz="6095" dirty="0">
              <a:latin typeface="+mn-ea"/>
              <a:ea typeface="+mn-ea"/>
            </a:endParaRPr>
          </a:p>
        </p:txBody>
      </p:sp>
      <p:sp>
        <p:nvSpPr>
          <p:cNvPr id="8" name="内容占位符 2"/>
          <p:cNvSpPr txBox="1"/>
          <p:nvPr/>
        </p:nvSpPr>
        <p:spPr>
          <a:xfrm>
            <a:off x="4783096" y="6006307"/>
            <a:ext cx="12777829" cy="1590505"/>
          </a:xfrm>
          <a:prstGeom prst="rect">
            <a:avLst/>
          </a:prstGeom>
        </p:spPr>
        <p:txBody>
          <a:bodyPr/>
          <a:lstStyle>
            <a:lvl1pPr marL="0" indent="0" algn="l" defTabSz="2633980" rtl="0" eaLnBrk="1" latinLnBrk="0" hangingPunct="1">
              <a:lnSpc>
                <a:spcPct val="150000"/>
              </a:lnSpc>
              <a:spcBef>
                <a:spcPts val="2880"/>
              </a:spcBef>
              <a:buFont typeface="Arial" panose="020B0604020202020204" pitchFamily="34" charset="0"/>
              <a:buNone/>
              <a:defRPr sz="80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1316990" indent="0" algn="l" defTabSz="2633980" rtl="0" eaLnBrk="1" latinLnBrk="0" hangingPunct="1">
              <a:lnSpc>
                <a:spcPct val="150000"/>
              </a:lnSpc>
              <a:spcBef>
                <a:spcPts val="1440"/>
              </a:spcBef>
              <a:buFont typeface="Arial" panose="020B0604020202020204" pitchFamily="34" charset="0"/>
              <a:buNone/>
              <a:defRPr sz="66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2633980" indent="0" algn="l" defTabSz="2633980" rtl="0" eaLnBrk="1" latinLnBrk="0" hangingPunct="1">
              <a:lnSpc>
                <a:spcPct val="150000"/>
              </a:lnSpc>
              <a:spcBef>
                <a:spcPts val="1440"/>
              </a:spcBef>
              <a:buFont typeface="Arial" panose="020B0604020202020204" pitchFamily="34" charset="0"/>
              <a:buNone/>
              <a:defRPr sz="54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3pPr>
            <a:lvl4pPr marL="3951605" indent="0" algn="l" defTabSz="2633980" rtl="0" eaLnBrk="1" latinLnBrk="0" hangingPunct="1">
              <a:lnSpc>
                <a:spcPct val="150000"/>
              </a:lnSpc>
              <a:spcBef>
                <a:spcPts val="1440"/>
              </a:spcBef>
              <a:buFont typeface="Arial" panose="020B0604020202020204" pitchFamily="34" charset="0"/>
              <a:buNone/>
              <a:defRPr sz="4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4pPr>
            <a:lvl5pPr marL="592709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5pPr>
            <a:lvl6pPr marL="724408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56107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87806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119505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altLang="zh-CN" sz="6095" dirty="0">
                <a:latin typeface="+mn-ea"/>
                <a:ea typeface="+mn-ea"/>
              </a:rPr>
              <a:t>Make to Stock  </a:t>
            </a:r>
            <a:r>
              <a:rPr lang="zh-CN" altLang="en-US" sz="6095" dirty="0">
                <a:latin typeface="+mn-ea"/>
                <a:ea typeface="+mn-ea"/>
              </a:rPr>
              <a:t>备货型生产</a:t>
            </a:r>
            <a:endParaRPr lang="zh-CN" altLang="en-US" sz="6095" dirty="0">
              <a:latin typeface="+mn-ea"/>
              <a:ea typeface="+mn-ea"/>
            </a:endParaRPr>
          </a:p>
        </p:txBody>
      </p:sp>
      <p:sp>
        <p:nvSpPr>
          <p:cNvPr id="9" name="内容占位符 2"/>
          <p:cNvSpPr txBox="1"/>
          <p:nvPr/>
        </p:nvSpPr>
        <p:spPr>
          <a:xfrm>
            <a:off x="2037385" y="9050168"/>
            <a:ext cx="3100527" cy="1590505"/>
          </a:xfrm>
          <a:prstGeom prst="rect">
            <a:avLst/>
          </a:prstGeom>
        </p:spPr>
        <p:txBody>
          <a:bodyPr/>
          <a:lstStyle>
            <a:lvl1pPr marL="0" indent="0" algn="l" defTabSz="2633980" rtl="0" eaLnBrk="1" latinLnBrk="0" hangingPunct="1">
              <a:lnSpc>
                <a:spcPct val="150000"/>
              </a:lnSpc>
              <a:spcBef>
                <a:spcPts val="2880"/>
              </a:spcBef>
              <a:buFont typeface="Arial" panose="020B0604020202020204" pitchFamily="34" charset="0"/>
              <a:buNone/>
              <a:defRPr sz="80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1316990" indent="0" algn="l" defTabSz="2633980" rtl="0" eaLnBrk="1" latinLnBrk="0" hangingPunct="1">
              <a:lnSpc>
                <a:spcPct val="150000"/>
              </a:lnSpc>
              <a:spcBef>
                <a:spcPts val="1440"/>
              </a:spcBef>
              <a:buFont typeface="Arial" panose="020B0604020202020204" pitchFamily="34" charset="0"/>
              <a:buNone/>
              <a:defRPr sz="66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2633980" indent="0" algn="l" defTabSz="2633980" rtl="0" eaLnBrk="1" latinLnBrk="0" hangingPunct="1">
              <a:lnSpc>
                <a:spcPct val="150000"/>
              </a:lnSpc>
              <a:spcBef>
                <a:spcPts val="1440"/>
              </a:spcBef>
              <a:buFont typeface="Arial" panose="020B0604020202020204" pitchFamily="34" charset="0"/>
              <a:buNone/>
              <a:defRPr sz="54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3pPr>
            <a:lvl4pPr marL="3951605" indent="0" algn="l" defTabSz="2633980" rtl="0" eaLnBrk="1" latinLnBrk="0" hangingPunct="1">
              <a:lnSpc>
                <a:spcPct val="150000"/>
              </a:lnSpc>
              <a:spcBef>
                <a:spcPts val="1440"/>
              </a:spcBef>
              <a:buFont typeface="Arial" panose="020B0604020202020204" pitchFamily="34" charset="0"/>
              <a:buNone/>
              <a:defRPr sz="4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4pPr>
            <a:lvl5pPr marL="592709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5pPr>
            <a:lvl6pPr marL="724408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56107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87806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119505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altLang="zh-CN" sz="6095" dirty="0">
                <a:latin typeface="+mn-ea"/>
                <a:ea typeface="+mn-ea"/>
              </a:rPr>
              <a:t>S&amp;OP </a:t>
            </a:r>
            <a:endParaRPr lang="zh-CN" altLang="en-US" sz="6095" dirty="0">
              <a:latin typeface="+mn-ea"/>
              <a:ea typeface="+mn-ea"/>
            </a:endParaRPr>
          </a:p>
        </p:txBody>
      </p:sp>
      <p:sp>
        <p:nvSpPr>
          <p:cNvPr id="10" name="内容占位符 2"/>
          <p:cNvSpPr txBox="1"/>
          <p:nvPr/>
        </p:nvSpPr>
        <p:spPr>
          <a:xfrm>
            <a:off x="2037385" y="10701025"/>
            <a:ext cx="2084369" cy="1590505"/>
          </a:xfrm>
          <a:prstGeom prst="rect">
            <a:avLst/>
          </a:prstGeom>
        </p:spPr>
        <p:txBody>
          <a:bodyPr/>
          <a:lstStyle>
            <a:lvl1pPr marL="0" indent="0" algn="l" defTabSz="2633980" rtl="0" eaLnBrk="1" latinLnBrk="0" hangingPunct="1">
              <a:lnSpc>
                <a:spcPct val="150000"/>
              </a:lnSpc>
              <a:spcBef>
                <a:spcPts val="2880"/>
              </a:spcBef>
              <a:buFont typeface="Arial" panose="020B0604020202020204" pitchFamily="34" charset="0"/>
              <a:buNone/>
              <a:defRPr sz="80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1316990" indent="0" algn="l" defTabSz="2633980" rtl="0" eaLnBrk="1" latinLnBrk="0" hangingPunct="1">
              <a:lnSpc>
                <a:spcPct val="150000"/>
              </a:lnSpc>
              <a:spcBef>
                <a:spcPts val="1440"/>
              </a:spcBef>
              <a:buFont typeface="Arial" panose="020B0604020202020204" pitchFamily="34" charset="0"/>
              <a:buNone/>
              <a:defRPr sz="66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2633980" indent="0" algn="l" defTabSz="2633980" rtl="0" eaLnBrk="1" latinLnBrk="0" hangingPunct="1">
              <a:lnSpc>
                <a:spcPct val="150000"/>
              </a:lnSpc>
              <a:spcBef>
                <a:spcPts val="1440"/>
              </a:spcBef>
              <a:buFont typeface="Arial" panose="020B0604020202020204" pitchFamily="34" charset="0"/>
              <a:buNone/>
              <a:defRPr sz="54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3pPr>
            <a:lvl4pPr marL="3951605" indent="0" algn="l" defTabSz="2633980" rtl="0" eaLnBrk="1" latinLnBrk="0" hangingPunct="1">
              <a:lnSpc>
                <a:spcPct val="150000"/>
              </a:lnSpc>
              <a:spcBef>
                <a:spcPts val="1440"/>
              </a:spcBef>
              <a:buFont typeface="Arial" panose="020B0604020202020204" pitchFamily="34" charset="0"/>
              <a:buNone/>
              <a:defRPr sz="4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4pPr>
            <a:lvl5pPr marL="592709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5pPr>
            <a:lvl6pPr marL="724408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56107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87806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119505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altLang="zh-CN" sz="6095" dirty="0">
                <a:latin typeface="+mn-ea"/>
                <a:ea typeface="+mn-ea"/>
              </a:rPr>
              <a:t>SKU</a:t>
            </a:r>
            <a:endParaRPr lang="zh-CN" altLang="en-US" sz="6095" dirty="0">
              <a:latin typeface="+mn-ea"/>
              <a:ea typeface="+mn-ea"/>
            </a:endParaRPr>
          </a:p>
        </p:txBody>
      </p:sp>
      <p:sp>
        <p:nvSpPr>
          <p:cNvPr id="11" name="内容占位符 2"/>
          <p:cNvSpPr txBox="1"/>
          <p:nvPr/>
        </p:nvSpPr>
        <p:spPr>
          <a:xfrm>
            <a:off x="4754028" y="10722718"/>
            <a:ext cx="14752086" cy="1590505"/>
          </a:xfrm>
          <a:prstGeom prst="rect">
            <a:avLst/>
          </a:prstGeom>
        </p:spPr>
        <p:txBody>
          <a:bodyPr/>
          <a:lstStyle>
            <a:lvl1pPr marL="0" indent="0" algn="l" defTabSz="2633980" rtl="0" eaLnBrk="1" latinLnBrk="0" hangingPunct="1">
              <a:lnSpc>
                <a:spcPct val="150000"/>
              </a:lnSpc>
              <a:spcBef>
                <a:spcPts val="2880"/>
              </a:spcBef>
              <a:buFont typeface="Arial" panose="020B0604020202020204" pitchFamily="34" charset="0"/>
              <a:buNone/>
              <a:defRPr sz="80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1316990" indent="0" algn="l" defTabSz="2633980" rtl="0" eaLnBrk="1" latinLnBrk="0" hangingPunct="1">
              <a:lnSpc>
                <a:spcPct val="150000"/>
              </a:lnSpc>
              <a:spcBef>
                <a:spcPts val="1440"/>
              </a:spcBef>
              <a:buFont typeface="Arial" panose="020B0604020202020204" pitchFamily="34" charset="0"/>
              <a:buNone/>
              <a:defRPr sz="66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2633980" indent="0" algn="l" defTabSz="2633980" rtl="0" eaLnBrk="1" latinLnBrk="0" hangingPunct="1">
              <a:lnSpc>
                <a:spcPct val="150000"/>
              </a:lnSpc>
              <a:spcBef>
                <a:spcPts val="1440"/>
              </a:spcBef>
              <a:buFont typeface="Arial" panose="020B0604020202020204" pitchFamily="34" charset="0"/>
              <a:buNone/>
              <a:defRPr sz="54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3pPr>
            <a:lvl4pPr marL="3951605" indent="0" algn="l" defTabSz="2633980" rtl="0" eaLnBrk="1" latinLnBrk="0" hangingPunct="1">
              <a:lnSpc>
                <a:spcPct val="150000"/>
              </a:lnSpc>
              <a:spcBef>
                <a:spcPts val="1440"/>
              </a:spcBef>
              <a:buFont typeface="Arial" panose="020B0604020202020204" pitchFamily="34" charset="0"/>
              <a:buNone/>
              <a:defRPr sz="4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4pPr>
            <a:lvl5pPr marL="592709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5pPr>
            <a:lvl6pPr marL="724408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56107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87806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119505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altLang="zh-CN" sz="6095" dirty="0">
                <a:latin typeface="+mn-ea"/>
                <a:ea typeface="+mn-ea"/>
              </a:rPr>
              <a:t>Stock Keeping Unit  </a:t>
            </a:r>
            <a:r>
              <a:rPr lang="zh-CN" altLang="en-US" sz="6095" dirty="0">
                <a:latin typeface="+mn-ea"/>
                <a:ea typeface="+mn-ea"/>
              </a:rPr>
              <a:t>库存单位</a:t>
            </a:r>
            <a:endParaRPr lang="zh-CN" altLang="en-US" sz="6095" dirty="0">
              <a:latin typeface="+mn-ea"/>
              <a:ea typeface="+mn-ea"/>
            </a:endParaRPr>
          </a:p>
        </p:txBody>
      </p:sp>
      <p:sp>
        <p:nvSpPr>
          <p:cNvPr id="12" name="内容占位符 2"/>
          <p:cNvSpPr txBox="1"/>
          <p:nvPr/>
        </p:nvSpPr>
        <p:spPr>
          <a:xfrm>
            <a:off x="2024111" y="12326423"/>
            <a:ext cx="2084369" cy="1590505"/>
          </a:xfrm>
          <a:prstGeom prst="rect">
            <a:avLst/>
          </a:prstGeom>
        </p:spPr>
        <p:txBody>
          <a:bodyPr/>
          <a:lstStyle>
            <a:lvl1pPr marL="0" indent="0" algn="l" defTabSz="2633980" rtl="0" eaLnBrk="1" latinLnBrk="0" hangingPunct="1">
              <a:lnSpc>
                <a:spcPct val="150000"/>
              </a:lnSpc>
              <a:spcBef>
                <a:spcPts val="2880"/>
              </a:spcBef>
              <a:buFont typeface="Arial" panose="020B0604020202020204" pitchFamily="34" charset="0"/>
              <a:buNone/>
              <a:defRPr sz="80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1316990" indent="0" algn="l" defTabSz="2633980" rtl="0" eaLnBrk="1" latinLnBrk="0" hangingPunct="1">
              <a:lnSpc>
                <a:spcPct val="150000"/>
              </a:lnSpc>
              <a:spcBef>
                <a:spcPts val="1440"/>
              </a:spcBef>
              <a:buFont typeface="Arial" panose="020B0604020202020204" pitchFamily="34" charset="0"/>
              <a:buNone/>
              <a:defRPr sz="66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2633980" indent="0" algn="l" defTabSz="2633980" rtl="0" eaLnBrk="1" latinLnBrk="0" hangingPunct="1">
              <a:lnSpc>
                <a:spcPct val="150000"/>
              </a:lnSpc>
              <a:spcBef>
                <a:spcPts val="1440"/>
              </a:spcBef>
              <a:buFont typeface="Arial" panose="020B0604020202020204" pitchFamily="34" charset="0"/>
              <a:buNone/>
              <a:defRPr sz="54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3pPr>
            <a:lvl4pPr marL="3951605" indent="0" algn="l" defTabSz="2633980" rtl="0" eaLnBrk="1" latinLnBrk="0" hangingPunct="1">
              <a:lnSpc>
                <a:spcPct val="150000"/>
              </a:lnSpc>
              <a:spcBef>
                <a:spcPts val="1440"/>
              </a:spcBef>
              <a:buFont typeface="Arial" panose="020B0604020202020204" pitchFamily="34" charset="0"/>
              <a:buNone/>
              <a:defRPr sz="4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4pPr>
            <a:lvl5pPr marL="592709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5pPr>
            <a:lvl6pPr marL="724408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56107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87806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119505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altLang="zh-CN" sz="6095" dirty="0">
                <a:latin typeface="+mn-ea"/>
                <a:ea typeface="+mn-ea"/>
              </a:rPr>
              <a:t>MPS</a:t>
            </a:r>
            <a:endParaRPr lang="zh-CN" altLang="en-US" sz="6095" dirty="0">
              <a:latin typeface="+mn-ea"/>
              <a:ea typeface="+mn-ea"/>
            </a:endParaRPr>
          </a:p>
        </p:txBody>
      </p:sp>
      <p:sp>
        <p:nvSpPr>
          <p:cNvPr id="13" name="内容占位符 2"/>
          <p:cNvSpPr txBox="1"/>
          <p:nvPr/>
        </p:nvSpPr>
        <p:spPr>
          <a:xfrm>
            <a:off x="4740753" y="12348117"/>
            <a:ext cx="15862170" cy="1590505"/>
          </a:xfrm>
          <a:prstGeom prst="rect">
            <a:avLst/>
          </a:prstGeom>
        </p:spPr>
        <p:txBody>
          <a:bodyPr/>
          <a:lstStyle>
            <a:lvl1pPr marL="0" indent="0" algn="l" defTabSz="2633980" rtl="0" eaLnBrk="1" latinLnBrk="0" hangingPunct="1">
              <a:lnSpc>
                <a:spcPct val="150000"/>
              </a:lnSpc>
              <a:spcBef>
                <a:spcPts val="2880"/>
              </a:spcBef>
              <a:buFont typeface="Arial" panose="020B0604020202020204" pitchFamily="34" charset="0"/>
              <a:buNone/>
              <a:defRPr sz="80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1316990" indent="0" algn="l" defTabSz="2633980" rtl="0" eaLnBrk="1" latinLnBrk="0" hangingPunct="1">
              <a:lnSpc>
                <a:spcPct val="150000"/>
              </a:lnSpc>
              <a:spcBef>
                <a:spcPts val="1440"/>
              </a:spcBef>
              <a:buFont typeface="Arial" panose="020B0604020202020204" pitchFamily="34" charset="0"/>
              <a:buNone/>
              <a:defRPr sz="66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2633980" indent="0" algn="l" defTabSz="2633980" rtl="0" eaLnBrk="1" latinLnBrk="0" hangingPunct="1">
              <a:lnSpc>
                <a:spcPct val="150000"/>
              </a:lnSpc>
              <a:spcBef>
                <a:spcPts val="1440"/>
              </a:spcBef>
              <a:buFont typeface="Arial" panose="020B0604020202020204" pitchFamily="34" charset="0"/>
              <a:buNone/>
              <a:defRPr sz="54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3pPr>
            <a:lvl4pPr marL="3951605" indent="0" algn="l" defTabSz="2633980" rtl="0" eaLnBrk="1" latinLnBrk="0" hangingPunct="1">
              <a:lnSpc>
                <a:spcPct val="150000"/>
              </a:lnSpc>
              <a:spcBef>
                <a:spcPts val="1440"/>
              </a:spcBef>
              <a:buFont typeface="Arial" panose="020B0604020202020204" pitchFamily="34" charset="0"/>
              <a:buNone/>
              <a:defRPr sz="4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4pPr>
            <a:lvl5pPr marL="592709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5pPr>
            <a:lvl6pPr marL="724408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56107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87806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119505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altLang="zh-CN" sz="6095" dirty="0">
                <a:latin typeface="+mn-ea"/>
                <a:ea typeface="+mn-ea"/>
              </a:rPr>
              <a:t>Master Production Schedule</a:t>
            </a:r>
            <a:r>
              <a:rPr lang="zh-CN" altLang="en-US" sz="6095" dirty="0">
                <a:latin typeface="+mn-ea"/>
                <a:ea typeface="+mn-ea"/>
              </a:rPr>
              <a:t> 主生产计划</a:t>
            </a:r>
            <a:endParaRPr lang="zh-CN" altLang="en-US" sz="6095" dirty="0">
              <a:latin typeface="+mn-ea"/>
              <a:ea typeface="+mn-ea"/>
            </a:endParaRPr>
          </a:p>
        </p:txBody>
      </p:sp>
      <p:sp>
        <p:nvSpPr>
          <p:cNvPr id="14" name="内容占位符 2"/>
          <p:cNvSpPr txBox="1"/>
          <p:nvPr/>
        </p:nvSpPr>
        <p:spPr>
          <a:xfrm>
            <a:off x="4748873" y="9009070"/>
            <a:ext cx="17852472" cy="1590505"/>
          </a:xfrm>
          <a:prstGeom prst="rect">
            <a:avLst/>
          </a:prstGeom>
        </p:spPr>
        <p:txBody>
          <a:bodyPr/>
          <a:lstStyle>
            <a:lvl1pPr marL="0" indent="0" algn="l" defTabSz="2633980" rtl="0" eaLnBrk="1" latinLnBrk="0" hangingPunct="1">
              <a:lnSpc>
                <a:spcPct val="150000"/>
              </a:lnSpc>
              <a:spcBef>
                <a:spcPts val="2880"/>
              </a:spcBef>
              <a:buFont typeface="Arial" panose="020B0604020202020204" pitchFamily="34" charset="0"/>
              <a:buNone/>
              <a:defRPr sz="80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1316990" indent="0" algn="l" defTabSz="2633980" rtl="0" eaLnBrk="1" latinLnBrk="0" hangingPunct="1">
              <a:lnSpc>
                <a:spcPct val="150000"/>
              </a:lnSpc>
              <a:spcBef>
                <a:spcPts val="1440"/>
              </a:spcBef>
              <a:buFont typeface="Arial" panose="020B0604020202020204" pitchFamily="34" charset="0"/>
              <a:buNone/>
              <a:defRPr sz="66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2633980" indent="0" algn="l" defTabSz="2633980" rtl="0" eaLnBrk="1" latinLnBrk="0" hangingPunct="1">
              <a:lnSpc>
                <a:spcPct val="150000"/>
              </a:lnSpc>
              <a:spcBef>
                <a:spcPts val="1440"/>
              </a:spcBef>
              <a:buFont typeface="Arial" panose="020B0604020202020204" pitchFamily="34" charset="0"/>
              <a:buNone/>
              <a:defRPr sz="54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3pPr>
            <a:lvl4pPr marL="3951605" indent="0" algn="l" defTabSz="2633980" rtl="0" eaLnBrk="1" latinLnBrk="0" hangingPunct="1">
              <a:lnSpc>
                <a:spcPct val="150000"/>
              </a:lnSpc>
              <a:spcBef>
                <a:spcPts val="1440"/>
              </a:spcBef>
              <a:buFont typeface="Arial" panose="020B0604020202020204" pitchFamily="34" charset="0"/>
              <a:buNone/>
              <a:defRPr sz="4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4pPr>
            <a:lvl5pPr marL="592709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5pPr>
            <a:lvl6pPr marL="724408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56107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87806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119505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altLang="zh-CN" sz="6095" dirty="0">
                <a:latin typeface="+mn-ea"/>
                <a:ea typeface="+mn-ea"/>
              </a:rPr>
              <a:t>Sales &amp; Operation Planning </a:t>
            </a:r>
            <a:r>
              <a:rPr lang="zh-CN" altLang="en-US" sz="6095" dirty="0">
                <a:latin typeface="+mn-ea"/>
                <a:ea typeface="+mn-ea"/>
              </a:rPr>
              <a:t>销售与运作计划</a:t>
            </a:r>
            <a:endParaRPr lang="zh-CN" altLang="en-US" sz="6095" dirty="0">
              <a:latin typeface="+mn-ea"/>
              <a:ea typeface="+mn-ea"/>
            </a:endParaRPr>
          </a:p>
        </p:txBody>
      </p:sp>
      <p:sp>
        <p:nvSpPr>
          <p:cNvPr id="15" name="内容占位符 2"/>
          <p:cNvSpPr txBox="1"/>
          <p:nvPr/>
        </p:nvSpPr>
        <p:spPr>
          <a:xfrm>
            <a:off x="4817319" y="7536541"/>
            <a:ext cx="12777829" cy="1590505"/>
          </a:xfrm>
          <a:prstGeom prst="rect">
            <a:avLst/>
          </a:prstGeom>
        </p:spPr>
        <p:txBody>
          <a:bodyPr/>
          <a:lstStyle>
            <a:lvl1pPr marL="0" indent="0" algn="l" defTabSz="2633980" rtl="0" eaLnBrk="1" latinLnBrk="0" hangingPunct="1">
              <a:lnSpc>
                <a:spcPct val="150000"/>
              </a:lnSpc>
              <a:spcBef>
                <a:spcPts val="2880"/>
              </a:spcBef>
              <a:buFont typeface="Arial" panose="020B0604020202020204" pitchFamily="34" charset="0"/>
              <a:buNone/>
              <a:defRPr sz="80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1316990" indent="0" algn="l" defTabSz="2633980" rtl="0" eaLnBrk="1" latinLnBrk="0" hangingPunct="1">
              <a:lnSpc>
                <a:spcPct val="150000"/>
              </a:lnSpc>
              <a:spcBef>
                <a:spcPts val="1440"/>
              </a:spcBef>
              <a:buFont typeface="Arial" panose="020B0604020202020204" pitchFamily="34" charset="0"/>
              <a:buNone/>
              <a:defRPr sz="66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2633980" indent="0" algn="l" defTabSz="2633980" rtl="0" eaLnBrk="1" latinLnBrk="0" hangingPunct="1">
              <a:lnSpc>
                <a:spcPct val="150000"/>
              </a:lnSpc>
              <a:spcBef>
                <a:spcPts val="1440"/>
              </a:spcBef>
              <a:buFont typeface="Arial" panose="020B0604020202020204" pitchFamily="34" charset="0"/>
              <a:buNone/>
              <a:defRPr sz="54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3pPr>
            <a:lvl4pPr marL="3951605" indent="0" algn="l" defTabSz="2633980" rtl="0" eaLnBrk="1" latinLnBrk="0" hangingPunct="1">
              <a:lnSpc>
                <a:spcPct val="150000"/>
              </a:lnSpc>
              <a:spcBef>
                <a:spcPts val="1440"/>
              </a:spcBef>
              <a:buFont typeface="Arial" panose="020B0604020202020204" pitchFamily="34" charset="0"/>
              <a:buNone/>
              <a:defRPr sz="4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4pPr>
            <a:lvl5pPr marL="592709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5pPr>
            <a:lvl6pPr marL="724408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56107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87806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119505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altLang="zh-CN" sz="6095" dirty="0">
                <a:latin typeface="+mn-ea"/>
                <a:ea typeface="+mn-ea"/>
              </a:rPr>
              <a:t>Engineering to Order </a:t>
            </a:r>
            <a:r>
              <a:rPr lang="zh-CN" altLang="en-US" sz="6095" dirty="0">
                <a:latin typeface="+mn-ea"/>
                <a:ea typeface="+mn-ea"/>
              </a:rPr>
              <a:t>按订单设计</a:t>
            </a:r>
            <a:endParaRPr lang="zh-CN" altLang="en-US" sz="6095" dirty="0">
              <a:latin typeface="+mn-ea"/>
              <a:ea typeface="+mn-ea"/>
            </a:endParaRPr>
          </a:p>
        </p:txBody>
      </p:sp>
      <p:sp>
        <p:nvSpPr>
          <p:cNvPr id="16" name="内容占位符 2"/>
          <p:cNvSpPr txBox="1"/>
          <p:nvPr/>
        </p:nvSpPr>
        <p:spPr>
          <a:xfrm>
            <a:off x="2033312" y="7514504"/>
            <a:ext cx="2084369" cy="1590505"/>
          </a:xfrm>
          <a:prstGeom prst="rect">
            <a:avLst/>
          </a:prstGeom>
        </p:spPr>
        <p:txBody>
          <a:bodyPr/>
          <a:lstStyle>
            <a:lvl1pPr marL="0" indent="0" algn="l" defTabSz="2633980" rtl="0" eaLnBrk="1" latinLnBrk="0" hangingPunct="1">
              <a:lnSpc>
                <a:spcPct val="150000"/>
              </a:lnSpc>
              <a:spcBef>
                <a:spcPts val="2880"/>
              </a:spcBef>
              <a:buFont typeface="Arial" panose="020B0604020202020204" pitchFamily="34" charset="0"/>
              <a:buNone/>
              <a:defRPr sz="80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1316990" indent="0" algn="l" defTabSz="2633980" rtl="0" eaLnBrk="1" latinLnBrk="0" hangingPunct="1">
              <a:lnSpc>
                <a:spcPct val="150000"/>
              </a:lnSpc>
              <a:spcBef>
                <a:spcPts val="1440"/>
              </a:spcBef>
              <a:buFont typeface="Arial" panose="020B0604020202020204" pitchFamily="34" charset="0"/>
              <a:buNone/>
              <a:defRPr sz="66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2633980" indent="0" algn="l" defTabSz="2633980" rtl="0" eaLnBrk="1" latinLnBrk="0" hangingPunct="1">
              <a:lnSpc>
                <a:spcPct val="150000"/>
              </a:lnSpc>
              <a:spcBef>
                <a:spcPts val="1440"/>
              </a:spcBef>
              <a:buFont typeface="Arial" panose="020B0604020202020204" pitchFamily="34" charset="0"/>
              <a:buNone/>
              <a:defRPr sz="54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3pPr>
            <a:lvl4pPr marL="3951605" indent="0" algn="l" defTabSz="2633980" rtl="0" eaLnBrk="1" latinLnBrk="0" hangingPunct="1">
              <a:lnSpc>
                <a:spcPct val="150000"/>
              </a:lnSpc>
              <a:spcBef>
                <a:spcPts val="1440"/>
              </a:spcBef>
              <a:buFont typeface="Arial" panose="020B0604020202020204" pitchFamily="34" charset="0"/>
              <a:buNone/>
              <a:defRPr sz="4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4pPr>
            <a:lvl5pPr marL="592709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5pPr>
            <a:lvl6pPr marL="724408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56107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87806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119505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altLang="zh-CN" sz="6095" dirty="0">
                <a:latin typeface="+mn-ea"/>
                <a:ea typeface="+mn-ea"/>
              </a:rPr>
              <a:t>ETO </a:t>
            </a:r>
            <a:endParaRPr lang="zh-CN" altLang="en-US" sz="6095" dirty="0">
              <a:latin typeface="+mn-ea"/>
              <a:ea typeface="+mn-ea"/>
            </a:endParaRPr>
          </a:p>
        </p:txBody>
      </p:sp>
      <p:sp>
        <p:nvSpPr>
          <p:cNvPr id="17" name="内容占位符 2"/>
          <p:cNvSpPr txBox="1"/>
          <p:nvPr/>
        </p:nvSpPr>
        <p:spPr>
          <a:xfrm>
            <a:off x="2007629" y="13882488"/>
            <a:ext cx="2084369" cy="1590505"/>
          </a:xfrm>
          <a:prstGeom prst="rect">
            <a:avLst/>
          </a:prstGeom>
        </p:spPr>
        <p:txBody>
          <a:bodyPr/>
          <a:lstStyle>
            <a:lvl1pPr marL="0" indent="0" algn="l" defTabSz="2633980" rtl="0" eaLnBrk="1" latinLnBrk="0" hangingPunct="1">
              <a:lnSpc>
                <a:spcPct val="150000"/>
              </a:lnSpc>
              <a:spcBef>
                <a:spcPts val="2880"/>
              </a:spcBef>
              <a:buFont typeface="Arial" panose="020B0604020202020204" pitchFamily="34" charset="0"/>
              <a:buNone/>
              <a:defRPr sz="80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1316990" indent="0" algn="l" defTabSz="2633980" rtl="0" eaLnBrk="1" latinLnBrk="0" hangingPunct="1">
              <a:lnSpc>
                <a:spcPct val="150000"/>
              </a:lnSpc>
              <a:spcBef>
                <a:spcPts val="1440"/>
              </a:spcBef>
              <a:buFont typeface="Arial" panose="020B0604020202020204" pitchFamily="34" charset="0"/>
              <a:buNone/>
              <a:defRPr sz="66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2633980" indent="0" algn="l" defTabSz="2633980" rtl="0" eaLnBrk="1" latinLnBrk="0" hangingPunct="1">
              <a:lnSpc>
                <a:spcPct val="150000"/>
              </a:lnSpc>
              <a:spcBef>
                <a:spcPts val="1440"/>
              </a:spcBef>
              <a:buFont typeface="Arial" panose="020B0604020202020204" pitchFamily="34" charset="0"/>
              <a:buNone/>
              <a:defRPr sz="54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3pPr>
            <a:lvl4pPr marL="3951605" indent="0" algn="l" defTabSz="2633980" rtl="0" eaLnBrk="1" latinLnBrk="0" hangingPunct="1">
              <a:lnSpc>
                <a:spcPct val="150000"/>
              </a:lnSpc>
              <a:spcBef>
                <a:spcPts val="1440"/>
              </a:spcBef>
              <a:buFont typeface="Arial" panose="020B0604020202020204" pitchFamily="34" charset="0"/>
              <a:buNone/>
              <a:defRPr sz="4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4pPr>
            <a:lvl5pPr marL="592709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5pPr>
            <a:lvl6pPr marL="724408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56107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87806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119505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altLang="zh-CN" sz="6095" dirty="0">
                <a:latin typeface="+mn-ea"/>
                <a:ea typeface="+mn-ea"/>
              </a:rPr>
              <a:t>OTD</a:t>
            </a:r>
            <a:endParaRPr lang="zh-CN" altLang="en-US" sz="6095" dirty="0">
              <a:latin typeface="+mn-ea"/>
              <a:ea typeface="+mn-ea"/>
            </a:endParaRPr>
          </a:p>
        </p:txBody>
      </p:sp>
      <p:sp>
        <p:nvSpPr>
          <p:cNvPr id="18" name="内容占位符 2"/>
          <p:cNvSpPr txBox="1"/>
          <p:nvPr/>
        </p:nvSpPr>
        <p:spPr>
          <a:xfrm>
            <a:off x="4724271" y="13904182"/>
            <a:ext cx="15862170" cy="1590505"/>
          </a:xfrm>
          <a:prstGeom prst="rect">
            <a:avLst/>
          </a:prstGeom>
        </p:spPr>
        <p:txBody>
          <a:bodyPr/>
          <a:lstStyle>
            <a:lvl1pPr marL="0" indent="0" algn="l" defTabSz="2633980" rtl="0" eaLnBrk="1" latinLnBrk="0" hangingPunct="1">
              <a:lnSpc>
                <a:spcPct val="150000"/>
              </a:lnSpc>
              <a:spcBef>
                <a:spcPts val="2880"/>
              </a:spcBef>
              <a:buFont typeface="Arial" panose="020B0604020202020204" pitchFamily="34" charset="0"/>
              <a:buNone/>
              <a:defRPr sz="80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1316990" indent="0" algn="l" defTabSz="2633980" rtl="0" eaLnBrk="1" latinLnBrk="0" hangingPunct="1">
              <a:lnSpc>
                <a:spcPct val="150000"/>
              </a:lnSpc>
              <a:spcBef>
                <a:spcPts val="1440"/>
              </a:spcBef>
              <a:buFont typeface="Arial" panose="020B0604020202020204" pitchFamily="34" charset="0"/>
              <a:buNone/>
              <a:defRPr sz="66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2633980" indent="0" algn="l" defTabSz="2633980" rtl="0" eaLnBrk="1" latinLnBrk="0" hangingPunct="1">
              <a:lnSpc>
                <a:spcPct val="150000"/>
              </a:lnSpc>
              <a:spcBef>
                <a:spcPts val="1440"/>
              </a:spcBef>
              <a:buFont typeface="Arial" panose="020B0604020202020204" pitchFamily="34" charset="0"/>
              <a:buNone/>
              <a:defRPr sz="54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3pPr>
            <a:lvl4pPr marL="3951605" indent="0" algn="l" defTabSz="2633980" rtl="0" eaLnBrk="1" latinLnBrk="0" hangingPunct="1">
              <a:lnSpc>
                <a:spcPct val="150000"/>
              </a:lnSpc>
              <a:spcBef>
                <a:spcPts val="1440"/>
              </a:spcBef>
              <a:buFont typeface="Arial" panose="020B0604020202020204" pitchFamily="34" charset="0"/>
              <a:buNone/>
              <a:defRPr sz="4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4pPr>
            <a:lvl5pPr marL="592709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5pPr>
            <a:lvl6pPr marL="724408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56107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87806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119505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altLang="zh-CN" sz="6095" dirty="0">
                <a:latin typeface="+mn-ea"/>
                <a:ea typeface="+mn-ea"/>
              </a:rPr>
              <a:t>On time Delivery</a:t>
            </a:r>
            <a:r>
              <a:rPr lang="zh-CN" altLang="en-US" sz="6095" dirty="0">
                <a:latin typeface="+mn-ea"/>
                <a:ea typeface="+mn-ea"/>
              </a:rPr>
              <a:t> 准时交付率</a:t>
            </a:r>
            <a:endParaRPr lang="zh-CN" altLang="en-US" sz="6095" dirty="0">
              <a:latin typeface="+mn-ea"/>
              <a:ea typeface="+mn-ea"/>
            </a:endParaRPr>
          </a:p>
        </p:txBody>
      </p:sp>
      <p:sp>
        <p:nvSpPr>
          <p:cNvPr id="19" name="内容占位符 2"/>
          <p:cNvSpPr txBox="1"/>
          <p:nvPr/>
        </p:nvSpPr>
        <p:spPr>
          <a:xfrm>
            <a:off x="2007629" y="15394614"/>
            <a:ext cx="2084369" cy="1590505"/>
          </a:xfrm>
          <a:prstGeom prst="rect">
            <a:avLst/>
          </a:prstGeom>
        </p:spPr>
        <p:txBody>
          <a:bodyPr/>
          <a:lstStyle>
            <a:lvl1pPr marL="0" indent="0" algn="l" defTabSz="2633980" rtl="0" eaLnBrk="1" latinLnBrk="0" hangingPunct="1">
              <a:lnSpc>
                <a:spcPct val="150000"/>
              </a:lnSpc>
              <a:spcBef>
                <a:spcPts val="2880"/>
              </a:spcBef>
              <a:buFont typeface="Arial" panose="020B0604020202020204" pitchFamily="34" charset="0"/>
              <a:buNone/>
              <a:defRPr sz="80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1316990" indent="0" algn="l" defTabSz="2633980" rtl="0" eaLnBrk="1" latinLnBrk="0" hangingPunct="1">
              <a:lnSpc>
                <a:spcPct val="150000"/>
              </a:lnSpc>
              <a:spcBef>
                <a:spcPts val="1440"/>
              </a:spcBef>
              <a:buFont typeface="Arial" panose="020B0604020202020204" pitchFamily="34" charset="0"/>
              <a:buNone/>
              <a:defRPr sz="66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2633980" indent="0" algn="l" defTabSz="2633980" rtl="0" eaLnBrk="1" latinLnBrk="0" hangingPunct="1">
              <a:lnSpc>
                <a:spcPct val="150000"/>
              </a:lnSpc>
              <a:spcBef>
                <a:spcPts val="1440"/>
              </a:spcBef>
              <a:buFont typeface="Arial" panose="020B0604020202020204" pitchFamily="34" charset="0"/>
              <a:buNone/>
              <a:defRPr sz="54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3pPr>
            <a:lvl4pPr marL="3951605" indent="0" algn="l" defTabSz="2633980" rtl="0" eaLnBrk="1" latinLnBrk="0" hangingPunct="1">
              <a:lnSpc>
                <a:spcPct val="150000"/>
              </a:lnSpc>
              <a:spcBef>
                <a:spcPts val="1440"/>
              </a:spcBef>
              <a:buFont typeface="Arial" panose="020B0604020202020204" pitchFamily="34" charset="0"/>
              <a:buNone/>
              <a:defRPr sz="4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4pPr>
            <a:lvl5pPr marL="592709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5pPr>
            <a:lvl6pPr marL="724408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56107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87806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119505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altLang="zh-CN" sz="6095" dirty="0">
                <a:latin typeface="+mn-ea"/>
                <a:ea typeface="+mn-ea"/>
              </a:rPr>
              <a:t>ITO</a:t>
            </a:r>
            <a:endParaRPr lang="zh-CN" altLang="en-US" sz="6095" dirty="0">
              <a:latin typeface="+mn-ea"/>
              <a:ea typeface="+mn-ea"/>
            </a:endParaRPr>
          </a:p>
        </p:txBody>
      </p:sp>
      <p:sp>
        <p:nvSpPr>
          <p:cNvPr id="20" name="内容占位符 2"/>
          <p:cNvSpPr txBox="1"/>
          <p:nvPr/>
        </p:nvSpPr>
        <p:spPr>
          <a:xfrm>
            <a:off x="4724271" y="15416308"/>
            <a:ext cx="15862170" cy="1590505"/>
          </a:xfrm>
          <a:prstGeom prst="rect">
            <a:avLst/>
          </a:prstGeom>
        </p:spPr>
        <p:txBody>
          <a:bodyPr/>
          <a:lstStyle>
            <a:lvl1pPr marL="0" indent="0" algn="l" defTabSz="2633980" rtl="0" eaLnBrk="1" latinLnBrk="0" hangingPunct="1">
              <a:lnSpc>
                <a:spcPct val="150000"/>
              </a:lnSpc>
              <a:spcBef>
                <a:spcPts val="2880"/>
              </a:spcBef>
              <a:buFont typeface="Arial" panose="020B0604020202020204" pitchFamily="34" charset="0"/>
              <a:buNone/>
              <a:defRPr sz="80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1316990" indent="0" algn="l" defTabSz="2633980" rtl="0" eaLnBrk="1" latinLnBrk="0" hangingPunct="1">
              <a:lnSpc>
                <a:spcPct val="150000"/>
              </a:lnSpc>
              <a:spcBef>
                <a:spcPts val="1440"/>
              </a:spcBef>
              <a:buFont typeface="Arial" panose="020B0604020202020204" pitchFamily="34" charset="0"/>
              <a:buNone/>
              <a:defRPr sz="66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2633980" indent="0" algn="l" defTabSz="2633980" rtl="0" eaLnBrk="1" latinLnBrk="0" hangingPunct="1">
              <a:lnSpc>
                <a:spcPct val="150000"/>
              </a:lnSpc>
              <a:spcBef>
                <a:spcPts val="1440"/>
              </a:spcBef>
              <a:buFont typeface="Arial" panose="020B0604020202020204" pitchFamily="34" charset="0"/>
              <a:buNone/>
              <a:defRPr sz="54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3pPr>
            <a:lvl4pPr marL="3951605" indent="0" algn="l" defTabSz="2633980" rtl="0" eaLnBrk="1" latinLnBrk="0" hangingPunct="1">
              <a:lnSpc>
                <a:spcPct val="150000"/>
              </a:lnSpc>
              <a:spcBef>
                <a:spcPts val="1440"/>
              </a:spcBef>
              <a:buFont typeface="Arial" panose="020B0604020202020204" pitchFamily="34" charset="0"/>
              <a:buNone/>
              <a:defRPr sz="48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4pPr>
            <a:lvl5pPr marL="592709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+mn-cs"/>
              </a:defRPr>
            </a:lvl5pPr>
            <a:lvl6pPr marL="724408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56107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87806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1195050" indent="-658495" algn="l" defTabSz="2633980" rtl="0" eaLnBrk="1" latinLnBrk="0" hangingPunct="1">
              <a:lnSpc>
                <a:spcPct val="90000"/>
              </a:lnSpc>
              <a:spcBef>
                <a:spcPts val="1440"/>
              </a:spcBef>
              <a:buFont typeface="Arial" panose="020B0604020202020204" pitchFamily="34" charset="0"/>
              <a:buChar char="•"/>
              <a:defRPr sz="518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altLang="zh-CN" sz="6095" dirty="0">
                <a:latin typeface="+mn-ea"/>
                <a:ea typeface="+mn-ea"/>
              </a:rPr>
              <a:t>Inventory Turn Over </a:t>
            </a:r>
            <a:r>
              <a:rPr lang="zh-CN" altLang="en-US" sz="6095" dirty="0">
                <a:latin typeface="+mn-ea"/>
                <a:ea typeface="+mn-ea"/>
              </a:rPr>
              <a:t>库存周转率</a:t>
            </a:r>
            <a:endParaRPr lang="zh-CN" altLang="en-US" sz="6095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1" grpId="0"/>
      <p:bldP spid="13" grpId="0"/>
      <p:bldP spid="14" grpId="0"/>
      <p:bldP spid="15" grpId="0"/>
      <p:bldP spid="18" grpId="0"/>
      <p:bldP spid="2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anchor="t"/>
          <a:lstStyle/>
          <a:p>
            <a:r>
              <a:rPr lang="zh-CN" altLang="en-US" sz="7310" dirty="0">
                <a:solidFill>
                  <a:srgbClr val="595959"/>
                </a:solidFill>
                <a:ea typeface="方正兰亭黑_GBK" panose="02000000000000000000" pitchFamily="2" charset="-122"/>
              </a:rPr>
              <a:t>推荐书籍</a:t>
            </a:r>
            <a:endParaRPr lang="zh-CN" altLang="en-US" sz="7310" dirty="0">
              <a:solidFill>
                <a:srgbClr val="595959"/>
              </a:solidFill>
              <a:ea typeface="方正兰亭黑_GBK" panose="02000000000000000000" pitchFamily="2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 vert="horz" lIns="69642" tIns="34821" rIns="69642" bIns="34821" rtlCol="0" anchor="ctr"/>
          <a:lstStyle/>
          <a:p>
            <a:pPr fontAlgn="auto"/>
            <a:endParaRPr lang="zh-CN" altLang="en-US" strike="noStrike" noProof="1">
              <a:latin typeface="方正兰亭黑_GBK" panose="02000000000000000000" pitchFamily="2" charset="-122"/>
              <a:ea typeface="方正兰亭黑_GBK" panose="02000000000000000000" pitchFamily="2" charset="-122"/>
            </a:endParaRPr>
          </a:p>
        </p:txBody>
      </p:sp>
      <p:pic>
        <p:nvPicPr>
          <p:cNvPr id="10" name="图片 9" descr="图片包含 游戏机, 文字, 西装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7619" y="5326461"/>
            <a:ext cx="7267733" cy="10419689"/>
          </a:xfrm>
          <a:prstGeom prst="rect">
            <a:avLst/>
          </a:prstGeom>
        </p:spPr>
      </p:pic>
      <p:pic>
        <p:nvPicPr>
          <p:cNvPr id="12" name="图片 11" descr="图片包含 游戏机, 标志&#10;&#10;描述已自动生成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67471" y="5326462"/>
            <a:ext cx="6869160" cy="1029000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内容占位符 1"/>
          <p:cNvSpPr>
            <a:spLocks noGrp="1"/>
          </p:cNvSpPr>
          <p:nvPr>
            <p:ph sz="quarter" idx="13"/>
          </p:nvPr>
        </p:nvSpPr>
        <p:spPr>
          <a:xfrm>
            <a:off x="2655683" y="3109655"/>
            <a:ext cx="18042733" cy="2467682"/>
          </a:xfrm>
          <a:noFill/>
          <a:ln>
            <a:noFill/>
          </a:ln>
        </p:spPr>
        <p:txBody>
          <a:bodyPr anchor="t"/>
          <a:lstStyle/>
          <a:p>
            <a:r>
              <a:rPr lang="en-US" altLang="zh-CN" kern="1200" dirty="0">
                <a:solidFill>
                  <a:srgbClr val="595959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cs typeface="+mn-cs"/>
              </a:rPr>
              <a:t>Thank you!</a:t>
            </a:r>
            <a:endParaRPr lang="zh-CN" altLang="en-US" kern="1200" dirty="0">
              <a:solidFill>
                <a:srgbClr val="595959"/>
              </a:solidFill>
              <a:latin typeface="方正兰亭黑_GBK" panose="02000000000000000000" pitchFamily="2" charset="-122"/>
              <a:ea typeface="方正兰亭黑_GBK" panose="02000000000000000000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2361" y="8654117"/>
            <a:ext cx="3777864" cy="377786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161083" y="13763603"/>
            <a:ext cx="50404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>
                <a:latin typeface="微软雅黑" pitchFamily="34" charset="-122"/>
                <a:ea typeface="微软雅黑" pitchFamily="34" charset="-122"/>
              </a:rPr>
              <a:t>计划反馈码</a:t>
            </a:r>
            <a:endParaRPr lang="zh-CN" altLang="en-US" sz="48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683" y="8222081"/>
            <a:ext cx="5168777" cy="505938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303737" y="13763603"/>
            <a:ext cx="50404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>
                <a:latin typeface="微软雅黑" pitchFamily="34" charset="-122"/>
                <a:ea typeface="微软雅黑" pitchFamily="34" charset="-122"/>
              </a:rPr>
              <a:t>执采反馈码</a:t>
            </a:r>
            <a:endParaRPr lang="zh-CN" altLang="en-US" sz="480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HINKCELLSHAPEDONOTDELETE" val="thinkcellActiveDocDoNotDelete"/>
</p:tagLst>
</file>

<file path=ppt/tags/tag2.xml><?xml version="1.0" encoding="utf-8"?>
<p:tagLst xmlns:p="http://schemas.openxmlformats.org/presentationml/2006/main">
  <p:tag name="KSO_WM_UNIT_TABLE_BEAUTIFY" val="smartTable{d13e5624-1b83-44b4-a165-aa735098ca12}"/>
</p:tagLst>
</file>

<file path=ppt/tags/tag3.xml><?xml version="1.0" encoding="utf-8"?>
<p:tagLst xmlns:p="http://schemas.openxmlformats.org/presentationml/2006/main">
  <p:tag name="KSO_WM_UNIT_TABLE_BEAUTIFY" val="smartTable{9fda3bdd-12b3-455e-b3bb-30fdf2b3fc73}"/>
</p:tagLst>
</file>

<file path=ppt/tags/tag4.xml><?xml version="1.0" encoding="utf-8"?>
<p:tagLst xmlns:p="http://schemas.openxmlformats.org/presentationml/2006/main">
  <p:tag name="KSO_WM_UNIT_TABLE_BEAUTIFY" val="smartTable{932efb2c-688a-4923-92bd-fadcf2eaa3d3}"/>
</p:tagLst>
</file>

<file path=ppt/tags/tag5.xml><?xml version="1.0" encoding="utf-8"?>
<p:tagLst xmlns:p="http://schemas.openxmlformats.org/presentationml/2006/main">
  <p:tag name="KSO_WM_UNIT_TABLE_BEAUTIFY" val="smartTable{2bf35b0d-27c7-4c4e-a16c-a91c9c8569d5}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内页版式">
  <a:themeElements>
    <a:clrScheme name="自定义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7C6E5"/>
      </a:accent1>
      <a:accent2>
        <a:srgbClr val="333399"/>
      </a:accent2>
      <a:accent3>
        <a:srgbClr val="FFFFFF"/>
      </a:accent3>
      <a:accent4>
        <a:srgbClr val="000000"/>
      </a:accent4>
      <a:accent5>
        <a:srgbClr val="8EA2A9"/>
      </a:accent5>
      <a:accent6>
        <a:srgbClr val="AD053D"/>
      </a:accent6>
      <a:hlink>
        <a:srgbClr val="AD053D"/>
      </a:hlink>
      <a:folHlink>
        <a:srgbClr val="B2B2B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 anchor="t">
        <a:spAutoFit/>
      </a:bodyPr>
      <a:lstStyle>
        <a:defPPr>
          <a:defRPr lang="zh-CN" altLang="en-US" dirty="0">
            <a:sym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Theme">
  <a:themeElements>
    <a:clrScheme name="自定义 1">
      <a:dk1>
        <a:srgbClr val="1EB1ED"/>
      </a:dk1>
      <a:lt1>
        <a:srgbClr val="1B70ED"/>
      </a:lt1>
      <a:dk2>
        <a:srgbClr val="BFBFBF"/>
      </a:dk2>
      <a:lt2>
        <a:srgbClr val="FFFFFF"/>
      </a:lt2>
      <a:accent1>
        <a:srgbClr val="EF5F38"/>
      </a:accent1>
      <a:accent2>
        <a:srgbClr val="FFB62E"/>
      </a:accent2>
      <a:accent3>
        <a:srgbClr val="1EB1ED"/>
      </a:accent3>
      <a:accent4>
        <a:srgbClr val="1B70ED"/>
      </a:accent4>
      <a:accent5>
        <a:srgbClr val="BFBFBF"/>
      </a:accent5>
      <a:accent6>
        <a:srgbClr val="FFFFFF"/>
      </a:accent6>
      <a:hlink>
        <a:srgbClr val="0000FF"/>
      </a:hlink>
      <a:folHlink>
        <a:srgbClr val="FF00FF"/>
      </a:folHlink>
    </a:clrScheme>
    <a:fontScheme name="1_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1_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35390" tIns="35390" rIns="35390" bIns="35390" numCol="1" spcCol="38100" rtlCol="0" anchor="ctr">
        <a:spAutoFit/>
      </a:bodyPr>
      <a:lstStyle>
        <a:defPPr marL="0" marR="0" indent="0" algn="l" defTabSz="219392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4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35390" tIns="35390" rIns="35390" bIns="35390" numCol="1" spcCol="38100" rtlCol="0" anchor="ctr">
        <a:normAutofit/>
      </a:bodyPr>
      <a:lstStyle>
        <a:defPPr marL="0" marR="0" indent="0" algn="l" defTabSz="219392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4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4473</Words>
  <Application>WPS 文字</Application>
  <PresentationFormat>自定义</PresentationFormat>
  <Paragraphs>1245</Paragraphs>
  <Slides>26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38</vt:i4>
      </vt:variant>
      <vt:variant>
        <vt:lpstr>主题</vt:lpstr>
      </vt:variant>
      <vt:variant>
        <vt:i4>5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70" baseType="lpstr">
      <vt:lpstr>Arial</vt:lpstr>
      <vt:lpstr>宋体</vt:lpstr>
      <vt:lpstr>Wingdings</vt:lpstr>
      <vt:lpstr>微软雅黑</vt:lpstr>
      <vt:lpstr>Calibri</vt:lpstr>
      <vt:lpstr>Helvetica Neue</vt:lpstr>
      <vt:lpstr>汉仪旗黑</vt:lpstr>
      <vt:lpstr>方正兰亭黑_GBK</vt:lpstr>
      <vt:lpstr>汉仪中黑KW</vt:lpstr>
      <vt:lpstr>楷体</vt:lpstr>
      <vt:lpstr>Arial</vt:lpstr>
      <vt:lpstr>黑体</vt:lpstr>
      <vt:lpstr>Arial Unicode MS</vt:lpstr>
      <vt:lpstr>等线</vt:lpstr>
      <vt:lpstr>汉仪中等线KW</vt:lpstr>
      <vt:lpstr>Calibri Light</vt:lpstr>
      <vt:lpstr>等线 Light</vt:lpstr>
      <vt:lpstr>Verdana</vt:lpstr>
      <vt:lpstr>Arial Black</vt:lpstr>
      <vt:lpstr>汉仪书宋二KW</vt:lpstr>
      <vt:lpstr>汉仪楷体KW</vt:lpstr>
      <vt:lpstr>宋体</vt:lpstr>
      <vt:lpstr>Calibri</vt:lpstr>
      <vt:lpstr>Helvetica Light</vt:lpstr>
      <vt:lpstr>Bosch Office Sans</vt:lpstr>
      <vt:lpstr>苹方-简</vt:lpstr>
      <vt:lpstr>Bosch Office Sans</vt:lpstr>
      <vt:lpstr>Thonburi</vt:lpstr>
      <vt:lpstr>Helvetica</vt:lpstr>
      <vt:lpstr>MV Boli</vt:lpstr>
      <vt:lpstr>微软雅黑</vt:lpstr>
      <vt:lpstr>Wingdings</vt:lpstr>
      <vt:lpstr>楷体</vt:lpstr>
      <vt:lpstr>Helvetica Neue</vt:lpstr>
      <vt:lpstr>Helvetica Neue Medium</vt:lpstr>
      <vt:lpstr>DengXian</vt:lpstr>
      <vt:lpstr>DengXian</vt:lpstr>
      <vt:lpstr>华文中宋</vt:lpstr>
      <vt:lpstr>Office 主题​​</vt:lpstr>
      <vt:lpstr>内页版式</vt:lpstr>
      <vt:lpstr>1_Office 主题​​</vt:lpstr>
      <vt:lpstr>2_Office Theme</vt:lpstr>
      <vt:lpstr>Office 主题</vt:lpstr>
      <vt:lpstr>TCLayout.ActiveDocument.1</vt:lpstr>
      <vt:lpstr>PowerPoint 演示文稿</vt:lpstr>
      <vt:lpstr>PowerPoint 演示文稿</vt:lpstr>
      <vt:lpstr>包子铺的故事</vt:lpstr>
      <vt:lpstr>PowerPoint 演示文稿</vt:lpstr>
      <vt:lpstr>包子铺的故事-2</vt:lpstr>
      <vt:lpstr>PowerPoint 演示文稿</vt:lpstr>
      <vt:lpstr>什么是供应链？</vt:lpstr>
      <vt:lpstr>传统供应链</vt:lpstr>
      <vt:lpstr>精细供应链</vt:lpstr>
      <vt:lpstr>敏捷供应链 </vt:lpstr>
      <vt:lpstr>用户化的敏捷供应链</vt:lpstr>
      <vt:lpstr>供应链管理全景图</vt:lpstr>
      <vt:lpstr>PowerPoint 演示文稿</vt:lpstr>
      <vt:lpstr>PowerPoint 演示文稿</vt:lpstr>
      <vt:lpstr>供应链管理提升路径</vt:lpstr>
      <vt:lpstr>最佳实践：华为的供应链发展之路</vt:lpstr>
      <vt:lpstr>数字化供应链愿景：可靠、透明、协同、高效</vt:lpstr>
      <vt:lpstr>数字化供应链能力矩阵</vt:lpstr>
      <vt:lpstr>订单交付全流程在线可视</vt:lpstr>
      <vt:lpstr>采购过程全流程可视</vt:lpstr>
      <vt:lpstr>计划全流程在线可视</vt:lpstr>
      <vt:lpstr>制造全流程可视</vt:lpstr>
      <vt:lpstr>供应链数字化系统架构</vt:lpstr>
      <vt:lpstr>供应链管理的几个基本概念</vt:lpstr>
      <vt:lpstr>推荐书籍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HOPEbranding2</dc:creator>
  <cp:lastModifiedBy>冯勇波</cp:lastModifiedBy>
  <cp:revision>210</cp:revision>
  <dcterms:created xsi:type="dcterms:W3CDTF">2023-08-10T12:17:07Z</dcterms:created>
  <dcterms:modified xsi:type="dcterms:W3CDTF">2023-08-10T12:17:07Z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2052-5.5.1.7991</vt:lpwstr>
  </property>
  <property fmtid="{D5CDD505-2E9C-101B-9397-08002B2CF9AE}" pid="3" name="ICV">
    <vt:lpwstr>0D782CC94946086243D5D46437CBC20B_42</vt:lpwstr>
  </property>
</Properties>
</file>